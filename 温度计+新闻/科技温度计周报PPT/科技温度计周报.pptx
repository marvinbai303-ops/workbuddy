
<file path=[Content_Types].xml><?xml version="1.0" encoding="utf-8"?>
<Types xmlns="http://schemas.openxmlformats.org/package/2006/content-types">
  <Default Extension="png" ContentType="image/png"/>
  <Default Extension="xml" ContentType="application/xml"/>
  <Default Extension="rels" ContentType="application/vnd.openxmlformats-package.relationships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ppt/theme/theme1.xml" ContentType="application/vnd.openxmlformats-officedocument.them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r="http://schemas.openxmlformats.org/officeDocument/2006/relationships" xmlns:p="http://schemas.openxmlformats.org/presentationml/2006/main" xmlns:a="http://schemas.openxmlformats.org/drawingml/2006/main" firstSlideNum="1">
  <p:sldMasterIdLst>
    <p:sldMasterId id="2147483648" r:id="rId0"/>
  </p:sldMasterIdLst>
  <p:notesMasterIdLst>
    <p:notesMasterId r:id="rId3"/>
  </p:notesMasterIdLst>
  <p:sldIdLst>
    <p:sldId id="256" r:id="rId1"/>
    <p:sldId id="257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6" Type="http://schemas.openxmlformats.org/officeDocument/2006/relationships/viewProps" Target="viewProps.xml" /><Relationship Id="rId3" Type="http://schemas.openxmlformats.org/officeDocument/2006/relationships/notesMaster" Target="notesMasters/notesMaster1.xml" /><Relationship Id="rId0" Type="http://schemas.openxmlformats.org/officeDocument/2006/relationships/slideMaster" Target="slideMasters/slideMaster1.xml" /><Relationship Id="rId4" Type="http://schemas.openxmlformats.org/officeDocument/2006/relationships/presProps" Target="presProps.xml" /><Relationship Id="rId5" Type="http://schemas.openxmlformats.org/officeDocument/2006/relationships/tableStyles" Target="tableStyles.xml" /><Relationship Id="rId2" Type="http://schemas.openxmlformats.org/officeDocument/2006/relationships/slide" Target="slides/slide2.xml" /><Relationship Id="rId1" Type="http://schemas.openxmlformats.org/officeDocument/2006/relationships/slide" Target="slides/slide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r="http://schemas.openxmlformats.org/officeDocument/2006/relationships"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media/image2.png" /><Relationship Id="rId0" Type="http://schemas.openxmlformats.org/officeDocument/2006/relationships/slideLayout" Target="../slideLayouts/slideLayout1.xml" /></Relationships>
</file>

<file path=ppt/slides/slide1.xml><?xml version="1.0" encoding="utf-8"?>
<p:sld xmlns:r="http://schemas.openxmlformats.org/officeDocument/2006/relationships" xmlns:p="http://schemas.openxmlformats.org/presentationml/2006/main" xmlns:a="http://schemas.openxmlformats.org/drawingml/2006/main">
  <p:cSld>
    <p:spTree>
      <p:nvGrpSpPr>
        <p:cNvPr id="1" name="" descr="&lt;Slide style={{ width: 1280, height: 720, background: '#F4F6F9', fontFamily: 'PingFang SC', display: 'flex', flexDirection: 'column' }}&gt;&#10;&#10;  &lt;Box style={{ height: 88, background: '#1F3A6E', padding: '0 40px', display: 'flex', alignItems: 'center', justifyContent: 'space-between' }}&gt;&#10;    &lt;Box&gt;&#10;      &lt;Text style={{ fontSize: 25, fontWeight: '600', color: '#FFFFFF' }}&gt;科技温度计周报｜市场情绪监测&lt;/Text&gt;&#10;      &lt;Text style={{ fontSize: 12, color: 'rgba(255,255,255,0.75)', marginTop: 5 }}&gt;信号源：科技温度计　|　标的：产业趋势组合（模拟）　|　数据截至 2026-09-22&lt;/Text&gt;&#10;    &lt;/Box&gt;&#10;    &lt;Text style={{ fontSize: 13, color: 'rgba(255,255,255,0.85)' }}&gt;2026 年第 39 周&lt;/Text&gt;&#10;  &lt;/Box&gt;&#10;&#10;  &lt;Box style={{ padding: '14px 40px 0' }}&gt;&#10;    &lt;Box style={{ display: 'flex', gap: 14, height: 86 }}&gt;&#10;      &lt;Box style={{ flex: 1, background: '#FFFFFF', border: '1px solid #E5E8EE', borderRadius: 12, padding: '12px 20px' }}&gt;&#10;        &lt;Text style={{ fontSize: 12, color: '#7B8494' }}&gt;当前温度计读数（09-22）&lt;/Text&gt;&#10;        &lt;Text style={{ fontSize: 34, fontWeight: '600', color: '#2F6FED', marginTop: 2 }}&gt;41.8°&lt;/Text&gt;&#10;      &lt;/Box&gt;&#10;      &lt;Box style={{ flex: 1, background: '#FFFFFF', border: '1px solid #E5E8EE', borderRadius: 12, padding: '12px 20px' }}&gt;&#10;        &lt;Text style={{ fontSize: 12, color: '#7B8494' }}&gt;上周五读数（09-18）&lt;/Text&gt;&#10;        &lt;Text style={{ fontSize: 34, fontWeight: '600', color: '#4A5464', marginTop: 2 }}&gt;40.4°&lt;/Text&gt;&#10;      &lt;/Box&gt;&#10;      &lt;Box style={{ flex: 1, background: '#FFF7F7', border: '1px solid #F2D4D4', borderRadius: 12, padding: '12px 20px' }}&gt;&#10;        &lt;Text style={{ fontSize: 12, color: '#7B8494' }}&gt;边际变化（较上周五）&lt;/Text&gt;&#10;        &lt;Text style={{ fontSize: 34, fontWeight: '600', color: '#D93636', marginTop: 2 }}&gt;+1.4° ↑ 回升&lt;/Text&gt;&#10;      &lt;/Box&gt;&#10;      &lt;Box style={{ flex: 1.15, background: '#FFFFFF', border: '1px solid #E5E8EE', borderRadius: 12, padding: '12px 20px' }}&gt;&#10;        &lt;Text style={{ fontSize: 12, color: '#7B8494' }}&gt;所处区间（40° 为低温阈值）&lt;/Text&gt;&#10;        &lt;Text style={{ fontSize: 16, fontWeight: '600', color: '#1A1D26', marginTop: 8 }}&gt;已回升至 40° 上方，脱离低温触发区&lt;/Text&gt;&#10;        &lt;Text style={{ fontSize: 11.5, color: '#9AA3B2', marginTop: 2 }}&gt;上周五尚在触发区边缘（40.4°）&lt;/Text&gt;&#10;      &lt;/Box&gt;&#10;    &lt;/Box&gt;&#10;&#10;    &lt;Box style={{ marginTop: 12, background: '#FFFFFF', border: '1px solid #E5E8EE', borderRadius: 12, padding: '10px 12px', display: 'flex', justifyContent: 'center', alignItems: 'center' }}&gt;&#10;      &lt;Image src=&quot;assets/p1_temp_tmt.png&quot; style={{ width: 1046, height: 417 }} /&gt;&#10;    &lt;/Box&gt;&#10;&#10;    &lt;Box style={{ marginTop: 8, background: '#EFF4FE', borderRadius: 10, padding: '9px 18px' }}&gt;&#10;      &lt;Text style={{ fontSize: 12.5, color: '#1A1D26', lineHeight: 1.55 }}&gt;&#10;        &lt;Text style={{ fontWeight: '600', color: '#1F3A6E' }}&gt;本周解读：&lt;/Text&gt;温度计较上周五回升 1.4°，主要由「上涨股票占比」（18.8→26.1，+7.3pt）与「250日月跌幅均指滚动百分位」（29.7→34.9，+5.2pt）两项因子得分修复驱动，行业拥挤度（77.1→72.6，−4.5pt）回落形成部分对冲。温度计为 10 因子等权合成，周内对比区间 2026-09-18 → 2026-09-22。&#10;      &lt;/Text&gt;&#10;    &lt;/Box&gt;&#10;  &lt;/Box&gt;&#10;&#10;  &lt;Box style={{ position: 'absolute', left: 0, right: 0, bottom: 0, height: 30, background: '#1F3A6E', display: 'flex', alignItems: 'center', justifyContent: 'flex-end', padding: '0 40px' }}&gt;&#10;    &lt;Text style={{ fontSize: 11, color: 'rgba(255,255,255,0.8)' }}&gt;01 / 02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4F6F9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838200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381000" y="180975"/>
            <a:ext cx="420052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75" b="1">
                <a:solidFill>
                  <a:srgbClr val="FFFFFF"/>
                </a:solidFill>
                <a:latin typeface="PingFang SC"/>
                <a:ea typeface="PingFang SC"/>
              </a:rPr>
              <a:t>科技温度计周报｜市场情绪监测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381000" y="514350"/>
            <a:ext cx="420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>信号源：科技温度计　</a:t>
            </a:r>
            <a:r>
              <a:rPr lang="en-US" sz="900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>|</a:t>
            </a:r>
            <a:r>
              <a:rPr lang="zh-CN" sz="900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>　标的：产业趋势组合（模拟）　</a:t>
            </a:r>
            <a:r>
              <a:rPr lang="en-US" sz="900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>|</a:t>
            </a:r>
            <a:r>
              <a:rPr lang="zh-CN" sz="900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>　数据截至</a:t>
            </a:r>
            <a:r>
              <a:rPr lang="en-US" sz="900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 xml:space="preserve"> 2026-09-22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10868025" y="342900"/>
            <a:ext cx="9429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FFFFF">
                    <a:alpha val="85000"/>
                  </a:srgbClr>
                </a:solidFill>
                <a:latin typeface="PingFang SC"/>
                <a:ea typeface="PingFang SC"/>
              </a:rPr>
              <a:t xml:space="preserve">2026 </a:t>
            </a:r>
            <a:r>
              <a:rPr lang="zh-CN" sz="975">
                <a:solidFill>
                  <a:srgbClr val="FFFFFF">
                    <a:alpha val="85000"/>
                  </a:srgbClr>
                </a:solidFill>
                <a:latin typeface="PingFang SC"/>
                <a:ea typeface="PingFang SC"/>
              </a:rPr>
              <a:t>年第</a:t>
            </a:r>
            <a:r>
              <a:rPr lang="en-US" sz="975">
                <a:solidFill>
                  <a:srgbClr val="FFFFFF">
                    <a:alpha val="85000"/>
                  </a:srgbClr>
                </a:solidFill>
                <a:latin typeface="PingFang SC"/>
                <a:ea typeface="PingFang SC"/>
              </a:rPr>
              <a:t xml:space="preserve"> 39 </a:t>
            </a:r>
            <a:r>
              <a:rPr lang="zh-CN" sz="975">
                <a:solidFill>
                  <a:srgbClr val="FFFFFF">
                    <a:alpha val="85000"/>
                  </a:srgbClr>
                </a:solidFill>
                <a:latin typeface="PingFang SC"/>
                <a:ea typeface="PingFang SC"/>
              </a:rPr>
              <a:t>周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381000" y="971550"/>
            <a:ext cx="2657475" cy="819150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</p:spPr>
        <p:txBody>
          <a:bodyPr/>
          <a:p/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571500" y="1085850"/>
            <a:ext cx="22764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7B8494"/>
                </a:solidFill>
                <a:latin typeface="PingFang SC"/>
                <a:ea typeface="PingFang SC"/>
              </a:rPr>
              <a:t>当前温度计读数（</a:t>
            </a:r>
            <a:r>
              <a:rPr lang="en-US" sz="900">
                <a:solidFill>
                  <a:srgbClr val="7B8494"/>
                </a:solidFill>
                <a:latin typeface="PingFang SC"/>
                <a:ea typeface="PingFang SC"/>
              </a:rPr>
              <a:t>09-22</a:t>
            </a:r>
            <a:r>
              <a:rPr lang="zh-CN" sz="900">
                <a:solidFill>
                  <a:srgbClr val="7B8494"/>
                </a:solidFill>
                <a:latin typeface="PingFang SC"/>
                <a:ea typeface="PingFang SC"/>
              </a:rPr>
              <a:t>）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571500" y="1247775"/>
            <a:ext cx="22764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2F6FED"/>
                </a:solidFill>
                <a:latin typeface="PingFang SC"/>
                <a:ea typeface="PingFang SC"/>
              </a:rPr>
              <a:t>41.8°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3171825" y="971550"/>
            <a:ext cx="2657475" cy="819150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</p:spPr>
        <p:txBody>
          <a:bodyPr/>
          <a:p/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3362325" y="1085850"/>
            <a:ext cx="22764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7B8494"/>
                </a:solidFill>
                <a:latin typeface="PingFang SC"/>
                <a:ea typeface="PingFang SC"/>
              </a:rPr>
              <a:t>上周五读数（</a:t>
            </a:r>
            <a:r>
              <a:rPr lang="en-US" sz="900">
                <a:solidFill>
                  <a:srgbClr val="7B8494"/>
                </a:solidFill>
                <a:latin typeface="PingFang SC"/>
                <a:ea typeface="PingFang SC"/>
              </a:rPr>
              <a:t>09-18</a:t>
            </a:r>
            <a:r>
              <a:rPr lang="zh-CN" sz="900">
                <a:solidFill>
                  <a:srgbClr val="7B8494"/>
                </a:solidFill>
                <a:latin typeface="PingFang SC"/>
                <a:ea typeface="PingFang SC"/>
              </a:rPr>
              <a:t>）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3362325" y="1247775"/>
            <a:ext cx="22764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4A5464"/>
                </a:solidFill>
                <a:latin typeface="PingFang SC"/>
                <a:ea typeface="PingFang SC"/>
              </a:rPr>
              <a:t>40.4°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5962650" y="971550"/>
            <a:ext cx="2657475" cy="819150"/>
          </a:xfrm>
          <a:prstGeom prst="roundRect">
            <a:avLst>
              <a:gd name="adj" fmla="val 13953"/>
            </a:avLst>
          </a:prstGeom>
          <a:solidFill>
            <a:srgbClr val="FFF7F7"/>
          </a:solidFill>
          <a:ln w="12700">
            <a:solidFill>
              <a:srgbClr val="F2D4D4"/>
            </a:solidFill>
            <a:prstDash val="solid"/>
          </a:ln>
        </p:spPr>
        <p:txBody>
          <a:bodyPr/>
          <a:p/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6153150" y="1085850"/>
            <a:ext cx="22764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7B8494"/>
                </a:solidFill>
                <a:latin typeface="PingFang SC"/>
                <a:ea typeface="PingFang SC"/>
              </a:rPr>
              <a:t>边际变化（较上周五）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6153150" y="1247775"/>
            <a:ext cx="22764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D93636"/>
                </a:solidFill>
                <a:latin typeface="PingFang SC"/>
                <a:ea typeface="PingFang SC"/>
              </a:rPr>
              <a:t xml:space="preserve">+1.4° ↑ </a:t>
            </a:r>
            <a:r>
              <a:rPr lang="zh-CN" sz="2550" b="1">
                <a:solidFill>
                  <a:srgbClr val="D93636"/>
                </a:solidFill>
                <a:latin typeface="PingFang SC"/>
                <a:ea typeface="PingFang SC"/>
              </a:rPr>
              <a:t>回升</a:t>
            </a:r>
            <a:endParaRPr/>
          </a:p>
        </p:txBody>
      </p:sp>
      <p:sp>
        <p:nvSpPr>
          <p:cNvPr id="16" name=""/>
          <p:cNvSpPr/>
          <p:nvPr/>
        </p:nvSpPr>
        <p:spPr>
          <a:xfrm rot="0" flipH="0" flipV="0">
            <a:off x="8753475" y="971550"/>
            <a:ext cx="3057525" cy="819150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</p:spPr>
        <p:txBody>
          <a:bodyPr/>
          <a:p/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8943975" y="1085850"/>
            <a:ext cx="2676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7B8494"/>
                </a:solidFill>
                <a:latin typeface="PingFang SC"/>
                <a:ea typeface="PingFang SC"/>
              </a:rPr>
              <a:t>所处区间（</a:t>
            </a:r>
            <a:r>
              <a:rPr lang="en-US" sz="900">
                <a:solidFill>
                  <a:srgbClr val="7B8494"/>
                </a:solidFill>
                <a:latin typeface="PingFang SC"/>
                <a:ea typeface="PingFang SC"/>
              </a:rPr>
              <a:t xml:space="preserve">40° </a:t>
            </a:r>
            <a:r>
              <a:rPr lang="zh-CN" sz="900">
                <a:solidFill>
                  <a:srgbClr val="7B8494"/>
                </a:solidFill>
                <a:latin typeface="PingFang SC"/>
                <a:ea typeface="PingFang SC"/>
              </a:rPr>
              <a:t>为低温阈值）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8943975" y="1304925"/>
            <a:ext cx="26765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1D26"/>
                </a:solidFill>
                <a:latin typeface="PingFang SC"/>
                <a:ea typeface="PingFang SC"/>
              </a:rPr>
              <a:t>已回升至</a:t>
            </a:r>
            <a:r>
              <a:rPr lang="en-US" sz="1200" b="1">
                <a:solidFill>
                  <a:srgbClr val="1A1D26"/>
                </a:solidFill>
                <a:latin typeface="PingFang SC"/>
                <a:ea typeface="PingFang SC"/>
              </a:rPr>
              <a:t xml:space="preserve"> 40° </a:t>
            </a:r>
            <a:r>
              <a:rPr lang="zh-CN" sz="1200" b="1">
                <a:solidFill>
                  <a:srgbClr val="1A1D26"/>
                </a:solidFill>
                <a:latin typeface="PingFang SC"/>
                <a:ea typeface="PingFang SC"/>
              </a:rPr>
              <a:t>上方，脱离低温触发区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8943975" y="1514475"/>
            <a:ext cx="26765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9AA3B2"/>
                </a:solidFill>
                <a:latin typeface="PingFang SC"/>
                <a:ea typeface="PingFang SC"/>
              </a:rPr>
              <a:t>上周五尚在触发区边缘（</a:t>
            </a:r>
            <a:r>
              <a:rPr lang="en-US" sz="863">
                <a:solidFill>
                  <a:srgbClr val="9AA3B2"/>
                </a:solidFill>
                <a:latin typeface="PingFang SC"/>
                <a:ea typeface="PingFang SC"/>
              </a:rPr>
              <a:t>40.4°</a:t>
            </a:r>
            <a:r>
              <a:rPr lang="zh-CN" sz="863">
                <a:solidFill>
                  <a:srgbClr val="9AA3B2"/>
                </a:solidFill>
                <a:latin typeface="PingFang SC"/>
                <a:ea typeface="PingFang SC"/>
              </a:rPr>
              <a:t>）</a:t>
            </a:r>
            <a:endParaRPr/>
          </a:p>
        </p:txBody>
      </p:sp>
      <p:sp>
        <p:nvSpPr>
          <p:cNvPr id="20" name=""/>
          <p:cNvSpPr/>
          <p:nvPr/>
        </p:nvSpPr>
        <p:spPr>
          <a:xfrm rot="0" flipH="0" flipV="0">
            <a:off x="381000" y="1905000"/>
            <a:ext cx="11430000" cy="4162425"/>
          </a:xfrm>
          <a:prstGeom prst="roundRect">
            <a:avLst>
              <a:gd name="adj" fmla="val 2746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</p:spPr>
        <p:txBody>
          <a:bodyPr/>
          <a:p/>
        </p:txBody>
      </p:sp>
      <p:pic>
        <p:nvPicPr>
          <p:cNvPr id="21" name=""/>
          <p:cNvPicPr>
            <a:picLocks noChangeAspect="1"/>
          </p:cNvPicPr>
          <p:nvPr/>
        </p:nvPicPr>
        <p:blipFill>
          <a:blip r:embed="rId1"/>
          <a:srcRect l="54" t="0" r="54" b="0"/>
          <a:stretch>
            <a:fillRect/>
          </a:stretch>
        </p:blipFill>
        <p:spPr>
          <a:xfrm rot="0" flipH="0" flipV="0">
            <a:off x="1114425" y="2000250"/>
            <a:ext cx="9963150" cy="3971925"/>
          </a:xfrm>
          <a:prstGeom prst="rect">
            <a:avLst/>
          </a:prstGeom>
          <a:ln/>
        </p:spPr>
      </p:pic>
      <p:sp>
        <p:nvSpPr>
          <p:cNvPr id="22" name=""/>
          <p:cNvSpPr/>
          <p:nvPr/>
        </p:nvSpPr>
        <p:spPr>
          <a:xfrm rot="0" flipH="0" flipV="0">
            <a:off x="381000" y="6143625"/>
            <a:ext cx="11430000" cy="619125"/>
          </a:xfrm>
          <a:prstGeom prst="roundRect">
            <a:avLst>
              <a:gd name="adj" fmla="val 15385"/>
            </a:avLst>
          </a:prstGeom>
          <a:solidFill>
            <a:srgbClr val="EFF4FE"/>
          </a:solidFill>
          <a:ln/>
        </p:spPr>
        <p:txBody>
          <a:bodyPr/>
          <a:p/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552450" y="6229350"/>
            <a:ext cx="1108710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938">
                <a:solidFill>
                  <a:srgbClr val="1A1D26"/>
                </a:solidFill>
                <a:latin typeface="PingFang SC"/>
                <a:ea typeface="PingFang SC"/>
              </a:rPr>
              <a:t>本周解读：</a:t>
            </a:r>
            <a:r>
              <a:rPr lang="zh-CN" sz="938">
                <a:solidFill>
                  <a:srgbClr val="1A1D26"/>
                </a:solidFill>
                <a:latin typeface="PingFang SC"/>
                <a:ea typeface="PingFang SC"/>
              </a:rPr>
              <a:t>温度计较上周五回升</a:t>
            </a:r>
            <a:r>
              <a:rPr lang="en-US" sz="938">
                <a:solidFill>
                  <a:srgbClr val="1A1D26"/>
                </a:solidFill>
                <a:latin typeface="PingFang SC"/>
                <a:ea typeface="PingFang SC"/>
              </a:rPr>
              <a:t xml:space="preserve"> 1.4°</a:t>
            </a:r>
            <a:r>
              <a:rPr lang="zh-CN" sz="938">
                <a:solidFill>
                  <a:srgbClr val="1A1D26"/>
                </a:solidFill>
                <a:latin typeface="PingFang SC"/>
                <a:ea typeface="PingFang SC"/>
              </a:rPr>
              <a:t>，主要由「上涨股票占比」（</a:t>
            </a:r>
            <a:r>
              <a:rPr lang="en-US" sz="938">
                <a:solidFill>
                  <a:srgbClr val="1A1D26"/>
                </a:solidFill>
                <a:latin typeface="PingFang SC"/>
                <a:ea typeface="PingFang SC"/>
              </a:rPr>
              <a:t>18.8→26.1</a:t>
            </a:r>
            <a:r>
              <a:rPr lang="zh-CN" sz="938">
                <a:solidFill>
                  <a:srgbClr val="1A1D26"/>
                </a:solidFill>
                <a:latin typeface="PingFang SC"/>
                <a:ea typeface="PingFang SC"/>
              </a:rPr>
              <a:t>，</a:t>
            </a:r>
            <a:r>
              <a:rPr lang="en-US" sz="938">
                <a:solidFill>
                  <a:srgbClr val="1A1D26"/>
                </a:solidFill>
                <a:latin typeface="PingFang SC"/>
                <a:ea typeface="PingFang SC"/>
              </a:rPr>
              <a:t>+7.3pt</a:t>
            </a:r>
            <a:r>
              <a:rPr lang="zh-CN" sz="938">
                <a:solidFill>
                  <a:srgbClr val="1A1D26"/>
                </a:solidFill>
                <a:latin typeface="PingFang SC"/>
                <a:ea typeface="PingFang SC"/>
              </a:rPr>
              <a:t>）与「</a:t>
            </a:r>
            <a:r>
              <a:rPr lang="en-US" sz="938">
                <a:solidFill>
                  <a:srgbClr val="1A1D26"/>
                </a:solidFill>
                <a:latin typeface="PingFang SC"/>
                <a:ea typeface="PingFang SC"/>
              </a:rPr>
              <a:t>250</a:t>
            </a:r>
            <a:r>
              <a:rPr lang="zh-CN" sz="938">
                <a:solidFill>
                  <a:srgbClr val="1A1D26"/>
                </a:solidFill>
                <a:latin typeface="PingFang SC"/>
                <a:ea typeface="PingFang SC"/>
              </a:rPr>
              <a:t>日月跌幅均指滚动百分位」（</a:t>
            </a:r>
            <a:r>
              <a:rPr lang="en-US" sz="938">
                <a:solidFill>
                  <a:srgbClr val="1A1D26"/>
                </a:solidFill>
                <a:latin typeface="PingFang SC"/>
                <a:ea typeface="PingFang SC"/>
              </a:rPr>
              <a:t>29.7→34.9</a:t>
            </a:r>
            <a:r>
              <a:rPr lang="zh-CN" sz="938">
                <a:solidFill>
                  <a:srgbClr val="1A1D26"/>
                </a:solidFill>
                <a:latin typeface="PingFang SC"/>
                <a:ea typeface="PingFang SC"/>
              </a:rPr>
              <a:t>，</a:t>
            </a:r>
            <a:r>
              <a:rPr lang="en-US" sz="938">
                <a:solidFill>
                  <a:srgbClr val="1A1D26"/>
                </a:solidFill>
                <a:latin typeface="PingFang SC"/>
                <a:ea typeface="PingFang SC"/>
              </a:rPr>
              <a:t>+5.2pt</a:t>
            </a:r>
            <a:r>
              <a:rPr lang="zh-CN" sz="938">
                <a:solidFill>
                  <a:srgbClr val="1A1D26"/>
                </a:solidFill>
                <a:latin typeface="PingFang SC"/>
                <a:ea typeface="PingFang SC"/>
              </a:rPr>
              <a:t>）两项因子得分修复驱动，行业拥挤度（</a:t>
            </a:r>
            <a:r>
              <a:rPr lang="en-US" sz="938">
                <a:solidFill>
                  <a:srgbClr val="1A1D26"/>
                </a:solidFill>
                <a:latin typeface="PingFang SC"/>
                <a:ea typeface="PingFang SC"/>
              </a:rPr>
              <a:t>77.1→72.6</a:t>
            </a:r>
            <a:r>
              <a:rPr lang="zh-CN" sz="938">
                <a:solidFill>
                  <a:srgbClr val="1A1D26"/>
                </a:solidFill>
                <a:latin typeface="PingFang SC"/>
                <a:ea typeface="PingFang SC"/>
              </a:rPr>
              <a:t>，−</a:t>
            </a:r>
            <a:r>
              <a:rPr lang="en-US" sz="938">
                <a:solidFill>
                  <a:srgbClr val="1A1D26"/>
                </a:solidFill>
                <a:latin typeface="PingFang SC"/>
                <a:ea typeface="PingFang SC"/>
              </a:rPr>
              <a:t>4.5pt</a:t>
            </a:r>
            <a:r>
              <a:rPr lang="zh-CN" sz="938">
                <a:solidFill>
                  <a:srgbClr val="1A1D26"/>
                </a:solidFill>
                <a:latin typeface="PingFang SC"/>
                <a:ea typeface="PingFang SC"/>
              </a:rPr>
              <a:t>）回落形成部分对冲。温度计为</a:t>
            </a:r>
            <a:r>
              <a:rPr lang="en-US" sz="938">
                <a:solidFill>
                  <a:srgbClr val="1A1D26"/>
                </a:solidFill>
                <a:latin typeface="PingFang SC"/>
                <a:ea typeface="PingFang SC"/>
              </a:rPr>
              <a:t xml:space="preserve"> 10 </a:t>
            </a:r>
            <a:r>
              <a:rPr lang="zh-CN" sz="938">
                <a:solidFill>
                  <a:srgbClr val="1A1D26"/>
                </a:solidFill>
                <a:latin typeface="PingFang SC"/>
                <a:ea typeface="PingFang SC"/>
              </a:rPr>
              <a:t>因子等权合成，周内对比区间</a:t>
            </a:r>
            <a:r>
              <a:rPr lang="en-US" sz="938">
                <a:solidFill>
                  <a:srgbClr val="1A1D26"/>
                </a:solidFill>
                <a:latin typeface="PingFang SC"/>
                <a:ea typeface="PingFang SC"/>
              </a:rPr>
              <a:t xml:space="preserve"> 2026-09-18 → 2026-09-22</a:t>
            </a:r>
            <a:r>
              <a:rPr lang="zh-CN" sz="938">
                <a:solidFill>
                  <a:srgbClr val="1A1D26"/>
                </a:solidFill>
                <a:latin typeface="PingFang SC"/>
                <a:ea typeface="PingFang SC"/>
              </a:rPr>
              <a:t>。</a:t>
            </a:r>
            <a:endParaRPr/>
          </a:p>
        </p:txBody>
      </p:sp>
      <p:sp>
        <p:nvSpPr>
          <p:cNvPr id="24" name=""/>
          <p:cNvSpPr/>
          <p:nvPr/>
        </p:nvSpPr>
        <p:spPr>
          <a:xfrm rot="0" flipH="0" flipV="0">
            <a:off x="0" y="6572250"/>
            <a:ext cx="12192000" cy="285750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11449050" y="6648450"/>
            <a:ext cx="3619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FFFFFF">
                    <a:alpha val="80000"/>
                  </a:srgbClr>
                </a:solidFill>
                <a:latin typeface="PingFang SC"/>
                <a:ea typeface="PingFang SC"/>
              </a:rPr>
              <a:t>01 / 02</a:t>
            </a:r>
            <a:endParaRPr/>
          </a:p>
        </p:txBody>
      </p:sp>
    </p:spTree>
  </p:cSld>
</p:sld>
</file>

<file path=ppt/slides/slide2.xml><?xml version="1.0" encoding="utf-8"?>
<p:sld xmlns:a16="http://schemas.microsoft.com/office/drawing/2014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16">
  <p:cSld>
    <p:spTree>
      <p:nvGrpSpPr>
        <p:cNvPr id="26" name="" descr="&lt;Slide style={{ width: 1280, height: 720, background: '#F4F6F9', fontFamily: 'PingFang SC', display: 'flex', flexDirection: 'column' }}&gt;&#10;&#10;  &lt;Box style={{ height: 88, background: '#1F3A6E', padding: '0 40px', display: 'flex', alignItems: 'center', justifyContent: 'space-between' }}&gt;&#10;    &lt;Box&gt;&#10;      &lt;Text style={{ fontSize: 25, fontWeight: '600', color: '#FFFFFF' }}&gt;低温买入产业趋势组合：历史胜率与赔率&lt;/Text&gt;&#10;      &lt;Text style={{ fontSize: 12, color: 'rgba(255,255,255,0.75)', marginTop: 5 }}&gt;科技温度计跌破 40° 当日买入　|　事件口径，21 次信号　|　窗口 2023-09-25 ~ 2026-09-18　|　持有期不足的样本剔除&lt;/Text&gt;&#10;    &lt;/Box&gt;&#10;    &lt;Text style={{ fontSize: 13, color: 'rgba(255,255,255,0.85)' }}&gt;研究结论&lt;/Text&gt;&#10;  &lt;/Box&gt;&#10;&#10;  &lt;Box style={{ padding: '12px 40px 0', display: 'flex', flexDirection: 'column', alignItems: 'center' }}&gt;&#10;    &lt;Box style={{ background: '#FFFFFF', border: '1px solid #E5E8EE', borderRadius: 12, padding: '8px 10px', display: 'flex', justifyContent: 'center', alignItems: 'center' }}&gt;&#10;      &lt;Image src=&quot;assets/p2_events.png&quot; style={{ width: 860, height: 343 }} /&gt;&#10;    &lt;/Box&gt;&#10;&#10;    &lt;Table&#10;      style={{ width: 1160, height: 148, marginTop: 12 }}&#10;      defaultTextStyle={{ fontSize: 13, textAlign: 'center', color: '#1A1D26' }}&#10;      defaultCellStyle={{&#10;        border: {&#10;          left: { width: 1, color: '#E5E8EE' },&#10;          right: { width: 1, color: '#E5E8EE' },&#10;          top: { width: 1, color: '#E5E8EE' },&#10;          bottom: { width: 1, color: '#E5E8EE' },&#10;        },&#10;      }}&#10;      cells={[&#10;        [&#10;          { text: '持有期', textStyle: { bold: true, color: '#FFFFFF', fontSize: 13 }, cellStyle: { background: { color: '#1F3A6E' } } },&#10;          { text: '样本数', textStyle: { bold: true, color: '#FFFFFF', fontSize: 13 }, cellStyle: { background: { color: '#1F3A6E' } } },&#10;          { text: '胜率（收益&gt;0）', textStyle: { bold: true, color: '#FFFFFF', fontSize: 13 }, cellStyle: { background: { color: '#1F3A6E' } } },&#10;          { text: '平均年化', textStyle: { bold: true, color: '#FFFFFF', fontSize: 13 }, cellStyle: { background: { color: '#1F3A6E' } } },&#10;          { text: '年化中位数', textStyle: { bold: true, color: '#FFFFFF', fontSize: 13 }, cellStyle: { background: { color: '#1F3A6E' } } },&#10;          { text: '平均绝对收益', textStyle: { bold: true, color: '#FFFFFF', fontSize: 13 }, cellStyle: { background: { color: '#1F3A6E' } } },&#10;          { text: '收益最高买入点', textStyle: { bold: true, color: '#FFFFFF', fontSize: 13 }, cellStyle: { background: { color: '#1F3A6E' } } },&#10;        ],&#10;        [&#10;          { text: '半年', textStyle: { bold: true } }, '18', { text: '94%（17/18）' }, { text: '+139.3%', textStyle: { color: '#D93636', bold: true } }, '+150.3%', '+50.6%', '2025-04-07（+105.6%）',&#10;        ],&#10;        [&#10;          { text: '一年', textStyle: { bold: true }, cellStyle: { background: { color: '#F7F9FC' } } },&#10;          { text: '18', cellStyle: { background: { color: '#F7F9FC' } } },&#10;          { text: '94%（17/18）', cellStyle: { background: { color: '#F7F9FC' } } },&#10;          { text: '+98.6%', textStyle: { color: '#D93636', bold: true }, cellStyle: { background: { color: '#F7F9FC' } } },&#10;          { text: '+98.5%', cellStyle: { background: { color: '#F7F9FC' } } },&#10;          { text: '+98.4%', cellStyle: { background: { color: '#F7F9FC' } } },&#10;          { text: '2025-06-20（+224.6%）', cellStyle: { background: { color: '#F7F9FC' } } },&#10;        ],&#10;        [&#10;          { text: '两年', textStyle: { bold: true } }, '9', { text: '100%（9/9）', textStyle: { bold: true } }, { text: '+63.9%', textStyle: { color: '#D93636', bold: true } }, '+69.6%', '+171.1%', '2024-05-29（+243.4%）',&#10;        ],&#10;      ]}&#10;    /&gt;&#10;&#10;    &lt;Box style={{ marginTop: 10, width: 1160, background: '#FFFAF0', border: '1px solid #F6E0B5', borderRadius: 10, padding: '8px 18px' }}&gt;&#10;      &lt;Text style={{ fontSize: 12, color: '#7A5A20', lineHeight: 1.5 }}&gt;&#10;        最佳买点集中在恐慌最深处（2025-04 关税冲击）与牛市前磨底期（2024-04~05）；持有越久总收益越高、年化越低。注意：21 次信号仅来自 3 个低温带且持仓期高度重叠，胜率不能视作独立重复胜率；模拟组合回测，未计申赎费与冲击成本。&#10;      &lt;/Text&gt;&#10;    &lt;/Box&gt;&#10;  &lt;/Box&gt;&#10;&#10;  &lt;Box style={{ position: 'absolute', left: 0, right: 0, bottom: 0, height: 30, background: '#1F3A6E', display: 'flex', alignItems: 'center', justifyContent: 'flex-end', padding: '0 40px' }}&gt;&#10;    &lt;Text style={{ fontSize: 11, color: 'rgba(255,255,255,0.8)' }}&gt;02 / 02&lt;/Text&gt;&#10;  &lt;/Box&gt;&#10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4F6F9"/>
          </a:solidFill>
          <a:ln/>
        </p:spPr>
        <p:txBody>
          <a:bodyPr/>
          <a:p/>
        </p:txBody>
      </p:sp>
      <p:sp>
        <p:nvSpPr>
          <p:cNvPr id="28" name=""/>
          <p:cNvSpPr/>
          <p:nvPr/>
        </p:nvSpPr>
        <p:spPr>
          <a:xfrm rot="0" flipH="0" flipV="0">
            <a:off x="0" y="0"/>
            <a:ext cx="12192000" cy="838200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381000" y="180975"/>
            <a:ext cx="622935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75" b="1">
                <a:solidFill>
                  <a:srgbClr val="FFFFFF"/>
                </a:solidFill>
                <a:latin typeface="PingFang SC"/>
                <a:ea typeface="PingFang SC"/>
              </a:rPr>
              <a:t>低温买入产业趋势组合：历史胜率与赔率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381000" y="514350"/>
            <a:ext cx="62293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>科技温度计跌破</a:t>
            </a:r>
            <a:r>
              <a:rPr lang="en-US" sz="900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 xml:space="preserve"> 40° </a:t>
            </a:r>
            <a:r>
              <a:rPr lang="zh-CN" sz="900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>当日买入　</a:t>
            </a:r>
            <a:r>
              <a:rPr lang="en-US" sz="900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>|</a:t>
            </a:r>
            <a:r>
              <a:rPr lang="zh-CN" sz="900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>　事件口径，</a:t>
            </a:r>
            <a:r>
              <a:rPr lang="en-US" sz="900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 xml:space="preserve">21 </a:t>
            </a:r>
            <a:r>
              <a:rPr lang="zh-CN" sz="900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>次信号　</a:t>
            </a:r>
            <a:r>
              <a:rPr lang="en-US" sz="900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>|</a:t>
            </a:r>
            <a:r>
              <a:rPr lang="zh-CN" sz="900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>　窗口</a:t>
            </a:r>
            <a:r>
              <a:rPr lang="en-US" sz="900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 xml:space="preserve"> 2023-09-25 ~ 2026-09-18</a:t>
            </a:r>
            <a:r>
              <a:rPr lang="zh-CN" sz="900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>　</a:t>
            </a:r>
            <a:r>
              <a:rPr lang="en-US" sz="900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>|</a:t>
            </a:r>
            <a:r>
              <a:rPr lang="zh-CN" sz="900">
                <a:solidFill>
                  <a:srgbClr val="FFFFFF">
                    <a:alpha val="75000"/>
                  </a:srgbClr>
                </a:solidFill>
                <a:latin typeface="PingFang SC"/>
                <a:ea typeface="PingFang SC"/>
              </a:rPr>
              <a:t>　持有期不足的样本剔除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11315700" y="342900"/>
            <a:ext cx="495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85000"/>
                  </a:srgbClr>
                </a:solidFill>
                <a:latin typeface="PingFang SC"/>
                <a:ea typeface="PingFang SC"/>
              </a:rPr>
              <a:t>研究结论</a:t>
            </a:r>
            <a:endParaRPr/>
          </a:p>
        </p:txBody>
      </p:sp>
      <p:sp>
        <p:nvSpPr>
          <p:cNvPr id="32" name=""/>
          <p:cNvSpPr/>
          <p:nvPr/>
        </p:nvSpPr>
        <p:spPr>
          <a:xfrm rot="0" flipH="0" flipV="0">
            <a:off x="1905000" y="952500"/>
            <a:ext cx="8382000" cy="3419475"/>
          </a:xfrm>
          <a:prstGeom prst="roundRect">
            <a:avLst>
              <a:gd name="adj" fmla="val 3343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</p:spPr>
        <p:txBody>
          <a:bodyPr/>
          <a:p/>
        </p:txBody>
      </p:sp>
      <p:pic>
        <p:nvPicPr>
          <p:cNvPr id="33" name=""/>
          <p:cNvPicPr>
            <a:picLocks noChangeAspect="1"/>
          </p:cNvPicPr>
          <p:nvPr/>
        </p:nvPicPr>
        <p:blipFill>
          <a:blip r:embed="rId1"/>
          <a:srcRect l="76" t="0" r="76" b="0"/>
          <a:stretch>
            <a:fillRect/>
          </a:stretch>
        </p:blipFill>
        <p:spPr>
          <a:xfrm rot="0" flipH="0" flipV="0">
            <a:off x="2000250" y="1028700"/>
            <a:ext cx="8191500" cy="3267075"/>
          </a:xfrm>
          <a:prstGeom prst="rect">
            <a:avLst/>
          </a:prstGeom>
          <a:ln/>
        </p:spPr>
      </p:pic>
      <p:graphicFrame>
        <p:nvGraphicFramePr>
          <p:cNvPr id="34" name=""/>
          <p:cNvGraphicFramePr/>
          <p:nvPr/>
        </p:nvGraphicFramePr>
        <p:xfrm rot="0" flipH="0" flipV="0">
          <a:off x="571500" y="4486275"/>
          <a:ext cx="11049000" cy="1409700"/>
        </p:xfrm>
        <a:graphic>
          <a:graphicData uri="http://schemas.openxmlformats.org/drawingml/2006/table">
            <a:tbl>
              <a:tblGrid>
                <a:gridCol w="928712">
                  <a:extLst>
                    <a:ext uri="{9D8B030D-6E8A-4147-A177-3AD203B41FA5}">
                      <a16:colId val="1"/>
                    </a:ext>
                  </a:extLst>
                </a:gridCol>
                <a:gridCol w="928712">
                  <a:extLst>
                    <a:ext uri="{9D8B030D-6E8A-4147-A177-3AD203B41FA5}">
                      <a16:colId val="2"/>
                    </a:ext>
                  </a:extLst>
                </a:gridCol>
                <a:gridCol w="1960615">
                  <a:extLst>
                    <a:ext uri="{9D8B030D-6E8A-4147-A177-3AD203B41FA5}">
                      <a16:colId val="3"/>
                    </a:ext>
                  </a:extLst>
                </a:gridCol>
                <a:gridCol w="1177133">
                  <a:extLst>
                    <a:ext uri="{9D8B030D-6E8A-4147-A177-3AD203B41FA5}">
                      <a16:colId val="4"/>
                    </a:ext>
                  </a:extLst>
                </a:gridCol>
                <a:gridCol w="1425554">
                  <a:extLst>
                    <a:ext uri="{9D8B030D-6E8A-4147-A177-3AD203B41FA5}">
                      <a16:colId val="5"/>
                    </a:ext>
                  </a:extLst>
                </a:gridCol>
                <a:gridCol w="1673975">
                  <a:extLst>
                    <a:ext uri="{9D8B030D-6E8A-4147-A177-3AD203B41FA5}">
                      <a16:colId val="6"/>
                    </a:ext>
                  </a:extLst>
                </a:gridCol>
                <a:gridCol w="2954299">
                  <a:extLst>
                    <a:ext uri="{9D8B030D-6E8A-4147-A177-3AD203B41FA5}">
                      <a16:colId val="7"/>
                    </a:ext>
                  </a:extLst>
                </a:gridCol>
              </a:tblGrid>
              <a:tr h="35242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持有期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样本数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胜率（收益&gt;0）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平均年化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年化中位数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平均绝对收益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3A6E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收益最高买入点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3A6E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5242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1D26"/>
                          </a:solidFill>
                          <a:latin typeface="Microsoft YaHei"/>
                          <a:ea typeface="Microsoft YaHei"/>
                        </a:rPr>
                        <a:t>半年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1D26"/>
                          </a:solidFill>
                          <a:latin typeface="Microsoft YaHei"/>
                          <a:ea typeface="Microsoft YaHei"/>
                        </a:rPr>
                        <a:t>18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1D26"/>
                          </a:solidFill>
                          <a:latin typeface="Microsoft YaHei"/>
                          <a:ea typeface="Microsoft YaHei"/>
                        </a:rPr>
                        <a:t>94%（17/18）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3636"/>
                          </a:solidFill>
                          <a:latin typeface="Microsoft YaHei"/>
                          <a:ea typeface="Microsoft YaHei"/>
                        </a:rPr>
                        <a:t>+139.3%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1D26"/>
                          </a:solidFill>
                          <a:latin typeface="Microsoft YaHei"/>
                          <a:ea typeface="Microsoft YaHei"/>
                        </a:rPr>
                        <a:t>+150.3%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1D26"/>
                          </a:solidFill>
                          <a:latin typeface="Microsoft YaHei"/>
                          <a:ea typeface="Microsoft YaHei"/>
                        </a:rPr>
                        <a:t>+50.6%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1D26"/>
                          </a:solidFill>
                          <a:latin typeface="Microsoft YaHei"/>
                          <a:ea typeface="Microsoft YaHei"/>
                        </a:rPr>
                        <a:t>2025-04-07（+105.6%）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5242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1D26"/>
                          </a:solidFill>
                          <a:latin typeface="Microsoft YaHei"/>
                          <a:ea typeface="Microsoft YaHei"/>
                        </a:rPr>
                        <a:t>一年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1D26"/>
                          </a:solidFill>
                          <a:latin typeface="Microsoft YaHei"/>
                          <a:ea typeface="Microsoft YaHei"/>
                        </a:rPr>
                        <a:t>18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1D26"/>
                          </a:solidFill>
                          <a:latin typeface="Microsoft YaHei"/>
                          <a:ea typeface="Microsoft YaHei"/>
                        </a:rPr>
                        <a:t>94%（17/18）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3636"/>
                          </a:solidFill>
                          <a:latin typeface="Microsoft YaHei"/>
                          <a:ea typeface="Microsoft YaHei"/>
                        </a:rPr>
                        <a:t>+98.6%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1D26"/>
                          </a:solidFill>
                          <a:latin typeface="Microsoft YaHei"/>
                          <a:ea typeface="Microsoft YaHei"/>
                        </a:rPr>
                        <a:t>+98.5%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1D26"/>
                          </a:solidFill>
                          <a:latin typeface="Microsoft YaHei"/>
                          <a:ea typeface="Microsoft YaHei"/>
                        </a:rPr>
                        <a:t>+98.4%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1D26"/>
                          </a:solidFill>
                          <a:latin typeface="Microsoft YaHei"/>
                          <a:ea typeface="Microsoft YaHei"/>
                        </a:rPr>
                        <a:t>2025-06-20（+224.6%）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5242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1D26"/>
                          </a:solidFill>
                          <a:latin typeface="Microsoft YaHei"/>
                          <a:ea typeface="Microsoft YaHei"/>
                        </a:rPr>
                        <a:t>两年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1D26"/>
                          </a:solidFill>
                          <a:latin typeface="Microsoft YaHei"/>
                          <a:ea typeface="Microsoft YaHei"/>
                        </a:rPr>
                        <a:t>9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1D26"/>
                          </a:solidFill>
                          <a:latin typeface="Microsoft YaHei"/>
                          <a:ea typeface="Microsoft YaHei"/>
                        </a:rPr>
                        <a:t>100%（9/9）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3636"/>
                          </a:solidFill>
                          <a:latin typeface="Microsoft YaHei"/>
                          <a:ea typeface="Microsoft YaHei"/>
                        </a:rPr>
                        <a:t>+63.9%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1D26"/>
                          </a:solidFill>
                          <a:latin typeface="Microsoft YaHei"/>
                          <a:ea typeface="Microsoft YaHei"/>
                        </a:rPr>
                        <a:t>+69.6%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1D26"/>
                          </a:solidFill>
                          <a:latin typeface="Microsoft YaHei"/>
                          <a:ea typeface="Microsoft YaHei"/>
                        </a:rPr>
                        <a:t>+171.1%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1D26"/>
                          </a:solidFill>
                          <a:latin typeface="Microsoft YaHei"/>
                          <a:ea typeface="Microsoft YaHei"/>
                        </a:rPr>
                        <a:t>2024-05-29（+243.4%）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</a:tbl>
          </a:graphicData>
        </a:graphic>
      </p:graphicFrame>
      <p:sp>
        <p:nvSpPr>
          <p:cNvPr id="35" name=""/>
          <p:cNvSpPr/>
          <p:nvPr/>
        </p:nvSpPr>
        <p:spPr>
          <a:xfrm rot="0" flipH="0" flipV="0">
            <a:off x="571500" y="5991225"/>
            <a:ext cx="11049000" cy="571500"/>
          </a:xfrm>
          <a:prstGeom prst="roundRect">
            <a:avLst>
              <a:gd name="adj" fmla="val 16667"/>
            </a:avLst>
          </a:prstGeom>
          <a:solidFill>
            <a:srgbClr val="FFFAF0"/>
          </a:solidFill>
          <a:ln w="12700">
            <a:solidFill>
              <a:srgbClr val="F6E0B5"/>
            </a:solidFill>
            <a:prstDash val="solid"/>
          </a:ln>
        </p:spPr>
        <p:txBody>
          <a:bodyPr/>
          <a:p/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742950" y="6067425"/>
            <a:ext cx="1070610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900">
                <a:solidFill>
                  <a:srgbClr val="7A5A20"/>
                </a:solidFill>
                <a:latin typeface="PingFang SC"/>
                <a:ea typeface="PingFang SC"/>
              </a:rPr>
              <a:t>最佳买点集中在恐慌最深处（</a:t>
            </a:r>
            <a:r>
              <a:rPr lang="en-US" sz="900">
                <a:solidFill>
                  <a:srgbClr val="7A5A20"/>
                </a:solidFill>
                <a:latin typeface="PingFang SC"/>
                <a:ea typeface="PingFang SC"/>
              </a:rPr>
              <a:t xml:space="preserve">2025-04 </a:t>
            </a:r>
            <a:r>
              <a:rPr lang="zh-CN" sz="900">
                <a:solidFill>
                  <a:srgbClr val="7A5A20"/>
                </a:solidFill>
                <a:latin typeface="PingFang SC"/>
                <a:ea typeface="PingFang SC"/>
              </a:rPr>
              <a:t>关税冲击）与牛市前磨底期（</a:t>
            </a:r>
            <a:r>
              <a:rPr lang="en-US" sz="900">
                <a:solidFill>
                  <a:srgbClr val="7A5A20"/>
                </a:solidFill>
                <a:latin typeface="PingFang SC"/>
                <a:ea typeface="PingFang SC"/>
              </a:rPr>
              <a:t>2024-04~05</a:t>
            </a:r>
            <a:r>
              <a:rPr lang="zh-CN" sz="900">
                <a:solidFill>
                  <a:srgbClr val="7A5A20"/>
                </a:solidFill>
                <a:latin typeface="PingFang SC"/>
                <a:ea typeface="PingFang SC"/>
              </a:rPr>
              <a:t>）；持有越久总收益越高、年化越低。注意：</a:t>
            </a:r>
            <a:r>
              <a:rPr lang="en-US" sz="900">
                <a:solidFill>
                  <a:srgbClr val="7A5A20"/>
                </a:solidFill>
                <a:latin typeface="PingFang SC"/>
                <a:ea typeface="PingFang SC"/>
              </a:rPr>
              <a:t xml:space="preserve">21 </a:t>
            </a:r>
            <a:r>
              <a:rPr lang="zh-CN" sz="900">
                <a:solidFill>
                  <a:srgbClr val="7A5A20"/>
                </a:solidFill>
                <a:latin typeface="PingFang SC"/>
                <a:ea typeface="PingFang SC"/>
              </a:rPr>
              <a:t>次信号仅来自</a:t>
            </a:r>
            <a:r>
              <a:rPr lang="en-US" sz="900">
                <a:solidFill>
                  <a:srgbClr val="7A5A20"/>
                </a:solidFill>
                <a:latin typeface="PingFang SC"/>
                <a:ea typeface="PingFang SC"/>
              </a:rPr>
              <a:t xml:space="preserve"> 3 </a:t>
            </a:r>
            <a:r>
              <a:rPr lang="zh-CN" sz="900">
                <a:solidFill>
                  <a:srgbClr val="7A5A20"/>
                </a:solidFill>
                <a:latin typeface="PingFang SC"/>
                <a:ea typeface="PingFang SC"/>
              </a:rPr>
              <a:t>个低温带且持仓期高度重叠，胜率不能视作独立重复胜率；模拟组合回测，未计申赎费与冲击成本。</a:t>
            </a:r>
            <a:endParaRPr/>
          </a:p>
        </p:txBody>
      </p:sp>
      <p:sp>
        <p:nvSpPr>
          <p:cNvPr id="37" name=""/>
          <p:cNvSpPr/>
          <p:nvPr/>
        </p:nvSpPr>
        <p:spPr>
          <a:xfrm rot="0" flipH="0" flipV="0">
            <a:off x="0" y="6572250"/>
            <a:ext cx="12192000" cy="285750"/>
          </a:xfrm>
          <a:prstGeom prst="rect">
            <a:avLst/>
          </a:prstGeom>
          <a:solidFill>
            <a:srgbClr val="1F3A6E"/>
          </a:solidFill>
          <a:ln/>
        </p:spPr>
        <p:txBody>
          <a:bodyPr/>
          <a:p/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11430000" y="6648450"/>
            <a:ext cx="3810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FFFFFF">
                    <a:alpha val="80000"/>
                  </a:srgbClr>
                </a:solidFill>
                <a:latin typeface="PingFang SC"/>
                <a:ea typeface="PingFang SC"/>
              </a:rPr>
              <a:t>02 / 02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2026-09-23T17:33:08Z</dcterms:created>
  <dcterms:modified xsi:type="dcterms:W3CDTF">2026-09-23T17:33:08Z</dcterms:modified>
</cp:coreProperties>
</file>