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</p:sldIdLst>
  <p:sldSz cx="12192000" cy="6858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4F6F9', fontFamily: 'PingFang SC', display: 'flex', flexDirection: 'column' }}&gt;&#10;&#10;  &lt;Box style={{ height: 88, background: '#1F3A6E', padding: '0 40px', display: 'flex', alignItems: 'center', justifyContent: 'space-between' }}&gt;&#10;    &lt;Box&gt;&#10;      &lt;Text style={{ fontSize: 25, fontWeight: '600', color: '#FFFFFF' }}&gt;科技温度计周报｜市场情绪监测&lt;/Text&gt;&#10;      &lt;Text style={{ fontSize: 12, color: 'rgba(255,255,255,0.75)', marginTop: 5 }}&gt;信号源：科技温度计　|　标的：产业趋势组合（模拟）　|　数据截至 2026-09-24&lt;/Text&gt;&#10;    &lt;/Box&gt;&#10;    &lt;Text style={{ fontSize: 13, color: 'rgba(255,255,255,0.85)' }}&gt;2026 年第 40 周&lt;/Text&gt;&#10;  &lt;/Box&gt;&#10;&#10;  &lt;Box style={{ padding: '14px 40px 0' }}&gt;&#10;    &lt;Box style={{ display: 'flex', gap: 16, height: 88 }}&gt;&#10;      &lt;Box style={{ flex: 1, background: '#FFFFFF', border: '1px solid #E5E8EE', borderRadius: 12, padding: '13px 24px' }}&gt;&#10;        &lt;Text style={{ fontSize: 12, color: '#7B8494' }}&gt;当前温度计读数（09-24）&lt;/Text&gt;&#10;        &lt;Text style={{ fontSize: 36, fontWeight: '600', color: '#2F6FED', marginTop: 2 }}&gt;33.6°&lt;/Text&gt;&#10;      &lt;/Box&gt;&#10;      &lt;Box style={{ flex: 1, background: '#FFFFFF', border: '1px solid #E5E8EE', borderRadius: 12, padding: '13px 24px' }}&gt;&#10;        &lt;Text style={{ fontSize: 12, color: '#7B8494' }}&gt;上周读数（周一 09-21）&lt;/Text&gt;&#10;        &lt;Text style={{ fontSize: 36, fontWeight: '600', color: '#4A5464', marginTop: 2 }}&gt;39.9°&lt;/Text&gt;&#10;      &lt;/Box&gt;&#10;      &lt;Box style={{ flex: 1, background: '#F1FAF3', border: '1px solid #CFE9D6', borderRadius: 12, padding: '13px 24px' }}&gt;&#10;        &lt;Text style={{ fontSize: 12, color: '#7B8494' }}&gt;边际变化（较上周一）&lt;/Text&gt;&#10;        &lt;Text style={{ fontSize: 36, fontWeight: '600', color: '#16A34A', marginTop: 2 }}&gt;−6.3° ↓ 下降&lt;/Text&gt;&#10;      &lt;/Box&gt;&#10;    &lt;/Box&gt;&#10;&#10;    &lt;Box style={{ marginTop: 12, background: '#FFFFFF', border: '1px solid #E5E8EE', borderRadius: 12, padding: '10px 12px', display: 'flex', justifyContent: 'center', alignItems: 'center' }}&gt;&#10;      &lt;Image src=&quot;assets/p1_temp_tmt.png&quot; style={{ width: 1027, height: 400 }} /&gt;&#10;    &lt;/Box&gt;&#10;&#10;    &lt;Box style={{ marginTop: 8, background: '#EFF4FE', borderRadius: 10, padding: '8px 18px' }}&gt;&#10;      &lt;Text style={{ fontSize: 12.5, color: '#1A1D26', lineHeight: 1.5 }}&gt;&#10;        &lt;Text style={{ fontWeight: '600', color: '#1F3A6E' }}&gt;本周解读：&lt;/Text&gt;温度计较上周一回落 6.3°，当前 33.6° 已跌破 40° 低温触发区；回落主要由「行业拥挤度」（59.0→41.3，−17.7pt）与「250日月跌幅均指滚动百分位」（36.5→22.0，−14.5pt）两项得分走低拖累，10 个因子中 8 项下滑。温度计为 10 因子等权合成，对比区间 2026-09-21 → 2026-09-24。&#10;      &lt;/Text&gt;&#10;    &lt;/Box&gt;&#10;  &lt;/Box&gt;&#10;&#10;  &lt;Box style={{ position: 'absolute', left: 0, right: 0, bottom: 0, height: 30, background: '#1F3A6E', display: 'flex', alignItems: 'center', justifyContent: 'flex-end', padding: '0 40px' }}&gt;&#10;    &lt;Text style={{ fontSize: 11, color: 'rgba(255,255,255,0.8)' }}&gt;01 / 02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9"/>
          </a:solidFill>
        </p:spPr>
        <p:txBody>
          <a:bodyPr/>
          <a:p/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F3A6E"/>
          </a:solidFill>
        </p:spPr>
        <p:txBody>
          <a:bodyPr/>
          <a:p/>
        </p:txBody>
      </p:sp>
      <p:sp>
        <p:nvSpPr>
          <p:cNvPr id="4" name="文本框 3" descr="{&quot;isTemplate&quot;:true,&quot;type&quot;:&quot;text&quot;}"/>
          <p:cNvSpPr txBox="1"/>
          <p:nvPr/>
        </p:nvSpPr>
        <p:spPr>
          <a:xfrm>
            <a:off x="381000" y="180975"/>
            <a:ext cx="420052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科技温度计周度</a:t>
            </a:r>
            <a:r>
              <a:rPr lang="zh-CN" sz="18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简报</a:t>
            </a:r>
            <a:endParaRPr lang="zh-CN" sz="18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381000" y="514350"/>
            <a:ext cx="4200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75000"/>
                  </a:srgbClr>
                </a:solidFill>
                <a:latin typeface="PingFang SC" panose="020B0400000000000000" charset="-122"/>
                <a:ea typeface="PingFang SC" panose="020B0400000000000000" charset="-122"/>
              </a:rPr>
              <a:t>信号源：科技温度计　</a:t>
            </a:r>
            <a:r>
              <a:rPr lang="en-US" sz="900">
                <a:solidFill>
                  <a:srgbClr val="FFFFFF">
                    <a:alpha val="75000"/>
                  </a:srgbClr>
                </a:solidFill>
                <a:latin typeface="PingFang SC" panose="020B0400000000000000" charset="-122"/>
                <a:ea typeface="PingFang SC" panose="020B0400000000000000" charset="-122"/>
              </a:rPr>
              <a:t>|</a:t>
            </a:r>
            <a:r>
              <a:rPr lang="zh-CN" sz="900">
                <a:solidFill>
                  <a:srgbClr val="FFFFFF">
                    <a:alpha val="75000"/>
                  </a:srgbClr>
                </a:solidFill>
                <a:latin typeface="PingFang SC" panose="020B0400000000000000" charset="-122"/>
                <a:ea typeface="PingFang SC" panose="020B0400000000000000" charset="-122"/>
              </a:rPr>
              <a:t>　标的：产业趋势组合（模拟）　</a:t>
            </a:r>
            <a:r>
              <a:rPr lang="en-US" sz="900">
                <a:solidFill>
                  <a:srgbClr val="FFFFFF">
                    <a:alpha val="75000"/>
                  </a:srgbClr>
                </a:solidFill>
                <a:latin typeface="PingFang SC" panose="020B0400000000000000" charset="-122"/>
                <a:ea typeface="PingFang SC" panose="020B0400000000000000" charset="-122"/>
              </a:rPr>
              <a:t>|</a:t>
            </a:r>
            <a:r>
              <a:rPr lang="zh-CN" sz="900">
                <a:solidFill>
                  <a:srgbClr val="FFFFFF">
                    <a:alpha val="75000"/>
                  </a:srgbClr>
                </a:solidFill>
                <a:latin typeface="PingFang SC" panose="020B0400000000000000" charset="-122"/>
                <a:ea typeface="PingFang SC" panose="020B0400000000000000" charset="-122"/>
              </a:rPr>
              <a:t>　数据截至</a:t>
            </a:r>
            <a:r>
              <a:rPr lang="en-US" sz="900">
                <a:solidFill>
                  <a:srgbClr val="FFFFFF">
                    <a:alpha val="75000"/>
                  </a:srgbClr>
                </a:solidFill>
                <a:latin typeface="PingFang SC" panose="020B0400000000000000" charset="-122"/>
                <a:ea typeface="PingFang SC" panose="020B0400000000000000" charset="-122"/>
              </a:rPr>
              <a:t> 2026-09-24</a:t>
            </a:r>
            <a:endParaRPr lang="en-US" sz="900">
              <a:solidFill>
                <a:srgbClr val="FFFFFF">
                  <a:alpha val="75000"/>
                </a:srgbClr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10868025" y="342900"/>
            <a:ext cx="942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85000"/>
                  </a:srgbClr>
                </a:solidFill>
                <a:latin typeface="PingFang SC" panose="020B0400000000000000" charset="-122"/>
                <a:ea typeface="PingFang SC" panose="020B0400000000000000" charset="-122"/>
              </a:rPr>
              <a:t>2026 </a:t>
            </a:r>
            <a:r>
              <a:rPr lang="zh-CN" sz="975">
                <a:solidFill>
                  <a:srgbClr val="FFFFFF">
                    <a:alpha val="85000"/>
                  </a:srgbClr>
                </a:solidFill>
                <a:latin typeface="PingFang SC" panose="020B0400000000000000" charset="-122"/>
                <a:ea typeface="PingFang SC" panose="020B0400000000000000" charset="-122"/>
              </a:rPr>
              <a:t>年第</a:t>
            </a:r>
            <a:r>
              <a:rPr lang="en-US" sz="975">
                <a:solidFill>
                  <a:srgbClr val="FFFFFF">
                    <a:alpha val="85000"/>
                  </a:srgbClr>
                </a:solidFill>
                <a:latin typeface="PingFang SC" panose="020B0400000000000000" charset="-122"/>
                <a:ea typeface="PingFang SC" panose="020B0400000000000000" charset="-122"/>
              </a:rPr>
              <a:t> 40 </a:t>
            </a:r>
            <a:r>
              <a:rPr lang="zh-CN" sz="975">
                <a:solidFill>
                  <a:srgbClr val="FFFFFF">
                    <a:alpha val="85000"/>
                  </a:srgbClr>
                </a:solidFill>
                <a:latin typeface="PingFang SC" panose="020B0400000000000000" charset="-122"/>
                <a:ea typeface="PingFang SC" panose="020B0400000000000000" charset="-122"/>
              </a:rPr>
              <a:t>周</a:t>
            </a:r>
            <a:endParaRPr lang="zh-CN" sz="975">
              <a:solidFill>
                <a:srgbClr val="FFFFFF">
                  <a:alpha val="85000"/>
                </a:srgbClr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381000" y="971550"/>
            <a:ext cx="3705225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</p:spPr>
        <p:txBody>
          <a:bodyPr/>
          <a:p/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609600" y="1095375"/>
            <a:ext cx="3248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7B8494"/>
                </a:solidFill>
                <a:latin typeface="PingFang SC" panose="020B0400000000000000" charset="-122"/>
                <a:ea typeface="PingFang SC" panose="020B0400000000000000" charset="-122"/>
              </a:rPr>
              <a:t>当前温度计读数（</a:t>
            </a:r>
            <a:r>
              <a:rPr lang="en-US" sz="900">
                <a:solidFill>
                  <a:srgbClr val="7B8494"/>
                </a:solidFill>
                <a:latin typeface="PingFang SC" panose="020B0400000000000000" charset="-122"/>
                <a:ea typeface="PingFang SC" panose="020B0400000000000000" charset="-122"/>
              </a:rPr>
              <a:t>09-24</a:t>
            </a:r>
            <a:r>
              <a:rPr lang="zh-CN" sz="900">
                <a:solidFill>
                  <a:srgbClr val="7B8494"/>
                </a:solidFill>
                <a:latin typeface="PingFang SC" panose="020B0400000000000000" charset="-122"/>
                <a:ea typeface="PingFang SC" panose="020B0400000000000000" charset="-122"/>
              </a:rPr>
              <a:t>）</a:t>
            </a:r>
            <a:endParaRPr lang="zh-CN" sz="900">
              <a:solidFill>
                <a:srgbClr val="7B849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609600" y="1257300"/>
            <a:ext cx="3248025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2F6FED"/>
                </a:solidFill>
                <a:latin typeface="PingFang SC" panose="020B0400000000000000" charset="-122"/>
                <a:ea typeface="PingFang SC" panose="020B0400000000000000" charset="-122"/>
              </a:rPr>
              <a:t>33.6°</a:t>
            </a:r>
            <a:endParaRPr lang="en-US" sz="2700" b="1">
              <a:solidFill>
                <a:srgbClr val="2F6FED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238625" y="971550"/>
            <a:ext cx="371475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</p:spPr>
        <p:txBody>
          <a:bodyPr/>
          <a:p/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4467225" y="1095375"/>
            <a:ext cx="3257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7B8494"/>
                </a:solidFill>
                <a:latin typeface="PingFang SC" panose="020B0400000000000000" charset="-122"/>
                <a:ea typeface="PingFang SC" panose="020B0400000000000000" charset="-122"/>
              </a:rPr>
              <a:t>上周读数（</a:t>
            </a:r>
            <a:r>
              <a:rPr lang="en-US" sz="900">
                <a:solidFill>
                  <a:srgbClr val="7B8494"/>
                </a:solidFill>
                <a:latin typeface="PingFang SC" panose="020B0400000000000000" charset="-122"/>
                <a:ea typeface="PingFang SC" panose="020B0400000000000000" charset="-122"/>
              </a:rPr>
              <a:t>09-21</a:t>
            </a:r>
            <a:r>
              <a:rPr lang="zh-CN" sz="900">
                <a:solidFill>
                  <a:srgbClr val="7B8494"/>
                </a:solidFill>
                <a:latin typeface="PingFang SC" panose="020B0400000000000000" charset="-122"/>
                <a:ea typeface="PingFang SC" panose="020B0400000000000000" charset="-122"/>
              </a:rPr>
              <a:t>）</a:t>
            </a:r>
            <a:endParaRPr lang="zh-CN" sz="900">
              <a:solidFill>
                <a:srgbClr val="7B849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4467225" y="1257300"/>
            <a:ext cx="325755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4A5464"/>
                </a:solidFill>
                <a:latin typeface="PingFang SC" panose="020B0400000000000000" charset="-122"/>
                <a:ea typeface="PingFang SC" panose="020B0400000000000000" charset="-122"/>
              </a:rPr>
              <a:t>39.9°</a:t>
            </a:r>
            <a:endParaRPr lang="en-US" sz="2700" b="1">
              <a:solidFill>
                <a:srgbClr val="4A546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8105775" y="971550"/>
            <a:ext cx="3705225" cy="838200"/>
          </a:xfrm>
          <a:prstGeom prst="roundRect">
            <a:avLst>
              <a:gd name="adj" fmla="val 13636"/>
            </a:avLst>
          </a:prstGeom>
          <a:solidFill>
            <a:srgbClr val="F1FAF3"/>
          </a:solidFill>
          <a:ln w="12700">
            <a:solidFill>
              <a:srgbClr val="CFE9D6"/>
            </a:solidFill>
            <a:prstDash val="solid"/>
          </a:ln>
        </p:spPr>
        <p:txBody>
          <a:bodyPr/>
          <a:p/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8334375" y="1095375"/>
            <a:ext cx="3248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7B8494"/>
                </a:solidFill>
                <a:latin typeface="PingFang SC" panose="020B0400000000000000" charset="-122"/>
                <a:ea typeface="PingFang SC" panose="020B0400000000000000" charset="-122"/>
              </a:rPr>
              <a:t>边际变化（较上周一）</a:t>
            </a:r>
            <a:endParaRPr lang="zh-CN" sz="900">
              <a:solidFill>
                <a:srgbClr val="7B849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8334375" y="1257300"/>
            <a:ext cx="3248025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16A34A"/>
                </a:solidFill>
                <a:latin typeface="PingFang SC" panose="020B0400000000000000" charset="-122"/>
                <a:ea typeface="PingFang SC" panose="020B0400000000000000" charset="-122"/>
              </a:rPr>
              <a:t>−6.3° ↓ </a:t>
            </a:r>
            <a:r>
              <a:rPr lang="zh-CN" sz="2700" b="1">
                <a:solidFill>
                  <a:srgbClr val="16A34A"/>
                </a:solidFill>
                <a:latin typeface="PingFang SC" panose="020B0400000000000000" charset="-122"/>
                <a:ea typeface="PingFang SC" panose="020B0400000000000000" charset="-122"/>
              </a:rPr>
              <a:t>下降</a:t>
            </a:r>
            <a:endParaRPr lang="zh-CN" sz="2700" b="1">
              <a:solidFill>
                <a:srgbClr val="16A34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381000" y="1924050"/>
            <a:ext cx="11430000" cy="40005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</p:spPr>
        <p:txBody>
          <a:bodyPr/>
          <a:p/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 l="13" r="13"/>
          <a:stretch>
            <a:fillRect/>
          </a:stretch>
        </p:blipFill>
        <p:spPr>
          <a:xfrm>
            <a:off x="1209675" y="2019300"/>
            <a:ext cx="9782175" cy="3810000"/>
          </a:xfrm>
          <a:prstGeom prst="rect">
            <a:avLst/>
          </a:prstGeom>
        </p:spPr>
      </p:pic>
      <p:sp>
        <p:nvSpPr>
          <p:cNvPr id="18" name="圆角矩形 17"/>
          <p:cNvSpPr/>
          <p:nvPr/>
        </p:nvSpPr>
        <p:spPr>
          <a:xfrm>
            <a:off x="381000" y="6000750"/>
            <a:ext cx="11430000" cy="581025"/>
          </a:xfrm>
          <a:prstGeom prst="roundRect">
            <a:avLst>
              <a:gd name="adj" fmla="val 16393"/>
            </a:avLst>
          </a:prstGeom>
          <a:solidFill>
            <a:srgbClr val="EFF4FE"/>
          </a:solidFill>
        </p:spPr>
        <p:txBody>
          <a:bodyPr/>
          <a:p/>
        </p:txBody>
      </p:sp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552450" y="6076950"/>
            <a:ext cx="11087100" cy="428625"/>
          </a:xfrm>
          <a:prstGeom prst="rect">
            <a:avLst/>
          </a:prstGeom>
        </p:spPr>
        <p:txBody>
          <a:bodyPr wrap="square" lIns="0" tIns="0" rIns="0" bIns="0">
            <a:normAutofit lnSpcReduction="10000"/>
          </a:bodyPr>
          <a:p>
            <a:pPr>
              <a:lnSpc>
                <a:spcPct val="150000"/>
              </a:lnSpc>
            </a:pPr>
            <a:r>
              <a:rPr lang="zh-CN" sz="940">
                <a:solidFill>
                  <a:srgbClr val="1A1D26"/>
                </a:solidFill>
                <a:latin typeface="PingFang SC" panose="020B0400000000000000" charset="-122"/>
                <a:ea typeface="PingFang SC" panose="020B0400000000000000" charset="-122"/>
              </a:rPr>
              <a:t>本周解读：温度计较上周一回落</a:t>
            </a:r>
            <a:r>
              <a:rPr lang="en-US" sz="940">
                <a:solidFill>
                  <a:srgbClr val="1A1D26"/>
                </a:solidFill>
                <a:latin typeface="PingFang SC" panose="020B0400000000000000" charset="-122"/>
                <a:ea typeface="PingFang SC" panose="020B0400000000000000" charset="-122"/>
              </a:rPr>
              <a:t> 6.3°</a:t>
            </a:r>
            <a:r>
              <a:rPr lang="zh-CN" sz="940">
                <a:solidFill>
                  <a:srgbClr val="1A1D26"/>
                </a:solidFill>
                <a:latin typeface="PingFang SC" panose="020B0400000000000000" charset="-122"/>
                <a:ea typeface="PingFang SC" panose="020B0400000000000000" charset="-122"/>
              </a:rPr>
              <a:t>；回落主要由「行业拥挤度</a:t>
            </a:r>
            <a:r>
              <a:rPr lang="zh-CN" sz="940">
                <a:solidFill>
                  <a:srgbClr val="1A1D26"/>
                </a:solidFill>
                <a:latin typeface="PingFang SC" panose="020B0400000000000000" charset="-122"/>
                <a:ea typeface="PingFang SC" panose="020B0400000000000000" charset="-122"/>
              </a:rPr>
              <a:t>分位数」与「月涨跌幅过去一年</a:t>
            </a:r>
            <a:r>
              <a:rPr lang="zh-CN" sz="940">
                <a:solidFill>
                  <a:srgbClr val="1A1D26"/>
                </a:solidFill>
                <a:latin typeface="PingFang SC" panose="020B0400000000000000" charset="-122"/>
                <a:ea typeface="PingFang SC" panose="020B0400000000000000" charset="-122"/>
              </a:rPr>
              <a:t>分位数」两项得分走低拖累，</a:t>
            </a:r>
            <a:r>
              <a:rPr lang="en-US" sz="940">
                <a:solidFill>
                  <a:srgbClr val="1A1D26"/>
                </a:solidFill>
                <a:latin typeface="PingFang SC" panose="020B0400000000000000" charset="-122"/>
                <a:ea typeface="PingFang SC" panose="020B0400000000000000" charset="-122"/>
              </a:rPr>
              <a:t>10 </a:t>
            </a:r>
            <a:r>
              <a:rPr lang="zh-CN" sz="940">
                <a:solidFill>
                  <a:srgbClr val="1A1D26"/>
                </a:solidFill>
                <a:latin typeface="PingFang SC" panose="020B0400000000000000" charset="-122"/>
                <a:ea typeface="PingFang SC" panose="020B0400000000000000" charset="-122"/>
              </a:rPr>
              <a:t>个因子中</a:t>
            </a:r>
            <a:r>
              <a:rPr lang="en-US" sz="940">
                <a:solidFill>
                  <a:srgbClr val="1A1D26"/>
                </a:solidFill>
                <a:latin typeface="PingFang SC" panose="020B0400000000000000" charset="-122"/>
                <a:ea typeface="PingFang SC" panose="020B0400000000000000" charset="-122"/>
              </a:rPr>
              <a:t> 8 </a:t>
            </a:r>
            <a:r>
              <a:rPr lang="zh-CN" sz="940">
                <a:solidFill>
                  <a:srgbClr val="1A1D26"/>
                </a:solidFill>
                <a:latin typeface="PingFang SC" panose="020B0400000000000000" charset="-122"/>
                <a:ea typeface="PingFang SC" panose="020B0400000000000000" charset="-122"/>
              </a:rPr>
              <a:t>项</a:t>
            </a:r>
            <a:r>
              <a:rPr lang="zh-CN" sz="940">
                <a:solidFill>
                  <a:srgbClr val="1A1D26"/>
                </a:solidFill>
                <a:latin typeface="PingFang SC" panose="020B0400000000000000" charset="-122"/>
                <a:ea typeface="PingFang SC" panose="020B0400000000000000" charset="-122"/>
              </a:rPr>
              <a:t>持续下滑</a:t>
            </a:r>
            <a:endParaRPr lang="zh-CN" sz="940">
              <a:solidFill>
                <a:srgbClr val="1A1D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1F3A6E"/>
          </a:solidFill>
        </p:spPr>
        <p:txBody>
          <a:bodyPr/>
          <a:p/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11449050" y="6648450"/>
            <a:ext cx="3619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FFFFF">
                    <a:alpha val="80000"/>
                  </a:srgbClr>
                </a:solidFill>
                <a:latin typeface="PingFang SC" panose="020B0400000000000000" charset="-122"/>
                <a:ea typeface="PingFang SC" panose="020B0400000000000000" charset="-122"/>
              </a:rPr>
              <a:t>01 / 02</a:t>
            </a:r>
            <a:endParaRPr lang="en-US" sz="825">
              <a:solidFill>
                <a:srgbClr val="FFFFFF">
                  <a:alpha val="80000"/>
                </a:srgbClr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 descr="&lt;Slide style={{ width: 1280, height: 720, background: '#F4F6F9', fontFamily: 'PingFang SC', display: 'flex', flexDirection: 'column' }}&gt;&#10;&#10;  &lt;Box style={{ height: 88, background: '#1F3A6E', padding: '0 40px', display: 'flex', alignItems: 'center', justifyContent: 'space-between' }}&gt;&#10;    &lt;Box&gt;&#10;      &lt;Text style={{ fontSize: 25, fontWeight: '600', color: '#FFFFFF' }}&gt;低温买入产业趋势组合：历史胜率与赔率&lt;/Text&gt;&#10;      &lt;Text style={{ fontSize: 12, color: 'rgba(255,255,255,0.75)', marginTop: 5 }}&gt;科技温度计跌破 40° 当日买入　|　事件口径，22 次信号　|　回测窗口 2023-09-25 ~ 2026-09-18　|　持有期不足的样本剔除&lt;/Text&gt;&#10;    &lt;/Box&gt;&#10;    &lt;Text style={{ fontSize: 13, color: 'rgba(255,255,255,0.85)' }}&gt;研究结论&lt;/Text&gt;&#10;  &lt;/Box&gt;&#10;&#10;  &lt;Box style={{ padding: '12px 40px 0', display: 'flex', flexDirection: 'column', alignItems: 'center' }}&gt;&#10;    &lt;Box style={{ background: '#FFFFFF', border: '1px solid #E5E8EE', borderRadius: 12, padding: '8px 10px', display: 'flex', justifyContent: 'center', alignItems: 'center' }}&gt;&#10;      &lt;Image src=&quot;assets/p2_events.png&quot; style={{ width: 955, height: 392 }} /&gt;&#10;    &lt;/Box&gt;&#10;&#10;    &lt;Table&#10;      style={{ width: 1160, height: 156, marginTop: 14 }}&#10;      defaultTextStyle={{ fontSize: 14, textAlign: 'center', color: '#1A1D26' }}&#10;      defaultCellStyle={{&#10;        border: {&#10;          left: { width: 1, color: '#E5E8EE' },&#10;          right: { width: 1, color: '#E5E8EE' },&#10;          top: { width: 1, color: '#E5E8EE' },&#10;          bottom: { width: 1, color: '#E5E8EE' },&#10;        },&#10;      }}&#10;      cells={[&#10;        [&#10;          { text: '持有期', textStyle: { bold: true, color: '#FFFFFF', fontSize: 14 }, cellStyle: { background: { color: '#1F3A6E' } } },&#10;          { text: '胜率（收益&gt;0）', textStyle: { bold: true, color: '#FFFFFF', fontSize: 14 }, cellStyle: { background: { color: '#1F3A6E' } } },&#10;          { text: '平均年化', textStyle: { bold: true, color: '#FFFFFF', fontSize: 14 }, cellStyle: { background: { color: '#1F3A6E' } } },&#10;          { text: '年化中位数', textStyle: { bold: true, color: '#FFFFFF', fontSize: 14 }, cellStyle: { background: { color: '#1F3A6E' } } },&#10;          { text: '平均绝对收益', textStyle: { bold: true, color: '#FFFFFF', fontSize: 14 }, cellStyle: { background: { color: '#1F3A6E' } } },&#10;          { text: '收益最高买入点', textStyle: { bold: true, color: '#FFFFFF', fontSize: 14 }, cellStyle: { background: { color: '#1F3A6E' } } },&#10;        ],&#10;        [&#10;          { text: '半年', textStyle: { bold: true } },&#10;          { text: '94%', textStyle: { color: '#D93636', bold: true } },&#10;          { text: '+139.3%', textStyle: { color: '#D93636', bold: true } },&#10;          '+150.3%',&#10;          '+50.6%',&#10;          '2025-04-07（+105.6%）',&#10;        ],&#10;        [&#10;          { text: '一年', textStyle: { bold: true }, cellStyle: { background: { color: '#F7F9FC' } } },&#10;          { text: '94%', textStyle: { color: '#D93636', bold: true }, cellStyle: { background: { color: '#F7F9FC' } } },&#10;          { text: '+98.6%', textStyle: { color: '#D93636', bold: true }, cellStyle: { background: { color: '#F7F9FC' } } },&#10;          { text: '+98.5%', cellStyle: { background: { color: '#F7F9FC' } } },&#10;          { text: '+98.4%', cellStyle: { background: { color: '#F7F9FC' } } },&#10;          { text: '2025-06-20（+224.6%）', cellStyle: { background: { color: '#F7F9FC' } } },&#10;        ],&#10;        [&#10;          { text: '两年', textStyle: { bold: true } },&#10;          { text: '100%', textStyle: { color: '#D93636', bold: true } },&#10;          { text: '+63.9%', textStyle: { color: '#D93636', bold: true } },&#10;          '+69.6%',&#10;          '+171.1%',&#10;          '2024-05-29（+243.4%）',&#10;        ],&#10;      ]}&#10;    /&gt;&#10;  &lt;/Box&gt;&#10;&#10;  &lt;Box style={{ position: 'absolute', left: 0, right: 0, bottom: 0, height: 30, background: '#1F3A6E', display: 'flex', alignItems: 'center', justifyContent: 'flex-end', padding: '0 40px' }}&gt;&#10;    &lt;Text style={{ fontSize: 11, color: 'rgba(255,255,255,0.8)' }}&gt;02 / 02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9"/>
          </a:solidFill>
        </p:spPr>
        <p:txBody>
          <a:bodyPr/>
          <a:p/>
        </p:txBody>
      </p:sp>
      <p:sp>
        <p:nvSpPr>
          <p:cNvPr id="24" name="矩形 23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F3A6E"/>
          </a:solidFill>
        </p:spPr>
        <p:txBody>
          <a:bodyPr/>
          <a:p/>
        </p:txBody>
      </p:sp>
      <p:sp>
        <p:nvSpPr>
          <p:cNvPr id="25" name="文本框 24" descr="{&quot;isTemplate&quot;:true,&quot;type&quot;:&quot;text&quot;}"/>
          <p:cNvSpPr txBox="1"/>
          <p:nvPr/>
        </p:nvSpPr>
        <p:spPr>
          <a:xfrm>
            <a:off x="381000" y="180975"/>
            <a:ext cx="64770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低温买入产业趋势组合：历史胜率与赔率</a:t>
            </a:r>
            <a:endParaRPr lang="zh-CN" sz="18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381000" y="514350"/>
            <a:ext cx="64770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75000"/>
                  </a:srgbClr>
                </a:solidFill>
                <a:latin typeface="PingFang SC" panose="020B0400000000000000" charset="-122"/>
                <a:ea typeface="PingFang SC" panose="020B0400000000000000" charset="-122"/>
              </a:rPr>
              <a:t>科技温度计跌破</a:t>
            </a:r>
            <a:r>
              <a:rPr lang="en-US" sz="900">
                <a:solidFill>
                  <a:srgbClr val="FFFFFF">
                    <a:alpha val="75000"/>
                  </a:srgbClr>
                </a:solidFill>
                <a:latin typeface="PingFang SC" panose="020B0400000000000000" charset="-122"/>
                <a:ea typeface="PingFang SC" panose="020B0400000000000000" charset="-122"/>
              </a:rPr>
              <a:t> 40° </a:t>
            </a:r>
            <a:r>
              <a:rPr lang="zh-CN" sz="900">
                <a:solidFill>
                  <a:srgbClr val="FFFFFF">
                    <a:alpha val="75000"/>
                  </a:srgbClr>
                </a:solidFill>
                <a:latin typeface="PingFang SC" panose="020B0400000000000000" charset="-122"/>
                <a:ea typeface="PingFang SC" panose="020B0400000000000000" charset="-122"/>
              </a:rPr>
              <a:t>当日买入　</a:t>
            </a:r>
            <a:r>
              <a:rPr lang="en-US" sz="900">
                <a:solidFill>
                  <a:srgbClr val="FFFFFF">
                    <a:alpha val="75000"/>
                  </a:srgbClr>
                </a:solidFill>
                <a:latin typeface="PingFang SC" panose="020B0400000000000000" charset="-122"/>
                <a:ea typeface="PingFang SC" panose="020B0400000000000000" charset="-122"/>
              </a:rPr>
              <a:t>|</a:t>
            </a:r>
            <a:r>
              <a:rPr lang="zh-CN" sz="900">
                <a:solidFill>
                  <a:srgbClr val="FFFFFF">
                    <a:alpha val="75000"/>
                  </a:srgbClr>
                </a:solidFill>
                <a:latin typeface="PingFang SC" panose="020B0400000000000000" charset="-122"/>
                <a:ea typeface="PingFang SC" panose="020B0400000000000000" charset="-122"/>
              </a:rPr>
              <a:t>　事件统计口径</a:t>
            </a:r>
            <a:r>
              <a:rPr lang="en-US" altLang="zh-CN" sz="900">
                <a:solidFill>
                  <a:srgbClr val="FFFFFF">
                    <a:alpha val="75000"/>
                  </a:srgbClr>
                </a:solidFill>
                <a:latin typeface="PingFang SC" panose="020B0400000000000000" charset="-122"/>
                <a:ea typeface="PingFang SC" panose="020B0400000000000000" charset="-122"/>
              </a:rPr>
              <a:t>=</a:t>
            </a:r>
            <a:r>
              <a:rPr lang="en-US" sz="900">
                <a:solidFill>
                  <a:srgbClr val="FFFFFF">
                    <a:alpha val="75000"/>
                  </a:srgbClr>
                </a:solidFill>
                <a:latin typeface="PingFang SC" panose="020B0400000000000000" charset="-122"/>
                <a:ea typeface="PingFang SC" panose="020B0400000000000000" charset="-122"/>
              </a:rPr>
              <a:t>22 </a:t>
            </a:r>
            <a:r>
              <a:rPr lang="zh-CN" sz="900">
                <a:solidFill>
                  <a:srgbClr val="FFFFFF">
                    <a:alpha val="75000"/>
                  </a:srgbClr>
                </a:solidFill>
                <a:latin typeface="PingFang SC" panose="020B0400000000000000" charset="-122"/>
                <a:ea typeface="PingFang SC" panose="020B0400000000000000" charset="-122"/>
              </a:rPr>
              <a:t>次信号　</a:t>
            </a:r>
            <a:r>
              <a:rPr lang="en-US" sz="900">
                <a:solidFill>
                  <a:srgbClr val="FFFFFF">
                    <a:alpha val="75000"/>
                  </a:srgbClr>
                </a:solidFill>
                <a:latin typeface="PingFang SC" panose="020B0400000000000000" charset="-122"/>
                <a:ea typeface="PingFang SC" panose="020B0400000000000000" charset="-122"/>
              </a:rPr>
              <a:t>|</a:t>
            </a:r>
            <a:r>
              <a:rPr lang="zh-CN" sz="900">
                <a:solidFill>
                  <a:srgbClr val="FFFFFF">
                    <a:alpha val="75000"/>
                  </a:srgbClr>
                </a:solidFill>
                <a:latin typeface="PingFang SC" panose="020B0400000000000000" charset="-122"/>
                <a:ea typeface="PingFang SC" panose="020B0400000000000000" charset="-122"/>
              </a:rPr>
              <a:t>　回测窗口</a:t>
            </a:r>
            <a:r>
              <a:rPr lang="en-US" sz="900">
                <a:solidFill>
                  <a:srgbClr val="FFFFFF">
                    <a:alpha val="75000"/>
                  </a:srgbClr>
                </a:solidFill>
                <a:latin typeface="PingFang SC" panose="020B0400000000000000" charset="-122"/>
                <a:ea typeface="PingFang SC" panose="020B0400000000000000" charset="-122"/>
              </a:rPr>
              <a:t> 2023-09-25 ~ 2026-09-18</a:t>
            </a:r>
            <a:r>
              <a:rPr lang="zh-CN" sz="900">
                <a:solidFill>
                  <a:srgbClr val="FFFFFF">
                    <a:alpha val="75000"/>
                  </a:srgbClr>
                </a:solidFill>
                <a:latin typeface="PingFang SC" panose="020B0400000000000000" charset="-122"/>
                <a:ea typeface="PingFang SC" panose="020B0400000000000000" charset="-122"/>
              </a:rPr>
              <a:t>　</a:t>
            </a:r>
            <a:r>
              <a:rPr lang="en-US" sz="900">
                <a:solidFill>
                  <a:srgbClr val="FFFFFF">
                    <a:alpha val="75000"/>
                  </a:srgbClr>
                </a:solidFill>
                <a:latin typeface="PingFang SC" panose="020B0400000000000000" charset="-122"/>
                <a:ea typeface="PingFang SC" panose="020B0400000000000000" charset="-122"/>
              </a:rPr>
              <a:t>|</a:t>
            </a:r>
            <a:r>
              <a:rPr lang="zh-CN" sz="900">
                <a:solidFill>
                  <a:srgbClr val="FFFFFF">
                    <a:alpha val="75000"/>
                  </a:srgbClr>
                </a:solidFill>
                <a:latin typeface="PingFang SC" panose="020B0400000000000000" charset="-122"/>
                <a:ea typeface="PingFang SC" panose="020B0400000000000000" charset="-122"/>
              </a:rPr>
              <a:t>　持有期不足的样本剔除</a:t>
            </a:r>
            <a:endParaRPr lang="zh-CN" sz="900">
              <a:solidFill>
                <a:srgbClr val="FFFFFF">
                  <a:alpha val="75000"/>
                </a:srgbClr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11315700" y="34290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endParaRPr lang="zh-CN" sz="975">
              <a:solidFill>
                <a:srgbClr val="FFFFFF">
                  <a:alpha val="85000"/>
                </a:srgbClr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1457325" y="952500"/>
            <a:ext cx="9286875" cy="38862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</p:spPr>
        <p:txBody>
          <a:bodyPr/>
          <a:p/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rcRect t="6" b="6"/>
          <a:stretch>
            <a:fillRect/>
          </a:stretch>
        </p:blipFill>
        <p:spPr>
          <a:xfrm>
            <a:off x="1552575" y="1028700"/>
            <a:ext cx="9096375" cy="3733800"/>
          </a:xfrm>
          <a:prstGeom prst="rect">
            <a:avLst/>
          </a:prstGeom>
        </p:spPr>
      </p:pic>
      <p:graphicFrame>
        <p:nvGraphicFramePr>
          <p:cNvPr id="30" name="表格 29"/>
          <p:cNvGraphicFramePr/>
          <p:nvPr/>
        </p:nvGraphicFramePr>
        <p:xfrm>
          <a:off x="571500" y="4972050"/>
          <a:ext cx="11049000" cy="1485900"/>
        </p:xfrm>
        <a:graphic>
          <a:graphicData uri="http://schemas.openxmlformats.org/drawingml/2006/table">
            <a:tbl>
              <a:tblPr/>
              <a:tblGrid>
                <a:gridCol w="1008006"/>
                <a:gridCol w="2141037"/>
                <a:gridCol w="1281496"/>
                <a:gridCol w="1554987"/>
                <a:gridCol w="1828477"/>
                <a:gridCol w="3234997"/>
              </a:tblGrid>
              <a:tr h="37147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持有期</a:t>
                      </a:r>
                      <a:endParaRPr sz="105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胜率（收益&gt;0）</a:t>
                      </a:r>
                      <a:endParaRPr sz="105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平均年化</a:t>
                      </a:r>
                      <a:endParaRPr sz="105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年化中位数</a:t>
                      </a:r>
                      <a:endParaRPr sz="105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平均绝对收益</a:t>
                      </a:r>
                      <a:endParaRPr sz="105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收益最高买入点</a:t>
                      </a:r>
                      <a:endParaRPr sz="105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A6E"/>
                    </a:solidFill>
                  </a:tcPr>
                </a:tc>
              </a:tr>
              <a:tr h="37147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1D26"/>
                          </a:solidFill>
                          <a:latin typeface="微软雅黑"/>
                          <a:ea typeface="微软雅黑"/>
                        </a:rPr>
                        <a:t>半年</a:t>
                      </a:r>
                      <a:endParaRPr sz="1050" b="1">
                        <a:solidFill>
                          <a:srgbClr val="1A1D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D93636"/>
                          </a:solidFill>
                          <a:latin typeface="微软雅黑"/>
                          <a:ea typeface="微软雅黑"/>
                        </a:rPr>
                        <a:t>94%</a:t>
                      </a:r>
                      <a:endParaRPr sz="1050" b="1">
                        <a:solidFill>
                          <a:srgbClr val="D9363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D93636"/>
                          </a:solidFill>
                          <a:latin typeface="微软雅黑"/>
                          <a:ea typeface="微软雅黑"/>
                        </a:rPr>
                        <a:t>+139.3%</a:t>
                      </a:r>
                      <a:endParaRPr sz="1050" b="1">
                        <a:solidFill>
                          <a:srgbClr val="D9363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D26"/>
                          </a:solidFill>
                          <a:latin typeface="微软雅黑"/>
                          <a:ea typeface="微软雅黑"/>
                        </a:rPr>
                        <a:t>+150.3%</a:t>
                      </a:r>
                      <a:endParaRPr sz="1050">
                        <a:solidFill>
                          <a:srgbClr val="1A1D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D26"/>
                          </a:solidFill>
                          <a:latin typeface="微软雅黑"/>
                          <a:ea typeface="微软雅黑"/>
                        </a:rPr>
                        <a:t>+50.6%</a:t>
                      </a:r>
                      <a:endParaRPr sz="1050">
                        <a:solidFill>
                          <a:srgbClr val="1A1D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D26"/>
                          </a:solidFill>
                          <a:latin typeface="微软雅黑"/>
                          <a:ea typeface="微软雅黑"/>
                        </a:rPr>
                        <a:t>2025-04-07（+105.6%）</a:t>
                      </a:r>
                      <a:endParaRPr sz="1050">
                        <a:solidFill>
                          <a:srgbClr val="1A1D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147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1D26"/>
                          </a:solidFill>
                          <a:latin typeface="微软雅黑"/>
                          <a:ea typeface="微软雅黑"/>
                        </a:rPr>
                        <a:t>一年</a:t>
                      </a:r>
                      <a:endParaRPr sz="1050" b="1">
                        <a:solidFill>
                          <a:srgbClr val="1A1D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D93636"/>
                          </a:solidFill>
                          <a:latin typeface="微软雅黑"/>
                          <a:ea typeface="微软雅黑"/>
                        </a:rPr>
                        <a:t>94%</a:t>
                      </a:r>
                      <a:endParaRPr sz="1050" b="1">
                        <a:solidFill>
                          <a:srgbClr val="D9363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D93636"/>
                          </a:solidFill>
                          <a:latin typeface="微软雅黑"/>
                          <a:ea typeface="微软雅黑"/>
                        </a:rPr>
                        <a:t>+98.6%</a:t>
                      </a:r>
                      <a:endParaRPr sz="1050" b="1">
                        <a:solidFill>
                          <a:srgbClr val="D9363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D26"/>
                          </a:solidFill>
                          <a:latin typeface="微软雅黑"/>
                          <a:ea typeface="微软雅黑"/>
                        </a:rPr>
                        <a:t>+98.5%</a:t>
                      </a:r>
                      <a:endParaRPr sz="1050">
                        <a:solidFill>
                          <a:srgbClr val="1A1D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D26"/>
                          </a:solidFill>
                          <a:latin typeface="微软雅黑"/>
                          <a:ea typeface="微软雅黑"/>
                        </a:rPr>
                        <a:t>+98.4%</a:t>
                      </a:r>
                      <a:endParaRPr sz="1050">
                        <a:solidFill>
                          <a:srgbClr val="1A1D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D26"/>
                          </a:solidFill>
                          <a:latin typeface="微软雅黑"/>
                          <a:ea typeface="微软雅黑"/>
                        </a:rPr>
                        <a:t>2025-06-20（+224.6%）</a:t>
                      </a:r>
                      <a:endParaRPr sz="1050">
                        <a:solidFill>
                          <a:srgbClr val="1A1D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</a:tr>
              <a:tr h="37147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1D26"/>
                          </a:solidFill>
                          <a:latin typeface="微软雅黑"/>
                          <a:ea typeface="微软雅黑"/>
                        </a:rPr>
                        <a:t>两年</a:t>
                      </a:r>
                      <a:endParaRPr sz="1050" b="1">
                        <a:solidFill>
                          <a:srgbClr val="1A1D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D93636"/>
                          </a:solidFill>
                          <a:latin typeface="微软雅黑"/>
                          <a:ea typeface="微软雅黑"/>
                        </a:rPr>
                        <a:t>100%</a:t>
                      </a:r>
                      <a:endParaRPr sz="1050" b="1">
                        <a:solidFill>
                          <a:srgbClr val="D9363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D93636"/>
                          </a:solidFill>
                          <a:latin typeface="微软雅黑"/>
                          <a:ea typeface="微软雅黑"/>
                        </a:rPr>
                        <a:t>+63.9%</a:t>
                      </a:r>
                      <a:endParaRPr sz="1050" b="1">
                        <a:solidFill>
                          <a:srgbClr val="D9363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D26"/>
                          </a:solidFill>
                          <a:latin typeface="微软雅黑"/>
                          <a:ea typeface="微软雅黑"/>
                        </a:rPr>
                        <a:t>+69.6%</a:t>
                      </a:r>
                      <a:endParaRPr sz="1050">
                        <a:solidFill>
                          <a:srgbClr val="1A1D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D26"/>
                          </a:solidFill>
                          <a:latin typeface="微软雅黑"/>
                          <a:ea typeface="微软雅黑"/>
                        </a:rPr>
                        <a:t>+171.1%</a:t>
                      </a:r>
                      <a:endParaRPr sz="1050">
                        <a:solidFill>
                          <a:srgbClr val="1A1D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D26"/>
                          </a:solidFill>
                          <a:latin typeface="微软雅黑"/>
                          <a:ea typeface="微软雅黑"/>
                        </a:rPr>
                        <a:t>2024-05-29（+243.4%）</a:t>
                      </a:r>
                      <a:endParaRPr sz="1050">
                        <a:solidFill>
                          <a:srgbClr val="1A1D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1" name="矩形 30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1F3A6E"/>
          </a:solidFill>
        </p:spPr>
        <p:txBody>
          <a:bodyPr/>
          <a:p/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11430000" y="6648450"/>
            <a:ext cx="3810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FFFFF">
                    <a:alpha val="80000"/>
                  </a:srgbClr>
                </a:solidFill>
                <a:latin typeface="PingFang SC" panose="020B0400000000000000" charset="-122"/>
                <a:ea typeface="PingFang SC" panose="020B0400000000000000" charset="-122"/>
              </a:rPr>
              <a:t>02 / 02</a:t>
            </a:r>
            <a:endParaRPr lang="en-US" sz="825">
              <a:solidFill>
                <a:srgbClr val="FFFFFF">
                  <a:alpha val="80000"/>
                </a:srgbClr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463</Words>
  <Application>WPS 表格</Application>
  <PresentationFormat/>
  <Paragraphs>76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5" baseType="lpstr">
      <vt:lpstr>Arial</vt:lpstr>
      <vt:lpstr>宋体</vt:lpstr>
      <vt:lpstr>Wingdings</vt:lpstr>
      <vt:lpstr>PingFang SC</vt:lpstr>
      <vt:lpstr>微软雅黑</vt:lpstr>
      <vt:lpstr>汉仪旗黑</vt:lpstr>
      <vt:lpstr>Calibri</vt:lpstr>
      <vt:lpstr>Helvetica Neue</vt:lpstr>
      <vt:lpstr>宋体</vt:lpstr>
      <vt:lpstr>Arial Unicode MS</vt:lpstr>
      <vt:lpstr>汉仪书宋二KW</vt:lpstr>
      <vt:lpstr>微软雅黑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WPS_1785679771</cp:lastModifiedBy>
  <cp:revision>3</cp:revision>
  <dcterms:created xsi:type="dcterms:W3CDTF">2026-09-28T07:18:26Z</dcterms:created>
  <dcterms:modified xsi:type="dcterms:W3CDTF">2026-09-28T07:18:26Z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561698F5EBBE68F71213BA6A60155C31_42</vt:lpwstr>
  </property>
  <property fmtid="{D5CDD505-2E9C-101B-9397-08002B2CF9AE}" pid="3" name="KSOProductBuildVer">
    <vt:lpwstr>2052-6.14.0.8924</vt:lpwstr>
  </property>
</Properties>
</file>