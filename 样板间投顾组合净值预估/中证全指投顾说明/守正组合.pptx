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presProps" Target="presProps.xml" /><Relationship Id="rId7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10" Type="http://schemas.openxmlformats.org/officeDocument/2006/relationships/viewProps" Target="viewProps.xml" /><Relationship Id="rId9" Type="http://schemas.openxmlformats.org/officeDocument/2006/relationships/tableStyles" Target="tableStyle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3" name="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中证全指全收益：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A股最强贝塔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——全市场、含分红、可复制</a:t>
            </a:r>
            <a:endParaRPr lang="zh-CN" sz="2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4" name=""/>
          <p:cNvSpPr/>
          <p:nvPr/>
        </p:nvSpPr>
        <p:spPr>
          <a:xfrm>
            <a:off x="9030589" y="647700"/>
            <a:ext cx="262801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中证全指全收益 H00985 · 截至 2026-09-30</a:t>
            </a:r>
            <a:endParaRPr/>
          </a:p>
        </p:txBody>
      </p:sp>
      <p:sp>
        <p:nvSpPr>
          <p:cNvPr id="5" name="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p/>
        </p:txBody>
      </p:sp>
      <p:sp>
        <p:nvSpPr>
          <p:cNvPr id="6" name=""/>
          <p:cNvSpPr/>
          <p:nvPr/>
        </p:nvSpPr>
        <p:spPr>
          <a:xfrm>
            <a:off x="571500" y="5829300"/>
            <a:ext cx="11125200" cy="4953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>
            <a:off x="533400" y="5829300"/>
            <a:ext cx="50800" cy="4953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8" name=""/>
          <p:cNvSpPr/>
          <p:nvPr/>
        </p:nvSpPr>
        <p:spPr>
          <a:xfrm>
            <a:off x="762000" y="5918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弱者思维的落点：承认无法预测市场，就跟随市场共识（市值加权），赚取全市场平均回报——这是配置 A股的最优贝塔。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" name=""/>
          <p:cNvSpPr/>
          <p:nvPr/>
        </p:nvSpPr>
        <p:spPr>
          <a:xfrm>
            <a:off x="10416997" y="6146800"/>
            <a:ext cx="1165402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基日以来年化·全收益</a:t>
            </a:r>
            <a:endParaRPr/>
          </a:p>
        </p:txBody>
      </p:sp>
      <p:sp>
        <p:nvSpPr>
          <p:cNvPr id="10" name=""/>
          <p:cNvSpPr/>
          <p:nvPr/>
        </p:nvSpPr>
        <p:spPr>
          <a:xfrm>
            <a:off x="10416997" y="5867400"/>
            <a:ext cx="827024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C0392B"/>
                </a:solidFill>
                <a:latin typeface="Microsoft YaHei"/>
                <a:ea typeface="Microsoft YaHei"/>
              </a:rPr>
              <a:t>10.32%</a:t>
            </a:r>
            <a:endParaRPr lang="zh-CN" sz="17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1" name=""/>
          <p:cNvSpPr/>
          <p:nvPr/>
        </p:nvSpPr>
        <p:spPr>
          <a:xfrm>
            <a:off x="9471965" y="6146800"/>
            <a:ext cx="992835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沪深北三市成分股</a:t>
            </a:r>
            <a:endParaRPr/>
          </a:p>
        </p:txBody>
      </p:sp>
      <p:sp>
        <p:nvSpPr>
          <p:cNvPr id="12" name=""/>
          <p:cNvSpPr/>
          <p:nvPr/>
        </p:nvSpPr>
        <p:spPr>
          <a:xfrm>
            <a:off x="9471965" y="5867400"/>
            <a:ext cx="805434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61F32"/>
                </a:solidFill>
                <a:latin typeface="Microsoft YaHei"/>
                <a:ea typeface="Microsoft YaHei"/>
              </a:rPr>
              <a:t>5119只</a:t>
            </a:r>
            <a:endParaRPr lang="zh-CN" sz="17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3" name="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数据来源：中证指数公司、Wind；收益风险特征基于 H00985 全收益日度序列计算（2005-01-04 至 2026-09-30，共 5282 个交易日，无风险利率假设 2%）；指数介绍参考博道基金、国泰海通资管产品材料。历史表现不预示未来，不构成投资建议。</a:t>
            </a:r>
            <a:endParaRPr/>
          </a:p>
        </p:txBody>
      </p:sp>
      <p:sp>
        <p:nvSpPr>
          <p:cNvPr id="14" name=""/>
          <p:cNvSpPr/>
          <p:nvPr/>
        </p:nvSpPr>
        <p:spPr>
          <a:xfrm>
            <a:off x="11341100" y="66294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1 / 6</a:t>
            </a:r>
            <a:endParaRPr/>
          </a:p>
        </p:txBody>
      </p:sp>
      <p:sp>
        <p:nvSpPr>
          <p:cNvPr id="15" name=""/>
          <p:cNvSpPr/>
          <p:nvPr/>
        </p:nvSpPr>
        <p:spPr>
          <a:xfrm>
            <a:off x="533400" y="1143000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>
            <a:off x="533400" y="1143000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>
            <a:off x="660400" y="12065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①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8" name=""/>
          <p:cNvSpPr/>
          <p:nvPr/>
        </p:nvSpPr>
        <p:spPr>
          <a:xfrm>
            <a:off x="939800" y="1219200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全市场覆盖 · 行业与规模双中性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9" name=""/>
          <p:cNvSpPr/>
          <p:nvPr/>
        </p:nvSpPr>
        <p:spPr>
          <a:xfrm>
            <a:off x="660400" y="146050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覆盖沪深北三市 5100+ 只股票，自由流通市值加权——大、中、小、微盘全覆盖，行业权重与市场真实结构一致，是「A股整体」最忠实、最无偏的刻画。</a:t>
            </a:r>
            <a:endParaRPr/>
          </a:p>
        </p:txBody>
      </p:sp>
      <p:sp>
        <p:nvSpPr>
          <p:cNvPr id="20" name=""/>
          <p:cNvSpPr/>
          <p:nvPr/>
        </p:nvSpPr>
        <p:spPr>
          <a:xfrm>
            <a:off x="533400" y="2222500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>
            <a:off x="533400" y="2222500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>
            <a:off x="660400" y="22860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②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23" name=""/>
          <p:cNvSpPr/>
          <p:nvPr/>
        </p:nvSpPr>
        <p:spPr>
          <a:xfrm>
            <a:off x="939800" y="2298700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可投资 · 可复制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4" name=""/>
          <p:cNvSpPr/>
          <p:nvPr/>
        </p:nvSpPr>
        <p:spPr>
          <a:xfrm>
            <a:off x="660400" y="254000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剔除 ST/*ST，新股上市满一个季度才纳入，成分股全部可正常交易，公募指增 / ETF 能够完整复制；区别于万得全A（含 ST、新股 10 日即纳入）。</a:t>
            </a:r>
            <a:endParaRPr/>
          </a:p>
        </p:txBody>
      </p:sp>
      <p:sp>
        <p:nvSpPr>
          <p:cNvPr id="25" name=""/>
          <p:cNvSpPr/>
          <p:nvPr/>
        </p:nvSpPr>
        <p:spPr>
          <a:xfrm>
            <a:off x="533400" y="3302000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26" name=""/>
          <p:cNvSpPr/>
          <p:nvPr/>
        </p:nvSpPr>
        <p:spPr>
          <a:xfrm>
            <a:off x="533400" y="3302000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>
            <a:off x="660400" y="33655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③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28" name=""/>
          <p:cNvSpPr/>
          <p:nvPr/>
        </p:nvSpPr>
        <p:spPr>
          <a:xfrm>
            <a:off x="939800" y="3378200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含分红 ·「真实收益」的标尺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9" name=""/>
          <p:cNvSpPr/>
          <p:nvPr/>
        </p:nvSpPr>
        <p:spPr>
          <a:xfrm>
            <a:off x="660400" y="361950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H00985 为全收益口径、含分红再投资；价格指数在除息日自然回落、会低估真实收益——全收益才是投资者实际拿到手的钱，对标它就是对自己诚实。</a:t>
            </a:r>
            <a:endParaRPr/>
          </a:p>
        </p:txBody>
      </p:sp>
      <p:sp>
        <p:nvSpPr>
          <p:cNvPr id="30" name=""/>
          <p:cNvSpPr/>
          <p:nvPr/>
        </p:nvSpPr>
        <p:spPr>
          <a:xfrm>
            <a:off x="533400" y="4381500"/>
            <a:ext cx="6540500" cy="990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>
            <a:off x="533400" y="4381500"/>
            <a:ext cx="38100" cy="990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>
            <a:off x="660400" y="44450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④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33" name=""/>
          <p:cNvSpPr/>
          <p:nvPr/>
        </p:nvSpPr>
        <p:spPr>
          <a:xfrm>
            <a:off x="939800" y="4457700"/>
            <a:ext cx="60071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长期向上 · 穿越牛熊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34" name=""/>
          <p:cNvSpPr/>
          <p:nvPr/>
        </p:nvSpPr>
        <p:spPr>
          <a:xfrm>
            <a:off x="660400" y="4699000"/>
            <a:ext cx="62865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基日（2004-12-31）以来全收益年化约 10.3%；未破 2015 年高点是「泡沫锚」假象——2015-2025 全市场利润从 2.5 万亿翻倍至 5.38 万亿，被估值从 30 倍压缩至 20-25 倍抵消。</a:t>
            </a:r>
            <a:endParaRPr/>
          </a:p>
        </p:txBody>
      </p:sp>
      <p:sp>
        <p:nvSpPr>
          <p:cNvPr id="35" name=""/>
          <p:cNvSpPr/>
          <p:nvPr/>
        </p:nvSpPr>
        <p:spPr>
          <a:xfrm>
            <a:off x="7264400" y="1143000"/>
            <a:ext cx="43942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中证全指全收益（H00985）收益风险特征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36" name=""/>
          <p:cNvGraphicFramePr/>
          <p:nvPr/>
        </p:nvGraphicFramePr>
        <p:xfrm>
          <a:off x="7264400" y="1422400"/>
          <a:ext cx="4394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367">
                  <a:extLst>
                    <a:ext uri="{9D8B030D-6E8A-4147-A177-3AD203B41FA5}">
                      <a16:colId val="1"/>
                    </a:ext>
                  </a:extLst>
                </a:gridCol>
                <a:gridCol w="732367">
                  <a:extLst>
                    <a:ext uri="{9D8B030D-6E8A-4147-A177-3AD203B41FA5}">
                      <a16:colId val="2"/>
                    </a:ext>
                  </a:extLst>
                </a:gridCol>
                <a:gridCol w="732367">
                  <a:extLst>
                    <a:ext uri="{9D8B030D-6E8A-4147-A177-3AD203B41FA5}">
                      <a16:colId val="3"/>
                    </a:ext>
                  </a:extLst>
                </a:gridCol>
                <a:gridCol w="732367">
                  <a:extLst>
                    <a:ext uri="{9D8B030D-6E8A-4147-A177-3AD203B41FA5}">
                      <a16:colId val="4"/>
                    </a:ext>
                  </a:extLst>
                </a:gridCol>
                <a:gridCol w="732367">
                  <a:extLst>
                    <a:ext uri="{9D8B030D-6E8A-4147-A177-3AD203B41FA5}">
                      <a16:colId val="5"/>
                    </a:ext>
                  </a:extLst>
                </a:gridCol>
                <a:gridCol w="73236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区间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夏普比率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卡玛比率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基日以来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10.32%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25.86%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-71.26%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0.32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0.14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近20年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8.81%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26.11%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-71.26%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0.26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近10年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3.58%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19.67%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-37.14%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0.08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近5年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1.65%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20.01%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-37.14%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-0.02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0.04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近3年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9.46%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21.68%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-20.81%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0.34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0.45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64886"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近1年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-2.44%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21.17%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-15.83%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-0.21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-0.15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7" name=""/>
          <p:cNvSpPr/>
          <p:nvPr/>
        </p:nvSpPr>
        <p:spPr>
          <a:xfrm>
            <a:off x="7264400" y="3454400"/>
            <a:ext cx="43942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关键解读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38" name=""/>
          <p:cNvSpPr/>
          <p:nvPr/>
        </p:nvSpPr>
        <p:spPr>
          <a:xfrm>
            <a:off x="7264400" y="37084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• 收益集中在少数年份：近10年 / 近5年年化仅 3.58% / 1.65%——2015 年泡沫后处于估值消化期，A股 beta 不是均匀向上的；</a:t>
            </a:r>
            <a:endParaRPr/>
          </a:p>
        </p:txBody>
      </p:sp>
      <p:sp>
        <p:nvSpPr>
          <p:cNvPr id="39" name=""/>
          <p:cNvSpPr/>
          <p:nvPr/>
        </p:nvSpPr>
        <p:spPr>
          <a:xfrm>
            <a:off x="7264400" y="42418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• 极端回撤是常态：历史最大回撤 -71%（2008 年），近十年 -37%——配置全市场 beta，必须能承受这种级别的回撤；</a:t>
            </a:r>
            <a:endParaRPr/>
          </a:p>
        </p:txBody>
      </p:sp>
      <p:sp>
        <p:nvSpPr>
          <p:cNvPr id="40" name=""/>
          <p:cNvSpPr/>
          <p:nvPr/>
        </p:nvSpPr>
        <p:spPr>
          <a:xfrm>
            <a:off x="7264400" y="4775200"/>
            <a:ext cx="43942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• 长期夏普仅 0.32、近5年为负：A股是「高波动、低风险调整后收益」的市场——这正是要用指增在每一档赚 alpha 的原因。</a:t>
            </a:r>
            <a:endParaRPr/>
          </a:p>
        </p:txBody>
      </p:sp>
    </p:spTree>
  </p:cSld>
</p:sld>
</file>

<file path=ppt/slides/slide2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921067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买全指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买流动性回暖：四次典型拐点后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日，全指平均</a:t>
            </a:r>
            <a:r>
              <a:rPr lang="en-US" sz="21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+19.5%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、全部上涨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001250" y="647700"/>
            <a:ext cx="1657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Microsoft YaHei"/>
                <a:ea typeface="Microsoft YaHei"/>
              </a:rPr>
              <a:t>中证全指</a:t>
            </a:r>
            <a:r>
              <a:rPr lang="en-US" sz="975">
                <a:solidFill>
                  <a:srgbClr val="8A8A8A"/>
                </a:solidFill>
                <a:latin typeface="Microsoft YaHei"/>
                <a:ea typeface="Microsoft YaHei"/>
              </a:rPr>
              <a:t xml:space="preserve"> · 2020-01 ~ 2026-10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33400" y="914400"/>
            <a:ext cx="11125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6" name=""/>
          <p:cNvPicPr>
            <a:picLocks noChangeAspect="1"/>
          </p:cNvPicPr>
          <p:nvPr/>
        </p:nvPicPr>
        <p:blipFill>
          <a:blip r:embed="rId1"/>
          <a:srcRect l="0" t="39" r="0" b="39"/>
          <a:stretch>
            <a:fillRect/>
          </a:stretch>
        </p:blipFill>
        <p:spPr>
          <a:xfrm rot="0" flipH="0" flipV="0">
            <a:off x="1143000" y="1019175"/>
            <a:ext cx="9906000" cy="4733925"/>
          </a:xfrm>
          <a:prstGeom prst="rect">
            <a:avLst/>
          </a:prstGeom>
          <a:ln/>
        </p:spPr>
      </p:pic>
      <p:sp>
        <p:nvSpPr>
          <p:cNvPr id="47" name=""/>
          <p:cNvSpPr/>
          <p:nvPr/>
        </p:nvSpPr>
        <p:spPr>
          <a:xfrm rot="0" flipH="0" flipV="0">
            <a:off x="571500" y="5829300"/>
            <a:ext cx="11125200" cy="4953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33400" y="5829300"/>
            <a:ext cx="11163300" cy="495300"/>
          </a:xfrm>
          <a:custGeom>
            <a:pathLst>
              <a:path w="1172" h="52">
                <a:moveTo>
                  <a:pt x="0" y="0"/>
                </a:moveTo>
                <a:lnTo>
                  <a:pt x="4" y="0"/>
                </a:lnTo>
                <a:lnTo>
                  <a:pt x="4" y="52"/>
                </a:lnTo>
                <a:lnTo>
                  <a:pt x="0" y="5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62000" y="5953125"/>
            <a:ext cx="88773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疫情后复苏、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2022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大底、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924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政策底、贸易战冲击——</a:t>
            </a: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四次资金面拐点四次上涨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，量能回暖即风险偏好回暖，买全指即可参与反弹。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791700" y="5876925"/>
            <a:ext cx="7524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C0392B"/>
                </a:solidFill>
                <a:latin typeface="Microsoft YaHei"/>
                <a:ea typeface="Microsoft YaHei"/>
              </a:rPr>
              <a:t>+19.5%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839325" y="6143625"/>
            <a:ext cx="704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8A8A8A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863">
                <a:solidFill>
                  <a:srgbClr val="8A8A8A"/>
                </a:solidFill>
                <a:latin typeface="Microsoft YaHei"/>
                <a:ea typeface="Microsoft YaHei"/>
              </a:rPr>
              <a:t>日平均涨幅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163300" y="5876925"/>
            <a:ext cx="30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61F32"/>
                </a:solidFill>
                <a:latin typeface="Microsoft YaHei"/>
                <a:ea typeface="Microsoft YaHei"/>
              </a:rPr>
              <a:t>4/4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810875" y="61436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A8A"/>
                </a:solidFill>
                <a:latin typeface="Microsoft YaHei"/>
                <a:ea typeface="Microsoft YaHei"/>
              </a:rPr>
              <a:t>事件全部为正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00965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数据来源：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NeoData 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行情接口（指数日线，不复权收盘价），数据截至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 2026-10-16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；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全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>A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成交额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以中证全指成分股成交额合计近似；事件涨跌幅为事件日后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个交易日区间涨跌幅；成交额回暖段为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日均线自事件日附近低点回升至阶段高点的区间，转暖幅度为该区间均线增幅。历史表现不预示未来，不构成投资建议。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410950" y="66294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Microsoft YaHei"/>
                <a:ea typeface="Microsoft YaHei"/>
              </a:rPr>
              <a:t>2 / 6</a:t>
            </a:r>
            <a:endParaRPr lang="en-US" sz="975">
              <a:solidFill>
                <a:srgbClr val="8A8A8A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3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7210425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买全指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每轮上涨不落空：五轮行情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全部正收益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、平均</a:t>
            </a:r>
            <a:r>
              <a:rPr lang="en-US" sz="21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+30%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772650" y="647700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Microsoft YaHei"/>
                <a:ea typeface="Microsoft YaHei"/>
              </a:rPr>
              <a:t>中证全指</a:t>
            </a:r>
            <a:r>
              <a:rPr lang="en-US" sz="975">
                <a:solidFill>
                  <a:srgbClr val="8A8A8A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75">
                <a:solidFill>
                  <a:srgbClr val="8A8A8A"/>
                </a:solidFill>
                <a:latin typeface="Microsoft YaHei"/>
                <a:ea typeface="Microsoft YaHei"/>
              </a:rPr>
              <a:t>主流行业</a:t>
            </a:r>
            <a:r>
              <a:rPr lang="en-US" sz="975">
                <a:solidFill>
                  <a:srgbClr val="8A8A8A"/>
                </a:solidFill>
                <a:latin typeface="Microsoft YaHei"/>
                <a:ea typeface="Microsoft YaHei"/>
              </a:rPr>
              <a:t xml:space="preserve"> · 2020-2026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33400" y="914400"/>
            <a:ext cx="11125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 r:embed="rId1"/>
          <a:srcRect l="4" t="0" r="4" b="0"/>
          <a:stretch>
            <a:fillRect/>
          </a:stretch>
        </p:blipFill>
        <p:spPr>
          <a:xfrm rot="0" flipH="0" flipV="0">
            <a:off x="1333500" y="1019175"/>
            <a:ext cx="9525000" cy="4638675"/>
          </a:xfrm>
          <a:prstGeom prst="rect">
            <a:avLst/>
          </a:prstGeom>
          <a:ln/>
        </p:spPr>
      </p:pic>
      <p:sp>
        <p:nvSpPr>
          <p:cNvPr id="62" name=""/>
          <p:cNvSpPr/>
          <p:nvPr/>
        </p:nvSpPr>
        <p:spPr>
          <a:xfrm rot="0" flipH="0" flipV="0">
            <a:off x="571500" y="5734050"/>
            <a:ext cx="11125200" cy="4953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33400" y="5734050"/>
            <a:ext cx="11163300" cy="495300"/>
          </a:xfrm>
          <a:custGeom>
            <a:pathLst>
              <a:path w="1172" h="52">
                <a:moveTo>
                  <a:pt x="0" y="0"/>
                </a:moveTo>
                <a:lnTo>
                  <a:pt x="4" y="0"/>
                </a:lnTo>
                <a:lnTo>
                  <a:pt x="4" y="52"/>
                </a:lnTo>
                <a:lnTo>
                  <a:pt x="0" y="5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62000" y="5857875"/>
            <a:ext cx="86391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3">
                <a:solidFill>
                  <a:srgbClr val="061F32"/>
                </a:solidFill>
                <a:latin typeface="Microsoft YaHei"/>
                <a:ea typeface="Microsoft YaHei"/>
              </a:rPr>
              <a:t>最强行业每轮轮换（医药→新能源→新能源→半导体→中证</a:t>
            </a:r>
            <a:r>
              <a:rPr lang="en-US" sz="1163">
                <a:solidFill>
                  <a:srgbClr val="061F32"/>
                </a:solidFill>
                <a:latin typeface="Microsoft YaHei"/>
                <a:ea typeface="Microsoft YaHei"/>
              </a:rPr>
              <a:t>TMT</a:t>
            </a:r>
            <a:r>
              <a:rPr lang="zh-CN" sz="1163">
                <a:solidFill>
                  <a:srgbClr val="061F32"/>
                </a:solidFill>
                <a:latin typeface="Microsoft YaHei"/>
                <a:ea typeface="Microsoft YaHei"/>
              </a:rPr>
              <a:t>），全指每轮仍跑赢当期最弱行业</a:t>
            </a:r>
            <a:r>
              <a:rPr lang="en-US" sz="1163">
                <a:solidFill>
                  <a:srgbClr val="061F32"/>
                </a:solidFill>
                <a:latin typeface="Microsoft YaHei"/>
                <a:ea typeface="Microsoft YaHei"/>
              </a:rPr>
              <a:t xml:space="preserve"> 17~39 </a:t>
            </a:r>
            <a:r>
              <a:rPr lang="zh-CN" sz="1163">
                <a:solidFill>
                  <a:srgbClr val="061F32"/>
                </a:solidFill>
                <a:latin typeface="Microsoft YaHei"/>
                <a:ea typeface="Microsoft YaHei"/>
              </a:rPr>
              <a:t>个百分点——</a:t>
            </a:r>
            <a:r>
              <a:rPr lang="zh-CN" sz="1163" b="1">
                <a:solidFill>
                  <a:srgbClr val="061F32"/>
                </a:solidFill>
                <a:latin typeface="Microsoft YaHei"/>
                <a:ea typeface="Microsoft YaHei"/>
              </a:rPr>
              <a:t>不押赛道，一样跟住市场</a:t>
            </a:r>
            <a:r>
              <a:rPr lang="zh-CN" sz="1163">
                <a:solidFill>
                  <a:srgbClr val="061F3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020300" y="5781675"/>
            <a:ext cx="30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C0392B"/>
                </a:solidFill>
                <a:latin typeface="Microsoft YaHei"/>
                <a:ea typeface="Microsoft YaHei"/>
              </a:rPr>
              <a:t>5/5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553575" y="6048375"/>
            <a:ext cx="771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A8A"/>
                </a:solidFill>
                <a:latin typeface="Microsoft YaHei"/>
                <a:ea typeface="Microsoft YaHei"/>
              </a:rPr>
              <a:t>行情全部正收益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763250" y="5781675"/>
            <a:ext cx="7048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61F32"/>
                </a:solidFill>
                <a:latin typeface="Microsoft YaHei"/>
                <a:ea typeface="Microsoft YaHei"/>
              </a:rPr>
              <a:t>+27pct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591800" y="60483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8A8A"/>
                </a:solidFill>
                <a:latin typeface="Microsoft YaHei"/>
                <a:ea typeface="Microsoft YaHei"/>
              </a:rPr>
              <a:t>平均跑赢最弱行业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100965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数据来源：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NeoData 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行情接口（指数日线，不复权收盘价），数据截至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 2026-10-16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；区间涨跌幅按各指数自身交易日对齐区间首尾；行业对比含医药、新能源、半导体（国证芯片）、中证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>TMT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、黄金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>ETF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、恒生指数、恒生科技、通信设备（中证全指通信设备指数替代</a:t>
            </a:r>
            <a:r>
              <a:rPr lang="en-US" sz="825">
                <a:solidFill>
                  <a:srgbClr val="8A8A8A"/>
                </a:solidFill>
                <a:latin typeface="Microsoft YaHei"/>
                <a:ea typeface="Microsoft YaHei"/>
              </a:rPr>
              <a:t xml:space="preserve"> CPO </a:t>
            </a:r>
            <a:r>
              <a:rPr lang="zh-CN" sz="825">
                <a:solidFill>
                  <a:srgbClr val="8A8A8A"/>
                </a:solidFill>
                <a:latin typeface="Microsoft YaHei"/>
                <a:ea typeface="Microsoft YaHei"/>
              </a:rPr>
              <a:t>主题）。历史表现不预示未来，不构成投资建议。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410950" y="66294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A8A"/>
                </a:solidFill>
                <a:latin typeface="Microsoft YaHei"/>
                <a:ea typeface="Microsoft YaHei"/>
              </a:rPr>
              <a:t>3 / 6</a:t>
            </a:r>
            <a:endParaRPr lang="en-US" sz="975">
              <a:solidFill>
                <a:srgbClr val="8A8A8A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73" name="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如何做增强：先把贝塔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拆干净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，再用指增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赚超额</a:t>
            </a:r>
            <a:endParaRPr lang="zh-CN" sz="21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74" name=""/>
          <p:cNvSpPr/>
          <p:nvPr/>
        </p:nvSpPr>
        <p:spPr>
          <a:xfrm>
            <a:off x="9508363" y="647700"/>
            <a:ext cx="2150236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围绕贝塔做增强 · 大中小微四档指增</a:t>
            </a:r>
            <a:endParaRPr/>
          </a:p>
        </p:txBody>
      </p:sp>
      <p:sp>
        <p:nvSpPr>
          <p:cNvPr id="75" name="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p/>
        </p:txBody>
      </p:sp>
      <p:sp>
        <p:nvSpPr>
          <p:cNvPr id="76" name=""/>
          <p:cNvSpPr/>
          <p:nvPr/>
        </p:nvSpPr>
        <p:spPr>
          <a:xfrm>
            <a:off x="571500" y="5829300"/>
            <a:ext cx="11125200" cy="4953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77" name=""/>
          <p:cNvSpPr/>
          <p:nvPr/>
        </p:nvSpPr>
        <p:spPr>
          <a:xfrm>
            <a:off x="533400" y="5829300"/>
            <a:ext cx="50800" cy="4953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78" name=""/>
          <p:cNvSpPr/>
          <p:nvPr/>
        </p:nvSpPr>
        <p:spPr>
          <a:xfrm>
            <a:off x="762000" y="5918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四档市值加权复制 92.2% 的中证全指 beta，超额全部在档内由指增赚取——不择时、不赌风格、不偏离市值结构。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79" name=""/>
          <p:cNvSpPr/>
          <p:nvPr/>
        </p:nvSpPr>
        <p:spPr>
          <a:xfrm>
            <a:off x="10255352" y="6146800"/>
            <a:ext cx="1327048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四档规模对中证全指覆盖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10255352" y="5867400"/>
            <a:ext cx="70612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C0392B"/>
                </a:solidFill>
                <a:latin typeface="Microsoft YaHei"/>
                <a:ea typeface="Microsoft YaHei"/>
              </a:rPr>
              <a:t>92.2%</a:t>
            </a:r>
            <a:endParaRPr lang="zh-CN" sz="17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81" name=""/>
          <p:cNvSpPr/>
          <p:nvPr/>
        </p:nvSpPr>
        <p:spPr>
          <a:xfrm>
            <a:off x="9360560" y="6146800"/>
            <a:ext cx="1104239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微盘档指增超额空间</a:t>
            </a:r>
            <a:endParaRPr/>
          </a:p>
        </p:txBody>
      </p:sp>
      <p:sp>
        <p:nvSpPr>
          <p:cNvPr id="82" name=""/>
          <p:cNvSpPr/>
          <p:nvPr/>
        </p:nvSpPr>
        <p:spPr>
          <a:xfrm>
            <a:off x="9360560" y="5867400"/>
            <a:ext cx="585216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61F32"/>
                </a:solidFill>
                <a:latin typeface="Microsoft YaHei"/>
                <a:ea typeface="Microsoft YaHei"/>
              </a:rPr>
              <a:t>10%+</a:t>
            </a:r>
            <a:endParaRPr lang="zh-CN" sz="17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83" name="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数据来源：《全市场Beta增强组合方案》（2026-10-14 定稿）；落地权重为权益 95% 口径（另留 5% 现金）；超额空间为 2025 年各档指增相对基准超额的均值区间；回测区间 2020-2025、全收益口径。历史表现不预示未来，不构成投资建议。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11341100" y="66294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4 / 6</a:t>
            </a:r>
            <a:endParaRPr/>
          </a:p>
        </p:txBody>
      </p:sp>
      <p:sp>
        <p:nvSpPr>
          <p:cNvPr id="85" name=""/>
          <p:cNvSpPr/>
          <p:nvPr/>
        </p:nvSpPr>
        <p:spPr>
          <a:xfrm>
            <a:off x="533400" y="1143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第一步：拆贝塔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86" name=""/>
          <p:cNvSpPr/>
          <p:nvPr/>
        </p:nvSpPr>
        <p:spPr>
          <a:xfrm>
            <a:off x="533400" y="2159000"/>
            <a:ext cx="1333500" cy="1219200"/>
          </a:xfrm>
          <a:prstGeom prst="roundRect">
            <a:avLst>
              <a:gd name="adj" fmla="val 4376"/>
            </a:avLst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>
            <a:off x="609600" y="2413000"/>
            <a:ext cx="11811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</a:rPr>
              <a:t>中证全指
全收益
H00985</a:t>
            </a:r>
            <a:endParaRPr lang="zh-CN" sz="11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8" name=""/>
          <p:cNvSpPr/>
          <p:nvPr/>
        </p:nvSpPr>
        <p:spPr>
          <a:xfrm>
            <a:off x="1905000" y="2768600"/>
            <a:ext cx="279400" cy="0"/>
          </a:xfrm>
          <a:prstGeom prst="line">
            <a:avLst/>
          </a:prstGeom>
          <a:noFill/>
          <a:ln w="25400">
            <a:solidFill>
              <a:srgbClr val="061F3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9" name=""/>
          <p:cNvSpPr/>
          <p:nvPr/>
        </p:nvSpPr>
        <p:spPr>
          <a:xfrm>
            <a:off x="2222500" y="1371600"/>
            <a:ext cx="44196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把 beta 按市值占比拆干净（占全指权重 → 落地权重）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0" name=""/>
          <p:cNvSpPr/>
          <p:nvPr/>
        </p:nvSpPr>
        <p:spPr>
          <a:xfrm>
            <a:off x="2222500" y="16510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沪深300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1" name=""/>
          <p:cNvSpPr/>
          <p:nvPr/>
        </p:nvSpPr>
        <p:spPr>
          <a:xfrm>
            <a:off x="2222500" y="18415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占全指 46.0%</a:t>
            </a:r>
            <a:endParaRPr/>
          </a:p>
        </p:txBody>
      </p:sp>
      <p:sp>
        <p:nvSpPr>
          <p:cNvPr id="92" name=""/>
          <p:cNvSpPr/>
          <p:nvPr/>
        </p:nvSpPr>
        <p:spPr>
          <a:xfrm>
            <a:off x="3810000" y="1676400"/>
            <a:ext cx="2194560" cy="2286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>
            <a:off x="6068060" y="16891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48%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4" name=""/>
          <p:cNvSpPr/>
          <p:nvPr/>
        </p:nvSpPr>
        <p:spPr>
          <a:xfrm>
            <a:off x="2222500" y="22606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中证500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5" name=""/>
          <p:cNvSpPr/>
          <p:nvPr/>
        </p:nvSpPr>
        <p:spPr>
          <a:xfrm>
            <a:off x="2222500" y="24511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占全指 17.5%</a:t>
            </a:r>
            <a:endParaRPr/>
          </a:p>
        </p:txBody>
      </p:sp>
      <p:sp>
        <p:nvSpPr>
          <p:cNvPr id="96" name=""/>
          <p:cNvSpPr/>
          <p:nvPr/>
        </p:nvSpPr>
        <p:spPr>
          <a:xfrm>
            <a:off x="3810000" y="2286000"/>
            <a:ext cx="822960" cy="228600"/>
          </a:xfrm>
          <a:prstGeom prst="rect">
            <a:avLst/>
          </a:prstGeom>
          <a:solidFill>
            <a:srgbClr val="061F32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>
            <a:off x="4696460" y="22987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18%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8" name=""/>
          <p:cNvSpPr/>
          <p:nvPr/>
        </p:nvSpPr>
        <p:spPr>
          <a:xfrm>
            <a:off x="2222500" y="28702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中证1000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99" name=""/>
          <p:cNvSpPr/>
          <p:nvPr/>
        </p:nvSpPr>
        <p:spPr>
          <a:xfrm>
            <a:off x="2222500" y="30607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占全指 15.6%</a:t>
            </a:r>
            <a:endParaRPr/>
          </a:p>
        </p:txBody>
      </p:sp>
      <p:sp>
        <p:nvSpPr>
          <p:cNvPr id="100" name=""/>
          <p:cNvSpPr/>
          <p:nvPr/>
        </p:nvSpPr>
        <p:spPr>
          <a:xfrm>
            <a:off x="3810000" y="2895600"/>
            <a:ext cx="731520" cy="228600"/>
          </a:xfrm>
          <a:prstGeom prst="rect">
            <a:avLst/>
          </a:prstGeom>
          <a:solidFill>
            <a:srgbClr val="061F32">
              <a:alpha val="6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>
            <a:off x="4605020" y="29083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16%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02" name=""/>
          <p:cNvSpPr/>
          <p:nvPr/>
        </p:nvSpPr>
        <p:spPr>
          <a:xfrm>
            <a:off x="2222500" y="34798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中证2000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03" name=""/>
          <p:cNvSpPr/>
          <p:nvPr/>
        </p:nvSpPr>
        <p:spPr>
          <a:xfrm>
            <a:off x="2222500" y="36703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占全指 12.9%</a:t>
            </a:r>
            <a:endParaRPr/>
          </a:p>
        </p:txBody>
      </p:sp>
      <p:sp>
        <p:nvSpPr>
          <p:cNvPr id="104" name=""/>
          <p:cNvSpPr/>
          <p:nvPr/>
        </p:nvSpPr>
        <p:spPr>
          <a:xfrm>
            <a:off x="3810000" y="3505200"/>
            <a:ext cx="594360" cy="2286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05" name=""/>
          <p:cNvSpPr/>
          <p:nvPr/>
        </p:nvSpPr>
        <p:spPr>
          <a:xfrm>
            <a:off x="4467860" y="35179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13%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06" name=""/>
          <p:cNvSpPr/>
          <p:nvPr/>
        </p:nvSpPr>
        <p:spPr>
          <a:xfrm>
            <a:off x="2222500" y="4165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另留 5% 现金作缓冲弹药</a:t>
            </a:r>
            <a:endParaRPr/>
          </a:p>
        </p:txBody>
      </p:sp>
      <p:sp>
        <p:nvSpPr>
          <p:cNvPr id="107" name=""/>
          <p:cNvSpPr/>
          <p:nvPr/>
        </p:nvSpPr>
        <p:spPr>
          <a:xfrm>
            <a:off x="6578600" y="2768600"/>
            <a:ext cx="279400" cy="0"/>
          </a:xfrm>
          <a:prstGeom prst="line">
            <a:avLst/>
          </a:prstGeom>
          <a:noFill/>
          <a:ln w="25400">
            <a:solidFill>
              <a:srgbClr val="061F3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8" name=""/>
          <p:cNvSpPr/>
          <p:nvPr/>
        </p:nvSpPr>
        <p:spPr>
          <a:xfrm>
            <a:off x="6959600" y="1371600"/>
            <a:ext cx="47244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每档用指增替代被动，在档内赚取超额 α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09" name=""/>
          <p:cNvSpPr/>
          <p:nvPr/>
        </p:nvSpPr>
        <p:spPr>
          <a:xfrm>
            <a:off x="6959600" y="1651000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大盘 · 沪深300增强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10" name=""/>
          <p:cNvSpPr/>
          <p:nvPr/>
        </p:nvSpPr>
        <p:spPr>
          <a:xfrm>
            <a:off x="8826500" y="1689100"/>
            <a:ext cx="289559" cy="2032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>
            <a:off x="9179560" y="16764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1.3~2.5%（薄）</a:t>
            </a:r>
            <a:endParaRPr/>
          </a:p>
        </p:txBody>
      </p:sp>
      <p:sp>
        <p:nvSpPr>
          <p:cNvPr id="112" name=""/>
          <p:cNvSpPr/>
          <p:nvPr/>
        </p:nvSpPr>
        <p:spPr>
          <a:xfrm>
            <a:off x="6959600" y="2260600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中盘 · 中证500增强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13" name=""/>
          <p:cNvSpPr/>
          <p:nvPr/>
        </p:nvSpPr>
        <p:spPr>
          <a:xfrm>
            <a:off x="8826500" y="2298700"/>
            <a:ext cx="213359" cy="203200"/>
          </a:xfrm>
          <a:prstGeom prst="rect">
            <a:avLst/>
          </a:prstGeom>
          <a:solidFill>
            <a:srgbClr val="061F32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4" name=""/>
          <p:cNvSpPr/>
          <p:nvPr/>
        </p:nvSpPr>
        <p:spPr>
          <a:xfrm>
            <a:off x="9103360" y="2286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0.7~2.1%（薄）</a:t>
            </a:r>
            <a:endParaRPr/>
          </a:p>
        </p:txBody>
      </p:sp>
      <p:sp>
        <p:nvSpPr>
          <p:cNvPr id="115" name=""/>
          <p:cNvSpPr/>
          <p:nvPr/>
        </p:nvSpPr>
        <p:spPr>
          <a:xfrm>
            <a:off x="6959600" y="2870200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小盘 · 中证1000增强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16" name=""/>
          <p:cNvSpPr/>
          <p:nvPr/>
        </p:nvSpPr>
        <p:spPr>
          <a:xfrm>
            <a:off x="8826500" y="2908300"/>
            <a:ext cx="1242060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>
            <a:off x="10132060" y="28956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C0392B"/>
                </a:solidFill>
                <a:latin typeface="Microsoft YaHei"/>
                <a:ea typeface="Microsoft YaHei"/>
              </a:rPr>
              <a:t>7~9.3%（厚）</a:t>
            </a:r>
            <a:endParaRPr/>
          </a:p>
        </p:txBody>
      </p:sp>
      <p:sp>
        <p:nvSpPr>
          <p:cNvPr id="118" name=""/>
          <p:cNvSpPr/>
          <p:nvPr/>
        </p:nvSpPr>
        <p:spPr>
          <a:xfrm>
            <a:off x="6959600" y="3479800"/>
            <a:ext cx="18415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微盘 · 中证2000增强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19" name=""/>
          <p:cNvSpPr/>
          <p:nvPr/>
        </p:nvSpPr>
        <p:spPr>
          <a:xfrm>
            <a:off x="8826500" y="3517900"/>
            <a:ext cx="1600200" cy="20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>
            <a:off x="10490200" y="35052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C0392B"/>
                </a:solidFill>
                <a:latin typeface="Microsoft YaHei"/>
                <a:ea typeface="Microsoft YaHei"/>
              </a:rPr>
              <a:t>10%+（最厚）</a:t>
            </a:r>
            <a:endParaRPr/>
          </a:p>
        </p:txBody>
      </p:sp>
      <p:sp>
        <p:nvSpPr>
          <p:cNvPr id="121" name=""/>
          <p:cNvSpPr/>
          <p:nvPr/>
        </p:nvSpPr>
        <p:spPr>
          <a:xfrm>
            <a:off x="6959600" y="41656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超额存在规模梯度：大盘薄、中小盘厚——选基重点在中小盘，大盘端分散、稳定即可。</a:t>
            </a:r>
            <a:endParaRPr/>
          </a:p>
        </p:txBody>
      </p:sp>
      <p:sp>
        <p:nvSpPr>
          <p:cNvPr id="122" name=""/>
          <p:cNvSpPr/>
          <p:nvPr/>
        </p:nvSpPr>
        <p:spPr>
          <a:xfrm>
            <a:off x="533400" y="44704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 b="1">
                <a:solidFill>
                  <a:srgbClr val="061F32"/>
                </a:solidFill>
                <a:latin typeface="Microsoft YaHei"/>
                <a:ea typeface="Microsoft YaHei"/>
              </a:rPr>
              <a:t>为什么是「干净的增强」：</a:t>
            </a:r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指增保持对基准指数的跟踪，不改变市值加权结构（不偏离 beta），只在每档内部通过量化选股多赚一点——风险最低、最「守正」的超额方式。</a:t>
            </a:r>
            <a:endParaRPr lang="zh-CN" sz="900">
              <a:solidFill>
                <a:srgbClr val="8A8A8A"/>
              </a:solidFill>
              <a:latin typeface="Microsoft YaHei"/>
              <a:ea typeface="Microsoft YaHei"/>
            </a:endParaRPr>
          </a:p>
        </p:txBody>
      </p:sp>
      <p:sp>
        <p:nvSpPr>
          <p:cNvPr id="123" name=""/>
          <p:cNvSpPr/>
          <p:nvPr/>
        </p:nvSpPr>
        <p:spPr>
          <a:xfrm>
            <a:off x="533400" y="48006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 b="1">
                <a:solidFill>
                  <a:srgbClr val="061F32"/>
                </a:solidFill>
                <a:latin typeface="Microsoft YaHei"/>
                <a:ea typeface="Microsoft YaHei"/>
              </a:rPr>
              <a:t>回测佐证（2020-2025，全收益口径）：</a:t>
            </a:r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市值加权骨架相对 H00985 超额约 -3.5pp（贴近干净 beta）；「等权偏小盘」版本的表面超额在全收益口径下缩水至 +0.99pp——超额要靠指增赚，而不是靠偏离市值结构。</a:t>
            </a:r>
            <a:endParaRPr lang="zh-CN" sz="900">
              <a:solidFill>
                <a:srgbClr val="8A8A8A"/>
              </a:solidFill>
              <a:latin typeface="Microsoft YaHei"/>
              <a:ea typeface="Microsoft YaHei"/>
            </a:endParaRPr>
          </a:p>
        </p:txBody>
      </p:sp>
      <p:sp>
        <p:nvSpPr>
          <p:cNvPr id="124" name=""/>
          <p:cNvSpPr/>
          <p:nvPr/>
        </p:nvSpPr>
        <p:spPr>
          <a:xfrm>
            <a:off x="533400" y="51308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 b="1">
                <a:solidFill>
                  <a:srgbClr val="061F32"/>
                </a:solidFill>
                <a:latin typeface="Microsoft YaHei"/>
                <a:ea typeface="Microsoft YaHei"/>
              </a:rPr>
              <a:t>可选增强均不纳入：</a:t>
            </a:r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红利是「超配高股息因子」（防守型风格倾斜，成长行情下拖累）；微盘为补 7.78% 尾部承担高风险、容量极小——性价比不高。</a:t>
            </a:r>
            <a:endParaRPr lang="zh-CN" sz="900">
              <a:solidFill>
                <a:srgbClr val="8A8A8A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如何管理组合：一份清单 + 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三条纪律</a:t>
            </a:r>
            <a:endParaRPr lang="zh-CN" sz="21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28" name=""/>
          <p:cNvSpPr/>
          <p:nvPr/>
        </p:nvSpPr>
        <p:spPr>
          <a:xfrm>
            <a:off x="10369804" y="647700"/>
            <a:ext cx="1288795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守正组合 · 管理框架</a:t>
            </a:r>
            <a:endParaRPr/>
          </a:p>
        </p:txBody>
      </p:sp>
      <p:sp>
        <p:nvSpPr>
          <p:cNvPr id="129" name="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p/>
        </p:txBody>
      </p:sp>
      <p:sp>
        <p:nvSpPr>
          <p:cNvPr id="130" name=""/>
          <p:cNvSpPr/>
          <p:nvPr/>
        </p:nvSpPr>
        <p:spPr>
          <a:xfrm>
            <a:off x="571500" y="5829300"/>
            <a:ext cx="11125200" cy="4953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>
            <a:off x="533400" y="5829300"/>
            <a:ext cx="50800" cy="4953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>
            <a:off x="762000" y="5918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管理就三件事：再平衡让 beta 不漂移，替换机制让 alpha 不衰减，A 类 + 低换手让费用不侵蚀。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33" name=""/>
          <p:cNvSpPr/>
          <p:nvPr/>
        </p:nvSpPr>
        <p:spPr>
          <a:xfrm>
            <a:off x="10366756" y="6146800"/>
            <a:ext cx="1215644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偏离目标即触发再平衡</a:t>
            </a:r>
            <a:endParaRPr/>
          </a:p>
        </p:txBody>
      </p:sp>
      <p:sp>
        <p:nvSpPr>
          <p:cNvPr id="134" name=""/>
          <p:cNvSpPr/>
          <p:nvPr/>
        </p:nvSpPr>
        <p:spPr>
          <a:xfrm>
            <a:off x="10366756" y="5867400"/>
            <a:ext cx="464312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C0392B"/>
                </a:solidFill>
                <a:latin typeface="Microsoft YaHei"/>
                <a:ea typeface="Microsoft YaHei"/>
              </a:rPr>
              <a:t>±5%</a:t>
            </a:r>
            <a:endParaRPr lang="zh-CN" sz="17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35" name=""/>
          <p:cNvSpPr/>
          <p:nvPr/>
        </p:nvSpPr>
        <p:spPr>
          <a:xfrm>
            <a:off x="9360560" y="6146800"/>
            <a:ext cx="1104239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连续跑输基准即替换</a:t>
            </a:r>
            <a:endParaRPr/>
          </a:p>
        </p:txBody>
      </p:sp>
      <p:sp>
        <p:nvSpPr>
          <p:cNvPr id="136" name=""/>
          <p:cNvSpPr/>
          <p:nvPr/>
        </p:nvSpPr>
        <p:spPr>
          <a:xfrm>
            <a:off x="9360560" y="5867400"/>
            <a:ext cx="442722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61F32"/>
                </a:solidFill>
                <a:latin typeface="Microsoft YaHei"/>
                <a:ea typeface="Microsoft YaHei"/>
              </a:rPr>
              <a:t>2期</a:t>
            </a:r>
            <a:endParaRPr lang="zh-CN" sz="17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37" name="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资料来源：《全市场Beta增强组合方案》（2026-10-14 定稿）。基金仅作组合示例列示，不构成投资建议；基金过往业绩不预示未来表现。</a:t>
            </a:r>
            <a:endParaRPr/>
          </a:p>
        </p:txBody>
      </p:sp>
      <p:sp>
        <p:nvSpPr>
          <p:cNvPr id="138" name=""/>
          <p:cNvSpPr/>
          <p:nvPr/>
        </p:nvSpPr>
        <p:spPr>
          <a:xfrm>
            <a:off x="11341100" y="66294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5 / 6</a:t>
            </a:r>
            <a:endParaRPr/>
          </a:p>
        </p:txBody>
      </p:sp>
      <p:sp>
        <p:nvSpPr>
          <p:cNvPr id="139" name=""/>
          <p:cNvSpPr/>
          <p:nvPr/>
        </p:nvSpPr>
        <p:spPr>
          <a:xfrm>
            <a:off x="533400" y="11684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组合清单：四档规模指增 + 货币（单只 ≤ 20%，A 类）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140" name=""/>
          <p:cNvGraphicFramePr/>
          <p:nvPr/>
        </p:nvGraphicFramePr>
        <p:xfrm>
          <a:off x="533400" y="1447800"/>
          <a:ext cx="5969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250">
                  <a:extLst>
                    <a:ext uri="{9D8B030D-6E8A-4147-A177-3AD203B41FA5}">
                      <a16:colId val="1"/>
                    </a:ext>
                  </a:extLst>
                </a:gridCol>
                <a:gridCol w="1492250">
                  <a:extLst>
                    <a:ext uri="{9D8B030D-6E8A-4147-A177-3AD203B41FA5}">
                      <a16:colId val="2"/>
                    </a:ext>
                  </a:extLst>
                </a:gridCol>
                <a:gridCol w="1492250">
                  <a:extLst>
                    <a:ext uri="{9D8B030D-6E8A-4147-A177-3AD203B41FA5}">
                      <a16:colId val="3"/>
                    </a:ext>
                  </a:extLst>
                </a:gridCol>
                <a:gridCol w="149225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档位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基金（A 类）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单只</a:t>
                      </a:r>
                      <a:endParaRPr lang="en-US" sz="8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061F32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大盘 48%</a:t>
                      </a:r>
                      <a:endParaRPr lang="en-US" sz="850" b="1">
                        <a:solidFill>
                          <a:srgbClr val="061F3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博道沪深300增强A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兴全沪深300增强A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招商沪深300增强A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中盘 18%</a:t>
                      </a:r>
                      <a:endParaRPr lang="en-US" sz="850" b="1">
                        <a:solidFill>
                          <a:srgbClr val="061F3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博道中证500增强A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广发中证500增强A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小盘 16%</a:t>
                      </a:r>
                      <a:endParaRPr lang="en-US" sz="850" b="1">
                        <a:solidFill>
                          <a:srgbClr val="061F3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博道中证1000增强A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太平中证1000增强A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微盘 13%</a:t>
                      </a:r>
                      <a:endParaRPr lang="en-US" sz="850" b="1">
                        <a:solidFill>
                          <a:srgbClr val="061F3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13%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华泰柏瑞中证2000增强A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/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招商中证2000增强A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061F32"/>
                          </a:solidFill>
                          <a:latin typeface="Microsoft YaHei"/>
                          <a:ea typeface="Microsoft YaHei"/>
                        </a:rPr>
                        <a:t>现金</a:t>
                      </a:r>
                      <a:endParaRPr lang="en-US" sz="850" b="1">
                        <a:solidFill>
                          <a:srgbClr val="061F3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嘉实快线货币A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5%</a:t>
                      </a:r>
                      <a:endParaRPr lang="en-US" sz="850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 lang="en-US" sz="850" b="1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100%</a:t>
                      </a:r>
                      <a:endParaRPr lang="en-US" sz="850" b="1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 只基金 + 1 只货币</a:t>
                      </a:r>
                      <a:endParaRPr lang="en-US" sz="850" b="1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8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100%</a:t>
                      </a:r>
                      <a:endParaRPr lang="en-US" sz="850" b="1">
                        <a:solidFill>
                          <a:srgbClr val="1A1A1A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38100" marR="38100" marT="12700" marB="12700">
                    <a:lnL w="9525">
                      <a:solidFill>
                        <a:srgbClr val="D8DDE4"/>
                      </a:solidFill>
                    </a:lnL>
                    <a:lnR w="9525">
                      <a:solidFill>
                        <a:srgbClr val="D8DDE4"/>
                      </a:solidFill>
                    </a:lnR>
                    <a:lnT w="9525">
                      <a:solidFill>
                        <a:srgbClr val="D8DDE4"/>
                      </a:solidFill>
                    </a:lnT>
                    <a:lnB w="9525">
                      <a:solidFill>
                        <a:srgbClr val="D8DDE4"/>
                      </a:solidFill>
                    </a:lnB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</a:tbl>
          </a:graphicData>
        </a:graphic>
      </p:graphicFrame>
      <p:sp>
        <p:nvSpPr>
          <p:cNvPr id="141" name=""/>
          <p:cNvSpPr/>
          <p:nvPr/>
        </p:nvSpPr>
        <p:spPr>
          <a:xfrm>
            <a:off x="533400" y="47244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选基依据（近一年超额）：大盘端分散——兴全（老牌稳健、规模 43 亿）、博道、招商（王平团队）三只分散；中小盘选超额厚的——广发500（近一年超额 16%+、多期第一）、太平1000（多期第一 17~20%）、博道1000（2025 超额 20%、同类第三）。</a:t>
            </a:r>
            <a:endParaRPr/>
          </a:p>
        </p:txBody>
      </p:sp>
      <p:sp>
        <p:nvSpPr>
          <p:cNvPr id="142" name=""/>
          <p:cNvSpPr/>
          <p:nvPr/>
        </p:nvSpPr>
        <p:spPr>
          <a:xfrm>
            <a:off x="6692900" y="1168400"/>
            <a:ext cx="4965700" cy="1422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43" name=""/>
          <p:cNvSpPr/>
          <p:nvPr/>
        </p:nvSpPr>
        <p:spPr>
          <a:xfrm>
            <a:off x="6692900" y="1168400"/>
            <a:ext cx="38100" cy="14224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44" name=""/>
          <p:cNvSpPr/>
          <p:nvPr/>
        </p:nvSpPr>
        <p:spPr>
          <a:xfrm>
            <a:off x="6819900" y="12319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①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45" name=""/>
          <p:cNvSpPr/>
          <p:nvPr/>
        </p:nvSpPr>
        <p:spPr>
          <a:xfrm>
            <a:off x="7099300" y="1244600"/>
            <a:ext cx="44323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再平衡纪律 —— 让 beta 不漂移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46" name=""/>
          <p:cNvSpPr/>
          <p:nvPr/>
        </p:nvSpPr>
        <p:spPr>
          <a:xfrm>
            <a:off x="6819900" y="1485900"/>
            <a:ext cx="4711700" cy="1041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每季度（1/4/7/10 月）再平衡；或任一档偏离目标 ±5% 时触发（取先到者）。方式：优先「卖高买低」，5% 现金作缓冲弹药。市值加权组合若不定期再平衡，涨多的方向会自动漂移增配，须靠纪律拉回目标权重。</a:t>
            </a:r>
            <a:endParaRPr/>
          </a:p>
        </p:txBody>
      </p:sp>
      <p:sp>
        <p:nvSpPr>
          <p:cNvPr id="147" name=""/>
          <p:cNvSpPr/>
          <p:nvPr/>
        </p:nvSpPr>
        <p:spPr>
          <a:xfrm>
            <a:off x="6692900" y="2717800"/>
            <a:ext cx="4965700" cy="1422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>
            <a:off x="6692900" y="2717800"/>
            <a:ext cx="38100" cy="14224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49" name=""/>
          <p:cNvSpPr/>
          <p:nvPr/>
        </p:nvSpPr>
        <p:spPr>
          <a:xfrm>
            <a:off x="6819900" y="27813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②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50" name=""/>
          <p:cNvSpPr/>
          <p:nvPr/>
        </p:nvSpPr>
        <p:spPr>
          <a:xfrm>
            <a:off x="7099300" y="2794000"/>
            <a:ext cx="44323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指增超额跟踪 —— 让 alpha 不衰减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51" name=""/>
          <p:cNvSpPr/>
          <p:nvPr/>
        </p:nvSpPr>
        <p:spPr>
          <a:xfrm>
            <a:off x="6819900" y="3035300"/>
            <a:ext cx="4711700" cy="1041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每季度核对各只指增基金相对基准指数的超额收益；连续两个报告期跑输基准，即替换为同档位其他绩优指增（换同档位、不换结构）。</a:t>
            </a:r>
            <a:endParaRPr/>
          </a:p>
        </p:txBody>
      </p:sp>
      <p:sp>
        <p:nvSpPr>
          <p:cNvPr id="152" name=""/>
          <p:cNvSpPr/>
          <p:nvPr/>
        </p:nvSpPr>
        <p:spPr>
          <a:xfrm>
            <a:off x="6692900" y="4267200"/>
            <a:ext cx="4965700" cy="1422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>
            <a:off x="6692900" y="4267200"/>
            <a:ext cx="38100" cy="14224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54" name=""/>
          <p:cNvSpPr/>
          <p:nvPr/>
        </p:nvSpPr>
        <p:spPr>
          <a:xfrm>
            <a:off x="6819900" y="43307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③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55" name=""/>
          <p:cNvSpPr/>
          <p:nvPr/>
        </p:nvSpPr>
        <p:spPr>
          <a:xfrm>
            <a:off x="7099300" y="4343400"/>
            <a:ext cx="44323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 b="1">
                <a:solidFill>
                  <a:srgbClr val="061F32"/>
                </a:solidFill>
                <a:latin typeface="Microsoft YaHei"/>
                <a:ea typeface="Microsoft YaHei"/>
              </a:rPr>
              <a:t>成本与份额 —— 让费用不侵蚀收益</a:t>
            </a:r>
            <a:endParaRPr lang="zh-CN" sz="1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56" name=""/>
          <p:cNvSpPr/>
          <p:nvPr/>
        </p:nvSpPr>
        <p:spPr>
          <a:xfrm>
            <a:off x="6819900" y="4584700"/>
            <a:ext cx="4711700" cy="1041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全部采用 A 类份额：长期持有省销售服务费，C 类每年 0.2%~0.4% 的销售服务费会持续侵蚀收益；控制换手、降低申赎成本。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59" name=""/>
          <p:cNvSpPr/>
          <p:nvPr/>
        </p:nvSpPr>
        <p:spPr>
          <a:xfrm>
            <a:off x="533400" y="381000"/>
            <a:ext cx="92075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适用什么样的客户：</a:t>
            </a:r>
            <a:r>
              <a:rPr lang="zh-CN" sz="2100" b="1">
                <a:solidFill>
                  <a:srgbClr val="C0392B"/>
                </a:solidFill>
                <a:latin typeface="Microsoft YaHei"/>
                <a:ea typeface="Microsoft YaHei"/>
              </a:rPr>
              <a:t>长期资金、守正底仓</a:t>
            </a:r>
            <a:r>
              <a:rPr lang="zh-CN" sz="2100" b="1">
                <a:solidFill>
                  <a:srgbClr val="061F32"/>
                </a:solidFill>
                <a:latin typeface="Microsoft YaHei"/>
                <a:ea typeface="Microsoft YaHei"/>
              </a:rPr>
              <a:t>、弱者思维</a:t>
            </a:r>
            <a:endParaRPr lang="zh-CN" sz="21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60" name=""/>
          <p:cNvSpPr/>
          <p:nvPr/>
        </p:nvSpPr>
        <p:spPr>
          <a:xfrm>
            <a:off x="10369804" y="647700"/>
            <a:ext cx="1288795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守正组合 · 客户适配</a:t>
            </a:r>
            <a:endParaRPr/>
          </a:p>
        </p:txBody>
      </p:sp>
      <p:sp>
        <p:nvSpPr>
          <p:cNvPr id="161" name=""/>
          <p:cNvSpPr/>
          <p:nvPr/>
        </p:nvSpPr>
        <p:spPr>
          <a:xfrm>
            <a:off x="533400" y="914400"/>
            <a:ext cx="11125200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p/>
        </p:txBody>
      </p:sp>
      <p:sp>
        <p:nvSpPr>
          <p:cNvPr id="162" name=""/>
          <p:cNvSpPr/>
          <p:nvPr/>
        </p:nvSpPr>
        <p:spPr>
          <a:xfrm>
            <a:off x="571500" y="5829300"/>
            <a:ext cx="11125200" cy="4953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>
            <a:off x="533400" y="5829300"/>
            <a:ext cx="50800" cy="49530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/>
          <a:p/>
        </p:txBody>
      </p:sp>
      <p:sp>
        <p:nvSpPr>
          <p:cNvPr id="164" name=""/>
          <p:cNvSpPr/>
          <p:nvPr/>
        </p:nvSpPr>
        <p:spPr>
          <a:xfrm>
            <a:off x="762000" y="5918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守正组合赚的是「市场平均回报 + 档内超额」——不承诺刺激，承诺的是可复制、可坚持、可解释。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65" name=""/>
          <p:cNvSpPr/>
          <p:nvPr/>
        </p:nvSpPr>
        <p:spPr>
          <a:xfrm>
            <a:off x="10812374" y="6146800"/>
            <a:ext cx="770026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建议投资期限</a:t>
            </a:r>
            <a:endParaRPr/>
          </a:p>
        </p:txBody>
      </p:sp>
      <p:sp>
        <p:nvSpPr>
          <p:cNvPr id="166" name=""/>
          <p:cNvSpPr/>
          <p:nvPr/>
        </p:nvSpPr>
        <p:spPr>
          <a:xfrm>
            <a:off x="10812374" y="5867400"/>
            <a:ext cx="563626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C0392B"/>
                </a:solidFill>
                <a:latin typeface="Microsoft YaHei"/>
                <a:ea typeface="Microsoft YaHei"/>
              </a:rPr>
              <a:t>3年+</a:t>
            </a:r>
            <a:endParaRPr lang="zh-CN" sz="17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67" name=""/>
          <p:cNvSpPr/>
          <p:nvPr/>
        </p:nvSpPr>
        <p:spPr>
          <a:xfrm>
            <a:off x="9522206" y="6146800"/>
            <a:ext cx="942594" cy="12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全部份额·低费率</a:t>
            </a:r>
            <a:endParaRPr/>
          </a:p>
        </p:txBody>
      </p:sp>
      <p:sp>
        <p:nvSpPr>
          <p:cNvPr id="168" name=""/>
          <p:cNvSpPr/>
          <p:nvPr/>
        </p:nvSpPr>
        <p:spPr>
          <a:xfrm>
            <a:off x="9522206" y="5867400"/>
            <a:ext cx="442722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700" b="1">
                <a:solidFill>
                  <a:srgbClr val="061F32"/>
                </a:solidFill>
                <a:latin typeface="Microsoft YaHei"/>
                <a:ea typeface="Microsoft YaHei"/>
              </a:rPr>
              <a:t>A类</a:t>
            </a:r>
            <a:endParaRPr lang="zh-CN" sz="17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69" name=""/>
          <p:cNvSpPr/>
          <p:nvPr/>
        </p:nvSpPr>
        <p:spPr>
          <a:xfrm>
            <a:off x="533400" y="6413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8A8A8A"/>
                </a:solidFill>
                <a:latin typeface="Microsoft YaHei"/>
                <a:ea typeface="Microsoft YaHei"/>
              </a:rPr>
              <a:t>核心风险提示：① 四档覆盖 92.2%，尾部 7.78% 极小微盘未覆盖（可接受的取舍）；② 中小盘指增超额近年收窄，需持续跟踪替换；③ 部分小规模基金存在清盘风险与容量约束；④ 华泰柏瑞中证2000增强A 单笔大额申购上限 100 万元；⑤ 组合回撤与 A股大盘同步，非低波产品。资料来源：《全市场Beta增强组合方案》（2026-10-14）。本材料不构成投资建议，基金有风险，投资须谨慎。</a:t>
            </a:r>
            <a:endParaRPr/>
          </a:p>
        </p:txBody>
      </p:sp>
      <p:sp>
        <p:nvSpPr>
          <p:cNvPr id="170" name=""/>
          <p:cNvSpPr/>
          <p:nvPr/>
        </p:nvSpPr>
        <p:spPr>
          <a:xfrm>
            <a:off x="11341100" y="66294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A8A8A"/>
                </a:solidFill>
                <a:latin typeface="Microsoft YaHei"/>
                <a:ea typeface="Microsoft YaHei"/>
              </a:rPr>
              <a:t>6 / 6</a:t>
            </a:r>
            <a:endParaRPr/>
          </a:p>
        </p:txBody>
      </p:sp>
      <p:sp>
        <p:nvSpPr>
          <p:cNvPr id="171" name=""/>
          <p:cNvSpPr/>
          <p:nvPr/>
        </p:nvSpPr>
        <p:spPr>
          <a:xfrm>
            <a:off x="533400" y="1206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061F32"/>
                </a:solidFill>
                <a:latin typeface="Microsoft YaHei"/>
                <a:ea typeface="Microsoft YaHei"/>
              </a:rPr>
              <a:t>✓ 适合这样的客户</a:t>
            </a:r>
            <a:endParaRPr lang="zh-CN" sz="13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72" name=""/>
          <p:cNvSpPr/>
          <p:nvPr/>
        </p:nvSpPr>
        <p:spPr>
          <a:xfrm>
            <a:off x="6413500" y="1206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 b="1">
                <a:solidFill>
                  <a:srgbClr val="C0392B"/>
                </a:solidFill>
                <a:latin typeface="Microsoft YaHei"/>
                <a:ea typeface="Microsoft YaHei"/>
              </a:rPr>
              <a:t>✗ 不适合这样的客户</a:t>
            </a:r>
            <a:endParaRPr lang="zh-CN" sz="13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73" name=""/>
          <p:cNvSpPr/>
          <p:nvPr/>
        </p:nvSpPr>
        <p:spPr>
          <a:xfrm>
            <a:off x="533400" y="16256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74" name=""/>
          <p:cNvSpPr/>
          <p:nvPr/>
        </p:nvSpPr>
        <p:spPr>
          <a:xfrm>
            <a:off x="660400" y="17018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75" name=""/>
          <p:cNvSpPr/>
          <p:nvPr/>
        </p:nvSpPr>
        <p:spPr>
          <a:xfrm>
            <a:off x="965200" y="17145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长期投资（3 年以上）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76" name=""/>
          <p:cNvSpPr/>
          <p:nvPr/>
        </p:nvSpPr>
        <p:spPr>
          <a:xfrm>
            <a:off x="965200" y="19558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希望分享 A股长期成长、赚取全市场 beta，赚企业盈利增长与分红再投资的钱，而非博弈短差。</a:t>
            </a:r>
            <a:endParaRPr/>
          </a:p>
        </p:txBody>
      </p:sp>
      <p:sp>
        <p:nvSpPr>
          <p:cNvPr id="177" name=""/>
          <p:cNvSpPr/>
          <p:nvPr/>
        </p:nvSpPr>
        <p:spPr>
          <a:xfrm>
            <a:off x="6413500" y="16256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78" name=""/>
          <p:cNvSpPr/>
          <p:nvPr/>
        </p:nvSpPr>
        <p:spPr>
          <a:xfrm>
            <a:off x="6413500" y="16256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79" name=""/>
          <p:cNvSpPr/>
          <p:nvPr/>
        </p:nvSpPr>
        <p:spPr>
          <a:xfrm>
            <a:off x="6413500" y="16256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180" name=""/>
          <p:cNvSpPr/>
          <p:nvPr/>
        </p:nvSpPr>
        <p:spPr>
          <a:xfrm>
            <a:off x="6540500" y="17018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 lang="zh-CN" sz="12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81" name=""/>
          <p:cNvSpPr/>
          <p:nvPr/>
        </p:nvSpPr>
        <p:spPr>
          <a:xfrm>
            <a:off x="6845300" y="17145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追求短期高收益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82" name=""/>
          <p:cNvSpPr/>
          <p:nvPr/>
        </p:nvSpPr>
        <p:spPr>
          <a:xfrm>
            <a:off x="6845300" y="19558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频繁交易、想「精准择时」的客户——组合不择时，短期收益不做任何承诺。</a:t>
            </a:r>
            <a:endParaRPr/>
          </a:p>
        </p:txBody>
      </p:sp>
      <p:sp>
        <p:nvSpPr>
          <p:cNvPr id="183" name=""/>
          <p:cNvSpPr/>
          <p:nvPr/>
        </p:nvSpPr>
        <p:spPr>
          <a:xfrm>
            <a:off x="533400" y="25400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84" name=""/>
          <p:cNvSpPr/>
          <p:nvPr/>
        </p:nvSpPr>
        <p:spPr>
          <a:xfrm>
            <a:off x="660400" y="26162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85" name=""/>
          <p:cNvSpPr/>
          <p:nvPr/>
        </p:nvSpPr>
        <p:spPr>
          <a:xfrm>
            <a:off x="965200" y="26289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认同「弱者思维」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86" name=""/>
          <p:cNvSpPr/>
          <p:nvPr/>
        </p:nvSpPr>
        <p:spPr>
          <a:xfrm>
            <a:off x="965200" y="28702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承认无法预测市场，愿意跟随市场共识（市值加权），不择时、不赌单一风格或行业。</a:t>
            </a:r>
            <a:endParaRPr/>
          </a:p>
        </p:txBody>
      </p:sp>
      <p:sp>
        <p:nvSpPr>
          <p:cNvPr id="187" name=""/>
          <p:cNvSpPr/>
          <p:nvPr/>
        </p:nvSpPr>
        <p:spPr>
          <a:xfrm>
            <a:off x="6413500" y="25400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88" name=""/>
          <p:cNvSpPr/>
          <p:nvPr/>
        </p:nvSpPr>
        <p:spPr>
          <a:xfrm>
            <a:off x="6413500" y="25400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89" name=""/>
          <p:cNvSpPr/>
          <p:nvPr/>
        </p:nvSpPr>
        <p:spPr>
          <a:xfrm>
            <a:off x="6413500" y="25400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190" name=""/>
          <p:cNvSpPr/>
          <p:nvPr/>
        </p:nvSpPr>
        <p:spPr>
          <a:xfrm>
            <a:off x="6540500" y="26162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 lang="zh-CN" sz="12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191" name=""/>
          <p:cNvSpPr/>
          <p:nvPr/>
        </p:nvSpPr>
        <p:spPr>
          <a:xfrm>
            <a:off x="6845300" y="26289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无法承受 20% 级别回撤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92" name=""/>
          <p:cNvSpPr/>
          <p:nvPr/>
        </p:nvSpPr>
        <p:spPr>
          <a:xfrm>
            <a:off x="6845300" y="28702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全市场 beta 年化波动 15%~20%，历史极端回撤更深，须与自身风险承受能力匹配。</a:t>
            </a:r>
            <a:endParaRPr/>
          </a:p>
        </p:txBody>
      </p:sp>
      <p:sp>
        <p:nvSpPr>
          <p:cNvPr id="193" name=""/>
          <p:cNvSpPr/>
          <p:nvPr/>
        </p:nvSpPr>
        <p:spPr>
          <a:xfrm>
            <a:off x="533400" y="34544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94" name=""/>
          <p:cNvSpPr/>
          <p:nvPr/>
        </p:nvSpPr>
        <p:spPr>
          <a:xfrm>
            <a:off x="660400" y="35306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95" name=""/>
          <p:cNvSpPr/>
          <p:nvPr/>
        </p:nvSpPr>
        <p:spPr>
          <a:xfrm>
            <a:off x="965200" y="35433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需要「守正 / 压舱石」底仓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196" name=""/>
          <p:cNvSpPr/>
          <p:nvPr/>
        </p:nvSpPr>
        <p:spPr>
          <a:xfrm>
            <a:off x="965200" y="3784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作为组合的核心配置长期持有，用透明、可复制、低换手的策略承载主要权益仓位。</a:t>
            </a:r>
            <a:endParaRPr/>
          </a:p>
        </p:txBody>
      </p:sp>
      <p:sp>
        <p:nvSpPr>
          <p:cNvPr id="197" name=""/>
          <p:cNvSpPr/>
          <p:nvPr/>
        </p:nvSpPr>
        <p:spPr>
          <a:xfrm>
            <a:off x="6413500" y="34544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>
            <a:off x="6413500" y="34544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>
            <a:off x="6413500" y="34544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200" name=""/>
          <p:cNvSpPr/>
          <p:nvPr/>
        </p:nvSpPr>
        <p:spPr>
          <a:xfrm>
            <a:off x="6540500" y="35306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 lang="zh-CN" sz="12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201" name=""/>
          <p:cNvSpPr/>
          <p:nvPr/>
        </p:nvSpPr>
        <p:spPr>
          <a:xfrm>
            <a:off x="6845300" y="35433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想押注单一赛道、风格、行业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02" name=""/>
          <p:cNvSpPr/>
          <p:nvPr/>
        </p:nvSpPr>
        <p:spPr>
          <a:xfrm>
            <a:off x="6845300" y="37846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追求「刺激」而非「稳定」的客户——本组合行业与规模双中性，不做赛道豪赌。</a:t>
            </a:r>
            <a:endParaRPr/>
          </a:p>
        </p:txBody>
      </p:sp>
      <p:sp>
        <p:nvSpPr>
          <p:cNvPr id="203" name=""/>
          <p:cNvSpPr/>
          <p:nvPr/>
        </p:nvSpPr>
        <p:spPr>
          <a:xfrm>
            <a:off x="533400" y="4368800"/>
            <a:ext cx="56896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>
            <a:off x="660400" y="44450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✓</a:t>
            </a:r>
            <a:endParaRPr lang="zh-CN" sz="12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05" name=""/>
          <p:cNvSpPr/>
          <p:nvPr/>
        </p:nvSpPr>
        <p:spPr>
          <a:xfrm>
            <a:off x="965200" y="44577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对费用敏感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06" name=""/>
          <p:cNvSpPr/>
          <p:nvPr/>
        </p:nvSpPr>
        <p:spPr>
          <a:xfrm>
            <a:off x="965200" y="4699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偏好低成本、低换手、透明可复制的策略，拒绝高费率与频繁申赎。</a:t>
            </a:r>
            <a:endParaRPr/>
          </a:p>
        </p:txBody>
      </p:sp>
      <p:sp>
        <p:nvSpPr>
          <p:cNvPr id="207" name=""/>
          <p:cNvSpPr/>
          <p:nvPr/>
        </p:nvSpPr>
        <p:spPr>
          <a:xfrm>
            <a:off x="6413500" y="4368800"/>
            <a:ext cx="52451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208" name=""/>
          <p:cNvSpPr/>
          <p:nvPr/>
        </p:nvSpPr>
        <p:spPr>
          <a:xfrm>
            <a:off x="6413500" y="4368800"/>
            <a:ext cx="5245100" cy="812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>
            <a:off x="6413500" y="4368800"/>
            <a:ext cx="38100" cy="812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>
            <a:off x="6540500" y="44450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✗</a:t>
            </a:r>
            <a:endParaRPr lang="zh-CN" sz="1200" b="1">
              <a:solidFill>
                <a:srgbClr val="C0392B"/>
              </a:solidFill>
              <a:latin typeface="Microsoft YaHei"/>
              <a:ea typeface="Microsoft YaHei"/>
            </a:endParaRPr>
          </a:p>
        </p:txBody>
      </p:sp>
      <p:sp>
        <p:nvSpPr>
          <p:cNvPr id="211" name=""/>
          <p:cNvSpPr/>
          <p:nvPr/>
        </p:nvSpPr>
        <p:spPr>
          <a:xfrm>
            <a:off x="6845300" y="4457700"/>
            <a:ext cx="4635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 b="1">
                <a:solidFill>
                  <a:srgbClr val="061F32"/>
                </a:solidFill>
                <a:latin typeface="Microsoft YaHei"/>
                <a:ea typeface="Microsoft YaHei"/>
              </a:rPr>
              <a:t>资金期限短（&lt; 1 年）</a:t>
            </a:r>
            <a:endParaRPr lang="zh-CN" sz="1000" b="1">
              <a:solidFill>
                <a:srgbClr val="061F32"/>
              </a:solidFill>
              <a:latin typeface="Microsoft YaHei"/>
              <a:ea typeface="Microsoft YaHei"/>
            </a:endParaRPr>
          </a:p>
        </p:txBody>
      </p:sp>
      <p:sp>
        <p:nvSpPr>
          <p:cNvPr id="212" name=""/>
          <p:cNvSpPr/>
          <p:nvPr/>
        </p:nvSpPr>
        <p:spPr>
          <a:xfrm>
            <a:off x="6845300" y="4699000"/>
            <a:ext cx="46355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8A8A8A"/>
                </a:solidFill>
                <a:latin typeface="Microsoft YaHei"/>
                <a:ea typeface="Microsoft YaHei"/>
              </a:rPr>
              <a:t>短期资金应使用低波产品，不应承载全市场权益 beta 的波动。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2026-10-16T14:49:49Z</dcterms:created>
  <dcterms:modified xsi:type="dcterms:W3CDTF">2026-10-16T14:49:49Z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{"AIGC":{"Label":"1","ContentProducer":"00119111010856365494821B355","ProduceID":"01a14314cb3f7851ad68c0fbffa4a4a0","ReservedCode1":"","ContentPropagator":"00119111010856365494821B355","PropagateID":"01a14314cb3f7851ad68c0fbffa4a4a0","ReservedCode2":""}}</vt:lpwstr>
  </property>
</Properties>
</file>