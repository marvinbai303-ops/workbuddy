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14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2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76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/>
          <p:nvPr/>
        </p:nvSpPr>
        <p:spPr>
          <a:xfrm>
            <a:off x="533399" y="381000"/>
            <a:ext cx="9841523" cy="431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100" b="1" dirty="0">
                <a:solidFill>
                  <a:srgbClr val="061F32"/>
                </a:solidFill>
                <a:latin typeface="Microsoft YaHei"/>
                <a:ea typeface="Microsoft YaHei"/>
              </a:rPr>
              <a:t>中证全指全收益：A股最强贝塔</a:t>
            </a:r>
            <a:endParaRPr/>
          </a:p>
        </p:txBody>
      </p:sp>
      <p:sp>
        <p:nvSpPr>
          <p:cNvPr id="3" name="矩形 4"/>
          <p:cNvSpPr/>
          <p:nvPr/>
        </p:nvSpPr>
        <p:spPr>
          <a:xfrm>
            <a:off x="533400" y="914400"/>
            <a:ext cx="11125200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12"/>
          <p:cNvSpPr/>
          <p:nvPr/>
        </p:nvSpPr>
        <p:spPr>
          <a:xfrm>
            <a:off x="533400" y="6413500"/>
            <a:ext cx="100965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800" dirty="0">
                <a:solidFill>
                  <a:srgbClr val="8A8A8A"/>
                </a:solidFill>
                <a:latin typeface="Microsoft YaHei"/>
                <a:ea typeface="Microsoft YaHei"/>
              </a:rPr>
              <a:t>数据来源：中证指数公司、Wind；收益风险特征基于 H00985 全收益日度序列计算（2005-01-04 至 2026-09-30，共 5282 个交易日，无风险利率假设 </a:t>
            </a:r>
            <a:r>
              <a:rPr lang="en-US" altLang="zh-CN" sz="800" dirty="0">
                <a:solidFill>
                  <a:srgbClr val="8A8A8A"/>
                </a:solidFill>
                <a:latin typeface="Microsoft YaHei"/>
                <a:ea typeface="Microsoft YaHei"/>
              </a:rPr>
              <a:t>0</a:t>
            </a:r>
            <a:r>
              <a:rPr lang="zh-CN" sz="800" dirty="0" smtClean="0">
                <a:solidFill>
                  <a:srgbClr val="8A8A8A"/>
                </a:solidFill>
                <a:latin typeface="Microsoft YaHei"/>
                <a:ea typeface="Microsoft YaHei"/>
              </a:rPr>
              <a:t>%）</a:t>
            </a:r>
            <a:endParaRPr dirty="0"/>
          </a:p>
        </p:txBody>
      </p:sp>
      <p:sp>
        <p:nvSpPr>
          <p:cNvPr id="5" name="矩形 14"/>
          <p:cNvSpPr/>
          <p:nvPr/>
        </p:nvSpPr>
        <p:spPr>
          <a:xfrm>
            <a:off x="474783" y="1472028"/>
            <a:ext cx="6540500" cy="990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15"/>
          <p:cNvSpPr/>
          <p:nvPr/>
        </p:nvSpPr>
        <p:spPr>
          <a:xfrm>
            <a:off x="474783" y="1472028"/>
            <a:ext cx="38100" cy="9906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矩形 16"/>
          <p:cNvSpPr/>
          <p:nvPr/>
        </p:nvSpPr>
        <p:spPr>
          <a:xfrm>
            <a:off x="601783" y="1535528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b="1" dirty="0">
                <a:solidFill>
                  <a:srgbClr val="C0392B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8" name="矩形 17"/>
          <p:cNvSpPr/>
          <p:nvPr/>
        </p:nvSpPr>
        <p:spPr>
          <a:xfrm>
            <a:off x="881183" y="1548228"/>
            <a:ext cx="60071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b="1" dirty="0">
                <a:solidFill>
                  <a:srgbClr val="061F32"/>
                </a:solidFill>
                <a:latin typeface="Microsoft YaHei"/>
                <a:ea typeface="Microsoft YaHei"/>
              </a:rPr>
              <a:t>全市场</a:t>
            </a:r>
            <a:r>
              <a:rPr lang="zh-CN" sz="14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覆盖</a:t>
            </a:r>
            <a:r>
              <a:rPr lang="en-US" altLang="zh-CN" sz="14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-</a:t>
            </a:r>
            <a:r>
              <a:rPr lang="zh-CN" sz="14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行业</a:t>
            </a:r>
            <a:r>
              <a:rPr lang="zh-CN" sz="1400" b="1" dirty="0">
                <a:solidFill>
                  <a:srgbClr val="061F32"/>
                </a:solidFill>
                <a:latin typeface="Microsoft YaHei"/>
                <a:ea typeface="Microsoft YaHei"/>
              </a:rPr>
              <a:t>与规模双中性</a:t>
            </a:r>
            <a:endParaRPr/>
          </a:p>
        </p:txBody>
      </p:sp>
      <p:sp>
        <p:nvSpPr>
          <p:cNvPr id="9" name="矩形 18"/>
          <p:cNvSpPr/>
          <p:nvPr/>
        </p:nvSpPr>
        <p:spPr>
          <a:xfrm>
            <a:off x="601783" y="1878428"/>
            <a:ext cx="6286500" cy="60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dirty="0">
                <a:latin typeface="Microsoft YaHei"/>
                <a:ea typeface="Microsoft YaHei"/>
              </a:rPr>
              <a:t>覆盖沪深北三市 5100+ 只股票，自由流通市值加权——大、中、小、微盘全覆盖，行业权重与市场真实结构一致，</a:t>
            </a:r>
            <a:r>
              <a:rPr lang="zh-CN" sz="1050" dirty="0" smtClean="0">
                <a:latin typeface="Microsoft YaHei"/>
                <a:ea typeface="Microsoft YaHei"/>
              </a:rPr>
              <a:t>是A股</a:t>
            </a:r>
            <a:r>
              <a:rPr lang="zh-CN" altLang="en-US" sz="1050" dirty="0" smtClean="0">
                <a:latin typeface="Microsoft YaHei"/>
                <a:ea typeface="Microsoft YaHei"/>
              </a:rPr>
              <a:t>贝塔</a:t>
            </a:r>
            <a:r>
              <a:rPr lang="zh-CN" sz="1050" dirty="0" smtClean="0">
                <a:latin typeface="Microsoft YaHei"/>
                <a:ea typeface="Microsoft YaHei"/>
              </a:rPr>
              <a:t>最</a:t>
            </a:r>
            <a:r>
              <a:rPr lang="zh-CN" sz="1050" dirty="0">
                <a:latin typeface="Microsoft YaHei"/>
                <a:ea typeface="Microsoft YaHei"/>
              </a:rPr>
              <a:t>忠实、最无偏的刻画。</a:t>
            </a:r>
            <a:endParaRPr sz="2800" dirty="0"/>
          </a:p>
        </p:txBody>
      </p:sp>
      <p:sp>
        <p:nvSpPr>
          <p:cNvPr id="10" name="矩形 19"/>
          <p:cNvSpPr/>
          <p:nvPr/>
        </p:nvSpPr>
        <p:spPr>
          <a:xfrm>
            <a:off x="474783" y="2551528"/>
            <a:ext cx="6540500" cy="990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20"/>
          <p:cNvSpPr/>
          <p:nvPr/>
        </p:nvSpPr>
        <p:spPr>
          <a:xfrm>
            <a:off x="474783" y="2551528"/>
            <a:ext cx="38100" cy="9906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lstStyle/>
          <a:p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21"/>
          <p:cNvSpPr/>
          <p:nvPr/>
        </p:nvSpPr>
        <p:spPr>
          <a:xfrm>
            <a:off x="601783" y="2615028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endParaRPr/>
          </a:p>
        </p:txBody>
      </p:sp>
      <p:sp>
        <p:nvSpPr>
          <p:cNvPr id="13" name="矩形 22"/>
          <p:cNvSpPr/>
          <p:nvPr/>
        </p:nvSpPr>
        <p:spPr>
          <a:xfrm>
            <a:off x="881183" y="2627728"/>
            <a:ext cx="60071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b="1" dirty="0">
                <a:solidFill>
                  <a:srgbClr val="061F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sz="1400" b="1" dirty="0" smtClean="0">
                <a:solidFill>
                  <a:srgbClr val="061F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</a:t>
            </a:r>
            <a:r>
              <a:rPr lang="zh-CN" altLang="en-US" sz="1400" b="1" dirty="0" smtClean="0">
                <a:solidFill>
                  <a:srgbClr val="061F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性强</a:t>
            </a:r>
            <a:endParaRPr lang="zh-CN" sz="1400" b="1" dirty="0">
              <a:solidFill>
                <a:srgbClr val="061F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23"/>
          <p:cNvSpPr/>
          <p:nvPr/>
        </p:nvSpPr>
        <p:spPr>
          <a:xfrm>
            <a:off x="620833" y="2973070"/>
            <a:ext cx="6286500" cy="60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剔除 ST/*ST，新股上市满一个季度才纳入，成分股全部可正常交易，公</a:t>
            </a:r>
            <a:r>
              <a:rPr 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募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基金</a:t>
            </a:r>
            <a:r>
              <a:rPr 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 能够完整复制；区别于万得全A（含 ST、新股 10 日即纳入</a:t>
            </a:r>
            <a:r>
              <a:rPr 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，有更强的可投性</a:t>
            </a:r>
            <a:r>
              <a:rPr 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24"/>
          <p:cNvSpPr/>
          <p:nvPr/>
        </p:nvSpPr>
        <p:spPr>
          <a:xfrm>
            <a:off x="474783" y="3631028"/>
            <a:ext cx="6540500" cy="990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25"/>
          <p:cNvSpPr/>
          <p:nvPr/>
        </p:nvSpPr>
        <p:spPr>
          <a:xfrm>
            <a:off x="474783" y="3631028"/>
            <a:ext cx="38100" cy="9906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lstStyle/>
          <a:p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26"/>
          <p:cNvSpPr/>
          <p:nvPr/>
        </p:nvSpPr>
        <p:spPr>
          <a:xfrm>
            <a:off x="601783" y="3694528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600" b="1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endParaRPr/>
          </a:p>
        </p:txBody>
      </p:sp>
      <p:sp>
        <p:nvSpPr>
          <p:cNvPr id="18" name="矩形 27"/>
          <p:cNvSpPr/>
          <p:nvPr/>
        </p:nvSpPr>
        <p:spPr>
          <a:xfrm>
            <a:off x="881183" y="3707228"/>
            <a:ext cx="60071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 sz="1400" b="1" dirty="0" smtClean="0">
                <a:solidFill>
                  <a:srgbClr val="061F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全收益指数含分红收益</a:t>
            </a:r>
            <a:endParaRPr lang="zh-CN" sz="1400" b="1" dirty="0">
              <a:solidFill>
                <a:srgbClr val="061F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28"/>
          <p:cNvSpPr/>
          <p:nvPr/>
        </p:nvSpPr>
        <p:spPr>
          <a:xfrm>
            <a:off x="620833" y="4012028"/>
            <a:ext cx="6286500" cy="60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H00985 为全收益口径、含分红再投资；价格指数在除息日自然回落、会低估真实</a:t>
            </a:r>
            <a:r>
              <a:rPr 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收益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，而全收益才是实际拿到手的收益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29"/>
          <p:cNvSpPr/>
          <p:nvPr/>
        </p:nvSpPr>
        <p:spPr>
          <a:xfrm>
            <a:off x="474783" y="4710528"/>
            <a:ext cx="6540500" cy="990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30"/>
          <p:cNvSpPr/>
          <p:nvPr/>
        </p:nvSpPr>
        <p:spPr>
          <a:xfrm>
            <a:off x="474783" y="4710528"/>
            <a:ext cx="38100" cy="9906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lstStyle/>
          <a:p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31"/>
          <p:cNvSpPr/>
          <p:nvPr/>
        </p:nvSpPr>
        <p:spPr>
          <a:xfrm>
            <a:off x="601783" y="4774028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600" b="1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  <a:endParaRPr/>
          </a:p>
        </p:txBody>
      </p:sp>
      <p:sp>
        <p:nvSpPr>
          <p:cNvPr id="23" name="矩形 32"/>
          <p:cNvSpPr/>
          <p:nvPr/>
        </p:nvSpPr>
        <p:spPr>
          <a:xfrm>
            <a:off x="881183" y="4786728"/>
            <a:ext cx="60071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 sz="1400" b="1" dirty="0" smtClean="0">
                <a:solidFill>
                  <a:srgbClr val="061F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长期来看向上</a:t>
            </a:r>
            <a:endParaRPr lang="zh-CN" sz="1400" b="1" dirty="0">
              <a:solidFill>
                <a:srgbClr val="061F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33"/>
          <p:cNvSpPr/>
          <p:nvPr/>
        </p:nvSpPr>
        <p:spPr>
          <a:xfrm>
            <a:off x="601783" y="5066128"/>
            <a:ext cx="6286500" cy="723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全收益年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化约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。去除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年泡沫顶点，指数长期向上。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0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2015-2025 </a:t>
            </a:r>
            <a:r>
              <a:rPr lang="zh-CN" altLang="en-US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股全市场利润从 </a:t>
            </a:r>
            <a:r>
              <a:rPr lang="en-US" altLang="zh-CN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 </a:t>
            </a:r>
            <a:r>
              <a:rPr lang="zh-CN" altLang="en-US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万亿翻倍到 </a:t>
            </a:r>
            <a:r>
              <a:rPr lang="en-US" altLang="zh-CN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5.38 </a:t>
            </a:r>
            <a:r>
              <a:rPr lang="zh-CN" altLang="en-US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万亿，但估值却从约 </a:t>
            </a:r>
            <a:r>
              <a:rPr lang="en-US" altLang="zh-CN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 </a:t>
            </a:r>
            <a:r>
              <a:rPr lang="zh-CN" altLang="en-US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倍压缩到 </a:t>
            </a:r>
            <a:r>
              <a:rPr lang="en-US" altLang="zh-CN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20-25 </a:t>
            </a:r>
            <a:r>
              <a:rPr lang="zh-CN" altLang="en-US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倍，盈利增长被估值下修抵消。指数并非不向上，而是 </a:t>
            </a:r>
            <a:r>
              <a:rPr lang="en-US" altLang="zh-CN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2015 </a:t>
            </a:r>
            <a:r>
              <a:rPr lang="zh-CN" altLang="en-US" sz="1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年的泡沫太虚高。</a:t>
            </a:r>
            <a:endParaRPr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34"/>
          <p:cNvSpPr/>
          <p:nvPr/>
        </p:nvSpPr>
        <p:spPr>
          <a:xfrm>
            <a:off x="7147165" y="1574824"/>
            <a:ext cx="43942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b="1" dirty="0">
                <a:solidFill>
                  <a:srgbClr val="061F32"/>
                </a:solidFill>
                <a:latin typeface="Microsoft YaHei"/>
                <a:ea typeface="Microsoft YaHei"/>
              </a:rPr>
              <a:t>中证全指全收益（H00985）收益风险特征</a:t>
            </a:r>
            <a:endParaRPr/>
          </a:p>
        </p:txBody>
      </p:sp>
      <p:graphicFrame>
        <p:nvGraphicFramePr>
          <p:cNvPr id="26" name="表格 35"/>
          <p:cNvGraphicFramePr/>
          <p:nvPr/>
        </p:nvGraphicFramePr>
        <p:xfrm>
          <a:off x="7205780" y="2023651"/>
          <a:ext cx="4394202" cy="3446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367">
                  <a:extLst>
                    <a:ext uri="{9D8B030D-6E8A-4147-A177-3AD203B41FA5}"/>
                  </a:extLst>
                </a:gridCol>
                <a:gridCol w="732367">
                  <a:extLst>
                    <a:ext uri="{9D8B030D-6E8A-4147-A177-3AD203B41FA5}"/>
                  </a:extLst>
                </a:gridCol>
                <a:gridCol w="732367">
                  <a:extLst>
                    <a:ext uri="{9D8B030D-6E8A-4147-A177-3AD203B41FA5}"/>
                  </a:extLst>
                </a:gridCol>
                <a:gridCol w="732367">
                  <a:extLst>
                    <a:ext uri="{9D8B030D-6E8A-4147-A177-3AD203B41FA5}"/>
                  </a:extLst>
                </a:gridCol>
                <a:gridCol w="732367">
                  <a:extLst>
                    <a:ext uri="{9D8B030D-6E8A-4147-A177-3AD203B41FA5}"/>
                  </a:extLst>
                </a:gridCol>
                <a:gridCol w="732367">
                  <a:extLst>
                    <a:ext uri="{9D8B030D-6E8A-4147-A177-3AD203B41FA5}"/>
                  </a:extLst>
                </a:gridCol>
              </a:tblGrid>
              <a:tr h="49235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区间</a:t>
                      </a:r>
                      <a:endParaRPr lang="en-US" sz="10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年化收益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年化波动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夏普比率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卡玛比率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extLst>
                  <a:ext uri="{0D108BD9-81ED-4DB2-BD59-A6C34878D82A}"/>
                </a:extLst>
              </a:tr>
              <a:tr h="49235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基日以来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10.32%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25.86%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-71.26%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0.32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0.14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/>
                </a:extLst>
              </a:tr>
              <a:tr h="49235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近20年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8.81%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26.11%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-71.26%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0.26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0.12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/>
                </a:extLst>
              </a:tr>
              <a:tr h="49235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近10年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3.58%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19.67%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-37.14%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0.08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0.10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/>
                </a:extLst>
              </a:tr>
              <a:tr h="49235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近5年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1.65%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20.01%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-37.14%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-0.02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0.04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/>
                </a:extLst>
              </a:tr>
              <a:tr h="49235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近3年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9.46%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21.68%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-20.81%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0.34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0.45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/>
                </a:extLst>
              </a:tr>
              <a:tr h="49235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近1年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-2.44%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21.17%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-15.83%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-0.21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-0.15</a:t>
                      </a:r>
                      <a:endParaRPr/>
                    </a:p>
                  </a:txBody>
                  <a:tcPr marL="38100" marR="38100" marT="12700" marB="127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42" descr="{&quot;isTemplate&quot;:true,&quot;type&quot;:&quot;text&quot;}"/>
          <p:cNvSpPr txBox="1"/>
          <p:nvPr/>
        </p:nvSpPr>
        <p:spPr>
          <a:xfrm>
            <a:off x="533400" y="419100"/>
            <a:ext cx="921067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zh-CN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买</a:t>
            </a:r>
            <a:r>
              <a:rPr lang="zh-CN" altLang="en-US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中证</a:t>
            </a:r>
            <a:r>
              <a:rPr lang="zh-CN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全指</a:t>
            </a:r>
            <a:r>
              <a:rPr lang="zh-CN" altLang="en-US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等于</a:t>
            </a:r>
            <a:r>
              <a:rPr lang="zh-CN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买</a:t>
            </a:r>
            <a:r>
              <a:rPr lang="zh-CN" altLang="en-US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市场风险偏好回暖</a:t>
            </a:r>
            <a:endParaRPr dirty="0"/>
          </a:p>
        </p:txBody>
      </p:sp>
      <p:sp>
        <p:nvSpPr>
          <p:cNvPr id="74" name="矩形 44"/>
          <p:cNvSpPr/>
          <p:nvPr/>
        </p:nvSpPr>
        <p:spPr>
          <a:xfrm>
            <a:off x="533400" y="914400"/>
            <a:ext cx="11125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文本框 53" descr="{&quot;isTemplate&quot;:true,&quot;type&quot;:&quot;text&quot;}"/>
          <p:cNvSpPr txBox="1"/>
          <p:nvPr/>
        </p:nvSpPr>
        <p:spPr>
          <a:xfrm>
            <a:off x="533400" y="6438900"/>
            <a:ext cx="10096500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zh-CN" sz="825" dirty="0" smtClean="0">
                <a:solidFill>
                  <a:srgbClr val="8A8A8A"/>
                </a:solidFill>
                <a:latin typeface="Microsoft YaHei"/>
                <a:ea typeface="Microsoft YaHei"/>
              </a:rPr>
              <a:t>数据来源：数据截至 2026-10-16；"全A成交额"以中证全指成分股成交额合计近似；缩量为恐慌底当日成交额较其前 60 个交易日量能高点的降幅；反弹为恐慌底后 60 个交易日区间涨跌幅（贸易战为 120 日）。历史表现不预示未来，不构成投资建议。</a:t>
            </a:r>
          </a:p>
        </p:txBody>
      </p:sp>
      <p:sp>
        <p:nvSpPr>
          <p:cNvPr id="76" name="矩形 15"/>
          <p:cNvSpPr/>
          <p:nvPr/>
        </p:nvSpPr>
        <p:spPr>
          <a:xfrm>
            <a:off x="354623" y="1038225"/>
            <a:ext cx="11125200" cy="4953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任意多边形 16"/>
          <p:cNvSpPr/>
          <p:nvPr/>
        </p:nvSpPr>
        <p:spPr>
          <a:xfrm>
            <a:off x="316523" y="1038225"/>
            <a:ext cx="11163300" cy="495300"/>
          </a:xfrm>
          <a:custGeom>
            <a:avLst/>
            <a:gdLst/>
            <a:ahLst/>
            <a:cxnLst/>
            <a:rect l="0" t="0" r="0" b="0"/>
            <a:pathLst>
              <a:path w="1172" h="52">
                <a:moveTo>
                  <a:pt x="0" y="0"/>
                </a:moveTo>
                <a:lnTo>
                  <a:pt x="4" y="0"/>
                </a:lnTo>
                <a:lnTo>
                  <a:pt x="4" y="52"/>
                </a:lnTo>
                <a:lnTo>
                  <a:pt x="0" y="52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" name="文本框 17" descr="{&quot;isTemplate&quot;:true,&quot;type&quot;:&quot;text&quot;}"/>
          <p:cNvSpPr txBox="1"/>
          <p:nvPr/>
        </p:nvSpPr>
        <p:spPr>
          <a:xfrm>
            <a:off x="545123" y="1162050"/>
            <a:ext cx="88773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疫情恐慌、2022 市场底、924 政策底、贸易战、美伊战争——五次恐慌底先缩量、后反弹，中证全指全收益均获正涨幅。</a:t>
            </a:r>
          </a:p>
        </p:txBody>
      </p:sp>
      <p:pic>
        <p:nvPicPr>
          <p:cNvPr id="81" name="图片 80"/>
          <p:cNvPicPr/>
          <p:nvPr/>
        </p:nvPicPr>
        <p:blipFill>
          <a:blip r:embed="rId2"/>
          <a:stretch/>
        </p:blipFill>
        <p:spPr>
          <a:xfrm>
            <a:off x="965200" y="1612900"/>
            <a:ext cx="9904845" cy="4737100"/>
          </a:xfrm>
          <a:prstGeom prst="rect">
            <a:avLst/>
          </a:prstGeom>
        </p:spPr>
      </p:pic>
      <p:sp>
        <p:nvSpPr>
          <p:cNvPr id="2" name="左箭头 1"/>
          <p:cNvSpPr/>
          <p:nvPr/>
        </p:nvSpPr>
        <p:spPr>
          <a:xfrm rot="19087418">
            <a:off x="9725365" y="2867590"/>
            <a:ext cx="1000125" cy="248736"/>
          </a:xfrm>
          <a:prstGeom prst="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293529" y="2142365"/>
            <a:ext cx="15936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截止</a:t>
            </a:r>
            <a:r>
              <a:rPr lang="en-US" altLang="zh-CN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9.30</a:t>
            </a: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成交额相较高点缩量</a:t>
            </a:r>
            <a:r>
              <a:rPr lang="en-US" altLang="zh-CN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62.21%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56"/>
          <p:cNvSpPr/>
          <p:nvPr/>
        </p:nvSpPr>
        <p:spPr>
          <a:xfrm>
            <a:off x="59376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文本框 57" descr="{&quot;isTemplate&quot;:true,&quot;type&quot;:&quot;text&quot;}"/>
          <p:cNvSpPr txBox="1"/>
          <p:nvPr/>
        </p:nvSpPr>
        <p:spPr>
          <a:xfrm>
            <a:off x="533400" y="419100"/>
            <a:ext cx="76200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zh-CN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买</a:t>
            </a:r>
            <a:r>
              <a:rPr lang="zh-CN" altLang="en-US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中证</a:t>
            </a:r>
            <a:r>
              <a:rPr lang="zh-CN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全指</a:t>
            </a:r>
            <a:r>
              <a:rPr lang="zh-CN" altLang="en-US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等于</a:t>
            </a:r>
            <a:r>
              <a:rPr lang="zh-CN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每</a:t>
            </a:r>
            <a:r>
              <a:rPr lang="zh-CN" sz="2100" b="1" dirty="0">
                <a:solidFill>
                  <a:srgbClr val="061F32"/>
                </a:solidFill>
                <a:latin typeface="Microsoft YaHei"/>
                <a:ea typeface="Microsoft YaHei"/>
              </a:rPr>
              <a:t>轮上涨不落空：五</a:t>
            </a:r>
            <a:r>
              <a:rPr lang="zh-CN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轮</a:t>
            </a:r>
            <a:r>
              <a:rPr lang="zh-CN" altLang="en-US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结构性</a:t>
            </a:r>
            <a:r>
              <a:rPr lang="zh-CN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行情平均</a:t>
            </a:r>
            <a:r>
              <a:rPr lang="en-US" sz="2100" b="1" dirty="0" smtClean="0">
                <a:solidFill>
                  <a:srgbClr val="FF0000"/>
                </a:solidFill>
                <a:latin typeface="Microsoft YaHei"/>
                <a:ea typeface="Microsoft YaHei"/>
              </a:rPr>
              <a:t> </a:t>
            </a:r>
            <a:r>
              <a:rPr lang="en-US" sz="2100" b="1" dirty="0">
                <a:solidFill>
                  <a:srgbClr val="FF0000"/>
                </a:solidFill>
                <a:latin typeface="Microsoft YaHei"/>
                <a:ea typeface="Microsoft YaHei"/>
              </a:rPr>
              <a:t>+30%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85" name="矩形 59"/>
          <p:cNvSpPr/>
          <p:nvPr/>
        </p:nvSpPr>
        <p:spPr>
          <a:xfrm>
            <a:off x="533400" y="914400"/>
            <a:ext cx="11125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6" name="图片 60"/>
          <p:cNvPicPr>
            <a:picLocks noChangeAspect="1"/>
          </p:cNvPicPr>
          <p:nvPr/>
        </p:nvPicPr>
        <p:blipFill>
          <a:blip r:embed="rId2"/>
          <a:srcRect l="4" r="4"/>
          <a:stretch>
            <a:fillRect/>
          </a:stretch>
        </p:blipFill>
        <p:spPr>
          <a:xfrm>
            <a:off x="943708" y="1784838"/>
            <a:ext cx="9525000" cy="4638675"/>
          </a:xfrm>
          <a:prstGeom prst="rect">
            <a:avLst/>
          </a:prstGeom>
          <a:ln/>
        </p:spPr>
      </p:pic>
      <p:sp>
        <p:nvSpPr>
          <p:cNvPr id="87" name="矩形 61"/>
          <p:cNvSpPr/>
          <p:nvPr/>
        </p:nvSpPr>
        <p:spPr>
          <a:xfrm>
            <a:off x="448408" y="1099038"/>
            <a:ext cx="11125200" cy="4953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" name="任意多边形 62"/>
          <p:cNvSpPr/>
          <p:nvPr/>
        </p:nvSpPr>
        <p:spPr>
          <a:xfrm>
            <a:off x="410308" y="1099038"/>
            <a:ext cx="11163300" cy="495300"/>
          </a:xfrm>
          <a:custGeom>
            <a:avLst/>
            <a:gdLst/>
            <a:ahLst/>
            <a:cxnLst/>
            <a:rect l="0" t="0" r="0" b="0"/>
            <a:pathLst>
              <a:path w="1172" h="52">
                <a:moveTo>
                  <a:pt x="0" y="0"/>
                </a:moveTo>
                <a:lnTo>
                  <a:pt x="4" y="0"/>
                </a:lnTo>
                <a:lnTo>
                  <a:pt x="4" y="52"/>
                </a:lnTo>
                <a:lnTo>
                  <a:pt x="0" y="52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文本框 63" descr="{&quot;isTemplate&quot;:true,&quot;type&quot;:&quot;text&quot;}"/>
          <p:cNvSpPr txBox="1"/>
          <p:nvPr/>
        </p:nvSpPr>
        <p:spPr>
          <a:xfrm>
            <a:off x="638908" y="1222863"/>
            <a:ext cx="86391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zh-CN" sz="1163" dirty="0">
                <a:solidFill>
                  <a:srgbClr val="061F32"/>
                </a:solidFill>
                <a:latin typeface="Microsoft YaHei"/>
                <a:ea typeface="Microsoft YaHei"/>
              </a:rPr>
              <a:t>最强行业每轮轮换（医药→</a:t>
            </a:r>
            <a:r>
              <a:rPr lang="zh-CN" sz="1163" dirty="0" smtClean="0">
                <a:solidFill>
                  <a:srgbClr val="061F32"/>
                </a:solidFill>
                <a:latin typeface="Microsoft YaHei"/>
                <a:ea typeface="Microsoft YaHei"/>
              </a:rPr>
              <a:t>新能源→</a:t>
            </a:r>
            <a:r>
              <a:rPr lang="zh-CN" sz="1163" dirty="0">
                <a:solidFill>
                  <a:srgbClr val="061F32"/>
                </a:solidFill>
                <a:latin typeface="Microsoft YaHei"/>
                <a:ea typeface="Microsoft YaHei"/>
              </a:rPr>
              <a:t>半导体</a:t>
            </a:r>
            <a:r>
              <a:rPr lang="zh-CN" sz="1163" dirty="0" smtClean="0">
                <a:solidFill>
                  <a:srgbClr val="061F32"/>
                </a:solidFill>
                <a:latin typeface="Microsoft YaHei"/>
                <a:ea typeface="Microsoft YaHei"/>
              </a:rPr>
              <a:t>→</a:t>
            </a:r>
            <a:r>
              <a:rPr lang="zh-CN" altLang="en-US" sz="1163" dirty="0" smtClean="0">
                <a:solidFill>
                  <a:srgbClr val="061F32"/>
                </a:solidFill>
                <a:latin typeface="Microsoft YaHei"/>
                <a:ea typeface="Microsoft YaHei"/>
              </a:rPr>
              <a:t>算力</a:t>
            </a:r>
            <a:r>
              <a:rPr lang="zh-CN" sz="1163" dirty="0" smtClean="0">
                <a:solidFill>
                  <a:srgbClr val="061F32"/>
                </a:solidFill>
                <a:latin typeface="Microsoft YaHei"/>
                <a:ea typeface="Microsoft YaHei"/>
              </a:rPr>
              <a:t>），</a:t>
            </a:r>
            <a:r>
              <a:rPr lang="zh-CN" altLang="en-US" sz="1163" dirty="0" smtClean="0">
                <a:solidFill>
                  <a:srgbClr val="061F32"/>
                </a:solidFill>
                <a:latin typeface="Microsoft YaHei"/>
                <a:ea typeface="Microsoft YaHei"/>
              </a:rPr>
              <a:t>难以判断</a:t>
            </a:r>
            <a:r>
              <a:rPr lang="zh-CN" sz="1163" dirty="0" smtClean="0">
                <a:solidFill>
                  <a:srgbClr val="061F32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sz="1163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弱者思维下，</a:t>
            </a:r>
            <a:r>
              <a:rPr lang="zh-CN" sz="1163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不</a:t>
            </a:r>
            <a:r>
              <a:rPr lang="zh-CN" sz="1163" b="1" dirty="0">
                <a:solidFill>
                  <a:srgbClr val="061F32"/>
                </a:solidFill>
                <a:latin typeface="Microsoft YaHei"/>
                <a:ea typeface="Microsoft YaHei"/>
              </a:rPr>
              <a:t>押赛道，一样跟住市场</a:t>
            </a:r>
            <a:r>
              <a:rPr lang="zh-CN" sz="1163" dirty="0">
                <a:solidFill>
                  <a:srgbClr val="061F32"/>
                </a:solidFill>
                <a:latin typeface="Microsoft YaHei"/>
                <a:ea typeface="Microsoft YaHei"/>
              </a:rPr>
              <a:t>。</a:t>
            </a:r>
            <a:endParaRPr dirty="0"/>
          </a:p>
        </p:txBody>
      </p:sp>
      <p:sp>
        <p:nvSpPr>
          <p:cNvPr id="90" name="文本框 66" descr="{&quot;isTemplate&quot;:true,&quot;type&quot;:&quot;text&quot;}"/>
          <p:cNvSpPr txBox="1"/>
          <p:nvPr/>
        </p:nvSpPr>
        <p:spPr>
          <a:xfrm>
            <a:off x="10414526" y="1137752"/>
            <a:ext cx="7048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725" b="1" dirty="0">
                <a:solidFill>
                  <a:srgbClr val="061F32"/>
                </a:solidFill>
                <a:latin typeface="Microsoft YaHei"/>
                <a:ea typeface="Microsoft YaHei"/>
              </a:rPr>
              <a:t>+</a:t>
            </a:r>
            <a:r>
              <a:rPr lang="en-US" sz="1725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27%</a:t>
            </a:r>
            <a:endParaRPr dirty="0"/>
          </a:p>
        </p:txBody>
      </p:sp>
      <p:sp>
        <p:nvSpPr>
          <p:cNvPr id="91" name="文本框 67" descr="{&quot;isTemplate&quot;:true,&quot;type&quot;:&quot;text&quot;}"/>
          <p:cNvSpPr txBox="1"/>
          <p:nvPr/>
        </p:nvSpPr>
        <p:spPr>
          <a:xfrm>
            <a:off x="10328801" y="1443166"/>
            <a:ext cx="8763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63" dirty="0" smtClean="0">
                <a:solidFill>
                  <a:srgbClr val="8A8A8A"/>
                </a:solidFill>
                <a:latin typeface="Microsoft YaHei"/>
                <a:ea typeface="Microsoft YaHei"/>
              </a:rPr>
              <a:t>平均</a:t>
            </a:r>
            <a:r>
              <a:rPr lang="zh-CN" altLang="en-US" sz="863" dirty="0" smtClean="0">
                <a:solidFill>
                  <a:srgbClr val="8A8A8A"/>
                </a:solidFill>
                <a:latin typeface="Microsoft YaHei"/>
                <a:ea typeface="Microsoft YaHei"/>
              </a:rPr>
              <a:t>跑赢落后行业</a:t>
            </a:r>
            <a:endParaRPr dirty="0"/>
          </a:p>
        </p:txBody>
      </p:sp>
      <p:sp>
        <p:nvSpPr>
          <p:cNvPr id="92" name="文本框 68" descr="{&quot;isTemplate&quot;:true,&quot;type&quot;:&quot;text&quot;}"/>
          <p:cNvSpPr txBox="1"/>
          <p:nvPr/>
        </p:nvSpPr>
        <p:spPr>
          <a:xfrm>
            <a:off x="533400" y="6438900"/>
            <a:ext cx="10096500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zh-CN" sz="825" dirty="0">
                <a:solidFill>
                  <a:srgbClr val="8A8A8A"/>
                </a:solidFill>
                <a:latin typeface="Microsoft YaHei"/>
                <a:ea typeface="Microsoft YaHei"/>
              </a:rPr>
              <a:t>数据来源</a:t>
            </a:r>
            <a:r>
              <a:rPr lang="zh-CN" sz="825" dirty="0" smtClean="0">
                <a:solidFill>
                  <a:srgbClr val="8A8A8A"/>
                </a:solidFill>
                <a:latin typeface="Microsoft YaHei"/>
                <a:ea typeface="Microsoft YaHei"/>
              </a:rPr>
              <a:t>：数据</a:t>
            </a:r>
            <a:r>
              <a:rPr lang="zh-CN" sz="825" dirty="0">
                <a:solidFill>
                  <a:srgbClr val="8A8A8A"/>
                </a:solidFill>
                <a:latin typeface="Microsoft YaHei"/>
                <a:ea typeface="Microsoft YaHei"/>
              </a:rPr>
              <a:t>截至</a:t>
            </a:r>
            <a:r>
              <a:rPr lang="en-US" sz="825" dirty="0">
                <a:solidFill>
                  <a:srgbClr val="8A8A8A"/>
                </a:solidFill>
                <a:latin typeface="Microsoft YaHei"/>
                <a:ea typeface="Microsoft YaHei"/>
              </a:rPr>
              <a:t> 2026-10-16</a:t>
            </a:r>
            <a:r>
              <a:rPr lang="zh-CN" sz="825" dirty="0">
                <a:solidFill>
                  <a:srgbClr val="8A8A8A"/>
                </a:solidFill>
                <a:latin typeface="Microsoft YaHei"/>
                <a:ea typeface="Microsoft YaHei"/>
              </a:rPr>
              <a:t>；区间涨跌幅按各指数自身交易日对齐区间首尾；行业对比含医药、新能源、半导体（国证芯片）、中证</a:t>
            </a:r>
            <a:r>
              <a:rPr lang="en-US" sz="825" dirty="0">
                <a:solidFill>
                  <a:srgbClr val="8A8A8A"/>
                </a:solidFill>
                <a:latin typeface="Microsoft YaHei"/>
                <a:ea typeface="Microsoft YaHei"/>
              </a:rPr>
              <a:t>TMT</a:t>
            </a:r>
            <a:r>
              <a:rPr lang="zh-CN" sz="825" dirty="0">
                <a:solidFill>
                  <a:srgbClr val="8A8A8A"/>
                </a:solidFill>
                <a:latin typeface="Microsoft YaHei"/>
                <a:ea typeface="Microsoft YaHei"/>
              </a:rPr>
              <a:t>、黄金</a:t>
            </a:r>
            <a:r>
              <a:rPr lang="en-US" sz="825" dirty="0">
                <a:solidFill>
                  <a:srgbClr val="8A8A8A"/>
                </a:solidFill>
                <a:latin typeface="Microsoft YaHei"/>
                <a:ea typeface="Microsoft YaHei"/>
              </a:rPr>
              <a:t>ETF</a:t>
            </a:r>
            <a:r>
              <a:rPr lang="zh-CN" sz="825" dirty="0">
                <a:solidFill>
                  <a:srgbClr val="8A8A8A"/>
                </a:solidFill>
                <a:latin typeface="Microsoft YaHei"/>
                <a:ea typeface="Microsoft YaHei"/>
              </a:rPr>
              <a:t>、恒生指数、恒生科技、通信</a:t>
            </a:r>
            <a:r>
              <a:rPr lang="zh-CN" sz="825" dirty="0" smtClean="0">
                <a:solidFill>
                  <a:srgbClr val="8A8A8A"/>
                </a:solidFill>
                <a:latin typeface="Microsoft YaHei"/>
                <a:ea typeface="Microsoft YaHei"/>
              </a:rPr>
              <a:t>设备</a:t>
            </a:r>
            <a:r>
              <a:rPr lang="zh-CN" altLang="en-US" sz="825" dirty="0" smtClean="0">
                <a:solidFill>
                  <a:srgbClr val="8A8A8A"/>
                </a:solidFill>
                <a:latin typeface="Microsoft YaHei"/>
                <a:ea typeface="Microsoft YaHei"/>
              </a:rPr>
              <a:t>等行业</a:t>
            </a:r>
            <a:r>
              <a:rPr lang="zh-CN" sz="825" dirty="0" smtClean="0">
                <a:solidFill>
                  <a:srgbClr val="8A8A8A"/>
                </a:solidFill>
                <a:latin typeface="Microsoft YaHei"/>
                <a:ea typeface="Microsoft YaHei"/>
              </a:rPr>
              <a:t>。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矩形 72"/>
          <p:cNvSpPr/>
          <p:nvPr/>
        </p:nvSpPr>
        <p:spPr>
          <a:xfrm>
            <a:off x="533400" y="381000"/>
            <a:ext cx="9207500" cy="431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 sz="2100" b="1" dirty="0">
                <a:solidFill>
                  <a:srgbClr val="061F32"/>
                </a:solidFill>
                <a:latin typeface="Microsoft YaHei"/>
                <a:ea typeface="Microsoft YaHei"/>
              </a:rPr>
              <a:t>守</a:t>
            </a:r>
            <a:r>
              <a:rPr lang="zh-CN" altLang="en-US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正组合构建逻辑：</a:t>
            </a:r>
            <a:r>
              <a:rPr lang="zh-CN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先</a:t>
            </a:r>
            <a:r>
              <a:rPr lang="zh-CN" sz="2100" b="1" dirty="0">
                <a:solidFill>
                  <a:srgbClr val="061F32"/>
                </a:solidFill>
                <a:latin typeface="Microsoft YaHei"/>
                <a:ea typeface="Microsoft YaHei"/>
              </a:rPr>
              <a:t>把贝塔</a:t>
            </a:r>
            <a:r>
              <a:rPr lang="zh-CN" sz="2100" b="1" dirty="0">
                <a:solidFill>
                  <a:srgbClr val="C0392B"/>
                </a:solidFill>
                <a:latin typeface="Microsoft YaHei"/>
                <a:ea typeface="Microsoft YaHei"/>
              </a:rPr>
              <a:t>拆干净</a:t>
            </a:r>
            <a:r>
              <a:rPr lang="zh-CN" sz="2100" b="1" dirty="0">
                <a:solidFill>
                  <a:srgbClr val="061F32"/>
                </a:solidFill>
                <a:latin typeface="Microsoft YaHei"/>
                <a:ea typeface="Microsoft YaHei"/>
              </a:rPr>
              <a:t>，再用指增</a:t>
            </a:r>
            <a:r>
              <a:rPr lang="zh-CN" sz="2100" b="1" dirty="0">
                <a:solidFill>
                  <a:srgbClr val="C0392B"/>
                </a:solidFill>
                <a:latin typeface="Microsoft YaHei"/>
                <a:ea typeface="Microsoft YaHei"/>
              </a:rPr>
              <a:t>赚超额</a:t>
            </a:r>
            <a:endParaRPr/>
          </a:p>
        </p:txBody>
      </p:sp>
      <p:sp>
        <p:nvSpPr>
          <p:cNvPr id="95" name="矩形 74"/>
          <p:cNvSpPr/>
          <p:nvPr/>
        </p:nvSpPr>
        <p:spPr>
          <a:xfrm>
            <a:off x="533400" y="914400"/>
            <a:ext cx="11125200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" name="矩形 75"/>
          <p:cNvSpPr/>
          <p:nvPr/>
        </p:nvSpPr>
        <p:spPr>
          <a:xfrm>
            <a:off x="653562" y="1193800"/>
            <a:ext cx="11125200" cy="84035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pPr>
              <a:lnSpc>
                <a:spcPct val="200000"/>
              </a:lnSpc>
            </a:pPr>
            <a:endParaRPr dirty="0"/>
          </a:p>
        </p:txBody>
      </p:sp>
      <p:sp>
        <p:nvSpPr>
          <p:cNvPr id="97" name="矩形 76"/>
          <p:cNvSpPr/>
          <p:nvPr/>
        </p:nvSpPr>
        <p:spPr>
          <a:xfrm>
            <a:off x="615462" y="1193800"/>
            <a:ext cx="50800" cy="793946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8" name="矩形 77"/>
          <p:cNvSpPr/>
          <p:nvPr/>
        </p:nvSpPr>
        <p:spPr>
          <a:xfrm>
            <a:off x="844062" y="1173675"/>
            <a:ext cx="10058400" cy="687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用沪深</a:t>
            </a:r>
            <a:r>
              <a:rPr lang="en-US" altLang="zh-CN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300/</a:t>
            </a: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中证</a:t>
            </a:r>
            <a:r>
              <a:rPr lang="en-US" altLang="zh-CN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500/</a:t>
            </a: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中证</a:t>
            </a:r>
            <a:r>
              <a:rPr lang="en-US" altLang="zh-CN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1000/</a:t>
            </a: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中证</a:t>
            </a:r>
            <a:r>
              <a:rPr lang="en-US" altLang="zh-CN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2000</a:t>
            </a: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去拟合</a:t>
            </a:r>
            <a:r>
              <a:rPr lang="zh-CN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中</a:t>
            </a:r>
            <a:r>
              <a:rPr lang="zh-CN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证全指 </a:t>
            </a:r>
            <a:r>
              <a:rPr lang="en-US" altLang="zh-CN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β</a:t>
            </a:r>
            <a:r>
              <a:rPr lang="zh-CN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——</a:t>
            </a:r>
            <a:r>
              <a:rPr lang="zh-CN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不择时、不赌风格、不偏离市值结构</a:t>
            </a:r>
            <a:r>
              <a:rPr lang="zh-CN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。</a:t>
            </a:r>
            <a:endParaRPr lang="en-US" altLang="zh-CN" sz="1200" b="1" dirty="0" smtClean="0">
              <a:solidFill>
                <a:srgbClr val="061F32"/>
              </a:solidFill>
              <a:latin typeface="Microsoft YaHei"/>
              <a:ea typeface="Microsoft YaHei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超额全部</a:t>
            </a: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在指数内由</a:t>
            </a:r>
            <a:r>
              <a:rPr lang="zh-CN" altLang="en-US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指</a:t>
            </a: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增赚取</a:t>
            </a:r>
            <a:endParaRPr lang="zh-CN" sz="1200" b="1" dirty="0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99" name="矩形 82"/>
          <p:cNvSpPr/>
          <p:nvPr/>
        </p:nvSpPr>
        <p:spPr>
          <a:xfrm>
            <a:off x="533400" y="6413500"/>
            <a:ext cx="100965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800" dirty="0">
                <a:solidFill>
                  <a:srgbClr val="8A8A8A"/>
                </a:solidFill>
                <a:latin typeface="Microsoft YaHei"/>
                <a:ea typeface="Microsoft YaHei"/>
              </a:rPr>
              <a:t>数据来源</a:t>
            </a:r>
            <a:r>
              <a:rPr lang="zh-CN" sz="800" dirty="0" smtClean="0">
                <a:solidFill>
                  <a:srgbClr val="8A8A8A"/>
                </a:solidFill>
                <a:latin typeface="Microsoft YaHei"/>
                <a:ea typeface="Microsoft YaHei"/>
              </a:rPr>
              <a:t>：落地</a:t>
            </a:r>
            <a:r>
              <a:rPr lang="zh-CN" sz="800" dirty="0">
                <a:solidFill>
                  <a:srgbClr val="8A8A8A"/>
                </a:solidFill>
                <a:latin typeface="Microsoft YaHei"/>
                <a:ea typeface="Microsoft YaHei"/>
              </a:rPr>
              <a:t>权重为权益 95% 口径（另留 5% 现金）；超额空间为 2025 年各档指增相对基准超额的均值区间；回测区间 2020-2025、全收益口径。历史表现不预示未来，不构成投资建议。</a:t>
            </a:r>
            <a:endParaRPr dirty="0"/>
          </a:p>
        </p:txBody>
      </p:sp>
      <p:sp>
        <p:nvSpPr>
          <p:cNvPr id="100" name="矩形 84"/>
          <p:cNvSpPr/>
          <p:nvPr/>
        </p:nvSpPr>
        <p:spPr>
          <a:xfrm>
            <a:off x="446845" y="2259159"/>
            <a:ext cx="2831123" cy="1968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b="1" dirty="0">
                <a:solidFill>
                  <a:srgbClr val="061F32"/>
                </a:solidFill>
                <a:latin typeface="Microsoft YaHei"/>
                <a:ea typeface="Microsoft YaHei"/>
              </a:rPr>
              <a:t>第一步</a:t>
            </a:r>
            <a:r>
              <a:rPr lang="zh-CN" sz="14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14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将中证全指全收益</a:t>
            </a:r>
            <a:r>
              <a:rPr lang="en-US" altLang="zh-CN" sz="14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β</a:t>
            </a:r>
            <a:r>
              <a:rPr lang="zh-CN" altLang="en-US" sz="14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拆分</a:t>
            </a:r>
            <a:endParaRPr lang="zh-CN" sz="1400" b="1" dirty="0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01" name="圆角矩形 85"/>
          <p:cNvSpPr/>
          <p:nvPr/>
        </p:nvSpPr>
        <p:spPr>
          <a:xfrm>
            <a:off x="490807" y="3322149"/>
            <a:ext cx="1333500" cy="1219200"/>
          </a:xfrm>
          <a:prstGeom prst="roundRect">
            <a:avLst>
              <a:gd name="adj" fmla="val 4376"/>
            </a:avLst>
          </a:prstGeom>
          <a:solidFill>
            <a:srgbClr val="061F32"/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02" name="矩形 86"/>
          <p:cNvSpPr/>
          <p:nvPr/>
        </p:nvSpPr>
        <p:spPr>
          <a:xfrm>
            <a:off x="567007" y="3576149"/>
            <a:ext cx="118110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中证全指
全收益
H00985</a:t>
            </a:r>
            <a:endParaRPr/>
          </a:p>
        </p:txBody>
      </p:sp>
      <p:sp>
        <p:nvSpPr>
          <p:cNvPr id="103" name="直接连接符 87"/>
          <p:cNvSpPr/>
          <p:nvPr/>
        </p:nvSpPr>
        <p:spPr>
          <a:xfrm>
            <a:off x="1862407" y="3931749"/>
            <a:ext cx="279400" cy="0"/>
          </a:xfrm>
          <a:prstGeom prst="line">
            <a:avLst/>
          </a:prstGeom>
          <a:noFill/>
          <a:ln w="25400">
            <a:solidFill>
              <a:srgbClr val="061F32"/>
            </a:solidFill>
            <a:prstDash val="solid"/>
            <a:tailEnd type="triangle"/>
          </a:ln>
        </p:spPr>
        <p:txBody>
          <a:bodyPr/>
          <a:lstStyle/>
          <a:p>
            <a:endParaRPr sz="2000"/>
          </a:p>
        </p:txBody>
      </p:sp>
      <p:sp>
        <p:nvSpPr>
          <p:cNvPr id="104" name="矩形 88"/>
          <p:cNvSpPr/>
          <p:nvPr/>
        </p:nvSpPr>
        <p:spPr>
          <a:xfrm>
            <a:off x="526366" y="2705564"/>
            <a:ext cx="1336040" cy="48641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b="1" dirty="0">
                <a:solidFill>
                  <a:srgbClr val="061F32"/>
                </a:solidFill>
                <a:latin typeface="Microsoft YaHei"/>
                <a:ea typeface="Microsoft YaHei"/>
              </a:rPr>
              <a:t>把 beta 按市值占比拆干净（占全指权重 → 落地权重）</a:t>
            </a:r>
            <a:endParaRPr/>
          </a:p>
        </p:txBody>
      </p:sp>
      <p:sp>
        <p:nvSpPr>
          <p:cNvPr id="105" name="矩形 89"/>
          <p:cNvSpPr/>
          <p:nvPr/>
        </p:nvSpPr>
        <p:spPr>
          <a:xfrm>
            <a:off x="2179907" y="2814149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沪深300</a:t>
            </a:r>
            <a:endParaRPr/>
          </a:p>
        </p:txBody>
      </p:sp>
      <p:sp>
        <p:nvSpPr>
          <p:cNvPr id="106" name="矩形 90"/>
          <p:cNvSpPr/>
          <p:nvPr/>
        </p:nvSpPr>
        <p:spPr>
          <a:xfrm>
            <a:off x="2179907" y="3004649"/>
            <a:ext cx="1524000" cy="139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 dirty="0">
                <a:solidFill>
                  <a:srgbClr val="8A8A8A"/>
                </a:solidFill>
                <a:latin typeface="Microsoft YaHei"/>
                <a:ea typeface="Microsoft YaHei"/>
              </a:rPr>
              <a:t>占全指 46.0%</a:t>
            </a:r>
            <a:endParaRPr sz="2000" dirty="0"/>
          </a:p>
        </p:txBody>
      </p:sp>
      <p:sp>
        <p:nvSpPr>
          <p:cNvPr id="107" name="矩形 91"/>
          <p:cNvSpPr/>
          <p:nvPr/>
        </p:nvSpPr>
        <p:spPr>
          <a:xfrm>
            <a:off x="3767407" y="2839549"/>
            <a:ext cx="2194560" cy="2286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08" name="矩形 92"/>
          <p:cNvSpPr/>
          <p:nvPr/>
        </p:nvSpPr>
        <p:spPr>
          <a:xfrm>
            <a:off x="6025467" y="2852249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48%</a:t>
            </a:r>
            <a:endParaRPr/>
          </a:p>
        </p:txBody>
      </p:sp>
      <p:sp>
        <p:nvSpPr>
          <p:cNvPr id="109" name="矩形 93"/>
          <p:cNvSpPr/>
          <p:nvPr/>
        </p:nvSpPr>
        <p:spPr>
          <a:xfrm>
            <a:off x="2179907" y="3423749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中证500</a:t>
            </a:r>
            <a:endParaRPr/>
          </a:p>
        </p:txBody>
      </p:sp>
      <p:sp>
        <p:nvSpPr>
          <p:cNvPr id="110" name="矩形 94"/>
          <p:cNvSpPr/>
          <p:nvPr/>
        </p:nvSpPr>
        <p:spPr>
          <a:xfrm>
            <a:off x="2179907" y="3614249"/>
            <a:ext cx="1524000" cy="139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占全指 17.5%</a:t>
            </a:r>
            <a:endParaRPr sz="2000"/>
          </a:p>
        </p:txBody>
      </p:sp>
      <p:sp>
        <p:nvSpPr>
          <p:cNvPr id="111" name="矩形 95"/>
          <p:cNvSpPr/>
          <p:nvPr/>
        </p:nvSpPr>
        <p:spPr>
          <a:xfrm>
            <a:off x="3767407" y="3449149"/>
            <a:ext cx="822960" cy="228600"/>
          </a:xfrm>
          <a:prstGeom prst="rect">
            <a:avLst/>
          </a:prstGeom>
          <a:solidFill>
            <a:srgbClr val="061F32">
              <a:alpha val="70000"/>
            </a:srgbClr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12" name="矩形 96"/>
          <p:cNvSpPr/>
          <p:nvPr/>
        </p:nvSpPr>
        <p:spPr>
          <a:xfrm>
            <a:off x="4653867" y="3461849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18%</a:t>
            </a:r>
            <a:endParaRPr/>
          </a:p>
        </p:txBody>
      </p:sp>
      <p:sp>
        <p:nvSpPr>
          <p:cNvPr id="113" name="矩形 97"/>
          <p:cNvSpPr/>
          <p:nvPr/>
        </p:nvSpPr>
        <p:spPr>
          <a:xfrm>
            <a:off x="2179907" y="4033349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中证1000</a:t>
            </a:r>
            <a:endParaRPr/>
          </a:p>
        </p:txBody>
      </p:sp>
      <p:sp>
        <p:nvSpPr>
          <p:cNvPr id="114" name="矩形 98"/>
          <p:cNvSpPr/>
          <p:nvPr/>
        </p:nvSpPr>
        <p:spPr>
          <a:xfrm>
            <a:off x="2179907" y="4223849"/>
            <a:ext cx="1524000" cy="139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占全指 15.6%</a:t>
            </a:r>
            <a:endParaRPr sz="2000"/>
          </a:p>
        </p:txBody>
      </p:sp>
      <p:sp>
        <p:nvSpPr>
          <p:cNvPr id="115" name="矩形 99"/>
          <p:cNvSpPr/>
          <p:nvPr/>
        </p:nvSpPr>
        <p:spPr>
          <a:xfrm>
            <a:off x="3767407" y="4058749"/>
            <a:ext cx="731520" cy="228600"/>
          </a:xfrm>
          <a:prstGeom prst="rect">
            <a:avLst/>
          </a:prstGeom>
          <a:solidFill>
            <a:srgbClr val="061F32">
              <a:alpha val="60000"/>
            </a:srgbClr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16" name="矩形 100"/>
          <p:cNvSpPr/>
          <p:nvPr/>
        </p:nvSpPr>
        <p:spPr>
          <a:xfrm>
            <a:off x="4562427" y="4071449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16%</a:t>
            </a:r>
            <a:endParaRPr/>
          </a:p>
        </p:txBody>
      </p:sp>
      <p:sp>
        <p:nvSpPr>
          <p:cNvPr id="117" name="矩形 101"/>
          <p:cNvSpPr/>
          <p:nvPr/>
        </p:nvSpPr>
        <p:spPr>
          <a:xfrm>
            <a:off x="2179907" y="4642949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b="1" dirty="0">
                <a:solidFill>
                  <a:srgbClr val="061F32"/>
                </a:solidFill>
                <a:latin typeface="Microsoft YaHei"/>
                <a:ea typeface="Microsoft YaHei"/>
              </a:rPr>
              <a:t>中证</a:t>
            </a:r>
            <a:r>
              <a:rPr lang="zh-CN" sz="105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2000</a:t>
            </a:r>
            <a:r>
              <a:rPr lang="en-US" altLang="zh-CN" sz="105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+</a:t>
            </a:r>
            <a:r>
              <a:rPr lang="zh-CN" altLang="en-US" sz="105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微盘</a:t>
            </a:r>
            <a:endParaRPr lang="zh-CN" sz="1050" b="1" dirty="0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18" name="矩形 102"/>
          <p:cNvSpPr/>
          <p:nvPr/>
        </p:nvSpPr>
        <p:spPr>
          <a:xfrm>
            <a:off x="2179907" y="4833449"/>
            <a:ext cx="1524000" cy="139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占全指 12.9%</a:t>
            </a:r>
            <a:endParaRPr sz="2000"/>
          </a:p>
        </p:txBody>
      </p:sp>
      <p:sp>
        <p:nvSpPr>
          <p:cNvPr id="119" name="矩形 103"/>
          <p:cNvSpPr/>
          <p:nvPr/>
        </p:nvSpPr>
        <p:spPr>
          <a:xfrm>
            <a:off x="3767407" y="4668349"/>
            <a:ext cx="594360" cy="228600"/>
          </a:xfrm>
          <a:prstGeom prst="rect">
            <a:avLst/>
          </a:prstGeom>
          <a:solidFill>
            <a:srgbClr val="061F32">
              <a:alpha val="50000"/>
            </a:srgbClr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20" name="矩形 104"/>
          <p:cNvSpPr/>
          <p:nvPr/>
        </p:nvSpPr>
        <p:spPr>
          <a:xfrm>
            <a:off x="4425267" y="4681049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13%</a:t>
            </a:r>
            <a:endParaRPr/>
          </a:p>
        </p:txBody>
      </p:sp>
      <p:sp>
        <p:nvSpPr>
          <p:cNvPr id="121" name="直接连接符 106"/>
          <p:cNvSpPr/>
          <p:nvPr/>
        </p:nvSpPr>
        <p:spPr>
          <a:xfrm>
            <a:off x="6536007" y="3931749"/>
            <a:ext cx="279400" cy="0"/>
          </a:xfrm>
          <a:prstGeom prst="line">
            <a:avLst/>
          </a:prstGeom>
          <a:noFill/>
          <a:ln w="25400">
            <a:solidFill>
              <a:srgbClr val="061F32"/>
            </a:solidFill>
            <a:prstDash val="solid"/>
            <a:tailEnd type="triangle"/>
          </a:ln>
        </p:spPr>
        <p:txBody>
          <a:bodyPr/>
          <a:lstStyle/>
          <a:p>
            <a:endParaRPr sz="2000"/>
          </a:p>
        </p:txBody>
      </p:sp>
      <p:sp>
        <p:nvSpPr>
          <p:cNvPr id="122" name="矩形 108"/>
          <p:cNvSpPr/>
          <p:nvPr/>
        </p:nvSpPr>
        <p:spPr>
          <a:xfrm>
            <a:off x="6917007" y="2814149"/>
            <a:ext cx="1841500" cy="190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大盘 · 沪深300增强</a:t>
            </a:r>
            <a:endParaRPr/>
          </a:p>
        </p:txBody>
      </p:sp>
      <p:sp>
        <p:nvSpPr>
          <p:cNvPr id="123" name="矩形 109"/>
          <p:cNvSpPr/>
          <p:nvPr/>
        </p:nvSpPr>
        <p:spPr>
          <a:xfrm>
            <a:off x="8783907" y="2852249"/>
            <a:ext cx="289559" cy="203200"/>
          </a:xfrm>
          <a:prstGeom prst="rect">
            <a:avLst/>
          </a:prstGeom>
          <a:solidFill>
            <a:srgbClr val="061F32">
              <a:alpha val="50000"/>
            </a:srgbClr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24" name="矩形 110"/>
          <p:cNvSpPr/>
          <p:nvPr/>
        </p:nvSpPr>
        <p:spPr>
          <a:xfrm>
            <a:off x="9136967" y="2839549"/>
            <a:ext cx="2373532" cy="26611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 dirty="0">
                <a:latin typeface="Microsoft YaHei"/>
                <a:ea typeface="Microsoft YaHei"/>
              </a:rPr>
              <a:t>1.3~2.5</a:t>
            </a:r>
            <a:r>
              <a:rPr lang="zh-CN" sz="1000" dirty="0" smtClean="0">
                <a:latin typeface="Microsoft YaHei"/>
                <a:ea typeface="Microsoft YaHei"/>
              </a:rPr>
              <a:t>%</a:t>
            </a:r>
            <a:r>
              <a:rPr lang="zh-CN" altLang="en-US" sz="1000" dirty="0" smtClean="0">
                <a:latin typeface="Microsoft YaHei"/>
                <a:ea typeface="Microsoft YaHei"/>
              </a:rPr>
              <a:t>（同类指增产品超额超额）</a:t>
            </a:r>
            <a:endParaRPr sz="2000" dirty="0"/>
          </a:p>
        </p:txBody>
      </p:sp>
      <p:sp>
        <p:nvSpPr>
          <p:cNvPr id="125" name="矩形 111"/>
          <p:cNvSpPr/>
          <p:nvPr/>
        </p:nvSpPr>
        <p:spPr>
          <a:xfrm>
            <a:off x="6917007" y="3423749"/>
            <a:ext cx="1841500" cy="190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中盘 · 中证500增强</a:t>
            </a:r>
            <a:endParaRPr/>
          </a:p>
        </p:txBody>
      </p:sp>
      <p:sp>
        <p:nvSpPr>
          <p:cNvPr id="126" name="矩形 112"/>
          <p:cNvSpPr/>
          <p:nvPr/>
        </p:nvSpPr>
        <p:spPr>
          <a:xfrm>
            <a:off x="8783907" y="3461849"/>
            <a:ext cx="213359" cy="203200"/>
          </a:xfrm>
          <a:prstGeom prst="rect">
            <a:avLst/>
          </a:prstGeom>
          <a:solidFill>
            <a:srgbClr val="061F32">
              <a:alpha val="50000"/>
            </a:srgbClr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27" name="矩形 113"/>
          <p:cNvSpPr/>
          <p:nvPr/>
        </p:nvSpPr>
        <p:spPr>
          <a:xfrm>
            <a:off x="9060767" y="3449149"/>
            <a:ext cx="2171700" cy="215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 dirty="0" smtClean="0">
                <a:latin typeface="Microsoft YaHei"/>
                <a:ea typeface="Microsoft YaHei"/>
              </a:rPr>
              <a:t>0.7~2.1%</a:t>
            </a:r>
            <a:r>
              <a:rPr lang="zh-CN" altLang="en-US" sz="1000" dirty="0">
                <a:latin typeface="Microsoft YaHei"/>
                <a:ea typeface="Microsoft YaHei"/>
              </a:rPr>
              <a:t>（同类指增产品超额超额）</a:t>
            </a:r>
            <a:endParaRPr/>
          </a:p>
          <a:p>
            <a:endParaRPr sz="2000" dirty="0"/>
          </a:p>
        </p:txBody>
      </p:sp>
      <p:sp>
        <p:nvSpPr>
          <p:cNvPr id="128" name="矩形 114"/>
          <p:cNvSpPr/>
          <p:nvPr/>
        </p:nvSpPr>
        <p:spPr>
          <a:xfrm>
            <a:off x="6917007" y="4033349"/>
            <a:ext cx="1841500" cy="190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小盘 · 中证1000增强</a:t>
            </a:r>
            <a:endParaRPr/>
          </a:p>
        </p:txBody>
      </p:sp>
      <p:sp>
        <p:nvSpPr>
          <p:cNvPr id="129" name="矩形 115"/>
          <p:cNvSpPr/>
          <p:nvPr/>
        </p:nvSpPr>
        <p:spPr>
          <a:xfrm>
            <a:off x="8783907" y="4071449"/>
            <a:ext cx="1242060" cy="20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30" name="矩形 116"/>
          <p:cNvSpPr/>
          <p:nvPr/>
        </p:nvSpPr>
        <p:spPr>
          <a:xfrm>
            <a:off x="10089467" y="4058749"/>
            <a:ext cx="1421032" cy="279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 dirty="0">
                <a:solidFill>
                  <a:srgbClr val="C0392B"/>
                </a:solidFill>
                <a:latin typeface="Microsoft YaHei"/>
                <a:ea typeface="Microsoft YaHei"/>
              </a:rPr>
              <a:t>7~9.3%</a:t>
            </a:r>
            <a:r>
              <a:rPr lang="zh-CN" sz="1000" dirty="0" smtClean="0">
                <a:solidFill>
                  <a:srgbClr val="C0392B"/>
                </a:solidFill>
                <a:latin typeface="Microsoft YaHei"/>
                <a:ea typeface="Microsoft YaHei"/>
              </a:rPr>
              <a:t>（</a:t>
            </a:r>
            <a:r>
              <a:rPr lang="zh-CN" altLang="en-US" sz="1000" dirty="0">
                <a:solidFill>
                  <a:srgbClr val="C0392B"/>
                </a:solidFill>
                <a:latin typeface="Microsoft YaHei"/>
                <a:ea typeface="Microsoft YaHei"/>
              </a:rPr>
              <a:t>（同类指增产品超额超额）</a:t>
            </a:r>
            <a:endParaRPr/>
          </a:p>
          <a:p>
            <a:r>
              <a:rPr lang="zh-CN" sz="1000" dirty="0" smtClean="0">
                <a:solidFill>
                  <a:srgbClr val="C0392B"/>
                </a:solidFill>
                <a:latin typeface="Microsoft YaHei"/>
                <a:ea typeface="Microsoft YaHei"/>
              </a:rPr>
              <a:t>）</a:t>
            </a:r>
            <a:endParaRPr sz="2000" dirty="0"/>
          </a:p>
        </p:txBody>
      </p:sp>
      <p:sp>
        <p:nvSpPr>
          <p:cNvPr id="131" name="矩形 117"/>
          <p:cNvSpPr/>
          <p:nvPr/>
        </p:nvSpPr>
        <p:spPr>
          <a:xfrm>
            <a:off x="6917007" y="4642949"/>
            <a:ext cx="1841500" cy="190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微盘 · 中证2000增强</a:t>
            </a:r>
            <a:endParaRPr/>
          </a:p>
        </p:txBody>
      </p:sp>
      <p:sp>
        <p:nvSpPr>
          <p:cNvPr id="132" name="矩形 118"/>
          <p:cNvSpPr/>
          <p:nvPr/>
        </p:nvSpPr>
        <p:spPr>
          <a:xfrm>
            <a:off x="8783907" y="4681049"/>
            <a:ext cx="1600200" cy="20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33" name="矩形 119"/>
          <p:cNvSpPr/>
          <p:nvPr/>
        </p:nvSpPr>
        <p:spPr>
          <a:xfrm>
            <a:off x="10447607" y="4668349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 dirty="0">
                <a:solidFill>
                  <a:srgbClr val="C0392B"/>
                </a:solidFill>
                <a:latin typeface="Microsoft YaHei"/>
                <a:ea typeface="Microsoft YaHei"/>
              </a:rPr>
              <a:t>10%+</a:t>
            </a:r>
            <a:r>
              <a:rPr lang="zh-CN" sz="1000" dirty="0" smtClean="0">
                <a:solidFill>
                  <a:srgbClr val="C0392B"/>
                </a:solidFill>
                <a:latin typeface="Microsoft YaHei"/>
                <a:ea typeface="Microsoft YaHei"/>
              </a:rPr>
              <a:t>（</a:t>
            </a:r>
            <a:r>
              <a:rPr lang="zh-CN" altLang="en-US" sz="1000" dirty="0">
                <a:solidFill>
                  <a:srgbClr val="C0392B"/>
                </a:solidFill>
                <a:latin typeface="Microsoft YaHei"/>
                <a:ea typeface="Microsoft YaHei"/>
              </a:rPr>
              <a:t>（同类指增产品超额超额</a:t>
            </a:r>
            <a:r>
              <a:rPr lang="zh-CN" altLang="en-US" sz="1000" dirty="0" smtClean="0">
                <a:solidFill>
                  <a:srgbClr val="C0392B"/>
                </a:solidFill>
                <a:latin typeface="Microsoft YaHei"/>
                <a:ea typeface="Microsoft YaHei"/>
              </a:rPr>
              <a:t>）</a:t>
            </a:r>
            <a:endParaRPr lang="zh-CN" altLang="en-US" sz="1000" dirty="0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34" name="矩形 121"/>
          <p:cNvSpPr/>
          <p:nvPr/>
        </p:nvSpPr>
        <p:spPr>
          <a:xfrm>
            <a:off x="539262" y="5507503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「</a:t>
            </a:r>
            <a:r>
              <a:rPr lang="zh-CN" altLang="en-US" sz="9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市值保持中性</a:t>
            </a:r>
            <a:r>
              <a:rPr lang="zh-CN" sz="9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」</a:t>
            </a:r>
            <a:r>
              <a:rPr lang="zh-CN" sz="900" b="1" dirty="0">
                <a:solidFill>
                  <a:srgbClr val="061F32"/>
                </a:solidFill>
                <a:latin typeface="Microsoft YaHei"/>
                <a:ea typeface="Microsoft YaHei"/>
              </a:rPr>
              <a:t>：</a:t>
            </a:r>
            <a:r>
              <a:rPr lang="zh-CN" sz="900" dirty="0">
                <a:latin typeface="Microsoft YaHei"/>
                <a:ea typeface="Microsoft YaHei"/>
              </a:rPr>
              <a:t>指增保持对基准指数的跟踪，不改变市值加权结构（不偏离 beta），只在每档内部通过量化选股多赚一点——风险最低、最「守正」的超额方式。</a:t>
            </a:r>
            <a:endParaRPr/>
          </a:p>
        </p:txBody>
      </p:sp>
      <p:sp>
        <p:nvSpPr>
          <p:cNvPr id="135" name="矩形 122"/>
          <p:cNvSpPr/>
          <p:nvPr/>
        </p:nvSpPr>
        <p:spPr>
          <a:xfrm>
            <a:off x="539262" y="5938279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 dirty="0" smtClean="0">
                <a:latin typeface="Microsoft YaHei"/>
                <a:ea typeface="Microsoft YaHei"/>
              </a:rPr>
              <a:t>「</a:t>
            </a:r>
            <a:r>
              <a:rPr lang="zh-CN" sz="900" b="1" dirty="0">
                <a:solidFill>
                  <a:srgbClr val="061F32"/>
                </a:solidFill>
                <a:latin typeface="Microsoft YaHei"/>
                <a:ea typeface="Microsoft YaHei"/>
              </a:rPr>
              <a:t>等</a:t>
            </a:r>
            <a:r>
              <a:rPr lang="zh-CN" sz="9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权</a:t>
            </a:r>
            <a:r>
              <a:rPr lang="zh-CN" altLang="en-US" sz="9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更</a:t>
            </a:r>
            <a:r>
              <a:rPr lang="zh-CN" sz="9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偏</a:t>
            </a:r>
            <a:r>
              <a:rPr lang="zh-CN" sz="900" b="1" dirty="0">
                <a:solidFill>
                  <a:srgbClr val="061F32"/>
                </a:solidFill>
                <a:latin typeface="Microsoft YaHei"/>
                <a:ea typeface="Microsoft YaHei"/>
              </a:rPr>
              <a:t>小盘</a:t>
            </a:r>
            <a:r>
              <a:rPr lang="zh-CN" sz="9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」</a:t>
            </a:r>
            <a:r>
              <a:rPr lang="zh-CN" altLang="en-US" sz="9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900" dirty="0" smtClean="0">
                <a:latin typeface="Microsoft YaHei"/>
                <a:ea typeface="Microsoft YaHei"/>
              </a:rPr>
              <a:t>相对四指数等权</a:t>
            </a:r>
            <a:r>
              <a:rPr lang="zh-CN" sz="900" dirty="0" smtClean="0">
                <a:latin typeface="Microsoft YaHei"/>
                <a:ea typeface="Microsoft YaHei"/>
              </a:rPr>
              <a:t>版本</a:t>
            </a:r>
            <a:r>
              <a:rPr lang="zh-CN" sz="900" dirty="0">
                <a:latin typeface="Microsoft YaHei"/>
                <a:ea typeface="Microsoft YaHei"/>
              </a:rPr>
              <a:t>的表面超额在全收益口径</a:t>
            </a:r>
            <a:r>
              <a:rPr lang="zh-CN" sz="900" dirty="0" smtClean="0">
                <a:latin typeface="Microsoft YaHei"/>
                <a:ea typeface="Microsoft YaHei"/>
              </a:rPr>
              <a:t>下</a:t>
            </a:r>
            <a:r>
              <a:rPr lang="zh-CN" altLang="en-US" sz="900" dirty="0" smtClean="0">
                <a:latin typeface="Microsoft YaHei"/>
                <a:ea typeface="Microsoft YaHei"/>
              </a:rPr>
              <a:t>有一定缩水，但由于等权配置下小市值敞口明显放大</a:t>
            </a:r>
            <a:r>
              <a:rPr lang="en-US" altLang="zh-CN" sz="900" dirty="0" smtClean="0">
                <a:latin typeface="Microsoft YaHei"/>
                <a:ea typeface="Microsoft YaHei"/>
              </a:rPr>
              <a:t>——</a:t>
            </a:r>
            <a:r>
              <a:rPr lang="zh-CN" sz="900" dirty="0" smtClean="0">
                <a:latin typeface="Microsoft YaHei"/>
                <a:ea typeface="Microsoft YaHei"/>
              </a:rPr>
              <a:t>超额</a:t>
            </a:r>
            <a:r>
              <a:rPr lang="zh-CN" sz="900" dirty="0">
                <a:latin typeface="Microsoft YaHei"/>
                <a:ea typeface="Microsoft YaHei"/>
              </a:rPr>
              <a:t>要靠指增赚，而不是靠偏离市值结构。</a:t>
            </a:r>
            <a:endParaRPr/>
          </a:p>
        </p:txBody>
      </p:sp>
      <p:sp>
        <p:nvSpPr>
          <p:cNvPr id="136" name="矩形 54"/>
          <p:cNvSpPr/>
          <p:nvPr/>
        </p:nvSpPr>
        <p:spPr>
          <a:xfrm>
            <a:off x="6917007" y="2223453"/>
            <a:ext cx="3579055" cy="28829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第</a:t>
            </a:r>
            <a:r>
              <a:rPr lang="zh-CN" altLang="en-US" sz="1400" b="1" dirty="0">
                <a:solidFill>
                  <a:srgbClr val="061F32"/>
                </a:solidFill>
                <a:latin typeface="Microsoft YaHei"/>
                <a:ea typeface="Microsoft YaHei"/>
              </a:rPr>
              <a:t>二</a:t>
            </a:r>
            <a:r>
              <a:rPr lang="zh-CN" sz="14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步：</a:t>
            </a:r>
            <a:r>
              <a:rPr lang="zh-CN" altLang="en-US" sz="14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用指增基金替代被动，赚取超额</a:t>
            </a:r>
            <a:r>
              <a:rPr lang="en-US" altLang="zh-CN" sz="14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α</a:t>
            </a:r>
            <a:endParaRPr lang="zh-CN" sz="1400" b="1" dirty="0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72"/>
          <p:cNvSpPr/>
          <p:nvPr/>
        </p:nvSpPr>
        <p:spPr>
          <a:xfrm>
            <a:off x="533400" y="381000"/>
            <a:ext cx="9207500" cy="431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守正组合模拟回测</a:t>
            </a:r>
            <a:endParaRPr lang="zh-CN" sz="2100" b="1" dirty="0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39" name="矩形 74"/>
          <p:cNvSpPr/>
          <p:nvPr/>
        </p:nvSpPr>
        <p:spPr>
          <a:xfrm>
            <a:off x="533400" y="914400"/>
            <a:ext cx="11125200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140" name="表格 8"/>
          <p:cNvGraphicFramePr>
            <a:graphicFrameLocks noGrp="1"/>
          </p:cNvGraphicFramePr>
          <p:nvPr/>
        </p:nvGraphicFramePr>
        <p:xfrm>
          <a:off x="7637334" y="1310331"/>
          <a:ext cx="4051300" cy="1587500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/>
                  </a:extLst>
                </a:gridCol>
                <a:gridCol w="1117600">
                  <a:extLst>
                    <a:ext uri="{9D8B030D-6E8A-4147-A177-3AD203B41FA5}"/>
                  </a:extLst>
                </a:gridCol>
                <a:gridCol w="1117600">
                  <a:extLst>
                    <a:ext uri="{9D8B030D-6E8A-4147-A177-3AD203B41FA5}"/>
                  </a:extLst>
                </a:gridCol>
                <a:gridCol w="1117600">
                  <a:extLst>
                    <a:ext uri="{9D8B030D-6E8A-4147-A177-3AD203B41FA5}"/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组合年度收益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中证全指全收益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超额收益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extLst>
                  <a:ext uri="{0D108BD9-81ED-4DB2-BD59-A6C34878D82A}"/>
                </a:extLst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  <a:endParaRPr/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27.07%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24.89%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2.19%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  <a:endParaRPr/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7.70%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7.70%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r>
                        <a:rPr lang="en-US" altLang="zh-C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  <a:endParaRPr/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1E844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-16.53%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1E844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-18.93%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2.39%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endParaRPr/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1E844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-3.99%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1E844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-5.34%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1.36%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  <a:endParaRPr/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12.00%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9.98%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2.02%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endParaRPr/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27.24%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27.03%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0.21%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2026YTD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1.59%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1E844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-3.31%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4.90%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graphicFrame>
        <p:nvGraphicFramePr>
          <p:cNvPr id="141" name="表格 9"/>
          <p:cNvGraphicFramePr>
            <a:graphicFrameLocks noGrp="1"/>
          </p:cNvGraphicFramePr>
          <p:nvPr/>
        </p:nvGraphicFramePr>
        <p:xfrm>
          <a:off x="7637334" y="3280846"/>
          <a:ext cx="4051300" cy="2304405"/>
        </p:xfrm>
        <a:graphic>
          <a:graphicData uri="http://schemas.openxmlformats.org/drawingml/2006/table">
            <a:tbl>
              <a:tblPr/>
              <a:tblGrid>
                <a:gridCol w="1429871">
                  <a:extLst>
                    <a:ext uri="{9D8B030D-6E8A-4147-A177-3AD203B41FA5}"/>
                  </a:extLst>
                </a:gridCol>
                <a:gridCol w="1072403">
                  <a:extLst>
                    <a:ext uri="{9D8B030D-6E8A-4147-A177-3AD203B41FA5}"/>
                  </a:extLst>
                </a:gridCol>
                <a:gridCol w="1549026">
                  <a:extLst>
                    <a:ext uri="{9D8B030D-6E8A-4147-A177-3AD203B41FA5}"/>
                  </a:extLst>
                </a:gridCol>
              </a:tblGrid>
              <a:tr h="29768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守正组合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中证全指全收益</a:t>
                      </a:r>
                      <a:endParaRPr lang="en-US" altLang="zh-CN" sz="11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extLst>
                  <a:ext uri="{0D108BD9-81ED-4DB2-BD59-A6C34878D82A}"/>
                </a:extLst>
              </a:tr>
              <a:tr h="27964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回测区间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2020-01-02 ~ 2026-09-30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/>
                </a:extLst>
              </a:tr>
              <a:tr h="27964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累计收益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58.79%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39.43%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964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年化收益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7.38%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5.25%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964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年化波动率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18.04%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20.33%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964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区间最大回撤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-32.13%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-37.14%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3288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夏普比率(无风险0%)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0.41</a:t>
                      </a:r>
                      <a:endParaRPr lang="en-US" altLang="zh-CN" sz="105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  <a:tr h="27964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动平衡次数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endParaRPr/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142" name="TextBox 8"/>
          <p:cNvSpPr txBox="1"/>
          <p:nvPr/>
        </p:nvSpPr>
        <p:spPr>
          <a:xfrm>
            <a:off x="473143" y="5968266"/>
            <a:ext cx="1143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/>
              <a:t>注：统计区间为2020年1月2日-2026年9月30日（日频）。计算夏普比例时，无风险收益按0%计。组合收益按年化1%费率逐日计提扣除。基金成立前用跟踪指数（价格指数）涨跌代替，成立后接续基金净值。季度末再平衡，未计交易费用。基准为中证全指全收益指数。</a:t>
            </a:r>
            <a:endParaRPr/>
          </a:p>
        </p:txBody>
      </p:sp>
      <p:pic>
        <p:nvPicPr>
          <p:cNvPr id="143" name="Picture 75" descr="守正组合_净值对比图_全收益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6" y="1362776"/>
            <a:ext cx="7223760" cy="39437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4"/>
          <p:cNvSpPr/>
          <p:nvPr/>
        </p:nvSpPr>
        <p:spPr>
          <a:xfrm>
            <a:off x="649224" y="1109003"/>
            <a:ext cx="10607040" cy="7315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6个完整年度有4年为正收益。最高年度收益27.24%，最低年度收益-16.53%，年化收益率7.38%。</a:t>
            </a:r>
            <a:endParaRPr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81个完整月度录得45个月(55.6%)正收益。最高月度收益18.15%，最低月度收益-9.99%，平均月度收益0.69%</a:t>
            </a:r>
            <a:endParaRPr/>
          </a:p>
        </p:txBody>
      </p:sp>
      <p:graphicFrame>
        <p:nvGraphicFramePr>
          <p:cNvPr id="146" name="Table 5"/>
          <p:cNvGraphicFramePr>
            <a:graphicFrameLocks noGrp="1"/>
          </p:cNvGraphicFramePr>
          <p:nvPr/>
        </p:nvGraphicFramePr>
        <p:xfrm>
          <a:off x="256032" y="2130256"/>
          <a:ext cx="11740896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822960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822960">
                  <a:extLst>
                    <a:ext uri="{9D8B030D-6E8A-4147-A177-3AD203B41FA5}"/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  <a:endParaRPr sz="105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1月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2月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3月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4月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微软雅黑"/>
                        </a:rPr>
                        <a:t>5月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6月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7月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8月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微软雅黑"/>
                        </a:rPr>
                        <a:t>9月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10月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11月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微软雅黑"/>
                        </a:rPr>
                        <a:t>12月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年收益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月胜率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最大回撤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2020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-1.13%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0.61%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-5.76%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5.04%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0.53%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8.83%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13.95%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3.13%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-5.40%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0.48%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3.15%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2.37%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27.07%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75.00%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-13.50%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2021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-0.04%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-0.11%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-1.90%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1.35%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4.24%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1.08%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-2.89%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4.36%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-1.37%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-0.43%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2.71%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0.74%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7.70%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50.00%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-9.49%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2022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-8.26%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3.07%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-6.65%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-8.81%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5.11%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9.71%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-2.42%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-2.47%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-6.70%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-2.88%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6.72%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-2.29%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449"/>
                          </a:solidFill>
                          <a:latin typeface="微软雅黑"/>
                        </a:rPr>
                        <a:t>-16.53%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33.33%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-23.97%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2023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6.71%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0.30%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-1.19%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-1.28%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-2.96%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1.88%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2.09%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-4.62%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-0.63%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-2.90%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0.78%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-1.75%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449"/>
                          </a:solidFill>
                          <a:latin typeface="微软雅黑"/>
                        </a:rPr>
                        <a:t>-3.99%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41.67%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-14.18%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2024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-8.73%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7.78%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1.06%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1.75%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-0.42%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-3.90%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-0.82%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-2.77%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18.15%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-0.68%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1.81%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0.43%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12.00%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50.00%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-13.15%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2025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-1.25%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2.84%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1.28%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-2.42%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2.52%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4.42%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4.72%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8.75%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2.06%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0.56%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-2.10%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3.51%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27.24%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75.00%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-11.45%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2026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5.90%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1.88%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-7.89%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7.64%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0.15%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2.77%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-9.99%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7.15%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-4.33%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1.59%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66.67%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-12.90%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dirty="0" err="1">
                          <a:solidFill>
                            <a:srgbClr val="2C2C2A"/>
                          </a:solidFill>
                          <a:latin typeface="微软雅黑"/>
                        </a:rPr>
                        <a:t>成立以来</a:t>
                      </a:r>
                      <a:endParaRPr sz="1050" dirty="0">
                        <a:solidFill>
                          <a:srgbClr val="2C2C2A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58.79%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55.56%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2C2C2A"/>
                          </a:solidFill>
                          <a:latin typeface="微软雅黑"/>
                        </a:rPr>
                        <a:t>-32.13%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147" name="TextBox 8"/>
          <p:cNvSpPr txBox="1"/>
          <p:nvPr/>
        </p:nvSpPr>
        <p:spPr>
          <a:xfrm>
            <a:off x="502920" y="6031931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/>
              <a:t>注：统计区间为2020年1月2日-2026年9月30日（日频）。计算夏普比例时，无风险收益按0%计。组合收益按年化1%费率逐日计提扣除。基金成立前用跟踪指数（价格指数）涨跌代替，成立后接续基金净值。季度末再平衡</a:t>
            </a:r>
            <a:r>
              <a:rPr sz="1200" dirty="0" smtClean="0"/>
              <a:t>，基准为中证全指全收益指数</a:t>
            </a:r>
            <a:r>
              <a:rPr sz="1200" dirty="0"/>
              <a:t>。</a:t>
            </a:r>
            <a:endParaRPr/>
          </a:p>
        </p:txBody>
      </p:sp>
      <p:sp>
        <p:nvSpPr>
          <p:cNvPr id="148" name="矩形 7"/>
          <p:cNvSpPr/>
          <p:nvPr/>
        </p:nvSpPr>
        <p:spPr>
          <a:xfrm>
            <a:off x="533400" y="381000"/>
            <a:ext cx="9207500" cy="431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守正组合模拟回测：月度绝对收益</a:t>
            </a:r>
            <a:endParaRPr lang="zh-CN" sz="2100" b="1" dirty="0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49" name="矩形 9"/>
          <p:cNvSpPr/>
          <p:nvPr/>
        </p:nvSpPr>
        <p:spPr>
          <a:xfrm>
            <a:off x="533400" y="914400"/>
            <a:ext cx="11125200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4"/>
          <p:cNvSpPr/>
          <p:nvPr/>
        </p:nvSpPr>
        <p:spPr>
          <a:xfrm>
            <a:off x="649224" y="1027332"/>
            <a:ext cx="11009376" cy="7315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81个完整月度录得47个月(58.0%)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超额为正（vs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中证全指全收益</a:t>
            </a: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）。最高月度超额3.64%，最低月度超额-4.07%，平均月度超额0.13%。</a:t>
            </a:r>
            <a:endParaRPr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7个年度中6个年度为正超额。累计超额13.88pct，年化超额2.02pct，月度超额胜率58.0%。</a:t>
            </a:r>
            <a:endParaRPr/>
          </a:p>
        </p:txBody>
      </p:sp>
      <p:graphicFrame>
        <p:nvGraphicFramePr>
          <p:cNvPr id="152" name="Table 5"/>
          <p:cNvGraphicFramePr>
            <a:graphicFrameLocks noGrp="1"/>
          </p:cNvGraphicFramePr>
          <p:nvPr/>
        </p:nvGraphicFramePr>
        <p:xfrm>
          <a:off x="256032" y="2053188"/>
          <a:ext cx="11740896" cy="3630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822960">
                  <a:extLst>
                    <a:ext uri="{9D8B030D-6E8A-4147-A177-3AD203B41FA5}"/>
                  </a:extLst>
                </a:gridCol>
                <a:gridCol w="713232">
                  <a:extLst>
                    <a:ext uri="{9D8B030D-6E8A-4147-A177-3AD203B41FA5}"/>
                  </a:extLst>
                </a:gridCol>
                <a:gridCol w="822960">
                  <a:extLst>
                    <a:ext uri="{9D8B030D-6E8A-4147-A177-3AD203B41FA5}"/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  <a:endParaRPr sz="105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1月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2月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3月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4月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5月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6月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7月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8月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微软雅黑"/>
                        </a:rPr>
                        <a:t>9月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10月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11月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微软雅黑"/>
                        </a:rPr>
                        <a:t>12月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年超额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超额月胜率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超额最大回撤</a:t>
                      </a:r>
                      <a:endParaRPr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2020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0.68%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0.52%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0.71%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-0.32%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-0.02%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0.25%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0.54%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0.88%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0.64%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-0.53%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-0.88%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-0.78%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2.19%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58.33%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-2.11%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2021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0.07%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-0.15%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1.37%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-0.77%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-0.71%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0.16%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0.55%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1.51%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1E8449"/>
                          </a:solidFill>
                          <a:latin typeface="微软雅黑"/>
                        </a:rPr>
                        <a:t>-0.76%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-0.77%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0.06%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-0.59%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-0.00%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50.00%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-3.03%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2022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1.19%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0.32%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0.91%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0.63%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-0.65%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-0.11%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0.38%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0.43%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0.95%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-0.08%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-1.24%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-0.29%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449"/>
                          </a:solidFill>
                          <a:latin typeface="微软雅黑"/>
                        </a:rPr>
                        <a:t>2.39%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58.33%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-2.23%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2023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-0.78%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0.23%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-0.38%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0.16%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0.48%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0.23%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-0.49%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1.06%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0.42%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-0.65%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0.61%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0.41%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449"/>
                          </a:solidFill>
                          <a:latin typeface="微软雅黑"/>
                        </a:rPr>
                        <a:t>1.36%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66.67%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-1.58%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2024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3.64%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-1.95%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-0.34%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0.67%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0.78%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1.22%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-1.08%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1.21%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-4.07%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-2.65%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0.67%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2.32%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2.02%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58.33%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-7.68%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2025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1.11%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-1.79%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1.70%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0.81%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0.20%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-0.19%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-0.07%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-2.10%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-0.69%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0.59%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0.13%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0.16%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0.21%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58.33%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-3.28%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2026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0.09%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-0.39%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0.80%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-0.99%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-0.45%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-0.51%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3.02%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1.96%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0.92%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4.90%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55.56%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-2.01%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/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成立以来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dirty="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13.88%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58.02%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2C2C2A"/>
                          </a:solidFill>
                          <a:latin typeface="微软雅黑"/>
                        </a:rPr>
                        <a:t>-7.68%</a:t>
                      </a:r>
                      <a:endParaRPr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153" name="TextBox 8"/>
          <p:cNvSpPr txBox="1"/>
          <p:nvPr/>
        </p:nvSpPr>
        <p:spPr>
          <a:xfrm>
            <a:off x="502920" y="595026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/>
              <a:t>注：统计区间为2020年1月2日-2026年9月30日（日频）。计算夏普比例时，无风险收益按0%计。组合收益按年化1%费率逐日计提扣除。基金成立前用跟踪指数（价格指数）涨跌代替，成立后接续基金净值。</a:t>
            </a:r>
            <a:r>
              <a:rPr sz="1200" dirty="0" smtClean="0"/>
              <a:t>季度末再平衡</a:t>
            </a:r>
            <a:r>
              <a:rPr lang="zh-CN" altLang="en-US" sz="1200" dirty="0"/>
              <a:t>，</a:t>
            </a:r>
            <a:r>
              <a:rPr sz="1200" dirty="0" err="1" smtClean="0"/>
              <a:t>基准为中证全指全收益指数</a:t>
            </a:r>
            <a:r>
              <a:rPr sz="1200" dirty="0"/>
              <a:t>。</a:t>
            </a:r>
            <a:endParaRPr/>
          </a:p>
        </p:txBody>
      </p:sp>
      <p:sp>
        <p:nvSpPr>
          <p:cNvPr id="154" name="矩形 8"/>
          <p:cNvSpPr/>
          <p:nvPr/>
        </p:nvSpPr>
        <p:spPr>
          <a:xfrm>
            <a:off x="533400" y="381000"/>
            <a:ext cx="9207500" cy="431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守正组合模拟回测：月度超额收益</a:t>
            </a:r>
            <a:endParaRPr lang="zh-CN" sz="2100" b="1" dirty="0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55" name="矩形 9"/>
          <p:cNvSpPr/>
          <p:nvPr/>
        </p:nvSpPr>
        <p:spPr>
          <a:xfrm>
            <a:off x="533400" y="914400"/>
            <a:ext cx="11125200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157"/>
          <p:cNvSpPr/>
          <p:nvPr/>
        </p:nvSpPr>
        <p:spPr>
          <a:xfrm>
            <a:off x="533400" y="419100"/>
            <a:ext cx="9207500" cy="419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100" b="1" dirty="0">
                <a:solidFill>
                  <a:srgbClr val="061F32"/>
                </a:solidFill>
                <a:latin typeface="Microsoft YaHei"/>
                <a:ea typeface="Microsoft YaHei"/>
              </a:rPr>
              <a:t>守正组合压力测试：市场下跌时，</a:t>
            </a:r>
            <a:r>
              <a:rPr lang="zh-CN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组合</a:t>
            </a:r>
            <a:r>
              <a:rPr lang="zh-CN" altLang="en-US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“守的住”</a:t>
            </a:r>
            <a:endParaRPr lang="zh-CN" sz="2100" b="1" dirty="0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533400" y="914400"/>
            <a:ext cx="111252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0" name="矩形 159"/>
          <p:cNvSpPr/>
          <p:nvPr/>
        </p:nvSpPr>
        <p:spPr>
          <a:xfrm>
            <a:off x="317500" y="1041400"/>
            <a:ext cx="38100" cy="4953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1" name="矩形 160"/>
          <p:cNvSpPr/>
          <p:nvPr/>
        </p:nvSpPr>
        <p:spPr>
          <a:xfrm>
            <a:off x="355600" y="1041400"/>
            <a:ext cx="11125200" cy="4953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2" name="矩形 161"/>
          <p:cNvSpPr/>
          <p:nvPr/>
        </p:nvSpPr>
        <p:spPr>
          <a:xfrm>
            <a:off x="546100" y="1168400"/>
            <a:ext cx="88773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近年</a:t>
            </a:r>
            <a:r>
              <a:rPr lang="zh-CN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四</a:t>
            </a:r>
            <a:r>
              <a:rPr lang="zh-CN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次黑天鹅中，守正组合回</a:t>
            </a:r>
            <a:r>
              <a:rPr lang="zh-CN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撤</a:t>
            </a:r>
            <a:r>
              <a:rPr lang="zh-CN" altLang="en-US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相较</a:t>
            </a: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于宽基、成长、基金指数跌幅更小</a:t>
            </a:r>
            <a:endParaRPr lang="zh-CN" sz="1200" b="1" dirty="0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533400" y="6344138"/>
            <a:ext cx="10096500" cy="34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800" dirty="0">
                <a:solidFill>
                  <a:srgbClr val="8A8A8A"/>
                </a:solidFill>
                <a:latin typeface="Microsoft YaHei"/>
                <a:ea typeface="Microsoft YaHei"/>
              </a:rPr>
              <a:t>数据来源：守正组合净值来自回测（2020-01-02 至 2026-09-30，日频，年化 1% 费率逐日计提，季度末再平衡）；对比指数行情来自 Wind。回撤为各事件峰值→谷值的最大回撤：俄乌冲突 2022-01-04→04-26、流动性危机 2024-01-02→02-05、贸易战 2025-03-18→04-07、美伊战争 2026-02-27→03-23。历史表现不预示未来，不构成投资建议。</a:t>
            </a:r>
          </a:p>
        </p:txBody>
      </p:sp>
      <p:graphicFrame>
        <p:nvGraphicFramePr>
          <p:cNvPr id="166" name="表格 165"/>
          <p:cNvGraphicFramePr/>
          <p:nvPr>
            <p:extLst>
              <p:ext uri="{D42A27DB-BD31-4B8C-83A1-F6EECF244321}">
                <p14:modId xmlns:p14="http://schemas.microsoft.com/office/powerpoint/2010/main" val="3688306964"/>
              </p:ext>
            </p:extLst>
          </p:nvPr>
        </p:nvGraphicFramePr>
        <p:xfrm>
          <a:off x="1008188" y="1956777"/>
          <a:ext cx="9560166" cy="3767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738">
                  <a:extLst>
                    <a:ext uri="{9D8B030D-6E8A-4147-A177-3AD203B41FA5}"/>
                  </a:extLst>
                </a:gridCol>
                <a:gridCol w="1365738">
                  <a:extLst>
                    <a:ext uri="{9D8B030D-6E8A-4147-A177-3AD203B41FA5}"/>
                  </a:extLst>
                </a:gridCol>
                <a:gridCol w="1365738">
                  <a:extLst>
                    <a:ext uri="{9D8B030D-6E8A-4147-A177-3AD203B41FA5}"/>
                  </a:extLst>
                </a:gridCol>
                <a:gridCol w="1365738">
                  <a:extLst>
                    <a:ext uri="{9D8B030D-6E8A-4147-A177-3AD203B41FA5}"/>
                  </a:extLst>
                </a:gridCol>
                <a:gridCol w="1365738">
                  <a:extLst>
                    <a:ext uri="{9D8B030D-6E8A-4147-A177-3AD203B41FA5}"/>
                  </a:extLst>
                </a:gridCol>
                <a:gridCol w="1365738">
                  <a:extLst>
                    <a:ext uri="{9D8B030D-6E8A-4147-A177-3AD203B41FA5}"/>
                  </a:extLst>
                </a:gridCol>
                <a:gridCol w="1365738">
                  <a:extLst>
                    <a:ext uri="{9D8B030D-6E8A-4147-A177-3AD203B41FA5}"/>
                  </a:extLst>
                </a:gridCol>
              </a:tblGrid>
              <a:tr h="753403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事件</a:t>
                      </a:r>
                      <a:endParaRPr lang="en-US" sz="11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守正组合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中证1000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中证2000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创业板指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科创50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偏股基金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extLst>
                  <a:ext uri="{0D108BD9-81ED-4DB2-BD59-A6C34878D82A}"/>
                </a:extLst>
              </a:tr>
              <a:tr h="753403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61F32"/>
                          </a:solidFill>
                          <a:latin typeface="Microsoft YaHei"/>
                          <a:ea typeface="Microsoft YaHei"/>
                        </a:rPr>
                        <a:t>俄乌冲突(22初)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61F32"/>
                          </a:solidFill>
                          <a:latin typeface="Microsoft YaHei"/>
                          <a:ea typeface="Microsoft YaHei"/>
                        </a:rPr>
                        <a:t>-24.0%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-34.0%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-31.6%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-33.8%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-36.4%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-26.7%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/>
                </a:extLst>
              </a:tr>
              <a:tr h="753403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61F32"/>
                          </a:solidFill>
                          <a:latin typeface="Microsoft YaHei"/>
                          <a:ea typeface="Microsoft YaHei"/>
                        </a:rPr>
                        <a:t>流动性危机(24.01)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61F32"/>
                          </a:solidFill>
                          <a:latin typeface="Microsoft YaHei"/>
                          <a:ea typeface="Microsoft YaHei"/>
                        </a:rPr>
                        <a:t>-12.8%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-26.7%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-33.4%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-16.5%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-19.8%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-14.5%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/>
                </a:extLst>
              </a:tr>
              <a:tr h="753403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61F32"/>
                          </a:solidFill>
                          <a:latin typeface="Microsoft YaHei"/>
                          <a:ea typeface="Microsoft YaHei"/>
                        </a:rPr>
                        <a:t>贸易战(25.04)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61F32"/>
                          </a:solidFill>
                          <a:latin typeface="Microsoft YaHei"/>
                          <a:ea typeface="Microsoft YaHei"/>
                        </a:rPr>
                        <a:t>-11.4%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-16.9%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-19.6%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-18.9%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-15.2%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-13.1%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/>
                </a:extLst>
              </a:tr>
              <a:tr h="753403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61F32"/>
                          </a:solidFill>
                          <a:latin typeface="Microsoft YaHei"/>
                          <a:ea typeface="Microsoft YaHei"/>
                        </a:rPr>
                        <a:t>美伊战争(26.03)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61F32"/>
                          </a:solidFill>
                          <a:latin typeface="Microsoft YaHei"/>
                          <a:ea typeface="Microsoft YaHei"/>
                        </a:rPr>
                        <a:t>-10.3%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-13.5%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-14.7%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-6.2%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-15.6%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-9.3%</a:t>
                      </a:r>
                    </a:p>
                  </a:txBody>
                  <a:tcPr marL="38100" marR="38100" marT="25400" marB="25400" anchor="ctr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矩形 72"/>
          <p:cNvSpPr/>
          <p:nvPr/>
        </p:nvSpPr>
        <p:spPr>
          <a:xfrm>
            <a:off x="533400" y="381000"/>
            <a:ext cx="9207500" cy="431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 sz="21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守正组合：组合管理框架</a:t>
            </a:r>
            <a:endParaRPr lang="zh-CN" sz="2100" b="1" dirty="0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69" name="矩形 74"/>
          <p:cNvSpPr/>
          <p:nvPr/>
        </p:nvSpPr>
        <p:spPr>
          <a:xfrm>
            <a:off x="533400" y="914400"/>
            <a:ext cx="11125200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" name="矩形 75"/>
          <p:cNvSpPr/>
          <p:nvPr/>
        </p:nvSpPr>
        <p:spPr>
          <a:xfrm>
            <a:off x="615462" y="1193799"/>
            <a:ext cx="11125200" cy="1285631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pPr>
              <a:lnSpc>
                <a:spcPct val="200000"/>
              </a:lnSpc>
            </a:pPr>
            <a:endParaRPr dirty="0"/>
          </a:p>
        </p:txBody>
      </p:sp>
      <p:sp>
        <p:nvSpPr>
          <p:cNvPr id="171" name="矩形 76"/>
          <p:cNvSpPr/>
          <p:nvPr/>
        </p:nvSpPr>
        <p:spPr>
          <a:xfrm>
            <a:off x="615462" y="1193800"/>
            <a:ext cx="50800" cy="128563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2" name="矩形 77"/>
          <p:cNvSpPr/>
          <p:nvPr/>
        </p:nvSpPr>
        <p:spPr>
          <a:xfrm>
            <a:off x="844062" y="1173675"/>
            <a:ext cx="10058400" cy="12471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每季度</a:t>
            </a:r>
            <a:r>
              <a:rPr lang="zh-CN" altLang="en-US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（</a:t>
            </a:r>
            <a:r>
              <a:rPr lang="en-US" altLang="zh-CN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1/4/7/10 </a:t>
            </a:r>
            <a:r>
              <a:rPr lang="zh-CN" altLang="en-US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月）再平衡；</a:t>
            </a: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或四个指数任</a:t>
            </a:r>
            <a:r>
              <a:rPr lang="zh-CN" altLang="en-US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一档偏离目标 </a:t>
            </a:r>
            <a:r>
              <a:rPr lang="en-US" altLang="zh-CN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±5% </a:t>
            </a:r>
            <a:r>
              <a:rPr lang="zh-CN" altLang="en-US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时</a:t>
            </a: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触发</a:t>
            </a:r>
            <a:endParaRPr lang="en-US" altLang="zh-CN" sz="1200" b="1" dirty="0" smtClean="0">
              <a:solidFill>
                <a:srgbClr val="061F32"/>
              </a:solidFill>
              <a:latin typeface="Microsoft YaHei"/>
              <a:ea typeface="Microsoft YaHei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每季度核对各只指增基金相对基准指数的超额收益；连续两个报告期跑输基准，即替换为</a:t>
            </a: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同指数其他</a:t>
            </a:r>
            <a:r>
              <a:rPr lang="zh-CN" altLang="en-US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绩优指增（换同档位、不换结构）</a:t>
            </a: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。</a:t>
            </a:r>
            <a:endParaRPr lang="en-US" altLang="zh-CN" sz="1200" b="1" dirty="0" smtClean="0">
              <a:solidFill>
                <a:srgbClr val="061F32"/>
              </a:solidFill>
              <a:latin typeface="Microsoft YaHei"/>
              <a:ea typeface="Microsoft YaHei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全部采用 </a:t>
            </a:r>
            <a:r>
              <a:rPr lang="en-US" altLang="zh-CN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A </a:t>
            </a:r>
            <a:r>
              <a:rPr lang="zh-CN" altLang="en-US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类份额：长期持有省销售服务费，</a:t>
            </a:r>
            <a:r>
              <a:rPr lang="en-US" altLang="zh-CN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C </a:t>
            </a:r>
            <a:r>
              <a:rPr lang="zh-CN" altLang="en-US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类每年 </a:t>
            </a:r>
            <a:r>
              <a:rPr lang="en-US" altLang="zh-CN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0.2%~0.4% </a:t>
            </a:r>
            <a:r>
              <a:rPr lang="zh-CN" altLang="en-US" sz="1200" b="1" dirty="0">
                <a:solidFill>
                  <a:srgbClr val="061F32"/>
                </a:solidFill>
                <a:latin typeface="Microsoft YaHei"/>
                <a:ea typeface="Microsoft YaHei"/>
              </a:rPr>
              <a:t>的销售服务费会持续侵蚀收益；控制换手、降低申赎成本</a:t>
            </a:r>
            <a:r>
              <a:rPr lang="zh-CN" altLang="en-US" sz="1200" b="1" dirty="0" smtClean="0">
                <a:solidFill>
                  <a:srgbClr val="061F32"/>
                </a:solidFill>
                <a:latin typeface="Microsoft YaHei"/>
                <a:ea typeface="Microsoft YaHei"/>
              </a:rPr>
              <a:t>。</a:t>
            </a:r>
            <a:endParaRPr lang="en-US" altLang="zh-CN" sz="1200" b="1" dirty="0" smtClean="0">
              <a:solidFill>
                <a:srgbClr val="061F32"/>
              </a:solidFill>
              <a:latin typeface="Microsoft YaHei"/>
              <a:ea typeface="Microsoft YaHei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1200" b="1" dirty="0">
              <a:solidFill>
                <a:srgbClr val="061F32"/>
              </a:solidFill>
              <a:latin typeface="Microsoft YaHei"/>
              <a:ea typeface="Microsoft YaHei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sz="1200" b="1" dirty="0" smtClean="0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173" name="表格 44"/>
          <p:cNvGraphicFramePr>
            <a:graphicFrameLocks noGrp="1"/>
          </p:cNvGraphicFramePr>
          <p:nvPr/>
        </p:nvGraphicFramePr>
        <p:xfrm>
          <a:off x="1439413" y="2682048"/>
          <a:ext cx="7678302" cy="3767612"/>
        </p:xfrm>
        <a:graphic>
          <a:graphicData uri="http://schemas.openxmlformats.org/drawingml/2006/table">
            <a:tbl>
              <a:tblPr/>
              <a:tblGrid>
                <a:gridCol w="1486123">
                  <a:extLst>
                    <a:ext uri="{9D8B030D-6E8A-4147-A177-3AD203B41FA5}"/>
                  </a:extLst>
                </a:gridCol>
                <a:gridCol w="3715307">
                  <a:extLst>
                    <a:ext uri="{9D8B030D-6E8A-4147-A177-3AD203B41FA5}"/>
                  </a:extLst>
                </a:gridCol>
                <a:gridCol w="1238436">
                  <a:extLst>
                    <a:ext uri="{9D8B030D-6E8A-4147-A177-3AD203B41FA5}"/>
                  </a:extLst>
                </a:gridCol>
                <a:gridCol w="1238436">
                  <a:extLst>
                    <a:ext uri="{9D8B030D-6E8A-4147-A177-3AD203B41FA5}"/>
                  </a:extLst>
                </a:gridCol>
              </a:tblGrid>
              <a:tr h="36248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基金名称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策略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配置比例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extLst>
                  <a:ext uri="{0D108BD9-81ED-4DB2-BD59-A6C34878D82A}"/>
                </a:extLst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007044.OF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博道沪深300增强A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300+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16%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163407.OF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兴全沪深300增强A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300+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16%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004190.OF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招商沪深300增强A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300+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16%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008779.OF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嘉实中证500指数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增强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500+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9%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006594.OF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博道中证500指数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增强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500+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9%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017954.OF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汇添富中证1000指数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增强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1000+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8%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014202.OF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天弘中证1000指数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增强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1000+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8%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019924.OF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华泰柏瑞中证2000指数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增强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2000+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7%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019919.OF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招商中证2000指数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增强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2000+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6%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000917.OF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嘉实快线货币A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货币基金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158"/>
          <p:cNvSpPr/>
          <p:nvPr/>
        </p:nvSpPr>
        <p:spPr>
          <a:xfrm>
            <a:off x="533400" y="381000"/>
            <a:ext cx="9207500" cy="431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适用什么样的客户：</a:t>
            </a:r>
            <a:r>
              <a:rPr lang="zh-CN" sz="2100" b="1">
                <a:solidFill>
                  <a:srgbClr val="C0392B"/>
                </a:solidFill>
                <a:latin typeface="Microsoft YaHei"/>
                <a:ea typeface="Microsoft YaHei"/>
              </a:rPr>
              <a:t>长期资金、守正底仓</a:t>
            </a: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、弱者思维</a:t>
            </a:r>
            <a:endParaRPr/>
          </a:p>
        </p:txBody>
      </p:sp>
      <p:sp>
        <p:nvSpPr>
          <p:cNvPr id="29" name="矩形 160"/>
          <p:cNvSpPr/>
          <p:nvPr/>
        </p:nvSpPr>
        <p:spPr>
          <a:xfrm>
            <a:off x="533400" y="914400"/>
            <a:ext cx="11125200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矩形 170"/>
          <p:cNvSpPr/>
          <p:nvPr/>
        </p:nvSpPr>
        <p:spPr>
          <a:xfrm>
            <a:off x="533400" y="1498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b="1">
                <a:solidFill>
                  <a:srgbClr val="061F32"/>
                </a:solidFill>
                <a:latin typeface="Microsoft YaHei"/>
                <a:ea typeface="Microsoft YaHei"/>
              </a:rPr>
              <a:t>✓ 适合这样的客户</a:t>
            </a:r>
            <a:endParaRPr/>
          </a:p>
        </p:txBody>
      </p:sp>
      <p:sp>
        <p:nvSpPr>
          <p:cNvPr id="31" name="矩形 171"/>
          <p:cNvSpPr/>
          <p:nvPr/>
        </p:nvSpPr>
        <p:spPr>
          <a:xfrm>
            <a:off x="6413500" y="1498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b="1" dirty="0">
                <a:solidFill>
                  <a:srgbClr val="C0392B"/>
                </a:solidFill>
                <a:latin typeface="Microsoft YaHei"/>
                <a:ea typeface="Microsoft YaHei"/>
              </a:rPr>
              <a:t>✗ 不适合这样的客户</a:t>
            </a:r>
            <a:endParaRPr/>
          </a:p>
        </p:txBody>
      </p:sp>
      <p:sp>
        <p:nvSpPr>
          <p:cNvPr id="32" name="矩形 172"/>
          <p:cNvSpPr/>
          <p:nvPr/>
        </p:nvSpPr>
        <p:spPr>
          <a:xfrm>
            <a:off x="533400" y="1917700"/>
            <a:ext cx="56896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33" name="矩形 173"/>
          <p:cNvSpPr/>
          <p:nvPr/>
        </p:nvSpPr>
        <p:spPr>
          <a:xfrm>
            <a:off x="660400" y="19939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b="1">
                <a:solidFill>
                  <a:srgbClr val="061F32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4" name="矩形 174"/>
          <p:cNvSpPr/>
          <p:nvPr/>
        </p:nvSpPr>
        <p:spPr>
          <a:xfrm>
            <a:off x="965200" y="2006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b="1">
                <a:solidFill>
                  <a:srgbClr val="061F32"/>
                </a:solidFill>
                <a:latin typeface="Microsoft YaHei"/>
                <a:ea typeface="Microsoft YaHei"/>
              </a:rPr>
              <a:t>长期投资（3 年以上）</a:t>
            </a:r>
            <a:endParaRPr/>
          </a:p>
        </p:txBody>
      </p:sp>
      <p:sp>
        <p:nvSpPr>
          <p:cNvPr id="35" name="矩形 175"/>
          <p:cNvSpPr/>
          <p:nvPr/>
        </p:nvSpPr>
        <p:spPr>
          <a:xfrm>
            <a:off x="965200" y="22479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 dirty="0">
                <a:latin typeface="Microsoft YaHei"/>
                <a:ea typeface="Microsoft YaHei"/>
              </a:rPr>
              <a:t>希望分享 A股长</a:t>
            </a:r>
            <a:r>
              <a:rPr lang="zh-CN" sz="1200" dirty="0" smtClean="0">
                <a:latin typeface="Microsoft YaHei"/>
                <a:ea typeface="Microsoft YaHei"/>
              </a:rPr>
              <a:t>期</a:t>
            </a:r>
            <a:r>
              <a:rPr lang="zh-CN" altLang="en-US" sz="1200" dirty="0" smtClean="0">
                <a:latin typeface="Microsoft YaHei"/>
                <a:ea typeface="Microsoft YaHei"/>
              </a:rPr>
              <a:t>向上</a:t>
            </a:r>
            <a:r>
              <a:rPr lang="zh-CN" sz="1200" dirty="0" smtClean="0">
                <a:latin typeface="Microsoft YaHei"/>
                <a:ea typeface="Microsoft YaHei"/>
              </a:rPr>
              <a:t>、</a:t>
            </a:r>
            <a:r>
              <a:rPr lang="zh-CN" sz="1200" dirty="0">
                <a:latin typeface="Microsoft YaHei"/>
                <a:ea typeface="Microsoft YaHei"/>
              </a:rPr>
              <a:t>赚取全市场 beta，赚企业盈利增长与分红再投资的钱，而非博弈短差。</a:t>
            </a:r>
            <a:endParaRPr sz="3200" dirty="0"/>
          </a:p>
        </p:txBody>
      </p:sp>
      <p:sp>
        <p:nvSpPr>
          <p:cNvPr id="36" name="矩形 176"/>
          <p:cNvSpPr/>
          <p:nvPr/>
        </p:nvSpPr>
        <p:spPr>
          <a:xfrm>
            <a:off x="6413500" y="1917700"/>
            <a:ext cx="52451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37" name="矩形 177"/>
          <p:cNvSpPr/>
          <p:nvPr/>
        </p:nvSpPr>
        <p:spPr>
          <a:xfrm>
            <a:off x="6413500" y="1917700"/>
            <a:ext cx="52451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38" name="矩形 178"/>
          <p:cNvSpPr/>
          <p:nvPr/>
        </p:nvSpPr>
        <p:spPr>
          <a:xfrm>
            <a:off x="6413500" y="1917700"/>
            <a:ext cx="38100" cy="812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39" name="矩形 179"/>
          <p:cNvSpPr/>
          <p:nvPr/>
        </p:nvSpPr>
        <p:spPr>
          <a:xfrm>
            <a:off x="6540500" y="19939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b="1">
                <a:solidFill>
                  <a:srgbClr val="C0392B"/>
                </a:solidFill>
                <a:latin typeface="Microsoft YaHei"/>
                <a:ea typeface="Microsoft YaHei"/>
              </a:rPr>
              <a:t>✗</a:t>
            </a:r>
            <a:endParaRPr/>
          </a:p>
        </p:txBody>
      </p:sp>
      <p:sp>
        <p:nvSpPr>
          <p:cNvPr id="40" name="矩形 180"/>
          <p:cNvSpPr/>
          <p:nvPr/>
        </p:nvSpPr>
        <p:spPr>
          <a:xfrm>
            <a:off x="6845300" y="2006600"/>
            <a:ext cx="46355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b="1">
                <a:solidFill>
                  <a:srgbClr val="061F32"/>
                </a:solidFill>
                <a:latin typeface="Microsoft YaHei"/>
                <a:ea typeface="Microsoft YaHei"/>
              </a:rPr>
              <a:t>追求短期高收益</a:t>
            </a:r>
            <a:endParaRPr/>
          </a:p>
        </p:txBody>
      </p:sp>
      <p:sp>
        <p:nvSpPr>
          <p:cNvPr id="41" name="矩形 181"/>
          <p:cNvSpPr/>
          <p:nvPr/>
        </p:nvSpPr>
        <p:spPr>
          <a:xfrm>
            <a:off x="6845300" y="2247900"/>
            <a:ext cx="46355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 dirty="0">
                <a:latin typeface="Microsoft YaHei"/>
                <a:ea typeface="Microsoft YaHei"/>
              </a:rPr>
              <a:t>频繁交易、想「精准择时」的客户——组合不择时，短期</a:t>
            </a:r>
            <a:r>
              <a:rPr lang="zh-CN" sz="1200" dirty="0" smtClean="0">
                <a:latin typeface="Microsoft YaHei"/>
                <a:ea typeface="Microsoft YaHei"/>
              </a:rPr>
              <a:t>收益</a:t>
            </a:r>
            <a:r>
              <a:rPr lang="zh-CN" altLang="en-US" sz="1200" dirty="0" smtClean="0">
                <a:latin typeface="Microsoft YaHei"/>
                <a:ea typeface="Microsoft YaHei"/>
              </a:rPr>
              <a:t>不保证</a:t>
            </a:r>
            <a:endParaRPr sz="3200" dirty="0"/>
          </a:p>
        </p:txBody>
      </p:sp>
      <p:sp>
        <p:nvSpPr>
          <p:cNvPr id="42" name="矩形 182"/>
          <p:cNvSpPr/>
          <p:nvPr/>
        </p:nvSpPr>
        <p:spPr>
          <a:xfrm>
            <a:off x="533400" y="2832100"/>
            <a:ext cx="56896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43" name="矩形 183"/>
          <p:cNvSpPr/>
          <p:nvPr/>
        </p:nvSpPr>
        <p:spPr>
          <a:xfrm>
            <a:off x="660400" y="29083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b="1">
                <a:solidFill>
                  <a:srgbClr val="061F32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44" name="矩形 184"/>
          <p:cNvSpPr/>
          <p:nvPr/>
        </p:nvSpPr>
        <p:spPr>
          <a:xfrm>
            <a:off x="965200" y="292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b="1">
                <a:solidFill>
                  <a:srgbClr val="061F32"/>
                </a:solidFill>
                <a:latin typeface="Microsoft YaHei"/>
                <a:ea typeface="Microsoft YaHei"/>
              </a:rPr>
              <a:t>认同「弱者思维」</a:t>
            </a:r>
            <a:endParaRPr/>
          </a:p>
        </p:txBody>
      </p:sp>
      <p:sp>
        <p:nvSpPr>
          <p:cNvPr id="45" name="矩形 185"/>
          <p:cNvSpPr/>
          <p:nvPr/>
        </p:nvSpPr>
        <p:spPr>
          <a:xfrm>
            <a:off x="965200" y="31623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 dirty="0" smtClean="0">
                <a:latin typeface="Microsoft YaHei"/>
                <a:ea typeface="Microsoft YaHei"/>
              </a:rPr>
              <a:t>承认无法</a:t>
            </a:r>
            <a:r>
              <a:rPr lang="zh-CN" sz="1200" dirty="0">
                <a:latin typeface="Microsoft YaHei"/>
                <a:ea typeface="Microsoft YaHei"/>
              </a:rPr>
              <a:t>预测市场，愿意跟随市场共识（市值加权），不择时、不赌单一风格或行业。</a:t>
            </a:r>
            <a:endParaRPr sz="3200" dirty="0"/>
          </a:p>
        </p:txBody>
      </p:sp>
      <p:sp>
        <p:nvSpPr>
          <p:cNvPr id="46" name="矩形 186"/>
          <p:cNvSpPr/>
          <p:nvPr/>
        </p:nvSpPr>
        <p:spPr>
          <a:xfrm>
            <a:off x="6413500" y="2832100"/>
            <a:ext cx="52451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47" name="矩形 187"/>
          <p:cNvSpPr/>
          <p:nvPr/>
        </p:nvSpPr>
        <p:spPr>
          <a:xfrm>
            <a:off x="6413500" y="2832100"/>
            <a:ext cx="52451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48" name="矩形 188"/>
          <p:cNvSpPr/>
          <p:nvPr/>
        </p:nvSpPr>
        <p:spPr>
          <a:xfrm>
            <a:off x="6413500" y="2832100"/>
            <a:ext cx="38100" cy="812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49" name="矩形 189"/>
          <p:cNvSpPr/>
          <p:nvPr/>
        </p:nvSpPr>
        <p:spPr>
          <a:xfrm>
            <a:off x="6540500" y="29083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b="1">
                <a:solidFill>
                  <a:srgbClr val="C0392B"/>
                </a:solidFill>
                <a:latin typeface="Microsoft YaHei"/>
                <a:ea typeface="Microsoft YaHei"/>
              </a:rPr>
              <a:t>✗</a:t>
            </a:r>
            <a:endParaRPr/>
          </a:p>
        </p:txBody>
      </p:sp>
      <p:sp>
        <p:nvSpPr>
          <p:cNvPr id="50" name="矩形 190"/>
          <p:cNvSpPr/>
          <p:nvPr/>
        </p:nvSpPr>
        <p:spPr>
          <a:xfrm>
            <a:off x="6845300" y="2921000"/>
            <a:ext cx="46355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b="1">
                <a:solidFill>
                  <a:srgbClr val="061F32"/>
                </a:solidFill>
                <a:latin typeface="Microsoft YaHei"/>
                <a:ea typeface="Microsoft YaHei"/>
              </a:rPr>
              <a:t>无法承受 20% 级别回撤</a:t>
            </a:r>
            <a:endParaRPr/>
          </a:p>
        </p:txBody>
      </p:sp>
      <p:sp>
        <p:nvSpPr>
          <p:cNvPr id="51" name="矩形 191"/>
          <p:cNvSpPr/>
          <p:nvPr/>
        </p:nvSpPr>
        <p:spPr>
          <a:xfrm>
            <a:off x="6845300" y="3162300"/>
            <a:ext cx="46355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 dirty="0">
                <a:latin typeface="Microsoft YaHei"/>
                <a:ea typeface="Microsoft YaHei"/>
              </a:rPr>
              <a:t>全市场 beta 年化波动 15%~20%，历史极端回撤更深，须与自身风险承受能力匹配。</a:t>
            </a:r>
            <a:endParaRPr sz="3200" dirty="0"/>
          </a:p>
        </p:txBody>
      </p:sp>
      <p:sp>
        <p:nvSpPr>
          <p:cNvPr id="52" name="矩形 192"/>
          <p:cNvSpPr/>
          <p:nvPr/>
        </p:nvSpPr>
        <p:spPr>
          <a:xfrm>
            <a:off x="533400" y="3746500"/>
            <a:ext cx="56896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53" name="矩形 193"/>
          <p:cNvSpPr/>
          <p:nvPr/>
        </p:nvSpPr>
        <p:spPr>
          <a:xfrm>
            <a:off x="660400" y="38227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b="1">
                <a:solidFill>
                  <a:srgbClr val="061F32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54" name="矩形 194"/>
          <p:cNvSpPr/>
          <p:nvPr/>
        </p:nvSpPr>
        <p:spPr>
          <a:xfrm>
            <a:off x="965200" y="3835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b="1">
                <a:solidFill>
                  <a:srgbClr val="061F32"/>
                </a:solidFill>
                <a:latin typeface="Microsoft YaHei"/>
                <a:ea typeface="Microsoft YaHei"/>
              </a:rPr>
              <a:t>需要「守正 / 压舱石」底仓</a:t>
            </a:r>
            <a:endParaRPr/>
          </a:p>
        </p:txBody>
      </p:sp>
      <p:sp>
        <p:nvSpPr>
          <p:cNvPr id="55" name="矩形 195"/>
          <p:cNvSpPr/>
          <p:nvPr/>
        </p:nvSpPr>
        <p:spPr>
          <a:xfrm>
            <a:off x="965200" y="40767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 dirty="0">
                <a:latin typeface="Microsoft YaHei"/>
                <a:ea typeface="Microsoft YaHei"/>
              </a:rPr>
              <a:t>作为组合的核心配置长期持有，用透明、可复制、低换手的策略承载主要权益仓位。</a:t>
            </a:r>
            <a:endParaRPr sz="3200" dirty="0"/>
          </a:p>
        </p:txBody>
      </p:sp>
      <p:sp>
        <p:nvSpPr>
          <p:cNvPr id="56" name="矩形 196"/>
          <p:cNvSpPr/>
          <p:nvPr/>
        </p:nvSpPr>
        <p:spPr>
          <a:xfrm>
            <a:off x="6413500" y="3746500"/>
            <a:ext cx="52451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57" name="矩形 197"/>
          <p:cNvSpPr/>
          <p:nvPr/>
        </p:nvSpPr>
        <p:spPr>
          <a:xfrm>
            <a:off x="6413500" y="3746500"/>
            <a:ext cx="52451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58" name="矩形 198"/>
          <p:cNvSpPr/>
          <p:nvPr/>
        </p:nvSpPr>
        <p:spPr>
          <a:xfrm>
            <a:off x="6413500" y="3746500"/>
            <a:ext cx="38100" cy="812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59" name="矩形 199"/>
          <p:cNvSpPr/>
          <p:nvPr/>
        </p:nvSpPr>
        <p:spPr>
          <a:xfrm>
            <a:off x="6540500" y="38227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b="1">
                <a:solidFill>
                  <a:srgbClr val="C0392B"/>
                </a:solidFill>
                <a:latin typeface="Microsoft YaHei"/>
                <a:ea typeface="Microsoft YaHei"/>
              </a:rPr>
              <a:t>✗</a:t>
            </a:r>
            <a:endParaRPr/>
          </a:p>
        </p:txBody>
      </p:sp>
      <p:sp>
        <p:nvSpPr>
          <p:cNvPr id="60" name="矩形 200"/>
          <p:cNvSpPr/>
          <p:nvPr/>
        </p:nvSpPr>
        <p:spPr>
          <a:xfrm>
            <a:off x="6845300" y="3835400"/>
            <a:ext cx="46355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b="1">
                <a:solidFill>
                  <a:srgbClr val="061F32"/>
                </a:solidFill>
                <a:latin typeface="Microsoft YaHei"/>
                <a:ea typeface="Microsoft YaHei"/>
              </a:rPr>
              <a:t>想押注单一赛道、风格、行业</a:t>
            </a:r>
            <a:endParaRPr/>
          </a:p>
        </p:txBody>
      </p:sp>
      <p:sp>
        <p:nvSpPr>
          <p:cNvPr id="61" name="矩形 201"/>
          <p:cNvSpPr/>
          <p:nvPr/>
        </p:nvSpPr>
        <p:spPr>
          <a:xfrm>
            <a:off x="6845300" y="4076700"/>
            <a:ext cx="46355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 dirty="0">
                <a:latin typeface="Microsoft YaHei"/>
                <a:ea typeface="Microsoft YaHei"/>
              </a:rPr>
              <a:t>追求「刺激」而非「稳定」的客户——本组合行业与规模双中性，不做赛道豪赌。</a:t>
            </a:r>
            <a:endParaRPr sz="3200" dirty="0"/>
          </a:p>
        </p:txBody>
      </p:sp>
      <p:sp>
        <p:nvSpPr>
          <p:cNvPr id="62" name="矩形 202"/>
          <p:cNvSpPr/>
          <p:nvPr/>
        </p:nvSpPr>
        <p:spPr>
          <a:xfrm>
            <a:off x="533400" y="4660900"/>
            <a:ext cx="56896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63" name="矩形 203"/>
          <p:cNvSpPr/>
          <p:nvPr/>
        </p:nvSpPr>
        <p:spPr>
          <a:xfrm>
            <a:off x="660400" y="47371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b="1">
                <a:solidFill>
                  <a:srgbClr val="061F32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64" name="矩形 204"/>
          <p:cNvSpPr/>
          <p:nvPr/>
        </p:nvSpPr>
        <p:spPr>
          <a:xfrm>
            <a:off x="965200" y="4749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b="1">
                <a:solidFill>
                  <a:srgbClr val="061F32"/>
                </a:solidFill>
                <a:latin typeface="Microsoft YaHei"/>
                <a:ea typeface="Microsoft YaHei"/>
              </a:rPr>
              <a:t>对费用敏感</a:t>
            </a:r>
            <a:endParaRPr/>
          </a:p>
        </p:txBody>
      </p:sp>
      <p:sp>
        <p:nvSpPr>
          <p:cNvPr id="65" name="矩形 205"/>
          <p:cNvSpPr/>
          <p:nvPr/>
        </p:nvSpPr>
        <p:spPr>
          <a:xfrm>
            <a:off x="965200" y="49911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 dirty="0">
                <a:latin typeface="Microsoft YaHei"/>
                <a:ea typeface="Microsoft YaHei"/>
              </a:rPr>
              <a:t>偏好低成本、低换手、透明可复制的策略，拒绝高费率与频繁申赎。</a:t>
            </a:r>
            <a:endParaRPr sz="3200" dirty="0"/>
          </a:p>
        </p:txBody>
      </p:sp>
      <p:sp>
        <p:nvSpPr>
          <p:cNvPr id="66" name="矩形 206"/>
          <p:cNvSpPr/>
          <p:nvPr/>
        </p:nvSpPr>
        <p:spPr>
          <a:xfrm>
            <a:off x="6413500" y="4660900"/>
            <a:ext cx="52451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67" name="矩形 207"/>
          <p:cNvSpPr/>
          <p:nvPr/>
        </p:nvSpPr>
        <p:spPr>
          <a:xfrm>
            <a:off x="6413500" y="4660900"/>
            <a:ext cx="52451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68" name="矩形 208"/>
          <p:cNvSpPr/>
          <p:nvPr/>
        </p:nvSpPr>
        <p:spPr>
          <a:xfrm>
            <a:off x="6413500" y="4660900"/>
            <a:ext cx="38100" cy="812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69" name="矩形 209"/>
          <p:cNvSpPr/>
          <p:nvPr/>
        </p:nvSpPr>
        <p:spPr>
          <a:xfrm>
            <a:off x="6540500" y="47371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000" b="1">
                <a:solidFill>
                  <a:srgbClr val="C0392B"/>
                </a:solidFill>
                <a:latin typeface="Microsoft YaHei"/>
                <a:ea typeface="Microsoft YaHei"/>
              </a:rPr>
              <a:t>✗</a:t>
            </a:r>
            <a:endParaRPr/>
          </a:p>
        </p:txBody>
      </p:sp>
      <p:sp>
        <p:nvSpPr>
          <p:cNvPr id="70" name="矩形 210"/>
          <p:cNvSpPr/>
          <p:nvPr/>
        </p:nvSpPr>
        <p:spPr>
          <a:xfrm>
            <a:off x="6845300" y="4749800"/>
            <a:ext cx="46355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b="1">
                <a:solidFill>
                  <a:srgbClr val="061F32"/>
                </a:solidFill>
                <a:latin typeface="Microsoft YaHei"/>
                <a:ea typeface="Microsoft YaHei"/>
              </a:rPr>
              <a:t>资金期限短（&lt; 1 年）</a:t>
            </a:r>
            <a:endParaRPr/>
          </a:p>
        </p:txBody>
      </p:sp>
      <p:sp>
        <p:nvSpPr>
          <p:cNvPr id="71" name="矩形 211"/>
          <p:cNvSpPr/>
          <p:nvPr/>
        </p:nvSpPr>
        <p:spPr>
          <a:xfrm>
            <a:off x="6845300" y="4991100"/>
            <a:ext cx="46355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 dirty="0">
                <a:latin typeface="Microsoft YaHei"/>
                <a:ea typeface="Microsoft YaHei"/>
              </a:rPr>
              <a:t>短期资金应使用低波产品，不应承载全市场权益 beta 的波动。</a:t>
            </a:r>
            <a:endParaRPr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2707</Words>
  <Application>Microsoft Office PowerPoint</Application>
  <PresentationFormat>宽屏</PresentationFormat>
  <Paragraphs>533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白昕</dc:creator>
  <cp:lastModifiedBy>白昕</cp:lastModifiedBy>
  <cp:revision>2</cp:revision>
  <dcterms:created xsi:type="dcterms:W3CDTF">2026-10-16T18:34:01Z</dcterms:created>
  <dcterms:modified xsi:type="dcterms:W3CDTF">2026-10-16T10:46:41Z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{"AIGC":{"Label":"1","ContentProducer":"00119111010856365494821B355","ProduceID":"01a14314cb3f7851ad68c0fbffa4a4a0","ReservedCode1":"","ContentPropagator":"00119111010856365494821B355","PropagateID":"01a14314cb3f7851ad68c0fbffa4a4a0","ReservedCode2":""}}</vt:lpwstr>
  </property>
</Properties>
</file>