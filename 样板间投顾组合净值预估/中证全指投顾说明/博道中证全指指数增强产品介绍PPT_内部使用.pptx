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419" r:id="rId2"/>
    <p:sldId id="16144192" r:id="rId3"/>
    <p:sldId id="420" r:id="rId4"/>
    <p:sldId id="259" r:id="rId5"/>
    <p:sldId id="260" r:id="rId6"/>
    <p:sldId id="291" r:id="rId7"/>
    <p:sldId id="4369" r:id="rId8"/>
    <p:sldId id="4300" r:id="rId9"/>
    <p:sldId id="4370" r:id="rId10"/>
    <p:sldId id="4381" r:id="rId11"/>
    <p:sldId id="4382" r:id="rId12"/>
    <p:sldId id="4343" r:id="rId13"/>
    <p:sldId id="4314" r:id="rId14"/>
    <p:sldId id="4372" r:id="rId15"/>
    <p:sldId id="4360" r:id="rId16"/>
    <p:sldId id="4043" r:id="rId17"/>
    <p:sldId id="4373" r:id="rId18"/>
    <p:sldId id="16144190" r:id="rId19"/>
    <p:sldId id="4582" r:id="rId20"/>
    <p:sldId id="4428" r:id="rId21"/>
    <p:sldId id="4429" r:id="rId22"/>
    <p:sldId id="4430" r:id="rId23"/>
    <p:sldId id="4431" r:id="rId24"/>
    <p:sldId id="4432" r:id="rId25"/>
    <p:sldId id="4433" r:id="rId26"/>
    <p:sldId id="16144189" r:id="rId27"/>
    <p:sldId id="4435" r:id="rId28"/>
    <p:sldId id="16144191" r:id="rId29"/>
    <p:sldId id="4556" r:id="rId30"/>
    <p:sldId id="4437" r:id="rId31"/>
    <p:sldId id="4557" r:id="rId32"/>
    <p:sldId id="4548" r:id="rId33"/>
    <p:sldId id="4441" r:id="rId34"/>
    <p:sldId id="4445" r:id="rId35"/>
    <p:sldId id="4443" r:id="rId36"/>
    <p:sldId id="294" r:id="rId37"/>
    <p:sldId id="295" r:id="rId38"/>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tx1"/>
        </a:solidFill>
        <a:latin typeface="微软雅黑" panose="020B0503020204020204" pitchFamily="34" charset="-122"/>
        <a:ea typeface="微软雅黑" panose="020B0503020204020204" pitchFamily="34" charset="-122"/>
        <a:cs typeface="+mn-cs"/>
      </a:defRPr>
    </a:lvl2pPr>
    <a:lvl3pPr marL="914400" algn="l" defTabSz="457200" rtl="0" eaLnBrk="0" fontAlgn="base" hangingPunct="0">
      <a:spcBef>
        <a:spcPct val="0"/>
      </a:spcBef>
      <a:spcAft>
        <a:spcPct val="0"/>
      </a:spcAft>
      <a:defRPr kern="1200">
        <a:solidFill>
          <a:schemeClr val="tx1"/>
        </a:solidFill>
        <a:latin typeface="微软雅黑" panose="020B0503020204020204" pitchFamily="34" charset="-122"/>
        <a:ea typeface="微软雅黑" panose="020B0503020204020204" pitchFamily="34" charset="-122"/>
        <a:cs typeface="+mn-cs"/>
      </a:defRPr>
    </a:lvl3pPr>
    <a:lvl4pPr marL="1371600" algn="l" defTabSz="457200" rtl="0" eaLnBrk="0" fontAlgn="base" hangingPunct="0">
      <a:spcBef>
        <a:spcPct val="0"/>
      </a:spcBef>
      <a:spcAft>
        <a:spcPct val="0"/>
      </a:spcAft>
      <a:defRPr kern="1200">
        <a:solidFill>
          <a:schemeClr val="tx1"/>
        </a:solidFill>
        <a:latin typeface="微软雅黑" panose="020B0503020204020204" pitchFamily="34" charset="-122"/>
        <a:ea typeface="微软雅黑" panose="020B0503020204020204" pitchFamily="34" charset="-122"/>
        <a:cs typeface="+mn-cs"/>
      </a:defRPr>
    </a:lvl4pPr>
    <a:lvl5pPr marL="1828800" algn="l" defTabSz="457200" rtl="0" eaLnBrk="0" fontAlgn="base" hangingPunct="0">
      <a:spcBef>
        <a:spcPct val="0"/>
      </a:spcBef>
      <a:spcAft>
        <a:spcPct val="0"/>
      </a:spcAft>
      <a:defRPr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kern="1200">
        <a:solidFill>
          <a:schemeClr val="tx1"/>
        </a:solidFill>
        <a:latin typeface="微软雅黑" panose="020B0503020204020204" pitchFamily="34" charset="-122"/>
        <a:ea typeface="微软雅黑" panose="020B0503020204020204" pitchFamily="34" charset="-122"/>
        <a:cs typeface="+mn-cs"/>
      </a:defRPr>
    </a:lvl6pPr>
    <a:lvl7pPr marL="2743200" algn="l" defTabSz="914400" rtl="0" eaLnBrk="1" latinLnBrk="0" hangingPunct="1">
      <a:defRPr kern="1200">
        <a:solidFill>
          <a:schemeClr val="tx1"/>
        </a:solidFill>
        <a:latin typeface="微软雅黑" panose="020B0503020204020204" pitchFamily="34" charset="-122"/>
        <a:ea typeface="微软雅黑" panose="020B0503020204020204" pitchFamily="34" charset="-122"/>
        <a:cs typeface="+mn-cs"/>
      </a:defRPr>
    </a:lvl7pPr>
    <a:lvl8pPr marL="3200400" algn="l" defTabSz="914400" rtl="0" eaLnBrk="1" latinLnBrk="0" hangingPunct="1">
      <a:defRPr kern="1200">
        <a:solidFill>
          <a:schemeClr val="tx1"/>
        </a:solidFill>
        <a:latin typeface="微软雅黑" panose="020B0503020204020204" pitchFamily="34" charset="-122"/>
        <a:ea typeface="微软雅黑" panose="020B0503020204020204" pitchFamily="34" charset="-122"/>
        <a:cs typeface="+mn-cs"/>
      </a:defRPr>
    </a:lvl8pPr>
    <a:lvl9pPr marL="3657600" algn="l" defTabSz="914400" rtl="0" eaLnBrk="1" latinLnBrk="0" hangingPunct="1">
      <a:defRPr kern="1200">
        <a:solidFill>
          <a:schemeClr val="tx1"/>
        </a:solidFill>
        <a:latin typeface="微软雅黑" panose="020B0503020204020204" pitchFamily="34" charset="-122"/>
        <a:ea typeface="微软雅黑" panose="020B0503020204020204" pitchFamily="3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陆佳泓" initials="陆佳泓" lastIdx="125" clrIdx="0"/>
  <p:cmAuthor id="2" name="姜若涵" initials="姜若涵" lastIdx="4" clrIdx="1"/>
  <p:cmAuthor id="3" name="Microsoft 帐户" initials="M帐" lastIdx="18" clrIdx="2"/>
  <p:cmAuthor id="4" name="李志军" initials="李志军" lastIdx="3" clrIdx="3"/>
  <p:cmAuthor id="5" name="佟琳" initials="佟琳" lastIdx="7"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5838"/>
    <a:srgbClr val="00366C"/>
    <a:srgbClr val="FFFFFF"/>
    <a:srgbClr val="EDF1FA"/>
    <a:srgbClr val="91ACE3"/>
    <a:srgbClr val="197EC6"/>
    <a:srgbClr val="0070C0"/>
    <a:srgbClr val="002060"/>
    <a:srgbClr val="E46C6C"/>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86" autoAdjust="0"/>
    <p:restoredTop sz="94660"/>
  </p:normalViewPr>
  <p:slideViewPr>
    <p:cSldViewPr snapToGrid="0" showGuides="1">
      <p:cViewPr varScale="1">
        <p:scale>
          <a:sx n="109" d="100"/>
          <a:sy n="109" d="100"/>
        </p:scale>
        <p:origin x="140" y="80"/>
      </p:cViewPr>
      <p:guideLst>
        <p:guide orient="horz" pos="2160"/>
        <p:guide pos="3840"/>
      </p:guideLst>
    </p:cSldViewPr>
  </p:slideViewPr>
  <p:notesTextViewPr>
    <p:cViewPr>
      <p:scale>
        <a:sx n="1" d="1"/>
        <a:sy n="1" d="1"/>
      </p:scale>
      <p:origin x="0" y="0"/>
    </p:cViewPr>
  </p:notesTextViewPr>
  <p:notesViewPr>
    <p:cSldViewPr snapToGrid="0">
      <p:cViewPr varScale="1">
        <p:scale>
          <a:sx n="119" d="100"/>
          <a:sy n="119" d="100"/>
        </p:scale>
        <p:origin x="3786"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26820\Desktop\&#20840;&#25351;ppt.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26820\Desktop\&#20840;&#25351;ppt.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26820\Desktop\&#20840;&#25351;pp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0" i="0">
                <a:solidFill>
                  <a:srgbClr val="000000"/>
                </a:solidFill>
              </a:defRPr>
            </a:pPr>
            <a:r>
              <a:rPr lang="zh-CN" altLang="zh-CN" sz="1200" b="1" i="0" u="none" strike="noStrike" kern="1200" baseline="0" dirty="0">
                <a:solidFill>
                  <a:srgbClr val="000000"/>
                </a:solidFill>
                <a:latin typeface="微软雅黑" panose="020B0503020204020204" pitchFamily="34" charset="-122"/>
                <a:ea typeface="微软雅黑" panose="020B0503020204020204" pitchFamily="34" charset="-122"/>
              </a:rPr>
              <a:t>博道中证全指指数增强</a:t>
            </a:r>
            <a:r>
              <a:rPr lang="en-US" altLang="zh-CN" sz="1200" b="1" i="0" u="none" strike="noStrike" kern="1200" baseline="0" dirty="0">
                <a:solidFill>
                  <a:srgbClr val="000000"/>
                </a:solidFill>
                <a:latin typeface="微软雅黑" panose="020B0503020204020204" pitchFamily="34" charset="-122"/>
                <a:ea typeface="微软雅黑" panose="020B0503020204020204" pitchFamily="34" charset="-122"/>
              </a:rPr>
              <a:t>A</a:t>
            </a:r>
            <a:r>
              <a:rPr lang="zh-CN" altLang="en-US" sz="1200" b="1" i="0" u="none" strike="noStrike" kern="1200" baseline="0" dirty="0">
                <a:solidFill>
                  <a:srgbClr val="000000"/>
                </a:solidFill>
                <a:latin typeface="微软雅黑" panose="020B0503020204020204" pitchFamily="34" charset="-122"/>
                <a:ea typeface="微软雅黑" panose="020B0503020204020204" pitchFamily="34" charset="-122"/>
              </a:rPr>
              <a:t>成立以来</a:t>
            </a:r>
            <a:r>
              <a:rPr lang="zh-CN" altLang="zh-CN" sz="1200" b="1" i="0" u="none" strike="noStrike" kern="1200" baseline="0" dirty="0">
                <a:solidFill>
                  <a:srgbClr val="000000"/>
                </a:solidFill>
                <a:latin typeface="微软雅黑" panose="020B0503020204020204" pitchFamily="34" charset="-122"/>
                <a:ea typeface="微软雅黑" panose="020B0503020204020204" pitchFamily="34" charset="-122"/>
              </a:rPr>
              <a:t>净值走势图</a:t>
            </a:r>
          </a:p>
        </c:rich>
      </c:tx>
      <c:layout/>
      <c:overlay val="0"/>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itle>
    <c:autoTitleDeleted val="0"/>
    <c:plotArea>
      <c:layout/>
      <c:areaChart>
        <c:grouping val="standard"/>
        <c:varyColors val="0"/>
        <c:ser>
          <c:idx val="2"/>
          <c:order val="2"/>
          <c:tx>
            <c:strRef>
              <c:f>Sheet2!$D$2</c:f>
              <c:strCache>
                <c:ptCount val="1"/>
                <c:pt idx="0">
                  <c:v>累计超额</c:v>
                </c:pt>
              </c:strCache>
            </c:strRef>
          </c:tx>
          <c:cat>
            <c:numRef>
              <c:f>Sheet2!$A$3:$A$187</c:f>
              <c:numCache>
                <c:formatCode>yyyy\-mm\-dd</c:formatCode>
                <c:ptCount val="185"/>
                <c:pt idx="0">
                  <c:v>45909</c:v>
                </c:pt>
                <c:pt idx="1">
                  <c:v>45910</c:v>
                </c:pt>
                <c:pt idx="2">
                  <c:v>45911</c:v>
                </c:pt>
                <c:pt idx="3">
                  <c:v>45912</c:v>
                </c:pt>
                <c:pt idx="4">
                  <c:v>45915</c:v>
                </c:pt>
                <c:pt idx="5">
                  <c:v>45916</c:v>
                </c:pt>
                <c:pt idx="6">
                  <c:v>45917</c:v>
                </c:pt>
                <c:pt idx="7">
                  <c:v>45918</c:v>
                </c:pt>
                <c:pt idx="8">
                  <c:v>45919</c:v>
                </c:pt>
                <c:pt idx="9">
                  <c:v>45922</c:v>
                </c:pt>
                <c:pt idx="10">
                  <c:v>45923</c:v>
                </c:pt>
                <c:pt idx="11">
                  <c:v>45924</c:v>
                </c:pt>
                <c:pt idx="12">
                  <c:v>45925</c:v>
                </c:pt>
                <c:pt idx="13">
                  <c:v>45926</c:v>
                </c:pt>
                <c:pt idx="14">
                  <c:v>45929</c:v>
                </c:pt>
                <c:pt idx="15">
                  <c:v>45930</c:v>
                </c:pt>
                <c:pt idx="16">
                  <c:v>45939</c:v>
                </c:pt>
                <c:pt idx="17">
                  <c:v>45940</c:v>
                </c:pt>
                <c:pt idx="18">
                  <c:v>45943</c:v>
                </c:pt>
                <c:pt idx="19">
                  <c:v>45944</c:v>
                </c:pt>
                <c:pt idx="20">
                  <c:v>45945</c:v>
                </c:pt>
                <c:pt idx="21">
                  <c:v>45946</c:v>
                </c:pt>
                <c:pt idx="22">
                  <c:v>45947</c:v>
                </c:pt>
                <c:pt idx="23">
                  <c:v>45950</c:v>
                </c:pt>
                <c:pt idx="24">
                  <c:v>45951</c:v>
                </c:pt>
                <c:pt idx="25">
                  <c:v>45952</c:v>
                </c:pt>
                <c:pt idx="26">
                  <c:v>45953</c:v>
                </c:pt>
                <c:pt idx="27">
                  <c:v>45954</c:v>
                </c:pt>
                <c:pt idx="28">
                  <c:v>45957</c:v>
                </c:pt>
                <c:pt idx="29">
                  <c:v>45958</c:v>
                </c:pt>
                <c:pt idx="30">
                  <c:v>45959</c:v>
                </c:pt>
                <c:pt idx="31">
                  <c:v>45960</c:v>
                </c:pt>
                <c:pt idx="32">
                  <c:v>45961</c:v>
                </c:pt>
                <c:pt idx="33">
                  <c:v>45964</c:v>
                </c:pt>
                <c:pt idx="34">
                  <c:v>45965</c:v>
                </c:pt>
                <c:pt idx="35">
                  <c:v>45966</c:v>
                </c:pt>
                <c:pt idx="36">
                  <c:v>45967</c:v>
                </c:pt>
                <c:pt idx="37">
                  <c:v>45968</c:v>
                </c:pt>
                <c:pt idx="38">
                  <c:v>45971</c:v>
                </c:pt>
                <c:pt idx="39">
                  <c:v>45972</c:v>
                </c:pt>
                <c:pt idx="40">
                  <c:v>45973</c:v>
                </c:pt>
                <c:pt idx="41">
                  <c:v>45974</c:v>
                </c:pt>
                <c:pt idx="42">
                  <c:v>45975</c:v>
                </c:pt>
                <c:pt idx="43">
                  <c:v>45978</c:v>
                </c:pt>
                <c:pt idx="44">
                  <c:v>45979</c:v>
                </c:pt>
                <c:pt idx="45">
                  <c:v>45980</c:v>
                </c:pt>
                <c:pt idx="46">
                  <c:v>45981</c:v>
                </c:pt>
                <c:pt idx="47">
                  <c:v>45982</c:v>
                </c:pt>
                <c:pt idx="48">
                  <c:v>45985</c:v>
                </c:pt>
                <c:pt idx="49">
                  <c:v>45986</c:v>
                </c:pt>
                <c:pt idx="50">
                  <c:v>45987</c:v>
                </c:pt>
                <c:pt idx="51">
                  <c:v>45988</c:v>
                </c:pt>
                <c:pt idx="52">
                  <c:v>45989</c:v>
                </c:pt>
                <c:pt idx="53">
                  <c:v>45992</c:v>
                </c:pt>
                <c:pt idx="54">
                  <c:v>45993</c:v>
                </c:pt>
                <c:pt idx="55">
                  <c:v>45994</c:v>
                </c:pt>
                <c:pt idx="56">
                  <c:v>45995</c:v>
                </c:pt>
                <c:pt idx="57">
                  <c:v>45996</c:v>
                </c:pt>
                <c:pt idx="58">
                  <c:v>45999</c:v>
                </c:pt>
                <c:pt idx="59">
                  <c:v>46000</c:v>
                </c:pt>
                <c:pt idx="60">
                  <c:v>46001</c:v>
                </c:pt>
                <c:pt idx="61">
                  <c:v>46002</c:v>
                </c:pt>
                <c:pt idx="62">
                  <c:v>46003</c:v>
                </c:pt>
                <c:pt idx="63">
                  <c:v>46006</c:v>
                </c:pt>
                <c:pt idx="64">
                  <c:v>46007</c:v>
                </c:pt>
                <c:pt idx="65">
                  <c:v>46008</c:v>
                </c:pt>
                <c:pt idx="66">
                  <c:v>46009</c:v>
                </c:pt>
                <c:pt idx="67">
                  <c:v>46010</c:v>
                </c:pt>
                <c:pt idx="68">
                  <c:v>46013</c:v>
                </c:pt>
                <c:pt idx="69">
                  <c:v>46014</c:v>
                </c:pt>
                <c:pt idx="70">
                  <c:v>46015</c:v>
                </c:pt>
                <c:pt idx="71">
                  <c:v>46016</c:v>
                </c:pt>
                <c:pt idx="72">
                  <c:v>46017</c:v>
                </c:pt>
                <c:pt idx="73">
                  <c:v>46020</c:v>
                </c:pt>
                <c:pt idx="74">
                  <c:v>46021</c:v>
                </c:pt>
                <c:pt idx="75">
                  <c:v>46022</c:v>
                </c:pt>
                <c:pt idx="76">
                  <c:v>46027</c:v>
                </c:pt>
                <c:pt idx="77">
                  <c:v>46028</c:v>
                </c:pt>
                <c:pt idx="78">
                  <c:v>46029</c:v>
                </c:pt>
                <c:pt idx="79">
                  <c:v>46030</c:v>
                </c:pt>
                <c:pt idx="80">
                  <c:v>46031</c:v>
                </c:pt>
                <c:pt idx="81">
                  <c:v>46034</c:v>
                </c:pt>
                <c:pt idx="82">
                  <c:v>46035</c:v>
                </c:pt>
                <c:pt idx="83">
                  <c:v>46036</c:v>
                </c:pt>
                <c:pt idx="84">
                  <c:v>46037</c:v>
                </c:pt>
                <c:pt idx="85">
                  <c:v>46038</c:v>
                </c:pt>
                <c:pt idx="86">
                  <c:v>46041</c:v>
                </c:pt>
                <c:pt idx="87">
                  <c:v>46042</c:v>
                </c:pt>
                <c:pt idx="88">
                  <c:v>46043</c:v>
                </c:pt>
                <c:pt idx="89">
                  <c:v>46044</c:v>
                </c:pt>
                <c:pt idx="90">
                  <c:v>46045</c:v>
                </c:pt>
                <c:pt idx="91">
                  <c:v>46048</c:v>
                </c:pt>
                <c:pt idx="92">
                  <c:v>46049</c:v>
                </c:pt>
                <c:pt idx="93">
                  <c:v>46050</c:v>
                </c:pt>
                <c:pt idx="94">
                  <c:v>46051</c:v>
                </c:pt>
                <c:pt idx="95">
                  <c:v>46052</c:v>
                </c:pt>
                <c:pt idx="96">
                  <c:v>46055</c:v>
                </c:pt>
                <c:pt idx="97">
                  <c:v>46056</c:v>
                </c:pt>
                <c:pt idx="98">
                  <c:v>46057</c:v>
                </c:pt>
                <c:pt idx="99">
                  <c:v>46058</c:v>
                </c:pt>
                <c:pt idx="100">
                  <c:v>46059</c:v>
                </c:pt>
                <c:pt idx="101">
                  <c:v>46062</c:v>
                </c:pt>
                <c:pt idx="102">
                  <c:v>46063</c:v>
                </c:pt>
                <c:pt idx="103">
                  <c:v>46064</c:v>
                </c:pt>
                <c:pt idx="104">
                  <c:v>46065</c:v>
                </c:pt>
                <c:pt idx="105">
                  <c:v>46066</c:v>
                </c:pt>
                <c:pt idx="106">
                  <c:v>46077</c:v>
                </c:pt>
                <c:pt idx="107">
                  <c:v>46078</c:v>
                </c:pt>
                <c:pt idx="108">
                  <c:v>46079</c:v>
                </c:pt>
                <c:pt idx="109">
                  <c:v>46080</c:v>
                </c:pt>
                <c:pt idx="110">
                  <c:v>46083</c:v>
                </c:pt>
                <c:pt idx="111">
                  <c:v>46084</c:v>
                </c:pt>
                <c:pt idx="112">
                  <c:v>46085</c:v>
                </c:pt>
                <c:pt idx="113">
                  <c:v>46086</c:v>
                </c:pt>
                <c:pt idx="114">
                  <c:v>46087</c:v>
                </c:pt>
                <c:pt idx="115">
                  <c:v>46090</c:v>
                </c:pt>
                <c:pt idx="116">
                  <c:v>46091</c:v>
                </c:pt>
                <c:pt idx="117">
                  <c:v>46092</c:v>
                </c:pt>
                <c:pt idx="118">
                  <c:v>46093</c:v>
                </c:pt>
                <c:pt idx="119">
                  <c:v>46094</c:v>
                </c:pt>
                <c:pt idx="120">
                  <c:v>46097</c:v>
                </c:pt>
                <c:pt idx="121">
                  <c:v>46098</c:v>
                </c:pt>
                <c:pt idx="122">
                  <c:v>46099</c:v>
                </c:pt>
                <c:pt idx="123">
                  <c:v>46100</c:v>
                </c:pt>
                <c:pt idx="124">
                  <c:v>46101</c:v>
                </c:pt>
                <c:pt idx="125">
                  <c:v>46104</c:v>
                </c:pt>
                <c:pt idx="126">
                  <c:v>46105</c:v>
                </c:pt>
                <c:pt idx="127">
                  <c:v>46106</c:v>
                </c:pt>
                <c:pt idx="128">
                  <c:v>46107</c:v>
                </c:pt>
                <c:pt idx="129">
                  <c:v>46108</c:v>
                </c:pt>
                <c:pt idx="130">
                  <c:v>46111</c:v>
                </c:pt>
                <c:pt idx="131">
                  <c:v>46112</c:v>
                </c:pt>
                <c:pt idx="132">
                  <c:v>46113</c:v>
                </c:pt>
                <c:pt idx="133">
                  <c:v>46114</c:v>
                </c:pt>
                <c:pt idx="134">
                  <c:v>46115</c:v>
                </c:pt>
                <c:pt idx="135">
                  <c:v>46119</c:v>
                </c:pt>
                <c:pt idx="136">
                  <c:v>46120</c:v>
                </c:pt>
                <c:pt idx="137">
                  <c:v>46121</c:v>
                </c:pt>
                <c:pt idx="138">
                  <c:v>46122</c:v>
                </c:pt>
                <c:pt idx="139">
                  <c:v>46125</c:v>
                </c:pt>
                <c:pt idx="140">
                  <c:v>46126</c:v>
                </c:pt>
                <c:pt idx="141">
                  <c:v>46127</c:v>
                </c:pt>
                <c:pt idx="142">
                  <c:v>46128</c:v>
                </c:pt>
                <c:pt idx="143">
                  <c:v>46129</c:v>
                </c:pt>
                <c:pt idx="144">
                  <c:v>46132</c:v>
                </c:pt>
                <c:pt idx="145">
                  <c:v>46133</c:v>
                </c:pt>
                <c:pt idx="146">
                  <c:v>46134</c:v>
                </c:pt>
                <c:pt idx="147">
                  <c:v>46135</c:v>
                </c:pt>
                <c:pt idx="148">
                  <c:v>46136</c:v>
                </c:pt>
                <c:pt idx="149">
                  <c:v>46139</c:v>
                </c:pt>
                <c:pt idx="150">
                  <c:v>46140</c:v>
                </c:pt>
                <c:pt idx="151">
                  <c:v>46141</c:v>
                </c:pt>
                <c:pt idx="152">
                  <c:v>46142</c:v>
                </c:pt>
                <c:pt idx="153">
                  <c:v>46148</c:v>
                </c:pt>
                <c:pt idx="154">
                  <c:v>46149</c:v>
                </c:pt>
                <c:pt idx="155">
                  <c:v>46150</c:v>
                </c:pt>
                <c:pt idx="156">
                  <c:v>46153</c:v>
                </c:pt>
                <c:pt idx="157">
                  <c:v>46154</c:v>
                </c:pt>
                <c:pt idx="158">
                  <c:v>46155</c:v>
                </c:pt>
                <c:pt idx="159">
                  <c:v>46156</c:v>
                </c:pt>
                <c:pt idx="160">
                  <c:v>46157</c:v>
                </c:pt>
                <c:pt idx="161">
                  <c:v>46160</c:v>
                </c:pt>
                <c:pt idx="162">
                  <c:v>46161</c:v>
                </c:pt>
                <c:pt idx="163">
                  <c:v>46162</c:v>
                </c:pt>
                <c:pt idx="164">
                  <c:v>46163</c:v>
                </c:pt>
                <c:pt idx="165">
                  <c:v>46164</c:v>
                </c:pt>
                <c:pt idx="166">
                  <c:v>46167</c:v>
                </c:pt>
                <c:pt idx="167">
                  <c:v>46168</c:v>
                </c:pt>
                <c:pt idx="168">
                  <c:v>46169</c:v>
                </c:pt>
                <c:pt idx="169">
                  <c:v>46170</c:v>
                </c:pt>
                <c:pt idx="170">
                  <c:v>46171</c:v>
                </c:pt>
                <c:pt idx="171">
                  <c:v>46174</c:v>
                </c:pt>
                <c:pt idx="172">
                  <c:v>46175</c:v>
                </c:pt>
                <c:pt idx="173">
                  <c:v>46176</c:v>
                </c:pt>
                <c:pt idx="174">
                  <c:v>46177</c:v>
                </c:pt>
                <c:pt idx="175">
                  <c:v>46178</c:v>
                </c:pt>
                <c:pt idx="176">
                  <c:v>46181</c:v>
                </c:pt>
                <c:pt idx="177">
                  <c:v>46182</c:v>
                </c:pt>
                <c:pt idx="178">
                  <c:v>46183</c:v>
                </c:pt>
                <c:pt idx="179">
                  <c:v>46184</c:v>
                </c:pt>
                <c:pt idx="180">
                  <c:v>46185</c:v>
                </c:pt>
                <c:pt idx="181">
                  <c:v>46188</c:v>
                </c:pt>
                <c:pt idx="182">
                  <c:v>46189</c:v>
                </c:pt>
                <c:pt idx="183">
                  <c:v>46190</c:v>
                </c:pt>
                <c:pt idx="184">
                  <c:v>46191</c:v>
                </c:pt>
              </c:numCache>
            </c:numRef>
          </c:cat>
          <c:val>
            <c:numRef>
              <c:f>Sheet2!$D$3:$D$187</c:f>
              <c:numCache>
                <c:formatCode>0.00%</c:formatCode>
                <c:ptCount val="185"/>
                <c:pt idx="0">
                  <c:v>0</c:v>
                </c:pt>
                <c:pt idx="1">
                  <c:v>-1.9333402596144935E-3</c:v>
                </c:pt>
                <c:pt idx="2">
                  <c:v>-2.3556752972837137E-2</c:v>
                </c:pt>
                <c:pt idx="3">
                  <c:v>-1.7859847709233354E-2</c:v>
                </c:pt>
                <c:pt idx="4">
                  <c:v>-1.8683133732031558E-2</c:v>
                </c:pt>
                <c:pt idx="5">
                  <c:v>-2.3196076631567891E-2</c:v>
                </c:pt>
                <c:pt idx="6">
                  <c:v>-2.9753113043969506E-2</c:v>
                </c:pt>
                <c:pt idx="7">
                  <c:v>-1.9119590313831061E-2</c:v>
                </c:pt>
                <c:pt idx="8">
                  <c:v>-1.7351443473980589E-2</c:v>
                </c:pt>
                <c:pt idx="9">
                  <c:v>-2.2268060799299671E-2</c:v>
                </c:pt>
                <c:pt idx="10">
                  <c:v>-1.6220610393658297E-2</c:v>
                </c:pt>
                <c:pt idx="11">
                  <c:v>-2.9630025227129972E-2</c:v>
                </c:pt>
                <c:pt idx="12">
                  <c:v>-3.1186017653947469E-2</c:v>
                </c:pt>
                <c:pt idx="13">
                  <c:v>-1.8252970618110084E-2</c:v>
                </c:pt>
                <c:pt idx="14">
                  <c:v>-3.1663595869650001E-2</c:v>
                </c:pt>
                <c:pt idx="15">
                  <c:v>-2.1261458775682189E-2</c:v>
                </c:pt>
                <c:pt idx="16">
                  <c:v>-3.4298165712285618E-2</c:v>
                </c:pt>
                <c:pt idx="17">
                  <c:v>-1.4440878541607534E-2</c:v>
                </c:pt>
                <c:pt idx="18">
                  <c:v>-1.0788946361331909E-2</c:v>
                </c:pt>
                <c:pt idx="19">
                  <c:v>4.8138468800971307E-3</c:v>
                </c:pt>
                <c:pt idx="20">
                  <c:v>-9.5431235645196469E-3</c:v>
                </c:pt>
                <c:pt idx="21">
                  <c:v>-5.1809785826608702E-3</c:v>
                </c:pt>
                <c:pt idx="22">
                  <c:v>-1.0020947595958415E-2</c:v>
                </c:pt>
                <c:pt idx="23">
                  <c:v>-1.7563970393173978E-2</c:v>
                </c:pt>
                <c:pt idx="24">
                  <c:v>-3.3026153402333849E-2</c:v>
                </c:pt>
                <c:pt idx="25">
                  <c:v>-2.8998184675502036E-2</c:v>
                </c:pt>
                <c:pt idx="26">
                  <c:v>-3.0322482910409902E-2</c:v>
                </c:pt>
                <c:pt idx="27">
                  <c:v>-1.0186334380008696E-2</c:v>
                </c:pt>
                <c:pt idx="28">
                  <c:v>-2.2063359938994803E-2</c:v>
                </c:pt>
                <c:pt idx="29">
                  <c:v>-1.8707879317283869E-2</c:v>
                </c:pt>
                <c:pt idx="30">
                  <c:v>-3.0167814983563565E-2</c:v>
                </c:pt>
                <c:pt idx="31">
                  <c:v>-1.9685897116481457E-2</c:v>
                </c:pt>
                <c:pt idx="32">
                  <c:v>-1.7755356452990791E-2</c:v>
                </c:pt>
                <c:pt idx="33">
                  <c:v>-2.1467406063992722E-2</c:v>
                </c:pt>
                <c:pt idx="34">
                  <c:v>-1.1238162968671264E-2</c:v>
                </c:pt>
                <c:pt idx="35">
                  <c:v>-1.4608168607202224E-2</c:v>
                </c:pt>
                <c:pt idx="36">
                  <c:v>-2.653905777022831E-2</c:v>
                </c:pt>
                <c:pt idx="37">
                  <c:v>-2.3884873909741235E-2</c:v>
                </c:pt>
                <c:pt idx="38">
                  <c:v>-2.7772635876993343E-2</c:v>
                </c:pt>
                <c:pt idx="39">
                  <c:v>-2.2552102748355118E-2</c:v>
                </c:pt>
                <c:pt idx="40">
                  <c:v>-1.8508297718462824E-2</c:v>
                </c:pt>
                <c:pt idx="41">
                  <c:v>-3.1371612266780216E-2</c:v>
                </c:pt>
                <c:pt idx="42">
                  <c:v>-2.0601903382412336E-2</c:v>
                </c:pt>
                <c:pt idx="43">
                  <c:v>-1.9255918490447235E-2</c:v>
                </c:pt>
                <c:pt idx="44">
                  <c:v>-1.0072476606149138E-2</c:v>
                </c:pt>
                <c:pt idx="45">
                  <c:v>-7.324726722904025E-3</c:v>
                </c:pt>
                <c:pt idx="46">
                  <c:v>-1.0050331200643602E-3</c:v>
                </c:pt>
                <c:pt idx="47">
                  <c:v>-1.8008106775012581E-2</c:v>
                </c:pt>
                <c:pt idx="48">
                  <c:v>-2.361718410357953E-2</c:v>
                </c:pt>
                <c:pt idx="49">
                  <c:v>-3.503586468736411E-2</c:v>
                </c:pt>
                <c:pt idx="50">
                  <c:v>-3.7356841333356212E-2</c:v>
                </c:pt>
                <c:pt idx="51">
                  <c:v>-3.7345745834396697E-2</c:v>
                </c:pt>
                <c:pt idx="52">
                  <c:v>-1.1859030576168973E-2</c:v>
                </c:pt>
                <c:pt idx="53">
                  <c:v>-2.1034806479367837E-2</c:v>
                </c:pt>
                <c:pt idx="54">
                  <c:v>-1.4837264233255595E-2</c:v>
                </c:pt>
                <c:pt idx="55">
                  <c:v>-8.1229743401455452E-3</c:v>
                </c:pt>
                <c:pt idx="56">
                  <c:v>-8.329955829827226E-3</c:v>
                </c:pt>
                <c:pt idx="57">
                  <c:v>-1.4598159155854488E-2</c:v>
                </c:pt>
                <c:pt idx="58">
                  <c:v>-1.3197765063904854E-2</c:v>
                </c:pt>
                <c:pt idx="59">
                  <c:v>-9.3879420169397723E-3</c:v>
                </c:pt>
                <c:pt idx="60">
                  <c:v>-9.9852868640387983E-3</c:v>
                </c:pt>
                <c:pt idx="61">
                  <c:v>-1.0952952966179954E-2</c:v>
                </c:pt>
                <c:pt idx="62">
                  <c:v>-1.2568961148606068E-2</c:v>
                </c:pt>
                <c:pt idx="63">
                  <c:v>-1.1150499549623469E-2</c:v>
                </c:pt>
                <c:pt idx="64">
                  <c:v>-8.7977475128429919E-3</c:v>
                </c:pt>
                <c:pt idx="65">
                  <c:v>-4.3509893654684814E-3</c:v>
                </c:pt>
                <c:pt idx="66">
                  <c:v>-5.1275812921817952E-3</c:v>
                </c:pt>
                <c:pt idx="67">
                  <c:v>-6.2457292920164789E-3</c:v>
                </c:pt>
                <c:pt idx="68">
                  <c:v>-5.8234864478568724E-3</c:v>
                </c:pt>
                <c:pt idx="69">
                  <c:v>-4.2386924257079989E-3</c:v>
                </c:pt>
                <c:pt idx="70">
                  <c:v>-3.8333883737328225E-3</c:v>
                </c:pt>
                <c:pt idx="71">
                  <c:v>-3.7134984814298222E-3</c:v>
                </c:pt>
                <c:pt idx="72">
                  <c:v>-5.5340787155043619E-3</c:v>
                </c:pt>
                <c:pt idx="73">
                  <c:v>-8.5437012365428416E-3</c:v>
                </c:pt>
                <c:pt idx="74">
                  <c:v>-8.4647716899351466E-3</c:v>
                </c:pt>
                <c:pt idx="75">
                  <c:v>-7.908112827102895E-3</c:v>
                </c:pt>
                <c:pt idx="76">
                  <c:v>-7.7869889135792764E-3</c:v>
                </c:pt>
                <c:pt idx="77">
                  <c:v>-1.0885952694844436E-2</c:v>
                </c:pt>
                <c:pt idx="78">
                  <c:v>-9.0136839779986211E-3</c:v>
                </c:pt>
                <c:pt idx="79">
                  <c:v>-9.5139901129018406E-3</c:v>
                </c:pt>
                <c:pt idx="80">
                  <c:v>-7.4378400896513847E-3</c:v>
                </c:pt>
                <c:pt idx="81">
                  <c:v>-1.1970911434718637E-2</c:v>
                </c:pt>
                <c:pt idx="82">
                  <c:v>-9.3202485795240569E-3</c:v>
                </c:pt>
                <c:pt idx="83">
                  <c:v>-8.705766330809217E-3</c:v>
                </c:pt>
                <c:pt idx="84">
                  <c:v>-1.3291752110414362E-3</c:v>
                </c:pt>
                <c:pt idx="85">
                  <c:v>5.3363635813445387E-3</c:v>
                </c:pt>
                <c:pt idx="86">
                  <c:v>5.747650628963541E-3</c:v>
                </c:pt>
                <c:pt idx="87">
                  <c:v>5.1383338393553163E-3</c:v>
                </c:pt>
                <c:pt idx="88">
                  <c:v>9.4126925447325233E-3</c:v>
                </c:pt>
                <c:pt idx="89">
                  <c:v>8.4449170006243995E-3</c:v>
                </c:pt>
                <c:pt idx="90">
                  <c:v>8.8817245027956182E-3</c:v>
                </c:pt>
                <c:pt idx="91">
                  <c:v>1.1626155924038248E-2</c:v>
                </c:pt>
                <c:pt idx="92">
                  <c:v>1.0622816683192107E-2</c:v>
                </c:pt>
                <c:pt idx="93">
                  <c:v>8.62857716364758E-3</c:v>
                </c:pt>
                <c:pt idx="94">
                  <c:v>3.7933882930382135E-3</c:v>
                </c:pt>
                <c:pt idx="95">
                  <c:v>6.9613035395650197E-3</c:v>
                </c:pt>
                <c:pt idx="96">
                  <c:v>4.0548690579819413E-3</c:v>
                </c:pt>
                <c:pt idx="97">
                  <c:v>2.2896969214025453E-3</c:v>
                </c:pt>
                <c:pt idx="98">
                  <c:v>2.9345695400310318E-3</c:v>
                </c:pt>
                <c:pt idx="99">
                  <c:v>3.1720331896633036E-3</c:v>
                </c:pt>
                <c:pt idx="100">
                  <c:v>5.5107229927991025E-3</c:v>
                </c:pt>
                <c:pt idx="101">
                  <c:v>-5.3946689153543115E-4</c:v>
                </c:pt>
                <c:pt idx="102">
                  <c:v>1.2678713688718674E-3</c:v>
                </c:pt>
                <c:pt idx="103">
                  <c:v>4.8371999802297311E-3</c:v>
                </c:pt>
                <c:pt idx="104">
                  <c:v>4.0736212581691661E-3</c:v>
                </c:pt>
                <c:pt idx="105">
                  <c:v>2.6176448693907561E-3</c:v>
                </c:pt>
                <c:pt idx="106">
                  <c:v>-1.264723172344398E-3</c:v>
                </c:pt>
                <c:pt idx="107">
                  <c:v>-1.2206205813434928E-3</c:v>
                </c:pt>
                <c:pt idx="108">
                  <c:v>-4.9299361605336101E-3</c:v>
                </c:pt>
                <c:pt idx="109">
                  <c:v>-4.6824770802294802E-3</c:v>
                </c:pt>
                <c:pt idx="110">
                  <c:v>-1.0265423701801363E-2</c:v>
                </c:pt>
                <c:pt idx="111">
                  <c:v>-9.69515913467206E-3</c:v>
                </c:pt>
                <c:pt idx="112">
                  <c:v>-1.2650925919388087E-2</c:v>
                </c:pt>
                <c:pt idx="113">
                  <c:v>-1.5080860566899223E-2</c:v>
                </c:pt>
                <c:pt idx="114">
                  <c:v>-1.3599855153304585E-2</c:v>
                </c:pt>
                <c:pt idx="115">
                  <c:v>-1.3009637046055539E-2</c:v>
                </c:pt>
                <c:pt idx="116">
                  <c:v>-1.0368678616855156E-2</c:v>
                </c:pt>
                <c:pt idx="117">
                  <c:v>-1.0692886574748789E-2</c:v>
                </c:pt>
                <c:pt idx="118">
                  <c:v>-1.6095913426865033E-2</c:v>
                </c:pt>
                <c:pt idx="119">
                  <c:v>-1.5587431119646625E-2</c:v>
                </c:pt>
                <c:pt idx="120">
                  <c:v>-1.4886357680556586E-2</c:v>
                </c:pt>
                <c:pt idx="121">
                  <c:v>-1.5110975465834287E-2</c:v>
                </c:pt>
                <c:pt idx="122">
                  <c:v>-1.4790436789446706E-2</c:v>
                </c:pt>
                <c:pt idx="123">
                  <c:v>-1.6005573773468285E-2</c:v>
                </c:pt>
                <c:pt idx="124">
                  <c:v>-1.5176255329622045E-2</c:v>
                </c:pt>
                <c:pt idx="125">
                  <c:v>-1.6062370220487728E-2</c:v>
                </c:pt>
                <c:pt idx="126">
                  <c:v>-1.2457752576425195E-2</c:v>
                </c:pt>
                <c:pt idx="127">
                  <c:v>-9.1304615828435853E-3</c:v>
                </c:pt>
                <c:pt idx="128">
                  <c:v>-8.0330214153215423E-3</c:v>
                </c:pt>
                <c:pt idx="129">
                  <c:v>-6.0957923850580298E-3</c:v>
                </c:pt>
                <c:pt idx="130">
                  <c:v>-4.4034618965434896E-3</c:v>
                </c:pt>
                <c:pt idx="131">
                  <c:v>-2.9486528551238358E-3</c:v>
                </c:pt>
                <c:pt idx="132">
                  <c:v>-2.6150468078755054E-3</c:v>
                </c:pt>
                <c:pt idx="133">
                  <c:v>-3.7124227223714265E-3</c:v>
                </c:pt>
                <c:pt idx="134">
                  <c:v>-5.0948301026939695E-3</c:v>
                </c:pt>
                <c:pt idx="135">
                  <c:v>-2.6666042628906428E-3</c:v>
                </c:pt>
                <c:pt idx="136">
                  <c:v>-1.513325694250528E-3</c:v>
                </c:pt>
                <c:pt idx="137">
                  <c:v>3.4635421069143246E-3</c:v>
                </c:pt>
                <c:pt idx="138">
                  <c:v>2.5822404434971136E-3</c:v>
                </c:pt>
                <c:pt idx="139">
                  <c:v>-6.3681970721995995E-4</c:v>
                </c:pt>
                <c:pt idx="140">
                  <c:v>-2.8492474730004713E-4</c:v>
                </c:pt>
                <c:pt idx="141">
                  <c:v>1.1316097652496471E-3</c:v>
                </c:pt>
                <c:pt idx="142">
                  <c:v>4.9548691588504334E-3</c:v>
                </c:pt>
                <c:pt idx="143">
                  <c:v>7.1971152711388237E-3</c:v>
                </c:pt>
                <c:pt idx="144">
                  <c:v>6.3526587337210255E-3</c:v>
                </c:pt>
                <c:pt idx="145">
                  <c:v>9.7383786248238097E-3</c:v>
                </c:pt>
                <c:pt idx="146">
                  <c:v>1.5401148888483249E-2</c:v>
                </c:pt>
                <c:pt idx="147">
                  <c:v>1.296163247067518E-2</c:v>
                </c:pt>
                <c:pt idx="148">
                  <c:v>1.3521968886203758E-2</c:v>
                </c:pt>
                <c:pt idx="149">
                  <c:v>1.5476124907075395E-2</c:v>
                </c:pt>
                <c:pt idx="150">
                  <c:v>1.5026900028545773E-2</c:v>
                </c:pt>
                <c:pt idx="151">
                  <c:v>1.5610644214756331E-2</c:v>
                </c:pt>
                <c:pt idx="152">
                  <c:v>1.1876857310874844E-2</c:v>
                </c:pt>
                <c:pt idx="153">
                  <c:v>1.5772857988708811E-2</c:v>
                </c:pt>
                <c:pt idx="154">
                  <c:v>2.3715606121891081E-2</c:v>
                </c:pt>
                <c:pt idx="155">
                  <c:v>2.7679617770147547E-2</c:v>
                </c:pt>
                <c:pt idx="156">
                  <c:v>3.6527510987065609E-2</c:v>
                </c:pt>
                <c:pt idx="157">
                  <c:v>3.8675919842080853E-2</c:v>
                </c:pt>
                <c:pt idx="158">
                  <c:v>4.5683530143948964E-2</c:v>
                </c:pt>
                <c:pt idx="159">
                  <c:v>4.2001582319019876E-2</c:v>
                </c:pt>
                <c:pt idx="160">
                  <c:v>4.2700557498388664E-2</c:v>
                </c:pt>
                <c:pt idx="161">
                  <c:v>4.5790697533672431E-2</c:v>
                </c:pt>
                <c:pt idx="162">
                  <c:v>4.2505346214871398E-2</c:v>
                </c:pt>
                <c:pt idx="163">
                  <c:v>5.176693702699145E-2</c:v>
                </c:pt>
                <c:pt idx="164">
                  <c:v>4.0817071938171925E-2</c:v>
                </c:pt>
                <c:pt idx="165">
                  <c:v>5.2500842047502799E-2</c:v>
                </c:pt>
                <c:pt idx="166">
                  <c:v>5.5406697949249156E-2</c:v>
                </c:pt>
                <c:pt idx="167">
                  <c:v>5.1797611946019451E-2</c:v>
                </c:pt>
                <c:pt idx="168">
                  <c:v>5.1446012126371732E-2</c:v>
                </c:pt>
                <c:pt idx="169">
                  <c:v>5.7702938693333677E-2</c:v>
                </c:pt>
                <c:pt idx="170">
                  <c:v>4.8420137624534287E-2</c:v>
                </c:pt>
                <c:pt idx="171">
                  <c:v>3.8028667037189184E-2</c:v>
                </c:pt>
                <c:pt idx="172">
                  <c:v>4.0369361292645733E-2</c:v>
                </c:pt>
                <c:pt idx="173">
                  <c:v>5.0275219514360064E-2</c:v>
                </c:pt>
                <c:pt idx="174">
                  <c:v>5.7896797435527586E-2</c:v>
                </c:pt>
                <c:pt idx="175">
                  <c:v>5.5574979246373502E-2</c:v>
                </c:pt>
                <c:pt idx="176">
                  <c:v>4.7515430409534987E-2</c:v>
                </c:pt>
                <c:pt idx="177">
                  <c:v>5.4329007669007265E-2</c:v>
                </c:pt>
                <c:pt idx="178">
                  <c:v>5.2754381259500549E-2</c:v>
                </c:pt>
                <c:pt idx="179">
                  <c:v>5.5680343214043332E-2</c:v>
                </c:pt>
                <c:pt idx="180">
                  <c:v>5.7046809489274292E-2</c:v>
                </c:pt>
                <c:pt idx="181">
                  <c:v>7.0138380642187276E-2</c:v>
                </c:pt>
                <c:pt idx="182">
                  <c:v>7.9044141929588141E-2</c:v>
                </c:pt>
                <c:pt idx="183">
                  <c:v>8.7077220839767933E-2</c:v>
                </c:pt>
                <c:pt idx="184">
                  <c:v>9.7643081099019285E-2</c:v>
                </c:pt>
              </c:numCache>
            </c:numRef>
          </c:val>
          <c:extLst xmlns:c16r2="http://schemas.microsoft.com/office/drawing/2015/06/chart">
            <c:ext xmlns:c16="http://schemas.microsoft.com/office/drawing/2014/chart" uri="{C3380CC4-5D6E-409C-BE32-E72D297353CC}">
              <c16:uniqueId val="{00000000-0F31-4AE4-8058-1A839BFD087F}"/>
            </c:ext>
          </c:extLst>
        </c:ser>
        <c:dLbls>
          <c:showLegendKey val="0"/>
          <c:showVal val="0"/>
          <c:showCatName val="0"/>
          <c:showSerName val="0"/>
          <c:showPercent val="0"/>
          <c:showBubbleSize val="0"/>
        </c:dLbls>
        <c:axId val="-2048904192"/>
        <c:axId val="-2048903648"/>
      </c:areaChart>
      <c:lineChart>
        <c:grouping val="standard"/>
        <c:varyColors val="0"/>
        <c:ser>
          <c:idx val="0"/>
          <c:order val="0"/>
          <c:tx>
            <c:strRef>
              <c:f>Sheet2!$B$2</c:f>
              <c:strCache>
                <c:ptCount val="1"/>
                <c:pt idx="0">
                  <c:v>博道中证全指指数增强A</c:v>
                </c:pt>
              </c:strCache>
            </c:strRef>
          </c:tx>
          <c:spPr>
            <a:ln w="19050">
              <a:solidFill>
                <a:srgbClr val="2277A2"/>
              </a:solidFill>
              <a:prstDash val="solid"/>
            </a:ln>
          </c:spPr>
          <c:marker>
            <c:symbol val="none"/>
          </c:marker>
          <c:cat>
            <c:numRef>
              <c:f>Sheet2!$A$3:$A$187</c:f>
              <c:numCache>
                <c:formatCode>yyyy\-mm\-dd</c:formatCode>
                <c:ptCount val="185"/>
                <c:pt idx="0">
                  <c:v>45909</c:v>
                </c:pt>
                <c:pt idx="1">
                  <c:v>45910</c:v>
                </c:pt>
                <c:pt idx="2">
                  <c:v>45911</c:v>
                </c:pt>
                <c:pt idx="3">
                  <c:v>45912</c:v>
                </c:pt>
                <c:pt idx="4">
                  <c:v>45915</c:v>
                </c:pt>
                <c:pt idx="5">
                  <c:v>45916</c:v>
                </c:pt>
                <c:pt idx="6">
                  <c:v>45917</c:v>
                </c:pt>
                <c:pt idx="7">
                  <c:v>45918</c:v>
                </c:pt>
                <c:pt idx="8">
                  <c:v>45919</c:v>
                </c:pt>
                <c:pt idx="9">
                  <c:v>45922</c:v>
                </c:pt>
                <c:pt idx="10">
                  <c:v>45923</c:v>
                </c:pt>
                <c:pt idx="11">
                  <c:v>45924</c:v>
                </c:pt>
                <c:pt idx="12">
                  <c:v>45925</c:v>
                </c:pt>
                <c:pt idx="13">
                  <c:v>45926</c:v>
                </c:pt>
                <c:pt idx="14">
                  <c:v>45929</c:v>
                </c:pt>
                <c:pt idx="15">
                  <c:v>45930</c:v>
                </c:pt>
                <c:pt idx="16">
                  <c:v>45939</c:v>
                </c:pt>
                <c:pt idx="17">
                  <c:v>45940</c:v>
                </c:pt>
                <c:pt idx="18">
                  <c:v>45943</c:v>
                </c:pt>
                <c:pt idx="19">
                  <c:v>45944</c:v>
                </c:pt>
                <c:pt idx="20">
                  <c:v>45945</c:v>
                </c:pt>
                <c:pt idx="21">
                  <c:v>45946</c:v>
                </c:pt>
                <c:pt idx="22">
                  <c:v>45947</c:v>
                </c:pt>
                <c:pt idx="23">
                  <c:v>45950</c:v>
                </c:pt>
                <c:pt idx="24">
                  <c:v>45951</c:v>
                </c:pt>
                <c:pt idx="25">
                  <c:v>45952</c:v>
                </c:pt>
                <c:pt idx="26">
                  <c:v>45953</c:v>
                </c:pt>
                <c:pt idx="27">
                  <c:v>45954</c:v>
                </c:pt>
                <c:pt idx="28">
                  <c:v>45957</c:v>
                </c:pt>
                <c:pt idx="29">
                  <c:v>45958</c:v>
                </c:pt>
                <c:pt idx="30">
                  <c:v>45959</c:v>
                </c:pt>
                <c:pt idx="31">
                  <c:v>45960</c:v>
                </c:pt>
                <c:pt idx="32">
                  <c:v>45961</c:v>
                </c:pt>
                <c:pt idx="33">
                  <c:v>45964</c:v>
                </c:pt>
                <c:pt idx="34">
                  <c:v>45965</c:v>
                </c:pt>
                <c:pt idx="35">
                  <c:v>45966</c:v>
                </c:pt>
                <c:pt idx="36">
                  <c:v>45967</c:v>
                </c:pt>
                <c:pt idx="37">
                  <c:v>45968</c:v>
                </c:pt>
                <c:pt idx="38">
                  <c:v>45971</c:v>
                </c:pt>
                <c:pt idx="39">
                  <c:v>45972</c:v>
                </c:pt>
                <c:pt idx="40">
                  <c:v>45973</c:v>
                </c:pt>
                <c:pt idx="41">
                  <c:v>45974</c:v>
                </c:pt>
                <c:pt idx="42">
                  <c:v>45975</c:v>
                </c:pt>
                <c:pt idx="43">
                  <c:v>45978</c:v>
                </c:pt>
                <c:pt idx="44">
                  <c:v>45979</c:v>
                </c:pt>
                <c:pt idx="45">
                  <c:v>45980</c:v>
                </c:pt>
                <c:pt idx="46">
                  <c:v>45981</c:v>
                </c:pt>
                <c:pt idx="47">
                  <c:v>45982</c:v>
                </c:pt>
                <c:pt idx="48">
                  <c:v>45985</c:v>
                </c:pt>
                <c:pt idx="49">
                  <c:v>45986</c:v>
                </c:pt>
                <c:pt idx="50">
                  <c:v>45987</c:v>
                </c:pt>
                <c:pt idx="51">
                  <c:v>45988</c:v>
                </c:pt>
                <c:pt idx="52">
                  <c:v>45989</c:v>
                </c:pt>
                <c:pt idx="53">
                  <c:v>45992</c:v>
                </c:pt>
                <c:pt idx="54">
                  <c:v>45993</c:v>
                </c:pt>
                <c:pt idx="55">
                  <c:v>45994</c:v>
                </c:pt>
                <c:pt idx="56">
                  <c:v>45995</c:v>
                </c:pt>
                <c:pt idx="57">
                  <c:v>45996</c:v>
                </c:pt>
                <c:pt idx="58">
                  <c:v>45999</c:v>
                </c:pt>
                <c:pt idx="59">
                  <c:v>46000</c:v>
                </c:pt>
                <c:pt idx="60">
                  <c:v>46001</c:v>
                </c:pt>
                <c:pt idx="61">
                  <c:v>46002</c:v>
                </c:pt>
                <c:pt idx="62">
                  <c:v>46003</c:v>
                </c:pt>
                <c:pt idx="63">
                  <c:v>46006</c:v>
                </c:pt>
                <c:pt idx="64">
                  <c:v>46007</c:v>
                </c:pt>
                <c:pt idx="65">
                  <c:v>46008</c:v>
                </c:pt>
                <c:pt idx="66">
                  <c:v>46009</c:v>
                </c:pt>
                <c:pt idx="67">
                  <c:v>46010</c:v>
                </c:pt>
                <c:pt idx="68">
                  <c:v>46013</c:v>
                </c:pt>
                <c:pt idx="69">
                  <c:v>46014</c:v>
                </c:pt>
                <c:pt idx="70">
                  <c:v>46015</c:v>
                </c:pt>
                <c:pt idx="71">
                  <c:v>46016</c:v>
                </c:pt>
                <c:pt idx="72">
                  <c:v>46017</c:v>
                </c:pt>
                <c:pt idx="73">
                  <c:v>46020</c:v>
                </c:pt>
                <c:pt idx="74">
                  <c:v>46021</c:v>
                </c:pt>
                <c:pt idx="75">
                  <c:v>46022</c:v>
                </c:pt>
                <c:pt idx="76">
                  <c:v>46027</c:v>
                </c:pt>
                <c:pt idx="77">
                  <c:v>46028</c:v>
                </c:pt>
                <c:pt idx="78">
                  <c:v>46029</c:v>
                </c:pt>
                <c:pt idx="79">
                  <c:v>46030</c:v>
                </c:pt>
                <c:pt idx="80">
                  <c:v>46031</c:v>
                </c:pt>
                <c:pt idx="81">
                  <c:v>46034</c:v>
                </c:pt>
                <c:pt idx="82">
                  <c:v>46035</c:v>
                </c:pt>
                <c:pt idx="83">
                  <c:v>46036</c:v>
                </c:pt>
                <c:pt idx="84">
                  <c:v>46037</c:v>
                </c:pt>
                <c:pt idx="85">
                  <c:v>46038</c:v>
                </c:pt>
                <c:pt idx="86">
                  <c:v>46041</c:v>
                </c:pt>
                <c:pt idx="87">
                  <c:v>46042</c:v>
                </c:pt>
                <c:pt idx="88">
                  <c:v>46043</c:v>
                </c:pt>
                <c:pt idx="89">
                  <c:v>46044</c:v>
                </c:pt>
                <c:pt idx="90">
                  <c:v>46045</c:v>
                </c:pt>
                <c:pt idx="91">
                  <c:v>46048</c:v>
                </c:pt>
                <c:pt idx="92">
                  <c:v>46049</c:v>
                </c:pt>
                <c:pt idx="93">
                  <c:v>46050</c:v>
                </c:pt>
                <c:pt idx="94">
                  <c:v>46051</c:v>
                </c:pt>
                <c:pt idx="95">
                  <c:v>46052</c:v>
                </c:pt>
                <c:pt idx="96">
                  <c:v>46055</c:v>
                </c:pt>
                <c:pt idx="97">
                  <c:v>46056</c:v>
                </c:pt>
                <c:pt idx="98">
                  <c:v>46057</c:v>
                </c:pt>
                <c:pt idx="99">
                  <c:v>46058</c:v>
                </c:pt>
                <c:pt idx="100">
                  <c:v>46059</c:v>
                </c:pt>
                <c:pt idx="101">
                  <c:v>46062</c:v>
                </c:pt>
                <c:pt idx="102">
                  <c:v>46063</c:v>
                </c:pt>
                <c:pt idx="103">
                  <c:v>46064</c:v>
                </c:pt>
                <c:pt idx="104">
                  <c:v>46065</c:v>
                </c:pt>
                <c:pt idx="105">
                  <c:v>46066</c:v>
                </c:pt>
                <c:pt idx="106">
                  <c:v>46077</c:v>
                </c:pt>
                <c:pt idx="107">
                  <c:v>46078</c:v>
                </c:pt>
                <c:pt idx="108">
                  <c:v>46079</c:v>
                </c:pt>
                <c:pt idx="109">
                  <c:v>46080</c:v>
                </c:pt>
                <c:pt idx="110">
                  <c:v>46083</c:v>
                </c:pt>
                <c:pt idx="111">
                  <c:v>46084</c:v>
                </c:pt>
                <c:pt idx="112">
                  <c:v>46085</c:v>
                </c:pt>
                <c:pt idx="113">
                  <c:v>46086</c:v>
                </c:pt>
                <c:pt idx="114">
                  <c:v>46087</c:v>
                </c:pt>
                <c:pt idx="115">
                  <c:v>46090</c:v>
                </c:pt>
                <c:pt idx="116">
                  <c:v>46091</c:v>
                </c:pt>
                <c:pt idx="117">
                  <c:v>46092</c:v>
                </c:pt>
                <c:pt idx="118">
                  <c:v>46093</c:v>
                </c:pt>
                <c:pt idx="119">
                  <c:v>46094</c:v>
                </c:pt>
                <c:pt idx="120">
                  <c:v>46097</c:v>
                </c:pt>
                <c:pt idx="121">
                  <c:v>46098</c:v>
                </c:pt>
                <c:pt idx="122">
                  <c:v>46099</c:v>
                </c:pt>
                <c:pt idx="123">
                  <c:v>46100</c:v>
                </c:pt>
                <c:pt idx="124">
                  <c:v>46101</c:v>
                </c:pt>
                <c:pt idx="125">
                  <c:v>46104</c:v>
                </c:pt>
                <c:pt idx="126">
                  <c:v>46105</c:v>
                </c:pt>
                <c:pt idx="127">
                  <c:v>46106</c:v>
                </c:pt>
                <c:pt idx="128">
                  <c:v>46107</c:v>
                </c:pt>
                <c:pt idx="129">
                  <c:v>46108</c:v>
                </c:pt>
                <c:pt idx="130">
                  <c:v>46111</c:v>
                </c:pt>
                <c:pt idx="131">
                  <c:v>46112</c:v>
                </c:pt>
                <c:pt idx="132">
                  <c:v>46113</c:v>
                </c:pt>
                <c:pt idx="133">
                  <c:v>46114</c:v>
                </c:pt>
                <c:pt idx="134">
                  <c:v>46115</c:v>
                </c:pt>
                <c:pt idx="135">
                  <c:v>46119</c:v>
                </c:pt>
                <c:pt idx="136">
                  <c:v>46120</c:v>
                </c:pt>
                <c:pt idx="137">
                  <c:v>46121</c:v>
                </c:pt>
                <c:pt idx="138">
                  <c:v>46122</c:v>
                </c:pt>
                <c:pt idx="139">
                  <c:v>46125</c:v>
                </c:pt>
                <c:pt idx="140">
                  <c:v>46126</c:v>
                </c:pt>
                <c:pt idx="141">
                  <c:v>46127</c:v>
                </c:pt>
                <c:pt idx="142">
                  <c:v>46128</c:v>
                </c:pt>
                <c:pt idx="143">
                  <c:v>46129</c:v>
                </c:pt>
                <c:pt idx="144">
                  <c:v>46132</c:v>
                </c:pt>
                <c:pt idx="145">
                  <c:v>46133</c:v>
                </c:pt>
                <c:pt idx="146">
                  <c:v>46134</c:v>
                </c:pt>
                <c:pt idx="147">
                  <c:v>46135</c:v>
                </c:pt>
                <c:pt idx="148">
                  <c:v>46136</c:v>
                </c:pt>
                <c:pt idx="149">
                  <c:v>46139</c:v>
                </c:pt>
                <c:pt idx="150">
                  <c:v>46140</c:v>
                </c:pt>
                <c:pt idx="151">
                  <c:v>46141</c:v>
                </c:pt>
                <c:pt idx="152">
                  <c:v>46142</c:v>
                </c:pt>
                <c:pt idx="153">
                  <c:v>46148</c:v>
                </c:pt>
                <c:pt idx="154">
                  <c:v>46149</c:v>
                </c:pt>
                <c:pt idx="155">
                  <c:v>46150</c:v>
                </c:pt>
                <c:pt idx="156">
                  <c:v>46153</c:v>
                </c:pt>
                <c:pt idx="157">
                  <c:v>46154</c:v>
                </c:pt>
                <c:pt idx="158">
                  <c:v>46155</c:v>
                </c:pt>
                <c:pt idx="159">
                  <c:v>46156</c:v>
                </c:pt>
                <c:pt idx="160">
                  <c:v>46157</c:v>
                </c:pt>
                <c:pt idx="161">
                  <c:v>46160</c:v>
                </c:pt>
                <c:pt idx="162">
                  <c:v>46161</c:v>
                </c:pt>
                <c:pt idx="163">
                  <c:v>46162</c:v>
                </c:pt>
                <c:pt idx="164">
                  <c:v>46163</c:v>
                </c:pt>
                <c:pt idx="165">
                  <c:v>46164</c:v>
                </c:pt>
                <c:pt idx="166">
                  <c:v>46167</c:v>
                </c:pt>
                <c:pt idx="167">
                  <c:v>46168</c:v>
                </c:pt>
                <c:pt idx="168">
                  <c:v>46169</c:v>
                </c:pt>
                <c:pt idx="169">
                  <c:v>46170</c:v>
                </c:pt>
                <c:pt idx="170">
                  <c:v>46171</c:v>
                </c:pt>
                <c:pt idx="171">
                  <c:v>46174</c:v>
                </c:pt>
                <c:pt idx="172">
                  <c:v>46175</c:v>
                </c:pt>
                <c:pt idx="173">
                  <c:v>46176</c:v>
                </c:pt>
                <c:pt idx="174">
                  <c:v>46177</c:v>
                </c:pt>
                <c:pt idx="175">
                  <c:v>46178</c:v>
                </c:pt>
                <c:pt idx="176">
                  <c:v>46181</c:v>
                </c:pt>
                <c:pt idx="177">
                  <c:v>46182</c:v>
                </c:pt>
                <c:pt idx="178">
                  <c:v>46183</c:v>
                </c:pt>
                <c:pt idx="179">
                  <c:v>46184</c:v>
                </c:pt>
                <c:pt idx="180">
                  <c:v>46185</c:v>
                </c:pt>
                <c:pt idx="181">
                  <c:v>46188</c:v>
                </c:pt>
                <c:pt idx="182">
                  <c:v>46189</c:v>
                </c:pt>
                <c:pt idx="183">
                  <c:v>46190</c:v>
                </c:pt>
                <c:pt idx="184">
                  <c:v>46191</c:v>
                </c:pt>
              </c:numCache>
            </c:numRef>
          </c:cat>
          <c:val>
            <c:numRef>
              <c:f>Sheet2!$B$3:$B$187</c:f>
              <c:numCache>
                <c:formatCode>0.00%</c:formatCode>
                <c:ptCount val="185"/>
                <c:pt idx="0">
                  <c:v>0</c:v>
                </c:pt>
                <c:pt idx="1">
                  <c:v>0</c:v>
                </c:pt>
                <c:pt idx="2">
                  <c:v>0</c:v>
                </c:pt>
                <c:pt idx="3">
                  <c:v>4.0000000000000036E-3</c:v>
                </c:pt>
                <c:pt idx="4">
                  <c:v>4.0000000000000036E-3</c:v>
                </c:pt>
                <c:pt idx="5">
                  <c:v>4.0000000000000036E-3</c:v>
                </c:pt>
                <c:pt idx="6">
                  <c:v>4.0000000000000036E-3</c:v>
                </c:pt>
                <c:pt idx="7">
                  <c:v>4.0000000000000036E-3</c:v>
                </c:pt>
                <c:pt idx="8">
                  <c:v>2.7999999999999137E-3</c:v>
                </c:pt>
                <c:pt idx="9">
                  <c:v>2.7999999999999137E-3</c:v>
                </c:pt>
                <c:pt idx="10">
                  <c:v>2.7999999999999137E-3</c:v>
                </c:pt>
                <c:pt idx="11">
                  <c:v>2.7999999999999137E-3</c:v>
                </c:pt>
                <c:pt idx="12">
                  <c:v>2.7999999999999137E-3</c:v>
                </c:pt>
                <c:pt idx="13">
                  <c:v>3.9000000000000146E-3</c:v>
                </c:pt>
                <c:pt idx="14">
                  <c:v>3.9000000000000146E-3</c:v>
                </c:pt>
                <c:pt idx="15">
                  <c:v>2.0199999999999996E-2</c:v>
                </c:pt>
                <c:pt idx="16">
                  <c:v>2.0199999999999996E-2</c:v>
                </c:pt>
                <c:pt idx="17">
                  <c:v>2.3700000000000054E-2</c:v>
                </c:pt>
                <c:pt idx="18">
                  <c:v>2.3700000000000054E-2</c:v>
                </c:pt>
                <c:pt idx="19">
                  <c:v>2.3700000000000054E-2</c:v>
                </c:pt>
                <c:pt idx="20">
                  <c:v>2.3700000000000054E-2</c:v>
                </c:pt>
                <c:pt idx="21">
                  <c:v>2.3700000000000054E-2</c:v>
                </c:pt>
                <c:pt idx="22">
                  <c:v>-6.0999999999999943E-3</c:v>
                </c:pt>
                <c:pt idx="23">
                  <c:v>-6.0999999999999943E-3</c:v>
                </c:pt>
                <c:pt idx="24">
                  <c:v>-6.0999999999999943E-3</c:v>
                </c:pt>
                <c:pt idx="25">
                  <c:v>-6.0999999999999943E-3</c:v>
                </c:pt>
                <c:pt idx="26">
                  <c:v>-6.0999999999999943E-3</c:v>
                </c:pt>
                <c:pt idx="27">
                  <c:v>2.5800000000000045E-2</c:v>
                </c:pt>
                <c:pt idx="28">
                  <c:v>2.5800000000000045E-2</c:v>
                </c:pt>
                <c:pt idx="29">
                  <c:v>2.5800000000000045E-2</c:v>
                </c:pt>
                <c:pt idx="30">
                  <c:v>2.5800000000000045E-2</c:v>
                </c:pt>
                <c:pt idx="31">
                  <c:v>2.5800000000000045E-2</c:v>
                </c:pt>
                <c:pt idx="32">
                  <c:v>2.2299999999999986E-2</c:v>
                </c:pt>
                <c:pt idx="33">
                  <c:v>2.2299999999999986E-2</c:v>
                </c:pt>
                <c:pt idx="34">
                  <c:v>2.2299999999999986E-2</c:v>
                </c:pt>
                <c:pt idx="35">
                  <c:v>2.2299999999999986E-2</c:v>
                </c:pt>
                <c:pt idx="36">
                  <c:v>2.2299999999999986E-2</c:v>
                </c:pt>
                <c:pt idx="37">
                  <c:v>2.2399999999999975E-2</c:v>
                </c:pt>
                <c:pt idx="38">
                  <c:v>2.2399999999999975E-2</c:v>
                </c:pt>
                <c:pt idx="39">
                  <c:v>2.2399999999999975E-2</c:v>
                </c:pt>
                <c:pt idx="40">
                  <c:v>2.2399999999999975E-2</c:v>
                </c:pt>
                <c:pt idx="41">
                  <c:v>2.2399999999999975E-2</c:v>
                </c:pt>
                <c:pt idx="42">
                  <c:v>2.0399999999999974E-2</c:v>
                </c:pt>
                <c:pt idx="43">
                  <c:v>2.0399999999999974E-2</c:v>
                </c:pt>
                <c:pt idx="44">
                  <c:v>2.0399999999999974E-2</c:v>
                </c:pt>
                <c:pt idx="45">
                  <c:v>2.0399999999999974E-2</c:v>
                </c:pt>
                <c:pt idx="46">
                  <c:v>2.0399999999999974E-2</c:v>
                </c:pt>
                <c:pt idx="47">
                  <c:v>-2.7000000000000024E-2</c:v>
                </c:pt>
                <c:pt idx="48">
                  <c:v>-2.7000000000000024E-2</c:v>
                </c:pt>
                <c:pt idx="49">
                  <c:v>-2.7000000000000024E-2</c:v>
                </c:pt>
                <c:pt idx="50">
                  <c:v>-2.7000000000000024E-2</c:v>
                </c:pt>
                <c:pt idx="51">
                  <c:v>-2.7000000000000024E-2</c:v>
                </c:pt>
                <c:pt idx="52">
                  <c:v>5.7000000000000384E-3</c:v>
                </c:pt>
                <c:pt idx="53">
                  <c:v>5.7000000000000384E-3</c:v>
                </c:pt>
                <c:pt idx="54">
                  <c:v>5.7000000000000384E-3</c:v>
                </c:pt>
                <c:pt idx="55">
                  <c:v>5.7000000000000384E-3</c:v>
                </c:pt>
                <c:pt idx="56">
                  <c:v>5.7000000000000384E-3</c:v>
                </c:pt>
                <c:pt idx="57">
                  <c:v>1.0399999999999965E-2</c:v>
                </c:pt>
                <c:pt idx="58">
                  <c:v>2.1700000000000053E-2</c:v>
                </c:pt>
                <c:pt idx="59">
                  <c:v>2.0000000000000018E-2</c:v>
                </c:pt>
                <c:pt idx="60">
                  <c:v>2.0499999999999963E-2</c:v>
                </c:pt>
                <c:pt idx="61">
                  <c:v>8.69999999999993E-3</c:v>
                </c:pt>
                <c:pt idx="62">
                  <c:v>1.4299999999999979E-2</c:v>
                </c:pt>
                <c:pt idx="63">
                  <c:v>9.6000000000000529E-3</c:v>
                </c:pt>
                <c:pt idx="64">
                  <c:v>-2.0999999999999908E-3</c:v>
                </c:pt>
                <c:pt idx="65">
                  <c:v>1.7200000000000104E-2</c:v>
                </c:pt>
                <c:pt idx="66">
                  <c:v>1.2599999999999945E-2</c:v>
                </c:pt>
                <c:pt idx="67">
                  <c:v>1.8899999999999917E-2</c:v>
                </c:pt>
                <c:pt idx="68">
                  <c:v>2.9099999999999904E-2</c:v>
                </c:pt>
                <c:pt idx="69">
                  <c:v>3.0000000000000027E-2</c:v>
                </c:pt>
                <c:pt idx="70">
                  <c:v>3.9199999999999902E-2</c:v>
                </c:pt>
                <c:pt idx="71">
                  <c:v>4.5199999999999907E-2</c:v>
                </c:pt>
                <c:pt idx="72">
                  <c:v>4.6699999999999964E-2</c:v>
                </c:pt>
                <c:pt idx="73">
                  <c:v>4.0799999999999947E-2</c:v>
                </c:pt>
                <c:pt idx="74">
                  <c:v>4.2200000000000015E-2</c:v>
                </c:pt>
                <c:pt idx="75">
                  <c:v>4.1099999999999914E-2</c:v>
                </c:pt>
                <c:pt idx="76">
                  <c:v>6.0899999999999954E-2</c:v>
                </c:pt>
                <c:pt idx="77">
                  <c:v>7.3900000000000077E-2</c:v>
                </c:pt>
                <c:pt idx="78">
                  <c:v>7.7599999999999891E-2</c:v>
                </c:pt>
                <c:pt idx="79">
                  <c:v>7.7599999999999891E-2</c:v>
                </c:pt>
                <c:pt idx="80">
                  <c:v>9.1800000000000104E-2</c:v>
                </c:pt>
                <c:pt idx="81">
                  <c:v>0.10539999999999994</c:v>
                </c:pt>
                <c:pt idx="82">
                  <c:v>9.5599999999999907E-2</c:v>
                </c:pt>
                <c:pt idx="83">
                  <c:v>9.9399999999999933E-2</c:v>
                </c:pt>
                <c:pt idx="84">
                  <c:v>0.10499999999999998</c:v>
                </c:pt>
                <c:pt idx="85">
                  <c:v>0.10949999999999993</c:v>
                </c:pt>
                <c:pt idx="86">
                  <c:v>0.11420000000000008</c:v>
                </c:pt>
                <c:pt idx="87">
                  <c:v>0.10739999999999994</c:v>
                </c:pt>
                <c:pt idx="88">
                  <c:v>0.11749999999999994</c:v>
                </c:pt>
                <c:pt idx="89">
                  <c:v>0.12119999999999997</c:v>
                </c:pt>
                <c:pt idx="90">
                  <c:v>0.13149999999999995</c:v>
                </c:pt>
                <c:pt idx="91">
                  <c:v>0.12719999999999998</c:v>
                </c:pt>
                <c:pt idx="92">
                  <c:v>0.12769999999999992</c:v>
                </c:pt>
                <c:pt idx="93">
                  <c:v>0.127</c:v>
                </c:pt>
                <c:pt idx="94">
                  <c:v>0.12020000000000008</c:v>
                </c:pt>
                <c:pt idx="95">
                  <c:v>0.11319999999999997</c:v>
                </c:pt>
                <c:pt idx="96">
                  <c:v>8.1599999999999895E-2</c:v>
                </c:pt>
                <c:pt idx="97">
                  <c:v>0.10149999999999992</c:v>
                </c:pt>
                <c:pt idx="98">
                  <c:v>0.1069</c:v>
                </c:pt>
                <c:pt idx="99">
                  <c:v>9.5499999999999918E-2</c:v>
                </c:pt>
                <c:pt idx="100">
                  <c:v>9.5399999999999929E-2</c:v>
                </c:pt>
                <c:pt idx="101">
                  <c:v>0.10909999999999997</c:v>
                </c:pt>
                <c:pt idx="102">
                  <c:v>0.11159999999999992</c:v>
                </c:pt>
                <c:pt idx="103">
                  <c:v>0.11339999999999995</c:v>
                </c:pt>
                <c:pt idx="104">
                  <c:v>0.11719999999999997</c:v>
                </c:pt>
                <c:pt idx="105">
                  <c:v>0.10359999999999991</c:v>
                </c:pt>
                <c:pt idx="106">
                  <c:v>0.11109999999999998</c:v>
                </c:pt>
                <c:pt idx="107">
                  <c:v>0.1221000000000001</c:v>
                </c:pt>
                <c:pt idx="108">
                  <c:v>0.12060000000000004</c:v>
                </c:pt>
                <c:pt idx="109">
                  <c:v>0.125</c:v>
                </c:pt>
                <c:pt idx="110">
                  <c:v>0.11559999999999993</c:v>
                </c:pt>
                <c:pt idx="111">
                  <c:v>8.4699999999999998E-2</c:v>
                </c:pt>
                <c:pt idx="112">
                  <c:v>7.4200000000000044E-2</c:v>
                </c:pt>
                <c:pt idx="113">
                  <c:v>8.2799999999999985E-2</c:v>
                </c:pt>
                <c:pt idx="114">
                  <c:v>9.1599999999999904E-2</c:v>
                </c:pt>
                <c:pt idx="115">
                  <c:v>8.329999999999993E-2</c:v>
                </c:pt>
                <c:pt idx="116">
                  <c:v>0.10220000000000007</c:v>
                </c:pt>
                <c:pt idx="117">
                  <c:v>0.10470000000000002</c:v>
                </c:pt>
                <c:pt idx="118">
                  <c:v>9.3699999999999894E-2</c:v>
                </c:pt>
                <c:pt idx="119">
                  <c:v>8.4300000000000042E-2</c:v>
                </c:pt>
                <c:pt idx="120">
                  <c:v>8.4400000000000031E-2</c:v>
                </c:pt>
                <c:pt idx="121">
                  <c:v>6.7900000000000071E-2</c:v>
                </c:pt>
                <c:pt idx="122">
                  <c:v>7.6500000000000012E-2</c:v>
                </c:pt>
                <c:pt idx="123">
                  <c:v>5.3399999999999892E-2</c:v>
                </c:pt>
                <c:pt idx="124">
                  <c:v>4.1900000000000048E-2</c:v>
                </c:pt>
                <c:pt idx="125">
                  <c:v>1.9999999999997797E-4</c:v>
                </c:pt>
                <c:pt idx="126">
                  <c:v>2.410000000000001E-2</c:v>
                </c:pt>
                <c:pt idx="127">
                  <c:v>4.5099999999999918E-2</c:v>
                </c:pt>
                <c:pt idx="128">
                  <c:v>3.1600000000000072E-2</c:v>
                </c:pt>
                <c:pt idx="129">
                  <c:v>4.3700000000000072E-2</c:v>
                </c:pt>
                <c:pt idx="130">
                  <c:v>4.5900000000000052E-2</c:v>
                </c:pt>
                <c:pt idx="131">
                  <c:v>3.3400000000000096E-2</c:v>
                </c:pt>
                <c:pt idx="132">
                  <c:v>5.1299999999999901E-2</c:v>
                </c:pt>
                <c:pt idx="133">
                  <c:v>3.5700000000000065E-2</c:v>
                </c:pt>
                <c:pt idx="134">
                  <c:v>2.2699999999999942E-2</c:v>
                </c:pt>
                <c:pt idx="135">
                  <c:v>3.0399999999999983E-2</c:v>
                </c:pt>
                <c:pt idx="136">
                  <c:v>7.1499999999999897E-2</c:v>
                </c:pt>
                <c:pt idx="137">
                  <c:v>6.9800000000000084E-2</c:v>
                </c:pt>
                <c:pt idx="138">
                  <c:v>8.0699999999999994E-2</c:v>
                </c:pt>
                <c:pt idx="139">
                  <c:v>7.9800000000000093E-2</c:v>
                </c:pt>
                <c:pt idx="140">
                  <c:v>9.319999999999995E-2</c:v>
                </c:pt>
                <c:pt idx="141">
                  <c:v>9.000000000000008E-2</c:v>
                </c:pt>
                <c:pt idx="142">
                  <c:v>0.10820000000000007</c:v>
                </c:pt>
                <c:pt idx="143">
                  <c:v>0.1129</c:v>
                </c:pt>
                <c:pt idx="144">
                  <c:v>0.11979999999999991</c:v>
                </c:pt>
                <c:pt idx="145">
                  <c:v>0.12280000000000002</c:v>
                </c:pt>
                <c:pt idx="146">
                  <c:v>0.13840000000000008</c:v>
                </c:pt>
                <c:pt idx="147">
                  <c:v>0.12690000000000001</c:v>
                </c:pt>
                <c:pt idx="148">
                  <c:v>0.1221000000000001</c:v>
                </c:pt>
                <c:pt idx="149">
                  <c:v>0.12830000000000008</c:v>
                </c:pt>
                <c:pt idx="150">
                  <c:v>0.11949999999999994</c:v>
                </c:pt>
                <c:pt idx="151">
                  <c:v>0.13379999999999992</c:v>
                </c:pt>
                <c:pt idx="152">
                  <c:v>0.13240000000000007</c:v>
                </c:pt>
                <c:pt idx="153">
                  <c:v>0.15700000000000003</c:v>
                </c:pt>
                <c:pt idx="154">
                  <c:v>0.1762999999999999</c:v>
                </c:pt>
                <c:pt idx="155">
                  <c:v>0.18009999999999993</c:v>
                </c:pt>
                <c:pt idx="156">
                  <c:v>0.20589999999999997</c:v>
                </c:pt>
                <c:pt idx="157">
                  <c:v>0.20340000000000003</c:v>
                </c:pt>
                <c:pt idx="158">
                  <c:v>0.22399999999999998</c:v>
                </c:pt>
                <c:pt idx="159">
                  <c:v>0.19789999999999996</c:v>
                </c:pt>
                <c:pt idx="160">
                  <c:v>0.1866000000000001</c:v>
                </c:pt>
                <c:pt idx="161">
                  <c:v>0.18900000000000006</c:v>
                </c:pt>
                <c:pt idx="162">
                  <c:v>0.19389999999999996</c:v>
                </c:pt>
                <c:pt idx="163">
                  <c:v>0.20300000000000007</c:v>
                </c:pt>
                <c:pt idx="164">
                  <c:v>0.16579999999999995</c:v>
                </c:pt>
                <c:pt idx="165">
                  <c:v>0.19609999999999994</c:v>
                </c:pt>
                <c:pt idx="166">
                  <c:v>0.21249999999999991</c:v>
                </c:pt>
                <c:pt idx="167">
                  <c:v>0.20429999999999993</c:v>
                </c:pt>
                <c:pt idx="168">
                  <c:v>0.18910000000000005</c:v>
                </c:pt>
                <c:pt idx="169">
                  <c:v>0.20150000000000001</c:v>
                </c:pt>
                <c:pt idx="170">
                  <c:v>0.17349999999999999</c:v>
                </c:pt>
                <c:pt idx="171">
                  <c:v>0.15510000000000002</c:v>
                </c:pt>
                <c:pt idx="172">
                  <c:v>0.16539999999999999</c:v>
                </c:pt>
                <c:pt idx="173">
                  <c:v>0.17989999999999995</c:v>
                </c:pt>
                <c:pt idx="174">
                  <c:v>0.18290000000000006</c:v>
                </c:pt>
                <c:pt idx="175">
                  <c:v>0.16779999999999995</c:v>
                </c:pt>
                <c:pt idx="176">
                  <c:v>0.13070000000000004</c:v>
                </c:pt>
                <c:pt idx="177">
                  <c:v>0.16030000000000011</c:v>
                </c:pt>
                <c:pt idx="178">
                  <c:v>0.14510000000000001</c:v>
                </c:pt>
                <c:pt idx="179">
                  <c:v>0.14250000000000007</c:v>
                </c:pt>
                <c:pt idx="180">
                  <c:v>0.1532</c:v>
                </c:pt>
                <c:pt idx="181">
                  <c:v>0.19720000000000004</c:v>
                </c:pt>
                <c:pt idx="182">
                  <c:v>0.21300000000000008</c:v>
                </c:pt>
                <c:pt idx="183">
                  <c:v>0.23039999999999994</c:v>
                </c:pt>
                <c:pt idx="184">
                  <c:v>0.24469999999999992</c:v>
                </c:pt>
              </c:numCache>
            </c:numRef>
          </c:val>
          <c:smooth val="0"/>
          <c:extLst xmlns:c16r2="http://schemas.microsoft.com/office/drawing/2015/06/chart">
            <c:ext xmlns:c16="http://schemas.microsoft.com/office/drawing/2014/chart" uri="{C3380CC4-5D6E-409C-BE32-E72D297353CC}">
              <c16:uniqueId val="{00000001-0F31-4AE4-8058-1A839BFD087F}"/>
            </c:ext>
          </c:extLst>
        </c:ser>
        <c:ser>
          <c:idx val="1"/>
          <c:order val="1"/>
          <c:tx>
            <c:strRef>
              <c:f>Sheet2!$C$2</c:f>
              <c:strCache>
                <c:ptCount val="1"/>
                <c:pt idx="0">
                  <c:v>博道中证全指指数增强A基准</c:v>
                </c:pt>
              </c:strCache>
            </c:strRef>
          </c:tx>
          <c:spPr>
            <a:ln w="19050">
              <a:solidFill>
                <a:srgbClr val="F68717"/>
              </a:solidFill>
              <a:prstDash val="solid"/>
            </a:ln>
          </c:spPr>
          <c:marker>
            <c:symbol val="none"/>
          </c:marker>
          <c:cat>
            <c:numRef>
              <c:f>Sheet2!$A$3:$A$187</c:f>
              <c:numCache>
                <c:formatCode>yyyy\-mm\-dd</c:formatCode>
                <c:ptCount val="185"/>
                <c:pt idx="0">
                  <c:v>45909</c:v>
                </c:pt>
                <c:pt idx="1">
                  <c:v>45910</c:v>
                </c:pt>
                <c:pt idx="2">
                  <c:v>45911</c:v>
                </c:pt>
                <c:pt idx="3">
                  <c:v>45912</c:v>
                </c:pt>
                <c:pt idx="4">
                  <c:v>45915</c:v>
                </c:pt>
                <c:pt idx="5">
                  <c:v>45916</c:v>
                </c:pt>
                <c:pt idx="6">
                  <c:v>45917</c:v>
                </c:pt>
                <c:pt idx="7">
                  <c:v>45918</c:v>
                </c:pt>
                <c:pt idx="8">
                  <c:v>45919</c:v>
                </c:pt>
                <c:pt idx="9">
                  <c:v>45922</c:v>
                </c:pt>
                <c:pt idx="10">
                  <c:v>45923</c:v>
                </c:pt>
                <c:pt idx="11">
                  <c:v>45924</c:v>
                </c:pt>
                <c:pt idx="12">
                  <c:v>45925</c:v>
                </c:pt>
                <c:pt idx="13">
                  <c:v>45926</c:v>
                </c:pt>
                <c:pt idx="14">
                  <c:v>45929</c:v>
                </c:pt>
                <c:pt idx="15">
                  <c:v>45930</c:v>
                </c:pt>
                <c:pt idx="16">
                  <c:v>45939</c:v>
                </c:pt>
                <c:pt idx="17">
                  <c:v>45940</c:v>
                </c:pt>
                <c:pt idx="18">
                  <c:v>45943</c:v>
                </c:pt>
                <c:pt idx="19">
                  <c:v>45944</c:v>
                </c:pt>
                <c:pt idx="20">
                  <c:v>45945</c:v>
                </c:pt>
                <c:pt idx="21">
                  <c:v>45946</c:v>
                </c:pt>
                <c:pt idx="22">
                  <c:v>45947</c:v>
                </c:pt>
                <c:pt idx="23">
                  <c:v>45950</c:v>
                </c:pt>
                <c:pt idx="24">
                  <c:v>45951</c:v>
                </c:pt>
                <c:pt idx="25">
                  <c:v>45952</c:v>
                </c:pt>
                <c:pt idx="26">
                  <c:v>45953</c:v>
                </c:pt>
                <c:pt idx="27">
                  <c:v>45954</c:v>
                </c:pt>
                <c:pt idx="28">
                  <c:v>45957</c:v>
                </c:pt>
                <c:pt idx="29">
                  <c:v>45958</c:v>
                </c:pt>
                <c:pt idx="30">
                  <c:v>45959</c:v>
                </c:pt>
                <c:pt idx="31">
                  <c:v>45960</c:v>
                </c:pt>
                <c:pt idx="32">
                  <c:v>45961</c:v>
                </c:pt>
                <c:pt idx="33">
                  <c:v>45964</c:v>
                </c:pt>
                <c:pt idx="34">
                  <c:v>45965</c:v>
                </c:pt>
                <c:pt idx="35">
                  <c:v>45966</c:v>
                </c:pt>
                <c:pt idx="36">
                  <c:v>45967</c:v>
                </c:pt>
                <c:pt idx="37">
                  <c:v>45968</c:v>
                </c:pt>
                <c:pt idx="38">
                  <c:v>45971</c:v>
                </c:pt>
                <c:pt idx="39">
                  <c:v>45972</c:v>
                </c:pt>
                <c:pt idx="40">
                  <c:v>45973</c:v>
                </c:pt>
                <c:pt idx="41">
                  <c:v>45974</c:v>
                </c:pt>
                <c:pt idx="42">
                  <c:v>45975</c:v>
                </c:pt>
                <c:pt idx="43">
                  <c:v>45978</c:v>
                </c:pt>
                <c:pt idx="44">
                  <c:v>45979</c:v>
                </c:pt>
                <c:pt idx="45">
                  <c:v>45980</c:v>
                </c:pt>
                <c:pt idx="46">
                  <c:v>45981</c:v>
                </c:pt>
                <c:pt idx="47">
                  <c:v>45982</c:v>
                </c:pt>
                <c:pt idx="48">
                  <c:v>45985</c:v>
                </c:pt>
                <c:pt idx="49">
                  <c:v>45986</c:v>
                </c:pt>
                <c:pt idx="50">
                  <c:v>45987</c:v>
                </c:pt>
                <c:pt idx="51">
                  <c:v>45988</c:v>
                </c:pt>
                <c:pt idx="52">
                  <c:v>45989</c:v>
                </c:pt>
                <c:pt idx="53">
                  <c:v>45992</c:v>
                </c:pt>
                <c:pt idx="54">
                  <c:v>45993</c:v>
                </c:pt>
                <c:pt idx="55">
                  <c:v>45994</c:v>
                </c:pt>
                <c:pt idx="56">
                  <c:v>45995</c:v>
                </c:pt>
                <c:pt idx="57">
                  <c:v>45996</c:v>
                </c:pt>
                <c:pt idx="58">
                  <c:v>45999</c:v>
                </c:pt>
                <c:pt idx="59">
                  <c:v>46000</c:v>
                </c:pt>
                <c:pt idx="60">
                  <c:v>46001</c:v>
                </c:pt>
                <c:pt idx="61">
                  <c:v>46002</c:v>
                </c:pt>
                <c:pt idx="62">
                  <c:v>46003</c:v>
                </c:pt>
                <c:pt idx="63">
                  <c:v>46006</c:v>
                </c:pt>
                <c:pt idx="64">
                  <c:v>46007</c:v>
                </c:pt>
                <c:pt idx="65">
                  <c:v>46008</c:v>
                </c:pt>
                <c:pt idx="66">
                  <c:v>46009</c:v>
                </c:pt>
                <c:pt idx="67">
                  <c:v>46010</c:v>
                </c:pt>
                <c:pt idx="68">
                  <c:v>46013</c:v>
                </c:pt>
                <c:pt idx="69">
                  <c:v>46014</c:v>
                </c:pt>
                <c:pt idx="70">
                  <c:v>46015</c:v>
                </c:pt>
                <c:pt idx="71">
                  <c:v>46016</c:v>
                </c:pt>
                <c:pt idx="72">
                  <c:v>46017</c:v>
                </c:pt>
                <c:pt idx="73">
                  <c:v>46020</c:v>
                </c:pt>
                <c:pt idx="74">
                  <c:v>46021</c:v>
                </c:pt>
                <c:pt idx="75">
                  <c:v>46022</c:v>
                </c:pt>
                <c:pt idx="76">
                  <c:v>46027</c:v>
                </c:pt>
                <c:pt idx="77">
                  <c:v>46028</c:v>
                </c:pt>
                <c:pt idx="78">
                  <c:v>46029</c:v>
                </c:pt>
                <c:pt idx="79">
                  <c:v>46030</c:v>
                </c:pt>
                <c:pt idx="80">
                  <c:v>46031</c:v>
                </c:pt>
                <c:pt idx="81">
                  <c:v>46034</c:v>
                </c:pt>
                <c:pt idx="82">
                  <c:v>46035</c:v>
                </c:pt>
                <c:pt idx="83">
                  <c:v>46036</c:v>
                </c:pt>
                <c:pt idx="84">
                  <c:v>46037</c:v>
                </c:pt>
                <c:pt idx="85">
                  <c:v>46038</c:v>
                </c:pt>
                <c:pt idx="86">
                  <c:v>46041</c:v>
                </c:pt>
                <c:pt idx="87">
                  <c:v>46042</c:v>
                </c:pt>
                <c:pt idx="88">
                  <c:v>46043</c:v>
                </c:pt>
                <c:pt idx="89">
                  <c:v>46044</c:v>
                </c:pt>
                <c:pt idx="90">
                  <c:v>46045</c:v>
                </c:pt>
                <c:pt idx="91">
                  <c:v>46048</c:v>
                </c:pt>
                <c:pt idx="92">
                  <c:v>46049</c:v>
                </c:pt>
                <c:pt idx="93">
                  <c:v>46050</c:v>
                </c:pt>
                <c:pt idx="94">
                  <c:v>46051</c:v>
                </c:pt>
                <c:pt idx="95">
                  <c:v>46052</c:v>
                </c:pt>
                <c:pt idx="96">
                  <c:v>46055</c:v>
                </c:pt>
                <c:pt idx="97">
                  <c:v>46056</c:v>
                </c:pt>
                <c:pt idx="98">
                  <c:v>46057</c:v>
                </c:pt>
                <c:pt idx="99">
                  <c:v>46058</c:v>
                </c:pt>
                <c:pt idx="100">
                  <c:v>46059</c:v>
                </c:pt>
                <c:pt idx="101">
                  <c:v>46062</c:v>
                </c:pt>
                <c:pt idx="102">
                  <c:v>46063</c:v>
                </c:pt>
                <c:pt idx="103">
                  <c:v>46064</c:v>
                </c:pt>
                <c:pt idx="104">
                  <c:v>46065</c:v>
                </c:pt>
                <c:pt idx="105">
                  <c:v>46066</c:v>
                </c:pt>
                <c:pt idx="106">
                  <c:v>46077</c:v>
                </c:pt>
                <c:pt idx="107">
                  <c:v>46078</c:v>
                </c:pt>
                <c:pt idx="108">
                  <c:v>46079</c:v>
                </c:pt>
                <c:pt idx="109">
                  <c:v>46080</c:v>
                </c:pt>
                <c:pt idx="110">
                  <c:v>46083</c:v>
                </c:pt>
                <c:pt idx="111">
                  <c:v>46084</c:v>
                </c:pt>
                <c:pt idx="112">
                  <c:v>46085</c:v>
                </c:pt>
                <c:pt idx="113">
                  <c:v>46086</c:v>
                </c:pt>
                <c:pt idx="114">
                  <c:v>46087</c:v>
                </c:pt>
                <c:pt idx="115">
                  <c:v>46090</c:v>
                </c:pt>
                <c:pt idx="116">
                  <c:v>46091</c:v>
                </c:pt>
                <c:pt idx="117">
                  <c:v>46092</c:v>
                </c:pt>
                <c:pt idx="118">
                  <c:v>46093</c:v>
                </c:pt>
                <c:pt idx="119">
                  <c:v>46094</c:v>
                </c:pt>
                <c:pt idx="120">
                  <c:v>46097</c:v>
                </c:pt>
                <c:pt idx="121">
                  <c:v>46098</c:v>
                </c:pt>
                <c:pt idx="122">
                  <c:v>46099</c:v>
                </c:pt>
                <c:pt idx="123">
                  <c:v>46100</c:v>
                </c:pt>
                <c:pt idx="124">
                  <c:v>46101</c:v>
                </c:pt>
                <c:pt idx="125">
                  <c:v>46104</c:v>
                </c:pt>
                <c:pt idx="126">
                  <c:v>46105</c:v>
                </c:pt>
                <c:pt idx="127">
                  <c:v>46106</c:v>
                </c:pt>
                <c:pt idx="128">
                  <c:v>46107</c:v>
                </c:pt>
                <c:pt idx="129">
                  <c:v>46108</c:v>
                </c:pt>
                <c:pt idx="130">
                  <c:v>46111</c:v>
                </c:pt>
                <c:pt idx="131">
                  <c:v>46112</c:v>
                </c:pt>
                <c:pt idx="132">
                  <c:v>46113</c:v>
                </c:pt>
                <c:pt idx="133">
                  <c:v>46114</c:v>
                </c:pt>
                <c:pt idx="134">
                  <c:v>46115</c:v>
                </c:pt>
                <c:pt idx="135">
                  <c:v>46119</c:v>
                </c:pt>
                <c:pt idx="136">
                  <c:v>46120</c:v>
                </c:pt>
                <c:pt idx="137">
                  <c:v>46121</c:v>
                </c:pt>
                <c:pt idx="138">
                  <c:v>46122</c:v>
                </c:pt>
                <c:pt idx="139">
                  <c:v>46125</c:v>
                </c:pt>
                <c:pt idx="140">
                  <c:v>46126</c:v>
                </c:pt>
                <c:pt idx="141">
                  <c:v>46127</c:v>
                </c:pt>
                <c:pt idx="142">
                  <c:v>46128</c:v>
                </c:pt>
                <c:pt idx="143">
                  <c:v>46129</c:v>
                </c:pt>
                <c:pt idx="144">
                  <c:v>46132</c:v>
                </c:pt>
                <c:pt idx="145">
                  <c:v>46133</c:v>
                </c:pt>
                <c:pt idx="146">
                  <c:v>46134</c:v>
                </c:pt>
                <c:pt idx="147">
                  <c:v>46135</c:v>
                </c:pt>
                <c:pt idx="148">
                  <c:v>46136</c:v>
                </c:pt>
                <c:pt idx="149">
                  <c:v>46139</c:v>
                </c:pt>
                <c:pt idx="150">
                  <c:v>46140</c:v>
                </c:pt>
                <c:pt idx="151">
                  <c:v>46141</c:v>
                </c:pt>
                <c:pt idx="152">
                  <c:v>46142</c:v>
                </c:pt>
                <c:pt idx="153">
                  <c:v>46148</c:v>
                </c:pt>
                <c:pt idx="154">
                  <c:v>46149</c:v>
                </c:pt>
                <c:pt idx="155">
                  <c:v>46150</c:v>
                </c:pt>
                <c:pt idx="156">
                  <c:v>46153</c:v>
                </c:pt>
                <c:pt idx="157">
                  <c:v>46154</c:v>
                </c:pt>
                <c:pt idx="158">
                  <c:v>46155</c:v>
                </c:pt>
                <c:pt idx="159">
                  <c:v>46156</c:v>
                </c:pt>
                <c:pt idx="160">
                  <c:v>46157</c:v>
                </c:pt>
                <c:pt idx="161">
                  <c:v>46160</c:v>
                </c:pt>
                <c:pt idx="162">
                  <c:v>46161</c:v>
                </c:pt>
                <c:pt idx="163">
                  <c:v>46162</c:v>
                </c:pt>
                <c:pt idx="164">
                  <c:v>46163</c:v>
                </c:pt>
                <c:pt idx="165">
                  <c:v>46164</c:v>
                </c:pt>
                <c:pt idx="166">
                  <c:v>46167</c:v>
                </c:pt>
                <c:pt idx="167">
                  <c:v>46168</c:v>
                </c:pt>
                <c:pt idx="168">
                  <c:v>46169</c:v>
                </c:pt>
                <c:pt idx="169">
                  <c:v>46170</c:v>
                </c:pt>
                <c:pt idx="170">
                  <c:v>46171</c:v>
                </c:pt>
                <c:pt idx="171">
                  <c:v>46174</c:v>
                </c:pt>
                <c:pt idx="172">
                  <c:v>46175</c:v>
                </c:pt>
                <c:pt idx="173">
                  <c:v>46176</c:v>
                </c:pt>
                <c:pt idx="174">
                  <c:v>46177</c:v>
                </c:pt>
                <c:pt idx="175">
                  <c:v>46178</c:v>
                </c:pt>
                <c:pt idx="176">
                  <c:v>46181</c:v>
                </c:pt>
                <c:pt idx="177">
                  <c:v>46182</c:v>
                </c:pt>
                <c:pt idx="178">
                  <c:v>46183</c:v>
                </c:pt>
                <c:pt idx="179">
                  <c:v>46184</c:v>
                </c:pt>
                <c:pt idx="180">
                  <c:v>46185</c:v>
                </c:pt>
                <c:pt idx="181">
                  <c:v>46188</c:v>
                </c:pt>
                <c:pt idx="182">
                  <c:v>46189</c:v>
                </c:pt>
                <c:pt idx="183">
                  <c:v>46190</c:v>
                </c:pt>
                <c:pt idx="184">
                  <c:v>46191</c:v>
                </c:pt>
              </c:numCache>
            </c:numRef>
          </c:cat>
          <c:val>
            <c:numRef>
              <c:f>Sheet2!$C$3:$C$187</c:f>
              <c:numCache>
                <c:formatCode>0.00%</c:formatCode>
                <c:ptCount val="185"/>
                <c:pt idx="0">
                  <c:v>0</c:v>
                </c:pt>
                <c:pt idx="1">
                  <c:v>1.9333402596144935E-3</c:v>
                </c:pt>
                <c:pt idx="2">
                  <c:v>2.3556752972837137E-2</c:v>
                </c:pt>
                <c:pt idx="3">
                  <c:v>2.1859847709233358E-2</c:v>
                </c:pt>
                <c:pt idx="4">
                  <c:v>2.2683133732031562E-2</c:v>
                </c:pt>
                <c:pt idx="5">
                  <c:v>2.7196076631567895E-2</c:v>
                </c:pt>
                <c:pt idx="6">
                  <c:v>3.375311304396951E-2</c:v>
                </c:pt>
                <c:pt idx="7">
                  <c:v>2.3119590313831064E-2</c:v>
                </c:pt>
                <c:pt idx="8">
                  <c:v>2.0151443473980502E-2</c:v>
                </c:pt>
                <c:pt idx="9">
                  <c:v>2.5068060799299585E-2</c:v>
                </c:pt>
                <c:pt idx="10">
                  <c:v>1.902061039365821E-2</c:v>
                </c:pt>
                <c:pt idx="11">
                  <c:v>3.2430025227129886E-2</c:v>
                </c:pt>
                <c:pt idx="12">
                  <c:v>3.3986017653947383E-2</c:v>
                </c:pt>
                <c:pt idx="13">
                  <c:v>2.2152970618110099E-2</c:v>
                </c:pt>
                <c:pt idx="14">
                  <c:v>3.5563595869650015E-2</c:v>
                </c:pt>
                <c:pt idx="15">
                  <c:v>4.1461458775682185E-2</c:v>
                </c:pt>
                <c:pt idx="16">
                  <c:v>5.4498165712285614E-2</c:v>
                </c:pt>
                <c:pt idx="17">
                  <c:v>3.8140878541607588E-2</c:v>
                </c:pt>
                <c:pt idx="18">
                  <c:v>3.4488946361331964E-2</c:v>
                </c:pt>
                <c:pt idx="19">
                  <c:v>1.8886153119902924E-2</c:v>
                </c:pt>
                <c:pt idx="20">
                  <c:v>3.3243123564519701E-2</c:v>
                </c:pt>
                <c:pt idx="21">
                  <c:v>2.8880978582660925E-2</c:v>
                </c:pt>
                <c:pt idx="22">
                  <c:v>3.9209475959584208E-3</c:v>
                </c:pt>
                <c:pt idx="23">
                  <c:v>1.1463970393173982E-2</c:v>
                </c:pt>
                <c:pt idx="24">
                  <c:v>2.6926153402333858E-2</c:v>
                </c:pt>
                <c:pt idx="25">
                  <c:v>2.2898184675502042E-2</c:v>
                </c:pt>
                <c:pt idx="26">
                  <c:v>2.4222482910409907E-2</c:v>
                </c:pt>
                <c:pt idx="27">
                  <c:v>3.5986334380008742E-2</c:v>
                </c:pt>
                <c:pt idx="28">
                  <c:v>4.7863359938994848E-2</c:v>
                </c:pt>
                <c:pt idx="29">
                  <c:v>4.4507879317283915E-2</c:v>
                </c:pt>
                <c:pt idx="30">
                  <c:v>5.596781498356361E-2</c:v>
                </c:pt>
                <c:pt idx="31">
                  <c:v>4.5485897116481502E-2</c:v>
                </c:pt>
                <c:pt idx="32">
                  <c:v>4.0055356452990777E-2</c:v>
                </c:pt>
                <c:pt idx="33">
                  <c:v>4.3767406063992709E-2</c:v>
                </c:pt>
                <c:pt idx="34">
                  <c:v>3.3538162968671251E-2</c:v>
                </c:pt>
                <c:pt idx="35">
                  <c:v>3.690816860720221E-2</c:v>
                </c:pt>
                <c:pt idx="36">
                  <c:v>4.8839057770228296E-2</c:v>
                </c:pt>
                <c:pt idx="37">
                  <c:v>4.628487390974121E-2</c:v>
                </c:pt>
                <c:pt idx="38">
                  <c:v>5.0172635876993318E-2</c:v>
                </c:pt>
                <c:pt idx="39">
                  <c:v>4.4952102748355094E-2</c:v>
                </c:pt>
                <c:pt idx="40">
                  <c:v>4.0908297718462799E-2</c:v>
                </c:pt>
                <c:pt idx="41">
                  <c:v>5.3771612266780192E-2</c:v>
                </c:pt>
                <c:pt idx="42">
                  <c:v>4.1001903382412309E-2</c:v>
                </c:pt>
                <c:pt idx="43">
                  <c:v>3.9655918490447209E-2</c:v>
                </c:pt>
                <c:pt idx="44">
                  <c:v>3.0472476606149112E-2</c:v>
                </c:pt>
                <c:pt idx="45">
                  <c:v>2.7724726722903999E-2</c:v>
                </c:pt>
                <c:pt idx="46">
                  <c:v>2.1405033120064334E-2</c:v>
                </c:pt>
                <c:pt idx="47">
                  <c:v>-8.9918932249874427E-3</c:v>
                </c:pt>
                <c:pt idx="48">
                  <c:v>-3.3828158964204946E-3</c:v>
                </c:pt>
                <c:pt idx="49">
                  <c:v>8.0358646873640895E-3</c:v>
                </c:pt>
                <c:pt idx="50">
                  <c:v>1.0356841333356187E-2</c:v>
                </c:pt>
                <c:pt idx="51">
                  <c:v>1.0345745834396675E-2</c:v>
                </c:pt>
                <c:pt idx="52">
                  <c:v>1.7559030576169012E-2</c:v>
                </c:pt>
                <c:pt idx="53">
                  <c:v>2.6734806479367875E-2</c:v>
                </c:pt>
                <c:pt idx="54">
                  <c:v>2.0537264233255633E-2</c:v>
                </c:pt>
                <c:pt idx="55">
                  <c:v>1.3822974340145584E-2</c:v>
                </c:pt>
                <c:pt idx="56">
                  <c:v>1.4029955829827264E-2</c:v>
                </c:pt>
                <c:pt idx="57">
                  <c:v>2.4998159155854453E-2</c:v>
                </c:pt>
                <c:pt idx="58">
                  <c:v>3.4897765063904906E-2</c:v>
                </c:pt>
                <c:pt idx="59">
                  <c:v>2.938794201693979E-2</c:v>
                </c:pt>
                <c:pt idx="60">
                  <c:v>3.0485286864038761E-2</c:v>
                </c:pt>
                <c:pt idx="61">
                  <c:v>1.9652952966179884E-2</c:v>
                </c:pt>
                <c:pt idx="62">
                  <c:v>2.6868961148606048E-2</c:v>
                </c:pt>
                <c:pt idx="63">
                  <c:v>2.0750499549623522E-2</c:v>
                </c:pt>
                <c:pt idx="64">
                  <c:v>6.6977475128430011E-3</c:v>
                </c:pt>
                <c:pt idx="65">
                  <c:v>2.1550989365468586E-2</c:v>
                </c:pt>
                <c:pt idx="66">
                  <c:v>1.772758129218174E-2</c:v>
                </c:pt>
                <c:pt idx="67">
                  <c:v>2.5145729292016396E-2</c:v>
                </c:pt>
                <c:pt idx="68">
                  <c:v>3.4923486447856776E-2</c:v>
                </c:pt>
                <c:pt idx="69">
                  <c:v>3.4238692425708026E-2</c:v>
                </c:pt>
                <c:pt idx="70">
                  <c:v>4.3033388373732724E-2</c:v>
                </c:pt>
                <c:pt idx="71">
                  <c:v>4.8913498481429729E-2</c:v>
                </c:pt>
                <c:pt idx="72">
                  <c:v>5.2234078715504326E-2</c:v>
                </c:pt>
                <c:pt idx="73">
                  <c:v>4.9343701236542789E-2</c:v>
                </c:pt>
                <c:pt idx="74">
                  <c:v>5.0664771689935162E-2</c:v>
                </c:pt>
                <c:pt idx="75">
                  <c:v>4.9008112827102809E-2</c:v>
                </c:pt>
                <c:pt idx="76">
                  <c:v>6.8686988913579231E-2</c:v>
                </c:pt>
                <c:pt idx="77">
                  <c:v>8.4785952694844513E-2</c:v>
                </c:pt>
                <c:pt idx="78">
                  <c:v>8.6613683977998512E-2</c:v>
                </c:pt>
                <c:pt idx="79">
                  <c:v>8.7113990112901732E-2</c:v>
                </c:pt>
                <c:pt idx="80">
                  <c:v>9.9237840089651488E-2</c:v>
                </c:pt>
                <c:pt idx="81">
                  <c:v>0.11737091143471858</c:v>
                </c:pt>
                <c:pt idx="82">
                  <c:v>0.10492024857952396</c:v>
                </c:pt>
                <c:pt idx="83">
                  <c:v>0.10810576633080915</c:v>
                </c:pt>
                <c:pt idx="84">
                  <c:v>0.10632917521104142</c:v>
                </c:pt>
                <c:pt idx="85">
                  <c:v>0.10416363641865539</c:v>
                </c:pt>
                <c:pt idx="86">
                  <c:v>0.10845234937103654</c:v>
                </c:pt>
                <c:pt idx="87">
                  <c:v>0.10226166616064462</c:v>
                </c:pt>
                <c:pt idx="88">
                  <c:v>0.10808730745526741</c:v>
                </c:pt>
                <c:pt idx="89">
                  <c:v>0.11275508299937557</c:v>
                </c:pt>
                <c:pt idx="90">
                  <c:v>0.12261827549720433</c:v>
                </c:pt>
                <c:pt idx="91">
                  <c:v>0.11557384407596173</c:v>
                </c:pt>
                <c:pt idx="92">
                  <c:v>0.11707718331680782</c:v>
                </c:pt>
                <c:pt idx="93">
                  <c:v>0.11837142283635242</c:v>
                </c:pt>
                <c:pt idx="94">
                  <c:v>0.11640661170696187</c:v>
                </c:pt>
                <c:pt idx="95">
                  <c:v>0.10623869646043495</c:v>
                </c:pt>
                <c:pt idx="96">
                  <c:v>7.7545130942017954E-2</c:v>
                </c:pt>
                <c:pt idx="97">
                  <c:v>9.9210303078597378E-2</c:v>
                </c:pt>
                <c:pt idx="98">
                  <c:v>0.10396543045996896</c:v>
                </c:pt>
                <c:pt idx="99">
                  <c:v>9.2327966810336615E-2</c:v>
                </c:pt>
                <c:pt idx="100">
                  <c:v>8.9889277007200827E-2</c:v>
                </c:pt>
                <c:pt idx="101">
                  <c:v>0.10963946689153541</c:v>
                </c:pt>
                <c:pt idx="102">
                  <c:v>0.11033212863112805</c:v>
                </c:pt>
                <c:pt idx="103">
                  <c:v>0.10856280001977021</c:v>
                </c:pt>
                <c:pt idx="104">
                  <c:v>0.1131263787418308</c:v>
                </c:pt>
                <c:pt idx="105">
                  <c:v>0.10098235513060916</c:v>
                </c:pt>
                <c:pt idx="106">
                  <c:v>0.11236472317234437</c:v>
                </c:pt>
                <c:pt idx="107">
                  <c:v>0.12332062058134359</c:v>
                </c:pt>
                <c:pt idx="108">
                  <c:v>0.12552993616053365</c:v>
                </c:pt>
                <c:pt idx="109">
                  <c:v>0.12968247708022948</c:v>
                </c:pt>
                <c:pt idx="110">
                  <c:v>0.12586542370180129</c:v>
                </c:pt>
                <c:pt idx="111">
                  <c:v>9.4395159134672058E-2</c:v>
                </c:pt>
                <c:pt idx="112">
                  <c:v>8.6850925919388131E-2</c:v>
                </c:pt>
                <c:pt idx="113">
                  <c:v>9.7880860566899208E-2</c:v>
                </c:pt>
                <c:pt idx="114">
                  <c:v>0.10519985515330449</c:v>
                </c:pt>
                <c:pt idx="115">
                  <c:v>9.6309637046055468E-2</c:v>
                </c:pt>
                <c:pt idx="116">
                  <c:v>0.11256867861685523</c:v>
                </c:pt>
                <c:pt idx="117">
                  <c:v>0.1153928865747488</c:v>
                </c:pt>
                <c:pt idx="118">
                  <c:v>0.10979591342686493</c:v>
                </c:pt>
                <c:pt idx="119">
                  <c:v>9.9887431119646666E-2</c:v>
                </c:pt>
                <c:pt idx="120">
                  <c:v>9.9286357680556617E-2</c:v>
                </c:pt>
                <c:pt idx="121">
                  <c:v>8.3010975465834358E-2</c:v>
                </c:pt>
                <c:pt idx="122">
                  <c:v>9.1290436789446719E-2</c:v>
                </c:pt>
                <c:pt idx="123">
                  <c:v>6.9405573773468177E-2</c:v>
                </c:pt>
                <c:pt idx="124">
                  <c:v>5.7076255329622093E-2</c:v>
                </c:pt>
                <c:pt idx="125">
                  <c:v>1.6262370220487706E-2</c:v>
                </c:pt>
                <c:pt idx="126">
                  <c:v>3.6557752576425205E-2</c:v>
                </c:pt>
                <c:pt idx="127">
                  <c:v>5.4230461582843503E-2</c:v>
                </c:pt>
                <c:pt idx="128">
                  <c:v>3.9633021415321615E-2</c:v>
                </c:pt>
                <c:pt idx="129">
                  <c:v>4.9795792385058102E-2</c:v>
                </c:pt>
                <c:pt idx="130">
                  <c:v>5.0303461896543541E-2</c:v>
                </c:pt>
                <c:pt idx="131">
                  <c:v>3.6348652855123932E-2</c:v>
                </c:pt>
                <c:pt idx="132">
                  <c:v>5.3915046807875407E-2</c:v>
                </c:pt>
                <c:pt idx="133">
                  <c:v>3.9412422722371492E-2</c:v>
                </c:pt>
                <c:pt idx="134">
                  <c:v>2.7794830102693912E-2</c:v>
                </c:pt>
                <c:pt idx="135">
                  <c:v>3.3066604262890625E-2</c:v>
                </c:pt>
                <c:pt idx="136">
                  <c:v>7.3013325694250425E-2</c:v>
                </c:pt>
                <c:pt idx="137">
                  <c:v>6.633645789308576E-2</c:v>
                </c:pt>
                <c:pt idx="138">
                  <c:v>7.811775955650288E-2</c:v>
                </c:pt>
                <c:pt idx="139">
                  <c:v>8.0436819707220053E-2</c:v>
                </c:pt>
                <c:pt idx="140">
                  <c:v>9.3484924747299997E-2</c:v>
                </c:pt>
                <c:pt idx="141">
                  <c:v>8.8868390234750433E-2</c:v>
                </c:pt>
                <c:pt idx="142">
                  <c:v>0.10324513084114964</c:v>
                </c:pt>
                <c:pt idx="143">
                  <c:v>0.10570288472886118</c:v>
                </c:pt>
                <c:pt idx="144">
                  <c:v>0.11344734126627888</c:v>
                </c:pt>
                <c:pt idx="145">
                  <c:v>0.11306162137517621</c:v>
                </c:pt>
                <c:pt idx="146">
                  <c:v>0.12299885111151683</c:v>
                </c:pt>
                <c:pt idx="147">
                  <c:v>0.11393836752932483</c:v>
                </c:pt>
                <c:pt idx="148">
                  <c:v>0.10857803111379634</c:v>
                </c:pt>
                <c:pt idx="149">
                  <c:v>0.11282387509292469</c:v>
                </c:pt>
                <c:pt idx="150">
                  <c:v>0.10447309997145417</c:v>
                </c:pt>
                <c:pt idx="151">
                  <c:v>0.11818935578524359</c:v>
                </c:pt>
                <c:pt idx="152">
                  <c:v>0.12052314268912523</c:v>
                </c:pt>
                <c:pt idx="153">
                  <c:v>0.14122714201129122</c:v>
                </c:pt>
                <c:pt idx="154">
                  <c:v>0.15258439387810882</c:v>
                </c:pt>
                <c:pt idx="155">
                  <c:v>0.15242038222985238</c:v>
                </c:pt>
                <c:pt idx="156">
                  <c:v>0.16937248901293436</c:v>
                </c:pt>
                <c:pt idx="157">
                  <c:v>0.16472408015791917</c:v>
                </c:pt>
                <c:pt idx="158">
                  <c:v>0.17831646985605101</c:v>
                </c:pt>
                <c:pt idx="159">
                  <c:v>0.15589841768098009</c:v>
                </c:pt>
                <c:pt idx="160">
                  <c:v>0.14389944250161144</c:v>
                </c:pt>
                <c:pt idx="161">
                  <c:v>0.14320930246632763</c:v>
                </c:pt>
                <c:pt idx="162">
                  <c:v>0.15139465378512856</c:v>
                </c:pt>
                <c:pt idx="163">
                  <c:v>0.15123306297300862</c:v>
                </c:pt>
                <c:pt idx="164">
                  <c:v>0.12498292806182802</c:v>
                </c:pt>
                <c:pt idx="165">
                  <c:v>0.14359915795249714</c:v>
                </c:pt>
                <c:pt idx="166">
                  <c:v>0.15709330205075075</c:v>
                </c:pt>
                <c:pt idx="167">
                  <c:v>0.15250238805398048</c:v>
                </c:pt>
                <c:pt idx="168">
                  <c:v>0.13765398787362831</c:v>
                </c:pt>
                <c:pt idx="169">
                  <c:v>0.14379706130666634</c:v>
                </c:pt>
                <c:pt idx="170">
                  <c:v>0.1250798623754657</c:v>
                </c:pt>
                <c:pt idx="171">
                  <c:v>0.11707133296281083</c:v>
                </c:pt>
                <c:pt idx="172">
                  <c:v>0.12503063870735426</c:v>
                </c:pt>
                <c:pt idx="173">
                  <c:v>0.12962478048563988</c:v>
                </c:pt>
                <c:pt idx="174">
                  <c:v>0.12500320256447248</c:v>
                </c:pt>
                <c:pt idx="175">
                  <c:v>0.11222502075362645</c:v>
                </c:pt>
                <c:pt idx="176">
                  <c:v>8.3184569590465052E-2</c:v>
                </c:pt>
                <c:pt idx="177">
                  <c:v>0.10597099233099284</c:v>
                </c:pt>
                <c:pt idx="178">
                  <c:v>9.2345618740499458E-2</c:v>
                </c:pt>
                <c:pt idx="179">
                  <c:v>8.6819656785956739E-2</c:v>
                </c:pt>
                <c:pt idx="180">
                  <c:v>9.6153190510725711E-2</c:v>
                </c:pt>
                <c:pt idx="181">
                  <c:v>0.12706161935781277</c:v>
                </c:pt>
                <c:pt idx="182">
                  <c:v>0.13395585807041194</c:v>
                </c:pt>
                <c:pt idx="183">
                  <c:v>0.14332277916023201</c:v>
                </c:pt>
                <c:pt idx="184">
                  <c:v>0.14705691890098063</c:v>
                </c:pt>
              </c:numCache>
            </c:numRef>
          </c:val>
          <c:smooth val="0"/>
          <c:extLst xmlns:c16r2="http://schemas.microsoft.com/office/drawing/2015/06/chart">
            <c:ext xmlns:c16="http://schemas.microsoft.com/office/drawing/2014/chart" uri="{C3380CC4-5D6E-409C-BE32-E72D297353CC}">
              <c16:uniqueId val="{00000002-0F31-4AE4-8058-1A839BFD087F}"/>
            </c:ext>
          </c:extLst>
        </c:ser>
        <c:dLbls>
          <c:showLegendKey val="0"/>
          <c:showVal val="0"/>
          <c:showCatName val="0"/>
          <c:showSerName val="0"/>
          <c:showPercent val="0"/>
          <c:showBubbleSize val="0"/>
        </c:dLbls>
        <c:marker val="1"/>
        <c:smooth val="0"/>
        <c:axId val="-2048904192"/>
        <c:axId val="-2048903648"/>
      </c:lineChart>
      <c:catAx>
        <c:axId val="-2048904192"/>
        <c:scaling>
          <c:orientation val="minMax"/>
        </c:scaling>
        <c:delete val="0"/>
        <c:axPos val="b"/>
        <c:numFmt formatCode="yyyy\-mm\-dd" sourceLinked="1"/>
        <c:majorTickMark val="out"/>
        <c:minorTickMark val="out"/>
        <c:tickLblPos val="low"/>
        <c:spPr>
          <a:noFill/>
          <a:ln w="6350">
            <a:solidFill>
              <a:srgbClr val="5A5A5A"/>
            </a:solidFill>
            <a:prstDash val="solid"/>
          </a:ln>
          <a:extLst>
            <a:ext uri="{909E8E84-426E-40DD-AFC4-6F175D3DCCD1}">
              <a14:hiddenFill xmlns:a14="http://schemas.microsoft.com/office/drawing/2010/main">
                <a:noFill/>
              </a14:hiddenFill>
            </a:ext>
          </a:extLst>
        </c:spPr>
        <c:txPr>
          <a:bodyPr/>
          <a:lstStyle/>
          <a:p>
            <a:pPr>
              <a:defRPr sz="1000"/>
            </a:pPr>
            <a:endParaRPr lang="zh-CN"/>
          </a:p>
        </c:txPr>
        <c:crossAx val="-2048903648"/>
        <c:crosses val="autoZero"/>
        <c:auto val="0"/>
        <c:lblAlgn val="ctr"/>
        <c:lblOffset val="100"/>
        <c:tickLblSkip val="37"/>
        <c:tickMarkSkip val="37"/>
        <c:noMultiLvlLbl val="0"/>
      </c:catAx>
      <c:valAx>
        <c:axId val="-2048903648"/>
        <c:scaling>
          <c:orientation val="minMax"/>
          <c:max val="0.25"/>
          <c:min val="-0.05"/>
        </c:scaling>
        <c:delete val="0"/>
        <c:axPos val="l"/>
        <c:majorGridlines>
          <c:spPr>
            <a:ln w="6350">
              <a:solidFill>
                <a:srgbClr val="E1E1E1"/>
              </a:solidFill>
              <a:prstDash val="lgDash"/>
            </a:ln>
          </c:spPr>
        </c:majorGridlines>
        <c:numFmt formatCode="0.00%" sourceLinked="0"/>
        <c:majorTickMark val="out"/>
        <c:minorTickMark val="out"/>
        <c:tickLblPos val="nextTo"/>
        <c:spPr>
          <a:noFill/>
          <a:ln w="6350">
            <a:solidFill>
              <a:srgbClr val="5A5A5A"/>
            </a:solidFill>
            <a:prstDash val="solid"/>
          </a:ln>
          <a:extLst>
            <a:ext uri="{909E8E84-426E-40DD-AFC4-6F175D3DCCD1}">
              <a14:hiddenFill xmlns:a14="http://schemas.microsoft.com/office/drawing/2010/main">
                <a:noFill/>
              </a14:hiddenFill>
            </a:ext>
          </a:extLst>
        </c:spPr>
        <c:txPr>
          <a:bodyPr/>
          <a:lstStyle/>
          <a:p>
            <a:pPr>
              <a:defRPr sz="1000"/>
            </a:pPr>
            <a:endParaRPr lang="zh-CN"/>
          </a:p>
        </c:txPr>
        <c:crossAx val="-2048904192"/>
        <c:crosses val="autoZero"/>
        <c:crossBetween val="between"/>
      </c:valAx>
      <c:spPr>
        <a:noFill/>
        <a:ln>
          <a:noFill/>
        </a:ln>
        <a:effectLst/>
        <a:extLst>
          <a:ext uri="{909E8E84-426E-40DD-AFC4-6F175D3DCCD1}">
            <a14:hiddenFill xmlns:a14="http://schemas.microsoft.com/office/drawing/2010/main">
              <a:solidFill>
                <a:sysClr val="window" lastClr="FFFFFF"/>
              </a:solidFill>
            </a14:hiddenFill>
          </a:ext>
          <a:ext uri="{91240B29-F687-4F45-9708-019B960494DF}">
            <a14:hiddenLine xmlns:a14="http://schemas.microsoft.com/office/drawing/2010/main">
              <a:noFill/>
            </a14:hiddenLine>
          </a:ext>
        </a:extLst>
      </c:spPr>
    </c:plotArea>
    <c:legend>
      <c:legendPos val="b"/>
      <c:layout/>
      <c:overlay val="0"/>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xPr>
        <a:bodyPr/>
        <a:lstStyle/>
        <a:p>
          <a:pPr>
            <a:defRPr sz="1000" b="0" i="0">
              <a:solidFill>
                <a:srgbClr val="000000"/>
              </a:solidFill>
            </a:defRPr>
          </a:pPr>
          <a:endParaRPr lang="zh-CN"/>
        </a:p>
      </c:txPr>
    </c:legend>
    <c:plotVisOnly val="1"/>
    <c:dispBlanksAs val="span"/>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rgbClr val="FFFFFF"/>
    </a:solidFill>
    <a:ln w="6350" cap="flat" cmpd="sng" algn="ctr">
      <a:noFill/>
      <a:prstDash val="solid"/>
      <a:round/>
    </a:ln>
    <a:effectLst/>
    <a:extLst>
      <a:ext uri="{91240B29-F687-4F45-9708-019B960494DF}">
        <a14:hiddenLine xmlns:a14="http://schemas.microsoft.com/office/drawing/2010/main" w="6350" cap="flat" cmpd="sng" algn="ctr">
          <a:solidFill>
            <a:sysClr val="windowText" lastClr="000000">
              <a:tint val="75000"/>
            </a:sysClr>
          </a:solidFill>
          <a:prstDash val="solid"/>
          <a:round/>
        </a14:hiddenLine>
      </a:ext>
    </a:extLst>
  </c:spPr>
  <c:txPr>
    <a:bodyPr/>
    <a:lstStyle/>
    <a:p>
      <a:pPr>
        <a:defRPr sz="1100" b="0" i="0">
          <a:solidFill>
            <a:srgbClr val="000000"/>
          </a:solidFill>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CN" altLang="en-US" sz="1600" b="1" dirty="0"/>
              <a:t>中证全指近十年风险溢价一览</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4.8653647661873252E-2"/>
          <c:y val="0.18218175704512241"/>
          <c:w val="0.8797696297516826"/>
          <c:h val="0.57441149463936991"/>
        </c:manualLayout>
      </c:layout>
      <c:areaChart>
        <c:grouping val="standard"/>
        <c:varyColors val="0"/>
        <c:ser>
          <c:idx val="0"/>
          <c:order val="0"/>
          <c:tx>
            <c:strRef>
              <c:f>Sheet4!$B$1</c:f>
              <c:strCache>
                <c:ptCount val="1"/>
                <c:pt idx="0">
                  <c:v>风险溢价(%)</c:v>
                </c:pt>
              </c:strCache>
            </c:strRef>
          </c:tx>
          <c:spPr>
            <a:solidFill>
              <a:srgbClr val="002060"/>
            </a:solidFill>
            <a:ln>
              <a:noFill/>
            </a:ln>
            <a:effectLst/>
          </c:spPr>
          <c:cat>
            <c:strRef>
              <c:f>Sheet4!$A$2:$A$525</c:f>
              <c:strCache>
                <c:ptCount val="524"/>
                <c:pt idx="0">
                  <c:v>2016-03-04</c:v>
                </c:pt>
                <c:pt idx="1">
                  <c:v>2016-03-11</c:v>
                </c:pt>
                <c:pt idx="2">
                  <c:v>2016-03-18</c:v>
                </c:pt>
                <c:pt idx="3">
                  <c:v>2016-03-25</c:v>
                </c:pt>
                <c:pt idx="4">
                  <c:v>2016-04-01</c:v>
                </c:pt>
                <c:pt idx="5">
                  <c:v>2016-04-08</c:v>
                </c:pt>
                <c:pt idx="6">
                  <c:v>2016-04-15</c:v>
                </c:pt>
                <c:pt idx="7">
                  <c:v>2016-04-22</c:v>
                </c:pt>
                <c:pt idx="8">
                  <c:v>2016-04-29</c:v>
                </c:pt>
                <c:pt idx="9">
                  <c:v>2016-05-06</c:v>
                </c:pt>
                <c:pt idx="10">
                  <c:v>2016-05-13</c:v>
                </c:pt>
                <c:pt idx="11">
                  <c:v>2016-05-20</c:v>
                </c:pt>
                <c:pt idx="12">
                  <c:v>2016-05-27</c:v>
                </c:pt>
                <c:pt idx="13">
                  <c:v>2016-06-03</c:v>
                </c:pt>
                <c:pt idx="14">
                  <c:v>2016-06-08</c:v>
                </c:pt>
                <c:pt idx="15">
                  <c:v>2016-06-17</c:v>
                </c:pt>
                <c:pt idx="16">
                  <c:v>2016-06-24</c:v>
                </c:pt>
                <c:pt idx="17">
                  <c:v>2016-07-01</c:v>
                </c:pt>
                <c:pt idx="18">
                  <c:v>2016-07-08</c:v>
                </c:pt>
                <c:pt idx="19">
                  <c:v>2016-07-15</c:v>
                </c:pt>
                <c:pt idx="20">
                  <c:v>2016-07-22</c:v>
                </c:pt>
                <c:pt idx="21">
                  <c:v>2016-07-29</c:v>
                </c:pt>
                <c:pt idx="22">
                  <c:v>2016-08-05</c:v>
                </c:pt>
                <c:pt idx="23">
                  <c:v>2016-08-12</c:v>
                </c:pt>
                <c:pt idx="24">
                  <c:v>2016-08-19</c:v>
                </c:pt>
                <c:pt idx="25">
                  <c:v>2016-08-26</c:v>
                </c:pt>
                <c:pt idx="26">
                  <c:v>2016-09-02</c:v>
                </c:pt>
                <c:pt idx="27">
                  <c:v>2016-09-09</c:v>
                </c:pt>
                <c:pt idx="28">
                  <c:v>2016-09-14</c:v>
                </c:pt>
                <c:pt idx="29">
                  <c:v>2016-09-23</c:v>
                </c:pt>
                <c:pt idx="30">
                  <c:v>2016-09-30</c:v>
                </c:pt>
                <c:pt idx="31">
                  <c:v>2016-10-14</c:v>
                </c:pt>
                <c:pt idx="32">
                  <c:v>2016-10-21</c:v>
                </c:pt>
                <c:pt idx="33">
                  <c:v>2016-10-28</c:v>
                </c:pt>
                <c:pt idx="34">
                  <c:v>2016-11-04</c:v>
                </c:pt>
                <c:pt idx="35">
                  <c:v>2016-11-11</c:v>
                </c:pt>
                <c:pt idx="36">
                  <c:v>2016-11-18</c:v>
                </c:pt>
                <c:pt idx="37">
                  <c:v>2016-11-25</c:v>
                </c:pt>
                <c:pt idx="38">
                  <c:v>2016-12-02</c:v>
                </c:pt>
                <c:pt idx="39">
                  <c:v>2016-12-09</c:v>
                </c:pt>
                <c:pt idx="40">
                  <c:v>2016-12-16</c:v>
                </c:pt>
                <c:pt idx="41">
                  <c:v>2016-12-23</c:v>
                </c:pt>
                <c:pt idx="42">
                  <c:v>2016-12-30</c:v>
                </c:pt>
                <c:pt idx="43">
                  <c:v>2017-01-06</c:v>
                </c:pt>
                <c:pt idx="44">
                  <c:v>2017-01-13</c:v>
                </c:pt>
                <c:pt idx="45">
                  <c:v>2017-01-20</c:v>
                </c:pt>
                <c:pt idx="46">
                  <c:v>2017-01-26</c:v>
                </c:pt>
                <c:pt idx="47">
                  <c:v>2017-02-03</c:v>
                </c:pt>
                <c:pt idx="48">
                  <c:v>2017-02-10</c:v>
                </c:pt>
                <c:pt idx="49">
                  <c:v>2017-02-17</c:v>
                </c:pt>
                <c:pt idx="50">
                  <c:v>2017-02-24</c:v>
                </c:pt>
                <c:pt idx="51">
                  <c:v>2017-03-03</c:v>
                </c:pt>
                <c:pt idx="52">
                  <c:v>2017-03-10</c:v>
                </c:pt>
                <c:pt idx="53">
                  <c:v>2017-03-17</c:v>
                </c:pt>
                <c:pt idx="54">
                  <c:v>2017-03-24</c:v>
                </c:pt>
                <c:pt idx="55">
                  <c:v>2017-03-31</c:v>
                </c:pt>
                <c:pt idx="56">
                  <c:v>2017-04-07</c:v>
                </c:pt>
                <c:pt idx="57">
                  <c:v>2017-04-14</c:v>
                </c:pt>
                <c:pt idx="58">
                  <c:v>2017-04-21</c:v>
                </c:pt>
                <c:pt idx="59">
                  <c:v>2017-04-28</c:v>
                </c:pt>
                <c:pt idx="60">
                  <c:v>2017-05-05</c:v>
                </c:pt>
                <c:pt idx="61">
                  <c:v>2017-05-12</c:v>
                </c:pt>
                <c:pt idx="62">
                  <c:v>2017-05-19</c:v>
                </c:pt>
                <c:pt idx="63">
                  <c:v>2017-05-26</c:v>
                </c:pt>
                <c:pt idx="64">
                  <c:v>2017-06-02</c:v>
                </c:pt>
                <c:pt idx="65">
                  <c:v>2017-06-09</c:v>
                </c:pt>
                <c:pt idx="66">
                  <c:v>2017-06-16</c:v>
                </c:pt>
                <c:pt idx="67">
                  <c:v>2017-06-23</c:v>
                </c:pt>
                <c:pt idx="68">
                  <c:v>2017-06-30</c:v>
                </c:pt>
                <c:pt idx="69">
                  <c:v>2017-07-07</c:v>
                </c:pt>
                <c:pt idx="70">
                  <c:v>2017-07-14</c:v>
                </c:pt>
                <c:pt idx="71">
                  <c:v>2017-07-21</c:v>
                </c:pt>
                <c:pt idx="72">
                  <c:v>2017-07-28</c:v>
                </c:pt>
                <c:pt idx="73">
                  <c:v>2017-08-04</c:v>
                </c:pt>
                <c:pt idx="74">
                  <c:v>2017-08-11</c:v>
                </c:pt>
                <c:pt idx="75">
                  <c:v>2017-08-18</c:v>
                </c:pt>
                <c:pt idx="76">
                  <c:v>2017-08-25</c:v>
                </c:pt>
                <c:pt idx="77">
                  <c:v>2017-09-01</c:v>
                </c:pt>
                <c:pt idx="78">
                  <c:v>2017-09-08</c:v>
                </c:pt>
                <c:pt idx="79">
                  <c:v>2017-09-15</c:v>
                </c:pt>
                <c:pt idx="80">
                  <c:v>2017-09-22</c:v>
                </c:pt>
                <c:pt idx="81">
                  <c:v>2017-09-29</c:v>
                </c:pt>
                <c:pt idx="82">
                  <c:v>2017-10-13</c:v>
                </c:pt>
                <c:pt idx="83">
                  <c:v>2017-10-20</c:v>
                </c:pt>
                <c:pt idx="84">
                  <c:v>2017-10-27</c:v>
                </c:pt>
                <c:pt idx="85">
                  <c:v>2017-11-03</c:v>
                </c:pt>
                <c:pt idx="86">
                  <c:v>2017-11-10</c:v>
                </c:pt>
                <c:pt idx="87">
                  <c:v>2017-11-17</c:v>
                </c:pt>
                <c:pt idx="88">
                  <c:v>2017-11-24</c:v>
                </c:pt>
                <c:pt idx="89">
                  <c:v>2017-12-01</c:v>
                </c:pt>
                <c:pt idx="90">
                  <c:v>2017-12-08</c:v>
                </c:pt>
                <c:pt idx="91">
                  <c:v>2017-12-15</c:v>
                </c:pt>
                <c:pt idx="92">
                  <c:v>2017-12-22</c:v>
                </c:pt>
                <c:pt idx="93">
                  <c:v>2017-12-29</c:v>
                </c:pt>
                <c:pt idx="94">
                  <c:v>2018-01-05</c:v>
                </c:pt>
                <c:pt idx="95">
                  <c:v>2018-01-12</c:v>
                </c:pt>
                <c:pt idx="96">
                  <c:v>2018-01-19</c:v>
                </c:pt>
                <c:pt idx="97">
                  <c:v>2018-01-26</c:v>
                </c:pt>
                <c:pt idx="98">
                  <c:v>2018-02-02</c:v>
                </c:pt>
                <c:pt idx="99">
                  <c:v>2018-02-09</c:v>
                </c:pt>
                <c:pt idx="100">
                  <c:v>2018-02-14</c:v>
                </c:pt>
                <c:pt idx="101">
                  <c:v>2018-02-23</c:v>
                </c:pt>
                <c:pt idx="102">
                  <c:v>2018-03-02</c:v>
                </c:pt>
                <c:pt idx="103">
                  <c:v>2018-03-09</c:v>
                </c:pt>
                <c:pt idx="104">
                  <c:v>2018-03-16</c:v>
                </c:pt>
                <c:pt idx="105">
                  <c:v>2018-03-23</c:v>
                </c:pt>
                <c:pt idx="106">
                  <c:v>2018-03-30</c:v>
                </c:pt>
                <c:pt idx="107">
                  <c:v>2018-04-04</c:v>
                </c:pt>
                <c:pt idx="108">
                  <c:v>2018-04-13</c:v>
                </c:pt>
                <c:pt idx="109">
                  <c:v>2018-04-20</c:v>
                </c:pt>
                <c:pt idx="110">
                  <c:v>2018-04-27</c:v>
                </c:pt>
                <c:pt idx="111">
                  <c:v>2018-05-04</c:v>
                </c:pt>
                <c:pt idx="112">
                  <c:v>2018-05-11</c:v>
                </c:pt>
                <c:pt idx="113">
                  <c:v>2018-05-18</c:v>
                </c:pt>
                <c:pt idx="114">
                  <c:v>2018-05-25</c:v>
                </c:pt>
                <c:pt idx="115">
                  <c:v>2018-06-01</c:v>
                </c:pt>
                <c:pt idx="116">
                  <c:v>2018-06-08</c:v>
                </c:pt>
                <c:pt idx="117">
                  <c:v>2018-06-15</c:v>
                </c:pt>
                <c:pt idx="118">
                  <c:v>2018-06-22</c:v>
                </c:pt>
                <c:pt idx="119">
                  <c:v>2018-06-29</c:v>
                </c:pt>
                <c:pt idx="120">
                  <c:v>2018-07-06</c:v>
                </c:pt>
                <c:pt idx="121">
                  <c:v>2018-07-13</c:v>
                </c:pt>
                <c:pt idx="122">
                  <c:v>2018-07-20</c:v>
                </c:pt>
                <c:pt idx="123">
                  <c:v>2018-07-27</c:v>
                </c:pt>
                <c:pt idx="124">
                  <c:v>2018-08-03</c:v>
                </c:pt>
                <c:pt idx="125">
                  <c:v>2018-08-10</c:v>
                </c:pt>
                <c:pt idx="126">
                  <c:v>2018-08-17</c:v>
                </c:pt>
                <c:pt idx="127">
                  <c:v>2018-08-24</c:v>
                </c:pt>
                <c:pt idx="128">
                  <c:v>2018-08-31</c:v>
                </c:pt>
                <c:pt idx="129">
                  <c:v>2018-09-07</c:v>
                </c:pt>
                <c:pt idx="130">
                  <c:v>2018-09-14</c:v>
                </c:pt>
                <c:pt idx="131">
                  <c:v>2018-09-21</c:v>
                </c:pt>
                <c:pt idx="132">
                  <c:v>2018-09-28</c:v>
                </c:pt>
                <c:pt idx="133">
                  <c:v>2018-10-12</c:v>
                </c:pt>
                <c:pt idx="134">
                  <c:v>2018-10-19</c:v>
                </c:pt>
                <c:pt idx="135">
                  <c:v>2018-10-26</c:v>
                </c:pt>
                <c:pt idx="136">
                  <c:v>2018-11-02</c:v>
                </c:pt>
                <c:pt idx="137">
                  <c:v>2018-11-09</c:v>
                </c:pt>
                <c:pt idx="138">
                  <c:v>2018-11-16</c:v>
                </c:pt>
                <c:pt idx="139">
                  <c:v>2018-11-23</c:v>
                </c:pt>
                <c:pt idx="140">
                  <c:v>2018-11-30</c:v>
                </c:pt>
                <c:pt idx="141">
                  <c:v>2018-12-07</c:v>
                </c:pt>
                <c:pt idx="142">
                  <c:v>2018-12-14</c:v>
                </c:pt>
                <c:pt idx="143">
                  <c:v>2018-12-21</c:v>
                </c:pt>
                <c:pt idx="144">
                  <c:v>2018-12-28</c:v>
                </c:pt>
                <c:pt idx="145">
                  <c:v>2019-01-04</c:v>
                </c:pt>
                <c:pt idx="146">
                  <c:v>2019-01-11</c:v>
                </c:pt>
                <c:pt idx="147">
                  <c:v>2019-01-18</c:v>
                </c:pt>
                <c:pt idx="148">
                  <c:v>2019-01-25</c:v>
                </c:pt>
                <c:pt idx="149">
                  <c:v>2019-02-01</c:v>
                </c:pt>
                <c:pt idx="150">
                  <c:v>2019-02-15</c:v>
                </c:pt>
                <c:pt idx="151">
                  <c:v>2019-02-22</c:v>
                </c:pt>
                <c:pt idx="152">
                  <c:v>2019-03-01</c:v>
                </c:pt>
                <c:pt idx="153">
                  <c:v>2019-03-08</c:v>
                </c:pt>
                <c:pt idx="154">
                  <c:v>2019-03-15</c:v>
                </c:pt>
                <c:pt idx="155">
                  <c:v>2019-03-22</c:v>
                </c:pt>
                <c:pt idx="156">
                  <c:v>2019-03-29</c:v>
                </c:pt>
                <c:pt idx="157">
                  <c:v>2019-04-04</c:v>
                </c:pt>
                <c:pt idx="158">
                  <c:v>2019-04-12</c:v>
                </c:pt>
                <c:pt idx="159">
                  <c:v>2019-04-19</c:v>
                </c:pt>
                <c:pt idx="160">
                  <c:v>2019-04-26</c:v>
                </c:pt>
                <c:pt idx="161">
                  <c:v>2019-04-30</c:v>
                </c:pt>
                <c:pt idx="162">
                  <c:v>2019-05-10</c:v>
                </c:pt>
                <c:pt idx="163">
                  <c:v>2019-05-17</c:v>
                </c:pt>
                <c:pt idx="164">
                  <c:v>2019-05-24</c:v>
                </c:pt>
                <c:pt idx="165">
                  <c:v>2019-05-31</c:v>
                </c:pt>
                <c:pt idx="166">
                  <c:v>2019-06-06</c:v>
                </c:pt>
                <c:pt idx="167">
                  <c:v>2019-06-14</c:v>
                </c:pt>
                <c:pt idx="168">
                  <c:v>2019-06-21</c:v>
                </c:pt>
                <c:pt idx="169">
                  <c:v>2019-06-28</c:v>
                </c:pt>
                <c:pt idx="170">
                  <c:v>2019-07-05</c:v>
                </c:pt>
                <c:pt idx="171">
                  <c:v>2019-07-12</c:v>
                </c:pt>
                <c:pt idx="172">
                  <c:v>2019-07-19</c:v>
                </c:pt>
                <c:pt idx="173">
                  <c:v>2019-07-26</c:v>
                </c:pt>
                <c:pt idx="174">
                  <c:v>2019-08-02</c:v>
                </c:pt>
                <c:pt idx="175">
                  <c:v>2019-08-09</c:v>
                </c:pt>
                <c:pt idx="176">
                  <c:v>2019-08-16</c:v>
                </c:pt>
                <c:pt idx="177">
                  <c:v>2019-08-23</c:v>
                </c:pt>
                <c:pt idx="178">
                  <c:v>2019-08-30</c:v>
                </c:pt>
                <c:pt idx="179">
                  <c:v>2019-09-06</c:v>
                </c:pt>
                <c:pt idx="180">
                  <c:v>2019-09-12</c:v>
                </c:pt>
                <c:pt idx="181">
                  <c:v>2019-09-20</c:v>
                </c:pt>
                <c:pt idx="182">
                  <c:v>2019-09-27</c:v>
                </c:pt>
                <c:pt idx="183">
                  <c:v>2019-09-30</c:v>
                </c:pt>
                <c:pt idx="184">
                  <c:v>2019-10-11</c:v>
                </c:pt>
                <c:pt idx="185">
                  <c:v>2019-10-18</c:v>
                </c:pt>
                <c:pt idx="186">
                  <c:v>2019-10-25</c:v>
                </c:pt>
                <c:pt idx="187">
                  <c:v>2019-11-01</c:v>
                </c:pt>
                <c:pt idx="188">
                  <c:v>2019-11-08</c:v>
                </c:pt>
                <c:pt idx="189">
                  <c:v>2019-11-15</c:v>
                </c:pt>
                <c:pt idx="190">
                  <c:v>2019-11-22</c:v>
                </c:pt>
                <c:pt idx="191">
                  <c:v>2019-11-29</c:v>
                </c:pt>
                <c:pt idx="192">
                  <c:v>2019-12-06</c:v>
                </c:pt>
                <c:pt idx="193">
                  <c:v>2019-12-13</c:v>
                </c:pt>
                <c:pt idx="194">
                  <c:v>2019-12-20</c:v>
                </c:pt>
                <c:pt idx="195">
                  <c:v>2019-12-27</c:v>
                </c:pt>
                <c:pt idx="196">
                  <c:v>2020-01-03</c:v>
                </c:pt>
                <c:pt idx="197">
                  <c:v>2020-01-10</c:v>
                </c:pt>
                <c:pt idx="198">
                  <c:v>2020-01-17</c:v>
                </c:pt>
                <c:pt idx="199">
                  <c:v>2020-01-23</c:v>
                </c:pt>
                <c:pt idx="200">
                  <c:v>2020-02-07</c:v>
                </c:pt>
                <c:pt idx="201">
                  <c:v>2020-02-14</c:v>
                </c:pt>
                <c:pt idx="202">
                  <c:v>2020-02-21</c:v>
                </c:pt>
                <c:pt idx="203">
                  <c:v>2020-02-28</c:v>
                </c:pt>
                <c:pt idx="204">
                  <c:v>2020-03-06</c:v>
                </c:pt>
                <c:pt idx="205">
                  <c:v>2020-03-13</c:v>
                </c:pt>
                <c:pt idx="206">
                  <c:v>2020-03-20</c:v>
                </c:pt>
                <c:pt idx="207">
                  <c:v>2020-03-27</c:v>
                </c:pt>
                <c:pt idx="208">
                  <c:v>2020-04-03</c:v>
                </c:pt>
                <c:pt idx="209">
                  <c:v>2020-04-10</c:v>
                </c:pt>
                <c:pt idx="210">
                  <c:v>2020-04-17</c:v>
                </c:pt>
                <c:pt idx="211">
                  <c:v>2020-04-24</c:v>
                </c:pt>
                <c:pt idx="212">
                  <c:v>2020-04-30</c:v>
                </c:pt>
                <c:pt idx="213">
                  <c:v>2020-05-08</c:v>
                </c:pt>
                <c:pt idx="214">
                  <c:v>2020-05-15</c:v>
                </c:pt>
                <c:pt idx="215">
                  <c:v>2020-05-22</c:v>
                </c:pt>
                <c:pt idx="216">
                  <c:v>2020-05-29</c:v>
                </c:pt>
                <c:pt idx="217">
                  <c:v>2020-06-05</c:v>
                </c:pt>
                <c:pt idx="218">
                  <c:v>2020-06-12</c:v>
                </c:pt>
                <c:pt idx="219">
                  <c:v>2020-06-19</c:v>
                </c:pt>
                <c:pt idx="220">
                  <c:v>2020-06-24</c:v>
                </c:pt>
                <c:pt idx="221">
                  <c:v>2020-07-03</c:v>
                </c:pt>
                <c:pt idx="222">
                  <c:v>2020-07-10</c:v>
                </c:pt>
                <c:pt idx="223">
                  <c:v>2020-07-17</c:v>
                </c:pt>
                <c:pt idx="224">
                  <c:v>2020-07-24</c:v>
                </c:pt>
                <c:pt idx="225">
                  <c:v>2020-07-31</c:v>
                </c:pt>
                <c:pt idx="226">
                  <c:v>2020-08-07</c:v>
                </c:pt>
                <c:pt idx="227">
                  <c:v>2020-08-14</c:v>
                </c:pt>
                <c:pt idx="228">
                  <c:v>2020-08-21</c:v>
                </c:pt>
                <c:pt idx="229">
                  <c:v>2020-08-28</c:v>
                </c:pt>
                <c:pt idx="230">
                  <c:v>2020-09-04</c:v>
                </c:pt>
                <c:pt idx="231">
                  <c:v>2020-09-11</c:v>
                </c:pt>
                <c:pt idx="232">
                  <c:v>2020-09-18</c:v>
                </c:pt>
                <c:pt idx="233">
                  <c:v>2020-09-25</c:v>
                </c:pt>
                <c:pt idx="234">
                  <c:v>2020-09-30</c:v>
                </c:pt>
                <c:pt idx="235">
                  <c:v>2020-10-09</c:v>
                </c:pt>
                <c:pt idx="236">
                  <c:v>2020-10-16</c:v>
                </c:pt>
                <c:pt idx="237">
                  <c:v>2020-10-23</c:v>
                </c:pt>
                <c:pt idx="238">
                  <c:v>2020-10-30</c:v>
                </c:pt>
                <c:pt idx="239">
                  <c:v>2020-11-06</c:v>
                </c:pt>
                <c:pt idx="240">
                  <c:v>2020-11-13</c:v>
                </c:pt>
                <c:pt idx="241">
                  <c:v>2020-11-20</c:v>
                </c:pt>
                <c:pt idx="242">
                  <c:v>2020-11-27</c:v>
                </c:pt>
                <c:pt idx="243">
                  <c:v>2020-12-04</c:v>
                </c:pt>
                <c:pt idx="244">
                  <c:v>2020-12-11</c:v>
                </c:pt>
                <c:pt idx="245">
                  <c:v>2020-12-18</c:v>
                </c:pt>
                <c:pt idx="246">
                  <c:v>2020-12-25</c:v>
                </c:pt>
                <c:pt idx="247">
                  <c:v>2020-12-31</c:v>
                </c:pt>
                <c:pt idx="248">
                  <c:v>2021-01-08</c:v>
                </c:pt>
                <c:pt idx="249">
                  <c:v>2021-01-15</c:v>
                </c:pt>
                <c:pt idx="250">
                  <c:v>2021-01-22</c:v>
                </c:pt>
                <c:pt idx="251">
                  <c:v>2021-01-29</c:v>
                </c:pt>
                <c:pt idx="252">
                  <c:v>2021-02-05</c:v>
                </c:pt>
                <c:pt idx="253">
                  <c:v>2021-02-10</c:v>
                </c:pt>
                <c:pt idx="254">
                  <c:v>2021-02-19</c:v>
                </c:pt>
                <c:pt idx="255">
                  <c:v>2021-02-26</c:v>
                </c:pt>
                <c:pt idx="256">
                  <c:v>2021-03-05</c:v>
                </c:pt>
                <c:pt idx="257">
                  <c:v>2021-03-12</c:v>
                </c:pt>
                <c:pt idx="258">
                  <c:v>2021-03-19</c:v>
                </c:pt>
                <c:pt idx="259">
                  <c:v>2021-03-26</c:v>
                </c:pt>
                <c:pt idx="260">
                  <c:v>2021-04-02</c:v>
                </c:pt>
                <c:pt idx="261">
                  <c:v>2021-04-09</c:v>
                </c:pt>
                <c:pt idx="262">
                  <c:v>2021-04-16</c:v>
                </c:pt>
                <c:pt idx="263">
                  <c:v>2021-04-23</c:v>
                </c:pt>
                <c:pt idx="264">
                  <c:v>2021-04-30</c:v>
                </c:pt>
                <c:pt idx="265">
                  <c:v>2021-05-07</c:v>
                </c:pt>
                <c:pt idx="266">
                  <c:v>2021-05-14</c:v>
                </c:pt>
                <c:pt idx="267">
                  <c:v>2021-05-21</c:v>
                </c:pt>
                <c:pt idx="268">
                  <c:v>2021-05-28</c:v>
                </c:pt>
                <c:pt idx="269">
                  <c:v>2021-06-04</c:v>
                </c:pt>
                <c:pt idx="270">
                  <c:v>2021-06-11</c:v>
                </c:pt>
                <c:pt idx="271">
                  <c:v>2021-06-18</c:v>
                </c:pt>
                <c:pt idx="272">
                  <c:v>2021-06-25</c:v>
                </c:pt>
                <c:pt idx="273">
                  <c:v>2021-07-02</c:v>
                </c:pt>
                <c:pt idx="274">
                  <c:v>2021-07-09</c:v>
                </c:pt>
                <c:pt idx="275">
                  <c:v>2021-07-16</c:v>
                </c:pt>
                <c:pt idx="276">
                  <c:v>2021-07-23</c:v>
                </c:pt>
                <c:pt idx="277">
                  <c:v>2021-07-30</c:v>
                </c:pt>
                <c:pt idx="278">
                  <c:v>2021-08-06</c:v>
                </c:pt>
                <c:pt idx="279">
                  <c:v>2021-08-13</c:v>
                </c:pt>
                <c:pt idx="280">
                  <c:v>2021-08-20</c:v>
                </c:pt>
                <c:pt idx="281">
                  <c:v>2021-08-27</c:v>
                </c:pt>
                <c:pt idx="282">
                  <c:v>2021-09-03</c:v>
                </c:pt>
                <c:pt idx="283">
                  <c:v>2021-09-10</c:v>
                </c:pt>
                <c:pt idx="284">
                  <c:v>2021-09-17</c:v>
                </c:pt>
                <c:pt idx="285">
                  <c:v>2021-09-24</c:v>
                </c:pt>
                <c:pt idx="286">
                  <c:v>2021-09-30</c:v>
                </c:pt>
                <c:pt idx="287">
                  <c:v>2021-10-08</c:v>
                </c:pt>
                <c:pt idx="288">
                  <c:v>2021-10-15</c:v>
                </c:pt>
                <c:pt idx="289">
                  <c:v>2021-10-22</c:v>
                </c:pt>
                <c:pt idx="290">
                  <c:v>2021-10-29</c:v>
                </c:pt>
                <c:pt idx="291">
                  <c:v>2021-11-05</c:v>
                </c:pt>
                <c:pt idx="292">
                  <c:v>2021-11-12</c:v>
                </c:pt>
                <c:pt idx="293">
                  <c:v>2021-11-19</c:v>
                </c:pt>
                <c:pt idx="294">
                  <c:v>2021-11-26</c:v>
                </c:pt>
                <c:pt idx="295">
                  <c:v>2021-12-03</c:v>
                </c:pt>
                <c:pt idx="296">
                  <c:v>2021-12-10</c:v>
                </c:pt>
                <c:pt idx="297">
                  <c:v>2021-12-17</c:v>
                </c:pt>
                <c:pt idx="298">
                  <c:v>2021-12-24</c:v>
                </c:pt>
                <c:pt idx="299">
                  <c:v>2021-12-31</c:v>
                </c:pt>
                <c:pt idx="300">
                  <c:v>2022-01-07</c:v>
                </c:pt>
                <c:pt idx="301">
                  <c:v>2022-01-14</c:v>
                </c:pt>
                <c:pt idx="302">
                  <c:v>2022-01-21</c:v>
                </c:pt>
                <c:pt idx="303">
                  <c:v>2022-01-28</c:v>
                </c:pt>
                <c:pt idx="304">
                  <c:v>2022-02-11</c:v>
                </c:pt>
                <c:pt idx="305">
                  <c:v>2022-02-18</c:v>
                </c:pt>
                <c:pt idx="306">
                  <c:v>2022-02-25</c:v>
                </c:pt>
                <c:pt idx="307">
                  <c:v>2022-03-04</c:v>
                </c:pt>
                <c:pt idx="308">
                  <c:v>2022-03-11</c:v>
                </c:pt>
                <c:pt idx="309">
                  <c:v>2022-03-18</c:v>
                </c:pt>
                <c:pt idx="310">
                  <c:v>2022-03-25</c:v>
                </c:pt>
                <c:pt idx="311">
                  <c:v>2022-04-01</c:v>
                </c:pt>
                <c:pt idx="312">
                  <c:v>2022-04-08</c:v>
                </c:pt>
                <c:pt idx="313">
                  <c:v>2022-04-15</c:v>
                </c:pt>
                <c:pt idx="314">
                  <c:v>2022-04-22</c:v>
                </c:pt>
                <c:pt idx="315">
                  <c:v>2022-04-29</c:v>
                </c:pt>
                <c:pt idx="316">
                  <c:v>2022-05-06</c:v>
                </c:pt>
                <c:pt idx="317">
                  <c:v>2022-05-13</c:v>
                </c:pt>
                <c:pt idx="318">
                  <c:v>2022-05-20</c:v>
                </c:pt>
                <c:pt idx="319">
                  <c:v>2022-05-27</c:v>
                </c:pt>
                <c:pt idx="320">
                  <c:v>2022-06-02</c:v>
                </c:pt>
                <c:pt idx="321">
                  <c:v>2022-06-10</c:v>
                </c:pt>
                <c:pt idx="322">
                  <c:v>2022-06-17</c:v>
                </c:pt>
                <c:pt idx="323">
                  <c:v>2022-06-24</c:v>
                </c:pt>
                <c:pt idx="324">
                  <c:v>2022-07-01</c:v>
                </c:pt>
                <c:pt idx="325">
                  <c:v>2022-07-08</c:v>
                </c:pt>
                <c:pt idx="326">
                  <c:v>2022-07-15</c:v>
                </c:pt>
                <c:pt idx="327">
                  <c:v>2022-07-22</c:v>
                </c:pt>
                <c:pt idx="328">
                  <c:v>2022-07-29</c:v>
                </c:pt>
                <c:pt idx="329">
                  <c:v>2022-08-05</c:v>
                </c:pt>
                <c:pt idx="330">
                  <c:v>2022-08-12</c:v>
                </c:pt>
                <c:pt idx="331">
                  <c:v>2022-08-19</c:v>
                </c:pt>
                <c:pt idx="332">
                  <c:v>2022-08-26</c:v>
                </c:pt>
                <c:pt idx="333">
                  <c:v>2022-09-02</c:v>
                </c:pt>
                <c:pt idx="334">
                  <c:v>2022-09-09</c:v>
                </c:pt>
                <c:pt idx="335">
                  <c:v>2022-09-16</c:v>
                </c:pt>
                <c:pt idx="336">
                  <c:v>2022-09-23</c:v>
                </c:pt>
                <c:pt idx="337">
                  <c:v>2022-09-30</c:v>
                </c:pt>
                <c:pt idx="338">
                  <c:v>2022-10-14</c:v>
                </c:pt>
                <c:pt idx="339">
                  <c:v>2022-10-21</c:v>
                </c:pt>
                <c:pt idx="340">
                  <c:v>2022-10-28</c:v>
                </c:pt>
                <c:pt idx="341">
                  <c:v>2022-11-04</c:v>
                </c:pt>
                <c:pt idx="342">
                  <c:v>2022-11-11</c:v>
                </c:pt>
                <c:pt idx="343">
                  <c:v>2022-11-18</c:v>
                </c:pt>
                <c:pt idx="344">
                  <c:v>2022-11-25</c:v>
                </c:pt>
                <c:pt idx="345">
                  <c:v>2022-12-02</c:v>
                </c:pt>
                <c:pt idx="346">
                  <c:v>2022-12-09</c:v>
                </c:pt>
                <c:pt idx="347">
                  <c:v>2022-12-16</c:v>
                </c:pt>
                <c:pt idx="348">
                  <c:v>2022-12-23</c:v>
                </c:pt>
                <c:pt idx="349">
                  <c:v>2022-12-30</c:v>
                </c:pt>
                <c:pt idx="350">
                  <c:v>2023-01-06</c:v>
                </c:pt>
                <c:pt idx="351">
                  <c:v>2023-01-13</c:v>
                </c:pt>
                <c:pt idx="352">
                  <c:v>2023-01-20</c:v>
                </c:pt>
                <c:pt idx="353">
                  <c:v>2023-02-03</c:v>
                </c:pt>
                <c:pt idx="354">
                  <c:v>2023-02-10</c:v>
                </c:pt>
                <c:pt idx="355">
                  <c:v>2023-02-17</c:v>
                </c:pt>
                <c:pt idx="356">
                  <c:v>2023-02-24</c:v>
                </c:pt>
                <c:pt idx="357">
                  <c:v>2023-03-03</c:v>
                </c:pt>
                <c:pt idx="358">
                  <c:v>2023-03-10</c:v>
                </c:pt>
                <c:pt idx="359">
                  <c:v>2023-03-17</c:v>
                </c:pt>
                <c:pt idx="360">
                  <c:v>2023-03-24</c:v>
                </c:pt>
                <c:pt idx="361">
                  <c:v>2023-03-31</c:v>
                </c:pt>
                <c:pt idx="362">
                  <c:v>2023-04-07</c:v>
                </c:pt>
                <c:pt idx="363">
                  <c:v>2023-04-14</c:v>
                </c:pt>
                <c:pt idx="364">
                  <c:v>2023-04-21</c:v>
                </c:pt>
                <c:pt idx="365">
                  <c:v>2023-04-28</c:v>
                </c:pt>
                <c:pt idx="366">
                  <c:v>2023-05-05</c:v>
                </c:pt>
                <c:pt idx="367">
                  <c:v>2023-05-12</c:v>
                </c:pt>
                <c:pt idx="368">
                  <c:v>2023-05-19</c:v>
                </c:pt>
                <c:pt idx="369">
                  <c:v>2023-05-26</c:v>
                </c:pt>
                <c:pt idx="370">
                  <c:v>2023-06-02</c:v>
                </c:pt>
                <c:pt idx="371">
                  <c:v>2023-06-09</c:v>
                </c:pt>
                <c:pt idx="372">
                  <c:v>2023-06-16</c:v>
                </c:pt>
                <c:pt idx="373">
                  <c:v>2023-06-21</c:v>
                </c:pt>
                <c:pt idx="374">
                  <c:v>2023-06-30</c:v>
                </c:pt>
                <c:pt idx="375">
                  <c:v>2023-07-07</c:v>
                </c:pt>
                <c:pt idx="376">
                  <c:v>2023-07-14</c:v>
                </c:pt>
                <c:pt idx="377">
                  <c:v>2023-07-21</c:v>
                </c:pt>
                <c:pt idx="378">
                  <c:v>2023-07-28</c:v>
                </c:pt>
                <c:pt idx="379">
                  <c:v>2023-08-04</c:v>
                </c:pt>
                <c:pt idx="380">
                  <c:v>2023-08-11</c:v>
                </c:pt>
                <c:pt idx="381">
                  <c:v>2023-08-18</c:v>
                </c:pt>
                <c:pt idx="382">
                  <c:v>2023-08-25</c:v>
                </c:pt>
                <c:pt idx="383">
                  <c:v>2023-09-01</c:v>
                </c:pt>
                <c:pt idx="384">
                  <c:v>2023-09-08</c:v>
                </c:pt>
                <c:pt idx="385">
                  <c:v>2023-09-15</c:v>
                </c:pt>
                <c:pt idx="386">
                  <c:v>2023-09-22</c:v>
                </c:pt>
                <c:pt idx="387">
                  <c:v>2023-09-28</c:v>
                </c:pt>
                <c:pt idx="388">
                  <c:v>2023-10-13</c:v>
                </c:pt>
                <c:pt idx="389">
                  <c:v>2023-10-20</c:v>
                </c:pt>
                <c:pt idx="390">
                  <c:v>2023-10-27</c:v>
                </c:pt>
                <c:pt idx="391">
                  <c:v>2023-11-03</c:v>
                </c:pt>
                <c:pt idx="392">
                  <c:v>2023-11-10</c:v>
                </c:pt>
                <c:pt idx="393">
                  <c:v>2023-11-17</c:v>
                </c:pt>
                <c:pt idx="394">
                  <c:v>2023-11-24</c:v>
                </c:pt>
                <c:pt idx="395">
                  <c:v>2023-12-01</c:v>
                </c:pt>
                <c:pt idx="396">
                  <c:v>2023-12-08</c:v>
                </c:pt>
                <c:pt idx="397">
                  <c:v>2023-12-15</c:v>
                </c:pt>
                <c:pt idx="398">
                  <c:v>2023-12-22</c:v>
                </c:pt>
                <c:pt idx="399">
                  <c:v>2023-12-29</c:v>
                </c:pt>
                <c:pt idx="400">
                  <c:v>2024-01-05</c:v>
                </c:pt>
                <c:pt idx="401">
                  <c:v>2024-01-12</c:v>
                </c:pt>
                <c:pt idx="402">
                  <c:v>2024-01-19</c:v>
                </c:pt>
                <c:pt idx="403">
                  <c:v>2024-01-26</c:v>
                </c:pt>
                <c:pt idx="404">
                  <c:v>2024-02-02</c:v>
                </c:pt>
                <c:pt idx="405">
                  <c:v>2024-02-08</c:v>
                </c:pt>
                <c:pt idx="406">
                  <c:v>2024-02-23</c:v>
                </c:pt>
                <c:pt idx="407">
                  <c:v>2024-03-01</c:v>
                </c:pt>
                <c:pt idx="408">
                  <c:v>2024-03-08</c:v>
                </c:pt>
                <c:pt idx="409">
                  <c:v>2024-03-15</c:v>
                </c:pt>
                <c:pt idx="410">
                  <c:v>2024-03-22</c:v>
                </c:pt>
                <c:pt idx="411">
                  <c:v>2024-03-29</c:v>
                </c:pt>
                <c:pt idx="412">
                  <c:v>2024-04-03</c:v>
                </c:pt>
                <c:pt idx="413">
                  <c:v>2024-04-12</c:v>
                </c:pt>
                <c:pt idx="414">
                  <c:v>2024-04-19</c:v>
                </c:pt>
                <c:pt idx="415">
                  <c:v>2024-04-26</c:v>
                </c:pt>
                <c:pt idx="416">
                  <c:v>2024-04-30</c:v>
                </c:pt>
                <c:pt idx="417">
                  <c:v>2024-05-10</c:v>
                </c:pt>
                <c:pt idx="418">
                  <c:v>2024-05-17</c:v>
                </c:pt>
                <c:pt idx="419">
                  <c:v>2024-05-24</c:v>
                </c:pt>
                <c:pt idx="420">
                  <c:v>2024-05-31</c:v>
                </c:pt>
                <c:pt idx="421">
                  <c:v>2024-06-07</c:v>
                </c:pt>
                <c:pt idx="422">
                  <c:v>2024-06-14</c:v>
                </c:pt>
                <c:pt idx="423">
                  <c:v>2024-06-21</c:v>
                </c:pt>
                <c:pt idx="424">
                  <c:v>2024-06-28</c:v>
                </c:pt>
                <c:pt idx="425">
                  <c:v>2024-07-05</c:v>
                </c:pt>
                <c:pt idx="426">
                  <c:v>2024-07-12</c:v>
                </c:pt>
                <c:pt idx="427">
                  <c:v>2024-07-19</c:v>
                </c:pt>
                <c:pt idx="428">
                  <c:v>2024-07-26</c:v>
                </c:pt>
                <c:pt idx="429">
                  <c:v>2024-08-02</c:v>
                </c:pt>
                <c:pt idx="430">
                  <c:v>2024-08-09</c:v>
                </c:pt>
                <c:pt idx="431">
                  <c:v>2024-08-16</c:v>
                </c:pt>
                <c:pt idx="432">
                  <c:v>2024-08-23</c:v>
                </c:pt>
                <c:pt idx="433">
                  <c:v>2024-08-30</c:v>
                </c:pt>
                <c:pt idx="434">
                  <c:v>2024-09-06</c:v>
                </c:pt>
                <c:pt idx="435">
                  <c:v>2024-09-13</c:v>
                </c:pt>
                <c:pt idx="436">
                  <c:v>2024-09-20</c:v>
                </c:pt>
                <c:pt idx="437">
                  <c:v>2024-09-27</c:v>
                </c:pt>
                <c:pt idx="438">
                  <c:v>2024-09-30</c:v>
                </c:pt>
                <c:pt idx="439">
                  <c:v>2024-10-11</c:v>
                </c:pt>
                <c:pt idx="440">
                  <c:v>2024-10-18</c:v>
                </c:pt>
                <c:pt idx="441">
                  <c:v>2024-10-25</c:v>
                </c:pt>
                <c:pt idx="442">
                  <c:v>2024-11-01</c:v>
                </c:pt>
                <c:pt idx="443">
                  <c:v>2024-11-08</c:v>
                </c:pt>
                <c:pt idx="444">
                  <c:v>2024-11-15</c:v>
                </c:pt>
                <c:pt idx="445">
                  <c:v>2024-11-22</c:v>
                </c:pt>
                <c:pt idx="446">
                  <c:v>2024-11-29</c:v>
                </c:pt>
                <c:pt idx="447">
                  <c:v>2024-12-06</c:v>
                </c:pt>
                <c:pt idx="448">
                  <c:v>2024-12-13</c:v>
                </c:pt>
                <c:pt idx="449">
                  <c:v>2024-12-20</c:v>
                </c:pt>
                <c:pt idx="450">
                  <c:v>2024-12-27</c:v>
                </c:pt>
                <c:pt idx="451">
                  <c:v>2025-01-03</c:v>
                </c:pt>
                <c:pt idx="452">
                  <c:v>2025-01-10</c:v>
                </c:pt>
                <c:pt idx="453">
                  <c:v>2025-01-17</c:v>
                </c:pt>
                <c:pt idx="454">
                  <c:v>2025-01-24</c:v>
                </c:pt>
                <c:pt idx="455">
                  <c:v>2025-01-27</c:v>
                </c:pt>
                <c:pt idx="456">
                  <c:v>2025-02-07</c:v>
                </c:pt>
                <c:pt idx="457">
                  <c:v>2025-02-14</c:v>
                </c:pt>
                <c:pt idx="458">
                  <c:v>2025-02-21</c:v>
                </c:pt>
                <c:pt idx="459">
                  <c:v>2025-02-28</c:v>
                </c:pt>
                <c:pt idx="460">
                  <c:v>2025-03-07</c:v>
                </c:pt>
                <c:pt idx="461">
                  <c:v>2025-03-14</c:v>
                </c:pt>
                <c:pt idx="462">
                  <c:v>2025-03-21</c:v>
                </c:pt>
                <c:pt idx="463">
                  <c:v>2025-03-28</c:v>
                </c:pt>
                <c:pt idx="464">
                  <c:v>2025-04-03</c:v>
                </c:pt>
                <c:pt idx="465">
                  <c:v>2025-04-11</c:v>
                </c:pt>
                <c:pt idx="466">
                  <c:v>2025-04-18</c:v>
                </c:pt>
                <c:pt idx="467">
                  <c:v>2025-04-25</c:v>
                </c:pt>
                <c:pt idx="468">
                  <c:v>2025-04-30</c:v>
                </c:pt>
                <c:pt idx="469">
                  <c:v>2025-05-09</c:v>
                </c:pt>
                <c:pt idx="470">
                  <c:v>2025-05-16</c:v>
                </c:pt>
                <c:pt idx="471">
                  <c:v>2025-05-23</c:v>
                </c:pt>
                <c:pt idx="472">
                  <c:v>2025-05-30</c:v>
                </c:pt>
                <c:pt idx="473">
                  <c:v>2025-06-06</c:v>
                </c:pt>
                <c:pt idx="474">
                  <c:v>2025-06-13</c:v>
                </c:pt>
                <c:pt idx="475">
                  <c:v>2025-06-20</c:v>
                </c:pt>
                <c:pt idx="476">
                  <c:v>2025-06-27</c:v>
                </c:pt>
                <c:pt idx="477">
                  <c:v>2025-07-04</c:v>
                </c:pt>
                <c:pt idx="478">
                  <c:v>2025-07-11</c:v>
                </c:pt>
                <c:pt idx="479">
                  <c:v>2025-07-18</c:v>
                </c:pt>
                <c:pt idx="480">
                  <c:v>2025-07-25</c:v>
                </c:pt>
                <c:pt idx="481">
                  <c:v>2025-08-01</c:v>
                </c:pt>
                <c:pt idx="482">
                  <c:v>2025-08-08</c:v>
                </c:pt>
                <c:pt idx="483">
                  <c:v>2025-08-15</c:v>
                </c:pt>
                <c:pt idx="484">
                  <c:v>2025-08-22</c:v>
                </c:pt>
                <c:pt idx="485">
                  <c:v>2025-08-29</c:v>
                </c:pt>
                <c:pt idx="486">
                  <c:v>2025-09-05</c:v>
                </c:pt>
                <c:pt idx="487">
                  <c:v>2025-09-12</c:v>
                </c:pt>
                <c:pt idx="488">
                  <c:v>2025-09-19</c:v>
                </c:pt>
                <c:pt idx="489">
                  <c:v>2025-09-26</c:v>
                </c:pt>
                <c:pt idx="490">
                  <c:v>2025-09-30</c:v>
                </c:pt>
                <c:pt idx="491">
                  <c:v>2025-10-10</c:v>
                </c:pt>
                <c:pt idx="492">
                  <c:v>2025-10-17</c:v>
                </c:pt>
                <c:pt idx="493">
                  <c:v>2025-10-24</c:v>
                </c:pt>
                <c:pt idx="494">
                  <c:v>2025-10-31</c:v>
                </c:pt>
                <c:pt idx="495">
                  <c:v>2025-11-07</c:v>
                </c:pt>
                <c:pt idx="496">
                  <c:v>2025-11-14</c:v>
                </c:pt>
                <c:pt idx="497">
                  <c:v>2025-11-21</c:v>
                </c:pt>
                <c:pt idx="498">
                  <c:v>2025-11-28</c:v>
                </c:pt>
                <c:pt idx="499">
                  <c:v>2025-12-05</c:v>
                </c:pt>
                <c:pt idx="500">
                  <c:v>2025-12-12</c:v>
                </c:pt>
                <c:pt idx="501">
                  <c:v>2025-12-19</c:v>
                </c:pt>
                <c:pt idx="502">
                  <c:v>2025-12-26</c:v>
                </c:pt>
                <c:pt idx="503">
                  <c:v>2025-12-31</c:v>
                </c:pt>
                <c:pt idx="504">
                  <c:v>2026-01-09</c:v>
                </c:pt>
                <c:pt idx="505">
                  <c:v>2026-01-16</c:v>
                </c:pt>
                <c:pt idx="506">
                  <c:v>2026-01-23</c:v>
                </c:pt>
                <c:pt idx="507">
                  <c:v>2026-01-30</c:v>
                </c:pt>
                <c:pt idx="508">
                  <c:v>2026-02-06</c:v>
                </c:pt>
                <c:pt idx="509">
                  <c:v>2026-02-13</c:v>
                </c:pt>
                <c:pt idx="510">
                  <c:v>2026-02-27</c:v>
                </c:pt>
                <c:pt idx="511">
                  <c:v>2026-03-06</c:v>
                </c:pt>
                <c:pt idx="512">
                  <c:v>2026-03-13</c:v>
                </c:pt>
                <c:pt idx="513">
                  <c:v>2026-03-20</c:v>
                </c:pt>
                <c:pt idx="514">
                  <c:v>2026-03-27</c:v>
                </c:pt>
                <c:pt idx="515">
                  <c:v>2026-04-03</c:v>
                </c:pt>
                <c:pt idx="516">
                  <c:v>2026-04-10</c:v>
                </c:pt>
                <c:pt idx="517">
                  <c:v>2026-04-17</c:v>
                </c:pt>
                <c:pt idx="518">
                  <c:v>2026-04-24</c:v>
                </c:pt>
                <c:pt idx="519">
                  <c:v>2026-04-30</c:v>
                </c:pt>
                <c:pt idx="520">
                  <c:v>2026-05-08</c:v>
                </c:pt>
                <c:pt idx="521">
                  <c:v>2026-05-15</c:v>
                </c:pt>
                <c:pt idx="522">
                  <c:v>2026-05-22</c:v>
                </c:pt>
                <c:pt idx="523">
                  <c:v>2026-05-29</c:v>
                </c:pt>
              </c:strCache>
            </c:strRef>
          </c:cat>
          <c:val>
            <c:numRef>
              <c:f>Sheet4!$B$2:$B$525</c:f>
              <c:numCache>
                <c:formatCode>0.0</c:formatCode>
                <c:ptCount val="524"/>
                <c:pt idx="0" formatCode="0.00">
                  <c:v>2.66</c:v>
                </c:pt>
                <c:pt idx="1">
                  <c:v>2.8</c:v>
                </c:pt>
                <c:pt idx="2" formatCode="0.00">
                  <c:v>2.52</c:v>
                </c:pt>
                <c:pt idx="3" formatCode="0.00">
                  <c:v>2.38</c:v>
                </c:pt>
                <c:pt idx="4" formatCode="0.00">
                  <c:v>2.33</c:v>
                </c:pt>
                <c:pt idx="5" formatCode="0.00">
                  <c:v>2.27</c:v>
                </c:pt>
                <c:pt idx="6" formatCode="0.00">
                  <c:v>2.06</c:v>
                </c:pt>
                <c:pt idx="7" formatCode="0.00">
                  <c:v>2.2599999999999998</c:v>
                </c:pt>
                <c:pt idx="8" formatCode="0.00">
                  <c:v>2.2200000000000002</c:v>
                </c:pt>
                <c:pt idx="9" formatCode="0.00">
                  <c:v>2.23</c:v>
                </c:pt>
                <c:pt idx="10">
                  <c:v>2.4</c:v>
                </c:pt>
                <c:pt idx="11" formatCode="0.00">
                  <c:v>2.34</c:v>
                </c:pt>
                <c:pt idx="12" formatCode="0.00">
                  <c:v>2.34</c:v>
                </c:pt>
                <c:pt idx="13" formatCode="0.00">
                  <c:v>2.02</c:v>
                </c:pt>
                <c:pt idx="14" formatCode="0.00">
                  <c:v>2.04</c:v>
                </c:pt>
                <c:pt idx="15" formatCode="0.00">
                  <c:v>2.2200000000000002</c:v>
                </c:pt>
                <c:pt idx="16" formatCode="0.00">
                  <c:v>2.31</c:v>
                </c:pt>
                <c:pt idx="17" formatCode="0.00">
                  <c:v>2.2599999999999998</c:v>
                </c:pt>
                <c:pt idx="18" formatCode="0.00">
                  <c:v>2.1800000000000002</c:v>
                </c:pt>
                <c:pt idx="19" formatCode="0.00">
                  <c:v>2.0299999999999998</c:v>
                </c:pt>
                <c:pt idx="20" formatCode="0.00">
                  <c:v>2.12</c:v>
                </c:pt>
                <c:pt idx="21" formatCode="0.00">
                  <c:v>2.2200000000000002</c:v>
                </c:pt>
                <c:pt idx="22" formatCode="0.00">
                  <c:v>2.23</c:v>
                </c:pt>
                <c:pt idx="23">
                  <c:v>2.2000000000000002</c:v>
                </c:pt>
                <c:pt idx="24">
                  <c:v>2.1</c:v>
                </c:pt>
                <c:pt idx="25">
                  <c:v>2.1</c:v>
                </c:pt>
                <c:pt idx="26" formatCode="0.00">
                  <c:v>2.0299999999999998</c:v>
                </c:pt>
                <c:pt idx="27" formatCode="0.00">
                  <c:v>1.95</c:v>
                </c:pt>
                <c:pt idx="28" formatCode="0.00">
                  <c:v>2.09</c:v>
                </c:pt>
                <c:pt idx="29" formatCode="0.00">
                  <c:v>2.04</c:v>
                </c:pt>
                <c:pt idx="30" formatCode="0.00">
                  <c:v>2.0699999999999998</c:v>
                </c:pt>
                <c:pt idx="31" formatCode="0">
                  <c:v>2</c:v>
                </c:pt>
                <c:pt idx="32" formatCode="0.00">
                  <c:v>2.04</c:v>
                </c:pt>
                <c:pt idx="33" formatCode="0.00">
                  <c:v>2.08</c:v>
                </c:pt>
                <c:pt idx="34" formatCode="0.00">
                  <c:v>2.04</c:v>
                </c:pt>
                <c:pt idx="35" formatCode="0.00">
                  <c:v>1.94</c:v>
                </c:pt>
                <c:pt idx="36" formatCode="0.00">
                  <c:v>1.83</c:v>
                </c:pt>
                <c:pt idx="37" formatCode="0.00">
                  <c:v>1.78</c:v>
                </c:pt>
                <c:pt idx="38" formatCode="0.00">
                  <c:v>1.68</c:v>
                </c:pt>
                <c:pt idx="39" formatCode="0.00">
                  <c:v>1.62</c:v>
                </c:pt>
                <c:pt idx="40" formatCode="0.00">
                  <c:v>1.53</c:v>
                </c:pt>
                <c:pt idx="41" formatCode="0.00">
                  <c:v>1.66</c:v>
                </c:pt>
                <c:pt idx="42">
                  <c:v>1.8</c:v>
                </c:pt>
                <c:pt idx="43" formatCode="0.00">
                  <c:v>1.54</c:v>
                </c:pt>
                <c:pt idx="44" formatCode="0.00">
                  <c:v>1.63</c:v>
                </c:pt>
                <c:pt idx="45" formatCode="0.00">
                  <c:v>1.61</c:v>
                </c:pt>
                <c:pt idx="46" formatCode="0.00">
                  <c:v>1.41</c:v>
                </c:pt>
                <c:pt idx="47" formatCode="0.00">
                  <c:v>1.37</c:v>
                </c:pt>
                <c:pt idx="48" formatCode="0.00">
                  <c:v>1.27</c:v>
                </c:pt>
                <c:pt idx="49" formatCode="0.00">
                  <c:v>1.36</c:v>
                </c:pt>
                <c:pt idx="50" formatCode="0.00">
                  <c:v>1.34</c:v>
                </c:pt>
                <c:pt idx="51" formatCode="0.00">
                  <c:v>1.36</c:v>
                </c:pt>
                <c:pt idx="52" formatCode="0.00">
                  <c:v>1.29</c:v>
                </c:pt>
                <c:pt idx="53" formatCode="0.00">
                  <c:v>1.37</c:v>
                </c:pt>
                <c:pt idx="54" formatCode="0.00">
                  <c:v>1.41</c:v>
                </c:pt>
                <c:pt idx="55" formatCode="0.00">
                  <c:v>1.51</c:v>
                </c:pt>
                <c:pt idx="56" formatCode="0.00">
                  <c:v>1.39</c:v>
                </c:pt>
                <c:pt idx="57">
                  <c:v>1.4</c:v>
                </c:pt>
                <c:pt idx="58" formatCode="0.00">
                  <c:v>1.46</c:v>
                </c:pt>
                <c:pt idx="59" formatCode="0.00">
                  <c:v>1.66</c:v>
                </c:pt>
                <c:pt idx="60" formatCode="0.00">
                  <c:v>1.69</c:v>
                </c:pt>
                <c:pt idx="61" formatCode="0.00">
                  <c:v>1.67</c:v>
                </c:pt>
                <c:pt idx="62" formatCode="0.00">
                  <c:v>1.66</c:v>
                </c:pt>
                <c:pt idx="63" formatCode="0.00">
                  <c:v>1.62</c:v>
                </c:pt>
                <c:pt idx="64" formatCode="0.00">
                  <c:v>1.66</c:v>
                </c:pt>
                <c:pt idx="65" formatCode="0.00">
                  <c:v>1.54</c:v>
                </c:pt>
                <c:pt idx="66" formatCode="0.00">
                  <c:v>1.66</c:v>
                </c:pt>
                <c:pt idx="67" formatCode="0.00">
                  <c:v>1.62</c:v>
                </c:pt>
                <c:pt idx="68" formatCode="0.00">
                  <c:v>1.54</c:v>
                </c:pt>
                <c:pt idx="69" formatCode="0.00">
                  <c:v>1.49</c:v>
                </c:pt>
                <c:pt idx="70" formatCode="0.00">
                  <c:v>1.53</c:v>
                </c:pt>
                <c:pt idx="71" formatCode="0.00">
                  <c:v>1.52</c:v>
                </c:pt>
                <c:pt idx="72" formatCode="0.00">
                  <c:v>1.47</c:v>
                </c:pt>
                <c:pt idx="73" formatCode="0.00">
                  <c:v>1.44</c:v>
                </c:pt>
                <c:pt idx="74" formatCode="0.00">
                  <c:v>1.53</c:v>
                </c:pt>
                <c:pt idx="75" formatCode="0.00">
                  <c:v>1.45</c:v>
                </c:pt>
                <c:pt idx="76" formatCode="0.00">
                  <c:v>1.36</c:v>
                </c:pt>
                <c:pt idx="77" formatCode="0.00">
                  <c:v>1.41</c:v>
                </c:pt>
                <c:pt idx="78" formatCode="0.00">
                  <c:v>1.41</c:v>
                </c:pt>
                <c:pt idx="79" formatCode="0.00">
                  <c:v>1.43</c:v>
                </c:pt>
                <c:pt idx="80" formatCode="0.00">
                  <c:v>1.39</c:v>
                </c:pt>
                <c:pt idx="81" formatCode="0.00">
                  <c:v>1.41</c:v>
                </c:pt>
                <c:pt idx="82" formatCode="0.00">
                  <c:v>1.26</c:v>
                </c:pt>
                <c:pt idx="83" formatCode="0.00">
                  <c:v>1.27</c:v>
                </c:pt>
                <c:pt idx="84">
                  <c:v>1.2</c:v>
                </c:pt>
                <c:pt idx="85" formatCode="0.00">
                  <c:v>1.35</c:v>
                </c:pt>
                <c:pt idx="86" formatCode="0.00">
                  <c:v>1.23</c:v>
                </c:pt>
                <c:pt idx="87" formatCode="0.00">
                  <c:v>1.31</c:v>
                </c:pt>
                <c:pt idx="88" formatCode="0.00">
                  <c:v>1.31</c:v>
                </c:pt>
                <c:pt idx="89" formatCode="0.00">
                  <c:v>1.43</c:v>
                </c:pt>
                <c:pt idx="90" formatCode="0.00">
                  <c:v>1.45</c:v>
                </c:pt>
                <c:pt idx="91" formatCode="0.00">
                  <c:v>1.41</c:v>
                </c:pt>
                <c:pt idx="92" formatCode="0.00">
                  <c:v>1.37</c:v>
                </c:pt>
                <c:pt idx="93" formatCode="0.00">
                  <c:v>1.35</c:v>
                </c:pt>
                <c:pt idx="94" formatCode="0.00">
                  <c:v>1.18</c:v>
                </c:pt>
                <c:pt idx="95" formatCode="0.00">
                  <c:v>1.1299999999999999</c:v>
                </c:pt>
                <c:pt idx="96" formatCode="0.00">
                  <c:v>1.05</c:v>
                </c:pt>
                <c:pt idx="97" formatCode="0.00">
                  <c:v>0.99</c:v>
                </c:pt>
                <c:pt idx="98" formatCode="0.00">
                  <c:v>1.22</c:v>
                </c:pt>
                <c:pt idx="99" formatCode="0.00">
                  <c:v>1.76</c:v>
                </c:pt>
                <c:pt idx="100" formatCode="0.00">
                  <c:v>1.63</c:v>
                </c:pt>
                <c:pt idx="101" formatCode="0.00">
                  <c:v>1.49</c:v>
                </c:pt>
                <c:pt idx="102">
                  <c:v>1.5</c:v>
                </c:pt>
                <c:pt idx="103" formatCode="0.00">
                  <c:v>1.39</c:v>
                </c:pt>
                <c:pt idx="104" formatCode="0.00">
                  <c:v>1.47</c:v>
                </c:pt>
                <c:pt idx="105" formatCode="0.00">
                  <c:v>1.86</c:v>
                </c:pt>
                <c:pt idx="106" formatCode="0.00">
                  <c:v>1.78</c:v>
                </c:pt>
                <c:pt idx="107" formatCode="0.00">
                  <c:v>1.88</c:v>
                </c:pt>
                <c:pt idx="108" formatCode="0.00">
                  <c:v>1.86</c:v>
                </c:pt>
                <c:pt idx="109" formatCode="0.00">
                  <c:v>2.21</c:v>
                </c:pt>
                <c:pt idx="110" formatCode="0.00">
                  <c:v>2.17</c:v>
                </c:pt>
                <c:pt idx="111" formatCode="0.00">
                  <c:v>2.2200000000000002</c:v>
                </c:pt>
                <c:pt idx="112" formatCode="0.00">
                  <c:v>2.02</c:v>
                </c:pt>
                <c:pt idx="113" formatCode="0.00">
                  <c:v>1.97</c:v>
                </c:pt>
                <c:pt idx="114" formatCode="0.00">
                  <c:v>2.1800000000000002</c:v>
                </c:pt>
                <c:pt idx="115" formatCode="0.00">
                  <c:v>2.3199999999999998</c:v>
                </c:pt>
                <c:pt idx="116" formatCode="0.00">
                  <c:v>2.31</c:v>
                </c:pt>
                <c:pt idx="117" formatCode="0.00">
                  <c:v>2.52</c:v>
                </c:pt>
                <c:pt idx="118" formatCode="0.00">
                  <c:v>2.86</c:v>
                </c:pt>
                <c:pt idx="119" formatCode="0.00">
                  <c:v>3.01</c:v>
                </c:pt>
                <c:pt idx="120" formatCode="0.00">
                  <c:v>3.21</c:v>
                </c:pt>
                <c:pt idx="121" formatCode="0.00">
                  <c:v>3.01</c:v>
                </c:pt>
                <c:pt idx="122" formatCode="0.00">
                  <c:v>3.01</c:v>
                </c:pt>
                <c:pt idx="123" formatCode="0.00">
                  <c:v>2.93</c:v>
                </c:pt>
                <c:pt idx="124" formatCode="0.00">
                  <c:v>3.37</c:v>
                </c:pt>
                <c:pt idx="125" formatCode="0.00">
                  <c:v>3.14</c:v>
                </c:pt>
                <c:pt idx="126" formatCode="0.00">
                  <c:v>3.39</c:v>
                </c:pt>
                <c:pt idx="127" formatCode="0.00">
                  <c:v>3.34</c:v>
                </c:pt>
                <c:pt idx="128" formatCode="0.00">
                  <c:v>3.52</c:v>
                </c:pt>
                <c:pt idx="129" formatCode="0.00">
                  <c:v>3.54</c:v>
                </c:pt>
                <c:pt idx="130" formatCode="0.00">
                  <c:v>3.61</c:v>
                </c:pt>
                <c:pt idx="131" formatCode="0.00">
                  <c:v>3.28</c:v>
                </c:pt>
                <c:pt idx="132">
                  <c:v>3.3</c:v>
                </c:pt>
                <c:pt idx="133" formatCode="0.00">
                  <c:v>3.94</c:v>
                </c:pt>
                <c:pt idx="134" formatCode="0.00">
                  <c:v>4.13</c:v>
                </c:pt>
                <c:pt idx="135" formatCode="0.00">
                  <c:v>4.01</c:v>
                </c:pt>
                <c:pt idx="136" formatCode="0.00">
                  <c:v>3.81</c:v>
                </c:pt>
                <c:pt idx="137" formatCode="0.00">
                  <c:v>4.08</c:v>
                </c:pt>
                <c:pt idx="138" formatCode="0.00">
                  <c:v>3.92</c:v>
                </c:pt>
                <c:pt idx="139" formatCode="0.00">
                  <c:v>4.1900000000000004</c:v>
                </c:pt>
                <c:pt idx="140" formatCode="0.00">
                  <c:v>4.1900000000000004</c:v>
                </c:pt>
                <c:pt idx="141" formatCode="0.00">
                  <c:v>4.22</c:v>
                </c:pt>
                <c:pt idx="142" formatCode="0.00">
                  <c:v>4.2300000000000004</c:v>
                </c:pt>
                <c:pt idx="143" formatCode="0.00">
                  <c:v>4.43</c:v>
                </c:pt>
                <c:pt idx="144" formatCode="0.00">
                  <c:v>4.58</c:v>
                </c:pt>
                <c:pt idx="145" formatCode="0.00">
                  <c:v>4.63</c:v>
                </c:pt>
                <c:pt idx="146" formatCode="0.00">
                  <c:v>4.51</c:v>
                </c:pt>
                <c:pt idx="147" formatCode="0.00">
                  <c:v>4.41</c:v>
                </c:pt>
                <c:pt idx="148" formatCode="0.00">
                  <c:v>4.3499999999999996</c:v>
                </c:pt>
                <c:pt idx="149" formatCode="0.00">
                  <c:v>4.3099999999999996</c:v>
                </c:pt>
                <c:pt idx="150">
                  <c:v>4.0999999999999996</c:v>
                </c:pt>
                <c:pt idx="151" formatCode="0.00">
                  <c:v>3.63</c:v>
                </c:pt>
                <c:pt idx="152" formatCode="0.00">
                  <c:v>2.98</c:v>
                </c:pt>
                <c:pt idx="153" formatCode="0.00">
                  <c:v>3.05</c:v>
                </c:pt>
                <c:pt idx="154" formatCode="0.00">
                  <c:v>2.92</c:v>
                </c:pt>
                <c:pt idx="155" formatCode="0.00">
                  <c:v>2.78</c:v>
                </c:pt>
                <c:pt idx="156" formatCode="0.00">
                  <c:v>2.82</c:v>
                </c:pt>
                <c:pt idx="157">
                  <c:v>2.2999999999999998</c:v>
                </c:pt>
                <c:pt idx="158" formatCode="0.00">
                  <c:v>2.38</c:v>
                </c:pt>
                <c:pt idx="159" formatCode="0.00">
                  <c:v>2.13</c:v>
                </c:pt>
                <c:pt idx="160" formatCode="0.00">
                  <c:v>2.38</c:v>
                </c:pt>
                <c:pt idx="161" formatCode="0.00">
                  <c:v>2.38</c:v>
                </c:pt>
                <c:pt idx="162" formatCode="0.00">
                  <c:v>2.72</c:v>
                </c:pt>
                <c:pt idx="163">
                  <c:v>2.9</c:v>
                </c:pt>
                <c:pt idx="164" formatCode="0.00">
                  <c:v>2.95</c:v>
                </c:pt>
                <c:pt idx="165" formatCode="0.00">
                  <c:v>2.89</c:v>
                </c:pt>
                <c:pt idx="166" formatCode="0.00">
                  <c:v>3.13</c:v>
                </c:pt>
                <c:pt idx="167" formatCode="0.00">
                  <c:v>2.98</c:v>
                </c:pt>
                <c:pt idx="168" formatCode="0.00">
                  <c:v>2.85</c:v>
                </c:pt>
                <c:pt idx="169">
                  <c:v>2.9</c:v>
                </c:pt>
                <c:pt idx="170" formatCode="0.00">
                  <c:v>2.87</c:v>
                </c:pt>
                <c:pt idx="171" formatCode="0.00">
                  <c:v>3.05</c:v>
                </c:pt>
                <c:pt idx="172" formatCode="0.00">
                  <c:v>3.06</c:v>
                </c:pt>
                <c:pt idx="173" formatCode="0.00">
                  <c:v>3.02</c:v>
                </c:pt>
                <c:pt idx="174" formatCode="0.00">
                  <c:v>3.23</c:v>
                </c:pt>
                <c:pt idx="175" formatCode="0.00">
                  <c:v>3.53</c:v>
                </c:pt>
                <c:pt idx="176" formatCode="0.00">
                  <c:v>3.45</c:v>
                </c:pt>
                <c:pt idx="177" formatCode="0.00">
                  <c:v>3.26</c:v>
                </c:pt>
                <c:pt idx="178" formatCode="0.00">
                  <c:v>3.31</c:v>
                </c:pt>
                <c:pt idx="179">
                  <c:v>3.1</c:v>
                </c:pt>
                <c:pt idx="180" formatCode="0.00">
                  <c:v>2.96</c:v>
                </c:pt>
                <c:pt idx="181" formatCode="0.00">
                  <c:v>2.99</c:v>
                </c:pt>
                <c:pt idx="182" formatCode="0.00">
                  <c:v>3.11</c:v>
                </c:pt>
                <c:pt idx="183" formatCode="0.00">
                  <c:v>3.17</c:v>
                </c:pt>
                <c:pt idx="184" formatCode="0.00">
                  <c:v>3.01</c:v>
                </c:pt>
                <c:pt idx="185" formatCode="0.00">
                  <c:v>3.06</c:v>
                </c:pt>
                <c:pt idx="186" formatCode="0.00">
                  <c:v>3.01</c:v>
                </c:pt>
                <c:pt idx="187" formatCode="0">
                  <c:v>3</c:v>
                </c:pt>
                <c:pt idx="188" formatCode="0.00">
                  <c:v>2.98</c:v>
                </c:pt>
                <c:pt idx="189" formatCode="0.00">
                  <c:v>3.17</c:v>
                </c:pt>
                <c:pt idx="190" formatCode="0.00">
                  <c:v>3.24</c:v>
                </c:pt>
                <c:pt idx="191" formatCode="0.00">
                  <c:v>3.29</c:v>
                </c:pt>
                <c:pt idx="192" formatCode="0.00">
                  <c:v>3.15</c:v>
                </c:pt>
                <c:pt idx="193" formatCode="0.00">
                  <c:v>3.05</c:v>
                </c:pt>
                <c:pt idx="194" formatCode="0.00">
                  <c:v>2.92</c:v>
                </c:pt>
                <c:pt idx="195" formatCode="0.00">
                  <c:v>2.97</c:v>
                </c:pt>
                <c:pt idx="196" formatCode="0.00">
                  <c:v>2.77</c:v>
                </c:pt>
                <c:pt idx="197" formatCode="0.00">
                  <c:v>2.78</c:v>
                </c:pt>
                <c:pt idx="198" formatCode="0.00">
                  <c:v>2.79</c:v>
                </c:pt>
                <c:pt idx="199" formatCode="0.00">
                  <c:v>3.07</c:v>
                </c:pt>
                <c:pt idx="200" formatCode="0.00">
                  <c:v>3.42</c:v>
                </c:pt>
                <c:pt idx="201" formatCode="0.00">
                  <c:v>3.25</c:v>
                </c:pt>
                <c:pt idx="202" formatCode="0.00">
                  <c:v>2.94</c:v>
                </c:pt>
                <c:pt idx="203" formatCode="0.00">
                  <c:v>3.45</c:v>
                </c:pt>
                <c:pt idx="204" formatCode="0.00">
                  <c:v>3.21</c:v>
                </c:pt>
                <c:pt idx="205" formatCode="0.00">
                  <c:v>3.51</c:v>
                </c:pt>
                <c:pt idx="206" formatCode="0.00">
                  <c:v>3.79</c:v>
                </c:pt>
                <c:pt idx="207" formatCode="0.00">
                  <c:v>3.88</c:v>
                </c:pt>
                <c:pt idx="208" formatCode="0.00">
                  <c:v>3.93</c:v>
                </c:pt>
                <c:pt idx="209" formatCode="0.00">
                  <c:v>3.91</c:v>
                </c:pt>
                <c:pt idx="210" formatCode="0.00">
                  <c:v>3.77</c:v>
                </c:pt>
                <c:pt idx="211" formatCode="0.00">
                  <c:v>3.86</c:v>
                </c:pt>
                <c:pt idx="212" formatCode="0.00">
                  <c:v>3.27</c:v>
                </c:pt>
                <c:pt idx="213" formatCode="0.00">
                  <c:v>3.09</c:v>
                </c:pt>
                <c:pt idx="214" formatCode="0.00">
                  <c:v>3.05</c:v>
                </c:pt>
                <c:pt idx="215" formatCode="0.00">
                  <c:v>3.28</c:v>
                </c:pt>
                <c:pt idx="216" formatCode="0.00">
                  <c:v>3.06</c:v>
                </c:pt>
                <c:pt idx="217" formatCode="0.00">
                  <c:v>2.77</c:v>
                </c:pt>
                <c:pt idx="218" formatCode="0.00">
                  <c:v>2.86</c:v>
                </c:pt>
                <c:pt idx="219" formatCode="0.00">
                  <c:v>2.86</c:v>
                </c:pt>
                <c:pt idx="220" formatCode="0.00">
                  <c:v>2.81</c:v>
                </c:pt>
                <c:pt idx="221" formatCode="0.00">
                  <c:v>2.48</c:v>
                </c:pt>
                <c:pt idx="222" formatCode="0.00">
                  <c:v>1.94</c:v>
                </c:pt>
                <c:pt idx="223" formatCode="0.00">
                  <c:v>2.29</c:v>
                </c:pt>
                <c:pt idx="224" formatCode="0.00">
                  <c:v>2.42</c:v>
                </c:pt>
                <c:pt idx="225" formatCode="0.00">
                  <c:v>2.13</c:v>
                </c:pt>
                <c:pt idx="226" formatCode="0.00">
                  <c:v>2.0499999999999998</c:v>
                </c:pt>
                <c:pt idx="227">
                  <c:v>2.1</c:v>
                </c:pt>
                <c:pt idx="228" formatCode="0.00">
                  <c:v>2.08</c:v>
                </c:pt>
                <c:pt idx="229" formatCode="0.00">
                  <c:v>1.84</c:v>
                </c:pt>
                <c:pt idx="230" formatCode="0.00">
                  <c:v>1.65</c:v>
                </c:pt>
                <c:pt idx="231" formatCode="0.00">
                  <c:v>1.82</c:v>
                </c:pt>
                <c:pt idx="232" formatCode="0.00">
                  <c:v>1.72</c:v>
                </c:pt>
                <c:pt idx="233">
                  <c:v>1.9</c:v>
                </c:pt>
                <c:pt idx="234" formatCode="0.00">
                  <c:v>1.85</c:v>
                </c:pt>
                <c:pt idx="235" formatCode="0.00">
                  <c:v>1.71</c:v>
                </c:pt>
                <c:pt idx="236" formatCode="0.00">
                  <c:v>1.57</c:v>
                </c:pt>
                <c:pt idx="237" formatCode="0.00">
                  <c:v>1.74</c:v>
                </c:pt>
                <c:pt idx="238" formatCode="0.00">
                  <c:v>1.98</c:v>
                </c:pt>
                <c:pt idx="239" formatCode="0.00">
                  <c:v>1.81</c:v>
                </c:pt>
                <c:pt idx="240" formatCode="0.00">
                  <c:v>1.76</c:v>
                </c:pt>
                <c:pt idx="241" formatCode="0.00">
                  <c:v>1.62</c:v>
                </c:pt>
                <c:pt idx="242" formatCode="0.00">
                  <c:v>1.64</c:v>
                </c:pt>
                <c:pt idx="243">
                  <c:v>1.6</c:v>
                </c:pt>
                <c:pt idx="244" formatCode="0.00">
                  <c:v>1.74</c:v>
                </c:pt>
                <c:pt idx="245" formatCode="0.00">
                  <c:v>1.56</c:v>
                </c:pt>
                <c:pt idx="246" formatCode="0.00">
                  <c:v>1.65</c:v>
                </c:pt>
                <c:pt idx="247" formatCode="0.00">
                  <c:v>1.59</c:v>
                </c:pt>
                <c:pt idx="248" formatCode="0.00">
                  <c:v>1.45</c:v>
                </c:pt>
                <c:pt idx="249" formatCode="0.00">
                  <c:v>1.49</c:v>
                </c:pt>
                <c:pt idx="250" formatCode="0.00">
                  <c:v>1.43</c:v>
                </c:pt>
                <c:pt idx="251" formatCode="0.00">
                  <c:v>1.57</c:v>
                </c:pt>
                <c:pt idx="252" formatCode="0.00">
                  <c:v>1.53</c:v>
                </c:pt>
                <c:pt idx="253">
                  <c:v>1.3</c:v>
                </c:pt>
                <c:pt idx="254" formatCode="0.00">
                  <c:v>1.24</c:v>
                </c:pt>
                <c:pt idx="255" formatCode="0.00">
                  <c:v>1.49</c:v>
                </c:pt>
                <c:pt idx="256" formatCode="0.00">
                  <c:v>1.53</c:v>
                </c:pt>
                <c:pt idx="257" formatCode="0.00">
                  <c:v>1.63</c:v>
                </c:pt>
                <c:pt idx="258" formatCode="0.00">
                  <c:v>1.76</c:v>
                </c:pt>
                <c:pt idx="259" formatCode="0.00">
                  <c:v>1.79</c:v>
                </c:pt>
                <c:pt idx="260" formatCode="0.00">
                  <c:v>1.83</c:v>
                </c:pt>
                <c:pt idx="261" formatCode="0.00">
                  <c:v>1.86</c:v>
                </c:pt>
                <c:pt idx="262" formatCode="0.00">
                  <c:v>1.97</c:v>
                </c:pt>
                <c:pt idx="263" formatCode="0.00">
                  <c:v>1.93</c:v>
                </c:pt>
                <c:pt idx="264" formatCode="0.00">
                  <c:v>2.39</c:v>
                </c:pt>
                <c:pt idx="265" formatCode="0.00">
                  <c:v>2.46</c:v>
                </c:pt>
                <c:pt idx="266" formatCode="0.00">
                  <c:v>2.37</c:v>
                </c:pt>
                <c:pt idx="267" formatCode="0.00">
                  <c:v>2.42</c:v>
                </c:pt>
                <c:pt idx="268" formatCode="0.00">
                  <c:v>2.2200000000000002</c:v>
                </c:pt>
                <c:pt idx="269" formatCode="0.00">
                  <c:v>2.2400000000000002</c:v>
                </c:pt>
                <c:pt idx="270" formatCode="0.00">
                  <c:v>2.21</c:v>
                </c:pt>
                <c:pt idx="271" formatCode="0.00">
                  <c:v>2.23</c:v>
                </c:pt>
                <c:pt idx="272" formatCode="0.00">
                  <c:v>2.13</c:v>
                </c:pt>
                <c:pt idx="273" formatCode="0.00">
                  <c:v>2.25</c:v>
                </c:pt>
                <c:pt idx="274">
                  <c:v>2.2999999999999998</c:v>
                </c:pt>
                <c:pt idx="275" formatCode="0.00">
                  <c:v>2.34</c:v>
                </c:pt>
                <c:pt idx="276" formatCode="0.00">
                  <c:v>2.35</c:v>
                </c:pt>
                <c:pt idx="277" formatCode="0.00">
                  <c:v>2.66</c:v>
                </c:pt>
                <c:pt idx="278" formatCode="0.00">
                  <c:v>2.59</c:v>
                </c:pt>
                <c:pt idx="279" formatCode="0.00">
                  <c:v>2.48</c:v>
                </c:pt>
                <c:pt idx="280" formatCode="0.00">
                  <c:v>2.69</c:v>
                </c:pt>
                <c:pt idx="281" formatCode="0.00">
                  <c:v>2.63</c:v>
                </c:pt>
                <c:pt idx="282" formatCode="0.00">
                  <c:v>2.81</c:v>
                </c:pt>
                <c:pt idx="283" formatCode="0.00">
                  <c:v>2.58</c:v>
                </c:pt>
                <c:pt idx="284" formatCode="0.00">
                  <c:v>2.71</c:v>
                </c:pt>
                <c:pt idx="285" formatCode="0.00">
                  <c:v>2.73</c:v>
                </c:pt>
                <c:pt idx="286" formatCode="0.00">
                  <c:v>2.81</c:v>
                </c:pt>
                <c:pt idx="287" formatCode="0.00">
                  <c:v>2.72</c:v>
                </c:pt>
                <c:pt idx="288" formatCode="0.00">
                  <c:v>2.71</c:v>
                </c:pt>
                <c:pt idx="289" formatCode="0.00">
                  <c:v>2.67</c:v>
                </c:pt>
                <c:pt idx="290">
                  <c:v>2.7</c:v>
                </c:pt>
                <c:pt idx="291" formatCode="0.00">
                  <c:v>2.84</c:v>
                </c:pt>
                <c:pt idx="292" formatCode="0.00">
                  <c:v>2.71</c:v>
                </c:pt>
                <c:pt idx="293" formatCode="0.00">
                  <c:v>2.67</c:v>
                </c:pt>
                <c:pt idx="294" formatCode="0.00">
                  <c:v>2.76</c:v>
                </c:pt>
                <c:pt idx="295" formatCode="0.00">
                  <c:v>2.65</c:v>
                </c:pt>
                <c:pt idx="296" formatCode="0.00">
                  <c:v>2.61</c:v>
                </c:pt>
                <c:pt idx="297">
                  <c:v>2.5</c:v>
                </c:pt>
                <c:pt idx="298" formatCode="0.00">
                  <c:v>2.57</c:v>
                </c:pt>
                <c:pt idx="299" formatCode="0.00">
                  <c:v>2.57</c:v>
                </c:pt>
                <c:pt idx="300" formatCode="0.00">
                  <c:v>2.63</c:v>
                </c:pt>
                <c:pt idx="301" formatCode="0.00">
                  <c:v>2.74</c:v>
                </c:pt>
                <c:pt idx="302" formatCode="0.00">
                  <c:v>2.85</c:v>
                </c:pt>
                <c:pt idx="303" formatCode="0.00">
                  <c:v>3.13</c:v>
                </c:pt>
                <c:pt idx="304" formatCode="0.00">
                  <c:v>2.93</c:v>
                </c:pt>
                <c:pt idx="305" formatCode="0.00">
                  <c:v>2.86</c:v>
                </c:pt>
                <c:pt idx="306" formatCode="0.00">
                  <c:v>2.92</c:v>
                </c:pt>
                <c:pt idx="307" formatCode="0.00">
                  <c:v>2.94</c:v>
                </c:pt>
                <c:pt idx="308" formatCode="0.00">
                  <c:v>3.22</c:v>
                </c:pt>
                <c:pt idx="309" formatCode="0.00">
                  <c:v>3.33</c:v>
                </c:pt>
                <c:pt idx="310" formatCode="0.00">
                  <c:v>3.39</c:v>
                </c:pt>
                <c:pt idx="311" formatCode="0.00">
                  <c:v>3.28</c:v>
                </c:pt>
                <c:pt idx="312" formatCode="0.00">
                  <c:v>3.38</c:v>
                </c:pt>
                <c:pt idx="313" formatCode="0.00">
                  <c:v>3.49</c:v>
                </c:pt>
                <c:pt idx="314">
                  <c:v>3.7</c:v>
                </c:pt>
                <c:pt idx="315">
                  <c:v>3.7</c:v>
                </c:pt>
                <c:pt idx="316" formatCode="0.00">
                  <c:v>3.63</c:v>
                </c:pt>
                <c:pt idx="317" formatCode="0.00">
                  <c:v>3.45</c:v>
                </c:pt>
                <c:pt idx="318" formatCode="0.00">
                  <c:v>3.32</c:v>
                </c:pt>
                <c:pt idx="319" formatCode="0.00">
                  <c:v>3.48</c:v>
                </c:pt>
                <c:pt idx="320" formatCode="0.00">
                  <c:v>3.28</c:v>
                </c:pt>
                <c:pt idx="321" formatCode="0.00">
                  <c:v>3.11</c:v>
                </c:pt>
                <c:pt idx="322" formatCode="0.00">
                  <c:v>3.12</c:v>
                </c:pt>
                <c:pt idx="323" formatCode="0.00">
                  <c:v>3.01</c:v>
                </c:pt>
                <c:pt idx="324" formatCode="0.00">
                  <c:v>2.93</c:v>
                </c:pt>
                <c:pt idx="325" formatCode="0.00">
                  <c:v>2.94</c:v>
                </c:pt>
                <c:pt idx="326">
                  <c:v>3.2</c:v>
                </c:pt>
                <c:pt idx="327" formatCode="0.00">
                  <c:v>3.13</c:v>
                </c:pt>
                <c:pt idx="328" formatCode="0.00">
                  <c:v>3.19</c:v>
                </c:pt>
                <c:pt idx="329" formatCode="0.00">
                  <c:v>3.26</c:v>
                </c:pt>
                <c:pt idx="330" formatCode="0.00">
                  <c:v>3.17</c:v>
                </c:pt>
                <c:pt idx="331" formatCode="0.00">
                  <c:v>3.36</c:v>
                </c:pt>
                <c:pt idx="332" formatCode="0.00">
                  <c:v>3.41</c:v>
                </c:pt>
                <c:pt idx="333">
                  <c:v>3.5</c:v>
                </c:pt>
                <c:pt idx="334" formatCode="0.00">
                  <c:v>3.35</c:v>
                </c:pt>
                <c:pt idx="335">
                  <c:v>3.6</c:v>
                </c:pt>
                <c:pt idx="336" formatCode="0.00">
                  <c:v>3.69</c:v>
                </c:pt>
                <c:pt idx="337" formatCode="0.00">
                  <c:v>3.75</c:v>
                </c:pt>
                <c:pt idx="338" formatCode="0.00">
                  <c:v>3.66</c:v>
                </c:pt>
                <c:pt idx="339" formatCode="0.00">
                  <c:v>3.73</c:v>
                </c:pt>
                <c:pt idx="340" formatCode="0.00">
                  <c:v>4.08</c:v>
                </c:pt>
                <c:pt idx="341" formatCode="0.00">
                  <c:v>3.62</c:v>
                </c:pt>
                <c:pt idx="342" formatCode="0.00">
                  <c:v>3.56</c:v>
                </c:pt>
                <c:pt idx="343" formatCode="0.00">
                  <c:v>3.45</c:v>
                </c:pt>
                <c:pt idx="344" formatCode="0.00">
                  <c:v>3.46</c:v>
                </c:pt>
                <c:pt idx="345">
                  <c:v>3.3</c:v>
                </c:pt>
                <c:pt idx="346" formatCode="0.00">
                  <c:v>3.16</c:v>
                </c:pt>
                <c:pt idx="347" formatCode="0.00">
                  <c:v>3.29</c:v>
                </c:pt>
                <c:pt idx="348" formatCode="0.00">
                  <c:v>3.58</c:v>
                </c:pt>
                <c:pt idx="349" formatCode="0.00">
                  <c:v>3.49</c:v>
                </c:pt>
                <c:pt idx="350" formatCode="0.00">
                  <c:v>3.33</c:v>
                </c:pt>
                <c:pt idx="351">
                  <c:v>3.2</c:v>
                </c:pt>
                <c:pt idx="352" formatCode="0.00">
                  <c:v>3.02</c:v>
                </c:pt>
                <c:pt idx="353" formatCode="0.00">
                  <c:v>3.01</c:v>
                </c:pt>
                <c:pt idx="354" formatCode="0.00">
                  <c:v>3.01</c:v>
                </c:pt>
                <c:pt idx="355" formatCode="0.00">
                  <c:v>3.09</c:v>
                </c:pt>
                <c:pt idx="356" formatCode="0">
                  <c:v>3</c:v>
                </c:pt>
                <c:pt idx="357" formatCode="0.00">
                  <c:v>2.91</c:v>
                </c:pt>
                <c:pt idx="358" formatCode="0.00">
                  <c:v>3.13</c:v>
                </c:pt>
                <c:pt idx="359" formatCode="0.00">
                  <c:v>3.13</c:v>
                </c:pt>
                <c:pt idx="360" formatCode="0.00">
                  <c:v>3.05</c:v>
                </c:pt>
                <c:pt idx="361" formatCode="0.00">
                  <c:v>3.07</c:v>
                </c:pt>
                <c:pt idx="362" formatCode="0.00">
                  <c:v>2.96</c:v>
                </c:pt>
                <c:pt idx="363" formatCode="0.00">
                  <c:v>2.99</c:v>
                </c:pt>
                <c:pt idx="364" formatCode="0.00">
                  <c:v>3.04</c:v>
                </c:pt>
                <c:pt idx="365" formatCode="0.00">
                  <c:v>3.07</c:v>
                </c:pt>
                <c:pt idx="366" formatCode="0.00">
                  <c:v>3.06</c:v>
                </c:pt>
                <c:pt idx="367" formatCode="0.00">
                  <c:v>3.19</c:v>
                </c:pt>
                <c:pt idx="368" formatCode="0.00">
                  <c:v>3.16</c:v>
                </c:pt>
                <c:pt idx="369" formatCode="0.00">
                  <c:v>3.27</c:v>
                </c:pt>
                <c:pt idx="370" formatCode="0.00">
                  <c:v>3.24</c:v>
                </c:pt>
                <c:pt idx="371" formatCode="0.00">
                  <c:v>3.32</c:v>
                </c:pt>
                <c:pt idx="372" formatCode="0.00">
                  <c:v>3.18</c:v>
                </c:pt>
                <c:pt idx="373" formatCode="0.00">
                  <c:v>3.33</c:v>
                </c:pt>
                <c:pt idx="374" formatCode="0.00">
                  <c:v>3.34</c:v>
                </c:pt>
                <c:pt idx="375" formatCode="0.00">
                  <c:v>3.36</c:v>
                </c:pt>
                <c:pt idx="376" formatCode="0.00">
                  <c:v>3.28</c:v>
                </c:pt>
                <c:pt idx="377" formatCode="0.00">
                  <c:v>3.45</c:v>
                </c:pt>
                <c:pt idx="378" formatCode="0.00">
                  <c:v>3.24</c:v>
                </c:pt>
                <c:pt idx="379" formatCode="0.00">
                  <c:v>3.21</c:v>
                </c:pt>
                <c:pt idx="380">
                  <c:v>3.4</c:v>
                </c:pt>
                <c:pt idx="381" formatCode="0.00">
                  <c:v>3.58</c:v>
                </c:pt>
                <c:pt idx="382">
                  <c:v>3.7</c:v>
                </c:pt>
                <c:pt idx="383" formatCode="0.00">
                  <c:v>3.42</c:v>
                </c:pt>
                <c:pt idx="384">
                  <c:v>3.4</c:v>
                </c:pt>
                <c:pt idx="385" formatCode="0.00">
                  <c:v>3.42</c:v>
                </c:pt>
                <c:pt idx="386" formatCode="0.00">
                  <c:v>3.35</c:v>
                </c:pt>
                <c:pt idx="387" formatCode="0.00">
                  <c:v>3.39</c:v>
                </c:pt>
                <c:pt idx="388" formatCode="0.00">
                  <c:v>3.39</c:v>
                </c:pt>
                <c:pt idx="389" formatCode="0.00">
                  <c:v>3.62</c:v>
                </c:pt>
                <c:pt idx="390" formatCode="0.00">
                  <c:v>3.54</c:v>
                </c:pt>
                <c:pt idx="391" formatCode="0.00">
                  <c:v>3.57</c:v>
                </c:pt>
                <c:pt idx="392" formatCode="0.00">
                  <c:v>3.55</c:v>
                </c:pt>
                <c:pt idx="393" formatCode="0.00">
                  <c:v>3.51</c:v>
                </c:pt>
                <c:pt idx="394">
                  <c:v>3.5</c:v>
                </c:pt>
                <c:pt idx="395" formatCode="0.00">
                  <c:v>3.54</c:v>
                </c:pt>
                <c:pt idx="396" formatCode="0.00">
                  <c:v>3.69</c:v>
                </c:pt>
                <c:pt idx="397" formatCode="0.00">
                  <c:v>3.69</c:v>
                </c:pt>
                <c:pt idx="398" formatCode="0.00">
                  <c:v>3.81</c:v>
                </c:pt>
                <c:pt idx="399" formatCode="0.00">
                  <c:v>3.69</c:v>
                </c:pt>
                <c:pt idx="400" formatCode="0.00">
                  <c:v>3.86</c:v>
                </c:pt>
                <c:pt idx="401" formatCode="0.00">
                  <c:v>3.96</c:v>
                </c:pt>
                <c:pt idx="402" formatCode="0.00">
                  <c:v>4.12</c:v>
                </c:pt>
                <c:pt idx="403" formatCode="0">
                  <c:v>4</c:v>
                </c:pt>
                <c:pt idx="404" formatCode="0.00">
                  <c:v>4.57</c:v>
                </c:pt>
                <c:pt idx="405" formatCode="0.00">
                  <c:v>4.25</c:v>
                </c:pt>
                <c:pt idx="406" formatCode="0.00">
                  <c:v>3.96</c:v>
                </c:pt>
                <c:pt idx="407" formatCode="0.00">
                  <c:v>3.89</c:v>
                </c:pt>
                <c:pt idx="408" formatCode="0.00">
                  <c:v>3.92</c:v>
                </c:pt>
                <c:pt idx="409" formatCode="0.00">
                  <c:v>3.85</c:v>
                </c:pt>
                <c:pt idx="410" formatCode="0.00">
                  <c:v>3.84</c:v>
                </c:pt>
                <c:pt idx="411" formatCode="0.00">
                  <c:v>3.88</c:v>
                </c:pt>
                <c:pt idx="412" formatCode="0.00">
                  <c:v>3.83</c:v>
                </c:pt>
                <c:pt idx="413" formatCode="0.00">
                  <c:v>3.98</c:v>
                </c:pt>
                <c:pt idx="414" formatCode="0.00">
                  <c:v>3.94</c:v>
                </c:pt>
                <c:pt idx="415" formatCode="0.00">
                  <c:v>3.82</c:v>
                </c:pt>
                <c:pt idx="416" formatCode="0.00">
                  <c:v>3.63</c:v>
                </c:pt>
                <c:pt idx="417" formatCode="0.00">
                  <c:v>3.55</c:v>
                </c:pt>
                <c:pt idx="418" formatCode="0.00">
                  <c:v>3.54</c:v>
                </c:pt>
                <c:pt idx="419" formatCode="0.00">
                  <c:v>3.68</c:v>
                </c:pt>
                <c:pt idx="420" formatCode="0.00">
                  <c:v>3.71</c:v>
                </c:pt>
                <c:pt idx="421" formatCode="0.00">
                  <c:v>3.85</c:v>
                </c:pt>
                <c:pt idx="422" formatCode="0.00">
                  <c:v>3.89</c:v>
                </c:pt>
                <c:pt idx="423" formatCode="0.00">
                  <c:v>3.98</c:v>
                </c:pt>
                <c:pt idx="424">
                  <c:v>4.0999999999999996</c:v>
                </c:pt>
                <c:pt idx="425" formatCode="0.00">
                  <c:v>4.08</c:v>
                </c:pt>
                <c:pt idx="426" formatCode="0.00">
                  <c:v>4.03</c:v>
                </c:pt>
                <c:pt idx="427" formatCode="0.00">
                  <c:v>4.0199999999999996</c:v>
                </c:pt>
                <c:pt idx="428" formatCode="0.00">
                  <c:v>4.29</c:v>
                </c:pt>
                <c:pt idx="429" formatCode="0.00">
                  <c:v>4.32</c:v>
                </c:pt>
                <c:pt idx="430" formatCode="0.00">
                  <c:v>4.3899999999999997</c:v>
                </c:pt>
                <c:pt idx="431" formatCode="0.00">
                  <c:v>4.3499999999999996</c:v>
                </c:pt>
                <c:pt idx="432" formatCode="0.00">
                  <c:v>4.4800000000000004</c:v>
                </c:pt>
                <c:pt idx="433" formatCode="0.00">
                  <c:v>4.46</c:v>
                </c:pt>
                <c:pt idx="434" formatCode="0.00">
                  <c:v>4.62</c:v>
                </c:pt>
                <c:pt idx="435" formatCode="0.00">
                  <c:v>4.82</c:v>
                </c:pt>
                <c:pt idx="436" formatCode="0.00">
                  <c:v>4.76</c:v>
                </c:pt>
                <c:pt idx="437" formatCode="0.00">
                  <c:v>3.84</c:v>
                </c:pt>
                <c:pt idx="438" formatCode="0.00">
                  <c:v>3.35</c:v>
                </c:pt>
                <c:pt idx="439" formatCode="0.00">
                  <c:v>3.58</c:v>
                </c:pt>
                <c:pt idx="440" formatCode="0.00">
                  <c:v>3.49</c:v>
                </c:pt>
                <c:pt idx="441">
                  <c:v>3.4</c:v>
                </c:pt>
                <c:pt idx="442" formatCode="0.00">
                  <c:v>3.52</c:v>
                </c:pt>
                <c:pt idx="443" formatCode="0.00">
                  <c:v>3.24</c:v>
                </c:pt>
                <c:pt idx="444" formatCode="0.00">
                  <c:v>3.46</c:v>
                </c:pt>
                <c:pt idx="445" formatCode="0.00">
                  <c:v>3.57</c:v>
                </c:pt>
                <c:pt idx="446" formatCode="0.00">
                  <c:v>3.51</c:v>
                </c:pt>
                <c:pt idx="447" formatCode="0.00">
                  <c:v>3.46</c:v>
                </c:pt>
                <c:pt idx="448" formatCode="0.00">
                  <c:v>3.64</c:v>
                </c:pt>
                <c:pt idx="449" formatCode="0.00">
                  <c:v>3.72</c:v>
                </c:pt>
                <c:pt idx="450" formatCode="0.00">
                  <c:v>3.71</c:v>
                </c:pt>
                <c:pt idx="451" formatCode="0.00">
                  <c:v>4.1500000000000004</c:v>
                </c:pt>
                <c:pt idx="452" formatCode="0.00">
                  <c:v>4.1900000000000004</c:v>
                </c:pt>
                <c:pt idx="453" formatCode="0.00">
                  <c:v>4.0199999999999996</c:v>
                </c:pt>
                <c:pt idx="454" formatCode="0.00">
                  <c:v>3.97</c:v>
                </c:pt>
                <c:pt idx="455" formatCode="0.00">
                  <c:v>4.03</c:v>
                </c:pt>
                <c:pt idx="456" formatCode="0.00">
                  <c:v>3.93</c:v>
                </c:pt>
                <c:pt idx="457" formatCode="0.00">
                  <c:v>3.79</c:v>
                </c:pt>
                <c:pt idx="458" formatCode="0.00">
                  <c:v>3.67</c:v>
                </c:pt>
                <c:pt idx="459" formatCode="0.00">
                  <c:v>3.76</c:v>
                </c:pt>
                <c:pt idx="460">
                  <c:v>3.6</c:v>
                </c:pt>
                <c:pt idx="461" formatCode="0.00">
                  <c:v>3.48</c:v>
                </c:pt>
                <c:pt idx="462">
                  <c:v>3.6</c:v>
                </c:pt>
                <c:pt idx="463" formatCode="0.00">
                  <c:v>3.71</c:v>
                </c:pt>
                <c:pt idx="464" formatCode="0.00">
                  <c:v>3.81</c:v>
                </c:pt>
                <c:pt idx="465" formatCode="0.00">
                  <c:v>4.09</c:v>
                </c:pt>
                <c:pt idx="466" formatCode="0.00">
                  <c:v>4.05</c:v>
                </c:pt>
                <c:pt idx="467" formatCode="0.00">
                  <c:v>3.96</c:v>
                </c:pt>
                <c:pt idx="468" formatCode="0.00">
                  <c:v>3.92</c:v>
                </c:pt>
                <c:pt idx="469">
                  <c:v>3.8</c:v>
                </c:pt>
                <c:pt idx="470" formatCode="0.00">
                  <c:v>3.75</c:v>
                </c:pt>
                <c:pt idx="471" formatCode="0.00">
                  <c:v>3.74</c:v>
                </c:pt>
                <c:pt idx="472" formatCode="0.00">
                  <c:v>3.79</c:v>
                </c:pt>
                <c:pt idx="473" formatCode="0.00">
                  <c:v>3.73</c:v>
                </c:pt>
                <c:pt idx="474" formatCode="0.00">
                  <c:v>3.72</c:v>
                </c:pt>
                <c:pt idx="475" formatCode="0.00">
                  <c:v>3.73</c:v>
                </c:pt>
                <c:pt idx="476" formatCode="0.00">
                  <c:v>3.58</c:v>
                </c:pt>
                <c:pt idx="477" formatCode="0.00">
                  <c:v>3.52</c:v>
                </c:pt>
                <c:pt idx="478" formatCode="0.00">
                  <c:v>3.43</c:v>
                </c:pt>
                <c:pt idx="479" formatCode="0.00">
                  <c:v>3.38</c:v>
                </c:pt>
                <c:pt idx="480" formatCode="0.00">
                  <c:v>3.23</c:v>
                </c:pt>
                <c:pt idx="481" formatCode="0.00">
                  <c:v>3.36</c:v>
                </c:pt>
                <c:pt idx="482" formatCode="0.00">
                  <c:v>3.29</c:v>
                </c:pt>
                <c:pt idx="483" formatCode="0.00">
                  <c:v>3.15</c:v>
                </c:pt>
                <c:pt idx="484" formatCode="0.00">
                  <c:v>2.94</c:v>
                </c:pt>
                <c:pt idx="485" formatCode="0.00">
                  <c:v>2.82</c:v>
                </c:pt>
                <c:pt idx="486" formatCode="0.00">
                  <c:v>2.89</c:v>
                </c:pt>
                <c:pt idx="487" formatCode="0.00">
                  <c:v>2.78</c:v>
                </c:pt>
                <c:pt idx="488">
                  <c:v>2.8</c:v>
                </c:pt>
                <c:pt idx="489" formatCode="0.00">
                  <c:v>2.79</c:v>
                </c:pt>
                <c:pt idx="490" formatCode="0.00">
                  <c:v>2.74</c:v>
                </c:pt>
                <c:pt idx="491" formatCode="0.00">
                  <c:v>2.75</c:v>
                </c:pt>
                <c:pt idx="492" formatCode="0.00">
                  <c:v>2.88</c:v>
                </c:pt>
                <c:pt idx="493" formatCode="0.00">
                  <c:v>2.73</c:v>
                </c:pt>
                <c:pt idx="494" formatCode="0.00">
                  <c:v>2.89</c:v>
                </c:pt>
                <c:pt idx="495" formatCode="0.00">
                  <c:v>2.83</c:v>
                </c:pt>
                <c:pt idx="496" formatCode="0.00">
                  <c:v>2.84</c:v>
                </c:pt>
                <c:pt idx="497" formatCode="0.00">
                  <c:v>3.03</c:v>
                </c:pt>
                <c:pt idx="498" formatCode="0.00">
                  <c:v>2.92</c:v>
                </c:pt>
                <c:pt idx="499">
                  <c:v>2.9</c:v>
                </c:pt>
                <c:pt idx="500" formatCode="0.00">
                  <c:v>2.92</c:v>
                </c:pt>
                <c:pt idx="501" formatCode="0.00">
                  <c:v>2.91</c:v>
                </c:pt>
                <c:pt idx="502">
                  <c:v>2.8</c:v>
                </c:pt>
                <c:pt idx="503" formatCode="0.00">
                  <c:v>2.78</c:v>
                </c:pt>
                <c:pt idx="504" formatCode="0.00">
                  <c:v>2.58</c:v>
                </c:pt>
                <c:pt idx="505" formatCode="0.00">
                  <c:v>2.61</c:v>
                </c:pt>
                <c:pt idx="506" formatCode="0.00">
                  <c:v>2.57</c:v>
                </c:pt>
                <c:pt idx="507" formatCode="0.00">
                  <c:v>2.64</c:v>
                </c:pt>
                <c:pt idx="508" formatCode="0.00">
                  <c:v>2.69</c:v>
                </c:pt>
                <c:pt idx="509" formatCode="0.00">
                  <c:v>2.68</c:v>
                </c:pt>
                <c:pt idx="510" formatCode="0.00">
                  <c:v>2.56</c:v>
                </c:pt>
                <c:pt idx="511" formatCode="0.00">
                  <c:v>2.66</c:v>
                </c:pt>
                <c:pt idx="512" formatCode="0.00">
                  <c:v>2.64</c:v>
                </c:pt>
                <c:pt idx="513" formatCode="0.00">
                  <c:v>2.77</c:v>
                </c:pt>
                <c:pt idx="514">
                  <c:v>2.8</c:v>
                </c:pt>
                <c:pt idx="515" formatCode="0.00">
                  <c:v>2.82</c:v>
                </c:pt>
                <c:pt idx="516" formatCode="0.00">
                  <c:v>2.66</c:v>
                </c:pt>
                <c:pt idx="517" formatCode="0.00">
                  <c:v>2.63</c:v>
                </c:pt>
                <c:pt idx="518" formatCode="0.00">
                  <c:v>2.62</c:v>
                </c:pt>
                <c:pt idx="519" formatCode="0.00">
                  <c:v>2.5499999999999998</c:v>
                </c:pt>
                <c:pt idx="520" formatCode="0.00">
                  <c:v>2.44</c:v>
                </c:pt>
                <c:pt idx="521" formatCode="0.00">
                  <c:v>2.57</c:v>
                </c:pt>
                <c:pt idx="522">
                  <c:v>2.6</c:v>
                </c:pt>
                <c:pt idx="523" formatCode="0.00">
                  <c:v>2.69</c:v>
                </c:pt>
              </c:numCache>
            </c:numRef>
          </c:val>
          <c:extLst xmlns:c16r2="http://schemas.microsoft.com/office/drawing/2015/06/chart">
            <c:ext xmlns:c16="http://schemas.microsoft.com/office/drawing/2014/chart" uri="{C3380CC4-5D6E-409C-BE32-E72D297353CC}">
              <c16:uniqueId val="{00000000-8435-4E2B-A90C-0FCDC38003D2}"/>
            </c:ext>
          </c:extLst>
        </c:ser>
        <c:dLbls>
          <c:showLegendKey val="0"/>
          <c:showVal val="0"/>
          <c:showCatName val="0"/>
          <c:showSerName val="0"/>
          <c:showPercent val="0"/>
          <c:showBubbleSize val="0"/>
        </c:dLbls>
        <c:axId val="-2048891136"/>
        <c:axId val="-2048888416"/>
      </c:areaChart>
      <c:lineChart>
        <c:grouping val="standard"/>
        <c:varyColors val="0"/>
        <c:ser>
          <c:idx val="2"/>
          <c:order val="2"/>
          <c:tx>
            <c:strRef>
              <c:f>Sheet4!$D$1</c:f>
              <c:strCache>
                <c:ptCount val="1"/>
                <c:pt idx="0">
                  <c:v>危险值</c:v>
                </c:pt>
              </c:strCache>
            </c:strRef>
          </c:tx>
          <c:spPr>
            <a:ln w="28575" cap="rnd">
              <a:solidFill>
                <a:srgbClr val="00B0F0"/>
              </a:solidFill>
              <a:round/>
            </a:ln>
            <a:effectLst/>
          </c:spPr>
          <c:marker>
            <c:symbol val="none"/>
          </c:marker>
          <c:cat>
            <c:strRef>
              <c:f>Sheet4!$A$2:$A$525</c:f>
              <c:strCache>
                <c:ptCount val="524"/>
                <c:pt idx="0">
                  <c:v>2016-03-04</c:v>
                </c:pt>
                <c:pt idx="1">
                  <c:v>2016-03-11</c:v>
                </c:pt>
                <c:pt idx="2">
                  <c:v>2016-03-18</c:v>
                </c:pt>
                <c:pt idx="3">
                  <c:v>2016-03-25</c:v>
                </c:pt>
                <c:pt idx="4">
                  <c:v>2016-04-01</c:v>
                </c:pt>
                <c:pt idx="5">
                  <c:v>2016-04-08</c:v>
                </c:pt>
                <c:pt idx="6">
                  <c:v>2016-04-15</c:v>
                </c:pt>
                <c:pt idx="7">
                  <c:v>2016-04-22</c:v>
                </c:pt>
                <c:pt idx="8">
                  <c:v>2016-04-29</c:v>
                </c:pt>
                <c:pt idx="9">
                  <c:v>2016-05-06</c:v>
                </c:pt>
                <c:pt idx="10">
                  <c:v>2016-05-13</c:v>
                </c:pt>
                <c:pt idx="11">
                  <c:v>2016-05-20</c:v>
                </c:pt>
                <c:pt idx="12">
                  <c:v>2016-05-27</c:v>
                </c:pt>
                <c:pt idx="13">
                  <c:v>2016-06-03</c:v>
                </c:pt>
                <c:pt idx="14">
                  <c:v>2016-06-08</c:v>
                </c:pt>
                <c:pt idx="15">
                  <c:v>2016-06-17</c:v>
                </c:pt>
                <c:pt idx="16">
                  <c:v>2016-06-24</c:v>
                </c:pt>
                <c:pt idx="17">
                  <c:v>2016-07-01</c:v>
                </c:pt>
                <c:pt idx="18">
                  <c:v>2016-07-08</c:v>
                </c:pt>
                <c:pt idx="19">
                  <c:v>2016-07-15</c:v>
                </c:pt>
                <c:pt idx="20">
                  <c:v>2016-07-22</c:v>
                </c:pt>
                <c:pt idx="21">
                  <c:v>2016-07-29</c:v>
                </c:pt>
                <c:pt idx="22">
                  <c:v>2016-08-05</c:v>
                </c:pt>
                <c:pt idx="23">
                  <c:v>2016-08-12</c:v>
                </c:pt>
                <c:pt idx="24">
                  <c:v>2016-08-19</c:v>
                </c:pt>
                <c:pt idx="25">
                  <c:v>2016-08-26</c:v>
                </c:pt>
                <c:pt idx="26">
                  <c:v>2016-09-02</c:v>
                </c:pt>
                <c:pt idx="27">
                  <c:v>2016-09-09</c:v>
                </c:pt>
                <c:pt idx="28">
                  <c:v>2016-09-14</c:v>
                </c:pt>
                <c:pt idx="29">
                  <c:v>2016-09-23</c:v>
                </c:pt>
                <c:pt idx="30">
                  <c:v>2016-09-30</c:v>
                </c:pt>
                <c:pt idx="31">
                  <c:v>2016-10-14</c:v>
                </c:pt>
                <c:pt idx="32">
                  <c:v>2016-10-21</c:v>
                </c:pt>
                <c:pt idx="33">
                  <c:v>2016-10-28</c:v>
                </c:pt>
                <c:pt idx="34">
                  <c:v>2016-11-04</c:v>
                </c:pt>
                <c:pt idx="35">
                  <c:v>2016-11-11</c:v>
                </c:pt>
                <c:pt idx="36">
                  <c:v>2016-11-18</c:v>
                </c:pt>
                <c:pt idx="37">
                  <c:v>2016-11-25</c:v>
                </c:pt>
                <c:pt idx="38">
                  <c:v>2016-12-02</c:v>
                </c:pt>
                <c:pt idx="39">
                  <c:v>2016-12-09</c:v>
                </c:pt>
                <c:pt idx="40">
                  <c:v>2016-12-16</c:v>
                </c:pt>
                <c:pt idx="41">
                  <c:v>2016-12-23</c:v>
                </c:pt>
                <c:pt idx="42">
                  <c:v>2016-12-30</c:v>
                </c:pt>
                <c:pt idx="43">
                  <c:v>2017-01-06</c:v>
                </c:pt>
                <c:pt idx="44">
                  <c:v>2017-01-13</c:v>
                </c:pt>
                <c:pt idx="45">
                  <c:v>2017-01-20</c:v>
                </c:pt>
                <c:pt idx="46">
                  <c:v>2017-01-26</c:v>
                </c:pt>
                <c:pt idx="47">
                  <c:v>2017-02-03</c:v>
                </c:pt>
                <c:pt idx="48">
                  <c:v>2017-02-10</c:v>
                </c:pt>
                <c:pt idx="49">
                  <c:v>2017-02-17</c:v>
                </c:pt>
                <c:pt idx="50">
                  <c:v>2017-02-24</c:v>
                </c:pt>
                <c:pt idx="51">
                  <c:v>2017-03-03</c:v>
                </c:pt>
                <c:pt idx="52">
                  <c:v>2017-03-10</c:v>
                </c:pt>
                <c:pt idx="53">
                  <c:v>2017-03-17</c:v>
                </c:pt>
                <c:pt idx="54">
                  <c:v>2017-03-24</c:v>
                </c:pt>
                <c:pt idx="55">
                  <c:v>2017-03-31</c:v>
                </c:pt>
                <c:pt idx="56">
                  <c:v>2017-04-07</c:v>
                </c:pt>
                <c:pt idx="57">
                  <c:v>2017-04-14</c:v>
                </c:pt>
                <c:pt idx="58">
                  <c:v>2017-04-21</c:v>
                </c:pt>
                <c:pt idx="59">
                  <c:v>2017-04-28</c:v>
                </c:pt>
                <c:pt idx="60">
                  <c:v>2017-05-05</c:v>
                </c:pt>
                <c:pt idx="61">
                  <c:v>2017-05-12</c:v>
                </c:pt>
                <c:pt idx="62">
                  <c:v>2017-05-19</c:v>
                </c:pt>
                <c:pt idx="63">
                  <c:v>2017-05-26</c:v>
                </c:pt>
                <c:pt idx="64">
                  <c:v>2017-06-02</c:v>
                </c:pt>
                <c:pt idx="65">
                  <c:v>2017-06-09</c:v>
                </c:pt>
                <c:pt idx="66">
                  <c:v>2017-06-16</c:v>
                </c:pt>
                <c:pt idx="67">
                  <c:v>2017-06-23</c:v>
                </c:pt>
                <c:pt idx="68">
                  <c:v>2017-06-30</c:v>
                </c:pt>
                <c:pt idx="69">
                  <c:v>2017-07-07</c:v>
                </c:pt>
                <c:pt idx="70">
                  <c:v>2017-07-14</c:v>
                </c:pt>
                <c:pt idx="71">
                  <c:v>2017-07-21</c:v>
                </c:pt>
                <c:pt idx="72">
                  <c:v>2017-07-28</c:v>
                </c:pt>
                <c:pt idx="73">
                  <c:v>2017-08-04</c:v>
                </c:pt>
                <c:pt idx="74">
                  <c:v>2017-08-11</c:v>
                </c:pt>
                <c:pt idx="75">
                  <c:v>2017-08-18</c:v>
                </c:pt>
                <c:pt idx="76">
                  <c:v>2017-08-25</c:v>
                </c:pt>
                <c:pt idx="77">
                  <c:v>2017-09-01</c:v>
                </c:pt>
                <c:pt idx="78">
                  <c:v>2017-09-08</c:v>
                </c:pt>
                <c:pt idx="79">
                  <c:v>2017-09-15</c:v>
                </c:pt>
                <c:pt idx="80">
                  <c:v>2017-09-22</c:v>
                </c:pt>
                <c:pt idx="81">
                  <c:v>2017-09-29</c:v>
                </c:pt>
                <c:pt idx="82">
                  <c:v>2017-10-13</c:v>
                </c:pt>
                <c:pt idx="83">
                  <c:v>2017-10-20</c:v>
                </c:pt>
                <c:pt idx="84">
                  <c:v>2017-10-27</c:v>
                </c:pt>
                <c:pt idx="85">
                  <c:v>2017-11-03</c:v>
                </c:pt>
                <c:pt idx="86">
                  <c:v>2017-11-10</c:v>
                </c:pt>
                <c:pt idx="87">
                  <c:v>2017-11-17</c:v>
                </c:pt>
                <c:pt idx="88">
                  <c:v>2017-11-24</c:v>
                </c:pt>
                <c:pt idx="89">
                  <c:v>2017-12-01</c:v>
                </c:pt>
                <c:pt idx="90">
                  <c:v>2017-12-08</c:v>
                </c:pt>
                <c:pt idx="91">
                  <c:v>2017-12-15</c:v>
                </c:pt>
                <c:pt idx="92">
                  <c:v>2017-12-22</c:v>
                </c:pt>
                <c:pt idx="93">
                  <c:v>2017-12-29</c:v>
                </c:pt>
                <c:pt idx="94">
                  <c:v>2018-01-05</c:v>
                </c:pt>
                <c:pt idx="95">
                  <c:v>2018-01-12</c:v>
                </c:pt>
                <c:pt idx="96">
                  <c:v>2018-01-19</c:v>
                </c:pt>
                <c:pt idx="97">
                  <c:v>2018-01-26</c:v>
                </c:pt>
                <c:pt idx="98">
                  <c:v>2018-02-02</c:v>
                </c:pt>
                <c:pt idx="99">
                  <c:v>2018-02-09</c:v>
                </c:pt>
                <c:pt idx="100">
                  <c:v>2018-02-14</c:v>
                </c:pt>
                <c:pt idx="101">
                  <c:v>2018-02-23</c:v>
                </c:pt>
                <c:pt idx="102">
                  <c:v>2018-03-02</c:v>
                </c:pt>
                <c:pt idx="103">
                  <c:v>2018-03-09</c:v>
                </c:pt>
                <c:pt idx="104">
                  <c:v>2018-03-16</c:v>
                </c:pt>
                <c:pt idx="105">
                  <c:v>2018-03-23</c:v>
                </c:pt>
                <c:pt idx="106">
                  <c:v>2018-03-30</c:v>
                </c:pt>
                <c:pt idx="107">
                  <c:v>2018-04-04</c:v>
                </c:pt>
                <c:pt idx="108">
                  <c:v>2018-04-13</c:v>
                </c:pt>
                <c:pt idx="109">
                  <c:v>2018-04-20</c:v>
                </c:pt>
                <c:pt idx="110">
                  <c:v>2018-04-27</c:v>
                </c:pt>
                <c:pt idx="111">
                  <c:v>2018-05-04</c:v>
                </c:pt>
                <c:pt idx="112">
                  <c:v>2018-05-11</c:v>
                </c:pt>
                <c:pt idx="113">
                  <c:v>2018-05-18</c:v>
                </c:pt>
                <c:pt idx="114">
                  <c:v>2018-05-25</c:v>
                </c:pt>
                <c:pt idx="115">
                  <c:v>2018-06-01</c:v>
                </c:pt>
                <c:pt idx="116">
                  <c:v>2018-06-08</c:v>
                </c:pt>
                <c:pt idx="117">
                  <c:v>2018-06-15</c:v>
                </c:pt>
                <c:pt idx="118">
                  <c:v>2018-06-22</c:v>
                </c:pt>
                <c:pt idx="119">
                  <c:v>2018-06-29</c:v>
                </c:pt>
                <c:pt idx="120">
                  <c:v>2018-07-06</c:v>
                </c:pt>
                <c:pt idx="121">
                  <c:v>2018-07-13</c:v>
                </c:pt>
                <c:pt idx="122">
                  <c:v>2018-07-20</c:v>
                </c:pt>
                <c:pt idx="123">
                  <c:v>2018-07-27</c:v>
                </c:pt>
                <c:pt idx="124">
                  <c:v>2018-08-03</c:v>
                </c:pt>
                <c:pt idx="125">
                  <c:v>2018-08-10</c:v>
                </c:pt>
                <c:pt idx="126">
                  <c:v>2018-08-17</c:v>
                </c:pt>
                <c:pt idx="127">
                  <c:v>2018-08-24</c:v>
                </c:pt>
                <c:pt idx="128">
                  <c:v>2018-08-31</c:v>
                </c:pt>
                <c:pt idx="129">
                  <c:v>2018-09-07</c:v>
                </c:pt>
                <c:pt idx="130">
                  <c:v>2018-09-14</c:v>
                </c:pt>
                <c:pt idx="131">
                  <c:v>2018-09-21</c:v>
                </c:pt>
                <c:pt idx="132">
                  <c:v>2018-09-28</c:v>
                </c:pt>
                <c:pt idx="133">
                  <c:v>2018-10-12</c:v>
                </c:pt>
                <c:pt idx="134">
                  <c:v>2018-10-19</c:v>
                </c:pt>
                <c:pt idx="135">
                  <c:v>2018-10-26</c:v>
                </c:pt>
                <c:pt idx="136">
                  <c:v>2018-11-02</c:v>
                </c:pt>
                <c:pt idx="137">
                  <c:v>2018-11-09</c:v>
                </c:pt>
                <c:pt idx="138">
                  <c:v>2018-11-16</c:v>
                </c:pt>
                <c:pt idx="139">
                  <c:v>2018-11-23</c:v>
                </c:pt>
                <c:pt idx="140">
                  <c:v>2018-11-30</c:v>
                </c:pt>
                <c:pt idx="141">
                  <c:v>2018-12-07</c:v>
                </c:pt>
                <c:pt idx="142">
                  <c:v>2018-12-14</c:v>
                </c:pt>
                <c:pt idx="143">
                  <c:v>2018-12-21</c:v>
                </c:pt>
                <c:pt idx="144">
                  <c:v>2018-12-28</c:v>
                </c:pt>
                <c:pt idx="145">
                  <c:v>2019-01-04</c:v>
                </c:pt>
                <c:pt idx="146">
                  <c:v>2019-01-11</c:v>
                </c:pt>
                <c:pt idx="147">
                  <c:v>2019-01-18</c:v>
                </c:pt>
                <c:pt idx="148">
                  <c:v>2019-01-25</c:v>
                </c:pt>
                <c:pt idx="149">
                  <c:v>2019-02-01</c:v>
                </c:pt>
                <c:pt idx="150">
                  <c:v>2019-02-15</c:v>
                </c:pt>
                <c:pt idx="151">
                  <c:v>2019-02-22</c:v>
                </c:pt>
                <c:pt idx="152">
                  <c:v>2019-03-01</c:v>
                </c:pt>
                <c:pt idx="153">
                  <c:v>2019-03-08</c:v>
                </c:pt>
                <c:pt idx="154">
                  <c:v>2019-03-15</c:v>
                </c:pt>
                <c:pt idx="155">
                  <c:v>2019-03-22</c:v>
                </c:pt>
                <c:pt idx="156">
                  <c:v>2019-03-29</c:v>
                </c:pt>
                <c:pt idx="157">
                  <c:v>2019-04-04</c:v>
                </c:pt>
                <c:pt idx="158">
                  <c:v>2019-04-12</c:v>
                </c:pt>
                <c:pt idx="159">
                  <c:v>2019-04-19</c:v>
                </c:pt>
                <c:pt idx="160">
                  <c:v>2019-04-26</c:v>
                </c:pt>
                <c:pt idx="161">
                  <c:v>2019-04-30</c:v>
                </c:pt>
                <c:pt idx="162">
                  <c:v>2019-05-10</c:v>
                </c:pt>
                <c:pt idx="163">
                  <c:v>2019-05-17</c:v>
                </c:pt>
                <c:pt idx="164">
                  <c:v>2019-05-24</c:v>
                </c:pt>
                <c:pt idx="165">
                  <c:v>2019-05-31</c:v>
                </c:pt>
                <c:pt idx="166">
                  <c:v>2019-06-06</c:v>
                </c:pt>
                <c:pt idx="167">
                  <c:v>2019-06-14</c:v>
                </c:pt>
                <c:pt idx="168">
                  <c:v>2019-06-21</c:v>
                </c:pt>
                <c:pt idx="169">
                  <c:v>2019-06-28</c:v>
                </c:pt>
                <c:pt idx="170">
                  <c:v>2019-07-05</c:v>
                </c:pt>
                <c:pt idx="171">
                  <c:v>2019-07-12</c:v>
                </c:pt>
                <c:pt idx="172">
                  <c:v>2019-07-19</c:v>
                </c:pt>
                <c:pt idx="173">
                  <c:v>2019-07-26</c:v>
                </c:pt>
                <c:pt idx="174">
                  <c:v>2019-08-02</c:v>
                </c:pt>
                <c:pt idx="175">
                  <c:v>2019-08-09</c:v>
                </c:pt>
                <c:pt idx="176">
                  <c:v>2019-08-16</c:v>
                </c:pt>
                <c:pt idx="177">
                  <c:v>2019-08-23</c:v>
                </c:pt>
                <c:pt idx="178">
                  <c:v>2019-08-30</c:v>
                </c:pt>
                <c:pt idx="179">
                  <c:v>2019-09-06</c:v>
                </c:pt>
                <c:pt idx="180">
                  <c:v>2019-09-12</c:v>
                </c:pt>
                <c:pt idx="181">
                  <c:v>2019-09-20</c:v>
                </c:pt>
                <c:pt idx="182">
                  <c:v>2019-09-27</c:v>
                </c:pt>
                <c:pt idx="183">
                  <c:v>2019-09-30</c:v>
                </c:pt>
                <c:pt idx="184">
                  <c:v>2019-10-11</c:v>
                </c:pt>
                <c:pt idx="185">
                  <c:v>2019-10-18</c:v>
                </c:pt>
                <c:pt idx="186">
                  <c:v>2019-10-25</c:v>
                </c:pt>
                <c:pt idx="187">
                  <c:v>2019-11-01</c:v>
                </c:pt>
                <c:pt idx="188">
                  <c:v>2019-11-08</c:v>
                </c:pt>
                <c:pt idx="189">
                  <c:v>2019-11-15</c:v>
                </c:pt>
                <c:pt idx="190">
                  <c:v>2019-11-22</c:v>
                </c:pt>
                <c:pt idx="191">
                  <c:v>2019-11-29</c:v>
                </c:pt>
                <c:pt idx="192">
                  <c:v>2019-12-06</c:v>
                </c:pt>
                <c:pt idx="193">
                  <c:v>2019-12-13</c:v>
                </c:pt>
                <c:pt idx="194">
                  <c:v>2019-12-20</c:v>
                </c:pt>
                <c:pt idx="195">
                  <c:v>2019-12-27</c:v>
                </c:pt>
                <c:pt idx="196">
                  <c:v>2020-01-03</c:v>
                </c:pt>
                <c:pt idx="197">
                  <c:v>2020-01-10</c:v>
                </c:pt>
                <c:pt idx="198">
                  <c:v>2020-01-17</c:v>
                </c:pt>
                <c:pt idx="199">
                  <c:v>2020-01-23</c:v>
                </c:pt>
                <c:pt idx="200">
                  <c:v>2020-02-07</c:v>
                </c:pt>
                <c:pt idx="201">
                  <c:v>2020-02-14</c:v>
                </c:pt>
                <c:pt idx="202">
                  <c:v>2020-02-21</c:v>
                </c:pt>
                <c:pt idx="203">
                  <c:v>2020-02-28</c:v>
                </c:pt>
                <c:pt idx="204">
                  <c:v>2020-03-06</c:v>
                </c:pt>
                <c:pt idx="205">
                  <c:v>2020-03-13</c:v>
                </c:pt>
                <c:pt idx="206">
                  <c:v>2020-03-20</c:v>
                </c:pt>
                <c:pt idx="207">
                  <c:v>2020-03-27</c:v>
                </c:pt>
                <c:pt idx="208">
                  <c:v>2020-04-03</c:v>
                </c:pt>
                <c:pt idx="209">
                  <c:v>2020-04-10</c:v>
                </c:pt>
                <c:pt idx="210">
                  <c:v>2020-04-17</c:v>
                </c:pt>
                <c:pt idx="211">
                  <c:v>2020-04-24</c:v>
                </c:pt>
                <c:pt idx="212">
                  <c:v>2020-04-30</c:v>
                </c:pt>
                <c:pt idx="213">
                  <c:v>2020-05-08</c:v>
                </c:pt>
                <c:pt idx="214">
                  <c:v>2020-05-15</c:v>
                </c:pt>
                <c:pt idx="215">
                  <c:v>2020-05-22</c:v>
                </c:pt>
                <c:pt idx="216">
                  <c:v>2020-05-29</c:v>
                </c:pt>
                <c:pt idx="217">
                  <c:v>2020-06-05</c:v>
                </c:pt>
                <c:pt idx="218">
                  <c:v>2020-06-12</c:v>
                </c:pt>
                <c:pt idx="219">
                  <c:v>2020-06-19</c:v>
                </c:pt>
                <c:pt idx="220">
                  <c:v>2020-06-24</c:v>
                </c:pt>
                <c:pt idx="221">
                  <c:v>2020-07-03</c:v>
                </c:pt>
                <c:pt idx="222">
                  <c:v>2020-07-10</c:v>
                </c:pt>
                <c:pt idx="223">
                  <c:v>2020-07-17</c:v>
                </c:pt>
                <c:pt idx="224">
                  <c:v>2020-07-24</c:v>
                </c:pt>
                <c:pt idx="225">
                  <c:v>2020-07-31</c:v>
                </c:pt>
                <c:pt idx="226">
                  <c:v>2020-08-07</c:v>
                </c:pt>
                <c:pt idx="227">
                  <c:v>2020-08-14</c:v>
                </c:pt>
                <c:pt idx="228">
                  <c:v>2020-08-21</c:v>
                </c:pt>
                <c:pt idx="229">
                  <c:v>2020-08-28</c:v>
                </c:pt>
                <c:pt idx="230">
                  <c:v>2020-09-04</c:v>
                </c:pt>
                <c:pt idx="231">
                  <c:v>2020-09-11</c:v>
                </c:pt>
                <c:pt idx="232">
                  <c:v>2020-09-18</c:v>
                </c:pt>
                <c:pt idx="233">
                  <c:v>2020-09-25</c:v>
                </c:pt>
                <c:pt idx="234">
                  <c:v>2020-09-30</c:v>
                </c:pt>
                <c:pt idx="235">
                  <c:v>2020-10-09</c:v>
                </c:pt>
                <c:pt idx="236">
                  <c:v>2020-10-16</c:v>
                </c:pt>
                <c:pt idx="237">
                  <c:v>2020-10-23</c:v>
                </c:pt>
                <c:pt idx="238">
                  <c:v>2020-10-30</c:v>
                </c:pt>
                <c:pt idx="239">
                  <c:v>2020-11-06</c:v>
                </c:pt>
                <c:pt idx="240">
                  <c:v>2020-11-13</c:v>
                </c:pt>
                <c:pt idx="241">
                  <c:v>2020-11-20</c:v>
                </c:pt>
                <c:pt idx="242">
                  <c:v>2020-11-27</c:v>
                </c:pt>
                <c:pt idx="243">
                  <c:v>2020-12-04</c:v>
                </c:pt>
                <c:pt idx="244">
                  <c:v>2020-12-11</c:v>
                </c:pt>
                <c:pt idx="245">
                  <c:v>2020-12-18</c:v>
                </c:pt>
                <c:pt idx="246">
                  <c:v>2020-12-25</c:v>
                </c:pt>
                <c:pt idx="247">
                  <c:v>2020-12-31</c:v>
                </c:pt>
                <c:pt idx="248">
                  <c:v>2021-01-08</c:v>
                </c:pt>
                <c:pt idx="249">
                  <c:v>2021-01-15</c:v>
                </c:pt>
                <c:pt idx="250">
                  <c:v>2021-01-22</c:v>
                </c:pt>
                <c:pt idx="251">
                  <c:v>2021-01-29</c:v>
                </c:pt>
                <c:pt idx="252">
                  <c:v>2021-02-05</c:v>
                </c:pt>
                <c:pt idx="253">
                  <c:v>2021-02-10</c:v>
                </c:pt>
                <c:pt idx="254">
                  <c:v>2021-02-19</c:v>
                </c:pt>
                <c:pt idx="255">
                  <c:v>2021-02-26</c:v>
                </c:pt>
                <c:pt idx="256">
                  <c:v>2021-03-05</c:v>
                </c:pt>
                <c:pt idx="257">
                  <c:v>2021-03-12</c:v>
                </c:pt>
                <c:pt idx="258">
                  <c:v>2021-03-19</c:v>
                </c:pt>
                <c:pt idx="259">
                  <c:v>2021-03-26</c:v>
                </c:pt>
                <c:pt idx="260">
                  <c:v>2021-04-02</c:v>
                </c:pt>
                <c:pt idx="261">
                  <c:v>2021-04-09</c:v>
                </c:pt>
                <c:pt idx="262">
                  <c:v>2021-04-16</c:v>
                </c:pt>
                <c:pt idx="263">
                  <c:v>2021-04-23</c:v>
                </c:pt>
                <c:pt idx="264">
                  <c:v>2021-04-30</c:v>
                </c:pt>
                <c:pt idx="265">
                  <c:v>2021-05-07</c:v>
                </c:pt>
                <c:pt idx="266">
                  <c:v>2021-05-14</c:v>
                </c:pt>
                <c:pt idx="267">
                  <c:v>2021-05-21</c:v>
                </c:pt>
                <c:pt idx="268">
                  <c:v>2021-05-28</c:v>
                </c:pt>
                <c:pt idx="269">
                  <c:v>2021-06-04</c:v>
                </c:pt>
                <c:pt idx="270">
                  <c:v>2021-06-11</c:v>
                </c:pt>
                <c:pt idx="271">
                  <c:v>2021-06-18</c:v>
                </c:pt>
                <c:pt idx="272">
                  <c:v>2021-06-25</c:v>
                </c:pt>
                <c:pt idx="273">
                  <c:v>2021-07-02</c:v>
                </c:pt>
                <c:pt idx="274">
                  <c:v>2021-07-09</c:v>
                </c:pt>
                <c:pt idx="275">
                  <c:v>2021-07-16</c:v>
                </c:pt>
                <c:pt idx="276">
                  <c:v>2021-07-23</c:v>
                </c:pt>
                <c:pt idx="277">
                  <c:v>2021-07-30</c:v>
                </c:pt>
                <c:pt idx="278">
                  <c:v>2021-08-06</c:v>
                </c:pt>
                <c:pt idx="279">
                  <c:v>2021-08-13</c:v>
                </c:pt>
                <c:pt idx="280">
                  <c:v>2021-08-20</c:v>
                </c:pt>
                <c:pt idx="281">
                  <c:v>2021-08-27</c:v>
                </c:pt>
                <c:pt idx="282">
                  <c:v>2021-09-03</c:v>
                </c:pt>
                <c:pt idx="283">
                  <c:v>2021-09-10</c:v>
                </c:pt>
                <c:pt idx="284">
                  <c:v>2021-09-17</c:v>
                </c:pt>
                <c:pt idx="285">
                  <c:v>2021-09-24</c:v>
                </c:pt>
                <c:pt idx="286">
                  <c:v>2021-09-30</c:v>
                </c:pt>
                <c:pt idx="287">
                  <c:v>2021-10-08</c:v>
                </c:pt>
                <c:pt idx="288">
                  <c:v>2021-10-15</c:v>
                </c:pt>
                <c:pt idx="289">
                  <c:v>2021-10-22</c:v>
                </c:pt>
                <c:pt idx="290">
                  <c:v>2021-10-29</c:v>
                </c:pt>
                <c:pt idx="291">
                  <c:v>2021-11-05</c:v>
                </c:pt>
                <c:pt idx="292">
                  <c:v>2021-11-12</c:v>
                </c:pt>
                <c:pt idx="293">
                  <c:v>2021-11-19</c:v>
                </c:pt>
                <c:pt idx="294">
                  <c:v>2021-11-26</c:v>
                </c:pt>
                <c:pt idx="295">
                  <c:v>2021-12-03</c:v>
                </c:pt>
                <c:pt idx="296">
                  <c:v>2021-12-10</c:v>
                </c:pt>
                <c:pt idx="297">
                  <c:v>2021-12-17</c:v>
                </c:pt>
                <c:pt idx="298">
                  <c:v>2021-12-24</c:v>
                </c:pt>
                <c:pt idx="299">
                  <c:v>2021-12-31</c:v>
                </c:pt>
                <c:pt idx="300">
                  <c:v>2022-01-07</c:v>
                </c:pt>
                <c:pt idx="301">
                  <c:v>2022-01-14</c:v>
                </c:pt>
                <c:pt idx="302">
                  <c:v>2022-01-21</c:v>
                </c:pt>
                <c:pt idx="303">
                  <c:v>2022-01-28</c:v>
                </c:pt>
                <c:pt idx="304">
                  <c:v>2022-02-11</c:v>
                </c:pt>
                <c:pt idx="305">
                  <c:v>2022-02-18</c:v>
                </c:pt>
                <c:pt idx="306">
                  <c:v>2022-02-25</c:v>
                </c:pt>
                <c:pt idx="307">
                  <c:v>2022-03-04</c:v>
                </c:pt>
                <c:pt idx="308">
                  <c:v>2022-03-11</c:v>
                </c:pt>
                <c:pt idx="309">
                  <c:v>2022-03-18</c:v>
                </c:pt>
                <c:pt idx="310">
                  <c:v>2022-03-25</c:v>
                </c:pt>
                <c:pt idx="311">
                  <c:v>2022-04-01</c:v>
                </c:pt>
                <c:pt idx="312">
                  <c:v>2022-04-08</c:v>
                </c:pt>
                <c:pt idx="313">
                  <c:v>2022-04-15</c:v>
                </c:pt>
                <c:pt idx="314">
                  <c:v>2022-04-22</c:v>
                </c:pt>
                <c:pt idx="315">
                  <c:v>2022-04-29</c:v>
                </c:pt>
                <c:pt idx="316">
                  <c:v>2022-05-06</c:v>
                </c:pt>
                <c:pt idx="317">
                  <c:v>2022-05-13</c:v>
                </c:pt>
                <c:pt idx="318">
                  <c:v>2022-05-20</c:v>
                </c:pt>
                <c:pt idx="319">
                  <c:v>2022-05-27</c:v>
                </c:pt>
                <c:pt idx="320">
                  <c:v>2022-06-02</c:v>
                </c:pt>
                <c:pt idx="321">
                  <c:v>2022-06-10</c:v>
                </c:pt>
                <c:pt idx="322">
                  <c:v>2022-06-17</c:v>
                </c:pt>
                <c:pt idx="323">
                  <c:v>2022-06-24</c:v>
                </c:pt>
                <c:pt idx="324">
                  <c:v>2022-07-01</c:v>
                </c:pt>
                <c:pt idx="325">
                  <c:v>2022-07-08</c:v>
                </c:pt>
                <c:pt idx="326">
                  <c:v>2022-07-15</c:v>
                </c:pt>
                <c:pt idx="327">
                  <c:v>2022-07-22</c:v>
                </c:pt>
                <c:pt idx="328">
                  <c:v>2022-07-29</c:v>
                </c:pt>
                <c:pt idx="329">
                  <c:v>2022-08-05</c:v>
                </c:pt>
                <c:pt idx="330">
                  <c:v>2022-08-12</c:v>
                </c:pt>
                <c:pt idx="331">
                  <c:v>2022-08-19</c:v>
                </c:pt>
                <c:pt idx="332">
                  <c:v>2022-08-26</c:v>
                </c:pt>
                <c:pt idx="333">
                  <c:v>2022-09-02</c:v>
                </c:pt>
                <c:pt idx="334">
                  <c:v>2022-09-09</c:v>
                </c:pt>
                <c:pt idx="335">
                  <c:v>2022-09-16</c:v>
                </c:pt>
                <c:pt idx="336">
                  <c:v>2022-09-23</c:v>
                </c:pt>
                <c:pt idx="337">
                  <c:v>2022-09-30</c:v>
                </c:pt>
                <c:pt idx="338">
                  <c:v>2022-10-14</c:v>
                </c:pt>
                <c:pt idx="339">
                  <c:v>2022-10-21</c:v>
                </c:pt>
                <c:pt idx="340">
                  <c:v>2022-10-28</c:v>
                </c:pt>
                <c:pt idx="341">
                  <c:v>2022-11-04</c:v>
                </c:pt>
                <c:pt idx="342">
                  <c:v>2022-11-11</c:v>
                </c:pt>
                <c:pt idx="343">
                  <c:v>2022-11-18</c:v>
                </c:pt>
                <c:pt idx="344">
                  <c:v>2022-11-25</c:v>
                </c:pt>
                <c:pt idx="345">
                  <c:v>2022-12-02</c:v>
                </c:pt>
                <c:pt idx="346">
                  <c:v>2022-12-09</c:v>
                </c:pt>
                <c:pt idx="347">
                  <c:v>2022-12-16</c:v>
                </c:pt>
                <c:pt idx="348">
                  <c:v>2022-12-23</c:v>
                </c:pt>
                <c:pt idx="349">
                  <c:v>2022-12-30</c:v>
                </c:pt>
                <c:pt idx="350">
                  <c:v>2023-01-06</c:v>
                </c:pt>
                <c:pt idx="351">
                  <c:v>2023-01-13</c:v>
                </c:pt>
                <c:pt idx="352">
                  <c:v>2023-01-20</c:v>
                </c:pt>
                <c:pt idx="353">
                  <c:v>2023-02-03</c:v>
                </c:pt>
                <c:pt idx="354">
                  <c:v>2023-02-10</c:v>
                </c:pt>
                <c:pt idx="355">
                  <c:v>2023-02-17</c:v>
                </c:pt>
                <c:pt idx="356">
                  <c:v>2023-02-24</c:v>
                </c:pt>
                <c:pt idx="357">
                  <c:v>2023-03-03</c:v>
                </c:pt>
                <c:pt idx="358">
                  <c:v>2023-03-10</c:v>
                </c:pt>
                <c:pt idx="359">
                  <c:v>2023-03-17</c:v>
                </c:pt>
                <c:pt idx="360">
                  <c:v>2023-03-24</c:v>
                </c:pt>
                <c:pt idx="361">
                  <c:v>2023-03-31</c:v>
                </c:pt>
                <c:pt idx="362">
                  <c:v>2023-04-07</c:v>
                </c:pt>
                <c:pt idx="363">
                  <c:v>2023-04-14</c:v>
                </c:pt>
                <c:pt idx="364">
                  <c:v>2023-04-21</c:v>
                </c:pt>
                <c:pt idx="365">
                  <c:v>2023-04-28</c:v>
                </c:pt>
                <c:pt idx="366">
                  <c:v>2023-05-05</c:v>
                </c:pt>
                <c:pt idx="367">
                  <c:v>2023-05-12</c:v>
                </c:pt>
                <c:pt idx="368">
                  <c:v>2023-05-19</c:v>
                </c:pt>
                <c:pt idx="369">
                  <c:v>2023-05-26</c:v>
                </c:pt>
                <c:pt idx="370">
                  <c:v>2023-06-02</c:v>
                </c:pt>
                <c:pt idx="371">
                  <c:v>2023-06-09</c:v>
                </c:pt>
                <c:pt idx="372">
                  <c:v>2023-06-16</c:v>
                </c:pt>
                <c:pt idx="373">
                  <c:v>2023-06-21</c:v>
                </c:pt>
                <c:pt idx="374">
                  <c:v>2023-06-30</c:v>
                </c:pt>
                <c:pt idx="375">
                  <c:v>2023-07-07</c:v>
                </c:pt>
                <c:pt idx="376">
                  <c:v>2023-07-14</c:v>
                </c:pt>
                <c:pt idx="377">
                  <c:v>2023-07-21</c:v>
                </c:pt>
                <c:pt idx="378">
                  <c:v>2023-07-28</c:v>
                </c:pt>
                <c:pt idx="379">
                  <c:v>2023-08-04</c:v>
                </c:pt>
                <c:pt idx="380">
                  <c:v>2023-08-11</c:v>
                </c:pt>
                <c:pt idx="381">
                  <c:v>2023-08-18</c:v>
                </c:pt>
                <c:pt idx="382">
                  <c:v>2023-08-25</c:v>
                </c:pt>
                <c:pt idx="383">
                  <c:v>2023-09-01</c:v>
                </c:pt>
                <c:pt idx="384">
                  <c:v>2023-09-08</c:v>
                </c:pt>
                <c:pt idx="385">
                  <c:v>2023-09-15</c:v>
                </c:pt>
                <c:pt idx="386">
                  <c:v>2023-09-22</c:v>
                </c:pt>
                <c:pt idx="387">
                  <c:v>2023-09-28</c:v>
                </c:pt>
                <c:pt idx="388">
                  <c:v>2023-10-13</c:v>
                </c:pt>
                <c:pt idx="389">
                  <c:v>2023-10-20</c:v>
                </c:pt>
                <c:pt idx="390">
                  <c:v>2023-10-27</c:v>
                </c:pt>
                <c:pt idx="391">
                  <c:v>2023-11-03</c:v>
                </c:pt>
                <c:pt idx="392">
                  <c:v>2023-11-10</c:v>
                </c:pt>
                <c:pt idx="393">
                  <c:v>2023-11-17</c:v>
                </c:pt>
                <c:pt idx="394">
                  <c:v>2023-11-24</c:v>
                </c:pt>
                <c:pt idx="395">
                  <c:v>2023-12-01</c:v>
                </c:pt>
                <c:pt idx="396">
                  <c:v>2023-12-08</c:v>
                </c:pt>
                <c:pt idx="397">
                  <c:v>2023-12-15</c:v>
                </c:pt>
                <c:pt idx="398">
                  <c:v>2023-12-22</c:v>
                </c:pt>
                <c:pt idx="399">
                  <c:v>2023-12-29</c:v>
                </c:pt>
                <c:pt idx="400">
                  <c:v>2024-01-05</c:v>
                </c:pt>
                <c:pt idx="401">
                  <c:v>2024-01-12</c:v>
                </c:pt>
                <c:pt idx="402">
                  <c:v>2024-01-19</c:v>
                </c:pt>
                <c:pt idx="403">
                  <c:v>2024-01-26</c:v>
                </c:pt>
                <c:pt idx="404">
                  <c:v>2024-02-02</c:v>
                </c:pt>
                <c:pt idx="405">
                  <c:v>2024-02-08</c:v>
                </c:pt>
                <c:pt idx="406">
                  <c:v>2024-02-23</c:v>
                </c:pt>
                <c:pt idx="407">
                  <c:v>2024-03-01</c:v>
                </c:pt>
                <c:pt idx="408">
                  <c:v>2024-03-08</c:v>
                </c:pt>
                <c:pt idx="409">
                  <c:v>2024-03-15</c:v>
                </c:pt>
                <c:pt idx="410">
                  <c:v>2024-03-22</c:v>
                </c:pt>
                <c:pt idx="411">
                  <c:v>2024-03-29</c:v>
                </c:pt>
                <c:pt idx="412">
                  <c:v>2024-04-03</c:v>
                </c:pt>
                <c:pt idx="413">
                  <c:v>2024-04-12</c:v>
                </c:pt>
                <c:pt idx="414">
                  <c:v>2024-04-19</c:v>
                </c:pt>
                <c:pt idx="415">
                  <c:v>2024-04-26</c:v>
                </c:pt>
                <c:pt idx="416">
                  <c:v>2024-04-30</c:v>
                </c:pt>
                <c:pt idx="417">
                  <c:v>2024-05-10</c:v>
                </c:pt>
                <c:pt idx="418">
                  <c:v>2024-05-17</c:v>
                </c:pt>
                <c:pt idx="419">
                  <c:v>2024-05-24</c:v>
                </c:pt>
                <c:pt idx="420">
                  <c:v>2024-05-31</c:v>
                </c:pt>
                <c:pt idx="421">
                  <c:v>2024-06-07</c:v>
                </c:pt>
                <c:pt idx="422">
                  <c:v>2024-06-14</c:v>
                </c:pt>
                <c:pt idx="423">
                  <c:v>2024-06-21</c:v>
                </c:pt>
                <c:pt idx="424">
                  <c:v>2024-06-28</c:v>
                </c:pt>
                <c:pt idx="425">
                  <c:v>2024-07-05</c:v>
                </c:pt>
                <c:pt idx="426">
                  <c:v>2024-07-12</c:v>
                </c:pt>
                <c:pt idx="427">
                  <c:v>2024-07-19</c:v>
                </c:pt>
                <c:pt idx="428">
                  <c:v>2024-07-26</c:v>
                </c:pt>
                <c:pt idx="429">
                  <c:v>2024-08-02</c:v>
                </c:pt>
                <c:pt idx="430">
                  <c:v>2024-08-09</c:v>
                </c:pt>
                <c:pt idx="431">
                  <c:v>2024-08-16</c:v>
                </c:pt>
                <c:pt idx="432">
                  <c:v>2024-08-23</c:v>
                </c:pt>
                <c:pt idx="433">
                  <c:v>2024-08-30</c:v>
                </c:pt>
                <c:pt idx="434">
                  <c:v>2024-09-06</c:v>
                </c:pt>
                <c:pt idx="435">
                  <c:v>2024-09-13</c:v>
                </c:pt>
                <c:pt idx="436">
                  <c:v>2024-09-20</c:v>
                </c:pt>
                <c:pt idx="437">
                  <c:v>2024-09-27</c:v>
                </c:pt>
                <c:pt idx="438">
                  <c:v>2024-09-30</c:v>
                </c:pt>
                <c:pt idx="439">
                  <c:v>2024-10-11</c:v>
                </c:pt>
                <c:pt idx="440">
                  <c:v>2024-10-18</c:v>
                </c:pt>
                <c:pt idx="441">
                  <c:v>2024-10-25</c:v>
                </c:pt>
                <c:pt idx="442">
                  <c:v>2024-11-01</c:v>
                </c:pt>
                <c:pt idx="443">
                  <c:v>2024-11-08</c:v>
                </c:pt>
                <c:pt idx="444">
                  <c:v>2024-11-15</c:v>
                </c:pt>
                <c:pt idx="445">
                  <c:v>2024-11-22</c:v>
                </c:pt>
                <c:pt idx="446">
                  <c:v>2024-11-29</c:v>
                </c:pt>
                <c:pt idx="447">
                  <c:v>2024-12-06</c:v>
                </c:pt>
                <c:pt idx="448">
                  <c:v>2024-12-13</c:v>
                </c:pt>
                <c:pt idx="449">
                  <c:v>2024-12-20</c:v>
                </c:pt>
                <c:pt idx="450">
                  <c:v>2024-12-27</c:v>
                </c:pt>
                <c:pt idx="451">
                  <c:v>2025-01-03</c:v>
                </c:pt>
                <c:pt idx="452">
                  <c:v>2025-01-10</c:v>
                </c:pt>
                <c:pt idx="453">
                  <c:v>2025-01-17</c:v>
                </c:pt>
                <c:pt idx="454">
                  <c:v>2025-01-24</c:v>
                </c:pt>
                <c:pt idx="455">
                  <c:v>2025-01-27</c:v>
                </c:pt>
                <c:pt idx="456">
                  <c:v>2025-02-07</c:v>
                </c:pt>
                <c:pt idx="457">
                  <c:v>2025-02-14</c:v>
                </c:pt>
                <c:pt idx="458">
                  <c:v>2025-02-21</c:v>
                </c:pt>
                <c:pt idx="459">
                  <c:v>2025-02-28</c:v>
                </c:pt>
                <c:pt idx="460">
                  <c:v>2025-03-07</c:v>
                </c:pt>
                <c:pt idx="461">
                  <c:v>2025-03-14</c:v>
                </c:pt>
                <c:pt idx="462">
                  <c:v>2025-03-21</c:v>
                </c:pt>
                <c:pt idx="463">
                  <c:v>2025-03-28</c:v>
                </c:pt>
                <c:pt idx="464">
                  <c:v>2025-04-03</c:v>
                </c:pt>
                <c:pt idx="465">
                  <c:v>2025-04-11</c:v>
                </c:pt>
                <c:pt idx="466">
                  <c:v>2025-04-18</c:v>
                </c:pt>
                <c:pt idx="467">
                  <c:v>2025-04-25</c:v>
                </c:pt>
                <c:pt idx="468">
                  <c:v>2025-04-30</c:v>
                </c:pt>
                <c:pt idx="469">
                  <c:v>2025-05-09</c:v>
                </c:pt>
                <c:pt idx="470">
                  <c:v>2025-05-16</c:v>
                </c:pt>
                <c:pt idx="471">
                  <c:v>2025-05-23</c:v>
                </c:pt>
                <c:pt idx="472">
                  <c:v>2025-05-30</c:v>
                </c:pt>
                <c:pt idx="473">
                  <c:v>2025-06-06</c:v>
                </c:pt>
                <c:pt idx="474">
                  <c:v>2025-06-13</c:v>
                </c:pt>
                <c:pt idx="475">
                  <c:v>2025-06-20</c:v>
                </c:pt>
                <c:pt idx="476">
                  <c:v>2025-06-27</c:v>
                </c:pt>
                <c:pt idx="477">
                  <c:v>2025-07-04</c:v>
                </c:pt>
                <c:pt idx="478">
                  <c:v>2025-07-11</c:v>
                </c:pt>
                <c:pt idx="479">
                  <c:v>2025-07-18</c:v>
                </c:pt>
                <c:pt idx="480">
                  <c:v>2025-07-25</c:v>
                </c:pt>
                <c:pt idx="481">
                  <c:v>2025-08-01</c:v>
                </c:pt>
                <c:pt idx="482">
                  <c:v>2025-08-08</c:v>
                </c:pt>
                <c:pt idx="483">
                  <c:v>2025-08-15</c:v>
                </c:pt>
                <c:pt idx="484">
                  <c:v>2025-08-22</c:v>
                </c:pt>
                <c:pt idx="485">
                  <c:v>2025-08-29</c:v>
                </c:pt>
                <c:pt idx="486">
                  <c:v>2025-09-05</c:v>
                </c:pt>
                <c:pt idx="487">
                  <c:v>2025-09-12</c:v>
                </c:pt>
                <c:pt idx="488">
                  <c:v>2025-09-19</c:v>
                </c:pt>
                <c:pt idx="489">
                  <c:v>2025-09-26</c:v>
                </c:pt>
                <c:pt idx="490">
                  <c:v>2025-09-30</c:v>
                </c:pt>
                <c:pt idx="491">
                  <c:v>2025-10-10</c:v>
                </c:pt>
                <c:pt idx="492">
                  <c:v>2025-10-17</c:v>
                </c:pt>
                <c:pt idx="493">
                  <c:v>2025-10-24</c:v>
                </c:pt>
                <c:pt idx="494">
                  <c:v>2025-10-31</c:v>
                </c:pt>
                <c:pt idx="495">
                  <c:v>2025-11-07</c:v>
                </c:pt>
                <c:pt idx="496">
                  <c:v>2025-11-14</c:v>
                </c:pt>
                <c:pt idx="497">
                  <c:v>2025-11-21</c:v>
                </c:pt>
                <c:pt idx="498">
                  <c:v>2025-11-28</c:v>
                </c:pt>
                <c:pt idx="499">
                  <c:v>2025-12-05</c:v>
                </c:pt>
                <c:pt idx="500">
                  <c:v>2025-12-12</c:v>
                </c:pt>
                <c:pt idx="501">
                  <c:v>2025-12-19</c:v>
                </c:pt>
                <c:pt idx="502">
                  <c:v>2025-12-26</c:v>
                </c:pt>
                <c:pt idx="503">
                  <c:v>2025-12-31</c:v>
                </c:pt>
                <c:pt idx="504">
                  <c:v>2026-01-09</c:v>
                </c:pt>
                <c:pt idx="505">
                  <c:v>2026-01-16</c:v>
                </c:pt>
                <c:pt idx="506">
                  <c:v>2026-01-23</c:v>
                </c:pt>
                <c:pt idx="507">
                  <c:v>2026-01-30</c:v>
                </c:pt>
                <c:pt idx="508">
                  <c:v>2026-02-06</c:v>
                </c:pt>
                <c:pt idx="509">
                  <c:v>2026-02-13</c:v>
                </c:pt>
                <c:pt idx="510">
                  <c:v>2026-02-27</c:v>
                </c:pt>
                <c:pt idx="511">
                  <c:v>2026-03-06</c:v>
                </c:pt>
                <c:pt idx="512">
                  <c:v>2026-03-13</c:v>
                </c:pt>
                <c:pt idx="513">
                  <c:v>2026-03-20</c:v>
                </c:pt>
                <c:pt idx="514">
                  <c:v>2026-03-27</c:v>
                </c:pt>
                <c:pt idx="515">
                  <c:v>2026-04-03</c:v>
                </c:pt>
                <c:pt idx="516">
                  <c:v>2026-04-10</c:v>
                </c:pt>
                <c:pt idx="517">
                  <c:v>2026-04-17</c:v>
                </c:pt>
                <c:pt idx="518">
                  <c:v>2026-04-24</c:v>
                </c:pt>
                <c:pt idx="519">
                  <c:v>2026-04-30</c:v>
                </c:pt>
                <c:pt idx="520">
                  <c:v>2026-05-08</c:v>
                </c:pt>
                <c:pt idx="521">
                  <c:v>2026-05-15</c:v>
                </c:pt>
                <c:pt idx="522">
                  <c:v>2026-05-22</c:v>
                </c:pt>
                <c:pt idx="523">
                  <c:v>2026-05-29</c:v>
                </c:pt>
              </c:strCache>
            </c:strRef>
          </c:cat>
          <c:val>
            <c:numRef>
              <c:f>Sheet4!$D$2:$D$525</c:f>
              <c:numCache>
                <c:formatCode>0.00</c:formatCode>
                <c:ptCount val="524"/>
                <c:pt idx="0">
                  <c:v>1.93</c:v>
                </c:pt>
                <c:pt idx="1">
                  <c:v>1.93</c:v>
                </c:pt>
                <c:pt idx="2">
                  <c:v>1.93</c:v>
                </c:pt>
                <c:pt idx="3">
                  <c:v>1.93</c:v>
                </c:pt>
                <c:pt idx="4">
                  <c:v>1.93</c:v>
                </c:pt>
                <c:pt idx="5">
                  <c:v>1.93</c:v>
                </c:pt>
                <c:pt idx="6">
                  <c:v>1.93</c:v>
                </c:pt>
                <c:pt idx="7">
                  <c:v>1.93</c:v>
                </c:pt>
                <c:pt idx="8">
                  <c:v>1.93</c:v>
                </c:pt>
                <c:pt idx="9">
                  <c:v>1.93</c:v>
                </c:pt>
                <c:pt idx="10">
                  <c:v>1.93</c:v>
                </c:pt>
                <c:pt idx="11">
                  <c:v>1.93</c:v>
                </c:pt>
                <c:pt idx="12">
                  <c:v>1.93</c:v>
                </c:pt>
                <c:pt idx="13">
                  <c:v>1.93</c:v>
                </c:pt>
                <c:pt idx="14">
                  <c:v>1.93</c:v>
                </c:pt>
                <c:pt idx="15">
                  <c:v>1.93</c:v>
                </c:pt>
                <c:pt idx="16">
                  <c:v>1.93</c:v>
                </c:pt>
                <c:pt idx="17">
                  <c:v>1.93</c:v>
                </c:pt>
                <c:pt idx="18">
                  <c:v>1.93</c:v>
                </c:pt>
                <c:pt idx="19">
                  <c:v>1.93</c:v>
                </c:pt>
                <c:pt idx="20">
                  <c:v>1.93</c:v>
                </c:pt>
                <c:pt idx="21">
                  <c:v>1.93</c:v>
                </c:pt>
                <c:pt idx="22">
                  <c:v>1.93</c:v>
                </c:pt>
                <c:pt idx="23">
                  <c:v>1.93</c:v>
                </c:pt>
                <c:pt idx="24">
                  <c:v>1.93</c:v>
                </c:pt>
                <c:pt idx="25">
                  <c:v>1.93</c:v>
                </c:pt>
                <c:pt idx="26">
                  <c:v>1.93</c:v>
                </c:pt>
                <c:pt idx="27">
                  <c:v>1.93</c:v>
                </c:pt>
                <c:pt idx="28">
                  <c:v>1.93</c:v>
                </c:pt>
                <c:pt idx="29">
                  <c:v>1.93</c:v>
                </c:pt>
                <c:pt idx="30">
                  <c:v>1.93</c:v>
                </c:pt>
                <c:pt idx="31">
                  <c:v>1.93</c:v>
                </c:pt>
                <c:pt idx="32">
                  <c:v>1.93</c:v>
                </c:pt>
                <c:pt idx="33">
                  <c:v>1.93</c:v>
                </c:pt>
                <c:pt idx="34">
                  <c:v>1.93</c:v>
                </c:pt>
                <c:pt idx="35">
                  <c:v>1.93</c:v>
                </c:pt>
                <c:pt idx="36">
                  <c:v>1.93</c:v>
                </c:pt>
                <c:pt idx="37">
                  <c:v>1.93</c:v>
                </c:pt>
                <c:pt idx="38">
                  <c:v>1.93</c:v>
                </c:pt>
                <c:pt idx="39">
                  <c:v>1.93</c:v>
                </c:pt>
                <c:pt idx="40">
                  <c:v>1.93</c:v>
                </c:pt>
                <c:pt idx="41">
                  <c:v>1.93</c:v>
                </c:pt>
                <c:pt idx="42">
                  <c:v>1.93</c:v>
                </c:pt>
                <c:pt idx="43">
                  <c:v>1.93</c:v>
                </c:pt>
                <c:pt idx="44">
                  <c:v>1.93</c:v>
                </c:pt>
                <c:pt idx="45">
                  <c:v>1.93</c:v>
                </c:pt>
                <c:pt idx="46">
                  <c:v>1.93</c:v>
                </c:pt>
                <c:pt idx="47">
                  <c:v>1.93</c:v>
                </c:pt>
                <c:pt idx="48">
                  <c:v>1.93</c:v>
                </c:pt>
                <c:pt idx="49">
                  <c:v>1.93</c:v>
                </c:pt>
                <c:pt idx="50">
                  <c:v>1.93</c:v>
                </c:pt>
                <c:pt idx="51">
                  <c:v>1.93</c:v>
                </c:pt>
                <c:pt idx="52">
                  <c:v>1.93</c:v>
                </c:pt>
                <c:pt idx="53">
                  <c:v>1.93</c:v>
                </c:pt>
                <c:pt idx="54">
                  <c:v>1.93</c:v>
                </c:pt>
                <c:pt idx="55">
                  <c:v>1.93</c:v>
                </c:pt>
                <c:pt idx="56">
                  <c:v>1.93</c:v>
                </c:pt>
                <c:pt idx="57">
                  <c:v>1.93</c:v>
                </c:pt>
                <c:pt idx="58">
                  <c:v>1.93</c:v>
                </c:pt>
                <c:pt idx="59">
                  <c:v>1.93</c:v>
                </c:pt>
                <c:pt idx="60">
                  <c:v>1.93</c:v>
                </c:pt>
                <c:pt idx="61">
                  <c:v>1.93</c:v>
                </c:pt>
                <c:pt idx="62">
                  <c:v>1.93</c:v>
                </c:pt>
                <c:pt idx="63">
                  <c:v>1.93</c:v>
                </c:pt>
                <c:pt idx="64">
                  <c:v>1.93</c:v>
                </c:pt>
                <c:pt idx="65">
                  <c:v>1.93</c:v>
                </c:pt>
                <c:pt idx="66">
                  <c:v>1.93</c:v>
                </c:pt>
                <c:pt idx="67">
                  <c:v>1.93</c:v>
                </c:pt>
                <c:pt idx="68">
                  <c:v>1.93</c:v>
                </c:pt>
                <c:pt idx="69">
                  <c:v>1.93</c:v>
                </c:pt>
                <c:pt idx="70">
                  <c:v>1.93</c:v>
                </c:pt>
                <c:pt idx="71">
                  <c:v>1.93</c:v>
                </c:pt>
                <c:pt idx="72">
                  <c:v>1.93</c:v>
                </c:pt>
                <c:pt idx="73">
                  <c:v>1.93</c:v>
                </c:pt>
                <c:pt idx="74">
                  <c:v>1.93</c:v>
                </c:pt>
                <c:pt idx="75">
                  <c:v>1.93</c:v>
                </c:pt>
                <c:pt idx="76">
                  <c:v>1.93</c:v>
                </c:pt>
                <c:pt idx="77">
                  <c:v>1.93</c:v>
                </c:pt>
                <c:pt idx="78">
                  <c:v>1.93</c:v>
                </c:pt>
                <c:pt idx="79">
                  <c:v>1.93</c:v>
                </c:pt>
                <c:pt idx="80">
                  <c:v>1.93</c:v>
                </c:pt>
                <c:pt idx="81">
                  <c:v>1.93</c:v>
                </c:pt>
                <c:pt idx="82">
                  <c:v>1.93</c:v>
                </c:pt>
                <c:pt idx="83">
                  <c:v>1.93</c:v>
                </c:pt>
                <c:pt idx="84">
                  <c:v>1.93</c:v>
                </c:pt>
                <c:pt idx="85">
                  <c:v>1.93</c:v>
                </c:pt>
                <c:pt idx="86">
                  <c:v>1.93</c:v>
                </c:pt>
                <c:pt idx="87">
                  <c:v>1.93</c:v>
                </c:pt>
                <c:pt idx="88">
                  <c:v>1.93</c:v>
                </c:pt>
                <c:pt idx="89">
                  <c:v>1.93</c:v>
                </c:pt>
                <c:pt idx="90">
                  <c:v>1.93</c:v>
                </c:pt>
                <c:pt idx="91">
                  <c:v>1.93</c:v>
                </c:pt>
                <c:pt idx="92">
                  <c:v>1.93</c:v>
                </c:pt>
                <c:pt idx="93">
                  <c:v>1.93</c:v>
                </c:pt>
                <c:pt idx="94">
                  <c:v>1.93</c:v>
                </c:pt>
                <c:pt idx="95">
                  <c:v>1.93</c:v>
                </c:pt>
                <c:pt idx="96">
                  <c:v>1.93</c:v>
                </c:pt>
                <c:pt idx="97">
                  <c:v>1.93</c:v>
                </c:pt>
                <c:pt idx="98">
                  <c:v>1.93</c:v>
                </c:pt>
                <c:pt idx="99">
                  <c:v>1.93</c:v>
                </c:pt>
                <c:pt idx="100">
                  <c:v>1.93</c:v>
                </c:pt>
                <c:pt idx="101">
                  <c:v>1.93</c:v>
                </c:pt>
                <c:pt idx="102">
                  <c:v>1.93</c:v>
                </c:pt>
                <c:pt idx="103">
                  <c:v>1.93</c:v>
                </c:pt>
                <c:pt idx="104">
                  <c:v>1.93</c:v>
                </c:pt>
                <c:pt idx="105">
                  <c:v>1.93</c:v>
                </c:pt>
                <c:pt idx="106">
                  <c:v>1.93</c:v>
                </c:pt>
                <c:pt idx="107">
                  <c:v>1.93</c:v>
                </c:pt>
                <c:pt idx="108">
                  <c:v>1.93</c:v>
                </c:pt>
                <c:pt idx="109">
                  <c:v>1.93</c:v>
                </c:pt>
                <c:pt idx="110">
                  <c:v>1.93</c:v>
                </c:pt>
                <c:pt idx="111">
                  <c:v>1.93</c:v>
                </c:pt>
                <c:pt idx="112">
                  <c:v>1.93</c:v>
                </c:pt>
                <c:pt idx="113">
                  <c:v>1.93</c:v>
                </c:pt>
                <c:pt idx="114">
                  <c:v>1.93</c:v>
                </c:pt>
                <c:pt idx="115">
                  <c:v>1.93</c:v>
                </c:pt>
                <c:pt idx="116">
                  <c:v>1.93</c:v>
                </c:pt>
                <c:pt idx="117">
                  <c:v>1.93</c:v>
                </c:pt>
                <c:pt idx="118">
                  <c:v>1.93</c:v>
                </c:pt>
                <c:pt idx="119">
                  <c:v>1.93</c:v>
                </c:pt>
                <c:pt idx="120">
                  <c:v>1.93</c:v>
                </c:pt>
                <c:pt idx="121">
                  <c:v>1.93</c:v>
                </c:pt>
                <c:pt idx="122">
                  <c:v>1.93</c:v>
                </c:pt>
                <c:pt idx="123">
                  <c:v>1.93</c:v>
                </c:pt>
                <c:pt idx="124">
                  <c:v>1.93</c:v>
                </c:pt>
                <c:pt idx="125">
                  <c:v>1.93</c:v>
                </c:pt>
                <c:pt idx="126">
                  <c:v>1.93</c:v>
                </c:pt>
                <c:pt idx="127">
                  <c:v>1.93</c:v>
                </c:pt>
                <c:pt idx="128">
                  <c:v>1.93</c:v>
                </c:pt>
                <c:pt idx="129">
                  <c:v>1.93</c:v>
                </c:pt>
                <c:pt idx="130">
                  <c:v>1.93</c:v>
                </c:pt>
                <c:pt idx="131">
                  <c:v>1.93</c:v>
                </c:pt>
                <c:pt idx="132">
                  <c:v>1.93</c:v>
                </c:pt>
                <c:pt idx="133">
                  <c:v>1.93</c:v>
                </c:pt>
                <c:pt idx="134">
                  <c:v>1.93</c:v>
                </c:pt>
                <c:pt idx="135">
                  <c:v>1.93</c:v>
                </c:pt>
                <c:pt idx="136">
                  <c:v>1.93</c:v>
                </c:pt>
                <c:pt idx="137">
                  <c:v>1.93</c:v>
                </c:pt>
                <c:pt idx="138">
                  <c:v>1.93</c:v>
                </c:pt>
                <c:pt idx="139">
                  <c:v>1.93</c:v>
                </c:pt>
                <c:pt idx="140">
                  <c:v>1.93</c:v>
                </c:pt>
                <c:pt idx="141">
                  <c:v>1.93</c:v>
                </c:pt>
                <c:pt idx="142">
                  <c:v>1.93</c:v>
                </c:pt>
                <c:pt idx="143">
                  <c:v>1.93</c:v>
                </c:pt>
                <c:pt idx="144">
                  <c:v>1.93</c:v>
                </c:pt>
                <c:pt idx="145">
                  <c:v>1.93</c:v>
                </c:pt>
                <c:pt idx="146">
                  <c:v>1.93</c:v>
                </c:pt>
                <c:pt idx="147">
                  <c:v>1.93</c:v>
                </c:pt>
                <c:pt idx="148">
                  <c:v>1.93</c:v>
                </c:pt>
                <c:pt idx="149">
                  <c:v>1.93</c:v>
                </c:pt>
                <c:pt idx="150">
                  <c:v>1.93</c:v>
                </c:pt>
                <c:pt idx="151">
                  <c:v>1.93</c:v>
                </c:pt>
                <c:pt idx="152">
                  <c:v>1.93</c:v>
                </c:pt>
                <c:pt idx="153">
                  <c:v>1.93</c:v>
                </c:pt>
                <c:pt idx="154">
                  <c:v>1.93</c:v>
                </c:pt>
                <c:pt idx="155">
                  <c:v>1.93</c:v>
                </c:pt>
                <c:pt idx="156">
                  <c:v>1.93</c:v>
                </c:pt>
                <c:pt idx="157">
                  <c:v>1.93</c:v>
                </c:pt>
                <c:pt idx="158">
                  <c:v>1.93</c:v>
                </c:pt>
                <c:pt idx="159">
                  <c:v>1.93</c:v>
                </c:pt>
                <c:pt idx="160">
                  <c:v>1.93</c:v>
                </c:pt>
                <c:pt idx="161">
                  <c:v>1.93</c:v>
                </c:pt>
                <c:pt idx="162">
                  <c:v>1.93</c:v>
                </c:pt>
                <c:pt idx="163">
                  <c:v>1.93</c:v>
                </c:pt>
                <c:pt idx="164">
                  <c:v>1.93</c:v>
                </c:pt>
                <c:pt idx="165">
                  <c:v>1.93</c:v>
                </c:pt>
                <c:pt idx="166">
                  <c:v>1.93</c:v>
                </c:pt>
                <c:pt idx="167">
                  <c:v>1.93</c:v>
                </c:pt>
                <c:pt idx="168">
                  <c:v>1.93</c:v>
                </c:pt>
                <c:pt idx="169">
                  <c:v>1.93</c:v>
                </c:pt>
                <c:pt idx="170">
                  <c:v>1.93</c:v>
                </c:pt>
                <c:pt idx="171">
                  <c:v>1.93</c:v>
                </c:pt>
                <c:pt idx="172">
                  <c:v>1.93</c:v>
                </c:pt>
                <c:pt idx="173">
                  <c:v>1.93</c:v>
                </c:pt>
                <c:pt idx="174">
                  <c:v>1.93</c:v>
                </c:pt>
                <c:pt idx="175">
                  <c:v>1.93</c:v>
                </c:pt>
                <c:pt idx="176">
                  <c:v>1.93</c:v>
                </c:pt>
                <c:pt idx="177">
                  <c:v>1.93</c:v>
                </c:pt>
                <c:pt idx="178">
                  <c:v>1.93</c:v>
                </c:pt>
                <c:pt idx="179">
                  <c:v>1.93</c:v>
                </c:pt>
                <c:pt idx="180">
                  <c:v>1.93</c:v>
                </c:pt>
                <c:pt idx="181">
                  <c:v>1.93</c:v>
                </c:pt>
                <c:pt idx="182">
                  <c:v>1.93</c:v>
                </c:pt>
                <c:pt idx="183">
                  <c:v>1.93</c:v>
                </c:pt>
                <c:pt idx="184">
                  <c:v>1.93</c:v>
                </c:pt>
                <c:pt idx="185">
                  <c:v>1.93</c:v>
                </c:pt>
                <c:pt idx="186">
                  <c:v>1.93</c:v>
                </c:pt>
                <c:pt idx="187">
                  <c:v>1.93</c:v>
                </c:pt>
                <c:pt idx="188">
                  <c:v>1.93</c:v>
                </c:pt>
                <c:pt idx="189">
                  <c:v>1.93</c:v>
                </c:pt>
                <c:pt idx="190">
                  <c:v>1.93</c:v>
                </c:pt>
                <c:pt idx="191">
                  <c:v>1.93</c:v>
                </c:pt>
                <c:pt idx="192">
                  <c:v>1.93</c:v>
                </c:pt>
                <c:pt idx="193">
                  <c:v>1.93</c:v>
                </c:pt>
                <c:pt idx="194">
                  <c:v>1.93</c:v>
                </c:pt>
                <c:pt idx="195">
                  <c:v>1.93</c:v>
                </c:pt>
                <c:pt idx="196">
                  <c:v>1.93</c:v>
                </c:pt>
                <c:pt idx="197">
                  <c:v>1.93</c:v>
                </c:pt>
                <c:pt idx="198">
                  <c:v>1.93</c:v>
                </c:pt>
                <c:pt idx="199">
                  <c:v>1.93</c:v>
                </c:pt>
                <c:pt idx="200">
                  <c:v>1.93</c:v>
                </c:pt>
                <c:pt idx="201">
                  <c:v>1.93</c:v>
                </c:pt>
                <c:pt idx="202">
                  <c:v>1.93</c:v>
                </c:pt>
                <c:pt idx="203">
                  <c:v>1.93</c:v>
                </c:pt>
                <c:pt idx="204">
                  <c:v>1.93</c:v>
                </c:pt>
                <c:pt idx="205">
                  <c:v>1.93</c:v>
                </c:pt>
                <c:pt idx="206">
                  <c:v>1.93</c:v>
                </c:pt>
                <c:pt idx="207">
                  <c:v>1.93</c:v>
                </c:pt>
                <c:pt idx="208">
                  <c:v>1.93</c:v>
                </c:pt>
                <c:pt idx="209">
                  <c:v>1.93</c:v>
                </c:pt>
                <c:pt idx="210">
                  <c:v>1.93</c:v>
                </c:pt>
                <c:pt idx="211">
                  <c:v>1.93</c:v>
                </c:pt>
                <c:pt idx="212">
                  <c:v>1.93</c:v>
                </c:pt>
                <c:pt idx="213">
                  <c:v>1.93</c:v>
                </c:pt>
                <c:pt idx="214">
                  <c:v>1.93</c:v>
                </c:pt>
                <c:pt idx="215">
                  <c:v>1.93</c:v>
                </c:pt>
                <c:pt idx="216">
                  <c:v>1.93</c:v>
                </c:pt>
                <c:pt idx="217">
                  <c:v>1.93</c:v>
                </c:pt>
                <c:pt idx="218">
                  <c:v>1.93</c:v>
                </c:pt>
                <c:pt idx="219">
                  <c:v>1.93</c:v>
                </c:pt>
                <c:pt idx="220">
                  <c:v>1.93</c:v>
                </c:pt>
                <c:pt idx="221">
                  <c:v>1.93</c:v>
                </c:pt>
                <c:pt idx="222">
                  <c:v>1.93</c:v>
                </c:pt>
                <c:pt idx="223">
                  <c:v>1.93</c:v>
                </c:pt>
                <c:pt idx="224">
                  <c:v>1.93</c:v>
                </c:pt>
                <c:pt idx="225">
                  <c:v>1.93</c:v>
                </c:pt>
                <c:pt idx="226">
                  <c:v>1.93</c:v>
                </c:pt>
                <c:pt idx="227">
                  <c:v>1.93</c:v>
                </c:pt>
                <c:pt idx="228">
                  <c:v>1.93</c:v>
                </c:pt>
                <c:pt idx="229">
                  <c:v>1.93</c:v>
                </c:pt>
                <c:pt idx="230">
                  <c:v>1.93</c:v>
                </c:pt>
                <c:pt idx="231">
                  <c:v>1.93</c:v>
                </c:pt>
                <c:pt idx="232">
                  <c:v>1.93</c:v>
                </c:pt>
                <c:pt idx="233">
                  <c:v>1.93</c:v>
                </c:pt>
                <c:pt idx="234">
                  <c:v>1.93</c:v>
                </c:pt>
                <c:pt idx="235">
                  <c:v>1.93</c:v>
                </c:pt>
                <c:pt idx="236">
                  <c:v>1.93</c:v>
                </c:pt>
                <c:pt idx="237">
                  <c:v>1.93</c:v>
                </c:pt>
                <c:pt idx="238">
                  <c:v>1.93</c:v>
                </c:pt>
                <c:pt idx="239">
                  <c:v>1.93</c:v>
                </c:pt>
                <c:pt idx="240">
                  <c:v>1.93</c:v>
                </c:pt>
                <c:pt idx="241">
                  <c:v>1.93</c:v>
                </c:pt>
                <c:pt idx="242">
                  <c:v>1.93</c:v>
                </c:pt>
                <c:pt idx="243">
                  <c:v>1.93</c:v>
                </c:pt>
                <c:pt idx="244">
                  <c:v>1.93</c:v>
                </c:pt>
                <c:pt idx="245">
                  <c:v>1.93</c:v>
                </c:pt>
                <c:pt idx="246">
                  <c:v>1.93</c:v>
                </c:pt>
                <c:pt idx="247">
                  <c:v>1.93</c:v>
                </c:pt>
                <c:pt idx="248">
                  <c:v>1.93</c:v>
                </c:pt>
                <c:pt idx="249">
                  <c:v>1.93</c:v>
                </c:pt>
                <c:pt idx="250">
                  <c:v>1.93</c:v>
                </c:pt>
                <c:pt idx="251">
                  <c:v>1.93</c:v>
                </c:pt>
                <c:pt idx="252">
                  <c:v>1.93</c:v>
                </c:pt>
                <c:pt idx="253">
                  <c:v>1.93</c:v>
                </c:pt>
                <c:pt idx="254">
                  <c:v>1.93</c:v>
                </c:pt>
                <c:pt idx="255">
                  <c:v>1.93</c:v>
                </c:pt>
                <c:pt idx="256">
                  <c:v>1.93</c:v>
                </c:pt>
                <c:pt idx="257">
                  <c:v>1.93</c:v>
                </c:pt>
                <c:pt idx="258">
                  <c:v>1.93</c:v>
                </c:pt>
                <c:pt idx="259">
                  <c:v>1.93</c:v>
                </c:pt>
                <c:pt idx="260">
                  <c:v>1.93</c:v>
                </c:pt>
                <c:pt idx="261">
                  <c:v>1.93</c:v>
                </c:pt>
                <c:pt idx="262">
                  <c:v>1.93</c:v>
                </c:pt>
                <c:pt idx="263">
                  <c:v>1.93</c:v>
                </c:pt>
                <c:pt idx="264">
                  <c:v>1.93</c:v>
                </c:pt>
                <c:pt idx="265">
                  <c:v>1.93</c:v>
                </c:pt>
                <c:pt idx="266">
                  <c:v>1.93</c:v>
                </c:pt>
                <c:pt idx="267">
                  <c:v>1.93</c:v>
                </c:pt>
                <c:pt idx="268">
                  <c:v>1.93</c:v>
                </c:pt>
                <c:pt idx="269">
                  <c:v>1.93</c:v>
                </c:pt>
                <c:pt idx="270">
                  <c:v>1.93</c:v>
                </c:pt>
                <c:pt idx="271">
                  <c:v>1.93</c:v>
                </c:pt>
                <c:pt idx="272">
                  <c:v>1.93</c:v>
                </c:pt>
                <c:pt idx="273">
                  <c:v>1.93</c:v>
                </c:pt>
                <c:pt idx="274">
                  <c:v>1.93</c:v>
                </c:pt>
                <c:pt idx="275">
                  <c:v>1.93</c:v>
                </c:pt>
                <c:pt idx="276">
                  <c:v>1.93</c:v>
                </c:pt>
                <c:pt idx="277">
                  <c:v>1.93</c:v>
                </c:pt>
                <c:pt idx="278">
                  <c:v>1.93</c:v>
                </c:pt>
                <c:pt idx="279">
                  <c:v>1.93</c:v>
                </c:pt>
                <c:pt idx="280">
                  <c:v>1.93</c:v>
                </c:pt>
                <c:pt idx="281">
                  <c:v>1.93</c:v>
                </c:pt>
                <c:pt idx="282">
                  <c:v>1.93</c:v>
                </c:pt>
                <c:pt idx="283">
                  <c:v>1.93</c:v>
                </c:pt>
                <c:pt idx="284">
                  <c:v>1.93</c:v>
                </c:pt>
                <c:pt idx="285">
                  <c:v>1.93</c:v>
                </c:pt>
                <c:pt idx="286">
                  <c:v>1.93</c:v>
                </c:pt>
                <c:pt idx="287">
                  <c:v>1.93</c:v>
                </c:pt>
                <c:pt idx="288">
                  <c:v>1.93</c:v>
                </c:pt>
                <c:pt idx="289">
                  <c:v>1.93</c:v>
                </c:pt>
                <c:pt idx="290">
                  <c:v>1.93</c:v>
                </c:pt>
                <c:pt idx="291">
                  <c:v>1.93</c:v>
                </c:pt>
                <c:pt idx="292">
                  <c:v>1.93</c:v>
                </c:pt>
                <c:pt idx="293">
                  <c:v>1.93</c:v>
                </c:pt>
                <c:pt idx="294">
                  <c:v>1.93</c:v>
                </c:pt>
                <c:pt idx="295">
                  <c:v>1.93</c:v>
                </c:pt>
                <c:pt idx="296">
                  <c:v>1.93</c:v>
                </c:pt>
                <c:pt idx="297">
                  <c:v>1.93</c:v>
                </c:pt>
                <c:pt idx="298">
                  <c:v>1.93</c:v>
                </c:pt>
                <c:pt idx="299">
                  <c:v>1.93</c:v>
                </c:pt>
                <c:pt idx="300">
                  <c:v>1.93</c:v>
                </c:pt>
                <c:pt idx="301">
                  <c:v>1.93</c:v>
                </c:pt>
                <c:pt idx="302">
                  <c:v>1.93</c:v>
                </c:pt>
                <c:pt idx="303">
                  <c:v>1.93</c:v>
                </c:pt>
                <c:pt idx="304">
                  <c:v>1.93</c:v>
                </c:pt>
                <c:pt idx="305">
                  <c:v>1.93</c:v>
                </c:pt>
                <c:pt idx="306">
                  <c:v>1.93</c:v>
                </c:pt>
                <c:pt idx="307">
                  <c:v>1.93</c:v>
                </c:pt>
                <c:pt idx="308">
                  <c:v>1.93</c:v>
                </c:pt>
                <c:pt idx="309">
                  <c:v>1.93</c:v>
                </c:pt>
                <c:pt idx="310">
                  <c:v>1.93</c:v>
                </c:pt>
                <c:pt idx="311">
                  <c:v>1.93</c:v>
                </c:pt>
                <c:pt idx="312">
                  <c:v>1.93</c:v>
                </c:pt>
                <c:pt idx="313">
                  <c:v>1.93</c:v>
                </c:pt>
                <c:pt idx="314">
                  <c:v>1.93</c:v>
                </c:pt>
                <c:pt idx="315">
                  <c:v>1.93</c:v>
                </c:pt>
                <c:pt idx="316">
                  <c:v>1.93</c:v>
                </c:pt>
                <c:pt idx="317">
                  <c:v>1.93</c:v>
                </c:pt>
                <c:pt idx="318">
                  <c:v>1.93</c:v>
                </c:pt>
                <c:pt idx="319">
                  <c:v>1.93</c:v>
                </c:pt>
                <c:pt idx="320">
                  <c:v>1.93</c:v>
                </c:pt>
                <c:pt idx="321">
                  <c:v>1.93</c:v>
                </c:pt>
                <c:pt idx="322">
                  <c:v>1.93</c:v>
                </c:pt>
                <c:pt idx="323">
                  <c:v>1.93</c:v>
                </c:pt>
                <c:pt idx="324">
                  <c:v>1.93</c:v>
                </c:pt>
                <c:pt idx="325">
                  <c:v>1.93</c:v>
                </c:pt>
                <c:pt idx="326">
                  <c:v>1.93</c:v>
                </c:pt>
                <c:pt idx="327">
                  <c:v>1.93</c:v>
                </c:pt>
                <c:pt idx="328">
                  <c:v>1.93</c:v>
                </c:pt>
                <c:pt idx="329">
                  <c:v>1.93</c:v>
                </c:pt>
                <c:pt idx="330">
                  <c:v>1.93</c:v>
                </c:pt>
                <c:pt idx="331">
                  <c:v>1.93</c:v>
                </c:pt>
                <c:pt idx="332">
                  <c:v>1.93</c:v>
                </c:pt>
                <c:pt idx="333">
                  <c:v>1.93</c:v>
                </c:pt>
                <c:pt idx="334">
                  <c:v>1.93</c:v>
                </c:pt>
                <c:pt idx="335">
                  <c:v>1.93</c:v>
                </c:pt>
                <c:pt idx="336">
                  <c:v>1.93</c:v>
                </c:pt>
                <c:pt idx="337">
                  <c:v>1.93</c:v>
                </c:pt>
                <c:pt idx="338">
                  <c:v>1.93</c:v>
                </c:pt>
                <c:pt idx="339">
                  <c:v>1.93</c:v>
                </c:pt>
                <c:pt idx="340">
                  <c:v>1.93</c:v>
                </c:pt>
                <c:pt idx="341">
                  <c:v>1.93</c:v>
                </c:pt>
                <c:pt idx="342">
                  <c:v>1.93</c:v>
                </c:pt>
                <c:pt idx="343">
                  <c:v>1.93</c:v>
                </c:pt>
                <c:pt idx="344">
                  <c:v>1.93</c:v>
                </c:pt>
                <c:pt idx="345">
                  <c:v>1.93</c:v>
                </c:pt>
                <c:pt idx="346">
                  <c:v>1.93</c:v>
                </c:pt>
                <c:pt idx="347">
                  <c:v>1.93</c:v>
                </c:pt>
                <c:pt idx="348">
                  <c:v>1.93</c:v>
                </c:pt>
                <c:pt idx="349">
                  <c:v>1.93</c:v>
                </c:pt>
                <c:pt idx="350">
                  <c:v>1.93</c:v>
                </c:pt>
                <c:pt idx="351">
                  <c:v>1.93</c:v>
                </c:pt>
                <c:pt idx="352">
                  <c:v>1.93</c:v>
                </c:pt>
                <c:pt idx="353">
                  <c:v>1.93</c:v>
                </c:pt>
                <c:pt idx="354">
                  <c:v>1.93</c:v>
                </c:pt>
                <c:pt idx="355">
                  <c:v>1.93</c:v>
                </c:pt>
                <c:pt idx="356">
                  <c:v>1.93</c:v>
                </c:pt>
                <c:pt idx="357">
                  <c:v>1.93</c:v>
                </c:pt>
                <c:pt idx="358">
                  <c:v>1.93</c:v>
                </c:pt>
                <c:pt idx="359">
                  <c:v>1.93</c:v>
                </c:pt>
                <c:pt idx="360">
                  <c:v>1.93</c:v>
                </c:pt>
                <c:pt idx="361">
                  <c:v>1.93</c:v>
                </c:pt>
                <c:pt idx="362">
                  <c:v>1.93</c:v>
                </c:pt>
                <c:pt idx="363">
                  <c:v>1.93</c:v>
                </c:pt>
                <c:pt idx="364">
                  <c:v>1.93</c:v>
                </c:pt>
                <c:pt idx="365">
                  <c:v>1.93</c:v>
                </c:pt>
                <c:pt idx="366">
                  <c:v>1.93</c:v>
                </c:pt>
                <c:pt idx="367">
                  <c:v>1.93</c:v>
                </c:pt>
                <c:pt idx="368">
                  <c:v>1.93</c:v>
                </c:pt>
                <c:pt idx="369">
                  <c:v>1.93</c:v>
                </c:pt>
                <c:pt idx="370">
                  <c:v>1.93</c:v>
                </c:pt>
                <c:pt idx="371">
                  <c:v>1.93</c:v>
                </c:pt>
                <c:pt idx="372">
                  <c:v>1.93</c:v>
                </c:pt>
                <c:pt idx="373">
                  <c:v>1.93</c:v>
                </c:pt>
                <c:pt idx="374">
                  <c:v>1.93</c:v>
                </c:pt>
                <c:pt idx="375">
                  <c:v>1.93</c:v>
                </c:pt>
                <c:pt idx="376">
                  <c:v>1.93</c:v>
                </c:pt>
                <c:pt idx="377">
                  <c:v>1.93</c:v>
                </c:pt>
                <c:pt idx="378">
                  <c:v>1.93</c:v>
                </c:pt>
                <c:pt idx="379">
                  <c:v>1.93</c:v>
                </c:pt>
                <c:pt idx="380">
                  <c:v>1.93</c:v>
                </c:pt>
                <c:pt idx="381">
                  <c:v>1.93</c:v>
                </c:pt>
                <c:pt idx="382">
                  <c:v>1.93</c:v>
                </c:pt>
                <c:pt idx="383">
                  <c:v>1.93</c:v>
                </c:pt>
                <c:pt idx="384">
                  <c:v>1.93</c:v>
                </c:pt>
                <c:pt idx="385">
                  <c:v>1.93</c:v>
                </c:pt>
                <c:pt idx="386">
                  <c:v>1.93</c:v>
                </c:pt>
                <c:pt idx="387">
                  <c:v>1.93</c:v>
                </c:pt>
                <c:pt idx="388">
                  <c:v>1.93</c:v>
                </c:pt>
                <c:pt idx="389">
                  <c:v>1.93</c:v>
                </c:pt>
                <c:pt idx="390">
                  <c:v>1.93</c:v>
                </c:pt>
                <c:pt idx="391">
                  <c:v>1.93</c:v>
                </c:pt>
                <c:pt idx="392">
                  <c:v>1.93</c:v>
                </c:pt>
                <c:pt idx="393">
                  <c:v>1.93</c:v>
                </c:pt>
                <c:pt idx="394">
                  <c:v>1.93</c:v>
                </c:pt>
                <c:pt idx="395">
                  <c:v>1.93</c:v>
                </c:pt>
                <c:pt idx="396">
                  <c:v>1.93</c:v>
                </c:pt>
                <c:pt idx="397">
                  <c:v>1.93</c:v>
                </c:pt>
                <c:pt idx="398">
                  <c:v>1.93</c:v>
                </c:pt>
                <c:pt idx="399">
                  <c:v>1.93</c:v>
                </c:pt>
                <c:pt idx="400">
                  <c:v>1.93</c:v>
                </c:pt>
                <c:pt idx="401">
                  <c:v>1.93</c:v>
                </c:pt>
                <c:pt idx="402">
                  <c:v>1.93</c:v>
                </c:pt>
                <c:pt idx="403">
                  <c:v>1.93</c:v>
                </c:pt>
                <c:pt idx="404">
                  <c:v>1.93</c:v>
                </c:pt>
                <c:pt idx="405">
                  <c:v>1.93</c:v>
                </c:pt>
                <c:pt idx="406">
                  <c:v>1.93</c:v>
                </c:pt>
                <c:pt idx="407">
                  <c:v>1.93</c:v>
                </c:pt>
                <c:pt idx="408">
                  <c:v>1.93</c:v>
                </c:pt>
                <c:pt idx="409">
                  <c:v>1.93</c:v>
                </c:pt>
                <c:pt idx="410">
                  <c:v>1.93</c:v>
                </c:pt>
                <c:pt idx="411">
                  <c:v>1.93</c:v>
                </c:pt>
                <c:pt idx="412">
                  <c:v>1.93</c:v>
                </c:pt>
                <c:pt idx="413">
                  <c:v>1.93</c:v>
                </c:pt>
                <c:pt idx="414">
                  <c:v>1.93</c:v>
                </c:pt>
                <c:pt idx="415">
                  <c:v>1.93</c:v>
                </c:pt>
                <c:pt idx="416">
                  <c:v>1.93</c:v>
                </c:pt>
                <c:pt idx="417">
                  <c:v>1.93</c:v>
                </c:pt>
                <c:pt idx="418">
                  <c:v>1.93</c:v>
                </c:pt>
                <c:pt idx="419">
                  <c:v>1.93</c:v>
                </c:pt>
                <c:pt idx="420">
                  <c:v>1.93</c:v>
                </c:pt>
                <c:pt idx="421">
                  <c:v>1.93</c:v>
                </c:pt>
                <c:pt idx="422">
                  <c:v>1.93</c:v>
                </c:pt>
                <c:pt idx="423">
                  <c:v>1.93</c:v>
                </c:pt>
                <c:pt idx="424">
                  <c:v>1.93</c:v>
                </c:pt>
                <c:pt idx="425">
                  <c:v>1.93</c:v>
                </c:pt>
                <c:pt idx="426">
                  <c:v>1.93</c:v>
                </c:pt>
                <c:pt idx="427">
                  <c:v>1.93</c:v>
                </c:pt>
                <c:pt idx="428">
                  <c:v>1.93</c:v>
                </c:pt>
                <c:pt idx="429">
                  <c:v>1.93</c:v>
                </c:pt>
                <c:pt idx="430">
                  <c:v>1.93</c:v>
                </c:pt>
                <c:pt idx="431">
                  <c:v>1.93</c:v>
                </c:pt>
                <c:pt idx="432">
                  <c:v>1.93</c:v>
                </c:pt>
                <c:pt idx="433">
                  <c:v>1.93</c:v>
                </c:pt>
                <c:pt idx="434">
                  <c:v>1.93</c:v>
                </c:pt>
                <c:pt idx="435">
                  <c:v>1.93</c:v>
                </c:pt>
                <c:pt idx="436">
                  <c:v>1.93</c:v>
                </c:pt>
                <c:pt idx="437">
                  <c:v>1.93</c:v>
                </c:pt>
                <c:pt idx="438">
                  <c:v>1.93</c:v>
                </c:pt>
                <c:pt idx="439">
                  <c:v>1.93</c:v>
                </c:pt>
                <c:pt idx="440">
                  <c:v>1.93</c:v>
                </c:pt>
                <c:pt idx="441">
                  <c:v>1.93</c:v>
                </c:pt>
                <c:pt idx="442">
                  <c:v>1.93</c:v>
                </c:pt>
                <c:pt idx="443">
                  <c:v>1.93</c:v>
                </c:pt>
                <c:pt idx="444">
                  <c:v>1.93</c:v>
                </c:pt>
                <c:pt idx="445">
                  <c:v>1.93</c:v>
                </c:pt>
                <c:pt idx="446">
                  <c:v>1.93</c:v>
                </c:pt>
                <c:pt idx="447">
                  <c:v>1.93</c:v>
                </c:pt>
                <c:pt idx="448">
                  <c:v>1.93</c:v>
                </c:pt>
                <c:pt idx="449">
                  <c:v>1.93</c:v>
                </c:pt>
                <c:pt idx="450">
                  <c:v>1.93</c:v>
                </c:pt>
                <c:pt idx="451">
                  <c:v>1.93</c:v>
                </c:pt>
                <c:pt idx="452">
                  <c:v>1.93</c:v>
                </c:pt>
                <c:pt idx="453">
                  <c:v>1.93</c:v>
                </c:pt>
                <c:pt idx="454">
                  <c:v>1.93</c:v>
                </c:pt>
                <c:pt idx="455">
                  <c:v>1.93</c:v>
                </c:pt>
                <c:pt idx="456">
                  <c:v>1.93</c:v>
                </c:pt>
                <c:pt idx="457">
                  <c:v>1.93</c:v>
                </c:pt>
                <c:pt idx="458">
                  <c:v>1.93</c:v>
                </c:pt>
                <c:pt idx="459">
                  <c:v>1.93</c:v>
                </c:pt>
                <c:pt idx="460">
                  <c:v>1.93</c:v>
                </c:pt>
                <c:pt idx="461">
                  <c:v>1.93</c:v>
                </c:pt>
                <c:pt idx="462">
                  <c:v>1.93</c:v>
                </c:pt>
                <c:pt idx="463">
                  <c:v>1.93</c:v>
                </c:pt>
                <c:pt idx="464">
                  <c:v>1.93</c:v>
                </c:pt>
                <c:pt idx="465">
                  <c:v>1.93</c:v>
                </c:pt>
                <c:pt idx="466">
                  <c:v>1.93</c:v>
                </c:pt>
                <c:pt idx="467">
                  <c:v>1.93</c:v>
                </c:pt>
                <c:pt idx="468">
                  <c:v>1.93</c:v>
                </c:pt>
                <c:pt idx="469">
                  <c:v>1.93</c:v>
                </c:pt>
                <c:pt idx="470">
                  <c:v>1.93</c:v>
                </c:pt>
                <c:pt idx="471">
                  <c:v>1.93</c:v>
                </c:pt>
                <c:pt idx="472">
                  <c:v>1.93</c:v>
                </c:pt>
                <c:pt idx="473">
                  <c:v>1.93</c:v>
                </c:pt>
                <c:pt idx="474">
                  <c:v>1.93</c:v>
                </c:pt>
                <c:pt idx="475">
                  <c:v>1.93</c:v>
                </c:pt>
                <c:pt idx="476">
                  <c:v>1.93</c:v>
                </c:pt>
                <c:pt idx="477">
                  <c:v>1.93</c:v>
                </c:pt>
                <c:pt idx="478">
                  <c:v>1.93</c:v>
                </c:pt>
                <c:pt idx="479">
                  <c:v>1.93</c:v>
                </c:pt>
                <c:pt idx="480">
                  <c:v>1.93</c:v>
                </c:pt>
                <c:pt idx="481">
                  <c:v>1.93</c:v>
                </c:pt>
                <c:pt idx="482">
                  <c:v>1.93</c:v>
                </c:pt>
                <c:pt idx="483">
                  <c:v>1.93</c:v>
                </c:pt>
                <c:pt idx="484">
                  <c:v>1.93</c:v>
                </c:pt>
                <c:pt idx="485">
                  <c:v>1.93</c:v>
                </c:pt>
                <c:pt idx="486">
                  <c:v>1.93</c:v>
                </c:pt>
                <c:pt idx="487">
                  <c:v>1.93</c:v>
                </c:pt>
                <c:pt idx="488">
                  <c:v>1.93</c:v>
                </c:pt>
                <c:pt idx="489">
                  <c:v>1.93</c:v>
                </c:pt>
                <c:pt idx="490">
                  <c:v>1.93</c:v>
                </c:pt>
                <c:pt idx="491">
                  <c:v>1.93</c:v>
                </c:pt>
                <c:pt idx="492">
                  <c:v>1.93</c:v>
                </c:pt>
                <c:pt idx="493">
                  <c:v>1.93</c:v>
                </c:pt>
                <c:pt idx="494">
                  <c:v>1.93</c:v>
                </c:pt>
                <c:pt idx="495">
                  <c:v>1.93</c:v>
                </c:pt>
                <c:pt idx="496">
                  <c:v>1.93</c:v>
                </c:pt>
                <c:pt idx="497">
                  <c:v>1.93</c:v>
                </c:pt>
                <c:pt idx="498">
                  <c:v>1.93</c:v>
                </c:pt>
                <c:pt idx="499">
                  <c:v>1.93</c:v>
                </c:pt>
                <c:pt idx="500">
                  <c:v>1.93</c:v>
                </c:pt>
                <c:pt idx="501">
                  <c:v>1.93</c:v>
                </c:pt>
                <c:pt idx="502">
                  <c:v>1.93</c:v>
                </c:pt>
                <c:pt idx="503">
                  <c:v>1.93</c:v>
                </c:pt>
                <c:pt idx="504">
                  <c:v>1.93</c:v>
                </c:pt>
                <c:pt idx="505">
                  <c:v>1.93</c:v>
                </c:pt>
                <c:pt idx="506">
                  <c:v>1.93</c:v>
                </c:pt>
                <c:pt idx="507">
                  <c:v>1.93</c:v>
                </c:pt>
                <c:pt idx="508">
                  <c:v>1.93</c:v>
                </c:pt>
                <c:pt idx="509">
                  <c:v>1.93</c:v>
                </c:pt>
                <c:pt idx="510">
                  <c:v>1.93</c:v>
                </c:pt>
                <c:pt idx="511">
                  <c:v>1.93</c:v>
                </c:pt>
                <c:pt idx="512">
                  <c:v>1.93</c:v>
                </c:pt>
                <c:pt idx="513">
                  <c:v>1.93</c:v>
                </c:pt>
                <c:pt idx="514">
                  <c:v>1.93</c:v>
                </c:pt>
                <c:pt idx="515">
                  <c:v>1.93</c:v>
                </c:pt>
                <c:pt idx="516">
                  <c:v>1.93</c:v>
                </c:pt>
                <c:pt idx="517">
                  <c:v>1.93</c:v>
                </c:pt>
                <c:pt idx="518">
                  <c:v>1.93</c:v>
                </c:pt>
                <c:pt idx="519">
                  <c:v>1.93</c:v>
                </c:pt>
                <c:pt idx="520">
                  <c:v>1.93</c:v>
                </c:pt>
                <c:pt idx="521">
                  <c:v>1.93</c:v>
                </c:pt>
                <c:pt idx="522">
                  <c:v>1.93</c:v>
                </c:pt>
                <c:pt idx="523">
                  <c:v>1.93</c:v>
                </c:pt>
              </c:numCache>
            </c:numRef>
          </c:val>
          <c:smooth val="0"/>
          <c:extLst xmlns:c16r2="http://schemas.microsoft.com/office/drawing/2015/06/chart">
            <c:ext xmlns:c16="http://schemas.microsoft.com/office/drawing/2014/chart" uri="{C3380CC4-5D6E-409C-BE32-E72D297353CC}">
              <c16:uniqueId val="{00000001-8435-4E2B-A90C-0FCDC38003D2}"/>
            </c:ext>
          </c:extLst>
        </c:ser>
        <c:ser>
          <c:idx val="3"/>
          <c:order val="3"/>
          <c:tx>
            <c:strRef>
              <c:f>Sheet4!$E$1</c:f>
              <c:strCache>
                <c:ptCount val="1"/>
                <c:pt idx="0">
                  <c:v>中位数</c:v>
                </c:pt>
              </c:strCache>
            </c:strRef>
          </c:tx>
          <c:spPr>
            <a:ln w="28575" cap="rnd">
              <a:solidFill>
                <a:srgbClr val="197EC6"/>
              </a:solidFill>
              <a:round/>
            </a:ln>
            <a:effectLst/>
          </c:spPr>
          <c:marker>
            <c:symbol val="none"/>
          </c:marker>
          <c:cat>
            <c:strRef>
              <c:f>Sheet4!$A$2:$A$525</c:f>
              <c:strCache>
                <c:ptCount val="524"/>
                <c:pt idx="0">
                  <c:v>2016-03-04</c:v>
                </c:pt>
                <c:pt idx="1">
                  <c:v>2016-03-11</c:v>
                </c:pt>
                <c:pt idx="2">
                  <c:v>2016-03-18</c:v>
                </c:pt>
                <c:pt idx="3">
                  <c:v>2016-03-25</c:v>
                </c:pt>
                <c:pt idx="4">
                  <c:v>2016-04-01</c:v>
                </c:pt>
                <c:pt idx="5">
                  <c:v>2016-04-08</c:v>
                </c:pt>
                <c:pt idx="6">
                  <c:v>2016-04-15</c:v>
                </c:pt>
                <c:pt idx="7">
                  <c:v>2016-04-22</c:v>
                </c:pt>
                <c:pt idx="8">
                  <c:v>2016-04-29</c:v>
                </c:pt>
                <c:pt idx="9">
                  <c:v>2016-05-06</c:v>
                </c:pt>
                <c:pt idx="10">
                  <c:v>2016-05-13</c:v>
                </c:pt>
                <c:pt idx="11">
                  <c:v>2016-05-20</c:v>
                </c:pt>
                <c:pt idx="12">
                  <c:v>2016-05-27</c:v>
                </c:pt>
                <c:pt idx="13">
                  <c:v>2016-06-03</c:v>
                </c:pt>
                <c:pt idx="14">
                  <c:v>2016-06-08</c:v>
                </c:pt>
                <c:pt idx="15">
                  <c:v>2016-06-17</c:v>
                </c:pt>
                <c:pt idx="16">
                  <c:v>2016-06-24</c:v>
                </c:pt>
                <c:pt idx="17">
                  <c:v>2016-07-01</c:v>
                </c:pt>
                <c:pt idx="18">
                  <c:v>2016-07-08</c:v>
                </c:pt>
                <c:pt idx="19">
                  <c:v>2016-07-15</c:v>
                </c:pt>
                <c:pt idx="20">
                  <c:v>2016-07-22</c:v>
                </c:pt>
                <c:pt idx="21">
                  <c:v>2016-07-29</c:v>
                </c:pt>
                <c:pt idx="22">
                  <c:v>2016-08-05</c:v>
                </c:pt>
                <c:pt idx="23">
                  <c:v>2016-08-12</c:v>
                </c:pt>
                <c:pt idx="24">
                  <c:v>2016-08-19</c:v>
                </c:pt>
                <c:pt idx="25">
                  <c:v>2016-08-26</c:v>
                </c:pt>
                <c:pt idx="26">
                  <c:v>2016-09-02</c:v>
                </c:pt>
                <c:pt idx="27">
                  <c:v>2016-09-09</c:v>
                </c:pt>
                <c:pt idx="28">
                  <c:v>2016-09-14</c:v>
                </c:pt>
                <c:pt idx="29">
                  <c:v>2016-09-23</c:v>
                </c:pt>
                <c:pt idx="30">
                  <c:v>2016-09-30</c:v>
                </c:pt>
                <c:pt idx="31">
                  <c:v>2016-10-14</c:v>
                </c:pt>
                <c:pt idx="32">
                  <c:v>2016-10-21</c:v>
                </c:pt>
                <c:pt idx="33">
                  <c:v>2016-10-28</c:v>
                </c:pt>
                <c:pt idx="34">
                  <c:v>2016-11-04</c:v>
                </c:pt>
                <c:pt idx="35">
                  <c:v>2016-11-11</c:v>
                </c:pt>
                <c:pt idx="36">
                  <c:v>2016-11-18</c:v>
                </c:pt>
                <c:pt idx="37">
                  <c:v>2016-11-25</c:v>
                </c:pt>
                <c:pt idx="38">
                  <c:v>2016-12-02</c:v>
                </c:pt>
                <c:pt idx="39">
                  <c:v>2016-12-09</c:v>
                </c:pt>
                <c:pt idx="40">
                  <c:v>2016-12-16</c:v>
                </c:pt>
                <c:pt idx="41">
                  <c:v>2016-12-23</c:v>
                </c:pt>
                <c:pt idx="42">
                  <c:v>2016-12-30</c:v>
                </c:pt>
                <c:pt idx="43">
                  <c:v>2017-01-06</c:v>
                </c:pt>
                <c:pt idx="44">
                  <c:v>2017-01-13</c:v>
                </c:pt>
                <c:pt idx="45">
                  <c:v>2017-01-20</c:v>
                </c:pt>
                <c:pt idx="46">
                  <c:v>2017-01-26</c:v>
                </c:pt>
                <c:pt idx="47">
                  <c:v>2017-02-03</c:v>
                </c:pt>
                <c:pt idx="48">
                  <c:v>2017-02-10</c:v>
                </c:pt>
                <c:pt idx="49">
                  <c:v>2017-02-17</c:v>
                </c:pt>
                <c:pt idx="50">
                  <c:v>2017-02-24</c:v>
                </c:pt>
                <c:pt idx="51">
                  <c:v>2017-03-03</c:v>
                </c:pt>
                <c:pt idx="52">
                  <c:v>2017-03-10</c:v>
                </c:pt>
                <c:pt idx="53">
                  <c:v>2017-03-17</c:v>
                </c:pt>
                <c:pt idx="54">
                  <c:v>2017-03-24</c:v>
                </c:pt>
                <c:pt idx="55">
                  <c:v>2017-03-31</c:v>
                </c:pt>
                <c:pt idx="56">
                  <c:v>2017-04-07</c:v>
                </c:pt>
                <c:pt idx="57">
                  <c:v>2017-04-14</c:v>
                </c:pt>
                <c:pt idx="58">
                  <c:v>2017-04-21</c:v>
                </c:pt>
                <c:pt idx="59">
                  <c:v>2017-04-28</c:v>
                </c:pt>
                <c:pt idx="60">
                  <c:v>2017-05-05</c:v>
                </c:pt>
                <c:pt idx="61">
                  <c:v>2017-05-12</c:v>
                </c:pt>
                <c:pt idx="62">
                  <c:v>2017-05-19</c:v>
                </c:pt>
                <c:pt idx="63">
                  <c:v>2017-05-26</c:v>
                </c:pt>
                <c:pt idx="64">
                  <c:v>2017-06-02</c:v>
                </c:pt>
                <c:pt idx="65">
                  <c:v>2017-06-09</c:v>
                </c:pt>
                <c:pt idx="66">
                  <c:v>2017-06-16</c:v>
                </c:pt>
                <c:pt idx="67">
                  <c:v>2017-06-23</c:v>
                </c:pt>
                <c:pt idx="68">
                  <c:v>2017-06-30</c:v>
                </c:pt>
                <c:pt idx="69">
                  <c:v>2017-07-07</c:v>
                </c:pt>
                <c:pt idx="70">
                  <c:v>2017-07-14</c:v>
                </c:pt>
                <c:pt idx="71">
                  <c:v>2017-07-21</c:v>
                </c:pt>
                <c:pt idx="72">
                  <c:v>2017-07-28</c:v>
                </c:pt>
                <c:pt idx="73">
                  <c:v>2017-08-04</c:v>
                </c:pt>
                <c:pt idx="74">
                  <c:v>2017-08-11</c:v>
                </c:pt>
                <c:pt idx="75">
                  <c:v>2017-08-18</c:v>
                </c:pt>
                <c:pt idx="76">
                  <c:v>2017-08-25</c:v>
                </c:pt>
                <c:pt idx="77">
                  <c:v>2017-09-01</c:v>
                </c:pt>
                <c:pt idx="78">
                  <c:v>2017-09-08</c:v>
                </c:pt>
                <c:pt idx="79">
                  <c:v>2017-09-15</c:v>
                </c:pt>
                <c:pt idx="80">
                  <c:v>2017-09-22</c:v>
                </c:pt>
                <c:pt idx="81">
                  <c:v>2017-09-29</c:v>
                </c:pt>
                <c:pt idx="82">
                  <c:v>2017-10-13</c:v>
                </c:pt>
                <c:pt idx="83">
                  <c:v>2017-10-20</c:v>
                </c:pt>
                <c:pt idx="84">
                  <c:v>2017-10-27</c:v>
                </c:pt>
                <c:pt idx="85">
                  <c:v>2017-11-03</c:v>
                </c:pt>
                <c:pt idx="86">
                  <c:v>2017-11-10</c:v>
                </c:pt>
                <c:pt idx="87">
                  <c:v>2017-11-17</c:v>
                </c:pt>
                <c:pt idx="88">
                  <c:v>2017-11-24</c:v>
                </c:pt>
                <c:pt idx="89">
                  <c:v>2017-12-01</c:v>
                </c:pt>
                <c:pt idx="90">
                  <c:v>2017-12-08</c:v>
                </c:pt>
                <c:pt idx="91">
                  <c:v>2017-12-15</c:v>
                </c:pt>
                <c:pt idx="92">
                  <c:v>2017-12-22</c:v>
                </c:pt>
                <c:pt idx="93">
                  <c:v>2017-12-29</c:v>
                </c:pt>
                <c:pt idx="94">
                  <c:v>2018-01-05</c:v>
                </c:pt>
                <c:pt idx="95">
                  <c:v>2018-01-12</c:v>
                </c:pt>
                <c:pt idx="96">
                  <c:v>2018-01-19</c:v>
                </c:pt>
                <c:pt idx="97">
                  <c:v>2018-01-26</c:v>
                </c:pt>
                <c:pt idx="98">
                  <c:v>2018-02-02</c:v>
                </c:pt>
                <c:pt idx="99">
                  <c:v>2018-02-09</c:v>
                </c:pt>
                <c:pt idx="100">
                  <c:v>2018-02-14</c:v>
                </c:pt>
                <c:pt idx="101">
                  <c:v>2018-02-23</c:v>
                </c:pt>
                <c:pt idx="102">
                  <c:v>2018-03-02</c:v>
                </c:pt>
                <c:pt idx="103">
                  <c:v>2018-03-09</c:v>
                </c:pt>
                <c:pt idx="104">
                  <c:v>2018-03-16</c:v>
                </c:pt>
                <c:pt idx="105">
                  <c:v>2018-03-23</c:v>
                </c:pt>
                <c:pt idx="106">
                  <c:v>2018-03-30</c:v>
                </c:pt>
                <c:pt idx="107">
                  <c:v>2018-04-04</c:v>
                </c:pt>
                <c:pt idx="108">
                  <c:v>2018-04-13</c:v>
                </c:pt>
                <c:pt idx="109">
                  <c:v>2018-04-20</c:v>
                </c:pt>
                <c:pt idx="110">
                  <c:v>2018-04-27</c:v>
                </c:pt>
                <c:pt idx="111">
                  <c:v>2018-05-04</c:v>
                </c:pt>
                <c:pt idx="112">
                  <c:v>2018-05-11</c:v>
                </c:pt>
                <c:pt idx="113">
                  <c:v>2018-05-18</c:v>
                </c:pt>
                <c:pt idx="114">
                  <c:v>2018-05-25</c:v>
                </c:pt>
                <c:pt idx="115">
                  <c:v>2018-06-01</c:v>
                </c:pt>
                <c:pt idx="116">
                  <c:v>2018-06-08</c:v>
                </c:pt>
                <c:pt idx="117">
                  <c:v>2018-06-15</c:v>
                </c:pt>
                <c:pt idx="118">
                  <c:v>2018-06-22</c:v>
                </c:pt>
                <c:pt idx="119">
                  <c:v>2018-06-29</c:v>
                </c:pt>
                <c:pt idx="120">
                  <c:v>2018-07-06</c:v>
                </c:pt>
                <c:pt idx="121">
                  <c:v>2018-07-13</c:v>
                </c:pt>
                <c:pt idx="122">
                  <c:v>2018-07-20</c:v>
                </c:pt>
                <c:pt idx="123">
                  <c:v>2018-07-27</c:v>
                </c:pt>
                <c:pt idx="124">
                  <c:v>2018-08-03</c:v>
                </c:pt>
                <c:pt idx="125">
                  <c:v>2018-08-10</c:v>
                </c:pt>
                <c:pt idx="126">
                  <c:v>2018-08-17</c:v>
                </c:pt>
                <c:pt idx="127">
                  <c:v>2018-08-24</c:v>
                </c:pt>
                <c:pt idx="128">
                  <c:v>2018-08-31</c:v>
                </c:pt>
                <c:pt idx="129">
                  <c:v>2018-09-07</c:v>
                </c:pt>
                <c:pt idx="130">
                  <c:v>2018-09-14</c:v>
                </c:pt>
                <c:pt idx="131">
                  <c:v>2018-09-21</c:v>
                </c:pt>
                <c:pt idx="132">
                  <c:v>2018-09-28</c:v>
                </c:pt>
                <c:pt idx="133">
                  <c:v>2018-10-12</c:v>
                </c:pt>
                <c:pt idx="134">
                  <c:v>2018-10-19</c:v>
                </c:pt>
                <c:pt idx="135">
                  <c:v>2018-10-26</c:v>
                </c:pt>
                <c:pt idx="136">
                  <c:v>2018-11-02</c:v>
                </c:pt>
                <c:pt idx="137">
                  <c:v>2018-11-09</c:v>
                </c:pt>
                <c:pt idx="138">
                  <c:v>2018-11-16</c:v>
                </c:pt>
                <c:pt idx="139">
                  <c:v>2018-11-23</c:v>
                </c:pt>
                <c:pt idx="140">
                  <c:v>2018-11-30</c:v>
                </c:pt>
                <c:pt idx="141">
                  <c:v>2018-12-07</c:v>
                </c:pt>
                <c:pt idx="142">
                  <c:v>2018-12-14</c:v>
                </c:pt>
                <c:pt idx="143">
                  <c:v>2018-12-21</c:v>
                </c:pt>
                <c:pt idx="144">
                  <c:v>2018-12-28</c:v>
                </c:pt>
                <c:pt idx="145">
                  <c:v>2019-01-04</c:v>
                </c:pt>
                <c:pt idx="146">
                  <c:v>2019-01-11</c:v>
                </c:pt>
                <c:pt idx="147">
                  <c:v>2019-01-18</c:v>
                </c:pt>
                <c:pt idx="148">
                  <c:v>2019-01-25</c:v>
                </c:pt>
                <c:pt idx="149">
                  <c:v>2019-02-01</c:v>
                </c:pt>
                <c:pt idx="150">
                  <c:v>2019-02-15</c:v>
                </c:pt>
                <c:pt idx="151">
                  <c:v>2019-02-22</c:v>
                </c:pt>
                <c:pt idx="152">
                  <c:v>2019-03-01</c:v>
                </c:pt>
                <c:pt idx="153">
                  <c:v>2019-03-08</c:v>
                </c:pt>
                <c:pt idx="154">
                  <c:v>2019-03-15</c:v>
                </c:pt>
                <c:pt idx="155">
                  <c:v>2019-03-22</c:v>
                </c:pt>
                <c:pt idx="156">
                  <c:v>2019-03-29</c:v>
                </c:pt>
                <c:pt idx="157">
                  <c:v>2019-04-04</c:v>
                </c:pt>
                <c:pt idx="158">
                  <c:v>2019-04-12</c:v>
                </c:pt>
                <c:pt idx="159">
                  <c:v>2019-04-19</c:v>
                </c:pt>
                <c:pt idx="160">
                  <c:v>2019-04-26</c:v>
                </c:pt>
                <c:pt idx="161">
                  <c:v>2019-04-30</c:v>
                </c:pt>
                <c:pt idx="162">
                  <c:v>2019-05-10</c:v>
                </c:pt>
                <c:pt idx="163">
                  <c:v>2019-05-17</c:v>
                </c:pt>
                <c:pt idx="164">
                  <c:v>2019-05-24</c:v>
                </c:pt>
                <c:pt idx="165">
                  <c:v>2019-05-31</c:v>
                </c:pt>
                <c:pt idx="166">
                  <c:v>2019-06-06</c:v>
                </c:pt>
                <c:pt idx="167">
                  <c:v>2019-06-14</c:v>
                </c:pt>
                <c:pt idx="168">
                  <c:v>2019-06-21</c:v>
                </c:pt>
                <c:pt idx="169">
                  <c:v>2019-06-28</c:v>
                </c:pt>
                <c:pt idx="170">
                  <c:v>2019-07-05</c:v>
                </c:pt>
                <c:pt idx="171">
                  <c:v>2019-07-12</c:v>
                </c:pt>
                <c:pt idx="172">
                  <c:v>2019-07-19</c:v>
                </c:pt>
                <c:pt idx="173">
                  <c:v>2019-07-26</c:v>
                </c:pt>
                <c:pt idx="174">
                  <c:v>2019-08-02</c:v>
                </c:pt>
                <c:pt idx="175">
                  <c:v>2019-08-09</c:v>
                </c:pt>
                <c:pt idx="176">
                  <c:v>2019-08-16</c:v>
                </c:pt>
                <c:pt idx="177">
                  <c:v>2019-08-23</c:v>
                </c:pt>
                <c:pt idx="178">
                  <c:v>2019-08-30</c:v>
                </c:pt>
                <c:pt idx="179">
                  <c:v>2019-09-06</c:v>
                </c:pt>
                <c:pt idx="180">
                  <c:v>2019-09-12</c:v>
                </c:pt>
                <c:pt idx="181">
                  <c:v>2019-09-20</c:v>
                </c:pt>
                <c:pt idx="182">
                  <c:v>2019-09-27</c:v>
                </c:pt>
                <c:pt idx="183">
                  <c:v>2019-09-30</c:v>
                </c:pt>
                <c:pt idx="184">
                  <c:v>2019-10-11</c:v>
                </c:pt>
                <c:pt idx="185">
                  <c:v>2019-10-18</c:v>
                </c:pt>
                <c:pt idx="186">
                  <c:v>2019-10-25</c:v>
                </c:pt>
                <c:pt idx="187">
                  <c:v>2019-11-01</c:v>
                </c:pt>
                <c:pt idx="188">
                  <c:v>2019-11-08</c:v>
                </c:pt>
                <c:pt idx="189">
                  <c:v>2019-11-15</c:v>
                </c:pt>
                <c:pt idx="190">
                  <c:v>2019-11-22</c:v>
                </c:pt>
                <c:pt idx="191">
                  <c:v>2019-11-29</c:v>
                </c:pt>
                <c:pt idx="192">
                  <c:v>2019-12-06</c:v>
                </c:pt>
                <c:pt idx="193">
                  <c:v>2019-12-13</c:v>
                </c:pt>
                <c:pt idx="194">
                  <c:v>2019-12-20</c:v>
                </c:pt>
                <c:pt idx="195">
                  <c:v>2019-12-27</c:v>
                </c:pt>
                <c:pt idx="196">
                  <c:v>2020-01-03</c:v>
                </c:pt>
                <c:pt idx="197">
                  <c:v>2020-01-10</c:v>
                </c:pt>
                <c:pt idx="198">
                  <c:v>2020-01-17</c:v>
                </c:pt>
                <c:pt idx="199">
                  <c:v>2020-01-23</c:v>
                </c:pt>
                <c:pt idx="200">
                  <c:v>2020-02-07</c:v>
                </c:pt>
                <c:pt idx="201">
                  <c:v>2020-02-14</c:v>
                </c:pt>
                <c:pt idx="202">
                  <c:v>2020-02-21</c:v>
                </c:pt>
                <c:pt idx="203">
                  <c:v>2020-02-28</c:v>
                </c:pt>
                <c:pt idx="204">
                  <c:v>2020-03-06</c:v>
                </c:pt>
                <c:pt idx="205">
                  <c:v>2020-03-13</c:v>
                </c:pt>
                <c:pt idx="206">
                  <c:v>2020-03-20</c:v>
                </c:pt>
                <c:pt idx="207">
                  <c:v>2020-03-27</c:v>
                </c:pt>
                <c:pt idx="208">
                  <c:v>2020-04-03</c:v>
                </c:pt>
                <c:pt idx="209">
                  <c:v>2020-04-10</c:v>
                </c:pt>
                <c:pt idx="210">
                  <c:v>2020-04-17</c:v>
                </c:pt>
                <c:pt idx="211">
                  <c:v>2020-04-24</c:v>
                </c:pt>
                <c:pt idx="212">
                  <c:v>2020-04-30</c:v>
                </c:pt>
                <c:pt idx="213">
                  <c:v>2020-05-08</c:v>
                </c:pt>
                <c:pt idx="214">
                  <c:v>2020-05-15</c:v>
                </c:pt>
                <c:pt idx="215">
                  <c:v>2020-05-22</c:v>
                </c:pt>
                <c:pt idx="216">
                  <c:v>2020-05-29</c:v>
                </c:pt>
                <c:pt idx="217">
                  <c:v>2020-06-05</c:v>
                </c:pt>
                <c:pt idx="218">
                  <c:v>2020-06-12</c:v>
                </c:pt>
                <c:pt idx="219">
                  <c:v>2020-06-19</c:v>
                </c:pt>
                <c:pt idx="220">
                  <c:v>2020-06-24</c:v>
                </c:pt>
                <c:pt idx="221">
                  <c:v>2020-07-03</c:v>
                </c:pt>
                <c:pt idx="222">
                  <c:v>2020-07-10</c:v>
                </c:pt>
                <c:pt idx="223">
                  <c:v>2020-07-17</c:v>
                </c:pt>
                <c:pt idx="224">
                  <c:v>2020-07-24</c:v>
                </c:pt>
                <c:pt idx="225">
                  <c:v>2020-07-31</c:v>
                </c:pt>
                <c:pt idx="226">
                  <c:v>2020-08-07</c:v>
                </c:pt>
                <c:pt idx="227">
                  <c:v>2020-08-14</c:v>
                </c:pt>
                <c:pt idx="228">
                  <c:v>2020-08-21</c:v>
                </c:pt>
                <c:pt idx="229">
                  <c:v>2020-08-28</c:v>
                </c:pt>
                <c:pt idx="230">
                  <c:v>2020-09-04</c:v>
                </c:pt>
                <c:pt idx="231">
                  <c:v>2020-09-11</c:v>
                </c:pt>
                <c:pt idx="232">
                  <c:v>2020-09-18</c:v>
                </c:pt>
                <c:pt idx="233">
                  <c:v>2020-09-25</c:v>
                </c:pt>
                <c:pt idx="234">
                  <c:v>2020-09-30</c:v>
                </c:pt>
                <c:pt idx="235">
                  <c:v>2020-10-09</c:v>
                </c:pt>
                <c:pt idx="236">
                  <c:v>2020-10-16</c:v>
                </c:pt>
                <c:pt idx="237">
                  <c:v>2020-10-23</c:v>
                </c:pt>
                <c:pt idx="238">
                  <c:v>2020-10-30</c:v>
                </c:pt>
                <c:pt idx="239">
                  <c:v>2020-11-06</c:v>
                </c:pt>
                <c:pt idx="240">
                  <c:v>2020-11-13</c:v>
                </c:pt>
                <c:pt idx="241">
                  <c:v>2020-11-20</c:v>
                </c:pt>
                <c:pt idx="242">
                  <c:v>2020-11-27</c:v>
                </c:pt>
                <c:pt idx="243">
                  <c:v>2020-12-04</c:v>
                </c:pt>
                <c:pt idx="244">
                  <c:v>2020-12-11</c:v>
                </c:pt>
                <c:pt idx="245">
                  <c:v>2020-12-18</c:v>
                </c:pt>
                <c:pt idx="246">
                  <c:v>2020-12-25</c:v>
                </c:pt>
                <c:pt idx="247">
                  <c:v>2020-12-31</c:v>
                </c:pt>
                <c:pt idx="248">
                  <c:v>2021-01-08</c:v>
                </c:pt>
                <c:pt idx="249">
                  <c:v>2021-01-15</c:v>
                </c:pt>
                <c:pt idx="250">
                  <c:v>2021-01-22</c:v>
                </c:pt>
                <c:pt idx="251">
                  <c:v>2021-01-29</c:v>
                </c:pt>
                <c:pt idx="252">
                  <c:v>2021-02-05</c:v>
                </c:pt>
                <c:pt idx="253">
                  <c:v>2021-02-10</c:v>
                </c:pt>
                <c:pt idx="254">
                  <c:v>2021-02-19</c:v>
                </c:pt>
                <c:pt idx="255">
                  <c:v>2021-02-26</c:v>
                </c:pt>
                <c:pt idx="256">
                  <c:v>2021-03-05</c:v>
                </c:pt>
                <c:pt idx="257">
                  <c:v>2021-03-12</c:v>
                </c:pt>
                <c:pt idx="258">
                  <c:v>2021-03-19</c:v>
                </c:pt>
                <c:pt idx="259">
                  <c:v>2021-03-26</c:v>
                </c:pt>
                <c:pt idx="260">
                  <c:v>2021-04-02</c:v>
                </c:pt>
                <c:pt idx="261">
                  <c:v>2021-04-09</c:v>
                </c:pt>
                <c:pt idx="262">
                  <c:v>2021-04-16</c:v>
                </c:pt>
                <c:pt idx="263">
                  <c:v>2021-04-23</c:v>
                </c:pt>
                <c:pt idx="264">
                  <c:v>2021-04-30</c:v>
                </c:pt>
                <c:pt idx="265">
                  <c:v>2021-05-07</c:v>
                </c:pt>
                <c:pt idx="266">
                  <c:v>2021-05-14</c:v>
                </c:pt>
                <c:pt idx="267">
                  <c:v>2021-05-21</c:v>
                </c:pt>
                <c:pt idx="268">
                  <c:v>2021-05-28</c:v>
                </c:pt>
                <c:pt idx="269">
                  <c:v>2021-06-04</c:v>
                </c:pt>
                <c:pt idx="270">
                  <c:v>2021-06-11</c:v>
                </c:pt>
                <c:pt idx="271">
                  <c:v>2021-06-18</c:v>
                </c:pt>
                <c:pt idx="272">
                  <c:v>2021-06-25</c:v>
                </c:pt>
                <c:pt idx="273">
                  <c:v>2021-07-02</c:v>
                </c:pt>
                <c:pt idx="274">
                  <c:v>2021-07-09</c:v>
                </c:pt>
                <c:pt idx="275">
                  <c:v>2021-07-16</c:v>
                </c:pt>
                <c:pt idx="276">
                  <c:v>2021-07-23</c:v>
                </c:pt>
                <c:pt idx="277">
                  <c:v>2021-07-30</c:v>
                </c:pt>
                <c:pt idx="278">
                  <c:v>2021-08-06</c:v>
                </c:pt>
                <c:pt idx="279">
                  <c:v>2021-08-13</c:v>
                </c:pt>
                <c:pt idx="280">
                  <c:v>2021-08-20</c:v>
                </c:pt>
                <c:pt idx="281">
                  <c:v>2021-08-27</c:v>
                </c:pt>
                <c:pt idx="282">
                  <c:v>2021-09-03</c:v>
                </c:pt>
                <c:pt idx="283">
                  <c:v>2021-09-10</c:v>
                </c:pt>
                <c:pt idx="284">
                  <c:v>2021-09-17</c:v>
                </c:pt>
                <c:pt idx="285">
                  <c:v>2021-09-24</c:v>
                </c:pt>
                <c:pt idx="286">
                  <c:v>2021-09-30</c:v>
                </c:pt>
                <c:pt idx="287">
                  <c:v>2021-10-08</c:v>
                </c:pt>
                <c:pt idx="288">
                  <c:v>2021-10-15</c:v>
                </c:pt>
                <c:pt idx="289">
                  <c:v>2021-10-22</c:v>
                </c:pt>
                <c:pt idx="290">
                  <c:v>2021-10-29</c:v>
                </c:pt>
                <c:pt idx="291">
                  <c:v>2021-11-05</c:v>
                </c:pt>
                <c:pt idx="292">
                  <c:v>2021-11-12</c:v>
                </c:pt>
                <c:pt idx="293">
                  <c:v>2021-11-19</c:v>
                </c:pt>
                <c:pt idx="294">
                  <c:v>2021-11-26</c:v>
                </c:pt>
                <c:pt idx="295">
                  <c:v>2021-12-03</c:v>
                </c:pt>
                <c:pt idx="296">
                  <c:v>2021-12-10</c:v>
                </c:pt>
                <c:pt idx="297">
                  <c:v>2021-12-17</c:v>
                </c:pt>
                <c:pt idx="298">
                  <c:v>2021-12-24</c:v>
                </c:pt>
                <c:pt idx="299">
                  <c:v>2021-12-31</c:v>
                </c:pt>
                <c:pt idx="300">
                  <c:v>2022-01-07</c:v>
                </c:pt>
                <c:pt idx="301">
                  <c:v>2022-01-14</c:v>
                </c:pt>
                <c:pt idx="302">
                  <c:v>2022-01-21</c:v>
                </c:pt>
                <c:pt idx="303">
                  <c:v>2022-01-28</c:v>
                </c:pt>
                <c:pt idx="304">
                  <c:v>2022-02-11</c:v>
                </c:pt>
                <c:pt idx="305">
                  <c:v>2022-02-18</c:v>
                </c:pt>
                <c:pt idx="306">
                  <c:v>2022-02-25</c:v>
                </c:pt>
                <c:pt idx="307">
                  <c:v>2022-03-04</c:v>
                </c:pt>
                <c:pt idx="308">
                  <c:v>2022-03-11</c:v>
                </c:pt>
                <c:pt idx="309">
                  <c:v>2022-03-18</c:v>
                </c:pt>
                <c:pt idx="310">
                  <c:v>2022-03-25</c:v>
                </c:pt>
                <c:pt idx="311">
                  <c:v>2022-04-01</c:v>
                </c:pt>
                <c:pt idx="312">
                  <c:v>2022-04-08</c:v>
                </c:pt>
                <c:pt idx="313">
                  <c:v>2022-04-15</c:v>
                </c:pt>
                <c:pt idx="314">
                  <c:v>2022-04-22</c:v>
                </c:pt>
                <c:pt idx="315">
                  <c:v>2022-04-29</c:v>
                </c:pt>
                <c:pt idx="316">
                  <c:v>2022-05-06</c:v>
                </c:pt>
                <c:pt idx="317">
                  <c:v>2022-05-13</c:v>
                </c:pt>
                <c:pt idx="318">
                  <c:v>2022-05-20</c:v>
                </c:pt>
                <c:pt idx="319">
                  <c:v>2022-05-27</c:v>
                </c:pt>
                <c:pt idx="320">
                  <c:v>2022-06-02</c:v>
                </c:pt>
                <c:pt idx="321">
                  <c:v>2022-06-10</c:v>
                </c:pt>
                <c:pt idx="322">
                  <c:v>2022-06-17</c:v>
                </c:pt>
                <c:pt idx="323">
                  <c:v>2022-06-24</c:v>
                </c:pt>
                <c:pt idx="324">
                  <c:v>2022-07-01</c:v>
                </c:pt>
                <c:pt idx="325">
                  <c:v>2022-07-08</c:v>
                </c:pt>
                <c:pt idx="326">
                  <c:v>2022-07-15</c:v>
                </c:pt>
                <c:pt idx="327">
                  <c:v>2022-07-22</c:v>
                </c:pt>
                <c:pt idx="328">
                  <c:v>2022-07-29</c:v>
                </c:pt>
                <c:pt idx="329">
                  <c:v>2022-08-05</c:v>
                </c:pt>
                <c:pt idx="330">
                  <c:v>2022-08-12</c:v>
                </c:pt>
                <c:pt idx="331">
                  <c:v>2022-08-19</c:v>
                </c:pt>
                <c:pt idx="332">
                  <c:v>2022-08-26</c:v>
                </c:pt>
                <c:pt idx="333">
                  <c:v>2022-09-02</c:v>
                </c:pt>
                <c:pt idx="334">
                  <c:v>2022-09-09</c:v>
                </c:pt>
                <c:pt idx="335">
                  <c:v>2022-09-16</c:v>
                </c:pt>
                <c:pt idx="336">
                  <c:v>2022-09-23</c:v>
                </c:pt>
                <c:pt idx="337">
                  <c:v>2022-09-30</c:v>
                </c:pt>
                <c:pt idx="338">
                  <c:v>2022-10-14</c:v>
                </c:pt>
                <c:pt idx="339">
                  <c:v>2022-10-21</c:v>
                </c:pt>
                <c:pt idx="340">
                  <c:v>2022-10-28</c:v>
                </c:pt>
                <c:pt idx="341">
                  <c:v>2022-11-04</c:v>
                </c:pt>
                <c:pt idx="342">
                  <c:v>2022-11-11</c:v>
                </c:pt>
                <c:pt idx="343">
                  <c:v>2022-11-18</c:v>
                </c:pt>
                <c:pt idx="344">
                  <c:v>2022-11-25</c:v>
                </c:pt>
                <c:pt idx="345">
                  <c:v>2022-12-02</c:v>
                </c:pt>
                <c:pt idx="346">
                  <c:v>2022-12-09</c:v>
                </c:pt>
                <c:pt idx="347">
                  <c:v>2022-12-16</c:v>
                </c:pt>
                <c:pt idx="348">
                  <c:v>2022-12-23</c:v>
                </c:pt>
                <c:pt idx="349">
                  <c:v>2022-12-30</c:v>
                </c:pt>
                <c:pt idx="350">
                  <c:v>2023-01-06</c:v>
                </c:pt>
                <c:pt idx="351">
                  <c:v>2023-01-13</c:v>
                </c:pt>
                <c:pt idx="352">
                  <c:v>2023-01-20</c:v>
                </c:pt>
                <c:pt idx="353">
                  <c:v>2023-02-03</c:v>
                </c:pt>
                <c:pt idx="354">
                  <c:v>2023-02-10</c:v>
                </c:pt>
                <c:pt idx="355">
                  <c:v>2023-02-17</c:v>
                </c:pt>
                <c:pt idx="356">
                  <c:v>2023-02-24</c:v>
                </c:pt>
                <c:pt idx="357">
                  <c:v>2023-03-03</c:v>
                </c:pt>
                <c:pt idx="358">
                  <c:v>2023-03-10</c:v>
                </c:pt>
                <c:pt idx="359">
                  <c:v>2023-03-17</c:v>
                </c:pt>
                <c:pt idx="360">
                  <c:v>2023-03-24</c:v>
                </c:pt>
                <c:pt idx="361">
                  <c:v>2023-03-31</c:v>
                </c:pt>
                <c:pt idx="362">
                  <c:v>2023-04-07</c:v>
                </c:pt>
                <c:pt idx="363">
                  <c:v>2023-04-14</c:v>
                </c:pt>
                <c:pt idx="364">
                  <c:v>2023-04-21</c:v>
                </c:pt>
                <c:pt idx="365">
                  <c:v>2023-04-28</c:v>
                </c:pt>
                <c:pt idx="366">
                  <c:v>2023-05-05</c:v>
                </c:pt>
                <c:pt idx="367">
                  <c:v>2023-05-12</c:v>
                </c:pt>
                <c:pt idx="368">
                  <c:v>2023-05-19</c:v>
                </c:pt>
                <c:pt idx="369">
                  <c:v>2023-05-26</c:v>
                </c:pt>
                <c:pt idx="370">
                  <c:v>2023-06-02</c:v>
                </c:pt>
                <c:pt idx="371">
                  <c:v>2023-06-09</c:v>
                </c:pt>
                <c:pt idx="372">
                  <c:v>2023-06-16</c:v>
                </c:pt>
                <c:pt idx="373">
                  <c:v>2023-06-21</c:v>
                </c:pt>
                <c:pt idx="374">
                  <c:v>2023-06-30</c:v>
                </c:pt>
                <c:pt idx="375">
                  <c:v>2023-07-07</c:v>
                </c:pt>
                <c:pt idx="376">
                  <c:v>2023-07-14</c:v>
                </c:pt>
                <c:pt idx="377">
                  <c:v>2023-07-21</c:v>
                </c:pt>
                <c:pt idx="378">
                  <c:v>2023-07-28</c:v>
                </c:pt>
                <c:pt idx="379">
                  <c:v>2023-08-04</c:v>
                </c:pt>
                <c:pt idx="380">
                  <c:v>2023-08-11</c:v>
                </c:pt>
                <c:pt idx="381">
                  <c:v>2023-08-18</c:v>
                </c:pt>
                <c:pt idx="382">
                  <c:v>2023-08-25</c:v>
                </c:pt>
                <c:pt idx="383">
                  <c:v>2023-09-01</c:v>
                </c:pt>
                <c:pt idx="384">
                  <c:v>2023-09-08</c:v>
                </c:pt>
                <c:pt idx="385">
                  <c:v>2023-09-15</c:v>
                </c:pt>
                <c:pt idx="386">
                  <c:v>2023-09-22</c:v>
                </c:pt>
                <c:pt idx="387">
                  <c:v>2023-09-28</c:v>
                </c:pt>
                <c:pt idx="388">
                  <c:v>2023-10-13</c:v>
                </c:pt>
                <c:pt idx="389">
                  <c:v>2023-10-20</c:v>
                </c:pt>
                <c:pt idx="390">
                  <c:v>2023-10-27</c:v>
                </c:pt>
                <c:pt idx="391">
                  <c:v>2023-11-03</c:v>
                </c:pt>
                <c:pt idx="392">
                  <c:v>2023-11-10</c:v>
                </c:pt>
                <c:pt idx="393">
                  <c:v>2023-11-17</c:v>
                </c:pt>
                <c:pt idx="394">
                  <c:v>2023-11-24</c:v>
                </c:pt>
                <c:pt idx="395">
                  <c:v>2023-12-01</c:v>
                </c:pt>
                <c:pt idx="396">
                  <c:v>2023-12-08</c:v>
                </c:pt>
                <c:pt idx="397">
                  <c:v>2023-12-15</c:v>
                </c:pt>
                <c:pt idx="398">
                  <c:v>2023-12-22</c:v>
                </c:pt>
                <c:pt idx="399">
                  <c:v>2023-12-29</c:v>
                </c:pt>
                <c:pt idx="400">
                  <c:v>2024-01-05</c:v>
                </c:pt>
                <c:pt idx="401">
                  <c:v>2024-01-12</c:v>
                </c:pt>
                <c:pt idx="402">
                  <c:v>2024-01-19</c:v>
                </c:pt>
                <c:pt idx="403">
                  <c:v>2024-01-26</c:v>
                </c:pt>
                <c:pt idx="404">
                  <c:v>2024-02-02</c:v>
                </c:pt>
                <c:pt idx="405">
                  <c:v>2024-02-08</c:v>
                </c:pt>
                <c:pt idx="406">
                  <c:v>2024-02-23</c:v>
                </c:pt>
                <c:pt idx="407">
                  <c:v>2024-03-01</c:v>
                </c:pt>
                <c:pt idx="408">
                  <c:v>2024-03-08</c:v>
                </c:pt>
                <c:pt idx="409">
                  <c:v>2024-03-15</c:v>
                </c:pt>
                <c:pt idx="410">
                  <c:v>2024-03-22</c:v>
                </c:pt>
                <c:pt idx="411">
                  <c:v>2024-03-29</c:v>
                </c:pt>
                <c:pt idx="412">
                  <c:v>2024-04-03</c:v>
                </c:pt>
                <c:pt idx="413">
                  <c:v>2024-04-12</c:v>
                </c:pt>
                <c:pt idx="414">
                  <c:v>2024-04-19</c:v>
                </c:pt>
                <c:pt idx="415">
                  <c:v>2024-04-26</c:v>
                </c:pt>
                <c:pt idx="416">
                  <c:v>2024-04-30</c:v>
                </c:pt>
                <c:pt idx="417">
                  <c:v>2024-05-10</c:v>
                </c:pt>
                <c:pt idx="418">
                  <c:v>2024-05-17</c:v>
                </c:pt>
                <c:pt idx="419">
                  <c:v>2024-05-24</c:v>
                </c:pt>
                <c:pt idx="420">
                  <c:v>2024-05-31</c:v>
                </c:pt>
                <c:pt idx="421">
                  <c:v>2024-06-07</c:v>
                </c:pt>
                <c:pt idx="422">
                  <c:v>2024-06-14</c:v>
                </c:pt>
                <c:pt idx="423">
                  <c:v>2024-06-21</c:v>
                </c:pt>
                <c:pt idx="424">
                  <c:v>2024-06-28</c:v>
                </c:pt>
                <c:pt idx="425">
                  <c:v>2024-07-05</c:v>
                </c:pt>
                <c:pt idx="426">
                  <c:v>2024-07-12</c:v>
                </c:pt>
                <c:pt idx="427">
                  <c:v>2024-07-19</c:v>
                </c:pt>
                <c:pt idx="428">
                  <c:v>2024-07-26</c:v>
                </c:pt>
                <c:pt idx="429">
                  <c:v>2024-08-02</c:v>
                </c:pt>
                <c:pt idx="430">
                  <c:v>2024-08-09</c:v>
                </c:pt>
                <c:pt idx="431">
                  <c:v>2024-08-16</c:v>
                </c:pt>
                <c:pt idx="432">
                  <c:v>2024-08-23</c:v>
                </c:pt>
                <c:pt idx="433">
                  <c:v>2024-08-30</c:v>
                </c:pt>
                <c:pt idx="434">
                  <c:v>2024-09-06</c:v>
                </c:pt>
                <c:pt idx="435">
                  <c:v>2024-09-13</c:v>
                </c:pt>
                <c:pt idx="436">
                  <c:v>2024-09-20</c:v>
                </c:pt>
                <c:pt idx="437">
                  <c:v>2024-09-27</c:v>
                </c:pt>
                <c:pt idx="438">
                  <c:v>2024-09-30</c:v>
                </c:pt>
                <c:pt idx="439">
                  <c:v>2024-10-11</c:v>
                </c:pt>
                <c:pt idx="440">
                  <c:v>2024-10-18</c:v>
                </c:pt>
                <c:pt idx="441">
                  <c:v>2024-10-25</c:v>
                </c:pt>
                <c:pt idx="442">
                  <c:v>2024-11-01</c:v>
                </c:pt>
                <c:pt idx="443">
                  <c:v>2024-11-08</c:v>
                </c:pt>
                <c:pt idx="444">
                  <c:v>2024-11-15</c:v>
                </c:pt>
                <c:pt idx="445">
                  <c:v>2024-11-22</c:v>
                </c:pt>
                <c:pt idx="446">
                  <c:v>2024-11-29</c:v>
                </c:pt>
                <c:pt idx="447">
                  <c:v>2024-12-06</c:v>
                </c:pt>
                <c:pt idx="448">
                  <c:v>2024-12-13</c:v>
                </c:pt>
                <c:pt idx="449">
                  <c:v>2024-12-20</c:v>
                </c:pt>
                <c:pt idx="450">
                  <c:v>2024-12-27</c:v>
                </c:pt>
                <c:pt idx="451">
                  <c:v>2025-01-03</c:v>
                </c:pt>
                <c:pt idx="452">
                  <c:v>2025-01-10</c:v>
                </c:pt>
                <c:pt idx="453">
                  <c:v>2025-01-17</c:v>
                </c:pt>
                <c:pt idx="454">
                  <c:v>2025-01-24</c:v>
                </c:pt>
                <c:pt idx="455">
                  <c:v>2025-01-27</c:v>
                </c:pt>
                <c:pt idx="456">
                  <c:v>2025-02-07</c:v>
                </c:pt>
                <c:pt idx="457">
                  <c:v>2025-02-14</c:v>
                </c:pt>
                <c:pt idx="458">
                  <c:v>2025-02-21</c:v>
                </c:pt>
                <c:pt idx="459">
                  <c:v>2025-02-28</c:v>
                </c:pt>
                <c:pt idx="460">
                  <c:v>2025-03-07</c:v>
                </c:pt>
                <c:pt idx="461">
                  <c:v>2025-03-14</c:v>
                </c:pt>
                <c:pt idx="462">
                  <c:v>2025-03-21</c:v>
                </c:pt>
                <c:pt idx="463">
                  <c:v>2025-03-28</c:v>
                </c:pt>
                <c:pt idx="464">
                  <c:v>2025-04-03</c:v>
                </c:pt>
                <c:pt idx="465">
                  <c:v>2025-04-11</c:v>
                </c:pt>
                <c:pt idx="466">
                  <c:v>2025-04-18</c:v>
                </c:pt>
                <c:pt idx="467">
                  <c:v>2025-04-25</c:v>
                </c:pt>
                <c:pt idx="468">
                  <c:v>2025-04-30</c:v>
                </c:pt>
                <c:pt idx="469">
                  <c:v>2025-05-09</c:v>
                </c:pt>
                <c:pt idx="470">
                  <c:v>2025-05-16</c:v>
                </c:pt>
                <c:pt idx="471">
                  <c:v>2025-05-23</c:v>
                </c:pt>
                <c:pt idx="472">
                  <c:v>2025-05-30</c:v>
                </c:pt>
                <c:pt idx="473">
                  <c:v>2025-06-06</c:v>
                </c:pt>
                <c:pt idx="474">
                  <c:v>2025-06-13</c:v>
                </c:pt>
                <c:pt idx="475">
                  <c:v>2025-06-20</c:v>
                </c:pt>
                <c:pt idx="476">
                  <c:v>2025-06-27</c:v>
                </c:pt>
                <c:pt idx="477">
                  <c:v>2025-07-04</c:v>
                </c:pt>
                <c:pt idx="478">
                  <c:v>2025-07-11</c:v>
                </c:pt>
                <c:pt idx="479">
                  <c:v>2025-07-18</c:v>
                </c:pt>
                <c:pt idx="480">
                  <c:v>2025-07-25</c:v>
                </c:pt>
                <c:pt idx="481">
                  <c:v>2025-08-01</c:v>
                </c:pt>
                <c:pt idx="482">
                  <c:v>2025-08-08</c:v>
                </c:pt>
                <c:pt idx="483">
                  <c:v>2025-08-15</c:v>
                </c:pt>
                <c:pt idx="484">
                  <c:v>2025-08-22</c:v>
                </c:pt>
                <c:pt idx="485">
                  <c:v>2025-08-29</c:v>
                </c:pt>
                <c:pt idx="486">
                  <c:v>2025-09-05</c:v>
                </c:pt>
                <c:pt idx="487">
                  <c:v>2025-09-12</c:v>
                </c:pt>
                <c:pt idx="488">
                  <c:v>2025-09-19</c:v>
                </c:pt>
                <c:pt idx="489">
                  <c:v>2025-09-26</c:v>
                </c:pt>
                <c:pt idx="490">
                  <c:v>2025-09-30</c:v>
                </c:pt>
                <c:pt idx="491">
                  <c:v>2025-10-10</c:v>
                </c:pt>
                <c:pt idx="492">
                  <c:v>2025-10-17</c:v>
                </c:pt>
                <c:pt idx="493">
                  <c:v>2025-10-24</c:v>
                </c:pt>
                <c:pt idx="494">
                  <c:v>2025-10-31</c:v>
                </c:pt>
                <c:pt idx="495">
                  <c:v>2025-11-07</c:v>
                </c:pt>
                <c:pt idx="496">
                  <c:v>2025-11-14</c:v>
                </c:pt>
                <c:pt idx="497">
                  <c:v>2025-11-21</c:v>
                </c:pt>
                <c:pt idx="498">
                  <c:v>2025-11-28</c:v>
                </c:pt>
                <c:pt idx="499">
                  <c:v>2025-12-05</c:v>
                </c:pt>
                <c:pt idx="500">
                  <c:v>2025-12-12</c:v>
                </c:pt>
                <c:pt idx="501">
                  <c:v>2025-12-19</c:v>
                </c:pt>
                <c:pt idx="502">
                  <c:v>2025-12-26</c:v>
                </c:pt>
                <c:pt idx="503">
                  <c:v>2025-12-31</c:v>
                </c:pt>
                <c:pt idx="504">
                  <c:v>2026-01-09</c:v>
                </c:pt>
                <c:pt idx="505">
                  <c:v>2026-01-16</c:v>
                </c:pt>
                <c:pt idx="506">
                  <c:v>2026-01-23</c:v>
                </c:pt>
                <c:pt idx="507">
                  <c:v>2026-01-30</c:v>
                </c:pt>
                <c:pt idx="508">
                  <c:v>2026-02-06</c:v>
                </c:pt>
                <c:pt idx="509">
                  <c:v>2026-02-13</c:v>
                </c:pt>
                <c:pt idx="510">
                  <c:v>2026-02-27</c:v>
                </c:pt>
                <c:pt idx="511">
                  <c:v>2026-03-06</c:v>
                </c:pt>
                <c:pt idx="512">
                  <c:v>2026-03-13</c:v>
                </c:pt>
                <c:pt idx="513">
                  <c:v>2026-03-20</c:v>
                </c:pt>
                <c:pt idx="514">
                  <c:v>2026-03-27</c:v>
                </c:pt>
                <c:pt idx="515">
                  <c:v>2026-04-03</c:v>
                </c:pt>
                <c:pt idx="516">
                  <c:v>2026-04-10</c:v>
                </c:pt>
                <c:pt idx="517">
                  <c:v>2026-04-17</c:v>
                </c:pt>
                <c:pt idx="518">
                  <c:v>2026-04-24</c:v>
                </c:pt>
                <c:pt idx="519">
                  <c:v>2026-04-30</c:v>
                </c:pt>
                <c:pt idx="520">
                  <c:v>2026-05-08</c:v>
                </c:pt>
                <c:pt idx="521">
                  <c:v>2026-05-15</c:v>
                </c:pt>
                <c:pt idx="522">
                  <c:v>2026-05-22</c:v>
                </c:pt>
                <c:pt idx="523">
                  <c:v>2026-05-29</c:v>
                </c:pt>
              </c:strCache>
            </c:strRef>
          </c:cat>
          <c:val>
            <c:numRef>
              <c:f>Sheet4!$E$2:$E$525</c:f>
              <c:numCache>
                <c:formatCode>0.00</c:formatCode>
                <c:ptCount val="524"/>
                <c:pt idx="0">
                  <c:v>2.92</c:v>
                </c:pt>
                <c:pt idx="1">
                  <c:v>2.92</c:v>
                </c:pt>
                <c:pt idx="2">
                  <c:v>2.92</c:v>
                </c:pt>
                <c:pt idx="3">
                  <c:v>2.92</c:v>
                </c:pt>
                <c:pt idx="4">
                  <c:v>2.92</c:v>
                </c:pt>
                <c:pt idx="5">
                  <c:v>2.92</c:v>
                </c:pt>
                <c:pt idx="6">
                  <c:v>2.92</c:v>
                </c:pt>
                <c:pt idx="7">
                  <c:v>2.92</c:v>
                </c:pt>
                <c:pt idx="8">
                  <c:v>2.92</c:v>
                </c:pt>
                <c:pt idx="9">
                  <c:v>2.92</c:v>
                </c:pt>
                <c:pt idx="10">
                  <c:v>2.92</c:v>
                </c:pt>
                <c:pt idx="11">
                  <c:v>2.92</c:v>
                </c:pt>
                <c:pt idx="12">
                  <c:v>2.92</c:v>
                </c:pt>
                <c:pt idx="13">
                  <c:v>2.92</c:v>
                </c:pt>
                <c:pt idx="14">
                  <c:v>2.92</c:v>
                </c:pt>
                <c:pt idx="15">
                  <c:v>2.92</c:v>
                </c:pt>
                <c:pt idx="16">
                  <c:v>2.92</c:v>
                </c:pt>
                <c:pt idx="17">
                  <c:v>2.92</c:v>
                </c:pt>
                <c:pt idx="18">
                  <c:v>2.92</c:v>
                </c:pt>
                <c:pt idx="19">
                  <c:v>2.92</c:v>
                </c:pt>
                <c:pt idx="20">
                  <c:v>2.92</c:v>
                </c:pt>
                <c:pt idx="21">
                  <c:v>2.92</c:v>
                </c:pt>
                <c:pt idx="22">
                  <c:v>2.92</c:v>
                </c:pt>
                <c:pt idx="23">
                  <c:v>2.92</c:v>
                </c:pt>
                <c:pt idx="24">
                  <c:v>2.92</c:v>
                </c:pt>
                <c:pt idx="25">
                  <c:v>2.92</c:v>
                </c:pt>
                <c:pt idx="26">
                  <c:v>2.92</c:v>
                </c:pt>
                <c:pt idx="27">
                  <c:v>2.92</c:v>
                </c:pt>
                <c:pt idx="28">
                  <c:v>2.92</c:v>
                </c:pt>
                <c:pt idx="29">
                  <c:v>2.92</c:v>
                </c:pt>
                <c:pt idx="30">
                  <c:v>2.92</c:v>
                </c:pt>
                <c:pt idx="31">
                  <c:v>2.92</c:v>
                </c:pt>
                <c:pt idx="32">
                  <c:v>2.92</c:v>
                </c:pt>
                <c:pt idx="33">
                  <c:v>2.92</c:v>
                </c:pt>
                <c:pt idx="34">
                  <c:v>2.92</c:v>
                </c:pt>
                <c:pt idx="35">
                  <c:v>2.92</c:v>
                </c:pt>
                <c:pt idx="36">
                  <c:v>2.92</c:v>
                </c:pt>
                <c:pt idx="37">
                  <c:v>2.92</c:v>
                </c:pt>
                <c:pt idx="38">
                  <c:v>2.92</c:v>
                </c:pt>
                <c:pt idx="39">
                  <c:v>2.92</c:v>
                </c:pt>
                <c:pt idx="40">
                  <c:v>2.92</c:v>
                </c:pt>
                <c:pt idx="41">
                  <c:v>2.92</c:v>
                </c:pt>
                <c:pt idx="42">
                  <c:v>2.92</c:v>
                </c:pt>
                <c:pt idx="43">
                  <c:v>2.92</c:v>
                </c:pt>
                <c:pt idx="44">
                  <c:v>2.92</c:v>
                </c:pt>
                <c:pt idx="45">
                  <c:v>2.92</c:v>
                </c:pt>
                <c:pt idx="46">
                  <c:v>2.92</c:v>
                </c:pt>
                <c:pt idx="47">
                  <c:v>2.92</c:v>
                </c:pt>
                <c:pt idx="48">
                  <c:v>2.92</c:v>
                </c:pt>
                <c:pt idx="49">
                  <c:v>2.92</c:v>
                </c:pt>
                <c:pt idx="50">
                  <c:v>2.92</c:v>
                </c:pt>
                <c:pt idx="51">
                  <c:v>2.92</c:v>
                </c:pt>
                <c:pt idx="52">
                  <c:v>2.92</c:v>
                </c:pt>
                <c:pt idx="53">
                  <c:v>2.92</c:v>
                </c:pt>
                <c:pt idx="54">
                  <c:v>2.92</c:v>
                </c:pt>
                <c:pt idx="55">
                  <c:v>2.92</c:v>
                </c:pt>
                <c:pt idx="56">
                  <c:v>2.92</c:v>
                </c:pt>
                <c:pt idx="57">
                  <c:v>2.92</c:v>
                </c:pt>
                <c:pt idx="58">
                  <c:v>2.92</c:v>
                </c:pt>
                <c:pt idx="59">
                  <c:v>2.92</c:v>
                </c:pt>
                <c:pt idx="60">
                  <c:v>2.92</c:v>
                </c:pt>
                <c:pt idx="61">
                  <c:v>2.92</c:v>
                </c:pt>
                <c:pt idx="62">
                  <c:v>2.92</c:v>
                </c:pt>
                <c:pt idx="63">
                  <c:v>2.92</c:v>
                </c:pt>
                <c:pt idx="64">
                  <c:v>2.92</c:v>
                </c:pt>
                <c:pt idx="65">
                  <c:v>2.92</c:v>
                </c:pt>
                <c:pt idx="66">
                  <c:v>2.92</c:v>
                </c:pt>
                <c:pt idx="67">
                  <c:v>2.92</c:v>
                </c:pt>
                <c:pt idx="68">
                  <c:v>2.92</c:v>
                </c:pt>
                <c:pt idx="69">
                  <c:v>2.92</c:v>
                </c:pt>
                <c:pt idx="70">
                  <c:v>2.92</c:v>
                </c:pt>
                <c:pt idx="71">
                  <c:v>2.92</c:v>
                </c:pt>
                <c:pt idx="72">
                  <c:v>2.92</c:v>
                </c:pt>
                <c:pt idx="73">
                  <c:v>2.92</c:v>
                </c:pt>
                <c:pt idx="74">
                  <c:v>2.92</c:v>
                </c:pt>
                <c:pt idx="75">
                  <c:v>2.92</c:v>
                </c:pt>
                <c:pt idx="76">
                  <c:v>2.92</c:v>
                </c:pt>
                <c:pt idx="77">
                  <c:v>2.92</c:v>
                </c:pt>
                <c:pt idx="78">
                  <c:v>2.92</c:v>
                </c:pt>
                <c:pt idx="79">
                  <c:v>2.92</c:v>
                </c:pt>
                <c:pt idx="80">
                  <c:v>2.92</c:v>
                </c:pt>
                <c:pt idx="81">
                  <c:v>2.92</c:v>
                </c:pt>
                <c:pt idx="82">
                  <c:v>2.92</c:v>
                </c:pt>
                <c:pt idx="83">
                  <c:v>2.92</c:v>
                </c:pt>
                <c:pt idx="84">
                  <c:v>2.92</c:v>
                </c:pt>
                <c:pt idx="85">
                  <c:v>2.92</c:v>
                </c:pt>
                <c:pt idx="86">
                  <c:v>2.92</c:v>
                </c:pt>
                <c:pt idx="87">
                  <c:v>2.92</c:v>
                </c:pt>
                <c:pt idx="88">
                  <c:v>2.92</c:v>
                </c:pt>
                <c:pt idx="89">
                  <c:v>2.92</c:v>
                </c:pt>
                <c:pt idx="90">
                  <c:v>2.92</c:v>
                </c:pt>
                <c:pt idx="91">
                  <c:v>2.92</c:v>
                </c:pt>
                <c:pt idx="92">
                  <c:v>2.92</c:v>
                </c:pt>
                <c:pt idx="93">
                  <c:v>2.92</c:v>
                </c:pt>
                <c:pt idx="94">
                  <c:v>2.92</c:v>
                </c:pt>
                <c:pt idx="95">
                  <c:v>2.92</c:v>
                </c:pt>
                <c:pt idx="96">
                  <c:v>2.92</c:v>
                </c:pt>
                <c:pt idx="97">
                  <c:v>2.92</c:v>
                </c:pt>
                <c:pt idx="98">
                  <c:v>2.92</c:v>
                </c:pt>
                <c:pt idx="99">
                  <c:v>2.92</c:v>
                </c:pt>
                <c:pt idx="100">
                  <c:v>2.92</c:v>
                </c:pt>
                <c:pt idx="101">
                  <c:v>2.92</c:v>
                </c:pt>
                <c:pt idx="102">
                  <c:v>2.92</c:v>
                </c:pt>
                <c:pt idx="103">
                  <c:v>2.92</c:v>
                </c:pt>
                <c:pt idx="104">
                  <c:v>2.92</c:v>
                </c:pt>
                <c:pt idx="105">
                  <c:v>2.92</c:v>
                </c:pt>
                <c:pt idx="106">
                  <c:v>2.92</c:v>
                </c:pt>
                <c:pt idx="107">
                  <c:v>2.92</c:v>
                </c:pt>
                <c:pt idx="108">
                  <c:v>2.92</c:v>
                </c:pt>
                <c:pt idx="109">
                  <c:v>2.92</c:v>
                </c:pt>
                <c:pt idx="110">
                  <c:v>2.92</c:v>
                </c:pt>
                <c:pt idx="111">
                  <c:v>2.92</c:v>
                </c:pt>
                <c:pt idx="112">
                  <c:v>2.92</c:v>
                </c:pt>
                <c:pt idx="113">
                  <c:v>2.92</c:v>
                </c:pt>
                <c:pt idx="114">
                  <c:v>2.92</c:v>
                </c:pt>
                <c:pt idx="115">
                  <c:v>2.92</c:v>
                </c:pt>
                <c:pt idx="116">
                  <c:v>2.92</c:v>
                </c:pt>
                <c:pt idx="117">
                  <c:v>2.92</c:v>
                </c:pt>
                <c:pt idx="118">
                  <c:v>2.92</c:v>
                </c:pt>
                <c:pt idx="119">
                  <c:v>2.92</c:v>
                </c:pt>
                <c:pt idx="120">
                  <c:v>2.92</c:v>
                </c:pt>
                <c:pt idx="121">
                  <c:v>2.92</c:v>
                </c:pt>
                <c:pt idx="122">
                  <c:v>2.92</c:v>
                </c:pt>
                <c:pt idx="123">
                  <c:v>2.92</c:v>
                </c:pt>
                <c:pt idx="124">
                  <c:v>2.92</c:v>
                </c:pt>
                <c:pt idx="125">
                  <c:v>2.92</c:v>
                </c:pt>
                <c:pt idx="126">
                  <c:v>2.92</c:v>
                </c:pt>
                <c:pt idx="127">
                  <c:v>2.92</c:v>
                </c:pt>
                <c:pt idx="128">
                  <c:v>2.92</c:v>
                </c:pt>
                <c:pt idx="129">
                  <c:v>2.92</c:v>
                </c:pt>
                <c:pt idx="130">
                  <c:v>2.92</c:v>
                </c:pt>
                <c:pt idx="131">
                  <c:v>2.92</c:v>
                </c:pt>
                <c:pt idx="132">
                  <c:v>2.92</c:v>
                </c:pt>
                <c:pt idx="133">
                  <c:v>2.92</c:v>
                </c:pt>
                <c:pt idx="134">
                  <c:v>2.92</c:v>
                </c:pt>
                <c:pt idx="135">
                  <c:v>2.92</c:v>
                </c:pt>
                <c:pt idx="136">
                  <c:v>2.92</c:v>
                </c:pt>
                <c:pt idx="137">
                  <c:v>2.92</c:v>
                </c:pt>
                <c:pt idx="138">
                  <c:v>2.92</c:v>
                </c:pt>
                <c:pt idx="139">
                  <c:v>2.92</c:v>
                </c:pt>
                <c:pt idx="140">
                  <c:v>2.92</c:v>
                </c:pt>
                <c:pt idx="141">
                  <c:v>2.92</c:v>
                </c:pt>
                <c:pt idx="142">
                  <c:v>2.92</c:v>
                </c:pt>
                <c:pt idx="143">
                  <c:v>2.92</c:v>
                </c:pt>
                <c:pt idx="144">
                  <c:v>2.92</c:v>
                </c:pt>
                <c:pt idx="145">
                  <c:v>2.92</c:v>
                </c:pt>
                <c:pt idx="146">
                  <c:v>2.92</c:v>
                </c:pt>
                <c:pt idx="147">
                  <c:v>2.92</c:v>
                </c:pt>
                <c:pt idx="148">
                  <c:v>2.92</c:v>
                </c:pt>
                <c:pt idx="149">
                  <c:v>2.92</c:v>
                </c:pt>
                <c:pt idx="150">
                  <c:v>2.92</c:v>
                </c:pt>
                <c:pt idx="151">
                  <c:v>2.92</c:v>
                </c:pt>
                <c:pt idx="152">
                  <c:v>2.92</c:v>
                </c:pt>
                <c:pt idx="153">
                  <c:v>2.92</c:v>
                </c:pt>
                <c:pt idx="154">
                  <c:v>2.92</c:v>
                </c:pt>
                <c:pt idx="155">
                  <c:v>2.92</c:v>
                </c:pt>
                <c:pt idx="156">
                  <c:v>2.92</c:v>
                </c:pt>
                <c:pt idx="157">
                  <c:v>2.92</c:v>
                </c:pt>
                <c:pt idx="158">
                  <c:v>2.92</c:v>
                </c:pt>
                <c:pt idx="159">
                  <c:v>2.92</c:v>
                </c:pt>
                <c:pt idx="160">
                  <c:v>2.92</c:v>
                </c:pt>
                <c:pt idx="161">
                  <c:v>2.92</c:v>
                </c:pt>
                <c:pt idx="162">
                  <c:v>2.92</c:v>
                </c:pt>
                <c:pt idx="163">
                  <c:v>2.92</c:v>
                </c:pt>
                <c:pt idx="164">
                  <c:v>2.92</c:v>
                </c:pt>
                <c:pt idx="165">
                  <c:v>2.92</c:v>
                </c:pt>
                <c:pt idx="166">
                  <c:v>2.92</c:v>
                </c:pt>
                <c:pt idx="167">
                  <c:v>2.92</c:v>
                </c:pt>
                <c:pt idx="168">
                  <c:v>2.92</c:v>
                </c:pt>
                <c:pt idx="169">
                  <c:v>2.92</c:v>
                </c:pt>
                <c:pt idx="170">
                  <c:v>2.92</c:v>
                </c:pt>
                <c:pt idx="171">
                  <c:v>2.92</c:v>
                </c:pt>
                <c:pt idx="172">
                  <c:v>2.92</c:v>
                </c:pt>
                <c:pt idx="173">
                  <c:v>2.92</c:v>
                </c:pt>
                <c:pt idx="174">
                  <c:v>2.92</c:v>
                </c:pt>
                <c:pt idx="175">
                  <c:v>2.92</c:v>
                </c:pt>
                <c:pt idx="176">
                  <c:v>2.92</c:v>
                </c:pt>
                <c:pt idx="177">
                  <c:v>2.92</c:v>
                </c:pt>
                <c:pt idx="178">
                  <c:v>2.92</c:v>
                </c:pt>
                <c:pt idx="179">
                  <c:v>2.92</c:v>
                </c:pt>
                <c:pt idx="180">
                  <c:v>2.92</c:v>
                </c:pt>
                <c:pt idx="181">
                  <c:v>2.92</c:v>
                </c:pt>
                <c:pt idx="182">
                  <c:v>2.92</c:v>
                </c:pt>
                <c:pt idx="183">
                  <c:v>2.92</c:v>
                </c:pt>
                <c:pt idx="184">
                  <c:v>2.92</c:v>
                </c:pt>
                <c:pt idx="185">
                  <c:v>2.92</c:v>
                </c:pt>
                <c:pt idx="186">
                  <c:v>2.92</c:v>
                </c:pt>
                <c:pt idx="187">
                  <c:v>2.92</c:v>
                </c:pt>
                <c:pt idx="188">
                  <c:v>2.92</c:v>
                </c:pt>
                <c:pt idx="189">
                  <c:v>2.92</c:v>
                </c:pt>
                <c:pt idx="190">
                  <c:v>2.92</c:v>
                </c:pt>
                <c:pt idx="191">
                  <c:v>2.92</c:v>
                </c:pt>
                <c:pt idx="192">
                  <c:v>2.92</c:v>
                </c:pt>
                <c:pt idx="193">
                  <c:v>2.92</c:v>
                </c:pt>
                <c:pt idx="194">
                  <c:v>2.92</c:v>
                </c:pt>
                <c:pt idx="195">
                  <c:v>2.92</c:v>
                </c:pt>
                <c:pt idx="196">
                  <c:v>2.92</c:v>
                </c:pt>
                <c:pt idx="197">
                  <c:v>2.92</c:v>
                </c:pt>
                <c:pt idx="198">
                  <c:v>2.92</c:v>
                </c:pt>
                <c:pt idx="199">
                  <c:v>2.92</c:v>
                </c:pt>
                <c:pt idx="200">
                  <c:v>2.92</c:v>
                </c:pt>
                <c:pt idx="201">
                  <c:v>2.92</c:v>
                </c:pt>
                <c:pt idx="202">
                  <c:v>2.92</c:v>
                </c:pt>
                <c:pt idx="203">
                  <c:v>2.92</c:v>
                </c:pt>
                <c:pt idx="204">
                  <c:v>2.92</c:v>
                </c:pt>
                <c:pt idx="205">
                  <c:v>2.92</c:v>
                </c:pt>
                <c:pt idx="206">
                  <c:v>2.92</c:v>
                </c:pt>
                <c:pt idx="207">
                  <c:v>2.92</c:v>
                </c:pt>
                <c:pt idx="208">
                  <c:v>2.92</c:v>
                </c:pt>
                <c:pt idx="209">
                  <c:v>2.92</c:v>
                </c:pt>
                <c:pt idx="210">
                  <c:v>2.92</c:v>
                </c:pt>
                <c:pt idx="211">
                  <c:v>2.92</c:v>
                </c:pt>
                <c:pt idx="212">
                  <c:v>2.92</c:v>
                </c:pt>
                <c:pt idx="213">
                  <c:v>2.92</c:v>
                </c:pt>
                <c:pt idx="214">
                  <c:v>2.92</c:v>
                </c:pt>
                <c:pt idx="215">
                  <c:v>2.92</c:v>
                </c:pt>
                <c:pt idx="216">
                  <c:v>2.92</c:v>
                </c:pt>
                <c:pt idx="217">
                  <c:v>2.92</c:v>
                </c:pt>
                <c:pt idx="218">
                  <c:v>2.92</c:v>
                </c:pt>
                <c:pt idx="219">
                  <c:v>2.92</c:v>
                </c:pt>
                <c:pt idx="220">
                  <c:v>2.92</c:v>
                </c:pt>
                <c:pt idx="221">
                  <c:v>2.92</c:v>
                </c:pt>
                <c:pt idx="222">
                  <c:v>2.92</c:v>
                </c:pt>
                <c:pt idx="223">
                  <c:v>2.92</c:v>
                </c:pt>
                <c:pt idx="224">
                  <c:v>2.92</c:v>
                </c:pt>
                <c:pt idx="225">
                  <c:v>2.92</c:v>
                </c:pt>
                <c:pt idx="226">
                  <c:v>2.92</c:v>
                </c:pt>
                <c:pt idx="227">
                  <c:v>2.92</c:v>
                </c:pt>
                <c:pt idx="228">
                  <c:v>2.92</c:v>
                </c:pt>
                <c:pt idx="229">
                  <c:v>2.92</c:v>
                </c:pt>
                <c:pt idx="230">
                  <c:v>2.92</c:v>
                </c:pt>
                <c:pt idx="231">
                  <c:v>2.92</c:v>
                </c:pt>
                <c:pt idx="232">
                  <c:v>2.92</c:v>
                </c:pt>
                <c:pt idx="233">
                  <c:v>2.92</c:v>
                </c:pt>
                <c:pt idx="234">
                  <c:v>2.92</c:v>
                </c:pt>
                <c:pt idx="235">
                  <c:v>2.92</c:v>
                </c:pt>
                <c:pt idx="236">
                  <c:v>2.92</c:v>
                </c:pt>
                <c:pt idx="237">
                  <c:v>2.92</c:v>
                </c:pt>
                <c:pt idx="238">
                  <c:v>2.92</c:v>
                </c:pt>
                <c:pt idx="239">
                  <c:v>2.92</c:v>
                </c:pt>
                <c:pt idx="240">
                  <c:v>2.92</c:v>
                </c:pt>
                <c:pt idx="241">
                  <c:v>2.92</c:v>
                </c:pt>
                <c:pt idx="242">
                  <c:v>2.92</c:v>
                </c:pt>
                <c:pt idx="243">
                  <c:v>2.92</c:v>
                </c:pt>
                <c:pt idx="244">
                  <c:v>2.92</c:v>
                </c:pt>
                <c:pt idx="245">
                  <c:v>2.92</c:v>
                </c:pt>
                <c:pt idx="246">
                  <c:v>2.92</c:v>
                </c:pt>
                <c:pt idx="247">
                  <c:v>2.92</c:v>
                </c:pt>
                <c:pt idx="248">
                  <c:v>2.92</c:v>
                </c:pt>
                <c:pt idx="249">
                  <c:v>2.92</c:v>
                </c:pt>
                <c:pt idx="250">
                  <c:v>2.92</c:v>
                </c:pt>
                <c:pt idx="251">
                  <c:v>2.92</c:v>
                </c:pt>
                <c:pt idx="252">
                  <c:v>2.92</c:v>
                </c:pt>
                <c:pt idx="253">
                  <c:v>2.92</c:v>
                </c:pt>
                <c:pt idx="254">
                  <c:v>2.92</c:v>
                </c:pt>
                <c:pt idx="255">
                  <c:v>2.92</c:v>
                </c:pt>
                <c:pt idx="256">
                  <c:v>2.92</c:v>
                </c:pt>
                <c:pt idx="257">
                  <c:v>2.92</c:v>
                </c:pt>
                <c:pt idx="258">
                  <c:v>2.92</c:v>
                </c:pt>
                <c:pt idx="259">
                  <c:v>2.92</c:v>
                </c:pt>
                <c:pt idx="260">
                  <c:v>2.92</c:v>
                </c:pt>
                <c:pt idx="261">
                  <c:v>2.92</c:v>
                </c:pt>
                <c:pt idx="262">
                  <c:v>2.92</c:v>
                </c:pt>
                <c:pt idx="263">
                  <c:v>2.92</c:v>
                </c:pt>
                <c:pt idx="264">
                  <c:v>2.92</c:v>
                </c:pt>
                <c:pt idx="265">
                  <c:v>2.92</c:v>
                </c:pt>
                <c:pt idx="266">
                  <c:v>2.92</c:v>
                </c:pt>
                <c:pt idx="267">
                  <c:v>2.92</c:v>
                </c:pt>
                <c:pt idx="268">
                  <c:v>2.92</c:v>
                </c:pt>
                <c:pt idx="269">
                  <c:v>2.92</c:v>
                </c:pt>
                <c:pt idx="270">
                  <c:v>2.92</c:v>
                </c:pt>
                <c:pt idx="271">
                  <c:v>2.92</c:v>
                </c:pt>
                <c:pt idx="272">
                  <c:v>2.92</c:v>
                </c:pt>
                <c:pt idx="273">
                  <c:v>2.92</c:v>
                </c:pt>
                <c:pt idx="274">
                  <c:v>2.92</c:v>
                </c:pt>
                <c:pt idx="275">
                  <c:v>2.92</c:v>
                </c:pt>
                <c:pt idx="276">
                  <c:v>2.92</c:v>
                </c:pt>
                <c:pt idx="277">
                  <c:v>2.92</c:v>
                </c:pt>
                <c:pt idx="278">
                  <c:v>2.92</c:v>
                </c:pt>
                <c:pt idx="279">
                  <c:v>2.92</c:v>
                </c:pt>
                <c:pt idx="280">
                  <c:v>2.92</c:v>
                </c:pt>
                <c:pt idx="281">
                  <c:v>2.92</c:v>
                </c:pt>
                <c:pt idx="282">
                  <c:v>2.92</c:v>
                </c:pt>
                <c:pt idx="283">
                  <c:v>2.92</c:v>
                </c:pt>
                <c:pt idx="284">
                  <c:v>2.92</c:v>
                </c:pt>
                <c:pt idx="285">
                  <c:v>2.92</c:v>
                </c:pt>
                <c:pt idx="286">
                  <c:v>2.92</c:v>
                </c:pt>
                <c:pt idx="287">
                  <c:v>2.92</c:v>
                </c:pt>
                <c:pt idx="288">
                  <c:v>2.92</c:v>
                </c:pt>
                <c:pt idx="289">
                  <c:v>2.92</c:v>
                </c:pt>
                <c:pt idx="290">
                  <c:v>2.92</c:v>
                </c:pt>
                <c:pt idx="291">
                  <c:v>2.92</c:v>
                </c:pt>
                <c:pt idx="292">
                  <c:v>2.92</c:v>
                </c:pt>
                <c:pt idx="293">
                  <c:v>2.92</c:v>
                </c:pt>
                <c:pt idx="294">
                  <c:v>2.92</c:v>
                </c:pt>
                <c:pt idx="295">
                  <c:v>2.92</c:v>
                </c:pt>
                <c:pt idx="296">
                  <c:v>2.92</c:v>
                </c:pt>
                <c:pt idx="297">
                  <c:v>2.92</c:v>
                </c:pt>
                <c:pt idx="298">
                  <c:v>2.92</c:v>
                </c:pt>
                <c:pt idx="299">
                  <c:v>2.92</c:v>
                </c:pt>
                <c:pt idx="300">
                  <c:v>2.92</c:v>
                </c:pt>
                <c:pt idx="301">
                  <c:v>2.92</c:v>
                </c:pt>
                <c:pt idx="302">
                  <c:v>2.92</c:v>
                </c:pt>
                <c:pt idx="303">
                  <c:v>2.92</c:v>
                </c:pt>
                <c:pt idx="304">
                  <c:v>2.92</c:v>
                </c:pt>
                <c:pt idx="305">
                  <c:v>2.92</c:v>
                </c:pt>
                <c:pt idx="306">
                  <c:v>2.92</c:v>
                </c:pt>
                <c:pt idx="307">
                  <c:v>2.92</c:v>
                </c:pt>
                <c:pt idx="308">
                  <c:v>2.92</c:v>
                </c:pt>
                <c:pt idx="309">
                  <c:v>2.92</c:v>
                </c:pt>
                <c:pt idx="310">
                  <c:v>2.92</c:v>
                </c:pt>
                <c:pt idx="311">
                  <c:v>2.92</c:v>
                </c:pt>
                <c:pt idx="312">
                  <c:v>2.92</c:v>
                </c:pt>
                <c:pt idx="313">
                  <c:v>2.92</c:v>
                </c:pt>
                <c:pt idx="314">
                  <c:v>2.92</c:v>
                </c:pt>
                <c:pt idx="315">
                  <c:v>2.92</c:v>
                </c:pt>
                <c:pt idx="316">
                  <c:v>2.92</c:v>
                </c:pt>
                <c:pt idx="317">
                  <c:v>2.92</c:v>
                </c:pt>
                <c:pt idx="318">
                  <c:v>2.92</c:v>
                </c:pt>
                <c:pt idx="319">
                  <c:v>2.92</c:v>
                </c:pt>
                <c:pt idx="320">
                  <c:v>2.92</c:v>
                </c:pt>
                <c:pt idx="321">
                  <c:v>2.92</c:v>
                </c:pt>
                <c:pt idx="322">
                  <c:v>2.92</c:v>
                </c:pt>
                <c:pt idx="323">
                  <c:v>2.92</c:v>
                </c:pt>
                <c:pt idx="324">
                  <c:v>2.92</c:v>
                </c:pt>
                <c:pt idx="325">
                  <c:v>2.92</c:v>
                </c:pt>
                <c:pt idx="326">
                  <c:v>2.92</c:v>
                </c:pt>
                <c:pt idx="327">
                  <c:v>2.92</c:v>
                </c:pt>
                <c:pt idx="328">
                  <c:v>2.92</c:v>
                </c:pt>
                <c:pt idx="329">
                  <c:v>2.92</c:v>
                </c:pt>
                <c:pt idx="330">
                  <c:v>2.92</c:v>
                </c:pt>
                <c:pt idx="331">
                  <c:v>2.92</c:v>
                </c:pt>
                <c:pt idx="332">
                  <c:v>2.92</c:v>
                </c:pt>
                <c:pt idx="333">
                  <c:v>2.92</c:v>
                </c:pt>
                <c:pt idx="334">
                  <c:v>2.92</c:v>
                </c:pt>
                <c:pt idx="335">
                  <c:v>2.92</c:v>
                </c:pt>
                <c:pt idx="336">
                  <c:v>2.92</c:v>
                </c:pt>
                <c:pt idx="337">
                  <c:v>2.92</c:v>
                </c:pt>
                <c:pt idx="338">
                  <c:v>2.92</c:v>
                </c:pt>
                <c:pt idx="339">
                  <c:v>2.92</c:v>
                </c:pt>
                <c:pt idx="340">
                  <c:v>2.92</c:v>
                </c:pt>
                <c:pt idx="341">
                  <c:v>2.92</c:v>
                </c:pt>
                <c:pt idx="342">
                  <c:v>2.92</c:v>
                </c:pt>
                <c:pt idx="343">
                  <c:v>2.92</c:v>
                </c:pt>
                <c:pt idx="344">
                  <c:v>2.92</c:v>
                </c:pt>
                <c:pt idx="345">
                  <c:v>2.92</c:v>
                </c:pt>
                <c:pt idx="346">
                  <c:v>2.92</c:v>
                </c:pt>
                <c:pt idx="347">
                  <c:v>2.92</c:v>
                </c:pt>
                <c:pt idx="348">
                  <c:v>2.92</c:v>
                </c:pt>
                <c:pt idx="349">
                  <c:v>2.92</c:v>
                </c:pt>
                <c:pt idx="350">
                  <c:v>2.92</c:v>
                </c:pt>
                <c:pt idx="351">
                  <c:v>2.92</c:v>
                </c:pt>
                <c:pt idx="352">
                  <c:v>2.92</c:v>
                </c:pt>
                <c:pt idx="353">
                  <c:v>2.92</c:v>
                </c:pt>
                <c:pt idx="354">
                  <c:v>2.92</c:v>
                </c:pt>
                <c:pt idx="355">
                  <c:v>2.92</c:v>
                </c:pt>
                <c:pt idx="356">
                  <c:v>2.92</c:v>
                </c:pt>
                <c:pt idx="357">
                  <c:v>2.92</c:v>
                </c:pt>
                <c:pt idx="358">
                  <c:v>2.92</c:v>
                </c:pt>
                <c:pt idx="359">
                  <c:v>2.92</c:v>
                </c:pt>
                <c:pt idx="360">
                  <c:v>2.92</c:v>
                </c:pt>
                <c:pt idx="361">
                  <c:v>2.92</c:v>
                </c:pt>
                <c:pt idx="362">
                  <c:v>2.92</c:v>
                </c:pt>
                <c:pt idx="363">
                  <c:v>2.92</c:v>
                </c:pt>
                <c:pt idx="364">
                  <c:v>2.92</c:v>
                </c:pt>
                <c:pt idx="365">
                  <c:v>2.92</c:v>
                </c:pt>
                <c:pt idx="366">
                  <c:v>2.92</c:v>
                </c:pt>
                <c:pt idx="367">
                  <c:v>2.92</c:v>
                </c:pt>
                <c:pt idx="368">
                  <c:v>2.92</c:v>
                </c:pt>
                <c:pt idx="369">
                  <c:v>2.92</c:v>
                </c:pt>
                <c:pt idx="370">
                  <c:v>2.92</c:v>
                </c:pt>
                <c:pt idx="371">
                  <c:v>2.92</c:v>
                </c:pt>
                <c:pt idx="372">
                  <c:v>2.92</c:v>
                </c:pt>
                <c:pt idx="373">
                  <c:v>2.92</c:v>
                </c:pt>
                <c:pt idx="374">
                  <c:v>2.92</c:v>
                </c:pt>
                <c:pt idx="375">
                  <c:v>2.92</c:v>
                </c:pt>
                <c:pt idx="376">
                  <c:v>2.92</c:v>
                </c:pt>
                <c:pt idx="377">
                  <c:v>2.92</c:v>
                </c:pt>
                <c:pt idx="378">
                  <c:v>2.92</c:v>
                </c:pt>
                <c:pt idx="379">
                  <c:v>2.92</c:v>
                </c:pt>
                <c:pt idx="380">
                  <c:v>2.92</c:v>
                </c:pt>
                <c:pt idx="381">
                  <c:v>2.92</c:v>
                </c:pt>
                <c:pt idx="382">
                  <c:v>2.92</c:v>
                </c:pt>
                <c:pt idx="383">
                  <c:v>2.92</c:v>
                </c:pt>
                <c:pt idx="384">
                  <c:v>2.92</c:v>
                </c:pt>
                <c:pt idx="385">
                  <c:v>2.92</c:v>
                </c:pt>
                <c:pt idx="386">
                  <c:v>2.92</c:v>
                </c:pt>
                <c:pt idx="387">
                  <c:v>2.92</c:v>
                </c:pt>
                <c:pt idx="388">
                  <c:v>2.92</c:v>
                </c:pt>
                <c:pt idx="389">
                  <c:v>2.92</c:v>
                </c:pt>
                <c:pt idx="390">
                  <c:v>2.92</c:v>
                </c:pt>
                <c:pt idx="391">
                  <c:v>2.92</c:v>
                </c:pt>
                <c:pt idx="392">
                  <c:v>2.92</c:v>
                </c:pt>
                <c:pt idx="393">
                  <c:v>2.92</c:v>
                </c:pt>
                <c:pt idx="394">
                  <c:v>2.92</c:v>
                </c:pt>
                <c:pt idx="395">
                  <c:v>2.92</c:v>
                </c:pt>
                <c:pt idx="396">
                  <c:v>2.92</c:v>
                </c:pt>
                <c:pt idx="397">
                  <c:v>2.92</c:v>
                </c:pt>
                <c:pt idx="398">
                  <c:v>2.92</c:v>
                </c:pt>
                <c:pt idx="399">
                  <c:v>2.92</c:v>
                </c:pt>
                <c:pt idx="400">
                  <c:v>2.92</c:v>
                </c:pt>
                <c:pt idx="401">
                  <c:v>2.92</c:v>
                </c:pt>
                <c:pt idx="402">
                  <c:v>2.92</c:v>
                </c:pt>
                <c:pt idx="403">
                  <c:v>2.92</c:v>
                </c:pt>
                <c:pt idx="404">
                  <c:v>2.92</c:v>
                </c:pt>
                <c:pt idx="405">
                  <c:v>2.92</c:v>
                </c:pt>
                <c:pt idx="406">
                  <c:v>2.92</c:v>
                </c:pt>
                <c:pt idx="407">
                  <c:v>2.92</c:v>
                </c:pt>
                <c:pt idx="408">
                  <c:v>2.92</c:v>
                </c:pt>
                <c:pt idx="409">
                  <c:v>2.92</c:v>
                </c:pt>
                <c:pt idx="410">
                  <c:v>2.92</c:v>
                </c:pt>
                <c:pt idx="411">
                  <c:v>2.92</c:v>
                </c:pt>
                <c:pt idx="412">
                  <c:v>2.92</c:v>
                </c:pt>
                <c:pt idx="413">
                  <c:v>2.92</c:v>
                </c:pt>
                <c:pt idx="414">
                  <c:v>2.92</c:v>
                </c:pt>
                <c:pt idx="415">
                  <c:v>2.92</c:v>
                </c:pt>
                <c:pt idx="416">
                  <c:v>2.92</c:v>
                </c:pt>
                <c:pt idx="417">
                  <c:v>2.92</c:v>
                </c:pt>
                <c:pt idx="418">
                  <c:v>2.92</c:v>
                </c:pt>
                <c:pt idx="419">
                  <c:v>2.92</c:v>
                </c:pt>
                <c:pt idx="420">
                  <c:v>2.92</c:v>
                </c:pt>
                <c:pt idx="421">
                  <c:v>2.92</c:v>
                </c:pt>
                <c:pt idx="422">
                  <c:v>2.92</c:v>
                </c:pt>
                <c:pt idx="423">
                  <c:v>2.92</c:v>
                </c:pt>
                <c:pt idx="424">
                  <c:v>2.92</c:v>
                </c:pt>
                <c:pt idx="425">
                  <c:v>2.92</c:v>
                </c:pt>
                <c:pt idx="426">
                  <c:v>2.92</c:v>
                </c:pt>
                <c:pt idx="427">
                  <c:v>2.92</c:v>
                </c:pt>
                <c:pt idx="428">
                  <c:v>2.92</c:v>
                </c:pt>
                <c:pt idx="429">
                  <c:v>2.92</c:v>
                </c:pt>
                <c:pt idx="430">
                  <c:v>2.92</c:v>
                </c:pt>
                <c:pt idx="431">
                  <c:v>2.92</c:v>
                </c:pt>
                <c:pt idx="432">
                  <c:v>2.92</c:v>
                </c:pt>
                <c:pt idx="433">
                  <c:v>2.92</c:v>
                </c:pt>
                <c:pt idx="434">
                  <c:v>2.92</c:v>
                </c:pt>
                <c:pt idx="435">
                  <c:v>2.92</c:v>
                </c:pt>
                <c:pt idx="436">
                  <c:v>2.92</c:v>
                </c:pt>
                <c:pt idx="437">
                  <c:v>2.92</c:v>
                </c:pt>
                <c:pt idx="438">
                  <c:v>2.92</c:v>
                </c:pt>
                <c:pt idx="439">
                  <c:v>2.92</c:v>
                </c:pt>
                <c:pt idx="440">
                  <c:v>2.92</c:v>
                </c:pt>
                <c:pt idx="441">
                  <c:v>2.92</c:v>
                </c:pt>
                <c:pt idx="442">
                  <c:v>2.92</c:v>
                </c:pt>
                <c:pt idx="443">
                  <c:v>2.92</c:v>
                </c:pt>
                <c:pt idx="444">
                  <c:v>2.92</c:v>
                </c:pt>
                <c:pt idx="445">
                  <c:v>2.92</c:v>
                </c:pt>
                <c:pt idx="446">
                  <c:v>2.92</c:v>
                </c:pt>
                <c:pt idx="447">
                  <c:v>2.92</c:v>
                </c:pt>
                <c:pt idx="448">
                  <c:v>2.92</c:v>
                </c:pt>
                <c:pt idx="449">
                  <c:v>2.92</c:v>
                </c:pt>
                <c:pt idx="450">
                  <c:v>2.92</c:v>
                </c:pt>
                <c:pt idx="451">
                  <c:v>2.92</c:v>
                </c:pt>
                <c:pt idx="452">
                  <c:v>2.92</c:v>
                </c:pt>
                <c:pt idx="453">
                  <c:v>2.92</c:v>
                </c:pt>
                <c:pt idx="454">
                  <c:v>2.92</c:v>
                </c:pt>
                <c:pt idx="455">
                  <c:v>2.92</c:v>
                </c:pt>
                <c:pt idx="456">
                  <c:v>2.92</c:v>
                </c:pt>
                <c:pt idx="457">
                  <c:v>2.92</c:v>
                </c:pt>
                <c:pt idx="458">
                  <c:v>2.92</c:v>
                </c:pt>
                <c:pt idx="459">
                  <c:v>2.92</c:v>
                </c:pt>
                <c:pt idx="460">
                  <c:v>2.92</c:v>
                </c:pt>
                <c:pt idx="461">
                  <c:v>2.92</c:v>
                </c:pt>
                <c:pt idx="462">
                  <c:v>2.92</c:v>
                </c:pt>
                <c:pt idx="463">
                  <c:v>2.92</c:v>
                </c:pt>
                <c:pt idx="464">
                  <c:v>2.92</c:v>
                </c:pt>
                <c:pt idx="465">
                  <c:v>2.92</c:v>
                </c:pt>
                <c:pt idx="466">
                  <c:v>2.92</c:v>
                </c:pt>
                <c:pt idx="467">
                  <c:v>2.92</c:v>
                </c:pt>
                <c:pt idx="468">
                  <c:v>2.92</c:v>
                </c:pt>
                <c:pt idx="469">
                  <c:v>2.92</c:v>
                </c:pt>
                <c:pt idx="470">
                  <c:v>2.92</c:v>
                </c:pt>
                <c:pt idx="471">
                  <c:v>2.92</c:v>
                </c:pt>
                <c:pt idx="472">
                  <c:v>2.92</c:v>
                </c:pt>
                <c:pt idx="473">
                  <c:v>2.92</c:v>
                </c:pt>
                <c:pt idx="474">
                  <c:v>2.92</c:v>
                </c:pt>
                <c:pt idx="475">
                  <c:v>2.92</c:v>
                </c:pt>
                <c:pt idx="476">
                  <c:v>2.92</c:v>
                </c:pt>
                <c:pt idx="477">
                  <c:v>2.92</c:v>
                </c:pt>
                <c:pt idx="478">
                  <c:v>2.92</c:v>
                </c:pt>
                <c:pt idx="479">
                  <c:v>2.92</c:v>
                </c:pt>
                <c:pt idx="480">
                  <c:v>2.92</c:v>
                </c:pt>
                <c:pt idx="481">
                  <c:v>2.92</c:v>
                </c:pt>
                <c:pt idx="482">
                  <c:v>2.92</c:v>
                </c:pt>
                <c:pt idx="483">
                  <c:v>2.92</c:v>
                </c:pt>
                <c:pt idx="484">
                  <c:v>2.92</c:v>
                </c:pt>
                <c:pt idx="485">
                  <c:v>2.92</c:v>
                </c:pt>
                <c:pt idx="486">
                  <c:v>2.92</c:v>
                </c:pt>
                <c:pt idx="487">
                  <c:v>2.92</c:v>
                </c:pt>
                <c:pt idx="488">
                  <c:v>2.92</c:v>
                </c:pt>
                <c:pt idx="489">
                  <c:v>2.92</c:v>
                </c:pt>
                <c:pt idx="490">
                  <c:v>2.92</c:v>
                </c:pt>
                <c:pt idx="491">
                  <c:v>2.92</c:v>
                </c:pt>
                <c:pt idx="492">
                  <c:v>2.92</c:v>
                </c:pt>
                <c:pt idx="493">
                  <c:v>2.92</c:v>
                </c:pt>
                <c:pt idx="494">
                  <c:v>2.92</c:v>
                </c:pt>
                <c:pt idx="495">
                  <c:v>2.92</c:v>
                </c:pt>
                <c:pt idx="496">
                  <c:v>2.92</c:v>
                </c:pt>
                <c:pt idx="497">
                  <c:v>2.92</c:v>
                </c:pt>
                <c:pt idx="498">
                  <c:v>2.92</c:v>
                </c:pt>
                <c:pt idx="499">
                  <c:v>2.92</c:v>
                </c:pt>
                <c:pt idx="500">
                  <c:v>2.92</c:v>
                </c:pt>
                <c:pt idx="501">
                  <c:v>2.92</c:v>
                </c:pt>
                <c:pt idx="502">
                  <c:v>2.92</c:v>
                </c:pt>
                <c:pt idx="503">
                  <c:v>2.92</c:v>
                </c:pt>
                <c:pt idx="504">
                  <c:v>2.92</c:v>
                </c:pt>
                <c:pt idx="505">
                  <c:v>2.92</c:v>
                </c:pt>
                <c:pt idx="506">
                  <c:v>2.92</c:v>
                </c:pt>
                <c:pt idx="507">
                  <c:v>2.92</c:v>
                </c:pt>
                <c:pt idx="508">
                  <c:v>2.92</c:v>
                </c:pt>
                <c:pt idx="509">
                  <c:v>2.92</c:v>
                </c:pt>
                <c:pt idx="510">
                  <c:v>2.92</c:v>
                </c:pt>
                <c:pt idx="511">
                  <c:v>2.92</c:v>
                </c:pt>
                <c:pt idx="512">
                  <c:v>2.92</c:v>
                </c:pt>
                <c:pt idx="513">
                  <c:v>2.92</c:v>
                </c:pt>
                <c:pt idx="514">
                  <c:v>2.92</c:v>
                </c:pt>
                <c:pt idx="515">
                  <c:v>2.92</c:v>
                </c:pt>
                <c:pt idx="516">
                  <c:v>2.92</c:v>
                </c:pt>
                <c:pt idx="517">
                  <c:v>2.92</c:v>
                </c:pt>
                <c:pt idx="518">
                  <c:v>2.92</c:v>
                </c:pt>
                <c:pt idx="519">
                  <c:v>2.92</c:v>
                </c:pt>
                <c:pt idx="520">
                  <c:v>2.92</c:v>
                </c:pt>
                <c:pt idx="521">
                  <c:v>2.92</c:v>
                </c:pt>
                <c:pt idx="522">
                  <c:v>2.92</c:v>
                </c:pt>
                <c:pt idx="523">
                  <c:v>2.92</c:v>
                </c:pt>
              </c:numCache>
            </c:numRef>
          </c:val>
          <c:smooth val="0"/>
          <c:extLst xmlns:c16r2="http://schemas.microsoft.com/office/drawing/2015/06/chart">
            <c:ext xmlns:c16="http://schemas.microsoft.com/office/drawing/2014/chart" uri="{C3380CC4-5D6E-409C-BE32-E72D297353CC}">
              <c16:uniqueId val="{00000002-8435-4E2B-A90C-0FCDC38003D2}"/>
            </c:ext>
          </c:extLst>
        </c:ser>
        <c:ser>
          <c:idx val="4"/>
          <c:order val="4"/>
          <c:tx>
            <c:strRef>
              <c:f>Sheet4!$F$1</c:f>
              <c:strCache>
                <c:ptCount val="1"/>
                <c:pt idx="0">
                  <c:v>机会值</c:v>
                </c:pt>
              </c:strCache>
            </c:strRef>
          </c:tx>
          <c:spPr>
            <a:ln w="28575" cap="rnd">
              <a:solidFill>
                <a:srgbClr val="00366C"/>
              </a:solidFill>
              <a:round/>
            </a:ln>
            <a:effectLst/>
          </c:spPr>
          <c:marker>
            <c:symbol val="none"/>
          </c:marker>
          <c:cat>
            <c:strRef>
              <c:f>Sheet4!$A$2:$A$525</c:f>
              <c:strCache>
                <c:ptCount val="524"/>
                <c:pt idx="0">
                  <c:v>2016-03-04</c:v>
                </c:pt>
                <c:pt idx="1">
                  <c:v>2016-03-11</c:v>
                </c:pt>
                <c:pt idx="2">
                  <c:v>2016-03-18</c:v>
                </c:pt>
                <c:pt idx="3">
                  <c:v>2016-03-25</c:v>
                </c:pt>
                <c:pt idx="4">
                  <c:v>2016-04-01</c:v>
                </c:pt>
                <c:pt idx="5">
                  <c:v>2016-04-08</c:v>
                </c:pt>
                <c:pt idx="6">
                  <c:v>2016-04-15</c:v>
                </c:pt>
                <c:pt idx="7">
                  <c:v>2016-04-22</c:v>
                </c:pt>
                <c:pt idx="8">
                  <c:v>2016-04-29</c:v>
                </c:pt>
                <c:pt idx="9">
                  <c:v>2016-05-06</c:v>
                </c:pt>
                <c:pt idx="10">
                  <c:v>2016-05-13</c:v>
                </c:pt>
                <c:pt idx="11">
                  <c:v>2016-05-20</c:v>
                </c:pt>
                <c:pt idx="12">
                  <c:v>2016-05-27</c:v>
                </c:pt>
                <c:pt idx="13">
                  <c:v>2016-06-03</c:v>
                </c:pt>
                <c:pt idx="14">
                  <c:v>2016-06-08</c:v>
                </c:pt>
                <c:pt idx="15">
                  <c:v>2016-06-17</c:v>
                </c:pt>
                <c:pt idx="16">
                  <c:v>2016-06-24</c:v>
                </c:pt>
                <c:pt idx="17">
                  <c:v>2016-07-01</c:v>
                </c:pt>
                <c:pt idx="18">
                  <c:v>2016-07-08</c:v>
                </c:pt>
                <c:pt idx="19">
                  <c:v>2016-07-15</c:v>
                </c:pt>
                <c:pt idx="20">
                  <c:v>2016-07-22</c:v>
                </c:pt>
                <c:pt idx="21">
                  <c:v>2016-07-29</c:v>
                </c:pt>
                <c:pt idx="22">
                  <c:v>2016-08-05</c:v>
                </c:pt>
                <c:pt idx="23">
                  <c:v>2016-08-12</c:v>
                </c:pt>
                <c:pt idx="24">
                  <c:v>2016-08-19</c:v>
                </c:pt>
                <c:pt idx="25">
                  <c:v>2016-08-26</c:v>
                </c:pt>
                <c:pt idx="26">
                  <c:v>2016-09-02</c:v>
                </c:pt>
                <c:pt idx="27">
                  <c:v>2016-09-09</c:v>
                </c:pt>
                <c:pt idx="28">
                  <c:v>2016-09-14</c:v>
                </c:pt>
                <c:pt idx="29">
                  <c:v>2016-09-23</c:v>
                </c:pt>
                <c:pt idx="30">
                  <c:v>2016-09-30</c:v>
                </c:pt>
                <c:pt idx="31">
                  <c:v>2016-10-14</c:v>
                </c:pt>
                <c:pt idx="32">
                  <c:v>2016-10-21</c:v>
                </c:pt>
                <c:pt idx="33">
                  <c:v>2016-10-28</c:v>
                </c:pt>
                <c:pt idx="34">
                  <c:v>2016-11-04</c:v>
                </c:pt>
                <c:pt idx="35">
                  <c:v>2016-11-11</c:v>
                </c:pt>
                <c:pt idx="36">
                  <c:v>2016-11-18</c:v>
                </c:pt>
                <c:pt idx="37">
                  <c:v>2016-11-25</c:v>
                </c:pt>
                <c:pt idx="38">
                  <c:v>2016-12-02</c:v>
                </c:pt>
                <c:pt idx="39">
                  <c:v>2016-12-09</c:v>
                </c:pt>
                <c:pt idx="40">
                  <c:v>2016-12-16</c:v>
                </c:pt>
                <c:pt idx="41">
                  <c:v>2016-12-23</c:v>
                </c:pt>
                <c:pt idx="42">
                  <c:v>2016-12-30</c:v>
                </c:pt>
                <c:pt idx="43">
                  <c:v>2017-01-06</c:v>
                </c:pt>
                <c:pt idx="44">
                  <c:v>2017-01-13</c:v>
                </c:pt>
                <c:pt idx="45">
                  <c:v>2017-01-20</c:v>
                </c:pt>
                <c:pt idx="46">
                  <c:v>2017-01-26</c:v>
                </c:pt>
                <c:pt idx="47">
                  <c:v>2017-02-03</c:v>
                </c:pt>
                <c:pt idx="48">
                  <c:v>2017-02-10</c:v>
                </c:pt>
                <c:pt idx="49">
                  <c:v>2017-02-17</c:v>
                </c:pt>
                <c:pt idx="50">
                  <c:v>2017-02-24</c:v>
                </c:pt>
                <c:pt idx="51">
                  <c:v>2017-03-03</c:v>
                </c:pt>
                <c:pt idx="52">
                  <c:v>2017-03-10</c:v>
                </c:pt>
                <c:pt idx="53">
                  <c:v>2017-03-17</c:v>
                </c:pt>
                <c:pt idx="54">
                  <c:v>2017-03-24</c:v>
                </c:pt>
                <c:pt idx="55">
                  <c:v>2017-03-31</c:v>
                </c:pt>
                <c:pt idx="56">
                  <c:v>2017-04-07</c:v>
                </c:pt>
                <c:pt idx="57">
                  <c:v>2017-04-14</c:v>
                </c:pt>
                <c:pt idx="58">
                  <c:v>2017-04-21</c:v>
                </c:pt>
                <c:pt idx="59">
                  <c:v>2017-04-28</c:v>
                </c:pt>
                <c:pt idx="60">
                  <c:v>2017-05-05</c:v>
                </c:pt>
                <c:pt idx="61">
                  <c:v>2017-05-12</c:v>
                </c:pt>
                <c:pt idx="62">
                  <c:v>2017-05-19</c:v>
                </c:pt>
                <c:pt idx="63">
                  <c:v>2017-05-26</c:v>
                </c:pt>
                <c:pt idx="64">
                  <c:v>2017-06-02</c:v>
                </c:pt>
                <c:pt idx="65">
                  <c:v>2017-06-09</c:v>
                </c:pt>
                <c:pt idx="66">
                  <c:v>2017-06-16</c:v>
                </c:pt>
                <c:pt idx="67">
                  <c:v>2017-06-23</c:v>
                </c:pt>
                <c:pt idx="68">
                  <c:v>2017-06-30</c:v>
                </c:pt>
                <c:pt idx="69">
                  <c:v>2017-07-07</c:v>
                </c:pt>
                <c:pt idx="70">
                  <c:v>2017-07-14</c:v>
                </c:pt>
                <c:pt idx="71">
                  <c:v>2017-07-21</c:v>
                </c:pt>
                <c:pt idx="72">
                  <c:v>2017-07-28</c:v>
                </c:pt>
                <c:pt idx="73">
                  <c:v>2017-08-04</c:v>
                </c:pt>
                <c:pt idx="74">
                  <c:v>2017-08-11</c:v>
                </c:pt>
                <c:pt idx="75">
                  <c:v>2017-08-18</c:v>
                </c:pt>
                <c:pt idx="76">
                  <c:v>2017-08-25</c:v>
                </c:pt>
                <c:pt idx="77">
                  <c:v>2017-09-01</c:v>
                </c:pt>
                <c:pt idx="78">
                  <c:v>2017-09-08</c:v>
                </c:pt>
                <c:pt idx="79">
                  <c:v>2017-09-15</c:v>
                </c:pt>
                <c:pt idx="80">
                  <c:v>2017-09-22</c:v>
                </c:pt>
                <c:pt idx="81">
                  <c:v>2017-09-29</c:v>
                </c:pt>
                <c:pt idx="82">
                  <c:v>2017-10-13</c:v>
                </c:pt>
                <c:pt idx="83">
                  <c:v>2017-10-20</c:v>
                </c:pt>
                <c:pt idx="84">
                  <c:v>2017-10-27</c:v>
                </c:pt>
                <c:pt idx="85">
                  <c:v>2017-11-03</c:v>
                </c:pt>
                <c:pt idx="86">
                  <c:v>2017-11-10</c:v>
                </c:pt>
                <c:pt idx="87">
                  <c:v>2017-11-17</c:v>
                </c:pt>
                <c:pt idx="88">
                  <c:v>2017-11-24</c:v>
                </c:pt>
                <c:pt idx="89">
                  <c:v>2017-12-01</c:v>
                </c:pt>
                <c:pt idx="90">
                  <c:v>2017-12-08</c:v>
                </c:pt>
                <c:pt idx="91">
                  <c:v>2017-12-15</c:v>
                </c:pt>
                <c:pt idx="92">
                  <c:v>2017-12-22</c:v>
                </c:pt>
                <c:pt idx="93">
                  <c:v>2017-12-29</c:v>
                </c:pt>
                <c:pt idx="94">
                  <c:v>2018-01-05</c:v>
                </c:pt>
                <c:pt idx="95">
                  <c:v>2018-01-12</c:v>
                </c:pt>
                <c:pt idx="96">
                  <c:v>2018-01-19</c:v>
                </c:pt>
                <c:pt idx="97">
                  <c:v>2018-01-26</c:v>
                </c:pt>
                <c:pt idx="98">
                  <c:v>2018-02-02</c:v>
                </c:pt>
                <c:pt idx="99">
                  <c:v>2018-02-09</c:v>
                </c:pt>
                <c:pt idx="100">
                  <c:v>2018-02-14</c:v>
                </c:pt>
                <c:pt idx="101">
                  <c:v>2018-02-23</c:v>
                </c:pt>
                <c:pt idx="102">
                  <c:v>2018-03-02</c:v>
                </c:pt>
                <c:pt idx="103">
                  <c:v>2018-03-09</c:v>
                </c:pt>
                <c:pt idx="104">
                  <c:v>2018-03-16</c:v>
                </c:pt>
                <c:pt idx="105">
                  <c:v>2018-03-23</c:v>
                </c:pt>
                <c:pt idx="106">
                  <c:v>2018-03-30</c:v>
                </c:pt>
                <c:pt idx="107">
                  <c:v>2018-04-04</c:v>
                </c:pt>
                <c:pt idx="108">
                  <c:v>2018-04-13</c:v>
                </c:pt>
                <c:pt idx="109">
                  <c:v>2018-04-20</c:v>
                </c:pt>
                <c:pt idx="110">
                  <c:v>2018-04-27</c:v>
                </c:pt>
                <c:pt idx="111">
                  <c:v>2018-05-04</c:v>
                </c:pt>
                <c:pt idx="112">
                  <c:v>2018-05-11</c:v>
                </c:pt>
                <c:pt idx="113">
                  <c:v>2018-05-18</c:v>
                </c:pt>
                <c:pt idx="114">
                  <c:v>2018-05-25</c:v>
                </c:pt>
                <c:pt idx="115">
                  <c:v>2018-06-01</c:v>
                </c:pt>
                <c:pt idx="116">
                  <c:v>2018-06-08</c:v>
                </c:pt>
                <c:pt idx="117">
                  <c:v>2018-06-15</c:v>
                </c:pt>
                <c:pt idx="118">
                  <c:v>2018-06-22</c:v>
                </c:pt>
                <c:pt idx="119">
                  <c:v>2018-06-29</c:v>
                </c:pt>
                <c:pt idx="120">
                  <c:v>2018-07-06</c:v>
                </c:pt>
                <c:pt idx="121">
                  <c:v>2018-07-13</c:v>
                </c:pt>
                <c:pt idx="122">
                  <c:v>2018-07-20</c:v>
                </c:pt>
                <c:pt idx="123">
                  <c:v>2018-07-27</c:v>
                </c:pt>
                <c:pt idx="124">
                  <c:v>2018-08-03</c:v>
                </c:pt>
                <c:pt idx="125">
                  <c:v>2018-08-10</c:v>
                </c:pt>
                <c:pt idx="126">
                  <c:v>2018-08-17</c:v>
                </c:pt>
                <c:pt idx="127">
                  <c:v>2018-08-24</c:v>
                </c:pt>
                <c:pt idx="128">
                  <c:v>2018-08-31</c:v>
                </c:pt>
                <c:pt idx="129">
                  <c:v>2018-09-07</c:v>
                </c:pt>
                <c:pt idx="130">
                  <c:v>2018-09-14</c:v>
                </c:pt>
                <c:pt idx="131">
                  <c:v>2018-09-21</c:v>
                </c:pt>
                <c:pt idx="132">
                  <c:v>2018-09-28</c:v>
                </c:pt>
                <c:pt idx="133">
                  <c:v>2018-10-12</c:v>
                </c:pt>
                <c:pt idx="134">
                  <c:v>2018-10-19</c:v>
                </c:pt>
                <c:pt idx="135">
                  <c:v>2018-10-26</c:v>
                </c:pt>
                <c:pt idx="136">
                  <c:v>2018-11-02</c:v>
                </c:pt>
                <c:pt idx="137">
                  <c:v>2018-11-09</c:v>
                </c:pt>
                <c:pt idx="138">
                  <c:v>2018-11-16</c:v>
                </c:pt>
                <c:pt idx="139">
                  <c:v>2018-11-23</c:v>
                </c:pt>
                <c:pt idx="140">
                  <c:v>2018-11-30</c:v>
                </c:pt>
                <c:pt idx="141">
                  <c:v>2018-12-07</c:v>
                </c:pt>
                <c:pt idx="142">
                  <c:v>2018-12-14</c:v>
                </c:pt>
                <c:pt idx="143">
                  <c:v>2018-12-21</c:v>
                </c:pt>
                <c:pt idx="144">
                  <c:v>2018-12-28</c:v>
                </c:pt>
                <c:pt idx="145">
                  <c:v>2019-01-04</c:v>
                </c:pt>
                <c:pt idx="146">
                  <c:v>2019-01-11</c:v>
                </c:pt>
                <c:pt idx="147">
                  <c:v>2019-01-18</c:v>
                </c:pt>
                <c:pt idx="148">
                  <c:v>2019-01-25</c:v>
                </c:pt>
                <c:pt idx="149">
                  <c:v>2019-02-01</c:v>
                </c:pt>
                <c:pt idx="150">
                  <c:v>2019-02-15</c:v>
                </c:pt>
                <c:pt idx="151">
                  <c:v>2019-02-22</c:v>
                </c:pt>
                <c:pt idx="152">
                  <c:v>2019-03-01</c:v>
                </c:pt>
                <c:pt idx="153">
                  <c:v>2019-03-08</c:v>
                </c:pt>
                <c:pt idx="154">
                  <c:v>2019-03-15</c:v>
                </c:pt>
                <c:pt idx="155">
                  <c:v>2019-03-22</c:v>
                </c:pt>
                <c:pt idx="156">
                  <c:v>2019-03-29</c:v>
                </c:pt>
                <c:pt idx="157">
                  <c:v>2019-04-04</c:v>
                </c:pt>
                <c:pt idx="158">
                  <c:v>2019-04-12</c:v>
                </c:pt>
                <c:pt idx="159">
                  <c:v>2019-04-19</c:v>
                </c:pt>
                <c:pt idx="160">
                  <c:v>2019-04-26</c:v>
                </c:pt>
                <c:pt idx="161">
                  <c:v>2019-04-30</c:v>
                </c:pt>
                <c:pt idx="162">
                  <c:v>2019-05-10</c:v>
                </c:pt>
                <c:pt idx="163">
                  <c:v>2019-05-17</c:v>
                </c:pt>
                <c:pt idx="164">
                  <c:v>2019-05-24</c:v>
                </c:pt>
                <c:pt idx="165">
                  <c:v>2019-05-31</c:v>
                </c:pt>
                <c:pt idx="166">
                  <c:v>2019-06-06</c:v>
                </c:pt>
                <c:pt idx="167">
                  <c:v>2019-06-14</c:v>
                </c:pt>
                <c:pt idx="168">
                  <c:v>2019-06-21</c:v>
                </c:pt>
                <c:pt idx="169">
                  <c:v>2019-06-28</c:v>
                </c:pt>
                <c:pt idx="170">
                  <c:v>2019-07-05</c:v>
                </c:pt>
                <c:pt idx="171">
                  <c:v>2019-07-12</c:v>
                </c:pt>
                <c:pt idx="172">
                  <c:v>2019-07-19</c:v>
                </c:pt>
                <c:pt idx="173">
                  <c:v>2019-07-26</c:v>
                </c:pt>
                <c:pt idx="174">
                  <c:v>2019-08-02</c:v>
                </c:pt>
                <c:pt idx="175">
                  <c:v>2019-08-09</c:v>
                </c:pt>
                <c:pt idx="176">
                  <c:v>2019-08-16</c:v>
                </c:pt>
                <c:pt idx="177">
                  <c:v>2019-08-23</c:v>
                </c:pt>
                <c:pt idx="178">
                  <c:v>2019-08-30</c:v>
                </c:pt>
                <c:pt idx="179">
                  <c:v>2019-09-06</c:v>
                </c:pt>
                <c:pt idx="180">
                  <c:v>2019-09-12</c:v>
                </c:pt>
                <c:pt idx="181">
                  <c:v>2019-09-20</c:v>
                </c:pt>
                <c:pt idx="182">
                  <c:v>2019-09-27</c:v>
                </c:pt>
                <c:pt idx="183">
                  <c:v>2019-09-30</c:v>
                </c:pt>
                <c:pt idx="184">
                  <c:v>2019-10-11</c:v>
                </c:pt>
                <c:pt idx="185">
                  <c:v>2019-10-18</c:v>
                </c:pt>
                <c:pt idx="186">
                  <c:v>2019-10-25</c:v>
                </c:pt>
                <c:pt idx="187">
                  <c:v>2019-11-01</c:v>
                </c:pt>
                <c:pt idx="188">
                  <c:v>2019-11-08</c:v>
                </c:pt>
                <c:pt idx="189">
                  <c:v>2019-11-15</c:v>
                </c:pt>
                <c:pt idx="190">
                  <c:v>2019-11-22</c:v>
                </c:pt>
                <c:pt idx="191">
                  <c:v>2019-11-29</c:v>
                </c:pt>
                <c:pt idx="192">
                  <c:v>2019-12-06</c:v>
                </c:pt>
                <c:pt idx="193">
                  <c:v>2019-12-13</c:v>
                </c:pt>
                <c:pt idx="194">
                  <c:v>2019-12-20</c:v>
                </c:pt>
                <c:pt idx="195">
                  <c:v>2019-12-27</c:v>
                </c:pt>
                <c:pt idx="196">
                  <c:v>2020-01-03</c:v>
                </c:pt>
                <c:pt idx="197">
                  <c:v>2020-01-10</c:v>
                </c:pt>
                <c:pt idx="198">
                  <c:v>2020-01-17</c:v>
                </c:pt>
                <c:pt idx="199">
                  <c:v>2020-01-23</c:v>
                </c:pt>
                <c:pt idx="200">
                  <c:v>2020-02-07</c:v>
                </c:pt>
                <c:pt idx="201">
                  <c:v>2020-02-14</c:v>
                </c:pt>
                <c:pt idx="202">
                  <c:v>2020-02-21</c:v>
                </c:pt>
                <c:pt idx="203">
                  <c:v>2020-02-28</c:v>
                </c:pt>
                <c:pt idx="204">
                  <c:v>2020-03-06</c:v>
                </c:pt>
                <c:pt idx="205">
                  <c:v>2020-03-13</c:v>
                </c:pt>
                <c:pt idx="206">
                  <c:v>2020-03-20</c:v>
                </c:pt>
                <c:pt idx="207">
                  <c:v>2020-03-27</c:v>
                </c:pt>
                <c:pt idx="208">
                  <c:v>2020-04-03</c:v>
                </c:pt>
                <c:pt idx="209">
                  <c:v>2020-04-10</c:v>
                </c:pt>
                <c:pt idx="210">
                  <c:v>2020-04-17</c:v>
                </c:pt>
                <c:pt idx="211">
                  <c:v>2020-04-24</c:v>
                </c:pt>
                <c:pt idx="212">
                  <c:v>2020-04-30</c:v>
                </c:pt>
                <c:pt idx="213">
                  <c:v>2020-05-08</c:v>
                </c:pt>
                <c:pt idx="214">
                  <c:v>2020-05-15</c:v>
                </c:pt>
                <c:pt idx="215">
                  <c:v>2020-05-22</c:v>
                </c:pt>
                <c:pt idx="216">
                  <c:v>2020-05-29</c:v>
                </c:pt>
                <c:pt idx="217">
                  <c:v>2020-06-05</c:v>
                </c:pt>
                <c:pt idx="218">
                  <c:v>2020-06-12</c:v>
                </c:pt>
                <c:pt idx="219">
                  <c:v>2020-06-19</c:v>
                </c:pt>
                <c:pt idx="220">
                  <c:v>2020-06-24</c:v>
                </c:pt>
                <c:pt idx="221">
                  <c:v>2020-07-03</c:v>
                </c:pt>
                <c:pt idx="222">
                  <c:v>2020-07-10</c:v>
                </c:pt>
                <c:pt idx="223">
                  <c:v>2020-07-17</c:v>
                </c:pt>
                <c:pt idx="224">
                  <c:v>2020-07-24</c:v>
                </c:pt>
                <c:pt idx="225">
                  <c:v>2020-07-31</c:v>
                </c:pt>
                <c:pt idx="226">
                  <c:v>2020-08-07</c:v>
                </c:pt>
                <c:pt idx="227">
                  <c:v>2020-08-14</c:v>
                </c:pt>
                <c:pt idx="228">
                  <c:v>2020-08-21</c:v>
                </c:pt>
                <c:pt idx="229">
                  <c:v>2020-08-28</c:v>
                </c:pt>
                <c:pt idx="230">
                  <c:v>2020-09-04</c:v>
                </c:pt>
                <c:pt idx="231">
                  <c:v>2020-09-11</c:v>
                </c:pt>
                <c:pt idx="232">
                  <c:v>2020-09-18</c:v>
                </c:pt>
                <c:pt idx="233">
                  <c:v>2020-09-25</c:v>
                </c:pt>
                <c:pt idx="234">
                  <c:v>2020-09-30</c:v>
                </c:pt>
                <c:pt idx="235">
                  <c:v>2020-10-09</c:v>
                </c:pt>
                <c:pt idx="236">
                  <c:v>2020-10-16</c:v>
                </c:pt>
                <c:pt idx="237">
                  <c:v>2020-10-23</c:v>
                </c:pt>
                <c:pt idx="238">
                  <c:v>2020-10-30</c:v>
                </c:pt>
                <c:pt idx="239">
                  <c:v>2020-11-06</c:v>
                </c:pt>
                <c:pt idx="240">
                  <c:v>2020-11-13</c:v>
                </c:pt>
                <c:pt idx="241">
                  <c:v>2020-11-20</c:v>
                </c:pt>
                <c:pt idx="242">
                  <c:v>2020-11-27</c:v>
                </c:pt>
                <c:pt idx="243">
                  <c:v>2020-12-04</c:v>
                </c:pt>
                <c:pt idx="244">
                  <c:v>2020-12-11</c:v>
                </c:pt>
                <c:pt idx="245">
                  <c:v>2020-12-18</c:v>
                </c:pt>
                <c:pt idx="246">
                  <c:v>2020-12-25</c:v>
                </c:pt>
                <c:pt idx="247">
                  <c:v>2020-12-31</c:v>
                </c:pt>
                <c:pt idx="248">
                  <c:v>2021-01-08</c:v>
                </c:pt>
                <c:pt idx="249">
                  <c:v>2021-01-15</c:v>
                </c:pt>
                <c:pt idx="250">
                  <c:v>2021-01-22</c:v>
                </c:pt>
                <c:pt idx="251">
                  <c:v>2021-01-29</c:v>
                </c:pt>
                <c:pt idx="252">
                  <c:v>2021-02-05</c:v>
                </c:pt>
                <c:pt idx="253">
                  <c:v>2021-02-10</c:v>
                </c:pt>
                <c:pt idx="254">
                  <c:v>2021-02-19</c:v>
                </c:pt>
                <c:pt idx="255">
                  <c:v>2021-02-26</c:v>
                </c:pt>
                <c:pt idx="256">
                  <c:v>2021-03-05</c:v>
                </c:pt>
                <c:pt idx="257">
                  <c:v>2021-03-12</c:v>
                </c:pt>
                <c:pt idx="258">
                  <c:v>2021-03-19</c:v>
                </c:pt>
                <c:pt idx="259">
                  <c:v>2021-03-26</c:v>
                </c:pt>
                <c:pt idx="260">
                  <c:v>2021-04-02</c:v>
                </c:pt>
                <c:pt idx="261">
                  <c:v>2021-04-09</c:v>
                </c:pt>
                <c:pt idx="262">
                  <c:v>2021-04-16</c:v>
                </c:pt>
                <c:pt idx="263">
                  <c:v>2021-04-23</c:v>
                </c:pt>
                <c:pt idx="264">
                  <c:v>2021-04-30</c:v>
                </c:pt>
                <c:pt idx="265">
                  <c:v>2021-05-07</c:v>
                </c:pt>
                <c:pt idx="266">
                  <c:v>2021-05-14</c:v>
                </c:pt>
                <c:pt idx="267">
                  <c:v>2021-05-21</c:v>
                </c:pt>
                <c:pt idx="268">
                  <c:v>2021-05-28</c:v>
                </c:pt>
                <c:pt idx="269">
                  <c:v>2021-06-04</c:v>
                </c:pt>
                <c:pt idx="270">
                  <c:v>2021-06-11</c:v>
                </c:pt>
                <c:pt idx="271">
                  <c:v>2021-06-18</c:v>
                </c:pt>
                <c:pt idx="272">
                  <c:v>2021-06-25</c:v>
                </c:pt>
                <c:pt idx="273">
                  <c:v>2021-07-02</c:v>
                </c:pt>
                <c:pt idx="274">
                  <c:v>2021-07-09</c:v>
                </c:pt>
                <c:pt idx="275">
                  <c:v>2021-07-16</c:v>
                </c:pt>
                <c:pt idx="276">
                  <c:v>2021-07-23</c:v>
                </c:pt>
                <c:pt idx="277">
                  <c:v>2021-07-30</c:v>
                </c:pt>
                <c:pt idx="278">
                  <c:v>2021-08-06</c:v>
                </c:pt>
                <c:pt idx="279">
                  <c:v>2021-08-13</c:v>
                </c:pt>
                <c:pt idx="280">
                  <c:v>2021-08-20</c:v>
                </c:pt>
                <c:pt idx="281">
                  <c:v>2021-08-27</c:v>
                </c:pt>
                <c:pt idx="282">
                  <c:v>2021-09-03</c:v>
                </c:pt>
                <c:pt idx="283">
                  <c:v>2021-09-10</c:v>
                </c:pt>
                <c:pt idx="284">
                  <c:v>2021-09-17</c:v>
                </c:pt>
                <c:pt idx="285">
                  <c:v>2021-09-24</c:v>
                </c:pt>
                <c:pt idx="286">
                  <c:v>2021-09-30</c:v>
                </c:pt>
                <c:pt idx="287">
                  <c:v>2021-10-08</c:v>
                </c:pt>
                <c:pt idx="288">
                  <c:v>2021-10-15</c:v>
                </c:pt>
                <c:pt idx="289">
                  <c:v>2021-10-22</c:v>
                </c:pt>
                <c:pt idx="290">
                  <c:v>2021-10-29</c:v>
                </c:pt>
                <c:pt idx="291">
                  <c:v>2021-11-05</c:v>
                </c:pt>
                <c:pt idx="292">
                  <c:v>2021-11-12</c:v>
                </c:pt>
                <c:pt idx="293">
                  <c:v>2021-11-19</c:v>
                </c:pt>
                <c:pt idx="294">
                  <c:v>2021-11-26</c:v>
                </c:pt>
                <c:pt idx="295">
                  <c:v>2021-12-03</c:v>
                </c:pt>
                <c:pt idx="296">
                  <c:v>2021-12-10</c:v>
                </c:pt>
                <c:pt idx="297">
                  <c:v>2021-12-17</c:v>
                </c:pt>
                <c:pt idx="298">
                  <c:v>2021-12-24</c:v>
                </c:pt>
                <c:pt idx="299">
                  <c:v>2021-12-31</c:v>
                </c:pt>
                <c:pt idx="300">
                  <c:v>2022-01-07</c:v>
                </c:pt>
                <c:pt idx="301">
                  <c:v>2022-01-14</c:v>
                </c:pt>
                <c:pt idx="302">
                  <c:v>2022-01-21</c:v>
                </c:pt>
                <c:pt idx="303">
                  <c:v>2022-01-28</c:v>
                </c:pt>
                <c:pt idx="304">
                  <c:v>2022-02-11</c:v>
                </c:pt>
                <c:pt idx="305">
                  <c:v>2022-02-18</c:v>
                </c:pt>
                <c:pt idx="306">
                  <c:v>2022-02-25</c:v>
                </c:pt>
                <c:pt idx="307">
                  <c:v>2022-03-04</c:v>
                </c:pt>
                <c:pt idx="308">
                  <c:v>2022-03-11</c:v>
                </c:pt>
                <c:pt idx="309">
                  <c:v>2022-03-18</c:v>
                </c:pt>
                <c:pt idx="310">
                  <c:v>2022-03-25</c:v>
                </c:pt>
                <c:pt idx="311">
                  <c:v>2022-04-01</c:v>
                </c:pt>
                <c:pt idx="312">
                  <c:v>2022-04-08</c:v>
                </c:pt>
                <c:pt idx="313">
                  <c:v>2022-04-15</c:v>
                </c:pt>
                <c:pt idx="314">
                  <c:v>2022-04-22</c:v>
                </c:pt>
                <c:pt idx="315">
                  <c:v>2022-04-29</c:v>
                </c:pt>
                <c:pt idx="316">
                  <c:v>2022-05-06</c:v>
                </c:pt>
                <c:pt idx="317">
                  <c:v>2022-05-13</c:v>
                </c:pt>
                <c:pt idx="318">
                  <c:v>2022-05-20</c:v>
                </c:pt>
                <c:pt idx="319">
                  <c:v>2022-05-27</c:v>
                </c:pt>
                <c:pt idx="320">
                  <c:v>2022-06-02</c:v>
                </c:pt>
                <c:pt idx="321">
                  <c:v>2022-06-10</c:v>
                </c:pt>
                <c:pt idx="322">
                  <c:v>2022-06-17</c:v>
                </c:pt>
                <c:pt idx="323">
                  <c:v>2022-06-24</c:v>
                </c:pt>
                <c:pt idx="324">
                  <c:v>2022-07-01</c:v>
                </c:pt>
                <c:pt idx="325">
                  <c:v>2022-07-08</c:v>
                </c:pt>
                <c:pt idx="326">
                  <c:v>2022-07-15</c:v>
                </c:pt>
                <c:pt idx="327">
                  <c:v>2022-07-22</c:v>
                </c:pt>
                <c:pt idx="328">
                  <c:v>2022-07-29</c:v>
                </c:pt>
                <c:pt idx="329">
                  <c:v>2022-08-05</c:v>
                </c:pt>
                <c:pt idx="330">
                  <c:v>2022-08-12</c:v>
                </c:pt>
                <c:pt idx="331">
                  <c:v>2022-08-19</c:v>
                </c:pt>
                <c:pt idx="332">
                  <c:v>2022-08-26</c:v>
                </c:pt>
                <c:pt idx="333">
                  <c:v>2022-09-02</c:v>
                </c:pt>
                <c:pt idx="334">
                  <c:v>2022-09-09</c:v>
                </c:pt>
                <c:pt idx="335">
                  <c:v>2022-09-16</c:v>
                </c:pt>
                <c:pt idx="336">
                  <c:v>2022-09-23</c:v>
                </c:pt>
                <c:pt idx="337">
                  <c:v>2022-09-30</c:v>
                </c:pt>
                <c:pt idx="338">
                  <c:v>2022-10-14</c:v>
                </c:pt>
                <c:pt idx="339">
                  <c:v>2022-10-21</c:v>
                </c:pt>
                <c:pt idx="340">
                  <c:v>2022-10-28</c:v>
                </c:pt>
                <c:pt idx="341">
                  <c:v>2022-11-04</c:v>
                </c:pt>
                <c:pt idx="342">
                  <c:v>2022-11-11</c:v>
                </c:pt>
                <c:pt idx="343">
                  <c:v>2022-11-18</c:v>
                </c:pt>
                <c:pt idx="344">
                  <c:v>2022-11-25</c:v>
                </c:pt>
                <c:pt idx="345">
                  <c:v>2022-12-02</c:v>
                </c:pt>
                <c:pt idx="346">
                  <c:v>2022-12-09</c:v>
                </c:pt>
                <c:pt idx="347">
                  <c:v>2022-12-16</c:v>
                </c:pt>
                <c:pt idx="348">
                  <c:v>2022-12-23</c:v>
                </c:pt>
                <c:pt idx="349">
                  <c:v>2022-12-30</c:v>
                </c:pt>
                <c:pt idx="350">
                  <c:v>2023-01-06</c:v>
                </c:pt>
                <c:pt idx="351">
                  <c:v>2023-01-13</c:v>
                </c:pt>
                <c:pt idx="352">
                  <c:v>2023-01-20</c:v>
                </c:pt>
                <c:pt idx="353">
                  <c:v>2023-02-03</c:v>
                </c:pt>
                <c:pt idx="354">
                  <c:v>2023-02-10</c:v>
                </c:pt>
                <c:pt idx="355">
                  <c:v>2023-02-17</c:v>
                </c:pt>
                <c:pt idx="356">
                  <c:v>2023-02-24</c:v>
                </c:pt>
                <c:pt idx="357">
                  <c:v>2023-03-03</c:v>
                </c:pt>
                <c:pt idx="358">
                  <c:v>2023-03-10</c:v>
                </c:pt>
                <c:pt idx="359">
                  <c:v>2023-03-17</c:v>
                </c:pt>
                <c:pt idx="360">
                  <c:v>2023-03-24</c:v>
                </c:pt>
                <c:pt idx="361">
                  <c:v>2023-03-31</c:v>
                </c:pt>
                <c:pt idx="362">
                  <c:v>2023-04-07</c:v>
                </c:pt>
                <c:pt idx="363">
                  <c:v>2023-04-14</c:v>
                </c:pt>
                <c:pt idx="364">
                  <c:v>2023-04-21</c:v>
                </c:pt>
                <c:pt idx="365">
                  <c:v>2023-04-28</c:v>
                </c:pt>
                <c:pt idx="366">
                  <c:v>2023-05-05</c:v>
                </c:pt>
                <c:pt idx="367">
                  <c:v>2023-05-12</c:v>
                </c:pt>
                <c:pt idx="368">
                  <c:v>2023-05-19</c:v>
                </c:pt>
                <c:pt idx="369">
                  <c:v>2023-05-26</c:v>
                </c:pt>
                <c:pt idx="370">
                  <c:v>2023-06-02</c:v>
                </c:pt>
                <c:pt idx="371">
                  <c:v>2023-06-09</c:v>
                </c:pt>
                <c:pt idx="372">
                  <c:v>2023-06-16</c:v>
                </c:pt>
                <c:pt idx="373">
                  <c:v>2023-06-21</c:v>
                </c:pt>
                <c:pt idx="374">
                  <c:v>2023-06-30</c:v>
                </c:pt>
                <c:pt idx="375">
                  <c:v>2023-07-07</c:v>
                </c:pt>
                <c:pt idx="376">
                  <c:v>2023-07-14</c:v>
                </c:pt>
                <c:pt idx="377">
                  <c:v>2023-07-21</c:v>
                </c:pt>
                <c:pt idx="378">
                  <c:v>2023-07-28</c:v>
                </c:pt>
                <c:pt idx="379">
                  <c:v>2023-08-04</c:v>
                </c:pt>
                <c:pt idx="380">
                  <c:v>2023-08-11</c:v>
                </c:pt>
                <c:pt idx="381">
                  <c:v>2023-08-18</c:v>
                </c:pt>
                <c:pt idx="382">
                  <c:v>2023-08-25</c:v>
                </c:pt>
                <c:pt idx="383">
                  <c:v>2023-09-01</c:v>
                </c:pt>
                <c:pt idx="384">
                  <c:v>2023-09-08</c:v>
                </c:pt>
                <c:pt idx="385">
                  <c:v>2023-09-15</c:v>
                </c:pt>
                <c:pt idx="386">
                  <c:v>2023-09-22</c:v>
                </c:pt>
                <c:pt idx="387">
                  <c:v>2023-09-28</c:v>
                </c:pt>
                <c:pt idx="388">
                  <c:v>2023-10-13</c:v>
                </c:pt>
                <c:pt idx="389">
                  <c:v>2023-10-20</c:v>
                </c:pt>
                <c:pt idx="390">
                  <c:v>2023-10-27</c:v>
                </c:pt>
                <c:pt idx="391">
                  <c:v>2023-11-03</c:v>
                </c:pt>
                <c:pt idx="392">
                  <c:v>2023-11-10</c:v>
                </c:pt>
                <c:pt idx="393">
                  <c:v>2023-11-17</c:v>
                </c:pt>
                <c:pt idx="394">
                  <c:v>2023-11-24</c:v>
                </c:pt>
                <c:pt idx="395">
                  <c:v>2023-12-01</c:v>
                </c:pt>
                <c:pt idx="396">
                  <c:v>2023-12-08</c:v>
                </c:pt>
                <c:pt idx="397">
                  <c:v>2023-12-15</c:v>
                </c:pt>
                <c:pt idx="398">
                  <c:v>2023-12-22</c:v>
                </c:pt>
                <c:pt idx="399">
                  <c:v>2023-12-29</c:v>
                </c:pt>
                <c:pt idx="400">
                  <c:v>2024-01-05</c:v>
                </c:pt>
                <c:pt idx="401">
                  <c:v>2024-01-12</c:v>
                </c:pt>
                <c:pt idx="402">
                  <c:v>2024-01-19</c:v>
                </c:pt>
                <c:pt idx="403">
                  <c:v>2024-01-26</c:v>
                </c:pt>
                <c:pt idx="404">
                  <c:v>2024-02-02</c:v>
                </c:pt>
                <c:pt idx="405">
                  <c:v>2024-02-08</c:v>
                </c:pt>
                <c:pt idx="406">
                  <c:v>2024-02-23</c:v>
                </c:pt>
                <c:pt idx="407">
                  <c:v>2024-03-01</c:v>
                </c:pt>
                <c:pt idx="408">
                  <c:v>2024-03-08</c:v>
                </c:pt>
                <c:pt idx="409">
                  <c:v>2024-03-15</c:v>
                </c:pt>
                <c:pt idx="410">
                  <c:v>2024-03-22</c:v>
                </c:pt>
                <c:pt idx="411">
                  <c:v>2024-03-29</c:v>
                </c:pt>
                <c:pt idx="412">
                  <c:v>2024-04-03</c:v>
                </c:pt>
                <c:pt idx="413">
                  <c:v>2024-04-12</c:v>
                </c:pt>
                <c:pt idx="414">
                  <c:v>2024-04-19</c:v>
                </c:pt>
                <c:pt idx="415">
                  <c:v>2024-04-26</c:v>
                </c:pt>
                <c:pt idx="416">
                  <c:v>2024-04-30</c:v>
                </c:pt>
                <c:pt idx="417">
                  <c:v>2024-05-10</c:v>
                </c:pt>
                <c:pt idx="418">
                  <c:v>2024-05-17</c:v>
                </c:pt>
                <c:pt idx="419">
                  <c:v>2024-05-24</c:v>
                </c:pt>
                <c:pt idx="420">
                  <c:v>2024-05-31</c:v>
                </c:pt>
                <c:pt idx="421">
                  <c:v>2024-06-07</c:v>
                </c:pt>
                <c:pt idx="422">
                  <c:v>2024-06-14</c:v>
                </c:pt>
                <c:pt idx="423">
                  <c:v>2024-06-21</c:v>
                </c:pt>
                <c:pt idx="424">
                  <c:v>2024-06-28</c:v>
                </c:pt>
                <c:pt idx="425">
                  <c:v>2024-07-05</c:v>
                </c:pt>
                <c:pt idx="426">
                  <c:v>2024-07-12</c:v>
                </c:pt>
                <c:pt idx="427">
                  <c:v>2024-07-19</c:v>
                </c:pt>
                <c:pt idx="428">
                  <c:v>2024-07-26</c:v>
                </c:pt>
                <c:pt idx="429">
                  <c:v>2024-08-02</c:v>
                </c:pt>
                <c:pt idx="430">
                  <c:v>2024-08-09</c:v>
                </c:pt>
                <c:pt idx="431">
                  <c:v>2024-08-16</c:v>
                </c:pt>
                <c:pt idx="432">
                  <c:v>2024-08-23</c:v>
                </c:pt>
                <c:pt idx="433">
                  <c:v>2024-08-30</c:v>
                </c:pt>
                <c:pt idx="434">
                  <c:v>2024-09-06</c:v>
                </c:pt>
                <c:pt idx="435">
                  <c:v>2024-09-13</c:v>
                </c:pt>
                <c:pt idx="436">
                  <c:v>2024-09-20</c:v>
                </c:pt>
                <c:pt idx="437">
                  <c:v>2024-09-27</c:v>
                </c:pt>
                <c:pt idx="438">
                  <c:v>2024-09-30</c:v>
                </c:pt>
                <c:pt idx="439">
                  <c:v>2024-10-11</c:v>
                </c:pt>
                <c:pt idx="440">
                  <c:v>2024-10-18</c:v>
                </c:pt>
                <c:pt idx="441">
                  <c:v>2024-10-25</c:v>
                </c:pt>
                <c:pt idx="442">
                  <c:v>2024-11-01</c:v>
                </c:pt>
                <c:pt idx="443">
                  <c:v>2024-11-08</c:v>
                </c:pt>
                <c:pt idx="444">
                  <c:v>2024-11-15</c:v>
                </c:pt>
                <c:pt idx="445">
                  <c:v>2024-11-22</c:v>
                </c:pt>
                <c:pt idx="446">
                  <c:v>2024-11-29</c:v>
                </c:pt>
                <c:pt idx="447">
                  <c:v>2024-12-06</c:v>
                </c:pt>
                <c:pt idx="448">
                  <c:v>2024-12-13</c:v>
                </c:pt>
                <c:pt idx="449">
                  <c:v>2024-12-20</c:v>
                </c:pt>
                <c:pt idx="450">
                  <c:v>2024-12-27</c:v>
                </c:pt>
                <c:pt idx="451">
                  <c:v>2025-01-03</c:v>
                </c:pt>
                <c:pt idx="452">
                  <c:v>2025-01-10</c:v>
                </c:pt>
                <c:pt idx="453">
                  <c:v>2025-01-17</c:v>
                </c:pt>
                <c:pt idx="454">
                  <c:v>2025-01-24</c:v>
                </c:pt>
                <c:pt idx="455">
                  <c:v>2025-01-27</c:v>
                </c:pt>
                <c:pt idx="456">
                  <c:v>2025-02-07</c:v>
                </c:pt>
                <c:pt idx="457">
                  <c:v>2025-02-14</c:v>
                </c:pt>
                <c:pt idx="458">
                  <c:v>2025-02-21</c:v>
                </c:pt>
                <c:pt idx="459">
                  <c:v>2025-02-28</c:v>
                </c:pt>
                <c:pt idx="460">
                  <c:v>2025-03-07</c:v>
                </c:pt>
                <c:pt idx="461">
                  <c:v>2025-03-14</c:v>
                </c:pt>
                <c:pt idx="462">
                  <c:v>2025-03-21</c:v>
                </c:pt>
                <c:pt idx="463">
                  <c:v>2025-03-28</c:v>
                </c:pt>
                <c:pt idx="464">
                  <c:v>2025-04-03</c:v>
                </c:pt>
                <c:pt idx="465">
                  <c:v>2025-04-11</c:v>
                </c:pt>
                <c:pt idx="466">
                  <c:v>2025-04-18</c:v>
                </c:pt>
                <c:pt idx="467">
                  <c:v>2025-04-25</c:v>
                </c:pt>
                <c:pt idx="468">
                  <c:v>2025-04-30</c:v>
                </c:pt>
                <c:pt idx="469">
                  <c:v>2025-05-09</c:v>
                </c:pt>
                <c:pt idx="470">
                  <c:v>2025-05-16</c:v>
                </c:pt>
                <c:pt idx="471">
                  <c:v>2025-05-23</c:v>
                </c:pt>
                <c:pt idx="472">
                  <c:v>2025-05-30</c:v>
                </c:pt>
                <c:pt idx="473">
                  <c:v>2025-06-06</c:v>
                </c:pt>
                <c:pt idx="474">
                  <c:v>2025-06-13</c:v>
                </c:pt>
                <c:pt idx="475">
                  <c:v>2025-06-20</c:v>
                </c:pt>
                <c:pt idx="476">
                  <c:v>2025-06-27</c:v>
                </c:pt>
                <c:pt idx="477">
                  <c:v>2025-07-04</c:v>
                </c:pt>
                <c:pt idx="478">
                  <c:v>2025-07-11</c:v>
                </c:pt>
                <c:pt idx="479">
                  <c:v>2025-07-18</c:v>
                </c:pt>
                <c:pt idx="480">
                  <c:v>2025-07-25</c:v>
                </c:pt>
                <c:pt idx="481">
                  <c:v>2025-08-01</c:v>
                </c:pt>
                <c:pt idx="482">
                  <c:v>2025-08-08</c:v>
                </c:pt>
                <c:pt idx="483">
                  <c:v>2025-08-15</c:v>
                </c:pt>
                <c:pt idx="484">
                  <c:v>2025-08-22</c:v>
                </c:pt>
                <c:pt idx="485">
                  <c:v>2025-08-29</c:v>
                </c:pt>
                <c:pt idx="486">
                  <c:v>2025-09-05</c:v>
                </c:pt>
                <c:pt idx="487">
                  <c:v>2025-09-12</c:v>
                </c:pt>
                <c:pt idx="488">
                  <c:v>2025-09-19</c:v>
                </c:pt>
                <c:pt idx="489">
                  <c:v>2025-09-26</c:v>
                </c:pt>
                <c:pt idx="490">
                  <c:v>2025-09-30</c:v>
                </c:pt>
                <c:pt idx="491">
                  <c:v>2025-10-10</c:v>
                </c:pt>
                <c:pt idx="492">
                  <c:v>2025-10-17</c:v>
                </c:pt>
                <c:pt idx="493">
                  <c:v>2025-10-24</c:v>
                </c:pt>
                <c:pt idx="494">
                  <c:v>2025-10-31</c:v>
                </c:pt>
                <c:pt idx="495">
                  <c:v>2025-11-07</c:v>
                </c:pt>
                <c:pt idx="496">
                  <c:v>2025-11-14</c:v>
                </c:pt>
                <c:pt idx="497">
                  <c:v>2025-11-21</c:v>
                </c:pt>
                <c:pt idx="498">
                  <c:v>2025-11-28</c:v>
                </c:pt>
                <c:pt idx="499">
                  <c:v>2025-12-05</c:v>
                </c:pt>
                <c:pt idx="500">
                  <c:v>2025-12-12</c:v>
                </c:pt>
                <c:pt idx="501">
                  <c:v>2025-12-19</c:v>
                </c:pt>
                <c:pt idx="502">
                  <c:v>2025-12-26</c:v>
                </c:pt>
                <c:pt idx="503">
                  <c:v>2025-12-31</c:v>
                </c:pt>
                <c:pt idx="504">
                  <c:v>2026-01-09</c:v>
                </c:pt>
                <c:pt idx="505">
                  <c:v>2026-01-16</c:v>
                </c:pt>
                <c:pt idx="506">
                  <c:v>2026-01-23</c:v>
                </c:pt>
                <c:pt idx="507">
                  <c:v>2026-01-30</c:v>
                </c:pt>
                <c:pt idx="508">
                  <c:v>2026-02-06</c:v>
                </c:pt>
                <c:pt idx="509">
                  <c:v>2026-02-13</c:v>
                </c:pt>
                <c:pt idx="510">
                  <c:v>2026-02-27</c:v>
                </c:pt>
                <c:pt idx="511">
                  <c:v>2026-03-06</c:v>
                </c:pt>
                <c:pt idx="512">
                  <c:v>2026-03-13</c:v>
                </c:pt>
                <c:pt idx="513">
                  <c:v>2026-03-20</c:v>
                </c:pt>
                <c:pt idx="514">
                  <c:v>2026-03-27</c:v>
                </c:pt>
                <c:pt idx="515">
                  <c:v>2026-04-03</c:v>
                </c:pt>
                <c:pt idx="516">
                  <c:v>2026-04-10</c:v>
                </c:pt>
                <c:pt idx="517">
                  <c:v>2026-04-17</c:v>
                </c:pt>
                <c:pt idx="518">
                  <c:v>2026-04-24</c:v>
                </c:pt>
                <c:pt idx="519">
                  <c:v>2026-04-30</c:v>
                </c:pt>
                <c:pt idx="520">
                  <c:v>2026-05-08</c:v>
                </c:pt>
                <c:pt idx="521">
                  <c:v>2026-05-15</c:v>
                </c:pt>
                <c:pt idx="522">
                  <c:v>2026-05-22</c:v>
                </c:pt>
                <c:pt idx="523">
                  <c:v>2026-05-29</c:v>
                </c:pt>
              </c:strCache>
            </c:strRef>
          </c:cat>
          <c:val>
            <c:numRef>
              <c:f>Sheet4!$F$2:$F$525</c:f>
              <c:numCache>
                <c:formatCode>0.0</c:formatCode>
                <c:ptCount val="524"/>
                <c:pt idx="0">
                  <c:v>3.6</c:v>
                </c:pt>
                <c:pt idx="1">
                  <c:v>3.6</c:v>
                </c:pt>
                <c:pt idx="2">
                  <c:v>3.6</c:v>
                </c:pt>
                <c:pt idx="3">
                  <c:v>3.6</c:v>
                </c:pt>
                <c:pt idx="4">
                  <c:v>3.6</c:v>
                </c:pt>
                <c:pt idx="5">
                  <c:v>3.6</c:v>
                </c:pt>
                <c:pt idx="6">
                  <c:v>3.6</c:v>
                </c:pt>
                <c:pt idx="7">
                  <c:v>3.6</c:v>
                </c:pt>
                <c:pt idx="8">
                  <c:v>3.6</c:v>
                </c:pt>
                <c:pt idx="9">
                  <c:v>3.6</c:v>
                </c:pt>
                <c:pt idx="10">
                  <c:v>3.6</c:v>
                </c:pt>
                <c:pt idx="11">
                  <c:v>3.6</c:v>
                </c:pt>
                <c:pt idx="12">
                  <c:v>3.6</c:v>
                </c:pt>
                <c:pt idx="13">
                  <c:v>3.6</c:v>
                </c:pt>
                <c:pt idx="14">
                  <c:v>3.6</c:v>
                </c:pt>
                <c:pt idx="15">
                  <c:v>3.6</c:v>
                </c:pt>
                <c:pt idx="16">
                  <c:v>3.6</c:v>
                </c:pt>
                <c:pt idx="17">
                  <c:v>3.6</c:v>
                </c:pt>
                <c:pt idx="18">
                  <c:v>3.6</c:v>
                </c:pt>
                <c:pt idx="19">
                  <c:v>3.6</c:v>
                </c:pt>
                <c:pt idx="20">
                  <c:v>3.6</c:v>
                </c:pt>
                <c:pt idx="21">
                  <c:v>3.6</c:v>
                </c:pt>
                <c:pt idx="22">
                  <c:v>3.6</c:v>
                </c:pt>
                <c:pt idx="23">
                  <c:v>3.6</c:v>
                </c:pt>
                <c:pt idx="24">
                  <c:v>3.6</c:v>
                </c:pt>
                <c:pt idx="25">
                  <c:v>3.6</c:v>
                </c:pt>
                <c:pt idx="26">
                  <c:v>3.6</c:v>
                </c:pt>
                <c:pt idx="27">
                  <c:v>3.6</c:v>
                </c:pt>
                <c:pt idx="28">
                  <c:v>3.6</c:v>
                </c:pt>
                <c:pt idx="29">
                  <c:v>3.6</c:v>
                </c:pt>
                <c:pt idx="30">
                  <c:v>3.6</c:v>
                </c:pt>
                <c:pt idx="31">
                  <c:v>3.6</c:v>
                </c:pt>
                <c:pt idx="32">
                  <c:v>3.6</c:v>
                </c:pt>
                <c:pt idx="33">
                  <c:v>3.6</c:v>
                </c:pt>
                <c:pt idx="34">
                  <c:v>3.6</c:v>
                </c:pt>
                <c:pt idx="35">
                  <c:v>3.6</c:v>
                </c:pt>
                <c:pt idx="36">
                  <c:v>3.6</c:v>
                </c:pt>
                <c:pt idx="37">
                  <c:v>3.6</c:v>
                </c:pt>
                <c:pt idx="38">
                  <c:v>3.6</c:v>
                </c:pt>
                <c:pt idx="39">
                  <c:v>3.6</c:v>
                </c:pt>
                <c:pt idx="40">
                  <c:v>3.6</c:v>
                </c:pt>
                <c:pt idx="41">
                  <c:v>3.6</c:v>
                </c:pt>
                <c:pt idx="42">
                  <c:v>3.6</c:v>
                </c:pt>
                <c:pt idx="43">
                  <c:v>3.6</c:v>
                </c:pt>
                <c:pt idx="44">
                  <c:v>3.6</c:v>
                </c:pt>
                <c:pt idx="45">
                  <c:v>3.6</c:v>
                </c:pt>
                <c:pt idx="46">
                  <c:v>3.6</c:v>
                </c:pt>
                <c:pt idx="47">
                  <c:v>3.6</c:v>
                </c:pt>
                <c:pt idx="48">
                  <c:v>3.6</c:v>
                </c:pt>
                <c:pt idx="49">
                  <c:v>3.6</c:v>
                </c:pt>
                <c:pt idx="50">
                  <c:v>3.6</c:v>
                </c:pt>
                <c:pt idx="51">
                  <c:v>3.6</c:v>
                </c:pt>
                <c:pt idx="52">
                  <c:v>3.6</c:v>
                </c:pt>
                <c:pt idx="53">
                  <c:v>3.6</c:v>
                </c:pt>
                <c:pt idx="54">
                  <c:v>3.6</c:v>
                </c:pt>
                <c:pt idx="55">
                  <c:v>3.6</c:v>
                </c:pt>
                <c:pt idx="56">
                  <c:v>3.6</c:v>
                </c:pt>
                <c:pt idx="57">
                  <c:v>3.6</c:v>
                </c:pt>
                <c:pt idx="58">
                  <c:v>3.6</c:v>
                </c:pt>
                <c:pt idx="59">
                  <c:v>3.6</c:v>
                </c:pt>
                <c:pt idx="60">
                  <c:v>3.6</c:v>
                </c:pt>
                <c:pt idx="61">
                  <c:v>3.6</c:v>
                </c:pt>
                <c:pt idx="62">
                  <c:v>3.6</c:v>
                </c:pt>
                <c:pt idx="63">
                  <c:v>3.6</c:v>
                </c:pt>
                <c:pt idx="64">
                  <c:v>3.6</c:v>
                </c:pt>
                <c:pt idx="65">
                  <c:v>3.6</c:v>
                </c:pt>
                <c:pt idx="66">
                  <c:v>3.6</c:v>
                </c:pt>
                <c:pt idx="67">
                  <c:v>3.6</c:v>
                </c:pt>
                <c:pt idx="68">
                  <c:v>3.6</c:v>
                </c:pt>
                <c:pt idx="69">
                  <c:v>3.6</c:v>
                </c:pt>
                <c:pt idx="70">
                  <c:v>3.6</c:v>
                </c:pt>
                <c:pt idx="71">
                  <c:v>3.6</c:v>
                </c:pt>
                <c:pt idx="72">
                  <c:v>3.6</c:v>
                </c:pt>
                <c:pt idx="73">
                  <c:v>3.6</c:v>
                </c:pt>
                <c:pt idx="74">
                  <c:v>3.6</c:v>
                </c:pt>
                <c:pt idx="75">
                  <c:v>3.6</c:v>
                </c:pt>
                <c:pt idx="76">
                  <c:v>3.6</c:v>
                </c:pt>
                <c:pt idx="77">
                  <c:v>3.6</c:v>
                </c:pt>
                <c:pt idx="78">
                  <c:v>3.6</c:v>
                </c:pt>
                <c:pt idx="79">
                  <c:v>3.6</c:v>
                </c:pt>
                <c:pt idx="80">
                  <c:v>3.6</c:v>
                </c:pt>
                <c:pt idx="81">
                  <c:v>3.6</c:v>
                </c:pt>
                <c:pt idx="82">
                  <c:v>3.6</c:v>
                </c:pt>
                <c:pt idx="83">
                  <c:v>3.6</c:v>
                </c:pt>
                <c:pt idx="84">
                  <c:v>3.6</c:v>
                </c:pt>
                <c:pt idx="85">
                  <c:v>3.6</c:v>
                </c:pt>
                <c:pt idx="86">
                  <c:v>3.6</c:v>
                </c:pt>
                <c:pt idx="87">
                  <c:v>3.6</c:v>
                </c:pt>
                <c:pt idx="88">
                  <c:v>3.6</c:v>
                </c:pt>
                <c:pt idx="89">
                  <c:v>3.6</c:v>
                </c:pt>
                <c:pt idx="90">
                  <c:v>3.6</c:v>
                </c:pt>
                <c:pt idx="91">
                  <c:v>3.6</c:v>
                </c:pt>
                <c:pt idx="92">
                  <c:v>3.6</c:v>
                </c:pt>
                <c:pt idx="93">
                  <c:v>3.6</c:v>
                </c:pt>
                <c:pt idx="94">
                  <c:v>3.6</c:v>
                </c:pt>
                <c:pt idx="95">
                  <c:v>3.6</c:v>
                </c:pt>
                <c:pt idx="96">
                  <c:v>3.6</c:v>
                </c:pt>
                <c:pt idx="97">
                  <c:v>3.6</c:v>
                </c:pt>
                <c:pt idx="98">
                  <c:v>3.6</c:v>
                </c:pt>
                <c:pt idx="99">
                  <c:v>3.6</c:v>
                </c:pt>
                <c:pt idx="100">
                  <c:v>3.6</c:v>
                </c:pt>
                <c:pt idx="101">
                  <c:v>3.6</c:v>
                </c:pt>
                <c:pt idx="102">
                  <c:v>3.6</c:v>
                </c:pt>
                <c:pt idx="103">
                  <c:v>3.6</c:v>
                </c:pt>
                <c:pt idx="104">
                  <c:v>3.6</c:v>
                </c:pt>
                <c:pt idx="105">
                  <c:v>3.6</c:v>
                </c:pt>
                <c:pt idx="106">
                  <c:v>3.6</c:v>
                </c:pt>
                <c:pt idx="107">
                  <c:v>3.6</c:v>
                </c:pt>
                <c:pt idx="108">
                  <c:v>3.6</c:v>
                </c:pt>
                <c:pt idx="109">
                  <c:v>3.6</c:v>
                </c:pt>
                <c:pt idx="110">
                  <c:v>3.6</c:v>
                </c:pt>
                <c:pt idx="111">
                  <c:v>3.6</c:v>
                </c:pt>
                <c:pt idx="112">
                  <c:v>3.6</c:v>
                </c:pt>
                <c:pt idx="113">
                  <c:v>3.6</c:v>
                </c:pt>
                <c:pt idx="114">
                  <c:v>3.6</c:v>
                </c:pt>
                <c:pt idx="115">
                  <c:v>3.6</c:v>
                </c:pt>
                <c:pt idx="116">
                  <c:v>3.6</c:v>
                </c:pt>
                <c:pt idx="117">
                  <c:v>3.6</c:v>
                </c:pt>
                <c:pt idx="118">
                  <c:v>3.6</c:v>
                </c:pt>
                <c:pt idx="119">
                  <c:v>3.6</c:v>
                </c:pt>
                <c:pt idx="120">
                  <c:v>3.6</c:v>
                </c:pt>
                <c:pt idx="121">
                  <c:v>3.6</c:v>
                </c:pt>
                <c:pt idx="122">
                  <c:v>3.6</c:v>
                </c:pt>
                <c:pt idx="123">
                  <c:v>3.6</c:v>
                </c:pt>
                <c:pt idx="124">
                  <c:v>3.6</c:v>
                </c:pt>
                <c:pt idx="125">
                  <c:v>3.6</c:v>
                </c:pt>
                <c:pt idx="126">
                  <c:v>3.6</c:v>
                </c:pt>
                <c:pt idx="127">
                  <c:v>3.6</c:v>
                </c:pt>
                <c:pt idx="128">
                  <c:v>3.6</c:v>
                </c:pt>
                <c:pt idx="129">
                  <c:v>3.6</c:v>
                </c:pt>
                <c:pt idx="130">
                  <c:v>3.6</c:v>
                </c:pt>
                <c:pt idx="131">
                  <c:v>3.6</c:v>
                </c:pt>
                <c:pt idx="132">
                  <c:v>3.6</c:v>
                </c:pt>
                <c:pt idx="133">
                  <c:v>3.6</c:v>
                </c:pt>
                <c:pt idx="134">
                  <c:v>3.6</c:v>
                </c:pt>
                <c:pt idx="135">
                  <c:v>3.6</c:v>
                </c:pt>
                <c:pt idx="136">
                  <c:v>3.6</c:v>
                </c:pt>
                <c:pt idx="137">
                  <c:v>3.6</c:v>
                </c:pt>
                <c:pt idx="138">
                  <c:v>3.6</c:v>
                </c:pt>
                <c:pt idx="139">
                  <c:v>3.6</c:v>
                </c:pt>
                <c:pt idx="140">
                  <c:v>3.6</c:v>
                </c:pt>
                <c:pt idx="141">
                  <c:v>3.6</c:v>
                </c:pt>
                <c:pt idx="142">
                  <c:v>3.6</c:v>
                </c:pt>
                <c:pt idx="143">
                  <c:v>3.6</c:v>
                </c:pt>
                <c:pt idx="144">
                  <c:v>3.6</c:v>
                </c:pt>
                <c:pt idx="145">
                  <c:v>3.6</c:v>
                </c:pt>
                <c:pt idx="146">
                  <c:v>3.6</c:v>
                </c:pt>
                <c:pt idx="147">
                  <c:v>3.6</c:v>
                </c:pt>
                <c:pt idx="148">
                  <c:v>3.6</c:v>
                </c:pt>
                <c:pt idx="149">
                  <c:v>3.6</c:v>
                </c:pt>
                <c:pt idx="150">
                  <c:v>3.6</c:v>
                </c:pt>
                <c:pt idx="151">
                  <c:v>3.6</c:v>
                </c:pt>
                <c:pt idx="152">
                  <c:v>3.6</c:v>
                </c:pt>
                <c:pt idx="153">
                  <c:v>3.6</c:v>
                </c:pt>
                <c:pt idx="154">
                  <c:v>3.6</c:v>
                </c:pt>
                <c:pt idx="155">
                  <c:v>3.6</c:v>
                </c:pt>
                <c:pt idx="156">
                  <c:v>3.6</c:v>
                </c:pt>
                <c:pt idx="157">
                  <c:v>3.6</c:v>
                </c:pt>
                <c:pt idx="158">
                  <c:v>3.6</c:v>
                </c:pt>
                <c:pt idx="159">
                  <c:v>3.6</c:v>
                </c:pt>
                <c:pt idx="160">
                  <c:v>3.6</c:v>
                </c:pt>
                <c:pt idx="161">
                  <c:v>3.6</c:v>
                </c:pt>
                <c:pt idx="162">
                  <c:v>3.6</c:v>
                </c:pt>
                <c:pt idx="163">
                  <c:v>3.6</c:v>
                </c:pt>
                <c:pt idx="164">
                  <c:v>3.6</c:v>
                </c:pt>
                <c:pt idx="165">
                  <c:v>3.6</c:v>
                </c:pt>
                <c:pt idx="166">
                  <c:v>3.6</c:v>
                </c:pt>
                <c:pt idx="167">
                  <c:v>3.6</c:v>
                </c:pt>
                <c:pt idx="168">
                  <c:v>3.6</c:v>
                </c:pt>
                <c:pt idx="169">
                  <c:v>3.6</c:v>
                </c:pt>
                <c:pt idx="170">
                  <c:v>3.6</c:v>
                </c:pt>
                <c:pt idx="171">
                  <c:v>3.6</c:v>
                </c:pt>
                <c:pt idx="172">
                  <c:v>3.6</c:v>
                </c:pt>
                <c:pt idx="173">
                  <c:v>3.6</c:v>
                </c:pt>
                <c:pt idx="174">
                  <c:v>3.6</c:v>
                </c:pt>
                <c:pt idx="175">
                  <c:v>3.6</c:v>
                </c:pt>
                <c:pt idx="176">
                  <c:v>3.6</c:v>
                </c:pt>
                <c:pt idx="177">
                  <c:v>3.6</c:v>
                </c:pt>
                <c:pt idx="178">
                  <c:v>3.6</c:v>
                </c:pt>
                <c:pt idx="179">
                  <c:v>3.6</c:v>
                </c:pt>
                <c:pt idx="180">
                  <c:v>3.6</c:v>
                </c:pt>
                <c:pt idx="181">
                  <c:v>3.6</c:v>
                </c:pt>
                <c:pt idx="182">
                  <c:v>3.6</c:v>
                </c:pt>
                <c:pt idx="183">
                  <c:v>3.6</c:v>
                </c:pt>
                <c:pt idx="184">
                  <c:v>3.6</c:v>
                </c:pt>
                <c:pt idx="185">
                  <c:v>3.6</c:v>
                </c:pt>
                <c:pt idx="186">
                  <c:v>3.6</c:v>
                </c:pt>
                <c:pt idx="187">
                  <c:v>3.6</c:v>
                </c:pt>
                <c:pt idx="188">
                  <c:v>3.6</c:v>
                </c:pt>
                <c:pt idx="189">
                  <c:v>3.6</c:v>
                </c:pt>
                <c:pt idx="190">
                  <c:v>3.6</c:v>
                </c:pt>
                <c:pt idx="191">
                  <c:v>3.6</c:v>
                </c:pt>
                <c:pt idx="192">
                  <c:v>3.6</c:v>
                </c:pt>
                <c:pt idx="193">
                  <c:v>3.6</c:v>
                </c:pt>
                <c:pt idx="194">
                  <c:v>3.6</c:v>
                </c:pt>
                <c:pt idx="195">
                  <c:v>3.6</c:v>
                </c:pt>
                <c:pt idx="196">
                  <c:v>3.6</c:v>
                </c:pt>
                <c:pt idx="197">
                  <c:v>3.6</c:v>
                </c:pt>
                <c:pt idx="198">
                  <c:v>3.6</c:v>
                </c:pt>
                <c:pt idx="199">
                  <c:v>3.6</c:v>
                </c:pt>
                <c:pt idx="200">
                  <c:v>3.6</c:v>
                </c:pt>
                <c:pt idx="201">
                  <c:v>3.6</c:v>
                </c:pt>
                <c:pt idx="202">
                  <c:v>3.6</c:v>
                </c:pt>
                <c:pt idx="203">
                  <c:v>3.6</c:v>
                </c:pt>
                <c:pt idx="204">
                  <c:v>3.6</c:v>
                </c:pt>
                <c:pt idx="205">
                  <c:v>3.6</c:v>
                </c:pt>
                <c:pt idx="206">
                  <c:v>3.6</c:v>
                </c:pt>
                <c:pt idx="207">
                  <c:v>3.6</c:v>
                </c:pt>
                <c:pt idx="208">
                  <c:v>3.6</c:v>
                </c:pt>
                <c:pt idx="209">
                  <c:v>3.6</c:v>
                </c:pt>
                <c:pt idx="210">
                  <c:v>3.6</c:v>
                </c:pt>
                <c:pt idx="211">
                  <c:v>3.6</c:v>
                </c:pt>
                <c:pt idx="212">
                  <c:v>3.6</c:v>
                </c:pt>
                <c:pt idx="213">
                  <c:v>3.6</c:v>
                </c:pt>
                <c:pt idx="214">
                  <c:v>3.6</c:v>
                </c:pt>
                <c:pt idx="215">
                  <c:v>3.6</c:v>
                </c:pt>
                <c:pt idx="216">
                  <c:v>3.6</c:v>
                </c:pt>
                <c:pt idx="217">
                  <c:v>3.6</c:v>
                </c:pt>
                <c:pt idx="218">
                  <c:v>3.6</c:v>
                </c:pt>
                <c:pt idx="219">
                  <c:v>3.6</c:v>
                </c:pt>
                <c:pt idx="220">
                  <c:v>3.6</c:v>
                </c:pt>
                <c:pt idx="221">
                  <c:v>3.6</c:v>
                </c:pt>
                <c:pt idx="222">
                  <c:v>3.6</c:v>
                </c:pt>
                <c:pt idx="223">
                  <c:v>3.6</c:v>
                </c:pt>
                <c:pt idx="224">
                  <c:v>3.6</c:v>
                </c:pt>
                <c:pt idx="225">
                  <c:v>3.6</c:v>
                </c:pt>
                <c:pt idx="226">
                  <c:v>3.6</c:v>
                </c:pt>
                <c:pt idx="227">
                  <c:v>3.6</c:v>
                </c:pt>
                <c:pt idx="228">
                  <c:v>3.6</c:v>
                </c:pt>
                <c:pt idx="229">
                  <c:v>3.6</c:v>
                </c:pt>
                <c:pt idx="230">
                  <c:v>3.6</c:v>
                </c:pt>
                <c:pt idx="231">
                  <c:v>3.6</c:v>
                </c:pt>
                <c:pt idx="232">
                  <c:v>3.6</c:v>
                </c:pt>
                <c:pt idx="233">
                  <c:v>3.6</c:v>
                </c:pt>
                <c:pt idx="234">
                  <c:v>3.6</c:v>
                </c:pt>
                <c:pt idx="235">
                  <c:v>3.6</c:v>
                </c:pt>
                <c:pt idx="236">
                  <c:v>3.6</c:v>
                </c:pt>
                <c:pt idx="237">
                  <c:v>3.6</c:v>
                </c:pt>
                <c:pt idx="238">
                  <c:v>3.6</c:v>
                </c:pt>
                <c:pt idx="239">
                  <c:v>3.6</c:v>
                </c:pt>
                <c:pt idx="240">
                  <c:v>3.6</c:v>
                </c:pt>
                <c:pt idx="241">
                  <c:v>3.6</c:v>
                </c:pt>
                <c:pt idx="242">
                  <c:v>3.6</c:v>
                </c:pt>
                <c:pt idx="243">
                  <c:v>3.6</c:v>
                </c:pt>
                <c:pt idx="244">
                  <c:v>3.6</c:v>
                </c:pt>
                <c:pt idx="245">
                  <c:v>3.6</c:v>
                </c:pt>
                <c:pt idx="246">
                  <c:v>3.6</c:v>
                </c:pt>
                <c:pt idx="247">
                  <c:v>3.6</c:v>
                </c:pt>
                <c:pt idx="248">
                  <c:v>3.6</c:v>
                </c:pt>
                <c:pt idx="249">
                  <c:v>3.6</c:v>
                </c:pt>
                <c:pt idx="250">
                  <c:v>3.6</c:v>
                </c:pt>
                <c:pt idx="251">
                  <c:v>3.6</c:v>
                </c:pt>
                <c:pt idx="252">
                  <c:v>3.6</c:v>
                </c:pt>
                <c:pt idx="253">
                  <c:v>3.6</c:v>
                </c:pt>
                <c:pt idx="254">
                  <c:v>3.6</c:v>
                </c:pt>
                <c:pt idx="255">
                  <c:v>3.6</c:v>
                </c:pt>
                <c:pt idx="256">
                  <c:v>3.6</c:v>
                </c:pt>
                <c:pt idx="257">
                  <c:v>3.6</c:v>
                </c:pt>
                <c:pt idx="258">
                  <c:v>3.6</c:v>
                </c:pt>
                <c:pt idx="259">
                  <c:v>3.6</c:v>
                </c:pt>
                <c:pt idx="260">
                  <c:v>3.6</c:v>
                </c:pt>
                <c:pt idx="261">
                  <c:v>3.6</c:v>
                </c:pt>
                <c:pt idx="262">
                  <c:v>3.6</c:v>
                </c:pt>
                <c:pt idx="263">
                  <c:v>3.6</c:v>
                </c:pt>
                <c:pt idx="264">
                  <c:v>3.6</c:v>
                </c:pt>
                <c:pt idx="265">
                  <c:v>3.6</c:v>
                </c:pt>
                <c:pt idx="266">
                  <c:v>3.6</c:v>
                </c:pt>
                <c:pt idx="267">
                  <c:v>3.6</c:v>
                </c:pt>
                <c:pt idx="268">
                  <c:v>3.6</c:v>
                </c:pt>
                <c:pt idx="269">
                  <c:v>3.6</c:v>
                </c:pt>
                <c:pt idx="270">
                  <c:v>3.6</c:v>
                </c:pt>
                <c:pt idx="271">
                  <c:v>3.6</c:v>
                </c:pt>
                <c:pt idx="272">
                  <c:v>3.6</c:v>
                </c:pt>
                <c:pt idx="273">
                  <c:v>3.6</c:v>
                </c:pt>
                <c:pt idx="274">
                  <c:v>3.6</c:v>
                </c:pt>
                <c:pt idx="275">
                  <c:v>3.6</c:v>
                </c:pt>
                <c:pt idx="276">
                  <c:v>3.6</c:v>
                </c:pt>
                <c:pt idx="277">
                  <c:v>3.6</c:v>
                </c:pt>
                <c:pt idx="278">
                  <c:v>3.6</c:v>
                </c:pt>
                <c:pt idx="279">
                  <c:v>3.6</c:v>
                </c:pt>
                <c:pt idx="280">
                  <c:v>3.6</c:v>
                </c:pt>
                <c:pt idx="281">
                  <c:v>3.6</c:v>
                </c:pt>
                <c:pt idx="282">
                  <c:v>3.6</c:v>
                </c:pt>
                <c:pt idx="283">
                  <c:v>3.6</c:v>
                </c:pt>
                <c:pt idx="284">
                  <c:v>3.6</c:v>
                </c:pt>
                <c:pt idx="285">
                  <c:v>3.6</c:v>
                </c:pt>
                <c:pt idx="286">
                  <c:v>3.6</c:v>
                </c:pt>
                <c:pt idx="287">
                  <c:v>3.6</c:v>
                </c:pt>
                <c:pt idx="288">
                  <c:v>3.6</c:v>
                </c:pt>
                <c:pt idx="289">
                  <c:v>3.6</c:v>
                </c:pt>
                <c:pt idx="290">
                  <c:v>3.6</c:v>
                </c:pt>
                <c:pt idx="291">
                  <c:v>3.6</c:v>
                </c:pt>
                <c:pt idx="292">
                  <c:v>3.6</c:v>
                </c:pt>
                <c:pt idx="293">
                  <c:v>3.6</c:v>
                </c:pt>
                <c:pt idx="294">
                  <c:v>3.6</c:v>
                </c:pt>
                <c:pt idx="295">
                  <c:v>3.6</c:v>
                </c:pt>
                <c:pt idx="296">
                  <c:v>3.6</c:v>
                </c:pt>
                <c:pt idx="297">
                  <c:v>3.6</c:v>
                </c:pt>
                <c:pt idx="298">
                  <c:v>3.6</c:v>
                </c:pt>
                <c:pt idx="299">
                  <c:v>3.6</c:v>
                </c:pt>
                <c:pt idx="300">
                  <c:v>3.6</c:v>
                </c:pt>
                <c:pt idx="301">
                  <c:v>3.6</c:v>
                </c:pt>
                <c:pt idx="302">
                  <c:v>3.6</c:v>
                </c:pt>
                <c:pt idx="303">
                  <c:v>3.6</c:v>
                </c:pt>
                <c:pt idx="304">
                  <c:v>3.6</c:v>
                </c:pt>
                <c:pt idx="305">
                  <c:v>3.6</c:v>
                </c:pt>
                <c:pt idx="306">
                  <c:v>3.6</c:v>
                </c:pt>
                <c:pt idx="307">
                  <c:v>3.6</c:v>
                </c:pt>
                <c:pt idx="308">
                  <c:v>3.6</c:v>
                </c:pt>
                <c:pt idx="309">
                  <c:v>3.6</c:v>
                </c:pt>
                <c:pt idx="310">
                  <c:v>3.6</c:v>
                </c:pt>
                <c:pt idx="311">
                  <c:v>3.6</c:v>
                </c:pt>
                <c:pt idx="312">
                  <c:v>3.6</c:v>
                </c:pt>
                <c:pt idx="313">
                  <c:v>3.6</c:v>
                </c:pt>
                <c:pt idx="314">
                  <c:v>3.6</c:v>
                </c:pt>
                <c:pt idx="315">
                  <c:v>3.6</c:v>
                </c:pt>
                <c:pt idx="316">
                  <c:v>3.6</c:v>
                </c:pt>
                <c:pt idx="317">
                  <c:v>3.6</c:v>
                </c:pt>
                <c:pt idx="318">
                  <c:v>3.6</c:v>
                </c:pt>
                <c:pt idx="319">
                  <c:v>3.6</c:v>
                </c:pt>
                <c:pt idx="320">
                  <c:v>3.6</c:v>
                </c:pt>
                <c:pt idx="321">
                  <c:v>3.6</c:v>
                </c:pt>
                <c:pt idx="322">
                  <c:v>3.6</c:v>
                </c:pt>
                <c:pt idx="323">
                  <c:v>3.6</c:v>
                </c:pt>
                <c:pt idx="324">
                  <c:v>3.6</c:v>
                </c:pt>
                <c:pt idx="325">
                  <c:v>3.6</c:v>
                </c:pt>
                <c:pt idx="326">
                  <c:v>3.6</c:v>
                </c:pt>
                <c:pt idx="327">
                  <c:v>3.6</c:v>
                </c:pt>
                <c:pt idx="328">
                  <c:v>3.6</c:v>
                </c:pt>
                <c:pt idx="329">
                  <c:v>3.6</c:v>
                </c:pt>
                <c:pt idx="330">
                  <c:v>3.6</c:v>
                </c:pt>
                <c:pt idx="331">
                  <c:v>3.6</c:v>
                </c:pt>
                <c:pt idx="332">
                  <c:v>3.6</c:v>
                </c:pt>
                <c:pt idx="333">
                  <c:v>3.6</c:v>
                </c:pt>
                <c:pt idx="334">
                  <c:v>3.6</c:v>
                </c:pt>
                <c:pt idx="335">
                  <c:v>3.6</c:v>
                </c:pt>
                <c:pt idx="336">
                  <c:v>3.6</c:v>
                </c:pt>
                <c:pt idx="337">
                  <c:v>3.6</c:v>
                </c:pt>
                <c:pt idx="338">
                  <c:v>3.6</c:v>
                </c:pt>
                <c:pt idx="339">
                  <c:v>3.6</c:v>
                </c:pt>
                <c:pt idx="340">
                  <c:v>3.6</c:v>
                </c:pt>
                <c:pt idx="341">
                  <c:v>3.6</c:v>
                </c:pt>
                <c:pt idx="342">
                  <c:v>3.6</c:v>
                </c:pt>
                <c:pt idx="343">
                  <c:v>3.6</c:v>
                </c:pt>
                <c:pt idx="344">
                  <c:v>3.6</c:v>
                </c:pt>
                <c:pt idx="345">
                  <c:v>3.6</c:v>
                </c:pt>
                <c:pt idx="346">
                  <c:v>3.6</c:v>
                </c:pt>
                <c:pt idx="347">
                  <c:v>3.6</c:v>
                </c:pt>
                <c:pt idx="348">
                  <c:v>3.6</c:v>
                </c:pt>
                <c:pt idx="349">
                  <c:v>3.6</c:v>
                </c:pt>
                <c:pt idx="350">
                  <c:v>3.6</c:v>
                </c:pt>
                <c:pt idx="351">
                  <c:v>3.6</c:v>
                </c:pt>
                <c:pt idx="352">
                  <c:v>3.6</c:v>
                </c:pt>
                <c:pt idx="353">
                  <c:v>3.6</c:v>
                </c:pt>
                <c:pt idx="354">
                  <c:v>3.6</c:v>
                </c:pt>
                <c:pt idx="355">
                  <c:v>3.6</c:v>
                </c:pt>
                <c:pt idx="356">
                  <c:v>3.6</c:v>
                </c:pt>
                <c:pt idx="357">
                  <c:v>3.6</c:v>
                </c:pt>
                <c:pt idx="358">
                  <c:v>3.6</c:v>
                </c:pt>
                <c:pt idx="359">
                  <c:v>3.6</c:v>
                </c:pt>
                <c:pt idx="360">
                  <c:v>3.6</c:v>
                </c:pt>
                <c:pt idx="361">
                  <c:v>3.6</c:v>
                </c:pt>
                <c:pt idx="362">
                  <c:v>3.6</c:v>
                </c:pt>
                <c:pt idx="363">
                  <c:v>3.6</c:v>
                </c:pt>
                <c:pt idx="364">
                  <c:v>3.6</c:v>
                </c:pt>
                <c:pt idx="365">
                  <c:v>3.6</c:v>
                </c:pt>
                <c:pt idx="366">
                  <c:v>3.6</c:v>
                </c:pt>
                <c:pt idx="367">
                  <c:v>3.6</c:v>
                </c:pt>
                <c:pt idx="368">
                  <c:v>3.6</c:v>
                </c:pt>
                <c:pt idx="369">
                  <c:v>3.6</c:v>
                </c:pt>
                <c:pt idx="370">
                  <c:v>3.6</c:v>
                </c:pt>
                <c:pt idx="371">
                  <c:v>3.6</c:v>
                </c:pt>
                <c:pt idx="372">
                  <c:v>3.6</c:v>
                </c:pt>
                <c:pt idx="373">
                  <c:v>3.6</c:v>
                </c:pt>
                <c:pt idx="374">
                  <c:v>3.6</c:v>
                </c:pt>
                <c:pt idx="375">
                  <c:v>3.6</c:v>
                </c:pt>
                <c:pt idx="376">
                  <c:v>3.6</c:v>
                </c:pt>
                <c:pt idx="377">
                  <c:v>3.6</c:v>
                </c:pt>
                <c:pt idx="378">
                  <c:v>3.6</c:v>
                </c:pt>
                <c:pt idx="379">
                  <c:v>3.6</c:v>
                </c:pt>
                <c:pt idx="380">
                  <c:v>3.6</c:v>
                </c:pt>
                <c:pt idx="381">
                  <c:v>3.6</c:v>
                </c:pt>
                <c:pt idx="382">
                  <c:v>3.6</c:v>
                </c:pt>
                <c:pt idx="383">
                  <c:v>3.6</c:v>
                </c:pt>
                <c:pt idx="384">
                  <c:v>3.6</c:v>
                </c:pt>
                <c:pt idx="385">
                  <c:v>3.6</c:v>
                </c:pt>
                <c:pt idx="386">
                  <c:v>3.6</c:v>
                </c:pt>
                <c:pt idx="387">
                  <c:v>3.6</c:v>
                </c:pt>
                <c:pt idx="388">
                  <c:v>3.6</c:v>
                </c:pt>
                <c:pt idx="389">
                  <c:v>3.6</c:v>
                </c:pt>
                <c:pt idx="390">
                  <c:v>3.6</c:v>
                </c:pt>
                <c:pt idx="391">
                  <c:v>3.6</c:v>
                </c:pt>
                <c:pt idx="392">
                  <c:v>3.6</c:v>
                </c:pt>
                <c:pt idx="393">
                  <c:v>3.6</c:v>
                </c:pt>
                <c:pt idx="394">
                  <c:v>3.6</c:v>
                </c:pt>
                <c:pt idx="395">
                  <c:v>3.6</c:v>
                </c:pt>
                <c:pt idx="396">
                  <c:v>3.6</c:v>
                </c:pt>
                <c:pt idx="397">
                  <c:v>3.6</c:v>
                </c:pt>
                <c:pt idx="398">
                  <c:v>3.6</c:v>
                </c:pt>
                <c:pt idx="399">
                  <c:v>3.6</c:v>
                </c:pt>
                <c:pt idx="400">
                  <c:v>3.6</c:v>
                </c:pt>
                <c:pt idx="401">
                  <c:v>3.6</c:v>
                </c:pt>
                <c:pt idx="402">
                  <c:v>3.6</c:v>
                </c:pt>
                <c:pt idx="403">
                  <c:v>3.6</c:v>
                </c:pt>
                <c:pt idx="404">
                  <c:v>3.6</c:v>
                </c:pt>
                <c:pt idx="405">
                  <c:v>3.6</c:v>
                </c:pt>
                <c:pt idx="406">
                  <c:v>3.6</c:v>
                </c:pt>
                <c:pt idx="407">
                  <c:v>3.6</c:v>
                </c:pt>
                <c:pt idx="408">
                  <c:v>3.6</c:v>
                </c:pt>
                <c:pt idx="409">
                  <c:v>3.6</c:v>
                </c:pt>
                <c:pt idx="410">
                  <c:v>3.6</c:v>
                </c:pt>
                <c:pt idx="411">
                  <c:v>3.6</c:v>
                </c:pt>
                <c:pt idx="412">
                  <c:v>3.6</c:v>
                </c:pt>
                <c:pt idx="413">
                  <c:v>3.6</c:v>
                </c:pt>
                <c:pt idx="414">
                  <c:v>3.6</c:v>
                </c:pt>
                <c:pt idx="415">
                  <c:v>3.6</c:v>
                </c:pt>
                <c:pt idx="416">
                  <c:v>3.6</c:v>
                </c:pt>
                <c:pt idx="417">
                  <c:v>3.6</c:v>
                </c:pt>
                <c:pt idx="418">
                  <c:v>3.6</c:v>
                </c:pt>
                <c:pt idx="419">
                  <c:v>3.6</c:v>
                </c:pt>
                <c:pt idx="420">
                  <c:v>3.6</c:v>
                </c:pt>
                <c:pt idx="421">
                  <c:v>3.6</c:v>
                </c:pt>
                <c:pt idx="422">
                  <c:v>3.6</c:v>
                </c:pt>
                <c:pt idx="423">
                  <c:v>3.6</c:v>
                </c:pt>
                <c:pt idx="424">
                  <c:v>3.6</c:v>
                </c:pt>
                <c:pt idx="425">
                  <c:v>3.6</c:v>
                </c:pt>
                <c:pt idx="426">
                  <c:v>3.6</c:v>
                </c:pt>
                <c:pt idx="427">
                  <c:v>3.6</c:v>
                </c:pt>
                <c:pt idx="428">
                  <c:v>3.6</c:v>
                </c:pt>
                <c:pt idx="429">
                  <c:v>3.6</c:v>
                </c:pt>
                <c:pt idx="430">
                  <c:v>3.6</c:v>
                </c:pt>
                <c:pt idx="431">
                  <c:v>3.6</c:v>
                </c:pt>
                <c:pt idx="432">
                  <c:v>3.6</c:v>
                </c:pt>
                <c:pt idx="433">
                  <c:v>3.6</c:v>
                </c:pt>
                <c:pt idx="434">
                  <c:v>3.6</c:v>
                </c:pt>
                <c:pt idx="435">
                  <c:v>3.6</c:v>
                </c:pt>
                <c:pt idx="436">
                  <c:v>3.6</c:v>
                </c:pt>
                <c:pt idx="437">
                  <c:v>3.6</c:v>
                </c:pt>
                <c:pt idx="438">
                  <c:v>3.6</c:v>
                </c:pt>
                <c:pt idx="439">
                  <c:v>3.6</c:v>
                </c:pt>
                <c:pt idx="440">
                  <c:v>3.6</c:v>
                </c:pt>
                <c:pt idx="441">
                  <c:v>3.6</c:v>
                </c:pt>
                <c:pt idx="442">
                  <c:v>3.6</c:v>
                </c:pt>
                <c:pt idx="443">
                  <c:v>3.6</c:v>
                </c:pt>
                <c:pt idx="444">
                  <c:v>3.6</c:v>
                </c:pt>
                <c:pt idx="445">
                  <c:v>3.6</c:v>
                </c:pt>
                <c:pt idx="446">
                  <c:v>3.6</c:v>
                </c:pt>
                <c:pt idx="447">
                  <c:v>3.6</c:v>
                </c:pt>
                <c:pt idx="448">
                  <c:v>3.6</c:v>
                </c:pt>
                <c:pt idx="449">
                  <c:v>3.6</c:v>
                </c:pt>
                <c:pt idx="450">
                  <c:v>3.6</c:v>
                </c:pt>
                <c:pt idx="451">
                  <c:v>3.6</c:v>
                </c:pt>
                <c:pt idx="452">
                  <c:v>3.6</c:v>
                </c:pt>
                <c:pt idx="453">
                  <c:v>3.6</c:v>
                </c:pt>
                <c:pt idx="454">
                  <c:v>3.6</c:v>
                </c:pt>
                <c:pt idx="455">
                  <c:v>3.6</c:v>
                </c:pt>
                <c:pt idx="456">
                  <c:v>3.6</c:v>
                </c:pt>
                <c:pt idx="457">
                  <c:v>3.6</c:v>
                </c:pt>
                <c:pt idx="458">
                  <c:v>3.6</c:v>
                </c:pt>
                <c:pt idx="459">
                  <c:v>3.6</c:v>
                </c:pt>
                <c:pt idx="460">
                  <c:v>3.6</c:v>
                </c:pt>
                <c:pt idx="461">
                  <c:v>3.6</c:v>
                </c:pt>
                <c:pt idx="462">
                  <c:v>3.6</c:v>
                </c:pt>
                <c:pt idx="463">
                  <c:v>3.6</c:v>
                </c:pt>
                <c:pt idx="464">
                  <c:v>3.6</c:v>
                </c:pt>
                <c:pt idx="465">
                  <c:v>3.6</c:v>
                </c:pt>
                <c:pt idx="466">
                  <c:v>3.6</c:v>
                </c:pt>
                <c:pt idx="467">
                  <c:v>3.6</c:v>
                </c:pt>
                <c:pt idx="468">
                  <c:v>3.6</c:v>
                </c:pt>
                <c:pt idx="469">
                  <c:v>3.6</c:v>
                </c:pt>
                <c:pt idx="470">
                  <c:v>3.6</c:v>
                </c:pt>
                <c:pt idx="471">
                  <c:v>3.6</c:v>
                </c:pt>
                <c:pt idx="472">
                  <c:v>3.6</c:v>
                </c:pt>
                <c:pt idx="473">
                  <c:v>3.6</c:v>
                </c:pt>
                <c:pt idx="474">
                  <c:v>3.6</c:v>
                </c:pt>
                <c:pt idx="475">
                  <c:v>3.6</c:v>
                </c:pt>
                <c:pt idx="476">
                  <c:v>3.6</c:v>
                </c:pt>
                <c:pt idx="477">
                  <c:v>3.6</c:v>
                </c:pt>
                <c:pt idx="478">
                  <c:v>3.6</c:v>
                </c:pt>
                <c:pt idx="479">
                  <c:v>3.6</c:v>
                </c:pt>
                <c:pt idx="480">
                  <c:v>3.6</c:v>
                </c:pt>
                <c:pt idx="481">
                  <c:v>3.6</c:v>
                </c:pt>
                <c:pt idx="482">
                  <c:v>3.6</c:v>
                </c:pt>
                <c:pt idx="483">
                  <c:v>3.6</c:v>
                </c:pt>
                <c:pt idx="484">
                  <c:v>3.6</c:v>
                </c:pt>
                <c:pt idx="485">
                  <c:v>3.6</c:v>
                </c:pt>
                <c:pt idx="486">
                  <c:v>3.6</c:v>
                </c:pt>
                <c:pt idx="487">
                  <c:v>3.6</c:v>
                </c:pt>
                <c:pt idx="488">
                  <c:v>3.6</c:v>
                </c:pt>
                <c:pt idx="489">
                  <c:v>3.6</c:v>
                </c:pt>
                <c:pt idx="490">
                  <c:v>3.6</c:v>
                </c:pt>
                <c:pt idx="491">
                  <c:v>3.6</c:v>
                </c:pt>
                <c:pt idx="492">
                  <c:v>3.6</c:v>
                </c:pt>
                <c:pt idx="493">
                  <c:v>3.6</c:v>
                </c:pt>
                <c:pt idx="494">
                  <c:v>3.6</c:v>
                </c:pt>
                <c:pt idx="495">
                  <c:v>3.6</c:v>
                </c:pt>
                <c:pt idx="496">
                  <c:v>3.6</c:v>
                </c:pt>
                <c:pt idx="497">
                  <c:v>3.6</c:v>
                </c:pt>
                <c:pt idx="498">
                  <c:v>3.6</c:v>
                </c:pt>
                <c:pt idx="499">
                  <c:v>3.6</c:v>
                </c:pt>
                <c:pt idx="500">
                  <c:v>3.6</c:v>
                </c:pt>
                <c:pt idx="501">
                  <c:v>3.6</c:v>
                </c:pt>
                <c:pt idx="502">
                  <c:v>3.6</c:v>
                </c:pt>
                <c:pt idx="503">
                  <c:v>3.6</c:v>
                </c:pt>
                <c:pt idx="504">
                  <c:v>3.6</c:v>
                </c:pt>
                <c:pt idx="505">
                  <c:v>3.6</c:v>
                </c:pt>
                <c:pt idx="506">
                  <c:v>3.6</c:v>
                </c:pt>
                <c:pt idx="507">
                  <c:v>3.6</c:v>
                </c:pt>
                <c:pt idx="508">
                  <c:v>3.6</c:v>
                </c:pt>
                <c:pt idx="509">
                  <c:v>3.6</c:v>
                </c:pt>
                <c:pt idx="510">
                  <c:v>3.6</c:v>
                </c:pt>
                <c:pt idx="511">
                  <c:v>3.6</c:v>
                </c:pt>
                <c:pt idx="512">
                  <c:v>3.6</c:v>
                </c:pt>
                <c:pt idx="513">
                  <c:v>3.6</c:v>
                </c:pt>
                <c:pt idx="514">
                  <c:v>3.6</c:v>
                </c:pt>
                <c:pt idx="515">
                  <c:v>3.6</c:v>
                </c:pt>
                <c:pt idx="516">
                  <c:v>3.6</c:v>
                </c:pt>
                <c:pt idx="517">
                  <c:v>3.6</c:v>
                </c:pt>
                <c:pt idx="518">
                  <c:v>3.6</c:v>
                </c:pt>
                <c:pt idx="519">
                  <c:v>3.6</c:v>
                </c:pt>
                <c:pt idx="520">
                  <c:v>3.6</c:v>
                </c:pt>
                <c:pt idx="521">
                  <c:v>3.6</c:v>
                </c:pt>
                <c:pt idx="522">
                  <c:v>3.6</c:v>
                </c:pt>
                <c:pt idx="523">
                  <c:v>3.6</c:v>
                </c:pt>
              </c:numCache>
            </c:numRef>
          </c:val>
          <c:smooth val="0"/>
          <c:extLst xmlns:c16r2="http://schemas.microsoft.com/office/drawing/2015/06/chart">
            <c:ext xmlns:c16="http://schemas.microsoft.com/office/drawing/2014/chart" uri="{C3380CC4-5D6E-409C-BE32-E72D297353CC}">
              <c16:uniqueId val="{00000003-8435-4E2B-A90C-0FCDC38003D2}"/>
            </c:ext>
          </c:extLst>
        </c:ser>
        <c:dLbls>
          <c:showLegendKey val="0"/>
          <c:showVal val="0"/>
          <c:showCatName val="0"/>
          <c:showSerName val="0"/>
          <c:showPercent val="0"/>
          <c:showBubbleSize val="0"/>
        </c:dLbls>
        <c:marker val="1"/>
        <c:smooth val="0"/>
        <c:axId val="-2048891136"/>
        <c:axId val="-2048888416"/>
      </c:lineChart>
      <c:lineChart>
        <c:grouping val="standard"/>
        <c:varyColors val="0"/>
        <c:ser>
          <c:idx val="1"/>
          <c:order val="1"/>
          <c:tx>
            <c:strRef>
              <c:f>Sheet4!$C$1</c:f>
              <c:strCache>
                <c:ptCount val="1"/>
                <c:pt idx="0">
                  <c:v>指数点位</c:v>
                </c:pt>
              </c:strCache>
            </c:strRef>
          </c:tx>
          <c:spPr>
            <a:ln w="28575" cap="rnd">
              <a:solidFill>
                <a:schemeClr val="accent2"/>
              </a:solidFill>
              <a:round/>
            </a:ln>
            <a:effectLst/>
          </c:spPr>
          <c:marker>
            <c:symbol val="none"/>
          </c:marker>
          <c:cat>
            <c:strRef>
              <c:f>Sheet4!$A$2:$A$525</c:f>
              <c:strCache>
                <c:ptCount val="524"/>
                <c:pt idx="0">
                  <c:v>2016-03-04</c:v>
                </c:pt>
                <c:pt idx="1">
                  <c:v>2016-03-11</c:v>
                </c:pt>
                <c:pt idx="2">
                  <c:v>2016-03-18</c:v>
                </c:pt>
                <c:pt idx="3">
                  <c:v>2016-03-25</c:v>
                </c:pt>
                <c:pt idx="4">
                  <c:v>2016-04-01</c:v>
                </c:pt>
                <c:pt idx="5">
                  <c:v>2016-04-08</c:v>
                </c:pt>
                <c:pt idx="6">
                  <c:v>2016-04-15</c:v>
                </c:pt>
                <c:pt idx="7">
                  <c:v>2016-04-22</c:v>
                </c:pt>
                <c:pt idx="8">
                  <c:v>2016-04-29</c:v>
                </c:pt>
                <c:pt idx="9">
                  <c:v>2016-05-06</c:v>
                </c:pt>
                <c:pt idx="10">
                  <c:v>2016-05-13</c:v>
                </c:pt>
                <c:pt idx="11">
                  <c:v>2016-05-20</c:v>
                </c:pt>
                <c:pt idx="12">
                  <c:v>2016-05-27</c:v>
                </c:pt>
                <c:pt idx="13">
                  <c:v>2016-06-03</c:v>
                </c:pt>
                <c:pt idx="14">
                  <c:v>2016-06-08</c:v>
                </c:pt>
                <c:pt idx="15">
                  <c:v>2016-06-17</c:v>
                </c:pt>
                <c:pt idx="16">
                  <c:v>2016-06-24</c:v>
                </c:pt>
                <c:pt idx="17">
                  <c:v>2016-07-01</c:v>
                </c:pt>
                <c:pt idx="18">
                  <c:v>2016-07-08</c:v>
                </c:pt>
                <c:pt idx="19">
                  <c:v>2016-07-15</c:v>
                </c:pt>
                <c:pt idx="20">
                  <c:v>2016-07-22</c:v>
                </c:pt>
                <c:pt idx="21">
                  <c:v>2016-07-29</c:v>
                </c:pt>
                <c:pt idx="22">
                  <c:v>2016-08-05</c:v>
                </c:pt>
                <c:pt idx="23">
                  <c:v>2016-08-12</c:v>
                </c:pt>
                <c:pt idx="24">
                  <c:v>2016-08-19</c:v>
                </c:pt>
                <c:pt idx="25">
                  <c:v>2016-08-26</c:v>
                </c:pt>
                <c:pt idx="26">
                  <c:v>2016-09-02</c:v>
                </c:pt>
                <c:pt idx="27">
                  <c:v>2016-09-09</c:v>
                </c:pt>
                <c:pt idx="28">
                  <c:v>2016-09-14</c:v>
                </c:pt>
                <c:pt idx="29">
                  <c:v>2016-09-23</c:v>
                </c:pt>
                <c:pt idx="30">
                  <c:v>2016-09-30</c:v>
                </c:pt>
                <c:pt idx="31">
                  <c:v>2016-10-14</c:v>
                </c:pt>
                <c:pt idx="32">
                  <c:v>2016-10-21</c:v>
                </c:pt>
                <c:pt idx="33">
                  <c:v>2016-10-28</c:v>
                </c:pt>
                <c:pt idx="34">
                  <c:v>2016-11-04</c:v>
                </c:pt>
                <c:pt idx="35">
                  <c:v>2016-11-11</c:v>
                </c:pt>
                <c:pt idx="36">
                  <c:v>2016-11-18</c:v>
                </c:pt>
                <c:pt idx="37">
                  <c:v>2016-11-25</c:v>
                </c:pt>
                <c:pt idx="38">
                  <c:v>2016-12-02</c:v>
                </c:pt>
                <c:pt idx="39">
                  <c:v>2016-12-09</c:v>
                </c:pt>
                <c:pt idx="40">
                  <c:v>2016-12-16</c:v>
                </c:pt>
                <c:pt idx="41">
                  <c:v>2016-12-23</c:v>
                </c:pt>
                <c:pt idx="42">
                  <c:v>2016-12-30</c:v>
                </c:pt>
                <c:pt idx="43">
                  <c:v>2017-01-06</c:v>
                </c:pt>
                <c:pt idx="44">
                  <c:v>2017-01-13</c:v>
                </c:pt>
                <c:pt idx="45">
                  <c:v>2017-01-20</c:v>
                </c:pt>
                <c:pt idx="46">
                  <c:v>2017-01-26</c:v>
                </c:pt>
                <c:pt idx="47">
                  <c:v>2017-02-03</c:v>
                </c:pt>
                <c:pt idx="48">
                  <c:v>2017-02-10</c:v>
                </c:pt>
                <c:pt idx="49">
                  <c:v>2017-02-17</c:v>
                </c:pt>
                <c:pt idx="50">
                  <c:v>2017-02-24</c:v>
                </c:pt>
                <c:pt idx="51">
                  <c:v>2017-03-03</c:v>
                </c:pt>
                <c:pt idx="52">
                  <c:v>2017-03-10</c:v>
                </c:pt>
                <c:pt idx="53">
                  <c:v>2017-03-17</c:v>
                </c:pt>
                <c:pt idx="54">
                  <c:v>2017-03-24</c:v>
                </c:pt>
                <c:pt idx="55">
                  <c:v>2017-03-31</c:v>
                </c:pt>
                <c:pt idx="56">
                  <c:v>2017-04-07</c:v>
                </c:pt>
                <c:pt idx="57">
                  <c:v>2017-04-14</c:v>
                </c:pt>
                <c:pt idx="58">
                  <c:v>2017-04-21</c:v>
                </c:pt>
                <c:pt idx="59">
                  <c:v>2017-04-28</c:v>
                </c:pt>
                <c:pt idx="60">
                  <c:v>2017-05-05</c:v>
                </c:pt>
                <c:pt idx="61">
                  <c:v>2017-05-12</c:v>
                </c:pt>
                <c:pt idx="62">
                  <c:v>2017-05-19</c:v>
                </c:pt>
                <c:pt idx="63">
                  <c:v>2017-05-26</c:v>
                </c:pt>
                <c:pt idx="64">
                  <c:v>2017-06-02</c:v>
                </c:pt>
                <c:pt idx="65">
                  <c:v>2017-06-09</c:v>
                </c:pt>
                <c:pt idx="66">
                  <c:v>2017-06-16</c:v>
                </c:pt>
                <c:pt idx="67">
                  <c:v>2017-06-23</c:v>
                </c:pt>
                <c:pt idx="68">
                  <c:v>2017-06-30</c:v>
                </c:pt>
                <c:pt idx="69">
                  <c:v>2017-07-07</c:v>
                </c:pt>
                <c:pt idx="70">
                  <c:v>2017-07-14</c:v>
                </c:pt>
                <c:pt idx="71">
                  <c:v>2017-07-21</c:v>
                </c:pt>
                <c:pt idx="72">
                  <c:v>2017-07-28</c:v>
                </c:pt>
                <c:pt idx="73">
                  <c:v>2017-08-04</c:v>
                </c:pt>
                <c:pt idx="74">
                  <c:v>2017-08-11</c:v>
                </c:pt>
                <c:pt idx="75">
                  <c:v>2017-08-18</c:v>
                </c:pt>
                <c:pt idx="76">
                  <c:v>2017-08-25</c:v>
                </c:pt>
                <c:pt idx="77">
                  <c:v>2017-09-01</c:v>
                </c:pt>
                <c:pt idx="78">
                  <c:v>2017-09-08</c:v>
                </c:pt>
                <c:pt idx="79">
                  <c:v>2017-09-15</c:v>
                </c:pt>
                <c:pt idx="80">
                  <c:v>2017-09-22</c:v>
                </c:pt>
                <c:pt idx="81">
                  <c:v>2017-09-29</c:v>
                </c:pt>
                <c:pt idx="82">
                  <c:v>2017-10-13</c:v>
                </c:pt>
                <c:pt idx="83">
                  <c:v>2017-10-20</c:v>
                </c:pt>
                <c:pt idx="84">
                  <c:v>2017-10-27</c:v>
                </c:pt>
                <c:pt idx="85">
                  <c:v>2017-11-03</c:v>
                </c:pt>
                <c:pt idx="86">
                  <c:v>2017-11-10</c:v>
                </c:pt>
                <c:pt idx="87">
                  <c:v>2017-11-17</c:v>
                </c:pt>
                <c:pt idx="88">
                  <c:v>2017-11-24</c:v>
                </c:pt>
                <c:pt idx="89">
                  <c:v>2017-12-01</c:v>
                </c:pt>
                <c:pt idx="90">
                  <c:v>2017-12-08</c:v>
                </c:pt>
                <c:pt idx="91">
                  <c:v>2017-12-15</c:v>
                </c:pt>
                <c:pt idx="92">
                  <c:v>2017-12-22</c:v>
                </c:pt>
                <c:pt idx="93">
                  <c:v>2017-12-29</c:v>
                </c:pt>
                <c:pt idx="94">
                  <c:v>2018-01-05</c:v>
                </c:pt>
                <c:pt idx="95">
                  <c:v>2018-01-12</c:v>
                </c:pt>
                <c:pt idx="96">
                  <c:v>2018-01-19</c:v>
                </c:pt>
                <c:pt idx="97">
                  <c:v>2018-01-26</c:v>
                </c:pt>
                <c:pt idx="98">
                  <c:v>2018-02-02</c:v>
                </c:pt>
                <c:pt idx="99">
                  <c:v>2018-02-09</c:v>
                </c:pt>
                <c:pt idx="100">
                  <c:v>2018-02-14</c:v>
                </c:pt>
                <c:pt idx="101">
                  <c:v>2018-02-23</c:v>
                </c:pt>
                <c:pt idx="102">
                  <c:v>2018-03-02</c:v>
                </c:pt>
                <c:pt idx="103">
                  <c:v>2018-03-09</c:v>
                </c:pt>
                <c:pt idx="104">
                  <c:v>2018-03-16</c:v>
                </c:pt>
                <c:pt idx="105">
                  <c:v>2018-03-23</c:v>
                </c:pt>
                <c:pt idx="106">
                  <c:v>2018-03-30</c:v>
                </c:pt>
                <c:pt idx="107">
                  <c:v>2018-04-04</c:v>
                </c:pt>
                <c:pt idx="108">
                  <c:v>2018-04-13</c:v>
                </c:pt>
                <c:pt idx="109">
                  <c:v>2018-04-20</c:v>
                </c:pt>
                <c:pt idx="110">
                  <c:v>2018-04-27</c:v>
                </c:pt>
                <c:pt idx="111">
                  <c:v>2018-05-04</c:v>
                </c:pt>
                <c:pt idx="112">
                  <c:v>2018-05-11</c:v>
                </c:pt>
                <c:pt idx="113">
                  <c:v>2018-05-18</c:v>
                </c:pt>
                <c:pt idx="114">
                  <c:v>2018-05-25</c:v>
                </c:pt>
                <c:pt idx="115">
                  <c:v>2018-06-01</c:v>
                </c:pt>
                <c:pt idx="116">
                  <c:v>2018-06-08</c:v>
                </c:pt>
                <c:pt idx="117">
                  <c:v>2018-06-15</c:v>
                </c:pt>
                <c:pt idx="118">
                  <c:v>2018-06-22</c:v>
                </c:pt>
                <c:pt idx="119">
                  <c:v>2018-06-29</c:v>
                </c:pt>
                <c:pt idx="120">
                  <c:v>2018-07-06</c:v>
                </c:pt>
                <c:pt idx="121">
                  <c:v>2018-07-13</c:v>
                </c:pt>
                <c:pt idx="122">
                  <c:v>2018-07-20</c:v>
                </c:pt>
                <c:pt idx="123">
                  <c:v>2018-07-27</c:v>
                </c:pt>
                <c:pt idx="124">
                  <c:v>2018-08-03</c:v>
                </c:pt>
                <c:pt idx="125">
                  <c:v>2018-08-10</c:v>
                </c:pt>
                <c:pt idx="126">
                  <c:v>2018-08-17</c:v>
                </c:pt>
                <c:pt idx="127">
                  <c:v>2018-08-24</c:v>
                </c:pt>
                <c:pt idx="128">
                  <c:v>2018-08-31</c:v>
                </c:pt>
                <c:pt idx="129">
                  <c:v>2018-09-07</c:v>
                </c:pt>
                <c:pt idx="130">
                  <c:v>2018-09-14</c:v>
                </c:pt>
                <c:pt idx="131">
                  <c:v>2018-09-21</c:v>
                </c:pt>
                <c:pt idx="132">
                  <c:v>2018-09-28</c:v>
                </c:pt>
                <c:pt idx="133">
                  <c:v>2018-10-12</c:v>
                </c:pt>
                <c:pt idx="134">
                  <c:v>2018-10-19</c:v>
                </c:pt>
                <c:pt idx="135">
                  <c:v>2018-10-26</c:v>
                </c:pt>
                <c:pt idx="136">
                  <c:v>2018-11-02</c:v>
                </c:pt>
                <c:pt idx="137">
                  <c:v>2018-11-09</c:v>
                </c:pt>
                <c:pt idx="138">
                  <c:v>2018-11-16</c:v>
                </c:pt>
                <c:pt idx="139">
                  <c:v>2018-11-23</c:v>
                </c:pt>
                <c:pt idx="140">
                  <c:v>2018-11-30</c:v>
                </c:pt>
                <c:pt idx="141">
                  <c:v>2018-12-07</c:v>
                </c:pt>
                <c:pt idx="142">
                  <c:v>2018-12-14</c:v>
                </c:pt>
                <c:pt idx="143">
                  <c:v>2018-12-21</c:v>
                </c:pt>
                <c:pt idx="144">
                  <c:v>2018-12-28</c:v>
                </c:pt>
                <c:pt idx="145">
                  <c:v>2019-01-04</c:v>
                </c:pt>
                <c:pt idx="146">
                  <c:v>2019-01-11</c:v>
                </c:pt>
                <c:pt idx="147">
                  <c:v>2019-01-18</c:v>
                </c:pt>
                <c:pt idx="148">
                  <c:v>2019-01-25</c:v>
                </c:pt>
                <c:pt idx="149">
                  <c:v>2019-02-01</c:v>
                </c:pt>
                <c:pt idx="150">
                  <c:v>2019-02-15</c:v>
                </c:pt>
                <c:pt idx="151">
                  <c:v>2019-02-22</c:v>
                </c:pt>
                <c:pt idx="152">
                  <c:v>2019-03-01</c:v>
                </c:pt>
                <c:pt idx="153">
                  <c:v>2019-03-08</c:v>
                </c:pt>
                <c:pt idx="154">
                  <c:v>2019-03-15</c:v>
                </c:pt>
                <c:pt idx="155">
                  <c:v>2019-03-22</c:v>
                </c:pt>
                <c:pt idx="156">
                  <c:v>2019-03-29</c:v>
                </c:pt>
                <c:pt idx="157">
                  <c:v>2019-04-04</c:v>
                </c:pt>
                <c:pt idx="158">
                  <c:v>2019-04-12</c:v>
                </c:pt>
                <c:pt idx="159">
                  <c:v>2019-04-19</c:v>
                </c:pt>
                <c:pt idx="160">
                  <c:v>2019-04-26</c:v>
                </c:pt>
                <c:pt idx="161">
                  <c:v>2019-04-30</c:v>
                </c:pt>
                <c:pt idx="162">
                  <c:v>2019-05-10</c:v>
                </c:pt>
                <c:pt idx="163">
                  <c:v>2019-05-17</c:v>
                </c:pt>
                <c:pt idx="164">
                  <c:v>2019-05-24</c:v>
                </c:pt>
                <c:pt idx="165">
                  <c:v>2019-05-31</c:v>
                </c:pt>
                <c:pt idx="166">
                  <c:v>2019-06-06</c:v>
                </c:pt>
                <c:pt idx="167">
                  <c:v>2019-06-14</c:v>
                </c:pt>
                <c:pt idx="168">
                  <c:v>2019-06-21</c:v>
                </c:pt>
                <c:pt idx="169">
                  <c:v>2019-06-28</c:v>
                </c:pt>
                <c:pt idx="170">
                  <c:v>2019-07-05</c:v>
                </c:pt>
                <c:pt idx="171">
                  <c:v>2019-07-12</c:v>
                </c:pt>
                <c:pt idx="172">
                  <c:v>2019-07-19</c:v>
                </c:pt>
                <c:pt idx="173">
                  <c:v>2019-07-26</c:v>
                </c:pt>
                <c:pt idx="174">
                  <c:v>2019-08-02</c:v>
                </c:pt>
                <c:pt idx="175">
                  <c:v>2019-08-09</c:v>
                </c:pt>
                <c:pt idx="176">
                  <c:v>2019-08-16</c:v>
                </c:pt>
                <c:pt idx="177">
                  <c:v>2019-08-23</c:v>
                </c:pt>
                <c:pt idx="178">
                  <c:v>2019-08-30</c:v>
                </c:pt>
                <c:pt idx="179">
                  <c:v>2019-09-06</c:v>
                </c:pt>
                <c:pt idx="180">
                  <c:v>2019-09-12</c:v>
                </c:pt>
                <c:pt idx="181">
                  <c:v>2019-09-20</c:v>
                </c:pt>
                <c:pt idx="182">
                  <c:v>2019-09-27</c:v>
                </c:pt>
                <c:pt idx="183">
                  <c:v>2019-09-30</c:v>
                </c:pt>
                <c:pt idx="184">
                  <c:v>2019-10-11</c:v>
                </c:pt>
                <c:pt idx="185">
                  <c:v>2019-10-18</c:v>
                </c:pt>
                <c:pt idx="186">
                  <c:v>2019-10-25</c:v>
                </c:pt>
                <c:pt idx="187">
                  <c:v>2019-11-01</c:v>
                </c:pt>
                <c:pt idx="188">
                  <c:v>2019-11-08</c:v>
                </c:pt>
                <c:pt idx="189">
                  <c:v>2019-11-15</c:v>
                </c:pt>
                <c:pt idx="190">
                  <c:v>2019-11-22</c:v>
                </c:pt>
                <c:pt idx="191">
                  <c:v>2019-11-29</c:v>
                </c:pt>
                <c:pt idx="192">
                  <c:v>2019-12-06</c:v>
                </c:pt>
                <c:pt idx="193">
                  <c:v>2019-12-13</c:v>
                </c:pt>
                <c:pt idx="194">
                  <c:v>2019-12-20</c:v>
                </c:pt>
                <c:pt idx="195">
                  <c:v>2019-12-27</c:v>
                </c:pt>
                <c:pt idx="196">
                  <c:v>2020-01-03</c:v>
                </c:pt>
                <c:pt idx="197">
                  <c:v>2020-01-10</c:v>
                </c:pt>
                <c:pt idx="198">
                  <c:v>2020-01-17</c:v>
                </c:pt>
                <c:pt idx="199">
                  <c:v>2020-01-23</c:v>
                </c:pt>
                <c:pt idx="200">
                  <c:v>2020-02-07</c:v>
                </c:pt>
                <c:pt idx="201">
                  <c:v>2020-02-14</c:v>
                </c:pt>
                <c:pt idx="202">
                  <c:v>2020-02-21</c:v>
                </c:pt>
                <c:pt idx="203">
                  <c:v>2020-02-28</c:v>
                </c:pt>
                <c:pt idx="204">
                  <c:v>2020-03-06</c:v>
                </c:pt>
                <c:pt idx="205">
                  <c:v>2020-03-13</c:v>
                </c:pt>
                <c:pt idx="206">
                  <c:v>2020-03-20</c:v>
                </c:pt>
                <c:pt idx="207">
                  <c:v>2020-03-27</c:v>
                </c:pt>
                <c:pt idx="208">
                  <c:v>2020-04-03</c:v>
                </c:pt>
                <c:pt idx="209">
                  <c:v>2020-04-10</c:v>
                </c:pt>
                <c:pt idx="210">
                  <c:v>2020-04-17</c:v>
                </c:pt>
                <c:pt idx="211">
                  <c:v>2020-04-24</c:v>
                </c:pt>
                <c:pt idx="212">
                  <c:v>2020-04-30</c:v>
                </c:pt>
                <c:pt idx="213">
                  <c:v>2020-05-08</c:v>
                </c:pt>
                <c:pt idx="214">
                  <c:v>2020-05-15</c:v>
                </c:pt>
                <c:pt idx="215">
                  <c:v>2020-05-22</c:v>
                </c:pt>
                <c:pt idx="216">
                  <c:v>2020-05-29</c:v>
                </c:pt>
                <c:pt idx="217">
                  <c:v>2020-06-05</c:v>
                </c:pt>
                <c:pt idx="218">
                  <c:v>2020-06-12</c:v>
                </c:pt>
                <c:pt idx="219">
                  <c:v>2020-06-19</c:v>
                </c:pt>
                <c:pt idx="220">
                  <c:v>2020-06-24</c:v>
                </c:pt>
                <c:pt idx="221">
                  <c:v>2020-07-03</c:v>
                </c:pt>
                <c:pt idx="222">
                  <c:v>2020-07-10</c:v>
                </c:pt>
                <c:pt idx="223">
                  <c:v>2020-07-17</c:v>
                </c:pt>
                <c:pt idx="224">
                  <c:v>2020-07-24</c:v>
                </c:pt>
                <c:pt idx="225">
                  <c:v>2020-07-31</c:v>
                </c:pt>
                <c:pt idx="226">
                  <c:v>2020-08-07</c:v>
                </c:pt>
                <c:pt idx="227">
                  <c:v>2020-08-14</c:v>
                </c:pt>
                <c:pt idx="228">
                  <c:v>2020-08-21</c:v>
                </c:pt>
                <c:pt idx="229">
                  <c:v>2020-08-28</c:v>
                </c:pt>
                <c:pt idx="230">
                  <c:v>2020-09-04</c:v>
                </c:pt>
                <c:pt idx="231">
                  <c:v>2020-09-11</c:v>
                </c:pt>
                <c:pt idx="232">
                  <c:v>2020-09-18</c:v>
                </c:pt>
                <c:pt idx="233">
                  <c:v>2020-09-25</c:v>
                </c:pt>
                <c:pt idx="234">
                  <c:v>2020-09-30</c:v>
                </c:pt>
                <c:pt idx="235">
                  <c:v>2020-10-09</c:v>
                </c:pt>
                <c:pt idx="236">
                  <c:v>2020-10-16</c:v>
                </c:pt>
                <c:pt idx="237">
                  <c:v>2020-10-23</c:v>
                </c:pt>
                <c:pt idx="238">
                  <c:v>2020-10-30</c:v>
                </c:pt>
                <c:pt idx="239">
                  <c:v>2020-11-06</c:v>
                </c:pt>
                <c:pt idx="240">
                  <c:v>2020-11-13</c:v>
                </c:pt>
                <c:pt idx="241">
                  <c:v>2020-11-20</c:v>
                </c:pt>
                <c:pt idx="242">
                  <c:v>2020-11-27</c:v>
                </c:pt>
                <c:pt idx="243">
                  <c:v>2020-12-04</c:v>
                </c:pt>
                <c:pt idx="244">
                  <c:v>2020-12-11</c:v>
                </c:pt>
                <c:pt idx="245">
                  <c:v>2020-12-18</c:v>
                </c:pt>
                <c:pt idx="246">
                  <c:v>2020-12-25</c:v>
                </c:pt>
                <c:pt idx="247">
                  <c:v>2020-12-31</c:v>
                </c:pt>
                <c:pt idx="248">
                  <c:v>2021-01-08</c:v>
                </c:pt>
                <c:pt idx="249">
                  <c:v>2021-01-15</c:v>
                </c:pt>
                <c:pt idx="250">
                  <c:v>2021-01-22</c:v>
                </c:pt>
                <c:pt idx="251">
                  <c:v>2021-01-29</c:v>
                </c:pt>
                <c:pt idx="252">
                  <c:v>2021-02-05</c:v>
                </c:pt>
                <c:pt idx="253">
                  <c:v>2021-02-10</c:v>
                </c:pt>
                <c:pt idx="254">
                  <c:v>2021-02-19</c:v>
                </c:pt>
                <c:pt idx="255">
                  <c:v>2021-02-26</c:v>
                </c:pt>
                <c:pt idx="256">
                  <c:v>2021-03-05</c:v>
                </c:pt>
                <c:pt idx="257">
                  <c:v>2021-03-12</c:v>
                </c:pt>
                <c:pt idx="258">
                  <c:v>2021-03-19</c:v>
                </c:pt>
                <c:pt idx="259">
                  <c:v>2021-03-26</c:v>
                </c:pt>
                <c:pt idx="260">
                  <c:v>2021-04-02</c:v>
                </c:pt>
                <c:pt idx="261">
                  <c:v>2021-04-09</c:v>
                </c:pt>
                <c:pt idx="262">
                  <c:v>2021-04-16</c:v>
                </c:pt>
                <c:pt idx="263">
                  <c:v>2021-04-23</c:v>
                </c:pt>
                <c:pt idx="264">
                  <c:v>2021-04-30</c:v>
                </c:pt>
                <c:pt idx="265">
                  <c:v>2021-05-07</c:v>
                </c:pt>
                <c:pt idx="266">
                  <c:v>2021-05-14</c:v>
                </c:pt>
                <c:pt idx="267">
                  <c:v>2021-05-21</c:v>
                </c:pt>
                <c:pt idx="268">
                  <c:v>2021-05-28</c:v>
                </c:pt>
                <c:pt idx="269">
                  <c:v>2021-06-04</c:v>
                </c:pt>
                <c:pt idx="270">
                  <c:v>2021-06-11</c:v>
                </c:pt>
                <c:pt idx="271">
                  <c:v>2021-06-18</c:v>
                </c:pt>
                <c:pt idx="272">
                  <c:v>2021-06-25</c:v>
                </c:pt>
                <c:pt idx="273">
                  <c:v>2021-07-02</c:v>
                </c:pt>
                <c:pt idx="274">
                  <c:v>2021-07-09</c:v>
                </c:pt>
                <c:pt idx="275">
                  <c:v>2021-07-16</c:v>
                </c:pt>
                <c:pt idx="276">
                  <c:v>2021-07-23</c:v>
                </c:pt>
                <c:pt idx="277">
                  <c:v>2021-07-30</c:v>
                </c:pt>
                <c:pt idx="278">
                  <c:v>2021-08-06</c:v>
                </c:pt>
                <c:pt idx="279">
                  <c:v>2021-08-13</c:v>
                </c:pt>
                <c:pt idx="280">
                  <c:v>2021-08-20</c:v>
                </c:pt>
                <c:pt idx="281">
                  <c:v>2021-08-27</c:v>
                </c:pt>
                <c:pt idx="282">
                  <c:v>2021-09-03</c:v>
                </c:pt>
                <c:pt idx="283">
                  <c:v>2021-09-10</c:v>
                </c:pt>
                <c:pt idx="284">
                  <c:v>2021-09-17</c:v>
                </c:pt>
                <c:pt idx="285">
                  <c:v>2021-09-24</c:v>
                </c:pt>
                <c:pt idx="286">
                  <c:v>2021-09-30</c:v>
                </c:pt>
                <c:pt idx="287">
                  <c:v>2021-10-08</c:v>
                </c:pt>
                <c:pt idx="288">
                  <c:v>2021-10-15</c:v>
                </c:pt>
                <c:pt idx="289">
                  <c:v>2021-10-22</c:v>
                </c:pt>
                <c:pt idx="290">
                  <c:v>2021-10-29</c:v>
                </c:pt>
                <c:pt idx="291">
                  <c:v>2021-11-05</c:v>
                </c:pt>
                <c:pt idx="292">
                  <c:v>2021-11-12</c:v>
                </c:pt>
                <c:pt idx="293">
                  <c:v>2021-11-19</c:v>
                </c:pt>
                <c:pt idx="294">
                  <c:v>2021-11-26</c:v>
                </c:pt>
                <c:pt idx="295">
                  <c:v>2021-12-03</c:v>
                </c:pt>
                <c:pt idx="296">
                  <c:v>2021-12-10</c:v>
                </c:pt>
                <c:pt idx="297">
                  <c:v>2021-12-17</c:v>
                </c:pt>
                <c:pt idx="298">
                  <c:v>2021-12-24</c:v>
                </c:pt>
                <c:pt idx="299">
                  <c:v>2021-12-31</c:v>
                </c:pt>
                <c:pt idx="300">
                  <c:v>2022-01-07</c:v>
                </c:pt>
                <c:pt idx="301">
                  <c:v>2022-01-14</c:v>
                </c:pt>
                <c:pt idx="302">
                  <c:v>2022-01-21</c:v>
                </c:pt>
                <c:pt idx="303">
                  <c:v>2022-01-28</c:v>
                </c:pt>
                <c:pt idx="304">
                  <c:v>2022-02-11</c:v>
                </c:pt>
                <c:pt idx="305">
                  <c:v>2022-02-18</c:v>
                </c:pt>
                <c:pt idx="306">
                  <c:v>2022-02-25</c:v>
                </c:pt>
                <c:pt idx="307">
                  <c:v>2022-03-04</c:v>
                </c:pt>
                <c:pt idx="308">
                  <c:v>2022-03-11</c:v>
                </c:pt>
                <c:pt idx="309">
                  <c:v>2022-03-18</c:v>
                </c:pt>
                <c:pt idx="310">
                  <c:v>2022-03-25</c:v>
                </c:pt>
                <c:pt idx="311">
                  <c:v>2022-04-01</c:v>
                </c:pt>
                <c:pt idx="312">
                  <c:v>2022-04-08</c:v>
                </c:pt>
                <c:pt idx="313">
                  <c:v>2022-04-15</c:v>
                </c:pt>
                <c:pt idx="314">
                  <c:v>2022-04-22</c:v>
                </c:pt>
                <c:pt idx="315">
                  <c:v>2022-04-29</c:v>
                </c:pt>
                <c:pt idx="316">
                  <c:v>2022-05-06</c:v>
                </c:pt>
                <c:pt idx="317">
                  <c:v>2022-05-13</c:v>
                </c:pt>
                <c:pt idx="318">
                  <c:v>2022-05-20</c:v>
                </c:pt>
                <c:pt idx="319">
                  <c:v>2022-05-27</c:v>
                </c:pt>
                <c:pt idx="320">
                  <c:v>2022-06-02</c:v>
                </c:pt>
                <c:pt idx="321">
                  <c:v>2022-06-10</c:v>
                </c:pt>
                <c:pt idx="322">
                  <c:v>2022-06-17</c:v>
                </c:pt>
                <c:pt idx="323">
                  <c:v>2022-06-24</c:v>
                </c:pt>
                <c:pt idx="324">
                  <c:v>2022-07-01</c:v>
                </c:pt>
                <c:pt idx="325">
                  <c:v>2022-07-08</c:v>
                </c:pt>
                <c:pt idx="326">
                  <c:v>2022-07-15</c:v>
                </c:pt>
                <c:pt idx="327">
                  <c:v>2022-07-22</c:v>
                </c:pt>
                <c:pt idx="328">
                  <c:v>2022-07-29</c:v>
                </c:pt>
                <c:pt idx="329">
                  <c:v>2022-08-05</c:v>
                </c:pt>
                <c:pt idx="330">
                  <c:v>2022-08-12</c:v>
                </c:pt>
                <c:pt idx="331">
                  <c:v>2022-08-19</c:v>
                </c:pt>
                <c:pt idx="332">
                  <c:v>2022-08-26</c:v>
                </c:pt>
                <c:pt idx="333">
                  <c:v>2022-09-02</c:v>
                </c:pt>
                <c:pt idx="334">
                  <c:v>2022-09-09</c:v>
                </c:pt>
                <c:pt idx="335">
                  <c:v>2022-09-16</c:v>
                </c:pt>
                <c:pt idx="336">
                  <c:v>2022-09-23</c:v>
                </c:pt>
                <c:pt idx="337">
                  <c:v>2022-09-30</c:v>
                </c:pt>
                <c:pt idx="338">
                  <c:v>2022-10-14</c:v>
                </c:pt>
                <c:pt idx="339">
                  <c:v>2022-10-21</c:v>
                </c:pt>
                <c:pt idx="340">
                  <c:v>2022-10-28</c:v>
                </c:pt>
                <c:pt idx="341">
                  <c:v>2022-11-04</c:v>
                </c:pt>
                <c:pt idx="342">
                  <c:v>2022-11-11</c:v>
                </c:pt>
                <c:pt idx="343">
                  <c:v>2022-11-18</c:v>
                </c:pt>
                <c:pt idx="344">
                  <c:v>2022-11-25</c:v>
                </c:pt>
                <c:pt idx="345">
                  <c:v>2022-12-02</c:v>
                </c:pt>
                <c:pt idx="346">
                  <c:v>2022-12-09</c:v>
                </c:pt>
                <c:pt idx="347">
                  <c:v>2022-12-16</c:v>
                </c:pt>
                <c:pt idx="348">
                  <c:v>2022-12-23</c:v>
                </c:pt>
                <c:pt idx="349">
                  <c:v>2022-12-30</c:v>
                </c:pt>
                <c:pt idx="350">
                  <c:v>2023-01-06</c:v>
                </c:pt>
                <c:pt idx="351">
                  <c:v>2023-01-13</c:v>
                </c:pt>
                <c:pt idx="352">
                  <c:v>2023-01-20</c:v>
                </c:pt>
                <c:pt idx="353">
                  <c:v>2023-02-03</c:v>
                </c:pt>
                <c:pt idx="354">
                  <c:v>2023-02-10</c:v>
                </c:pt>
                <c:pt idx="355">
                  <c:v>2023-02-17</c:v>
                </c:pt>
                <c:pt idx="356">
                  <c:v>2023-02-24</c:v>
                </c:pt>
                <c:pt idx="357">
                  <c:v>2023-03-03</c:v>
                </c:pt>
                <c:pt idx="358">
                  <c:v>2023-03-10</c:v>
                </c:pt>
                <c:pt idx="359">
                  <c:v>2023-03-17</c:v>
                </c:pt>
                <c:pt idx="360">
                  <c:v>2023-03-24</c:v>
                </c:pt>
                <c:pt idx="361">
                  <c:v>2023-03-31</c:v>
                </c:pt>
                <c:pt idx="362">
                  <c:v>2023-04-07</c:v>
                </c:pt>
                <c:pt idx="363">
                  <c:v>2023-04-14</c:v>
                </c:pt>
                <c:pt idx="364">
                  <c:v>2023-04-21</c:v>
                </c:pt>
                <c:pt idx="365">
                  <c:v>2023-04-28</c:v>
                </c:pt>
                <c:pt idx="366">
                  <c:v>2023-05-05</c:v>
                </c:pt>
                <c:pt idx="367">
                  <c:v>2023-05-12</c:v>
                </c:pt>
                <c:pt idx="368">
                  <c:v>2023-05-19</c:v>
                </c:pt>
                <c:pt idx="369">
                  <c:v>2023-05-26</c:v>
                </c:pt>
                <c:pt idx="370">
                  <c:v>2023-06-02</c:v>
                </c:pt>
                <c:pt idx="371">
                  <c:v>2023-06-09</c:v>
                </c:pt>
                <c:pt idx="372">
                  <c:v>2023-06-16</c:v>
                </c:pt>
                <c:pt idx="373">
                  <c:v>2023-06-21</c:v>
                </c:pt>
                <c:pt idx="374">
                  <c:v>2023-06-30</c:v>
                </c:pt>
                <c:pt idx="375">
                  <c:v>2023-07-07</c:v>
                </c:pt>
                <c:pt idx="376">
                  <c:v>2023-07-14</c:v>
                </c:pt>
                <c:pt idx="377">
                  <c:v>2023-07-21</c:v>
                </c:pt>
                <c:pt idx="378">
                  <c:v>2023-07-28</c:v>
                </c:pt>
                <c:pt idx="379">
                  <c:v>2023-08-04</c:v>
                </c:pt>
                <c:pt idx="380">
                  <c:v>2023-08-11</c:v>
                </c:pt>
                <c:pt idx="381">
                  <c:v>2023-08-18</c:v>
                </c:pt>
                <c:pt idx="382">
                  <c:v>2023-08-25</c:v>
                </c:pt>
                <c:pt idx="383">
                  <c:v>2023-09-01</c:v>
                </c:pt>
                <c:pt idx="384">
                  <c:v>2023-09-08</c:v>
                </c:pt>
                <c:pt idx="385">
                  <c:v>2023-09-15</c:v>
                </c:pt>
                <c:pt idx="386">
                  <c:v>2023-09-22</c:v>
                </c:pt>
                <c:pt idx="387">
                  <c:v>2023-09-28</c:v>
                </c:pt>
                <c:pt idx="388">
                  <c:v>2023-10-13</c:v>
                </c:pt>
                <c:pt idx="389">
                  <c:v>2023-10-20</c:v>
                </c:pt>
                <c:pt idx="390">
                  <c:v>2023-10-27</c:v>
                </c:pt>
                <c:pt idx="391">
                  <c:v>2023-11-03</c:v>
                </c:pt>
                <c:pt idx="392">
                  <c:v>2023-11-10</c:v>
                </c:pt>
                <c:pt idx="393">
                  <c:v>2023-11-17</c:v>
                </c:pt>
                <c:pt idx="394">
                  <c:v>2023-11-24</c:v>
                </c:pt>
                <c:pt idx="395">
                  <c:v>2023-12-01</c:v>
                </c:pt>
                <c:pt idx="396">
                  <c:v>2023-12-08</c:v>
                </c:pt>
                <c:pt idx="397">
                  <c:v>2023-12-15</c:v>
                </c:pt>
                <c:pt idx="398">
                  <c:v>2023-12-22</c:v>
                </c:pt>
                <c:pt idx="399">
                  <c:v>2023-12-29</c:v>
                </c:pt>
                <c:pt idx="400">
                  <c:v>2024-01-05</c:v>
                </c:pt>
                <c:pt idx="401">
                  <c:v>2024-01-12</c:v>
                </c:pt>
                <c:pt idx="402">
                  <c:v>2024-01-19</c:v>
                </c:pt>
                <c:pt idx="403">
                  <c:v>2024-01-26</c:v>
                </c:pt>
                <c:pt idx="404">
                  <c:v>2024-02-02</c:v>
                </c:pt>
                <c:pt idx="405">
                  <c:v>2024-02-08</c:v>
                </c:pt>
                <c:pt idx="406">
                  <c:v>2024-02-23</c:v>
                </c:pt>
                <c:pt idx="407">
                  <c:v>2024-03-01</c:v>
                </c:pt>
                <c:pt idx="408">
                  <c:v>2024-03-08</c:v>
                </c:pt>
                <c:pt idx="409">
                  <c:v>2024-03-15</c:v>
                </c:pt>
                <c:pt idx="410">
                  <c:v>2024-03-22</c:v>
                </c:pt>
                <c:pt idx="411">
                  <c:v>2024-03-29</c:v>
                </c:pt>
                <c:pt idx="412">
                  <c:v>2024-04-03</c:v>
                </c:pt>
                <c:pt idx="413">
                  <c:v>2024-04-12</c:v>
                </c:pt>
                <c:pt idx="414">
                  <c:v>2024-04-19</c:v>
                </c:pt>
                <c:pt idx="415">
                  <c:v>2024-04-26</c:v>
                </c:pt>
                <c:pt idx="416">
                  <c:v>2024-04-30</c:v>
                </c:pt>
                <c:pt idx="417">
                  <c:v>2024-05-10</c:v>
                </c:pt>
                <c:pt idx="418">
                  <c:v>2024-05-17</c:v>
                </c:pt>
                <c:pt idx="419">
                  <c:v>2024-05-24</c:v>
                </c:pt>
                <c:pt idx="420">
                  <c:v>2024-05-31</c:v>
                </c:pt>
                <c:pt idx="421">
                  <c:v>2024-06-07</c:v>
                </c:pt>
                <c:pt idx="422">
                  <c:v>2024-06-14</c:v>
                </c:pt>
                <c:pt idx="423">
                  <c:v>2024-06-21</c:v>
                </c:pt>
                <c:pt idx="424">
                  <c:v>2024-06-28</c:v>
                </c:pt>
                <c:pt idx="425">
                  <c:v>2024-07-05</c:v>
                </c:pt>
                <c:pt idx="426">
                  <c:v>2024-07-12</c:v>
                </c:pt>
                <c:pt idx="427">
                  <c:v>2024-07-19</c:v>
                </c:pt>
                <c:pt idx="428">
                  <c:v>2024-07-26</c:v>
                </c:pt>
                <c:pt idx="429">
                  <c:v>2024-08-02</c:v>
                </c:pt>
                <c:pt idx="430">
                  <c:v>2024-08-09</c:v>
                </c:pt>
                <c:pt idx="431">
                  <c:v>2024-08-16</c:v>
                </c:pt>
                <c:pt idx="432">
                  <c:v>2024-08-23</c:v>
                </c:pt>
                <c:pt idx="433">
                  <c:v>2024-08-30</c:v>
                </c:pt>
                <c:pt idx="434">
                  <c:v>2024-09-06</c:v>
                </c:pt>
                <c:pt idx="435">
                  <c:v>2024-09-13</c:v>
                </c:pt>
                <c:pt idx="436">
                  <c:v>2024-09-20</c:v>
                </c:pt>
                <c:pt idx="437">
                  <c:v>2024-09-27</c:v>
                </c:pt>
                <c:pt idx="438">
                  <c:v>2024-09-30</c:v>
                </c:pt>
                <c:pt idx="439">
                  <c:v>2024-10-11</c:v>
                </c:pt>
                <c:pt idx="440">
                  <c:v>2024-10-18</c:v>
                </c:pt>
                <c:pt idx="441">
                  <c:v>2024-10-25</c:v>
                </c:pt>
                <c:pt idx="442">
                  <c:v>2024-11-01</c:v>
                </c:pt>
                <c:pt idx="443">
                  <c:v>2024-11-08</c:v>
                </c:pt>
                <c:pt idx="444">
                  <c:v>2024-11-15</c:v>
                </c:pt>
                <c:pt idx="445">
                  <c:v>2024-11-22</c:v>
                </c:pt>
                <c:pt idx="446">
                  <c:v>2024-11-29</c:v>
                </c:pt>
                <c:pt idx="447">
                  <c:v>2024-12-06</c:v>
                </c:pt>
                <c:pt idx="448">
                  <c:v>2024-12-13</c:v>
                </c:pt>
                <c:pt idx="449">
                  <c:v>2024-12-20</c:v>
                </c:pt>
                <c:pt idx="450">
                  <c:v>2024-12-27</c:v>
                </c:pt>
                <c:pt idx="451">
                  <c:v>2025-01-03</c:v>
                </c:pt>
                <c:pt idx="452">
                  <c:v>2025-01-10</c:v>
                </c:pt>
                <c:pt idx="453">
                  <c:v>2025-01-17</c:v>
                </c:pt>
                <c:pt idx="454">
                  <c:v>2025-01-24</c:v>
                </c:pt>
                <c:pt idx="455">
                  <c:v>2025-01-27</c:v>
                </c:pt>
                <c:pt idx="456">
                  <c:v>2025-02-07</c:v>
                </c:pt>
                <c:pt idx="457">
                  <c:v>2025-02-14</c:v>
                </c:pt>
                <c:pt idx="458">
                  <c:v>2025-02-21</c:v>
                </c:pt>
                <c:pt idx="459">
                  <c:v>2025-02-28</c:v>
                </c:pt>
                <c:pt idx="460">
                  <c:v>2025-03-07</c:v>
                </c:pt>
                <c:pt idx="461">
                  <c:v>2025-03-14</c:v>
                </c:pt>
                <c:pt idx="462">
                  <c:v>2025-03-21</c:v>
                </c:pt>
                <c:pt idx="463">
                  <c:v>2025-03-28</c:v>
                </c:pt>
                <c:pt idx="464">
                  <c:v>2025-04-03</c:v>
                </c:pt>
                <c:pt idx="465">
                  <c:v>2025-04-11</c:v>
                </c:pt>
                <c:pt idx="466">
                  <c:v>2025-04-18</c:v>
                </c:pt>
                <c:pt idx="467">
                  <c:v>2025-04-25</c:v>
                </c:pt>
                <c:pt idx="468">
                  <c:v>2025-04-30</c:v>
                </c:pt>
                <c:pt idx="469">
                  <c:v>2025-05-09</c:v>
                </c:pt>
                <c:pt idx="470">
                  <c:v>2025-05-16</c:v>
                </c:pt>
                <c:pt idx="471">
                  <c:v>2025-05-23</c:v>
                </c:pt>
                <c:pt idx="472">
                  <c:v>2025-05-30</c:v>
                </c:pt>
                <c:pt idx="473">
                  <c:v>2025-06-06</c:v>
                </c:pt>
                <c:pt idx="474">
                  <c:v>2025-06-13</c:v>
                </c:pt>
                <c:pt idx="475">
                  <c:v>2025-06-20</c:v>
                </c:pt>
                <c:pt idx="476">
                  <c:v>2025-06-27</c:v>
                </c:pt>
                <c:pt idx="477">
                  <c:v>2025-07-04</c:v>
                </c:pt>
                <c:pt idx="478">
                  <c:v>2025-07-11</c:v>
                </c:pt>
                <c:pt idx="479">
                  <c:v>2025-07-18</c:v>
                </c:pt>
                <c:pt idx="480">
                  <c:v>2025-07-25</c:v>
                </c:pt>
                <c:pt idx="481">
                  <c:v>2025-08-01</c:v>
                </c:pt>
                <c:pt idx="482">
                  <c:v>2025-08-08</c:v>
                </c:pt>
                <c:pt idx="483">
                  <c:v>2025-08-15</c:v>
                </c:pt>
                <c:pt idx="484">
                  <c:v>2025-08-22</c:v>
                </c:pt>
                <c:pt idx="485">
                  <c:v>2025-08-29</c:v>
                </c:pt>
                <c:pt idx="486">
                  <c:v>2025-09-05</c:v>
                </c:pt>
                <c:pt idx="487">
                  <c:v>2025-09-12</c:v>
                </c:pt>
                <c:pt idx="488">
                  <c:v>2025-09-19</c:v>
                </c:pt>
                <c:pt idx="489">
                  <c:v>2025-09-26</c:v>
                </c:pt>
                <c:pt idx="490">
                  <c:v>2025-09-30</c:v>
                </c:pt>
                <c:pt idx="491">
                  <c:v>2025-10-10</c:v>
                </c:pt>
                <c:pt idx="492">
                  <c:v>2025-10-17</c:v>
                </c:pt>
                <c:pt idx="493">
                  <c:v>2025-10-24</c:v>
                </c:pt>
                <c:pt idx="494">
                  <c:v>2025-10-31</c:v>
                </c:pt>
                <c:pt idx="495">
                  <c:v>2025-11-07</c:v>
                </c:pt>
                <c:pt idx="496">
                  <c:v>2025-11-14</c:v>
                </c:pt>
                <c:pt idx="497">
                  <c:v>2025-11-21</c:v>
                </c:pt>
                <c:pt idx="498">
                  <c:v>2025-11-28</c:v>
                </c:pt>
                <c:pt idx="499">
                  <c:v>2025-12-05</c:v>
                </c:pt>
                <c:pt idx="500">
                  <c:v>2025-12-12</c:v>
                </c:pt>
                <c:pt idx="501">
                  <c:v>2025-12-19</c:v>
                </c:pt>
                <c:pt idx="502">
                  <c:v>2025-12-26</c:v>
                </c:pt>
                <c:pt idx="503">
                  <c:v>2025-12-31</c:v>
                </c:pt>
                <c:pt idx="504">
                  <c:v>2026-01-09</c:v>
                </c:pt>
                <c:pt idx="505">
                  <c:v>2026-01-16</c:v>
                </c:pt>
                <c:pt idx="506">
                  <c:v>2026-01-23</c:v>
                </c:pt>
                <c:pt idx="507">
                  <c:v>2026-01-30</c:v>
                </c:pt>
                <c:pt idx="508">
                  <c:v>2026-02-06</c:v>
                </c:pt>
                <c:pt idx="509">
                  <c:v>2026-02-13</c:v>
                </c:pt>
                <c:pt idx="510">
                  <c:v>2026-02-27</c:v>
                </c:pt>
                <c:pt idx="511">
                  <c:v>2026-03-06</c:v>
                </c:pt>
                <c:pt idx="512">
                  <c:v>2026-03-13</c:v>
                </c:pt>
                <c:pt idx="513">
                  <c:v>2026-03-20</c:v>
                </c:pt>
                <c:pt idx="514">
                  <c:v>2026-03-27</c:v>
                </c:pt>
                <c:pt idx="515">
                  <c:v>2026-04-03</c:v>
                </c:pt>
                <c:pt idx="516">
                  <c:v>2026-04-10</c:v>
                </c:pt>
                <c:pt idx="517">
                  <c:v>2026-04-17</c:v>
                </c:pt>
                <c:pt idx="518">
                  <c:v>2026-04-24</c:v>
                </c:pt>
                <c:pt idx="519">
                  <c:v>2026-04-30</c:v>
                </c:pt>
                <c:pt idx="520">
                  <c:v>2026-05-08</c:v>
                </c:pt>
                <c:pt idx="521">
                  <c:v>2026-05-15</c:v>
                </c:pt>
                <c:pt idx="522">
                  <c:v>2026-05-22</c:v>
                </c:pt>
                <c:pt idx="523">
                  <c:v>2026-05-29</c:v>
                </c:pt>
              </c:strCache>
            </c:strRef>
          </c:cat>
          <c:val>
            <c:numRef>
              <c:f>Sheet4!$C$2:$C$525</c:f>
              <c:numCache>
                <c:formatCode>0.00</c:formatCode>
                <c:ptCount val="524"/>
                <c:pt idx="0">
                  <c:v>4280.62</c:v>
                </c:pt>
                <c:pt idx="1">
                  <c:v>4203.8900000000003</c:v>
                </c:pt>
                <c:pt idx="2">
                  <c:v>4514.16</c:v>
                </c:pt>
                <c:pt idx="3">
                  <c:v>4600.6499999999996</c:v>
                </c:pt>
                <c:pt idx="4">
                  <c:v>4639.5600000000004</c:v>
                </c:pt>
                <c:pt idx="5" formatCode="0.0">
                  <c:v>4640.2</c:v>
                </c:pt>
                <c:pt idx="6">
                  <c:v>4799.42</c:v>
                </c:pt>
                <c:pt idx="7">
                  <c:v>4573.18</c:v>
                </c:pt>
                <c:pt idx="8">
                  <c:v>4564.67</c:v>
                </c:pt>
                <c:pt idx="9">
                  <c:v>4537.6400000000003</c:v>
                </c:pt>
                <c:pt idx="10">
                  <c:v>4363.05</c:v>
                </c:pt>
                <c:pt idx="11">
                  <c:v>4374.1899999999996</c:v>
                </c:pt>
                <c:pt idx="12">
                  <c:v>4378.09</c:v>
                </c:pt>
                <c:pt idx="13">
                  <c:v>4597.34</c:v>
                </c:pt>
                <c:pt idx="14">
                  <c:v>4587.3900000000003</c:v>
                </c:pt>
                <c:pt idx="15" formatCode="0.0">
                  <c:v>4538.5</c:v>
                </c:pt>
                <c:pt idx="16">
                  <c:v>4505.96</c:v>
                </c:pt>
                <c:pt idx="17">
                  <c:v>4644.6099999999997</c:v>
                </c:pt>
                <c:pt idx="18">
                  <c:v>4741.75</c:v>
                </c:pt>
                <c:pt idx="19">
                  <c:v>4824.8500000000004</c:v>
                </c:pt>
                <c:pt idx="20" formatCode="0.0">
                  <c:v>4775.5</c:v>
                </c:pt>
                <c:pt idx="21">
                  <c:v>4652.71</c:v>
                </c:pt>
                <c:pt idx="22">
                  <c:v>4653.34</c:v>
                </c:pt>
                <c:pt idx="23">
                  <c:v>4745.21</c:v>
                </c:pt>
                <c:pt idx="24">
                  <c:v>4882.43</c:v>
                </c:pt>
                <c:pt idx="25">
                  <c:v>4817.57</c:v>
                </c:pt>
                <c:pt idx="26">
                  <c:v>4799.62</c:v>
                </c:pt>
                <c:pt idx="27">
                  <c:v>4852.07</c:v>
                </c:pt>
                <c:pt idx="28" formatCode="0.0">
                  <c:v>4726.5</c:v>
                </c:pt>
                <c:pt idx="29" formatCode="0.0">
                  <c:v>4790.8999999999996</c:v>
                </c:pt>
                <c:pt idx="30" formatCode="0.0">
                  <c:v>4757.3999999999996</c:v>
                </c:pt>
                <c:pt idx="31">
                  <c:v>4865.17</c:v>
                </c:pt>
                <c:pt idx="32">
                  <c:v>4887.91</c:v>
                </c:pt>
                <c:pt idx="33">
                  <c:v>4890.55</c:v>
                </c:pt>
                <c:pt idx="34">
                  <c:v>4919.62</c:v>
                </c:pt>
                <c:pt idx="35">
                  <c:v>5012.47</c:v>
                </c:pt>
                <c:pt idx="36">
                  <c:v>5022.16</c:v>
                </c:pt>
                <c:pt idx="37">
                  <c:v>5096.93</c:v>
                </c:pt>
                <c:pt idx="38">
                  <c:v>5030.2700000000004</c:v>
                </c:pt>
                <c:pt idx="39">
                  <c:v>5006.6099999999997</c:v>
                </c:pt>
                <c:pt idx="40">
                  <c:v>4827.3500000000004</c:v>
                </c:pt>
                <c:pt idx="41">
                  <c:v>4786.6099999999997</c:v>
                </c:pt>
                <c:pt idx="42">
                  <c:v>4786.9799999999996</c:v>
                </c:pt>
                <c:pt idx="43">
                  <c:v>4850.9399999999996</c:v>
                </c:pt>
                <c:pt idx="44">
                  <c:v>4741.08</c:v>
                </c:pt>
                <c:pt idx="45">
                  <c:v>4711.3100000000004</c:v>
                </c:pt>
                <c:pt idx="46">
                  <c:v>4770.43</c:v>
                </c:pt>
                <c:pt idx="47">
                  <c:v>4748.21</c:v>
                </c:pt>
                <c:pt idx="48" formatCode="0.0">
                  <c:v>4842.3</c:v>
                </c:pt>
                <c:pt idx="49">
                  <c:v>4831.84</c:v>
                </c:pt>
                <c:pt idx="50">
                  <c:v>4930.0600000000004</c:v>
                </c:pt>
                <c:pt idx="51">
                  <c:v>4888.78</c:v>
                </c:pt>
                <c:pt idx="52">
                  <c:v>4894.7700000000004</c:v>
                </c:pt>
                <c:pt idx="53">
                  <c:v>4923.53</c:v>
                </c:pt>
                <c:pt idx="54">
                  <c:v>4962.37</c:v>
                </c:pt>
                <c:pt idx="55">
                  <c:v>4863.51</c:v>
                </c:pt>
                <c:pt idx="56" formatCode="0.0">
                  <c:v>4970.3999999999996</c:v>
                </c:pt>
                <c:pt idx="57">
                  <c:v>4901.2299999999996</c:v>
                </c:pt>
                <c:pt idx="58">
                  <c:v>4768.25</c:v>
                </c:pt>
                <c:pt idx="59">
                  <c:v>4718.13</c:v>
                </c:pt>
                <c:pt idx="60">
                  <c:v>4637.68</c:v>
                </c:pt>
                <c:pt idx="61">
                  <c:v>4540.47</c:v>
                </c:pt>
                <c:pt idx="62">
                  <c:v>4599.6099999999997</c:v>
                </c:pt>
                <c:pt idx="63">
                  <c:v>4569.97</c:v>
                </c:pt>
                <c:pt idx="64">
                  <c:v>4536.55</c:v>
                </c:pt>
                <c:pt idx="65">
                  <c:v>4674.9399999999996</c:v>
                </c:pt>
                <c:pt idx="66">
                  <c:v>4661.43</c:v>
                </c:pt>
                <c:pt idx="67">
                  <c:v>4708.62</c:v>
                </c:pt>
                <c:pt idx="68">
                  <c:v>4772.1400000000003</c:v>
                </c:pt>
                <c:pt idx="69">
                  <c:v>4808.63</c:v>
                </c:pt>
                <c:pt idx="70">
                  <c:v>4781.47</c:v>
                </c:pt>
                <c:pt idx="71">
                  <c:v>4754.6099999999997</c:v>
                </c:pt>
                <c:pt idx="72">
                  <c:v>4790.2299999999996</c:v>
                </c:pt>
                <c:pt idx="73">
                  <c:v>4782.95</c:v>
                </c:pt>
                <c:pt idx="74">
                  <c:v>4720.92</c:v>
                </c:pt>
                <c:pt idx="75">
                  <c:v>4845.8599999999997</c:v>
                </c:pt>
                <c:pt idx="76">
                  <c:v>4887.1099999999997</c:v>
                </c:pt>
                <c:pt idx="77">
                  <c:v>4972.25</c:v>
                </c:pt>
                <c:pt idx="78">
                  <c:v>4993.1899999999996</c:v>
                </c:pt>
                <c:pt idx="79">
                  <c:v>5010.1499999999996</c:v>
                </c:pt>
                <c:pt idx="80">
                  <c:v>5001.32</c:v>
                </c:pt>
                <c:pt idx="81">
                  <c:v>5002.55</c:v>
                </c:pt>
                <c:pt idx="82">
                  <c:v>5100.55</c:v>
                </c:pt>
                <c:pt idx="83">
                  <c:v>5036.93</c:v>
                </c:pt>
                <c:pt idx="84">
                  <c:v>5109.68</c:v>
                </c:pt>
                <c:pt idx="85">
                  <c:v>5003.17</c:v>
                </c:pt>
                <c:pt idx="86">
                  <c:v>5145.6899999999996</c:v>
                </c:pt>
                <c:pt idx="87">
                  <c:v>5026.99</c:v>
                </c:pt>
                <c:pt idx="88">
                  <c:v>4973.51</c:v>
                </c:pt>
                <c:pt idx="89">
                  <c:v>4929.92</c:v>
                </c:pt>
                <c:pt idx="90">
                  <c:v>4889.2299999999996</c:v>
                </c:pt>
                <c:pt idx="91">
                  <c:v>4889.4399999999996</c:v>
                </c:pt>
                <c:pt idx="92" formatCode="0.0">
                  <c:v>4915.8</c:v>
                </c:pt>
                <c:pt idx="93" formatCode="0.0">
                  <c:v>4898.8999999999996</c:v>
                </c:pt>
                <c:pt idx="94">
                  <c:v>5020.49</c:v>
                </c:pt>
                <c:pt idx="95">
                  <c:v>5057.91</c:v>
                </c:pt>
                <c:pt idx="96">
                  <c:v>5036.99</c:v>
                </c:pt>
                <c:pt idx="97">
                  <c:v>5126.6099999999997</c:v>
                </c:pt>
                <c:pt idx="98">
                  <c:v>4874.8100000000004</c:v>
                </c:pt>
                <c:pt idx="99">
                  <c:v>4457.46</c:v>
                </c:pt>
                <c:pt idx="100">
                  <c:v>4600.6099999999997</c:v>
                </c:pt>
                <c:pt idx="101">
                  <c:v>4709.7299999999996</c:v>
                </c:pt>
                <c:pt idx="102">
                  <c:v>4751.9399999999996</c:v>
                </c:pt>
                <c:pt idx="103">
                  <c:v>4876.46</c:v>
                </c:pt>
                <c:pt idx="104" formatCode="0.0">
                  <c:v>4828.5</c:v>
                </c:pt>
                <c:pt idx="105" formatCode="0.0">
                  <c:v>4604.8999999999996</c:v>
                </c:pt>
                <c:pt idx="106">
                  <c:v>4731.03</c:v>
                </c:pt>
                <c:pt idx="107">
                  <c:v>4676.6099999999997</c:v>
                </c:pt>
                <c:pt idx="108">
                  <c:v>4688.62</c:v>
                </c:pt>
                <c:pt idx="109">
                  <c:v>4556.71</c:v>
                </c:pt>
                <c:pt idx="110">
                  <c:v>4548.42</c:v>
                </c:pt>
                <c:pt idx="111" formatCode="0.0">
                  <c:v>4571.3999999999996</c:v>
                </c:pt>
                <c:pt idx="112" formatCode="0.0">
                  <c:v>4666.5</c:v>
                </c:pt>
                <c:pt idx="113" formatCode="0.0">
                  <c:v>4685.8999999999996</c:v>
                </c:pt>
                <c:pt idx="114">
                  <c:v>4614.47</c:v>
                </c:pt>
                <c:pt idx="115">
                  <c:v>4488.92</c:v>
                </c:pt>
                <c:pt idx="116">
                  <c:v>4486.63</c:v>
                </c:pt>
                <c:pt idx="117">
                  <c:v>4380.66</c:v>
                </c:pt>
                <c:pt idx="118">
                  <c:v>4157.46</c:v>
                </c:pt>
                <c:pt idx="119">
                  <c:v>4127.95</c:v>
                </c:pt>
                <c:pt idx="120">
                  <c:v>3956.62</c:v>
                </c:pt>
                <c:pt idx="121">
                  <c:v>4105.0600000000004</c:v>
                </c:pt>
                <c:pt idx="122">
                  <c:v>4096.5200000000004</c:v>
                </c:pt>
                <c:pt idx="123">
                  <c:v>4144.3599999999997</c:v>
                </c:pt>
                <c:pt idx="124">
                  <c:v>3892.88</c:v>
                </c:pt>
                <c:pt idx="125">
                  <c:v>3979.61</c:v>
                </c:pt>
                <c:pt idx="126">
                  <c:v>3785.01</c:v>
                </c:pt>
                <c:pt idx="127">
                  <c:v>3854.99</c:v>
                </c:pt>
                <c:pt idx="128">
                  <c:v>3842.14</c:v>
                </c:pt>
                <c:pt idx="129">
                  <c:v>3798.58</c:v>
                </c:pt>
                <c:pt idx="130" formatCode="0.0">
                  <c:v>3737.7</c:v>
                </c:pt>
                <c:pt idx="131">
                  <c:v>3880.92</c:v>
                </c:pt>
                <c:pt idx="132">
                  <c:v>3890.83</c:v>
                </c:pt>
                <c:pt idx="133">
                  <c:v>3536.76</c:v>
                </c:pt>
                <c:pt idx="134">
                  <c:v>3454.34</c:v>
                </c:pt>
                <c:pt idx="135">
                  <c:v>3523.35</c:v>
                </c:pt>
                <c:pt idx="136">
                  <c:v>3666.59</c:v>
                </c:pt>
                <c:pt idx="137">
                  <c:v>3584.88</c:v>
                </c:pt>
                <c:pt idx="138">
                  <c:v>3763.27</c:v>
                </c:pt>
                <c:pt idx="139">
                  <c:v>3589.67</c:v>
                </c:pt>
                <c:pt idx="140" formatCode="0.0">
                  <c:v>3606.1</c:v>
                </c:pt>
                <c:pt idx="141">
                  <c:v>3634.57</c:v>
                </c:pt>
                <c:pt idx="142">
                  <c:v>3592.52</c:v>
                </c:pt>
                <c:pt idx="143">
                  <c:v>3472.69</c:v>
                </c:pt>
                <c:pt idx="144">
                  <c:v>3432.38</c:v>
                </c:pt>
                <c:pt idx="145">
                  <c:v>3470.28</c:v>
                </c:pt>
                <c:pt idx="146">
                  <c:v>3551.33</c:v>
                </c:pt>
                <c:pt idx="147">
                  <c:v>3598.43</c:v>
                </c:pt>
                <c:pt idx="148" formatCode="0.0">
                  <c:v>3598.6</c:v>
                </c:pt>
                <c:pt idx="149">
                  <c:v>3596.02</c:v>
                </c:pt>
                <c:pt idx="150">
                  <c:v>3752.47</c:v>
                </c:pt>
                <c:pt idx="151">
                  <c:v>3968.88</c:v>
                </c:pt>
                <c:pt idx="152" formatCode="0.0">
                  <c:v>4215.7</c:v>
                </c:pt>
                <c:pt idx="153">
                  <c:v>4249.7299999999996</c:v>
                </c:pt>
                <c:pt idx="154">
                  <c:v>4351.43</c:v>
                </c:pt>
                <c:pt idx="155">
                  <c:v>4499.54</c:v>
                </c:pt>
                <c:pt idx="156">
                  <c:v>4487.72</c:v>
                </c:pt>
                <c:pt idx="157">
                  <c:v>4727.67</c:v>
                </c:pt>
                <c:pt idx="158">
                  <c:v>4632.01</c:v>
                </c:pt>
                <c:pt idx="159">
                  <c:v>4756.54</c:v>
                </c:pt>
                <c:pt idx="160">
                  <c:v>4460.68</c:v>
                </c:pt>
                <c:pt idx="161">
                  <c:v>4422.49</c:v>
                </c:pt>
                <c:pt idx="162">
                  <c:v>4226.0200000000004</c:v>
                </c:pt>
                <c:pt idx="163">
                  <c:v>4134.63</c:v>
                </c:pt>
                <c:pt idx="164">
                  <c:v>4056.54</c:v>
                </c:pt>
                <c:pt idx="165">
                  <c:v>4123.51</c:v>
                </c:pt>
                <c:pt idx="166">
                  <c:v>3980.94</c:v>
                </c:pt>
                <c:pt idx="167">
                  <c:v>4086.13</c:v>
                </c:pt>
                <c:pt idx="168">
                  <c:v>4282.07</c:v>
                </c:pt>
                <c:pt idx="169">
                  <c:v>4244.08</c:v>
                </c:pt>
                <c:pt idx="170">
                  <c:v>4319.95</c:v>
                </c:pt>
                <c:pt idx="171">
                  <c:v>4198.08</c:v>
                </c:pt>
                <c:pt idx="172">
                  <c:v>4199.32</c:v>
                </c:pt>
                <c:pt idx="173">
                  <c:v>4231.3900000000003</c:v>
                </c:pt>
                <c:pt idx="174">
                  <c:v>4124.28</c:v>
                </c:pt>
                <c:pt idx="175">
                  <c:v>3971.53</c:v>
                </c:pt>
                <c:pt idx="176">
                  <c:v>4068.25</c:v>
                </c:pt>
                <c:pt idx="177">
                  <c:v>4201.72</c:v>
                </c:pt>
                <c:pt idx="178">
                  <c:v>4184.78</c:v>
                </c:pt>
                <c:pt idx="179">
                  <c:v>4376.66</c:v>
                </c:pt>
                <c:pt idx="180">
                  <c:v>4433.93</c:v>
                </c:pt>
                <c:pt idx="181">
                  <c:v>4398.24</c:v>
                </c:pt>
                <c:pt idx="182">
                  <c:v>4259.78</c:v>
                </c:pt>
                <c:pt idx="183" formatCode="0.0">
                  <c:v>4214.3999999999996</c:v>
                </c:pt>
                <c:pt idx="184">
                  <c:v>4322.16</c:v>
                </c:pt>
                <c:pt idx="185">
                  <c:v>4261.83</c:v>
                </c:pt>
                <c:pt idx="186">
                  <c:v>4289.74</c:v>
                </c:pt>
                <c:pt idx="187">
                  <c:v>4311.05</c:v>
                </c:pt>
                <c:pt idx="188">
                  <c:v>4329.01</c:v>
                </c:pt>
                <c:pt idx="189">
                  <c:v>4216.29</c:v>
                </c:pt>
                <c:pt idx="190">
                  <c:v>4212.93</c:v>
                </c:pt>
                <c:pt idx="191">
                  <c:v>4186.18</c:v>
                </c:pt>
                <c:pt idx="192">
                  <c:v>4280.51</c:v>
                </c:pt>
                <c:pt idx="193">
                  <c:v>4350.47</c:v>
                </c:pt>
                <c:pt idx="194">
                  <c:v>4426.58</c:v>
                </c:pt>
                <c:pt idx="195">
                  <c:v>4428.68</c:v>
                </c:pt>
                <c:pt idx="196">
                  <c:v>4576.54</c:v>
                </c:pt>
                <c:pt idx="197">
                  <c:v>4633.42</c:v>
                </c:pt>
                <c:pt idx="198">
                  <c:v>4637.2700000000004</c:v>
                </c:pt>
                <c:pt idx="199">
                  <c:v>4488.97</c:v>
                </c:pt>
                <c:pt idx="200">
                  <c:v>4397.21</c:v>
                </c:pt>
                <c:pt idx="201">
                  <c:v>4487.78</c:v>
                </c:pt>
                <c:pt idx="202">
                  <c:v>4751.46</c:v>
                </c:pt>
                <c:pt idx="203" formatCode="0">
                  <c:v>4493</c:v>
                </c:pt>
                <c:pt idx="204">
                  <c:v>4764.24</c:v>
                </c:pt>
                <c:pt idx="205">
                  <c:v>4494.55</c:v>
                </c:pt>
                <c:pt idx="206" formatCode="0">
                  <c:v>4257</c:v>
                </c:pt>
                <c:pt idx="207" formatCode="0.0">
                  <c:v>4257.8</c:v>
                </c:pt>
                <c:pt idx="208">
                  <c:v>4244.74</c:v>
                </c:pt>
                <c:pt idx="209">
                  <c:v>4319.3599999999997</c:v>
                </c:pt>
                <c:pt idx="210" formatCode="0.0">
                  <c:v>4391.6000000000004</c:v>
                </c:pt>
                <c:pt idx="211">
                  <c:v>4351.55</c:v>
                </c:pt>
                <c:pt idx="212">
                  <c:v>4426.34</c:v>
                </c:pt>
                <c:pt idx="213">
                  <c:v>4517.68</c:v>
                </c:pt>
                <c:pt idx="214">
                  <c:v>4491.43</c:v>
                </c:pt>
                <c:pt idx="215">
                  <c:v>4370.1499999999996</c:v>
                </c:pt>
                <c:pt idx="216">
                  <c:v>4439.09</c:v>
                </c:pt>
                <c:pt idx="217">
                  <c:v>4591.96</c:v>
                </c:pt>
                <c:pt idx="218">
                  <c:v>4596.96</c:v>
                </c:pt>
                <c:pt idx="219" formatCode="0.0">
                  <c:v>4717.8999999999996</c:v>
                </c:pt>
                <c:pt idx="220">
                  <c:v>4748.33</c:v>
                </c:pt>
                <c:pt idx="221">
                  <c:v>5008.3500000000004</c:v>
                </c:pt>
                <c:pt idx="222">
                  <c:v>5452.85</c:v>
                </c:pt>
                <c:pt idx="223">
                  <c:v>5202.82</c:v>
                </c:pt>
                <c:pt idx="224">
                  <c:v>5169.07</c:v>
                </c:pt>
                <c:pt idx="225">
                  <c:v>5409.46</c:v>
                </c:pt>
                <c:pt idx="226">
                  <c:v>5469.81</c:v>
                </c:pt>
                <c:pt idx="227">
                  <c:v>5431.54</c:v>
                </c:pt>
                <c:pt idx="228">
                  <c:v>5447.72</c:v>
                </c:pt>
                <c:pt idx="229">
                  <c:v>5541.35</c:v>
                </c:pt>
                <c:pt idx="230">
                  <c:v>5485.28</c:v>
                </c:pt>
                <c:pt idx="231">
                  <c:v>5256.62</c:v>
                </c:pt>
                <c:pt idx="232">
                  <c:v>5387.11</c:v>
                </c:pt>
                <c:pt idx="233">
                  <c:v>5187.29</c:v>
                </c:pt>
                <c:pt idx="234">
                  <c:v>5189.3599999999997</c:v>
                </c:pt>
                <c:pt idx="235">
                  <c:v>5319.45</c:v>
                </c:pt>
                <c:pt idx="236" formatCode="0.0">
                  <c:v>5424.6</c:v>
                </c:pt>
                <c:pt idx="237">
                  <c:v>5295.62</c:v>
                </c:pt>
                <c:pt idx="238">
                  <c:v>5241.17</c:v>
                </c:pt>
                <c:pt idx="239">
                  <c:v>5423.96</c:v>
                </c:pt>
                <c:pt idx="240">
                  <c:v>5402.77</c:v>
                </c:pt>
                <c:pt idx="241">
                  <c:v>5488.77</c:v>
                </c:pt>
                <c:pt idx="242">
                  <c:v>5470.48</c:v>
                </c:pt>
                <c:pt idx="243">
                  <c:v>5564.93</c:v>
                </c:pt>
                <c:pt idx="244">
                  <c:v>5371.69</c:v>
                </c:pt>
                <c:pt idx="245">
                  <c:v>5465.58</c:v>
                </c:pt>
                <c:pt idx="246">
                  <c:v>5485.72</c:v>
                </c:pt>
                <c:pt idx="247">
                  <c:v>5621.73</c:v>
                </c:pt>
                <c:pt idx="248" formatCode="0.0">
                  <c:v>5804.6</c:v>
                </c:pt>
                <c:pt idx="249">
                  <c:v>5740.28</c:v>
                </c:pt>
                <c:pt idx="250">
                  <c:v>5885.35</c:v>
                </c:pt>
                <c:pt idx="251">
                  <c:v>5615.57</c:v>
                </c:pt>
                <c:pt idx="252">
                  <c:v>5628.43</c:v>
                </c:pt>
                <c:pt idx="253">
                  <c:v>5918.59</c:v>
                </c:pt>
                <c:pt idx="254">
                  <c:v>5977.42</c:v>
                </c:pt>
                <c:pt idx="255">
                  <c:v>5617.67</c:v>
                </c:pt>
                <c:pt idx="256">
                  <c:v>5607.55</c:v>
                </c:pt>
                <c:pt idx="257">
                  <c:v>5469.16</c:v>
                </c:pt>
                <c:pt idx="258">
                  <c:v>5389.63</c:v>
                </c:pt>
                <c:pt idx="259">
                  <c:v>5425.75</c:v>
                </c:pt>
                <c:pt idx="260">
                  <c:v>5524.69</c:v>
                </c:pt>
                <c:pt idx="261">
                  <c:v>5457.59</c:v>
                </c:pt>
                <c:pt idx="262">
                  <c:v>5420.68</c:v>
                </c:pt>
                <c:pt idx="263">
                  <c:v>5560.17</c:v>
                </c:pt>
                <c:pt idx="264">
                  <c:v>5544.26</c:v>
                </c:pt>
                <c:pt idx="265">
                  <c:v>5445.09</c:v>
                </c:pt>
                <c:pt idx="266">
                  <c:v>5562.16</c:v>
                </c:pt>
                <c:pt idx="267">
                  <c:v>5582.61</c:v>
                </c:pt>
                <c:pt idx="268" formatCode="0">
                  <c:v>5765</c:v>
                </c:pt>
                <c:pt idx="269">
                  <c:v>5768.97</c:v>
                </c:pt>
                <c:pt idx="270">
                  <c:v>5755.73</c:v>
                </c:pt>
                <c:pt idx="271">
                  <c:v>5669.45</c:v>
                </c:pt>
                <c:pt idx="272">
                  <c:v>5812.08</c:v>
                </c:pt>
                <c:pt idx="273">
                  <c:v>5687.29</c:v>
                </c:pt>
                <c:pt idx="274">
                  <c:v>5752.11</c:v>
                </c:pt>
                <c:pt idx="275">
                  <c:v>5795.53</c:v>
                </c:pt>
                <c:pt idx="276">
                  <c:v>5833.64</c:v>
                </c:pt>
                <c:pt idx="277">
                  <c:v>5607.75</c:v>
                </c:pt>
                <c:pt idx="278" formatCode="0.0">
                  <c:v>5738.2</c:v>
                </c:pt>
                <c:pt idx="279">
                  <c:v>5804.73</c:v>
                </c:pt>
                <c:pt idx="280">
                  <c:v>5626.24</c:v>
                </c:pt>
                <c:pt idx="281">
                  <c:v>5757.15</c:v>
                </c:pt>
                <c:pt idx="282">
                  <c:v>5767.88</c:v>
                </c:pt>
                <c:pt idx="283">
                  <c:v>5980.36</c:v>
                </c:pt>
                <c:pt idx="284">
                  <c:v>5827.81</c:v>
                </c:pt>
                <c:pt idx="285">
                  <c:v>5807.96</c:v>
                </c:pt>
                <c:pt idx="286">
                  <c:v>5723.46</c:v>
                </c:pt>
                <c:pt idx="287">
                  <c:v>5769.29</c:v>
                </c:pt>
                <c:pt idx="288">
                  <c:v>5740.99</c:v>
                </c:pt>
                <c:pt idx="289">
                  <c:v>5775.44</c:v>
                </c:pt>
                <c:pt idx="290">
                  <c:v>5740.29</c:v>
                </c:pt>
                <c:pt idx="291">
                  <c:v>5702.48</c:v>
                </c:pt>
                <c:pt idx="292">
                  <c:v>5821.34</c:v>
                </c:pt>
                <c:pt idx="293">
                  <c:v>5853.57</c:v>
                </c:pt>
                <c:pt idx="294">
                  <c:v>5876.02</c:v>
                </c:pt>
                <c:pt idx="295" formatCode="0.0">
                  <c:v>5935.4</c:v>
                </c:pt>
                <c:pt idx="296">
                  <c:v>6008.62</c:v>
                </c:pt>
                <c:pt idx="297">
                  <c:v>5951.29</c:v>
                </c:pt>
                <c:pt idx="298">
                  <c:v>5896.64</c:v>
                </c:pt>
                <c:pt idx="299" formatCode="0.0">
                  <c:v>5969.8</c:v>
                </c:pt>
                <c:pt idx="300">
                  <c:v>5811.61</c:v>
                </c:pt>
                <c:pt idx="301">
                  <c:v>5746.23</c:v>
                </c:pt>
                <c:pt idx="302">
                  <c:v>5695.02</c:v>
                </c:pt>
                <c:pt idx="303">
                  <c:v>5405.91</c:v>
                </c:pt>
                <c:pt idx="304">
                  <c:v>5471.57</c:v>
                </c:pt>
                <c:pt idx="305">
                  <c:v>5564.38</c:v>
                </c:pt>
                <c:pt idx="306">
                  <c:v>5536.75</c:v>
                </c:pt>
                <c:pt idx="307">
                  <c:v>5464.87</c:v>
                </c:pt>
                <c:pt idx="308">
                  <c:v>5248.11</c:v>
                </c:pt>
                <c:pt idx="309">
                  <c:v>5179.1400000000003</c:v>
                </c:pt>
                <c:pt idx="310">
                  <c:v>5103.07</c:v>
                </c:pt>
                <c:pt idx="311">
                  <c:v>5170.9799999999996</c:v>
                </c:pt>
                <c:pt idx="312" formatCode="0">
                  <c:v>5078</c:v>
                </c:pt>
                <c:pt idx="313">
                  <c:v>4957.72</c:v>
                </c:pt>
                <c:pt idx="314">
                  <c:v>4718.91</c:v>
                </c:pt>
                <c:pt idx="315">
                  <c:v>4647.0200000000004</c:v>
                </c:pt>
                <c:pt idx="316">
                  <c:v>4580.55</c:v>
                </c:pt>
                <c:pt idx="317">
                  <c:v>4739.1899999999996</c:v>
                </c:pt>
                <c:pt idx="318">
                  <c:v>4857.26</c:v>
                </c:pt>
                <c:pt idx="319">
                  <c:v>4795.29</c:v>
                </c:pt>
                <c:pt idx="320">
                  <c:v>4931.21</c:v>
                </c:pt>
                <c:pt idx="321">
                  <c:v>5079.6899999999996</c:v>
                </c:pt>
                <c:pt idx="322">
                  <c:v>5165.79</c:v>
                </c:pt>
                <c:pt idx="323">
                  <c:v>5269.81</c:v>
                </c:pt>
                <c:pt idx="324">
                  <c:v>5336.14</c:v>
                </c:pt>
                <c:pt idx="325">
                  <c:v>5308.52</c:v>
                </c:pt>
                <c:pt idx="326">
                  <c:v>5133.32</c:v>
                </c:pt>
                <c:pt idx="327">
                  <c:v>5194.8900000000003</c:v>
                </c:pt>
                <c:pt idx="328">
                  <c:v>5174.9799999999996</c:v>
                </c:pt>
                <c:pt idx="329">
                  <c:v>5142.2700000000004</c:v>
                </c:pt>
                <c:pt idx="330">
                  <c:v>5228.8900000000003</c:v>
                </c:pt>
                <c:pt idx="331">
                  <c:v>5209.72</c:v>
                </c:pt>
                <c:pt idx="332">
                  <c:v>5109.4399999999996</c:v>
                </c:pt>
                <c:pt idx="333">
                  <c:v>4994.8100000000004</c:v>
                </c:pt>
                <c:pt idx="334">
                  <c:v>5087.47</c:v>
                </c:pt>
                <c:pt idx="335">
                  <c:v>4836.37</c:v>
                </c:pt>
                <c:pt idx="336">
                  <c:v>4750.71</c:v>
                </c:pt>
                <c:pt idx="337">
                  <c:v>4631.68</c:v>
                </c:pt>
                <c:pt idx="338">
                  <c:v>4762.0200000000004</c:v>
                </c:pt>
                <c:pt idx="339">
                  <c:v>4706.91</c:v>
                </c:pt>
                <c:pt idx="340">
                  <c:v>4503.1400000000003</c:v>
                </c:pt>
                <c:pt idx="341">
                  <c:v>4808.2299999999996</c:v>
                </c:pt>
                <c:pt idx="342">
                  <c:v>4817.24</c:v>
                </c:pt>
                <c:pt idx="343">
                  <c:v>4842.8100000000004</c:v>
                </c:pt>
                <c:pt idx="344">
                  <c:v>4777.88</c:v>
                </c:pt>
                <c:pt idx="345">
                  <c:v>4893.82</c:v>
                </c:pt>
                <c:pt idx="346">
                  <c:v>4973.3500000000004</c:v>
                </c:pt>
                <c:pt idx="347">
                  <c:v>4897.95</c:v>
                </c:pt>
                <c:pt idx="348">
                  <c:v>4689.82</c:v>
                </c:pt>
                <c:pt idx="349">
                  <c:v>4756.62</c:v>
                </c:pt>
                <c:pt idx="350">
                  <c:v>4895.24</c:v>
                </c:pt>
                <c:pt idx="351">
                  <c:v>4959.1400000000003</c:v>
                </c:pt>
                <c:pt idx="352">
                  <c:v>5096.78</c:v>
                </c:pt>
                <c:pt idx="353">
                  <c:v>5143.68</c:v>
                </c:pt>
                <c:pt idx="354">
                  <c:v>5139.43</c:v>
                </c:pt>
                <c:pt idx="355">
                  <c:v>5054.7700000000004</c:v>
                </c:pt>
                <c:pt idx="356" formatCode="0.0">
                  <c:v>5105.6000000000004</c:v>
                </c:pt>
                <c:pt idx="357">
                  <c:v>5161.79</c:v>
                </c:pt>
                <c:pt idx="358">
                  <c:v>4993.51</c:v>
                </c:pt>
                <c:pt idx="359">
                  <c:v>4967.68</c:v>
                </c:pt>
                <c:pt idx="360">
                  <c:v>5060.34</c:v>
                </c:pt>
                <c:pt idx="361">
                  <c:v>5074.03</c:v>
                </c:pt>
                <c:pt idx="362">
                  <c:v>5162.8100000000004</c:v>
                </c:pt>
                <c:pt idx="363">
                  <c:v>5131.82</c:v>
                </c:pt>
                <c:pt idx="364">
                  <c:v>5003.55</c:v>
                </c:pt>
                <c:pt idx="365">
                  <c:v>4998.8100000000004</c:v>
                </c:pt>
                <c:pt idx="366">
                  <c:v>4976.58</c:v>
                </c:pt>
                <c:pt idx="367">
                  <c:v>4888.84</c:v>
                </c:pt>
                <c:pt idx="368">
                  <c:v>4916.9799999999996</c:v>
                </c:pt>
                <c:pt idx="369">
                  <c:v>4841.93</c:v>
                </c:pt>
                <c:pt idx="370">
                  <c:v>4877.55</c:v>
                </c:pt>
                <c:pt idx="371" formatCode="0">
                  <c:v>4827</c:v>
                </c:pt>
                <c:pt idx="372">
                  <c:v>4965.4799999999996</c:v>
                </c:pt>
                <c:pt idx="373">
                  <c:v>4853.0200000000004</c:v>
                </c:pt>
                <c:pt idx="374">
                  <c:v>4859.8900000000003</c:v>
                </c:pt>
                <c:pt idx="375">
                  <c:v>4831.17</c:v>
                </c:pt>
                <c:pt idx="376">
                  <c:v>4889.74</c:v>
                </c:pt>
                <c:pt idx="377">
                  <c:v>4791.5200000000004</c:v>
                </c:pt>
                <c:pt idx="378">
                  <c:v>4924.5200000000004</c:v>
                </c:pt>
                <c:pt idx="379">
                  <c:v>4967.3100000000004</c:v>
                </c:pt>
                <c:pt idx="380">
                  <c:v>4798.58</c:v>
                </c:pt>
                <c:pt idx="381">
                  <c:v>4683.6899999999996</c:v>
                </c:pt>
                <c:pt idx="382">
                  <c:v>4550.0200000000004</c:v>
                </c:pt>
                <c:pt idx="383">
                  <c:v>4690.29</c:v>
                </c:pt>
                <c:pt idx="384">
                  <c:v>4654.75</c:v>
                </c:pt>
                <c:pt idx="385">
                  <c:v>4625.13</c:v>
                </c:pt>
                <c:pt idx="386">
                  <c:v>4639.8599999999997</c:v>
                </c:pt>
                <c:pt idx="387">
                  <c:v>4621.41</c:v>
                </c:pt>
                <c:pt idx="388">
                  <c:v>4600.13</c:v>
                </c:pt>
                <c:pt idx="389">
                  <c:v>4402.6899999999996</c:v>
                </c:pt>
                <c:pt idx="390" formatCode="0.0">
                  <c:v>4490.1000000000004</c:v>
                </c:pt>
                <c:pt idx="391">
                  <c:v>4523.67</c:v>
                </c:pt>
                <c:pt idx="392">
                  <c:v>4567.8900000000003</c:v>
                </c:pt>
                <c:pt idx="393">
                  <c:v>4602.6099999999997</c:v>
                </c:pt>
                <c:pt idx="394">
                  <c:v>4558.18</c:v>
                </c:pt>
                <c:pt idx="395">
                  <c:v>4531.1400000000003</c:v>
                </c:pt>
                <c:pt idx="396">
                  <c:v>4433.67</c:v>
                </c:pt>
                <c:pt idx="397">
                  <c:v>4390.01</c:v>
                </c:pt>
                <c:pt idx="398">
                  <c:v>4310.3900000000003</c:v>
                </c:pt>
                <c:pt idx="399">
                  <c:v>4421.96</c:v>
                </c:pt>
                <c:pt idx="400">
                  <c:v>4292.79</c:v>
                </c:pt>
                <c:pt idx="401">
                  <c:v>4230.09</c:v>
                </c:pt>
                <c:pt idx="402">
                  <c:v>4117.72</c:v>
                </c:pt>
                <c:pt idx="403">
                  <c:v>4142.7299999999996</c:v>
                </c:pt>
                <c:pt idx="404">
                  <c:v>3765.66</c:v>
                </c:pt>
                <c:pt idx="405" formatCode="0.0">
                  <c:v>3985.4</c:v>
                </c:pt>
                <c:pt idx="406">
                  <c:v>4187.6099999999997</c:v>
                </c:pt>
                <c:pt idx="407" formatCode="0.0">
                  <c:v>4286.5</c:v>
                </c:pt>
                <c:pt idx="408">
                  <c:v>4285.62</c:v>
                </c:pt>
                <c:pt idx="409">
                  <c:v>4372.0200000000004</c:v>
                </c:pt>
                <c:pt idx="410">
                  <c:v>4370.8500000000004</c:v>
                </c:pt>
                <c:pt idx="411">
                  <c:v>4310.67</c:v>
                </c:pt>
                <c:pt idx="412">
                  <c:v>4353.74</c:v>
                </c:pt>
                <c:pt idx="413">
                  <c:v>4235.38</c:v>
                </c:pt>
                <c:pt idx="414">
                  <c:v>4226.22</c:v>
                </c:pt>
                <c:pt idx="415">
                  <c:v>4305.3500000000004</c:v>
                </c:pt>
                <c:pt idx="416">
                  <c:v>4353.88</c:v>
                </c:pt>
                <c:pt idx="417">
                  <c:v>4425.0600000000004</c:v>
                </c:pt>
                <c:pt idx="418">
                  <c:v>4424.8100000000004</c:v>
                </c:pt>
                <c:pt idx="419">
                  <c:v>4302.13</c:v>
                </c:pt>
                <c:pt idx="420">
                  <c:v>4288.1099999999997</c:v>
                </c:pt>
                <c:pt idx="421">
                  <c:v>4192.82</c:v>
                </c:pt>
                <c:pt idx="422">
                  <c:v>4188.78</c:v>
                </c:pt>
                <c:pt idx="423">
                  <c:v>4119.17</c:v>
                </c:pt>
                <c:pt idx="424">
                  <c:v>4039.97</c:v>
                </c:pt>
                <c:pt idx="425">
                  <c:v>3989.44</c:v>
                </c:pt>
                <c:pt idx="426">
                  <c:v>4036.84</c:v>
                </c:pt>
                <c:pt idx="427">
                  <c:v>4042.73</c:v>
                </c:pt>
                <c:pt idx="428">
                  <c:v>3927.62</c:v>
                </c:pt>
                <c:pt idx="429">
                  <c:v>3956.12</c:v>
                </c:pt>
                <c:pt idx="430">
                  <c:v>3888.78</c:v>
                </c:pt>
                <c:pt idx="431">
                  <c:v>3886.64</c:v>
                </c:pt>
                <c:pt idx="432">
                  <c:v>3806.93</c:v>
                </c:pt>
                <c:pt idx="433">
                  <c:v>3854.74</c:v>
                </c:pt>
                <c:pt idx="434">
                  <c:v>3758.18</c:v>
                </c:pt>
                <c:pt idx="435">
                  <c:v>3681.44</c:v>
                </c:pt>
                <c:pt idx="436">
                  <c:v>3727.81</c:v>
                </c:pt>
                <c:pt idx="437">
                  <c:v>4293.1099999999997</c:v>
                </c:pt>
                <c:pt idx="438">
                  <c:v>4706.7700000000004</c:v>
                </c:pt>
                <c:pt idx="439">
                  <c:v>4514.1899999999996</c:v>
                </c:pt>
                <c:pt idx="440" formatCode="0.0">
                  <c:v>4647.3</c:v>
                </c:pt>
                <c:pt idx="441">
                  <c:v>4767.43</c:v>
                </c:pt>
                <c:pt idx="442">
                  <c:v>4723.34</c:v>
                </c:pt>
                <c:pt idx="443">
                  <c:v>5049.45</c:v>
                </c:pt>
                <c:pt idx="444">
                  <c:v>4847.63</c:v>
                </c:pt>
                <c:pt idx="445">
                  <c:v>4746.37</c:v>
                </c:pt>
                <c:pt idx="446" formatCode="0.0">
                  <c:v>4845.8999999999996</c:v>
                </c:pt>
                <c:pt idx="447">
                  <c:v>4956.57</c:v>
                </c:pt>
                <c:pt idx="448">
                  <c:v>4947.3900000000003</c:v>
                </c:pt>
                <c:pt idx="449">
                  <c:v>4891.54</c:v>
                </c:pt>
                <c:pt idx="450">
                  <c:v>4864.18</c:v>
                </c:pt>
                <c:pt idx="451">
                  <c:v>4523.12</c:v>
                </c:pt>
                <c:pt idx="452">
                  <c:v>4475.6099999999997</c:v>
                </c:pt>
                <c:pt idx="453">
                  <c:v>4636.07</c:v>
                </c:pt>
                <c:pt idx="454">
                  <c:v>4674.2299999999996</c:v>
                </c:pt>
                <c:pt idx="455">
                  <c:v>4632.67</c:v>
                </c:pt>
                <c:pt idx="456">
                  <c:v>4796.04</c:v>
                </c:pt>
                <c:pt idx="457">
                  <c:v>4875.07</c:v>
                </c:pt>
                <c:pt idx="458">
                  <c:v>4973.1099999999997</c:v>
                </c:pt>
                <c:pt idx="459">
                  <c:v>4847.41</c:v>
                </c:pt>
                <c:pt idx="460">
                  <c:v>4964.7700000000004</c:v>
                </c:pt>
                <c:pt idx="461">
                  <c:v>5037.25</c:v>
                </c:pt>
                <c:pt idx="462">
                  <c:v>4931.82</c:v>
                </c:pt>
                <c:pt idx="463">
                  <c:v>4868.75</c:v>
                </c:pt>
                <c:pt idx="464">
                  <c:v>4809.7299999999996</c:v>
                </c:pt>
                <c:pt idx="465">
                  <c:v>4603.03</c:v>
                </c:pt>
                <c:pt idx="466">
                  <c:v>4616.84</c:v>
                </c:pt>
                <c:pt idx="467">
                  <c:v>4667.5600000000004</c:v>
                </c:pt>
                <c:pt idx="468" formatCode="0.0">
                  <c:v>4666.8</c:v>
                </c:pt>
                <c:pt idx="469">
                  <c:v>4773.33</c:v>
                </c:pt>
                <c:pt idx="470">
                  <c:v>4805.37</c:v>
                </c:pt>
                <c:pt idx="471">
                  <c:v>4771.62</c:v>
                </c:pt>
                <c:pt idx="472" formatCode="0.0">
                  <c:v>4764.6000000000004</c:v>
                </c:pt>
                <c:pt idx="473">
                  <c:v>4834.8599999999997</c:v>
                </c:pt>
                <c:pt idx="474" formatCode="0.0">
                  <c:v>4813.2</c:v>
                </c:pt>
                <c:pt idx="475">
                  <c:v>4754.83</c:v>
                </c:pt>
                <c:pt idx="476">
                  <c:v>4913.66</c:v>
                </c:pt>
                <c:pt idx="477">
                  <c:v>4969.21</c:v>
                </c:pt>
                <c:pt idx="478">
                  <c:v>5045.76</c:v>
                </c:pt>
                <c:pt idx="479">
                  <c:v>5110.45</c:v>
                </c:pt>
                <c:pt idx="480">
                  <c:v>5220.95</c:v>
                </c:pt>
                <c:pt idx="481">
                  <c:v>5161.09</c:v>
                </c:pt>
                <c:pt idx="482">
                  <c:v>5258.78</c:v>
                </c:pt>
                <c:pt idx="483">
                  <c:v>5412.02</c:v>
                </c:pt>
                <c:pt idx="484">
                  <c:v>5620.43</c:v>
                </c:pt>
                <c:pt idx="485">
                  <c:v>5723.95</c:v>
                </c:pt>
                <c:pt idx="486">
                  <c:v>5642.59</c:v>
                </c:pt>
                <c:pt idx="487">
                  <c:v>5759.29</c:v>
                </c:pt>
                <c:pt idx="488" formatCode="0.0">
                  <c:v>5749.1</c:v>
                </c:pt>
                <c:pt idx="489" formatCode="0.0">
                  <c:v>5760.9</c:v>
                </c:pt>
                <c:pt idx="490">
                  <c:v>5875.46</c:v>
                </c:pt>
                <c:pt idx="491">
                  <c:v>5855.65</c:v>
                </c:pt>
                <c:pt idx="492">
                  <c:v>5652.46</c:v>
                </c:pt>
                <c:pt idx="493">
                  <c:v>5842.57</c:v>
                </c:pt>
                <c:pt idx="494">
                  <c:v>5866.65</c:v>
                </c:pt>
                <c:pt idx="495">
                  <c:v>5903.58</c:v>
                </c:pt>
                <c:pt idx="496">
                  <c:v>5872.13</c:v>
                </c:pt>
                <c:pt idx="497">
                  <c:v>5575.48</c:v>
                </c:pt>
                <c:pt idx="498">
                  <c:v>5732.77</c:v>
                </c:pt>
                <c:pt idx="499">
                  <c:v>5776.83</c:v>
                </c:pt>
                <c:pt idx="500">
                  <c:v>5787.86</c:v>
                </c:pt>
                <c:pt idx="501">
                  <c:v>5777.54</c:v>
                </c:pt>
                <c:pt idx="502">
                  <c:v>5938.29</c:v>
                </c:pt>
                <c:pt idx="503">
                  <c:v>5919.12</c:v>
                </c:pt>
                <c:pt idx="504">
                  <c:v>6217.68</c:v>
                </c:pt>
                <c:pt idx="505">
                  <c:v>6246.92</c:v>
                </c:pt>
                <c:pt idx="506">
                  <c:v>6356.82</c:v>
                </c:pt>
                <c:pt idx="507">
                  <c:v>6259.18</c:v>
                </c:pt>
                <c:pt idx="508">
                  <c:v>6161.61</c:v>
                </c:pt>
                <c:pt idx="509">
                  <c:v>6227.54</c:v>
                </c:pt>
                <c:pt idx="510">
                  <c:v>6398.46</c:v>
                </c:pt>
                <c:pt idx="511">
                  <c:v>6252.38</c:v>
                </c:pt>
                <c:pt idx="512">
                  <c:v>6220.66</c:v>
                </c:pt>
                <c:pt idx="513">
                  <c:v>5965.89</c:v>
                </c:pt>
                <c:pt idx="514">
                  <c:v>5922.21</c:v>
                </c:pt>
                <c:pt idx="515">
                  <c:v>5791.49</c:v>
                </c:pt>
                <c:pt idx="516">
                  <c:v>6090.06</c:v>
                </c:pt>
                <c:pt idx="517">
                  <c:v>6254.11</c:v>
                </c:pt>
                <c:pt idx="518">
                  <c:v>6271.17</c:v>
                </c:pt>
                <c:pt idx="519">
                  <c:v>6342.26</c:v>
                </c:pt>
                <c:pt idx="520">
                  <c:v>6532.34</c:v>
                </c:pt>
                <c:pt idx="521">
                  <c:v>6481.34</c:v>
                </c:pt>
                <c:pt idx="522">
                  <c:v>6479.37</c:v>
                </c:pt>
                <c:pt idx="523">
                  <c:v>6368.84</c:v>
                </c:pt>
              </c:numCache>
            </c:numRef>
          </c:val>
          <c:smooth val="0"/>
          <c:extLst xmlns:c16r2="http://schemas.microsoft.com/office/drawing/2015/06/chart">
            <c:ext xmlns:c16="http://schemas.microsoft.com/office/drawing/2014/chart" uri="{C3380CC4-5D6E-409C-BE32-E72D297353CC}">
              <c16:uniqueId val="{00000004-8435-4E2B-A90C-0FCDC38003D2}"/>
            </c:ext>
          </c:extLst>
        </c:ser>
        <c:dLbls>
          <c:showLegendKey val="0"/>
          <c:showVal val="0"/>
          <c:showCatName val="0"/>
          <c:showSerName val="0"/>
          <c:showPercent val="0"/>
          <c:showBubbleSize val="0"/>
        </c:dLbls>
        <c:marker val="1"/>
        <c:smooth val="0"/>
        <c:axId val="-2048916704"/>
        <c:axId val="-2048917792"/>
      </c:lineChart>
      <c:catAx>
        <c:axId val="-2048891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zh-CN"/>
          </a:p>
        </c:txPr>
        <c:crossAx val="-2048888416"/>
        <c:crosses val="autoZero"/>
        <c:auto val="1"/>
        <c:lblAlgn val="ctr"/>
        <c:lblOffset val="100"/>
        <c:noMultiLvlLbl val="0"/>
      </c:catAx>
      <c:valAx>
        <c:axId val="-204888841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48891136"/>
        <c:crosses val="autoZero"/>
        <c:crossBetween val="between"/>
      </c:valAx>
      <c:valAx>
        <c:axId val="-2048917792"/>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48916704"/>
        <c:crosses val="max"/>
        <c:crossBetween val="between"/>
      </c:valAx>
      <c:catAx>
        <c:axId val="-2048916704"/>
        <c:scaling>
          <c:orientation val="minMax"/>
        </c:scaling>
        <c:delete val="1"/>
        <c:axPos val="b"/>
        <c:numFmt formatCode="General" sourceLinked="1"/>
        <c:majorTickMark val="out"/>
        <c:minorTickMark val="none"/>
        <c:tickLblPos val="nextTo"/>
        <c:crossAx val="-2048917792"/>
        <c:crosses val="autoZero"/>
        <c:auto val="1"/>
        <c:lblAlgn val="ctr"/>
        <c:lblOffset val="100"/>
        <c:noMultiLvlLbl val="0"/>
      </c:cat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CN" altLang="en-US"/>
              <a:t>成分股市值分布</a:t>
            </a:r>
          </a:p>
        </c:rich>
      </c:tx>
      <c:layout>
        <c:manualLayout>
          <c:xMode val="edge"/>
          <c:yMode val="edge"/>
          <c:x val="0.37482851468604211"/>
          <c:y val="1.587280756845460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spPr>
            <a:solidFill>
              <a:schemeClr val="accent1"/>
            </a:solidFill>
            <a:ln>
              <a:noFill/>
            </a:ln>
            <a:effectLst/>
          </c:spPr>
          <c:invertIfNegative val="0"/>
          <c:cat>
            <c:strRef>
              <c:f>Sheet7!$A$2:$A$12</c:f>
              <c:strCache>
                <c:ptCount val="11"/>
                <c:pt idx="0">
                  <c:v>&lt;100亿</c:v>
                </c:pt>
                <c:pt idx="1">
                  <c:v>100-199亿</c:v>
                </c:pt>
                <c:pt idx="2">
                  <c:v>200-299亿</c:v>
                </c:pt>
                <c:pt idx="3">
                  <c:v>300-399亿</c:v>
                </c:pt>
                <c:pt idx="4">
                  <c:v>400-499亿</c:v>
                </c:pt>
                <c:pt idx="5">
                  <c:v>500-599亿</c:v>
                </c:pt>
                <c:pt idx="6">
                  <c:v>600-699亿</c:v>
                </c:pt>
                <c:pt idx="7">
                  <c:v>700-799亿</c:v>
                </c:pt>
                <c:pt idx="8">
                  <c:v>800-899亿</c:v>
                </c:pt>
                <c:pt idx="9">
                  <c:v>900-999亿</c:v>
                </c:pt>
                <c:pt idx="10">
                  <c:v>&gt;=1000亿</c:v>
                </c:pt>
              </c:strCache>
            </c:strRef>
          </c:cat>
          <c:val>
            <c:numRef>
              <c:f>Sheet7!$B$2:$B$12</c:f>
              <c:numCache>
                <c:formatCode>0%</c:formatCode>
                <c:ptCount val="11"/>
                <c:pt idx="0">
                  <c:v>0.14760000000000001</c:v>
                </c:pt>
                <c:pt idx="1">
                  <c:v>0.11642</c:v>
                </c:pt>
                <c:pt idx="2">
                  <c:v>8.1470000000000001E-2</c:v>
                </c:pt>
                <c:pt idx="3">
                  <c:v>6.0599999999999994E-2</c:v>
                </c:pt>
                <c:pt idx="4">
                  <c:v>4.1849999999999998E-2</c:v>
                </c:pt>
                <c:pt idx="5">
                  <c:v>2.7779999999999999E-2</c:v>
                </c:pt>
                <c:pt idx="6">
                  <c:v>3.746E-2</c:v>
                </c:pt>
                <c:pt idx="7">
                  <c:v>2.4830000000000001E-2</c:v>
                </c:pt>
                <c:pt idx="8">
                  <c:v>1.8169999999999999E-2</c:v>
                </c:pt>
                <c:pt idx="9">
                  <c:v>1.8669999999999999E-2</c:v>
                </c:pt>
                <c:pt idx="10">
                  <c:v>0.42518999999999996</c:v>
                </c:pt>
              </c:numCache>
            </c:numRef>
          </c:val>
          <c:extLst xmlns:c16r2="http://schemas.microsoft.com/office/drawing/2015/06/chart">
            <c:ext xmlns:c16="http://schemas.microsoft.com/office/drawing/2014/chart" uri="{C3380CC4-5D6E-409C-BE32-E72D297353CC}">
              <c16:uniqueId val="{00000000-4574-41EC-A923-A052E370F1DD}"/>
            </c:ext>
          </c:extLst>
        </c:ser>
        <c:dLbls>
          <c:showLegendKey val="0"/>
          <c:showVal val="0"/>
          <c:showCatName val="0"/>
          <c:showSerName val="0"/>
          <c:showPercent val="0"/>
          <c:showBubbleSize val="0"/>
        </c:dLbls>
        <c:gapWidth val="219"/>
        <c:overlap val="-27"/>
        <c:axId val="-2048897664"/>
        <c:axId val="-2048902560"/>
      </c:barChart>
      <c:catAx>
        <c:axId val="-2048897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48902560"/>
        <c:crosses val="autoZero"/>
        <c:auto val="1"/>
        <c:lblAlgn val="ctr"/>
        <c:lblOffset val="100"/>
        <c:noMultiLvlLbl val="0"/>
      </c:catAx>
      <c:valAx>
        <c:axId val="-204890256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48897664"/>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DAED91A-9B96-47DD-B317-F727D5F2F898}" type="doc">
      <dgm:prSet loTypeId="urn:microsoft.com/office/officeart/2008/layout/VerticalCurvedList#1" loCatId="list" qsTypeId="urn:microsoft.com/office/officeart/2005/8/quickstyle/simple1#3" qsCatId="simple" csTypeId="urn:microsoft.com/office/officeart/2005/8/colors/accent1_2#2" csCatId="accent1" phldr="1"/>
      <dgm:spPr/>
      <dgm:t>
        <a:bodyPr/>
        <a:lstStyle/>
        <a:p>
          <a:endParaRPr lang="zh-CN" altLang="en-US"/>
        </a:p>
      </dgm:t>
    </dgm:pt>
    <dgm:pt modelId="{4D1F49ED-698B-4949-AC4C-F62762BF0DD5}">
      <dgm:prSet phldrT="[文本]" custT="1"/>
      <dgm:spPr>
        <a:xfrm>
          <a:off x="519933" y="417281"/>
          <a:ext cx="4085244" cy="361889"/>
        </a:xfrm>
        <a:solidFill>
          <a:srgbClr val="EA5838"/>
        </a:solidFill>
        <a:ln w="25400" cap="flat" cmpd="sng" algn="ctr">
          <a:solidFill>
            <a:srgbClr val="EA5838"/>
          </a:solidFill>
          <a:prstDash val="solid"/>
        </a:ln>
        <a:effectLst/>
      </dgm:spPr>
      <dgm:t>
        <a:bodyPr/>
        <a:lstStyle/>
        <a:p>
          <a:pPr>
            <a:buNone/>
          </a:pPr>
          <a:r>
            <a:rPr lang="en-US" altLang="zh-CN" sz="1200" b="1" kern="1200" dirty="0">
              <a:solidFill>
                <a:schemeClr val="bg1"/>
              </a:solidFill>
              <a:latin typeface="微软雅黑" panose="020B0503020204020204" pitchFamily="34" charset="-122"/>
              <a:ea typeface="微软雅黑" panose="020B0503020204020204" pitchFamily="34" charset="-122"/>
              <a:cs typeface="+mn-cs"/>
            </a:rPr>
            <a:t>2014</a:t>
          </a:r>
          <a:r>
            <a:rPr lang="zh-CN" altLang="en-US" sz="1200" b="1" kern="1200" dirty="0">
              <a:solidFill>
                <a:schemeClr val="bg1"/>
              </a:solidFill>
              <a:latin typeface="微软雅黑" panose="020B0503020204020204" pitchFamily="34" charset="-122"/>
              <a:ea typeface="微软雅黑" panose="020B0503020204020204" pitchFamily="34" charset="-122"/>
              <a:cs typeface="+mn-cs"/>
            </a:rPr>
            <a:t>年金牛私募管理公司（相对价值）</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2015</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年</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4</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月，中证报）</a:t>
          </a:r>
        </a:p>
      </dgm:t>
    </dgm:pt>
    <dgm:pt modelId="{FA628DDA-59E6-45C7-9A49-E316A152061A}" type="parTrans" cxnId="{36D0A276-47C4-4D70-AFFE-43D843633E6E}">
      <dgm:prSet/>
      <dgm:spPr/>
      <dgm:t>
        <a:bodyPr/>
        <a:lstStyle/>
        <a:p>
          <a:endParaRPr lang="zh-CN" altLang="en-US" sz="1200"/>
        </a:p>
      </dgm:t>
    </dgm:pt>
    <dgm:pt modelId="{3126818F-0680-4B81-8577-446B3B8FCF3E}" type="sibTrans" cxnId="{36D0A276-47C4-4D70-AFFE-43D843633E6E}">
      <dgm:prSet/>
      <dgm:spPr>
        <a:xfrm>
          <a:off x="-4392869" y="-674417"/>
          <a:ext cx="5238469" cy="5238469"/>
        </a:xfrm>
        <a:noFill/>
        <a:ln w="25400" cap="flat" cmpd="sng" algn="ctr">
          <a:solidFill>
            <a:srgbClr val="EA5838"/>
          </a:solidFill>
          <a:prstDash val="solid"/>
        </a:ln>
        <a:effectLst/>
      </dgm:spPr>
      <dgm:t>
        <a:bodyPr/>
        <a:lstStyle/>
        <a:p>
          <a:endParaRPr lang="zh-CN" altLang="en-US" sz="1200"/>
        </a:p>
      </dgm:t>
    </dgm:pt>
    <dgm:pt modelId="{E68BD8E9-C1FD-4106-9218-567C964DE443}">
      <dgm:prSet phldrT="[文本]" custT="1"/>
      <dgm:spPr>
        <a:xfrm>
          <a:off x="802843" y="2208239"/>
          <a:ext cx="3739282" cy="370882"/>
        </a:xfrm>
        <a:solidFill>
          <a:srgbClr val="EA5838"/>
        </a:solidFill>
        <a:ln w="25400" cap="flat" cmpd="sng" algn="ctr">
          <a:solidFill>
            <a:srgbClr val="EA5838"/>
          </a:solidFill>
          <a:prstDash val="solid"/>
        </a:ln>
        <a:effectLst/>
      </dgm:spPr>
      <dgm:t>
        <a:bodyPr/>
        <a:lstStyle/>
        <a:p>
          <a:pPr>
            <a:buNone/>
          </a:pPr>
          <a:r>
            <a:rPr lang="en-US" altLang="zh-CN" sz="1200" b="1" kern="1200" dirty="0">
              <a:solidFill>
                <a:schemeClr val="bg1"/>
              </a:solidFill>
              <a:latin typeface="微软雅黑" panose="020B0503020204020204" pitchFamily="34" charset="-122"/>
              <a:ea typeface="微软雅黑" panose="020B0503020204020204" pitchFamily="34" charset="-122"/>
              <a:cs typeface="+mn-cs"/>
            </a:rPr>
            <a:t> 2015</a:t>
          </a:r>
          <a:r>
            <a:rPr lang="zh-CN" altLang="en-US" sz="1200" b="1" kern="1200" dirty="0">
              <a:solidFill>
                <a:schemeClr val="bg1"/>
              </a:solidFill>
              <a:latin typeface="微软雅黑" panose="020B0503020204020204" pitchFamily="34" charset="-122"/>
              <a:ea typeface="微软雅黑" panose="020B0503020204020204" pitchFamily="34" charset="-122"/>
              <a:cs typeface="+mn-cs"/>
            </a:rPr>
            <a:t>年金牛私募基金经理（股票策略</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2016</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年</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4</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月，中证报）</a:t>
          </a:r>
        </a:p>
      </dgm:t>
    </dgm:pt>
    <dgm:pt modelId="{209A3EB0-FC8C-4039-9F28-23FD3E40EF70}" type="parTrans" cxnId="{1746EAFF-595E-45A0-A091-56C6C0C52358}">
      <dgm:prSet/>
      <dgm:spPr/>
      <dgm:t>
        <a:bodyPr/>
        <a:lstStyle/>
        <a:p>
          <a:endParaRPr lang="zh-CN" altLang="en-US" sz="1200"/>
        </a:p>
      </dgm:t>
    </dgm:pt>
    <dgm:pt modelId="{6C6CE5A4-1101-43F3-A1CA-B00E1D297B3A}" type="sibTrans" cxnId="{1746EAFF-595E-45A0-A091-56C6C0C52358}">
      <dgm:prSet/>
      <dgm:spPr/>
      <dgm:t>
        <a:bodyPr/>
        <a:lstStyle/>
        <a:p>
          <a:endParaRPr lang="zh-CN" altLang="en-US" sz="1200"/>
        </a:p>
      </dgm:t>
    </dgm:pt>
    <dgm:pt modelId="{1F0C9C5A-849B-4F89-9647-B46BEF67EAD8}">
      <dgm:prSet phldrT="[文本]" custT="1"/>
      <dgm:spPr>
        <a:xfrm>
          <a:off x="796417" y="1298873"/>
          <a:ext cx="3752134" cy="394159"/>
        </a:xfrm>
        <a:solidFill>
          <a:srgbClr val="EA5838"/>
        </a:solidFill>
        <a:ln w="25400" cap="flat" cmpd="sng" algn="ctr">
          <a:solidFill>
            <a:srgbClr val="EA5838"/>
          </a:solidFill>
          <a:prstDash val="solid"/>
        </a:ln>
        <a:effectLst/>
      </dgm:spPr>
      <dgm:t>
        <a:bodyPr/>
        <a:lstStyle/>
        <a:p>
          <a:pPr>
            <a:buNone/>
          </a:pPr>
          <a:r>
            <a:rPr lang="en-US" altLang="zh-CN" sz="1200" b="1" kern="1200" dirty="0">
              <a:solidFill>
                <a:schemeClr val="bg1"/>
              </a:solidFill>
              <a:latin typeface="微软雅黑" panose="020B0503020204020204" pitchFamily="34" charset="-122"/>
              <a:ea typeface="微软雅黑" panose="020B0503020204020204" pitchFamily="34" charset="-122"/>
              <a:cs typeface="+mn-cs"/>
            </a:rPr>
            <a:t> 2015</a:t>
          </a:r>
          <a:r>
            <a:rPr lang="zh-CN" altLang="en-US" sz="1200" b="1" kern="1200" dirty="0">
              <a:solidFill>
                <a:schemeClr val="bg1"/>
              </a:solidFill>
              <a:latin typeface="微软雅黑" panose="020B0503020204020204" pitchFamily="34" charset="-122"/>
              <a:ea typeface="微软雅黑" panose="020B0503020204020204" pitchFamily="34" charset="-122"/>
              <a:cs typeface="+mn-cs"/>
            </a:rPr>
            <a:t>年金牛私募管理公司（债券策略）</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(2016</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年</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4</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月，中证报</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a:t>
          </a:r>
          <a:endParaRPr lang="zh-CN" altLang="en-US" sz="1200" b="1" kern="1200" dirty="0">
            <a:solidFill>
              <a:prstClr val="white"/>
            </a:solidFill>
            <a:latin typeface="微软雅黑" panose="020B0503020204020204" pitchFamily="34" charset="-122"/>
            <a:ea typeface="微软雅黑" panose="020B0503020204020204" pitchFamily="34" charset="-122"/>
            <a:cs typeface="+mn-cs"/>
          </a:endParaRPr>
        </a:p>
      </dgm:t>
    </dgm:pt>
    <dgm:pt modelId="{24EA826B-C5B0-4B83-ADE6-8D1B2C969636}" type="parTrans" cxnId="{255ABE0D-B955-42BC-8AC6-79C6C0F0A958}">
      <dgm:prSet/>
      <dgm:spPr/>
      <dgm:t>
        <a:bodyPr/>
        <a:lstStyle/>
        <a:p>
          <a:endParaRPr lang="zh-CN" altLang="en-US" sz="1200"/>
        </a:p>
      </dgm:t>
    </dgm:pt>
    <dgm:pt modelId="{20E81001-9243-4AE5-8D58-30E53462D084}" type="sibTrans" cxnId="{255ABE0D-B955-42BC-8AC6-79C6C0F0A958}">
      <dgm:prSet/>
      <dgm:spPr/>
      <dgm:t>
        <a:bodyPr/>
        <a:lstStyle/>
        <a:p>
          <a:endParaRPr lang="zh-CN" altLang="en-US" sz="1200"/>
        </a:p>
      </dgm:t>
    </dgm:pt>
    <dgm:pt modelId="{35C21720-1007-4939-B7FB-AE5C032E1205}">
      <dgm:prSet phldrT="[文本]" custT="1"/>
      <dgm:spPr>
        <a:xfrm>
          <a:off x="475949" y="3105674"/>
          <a:ext cx="4050004" cy="371469"/>
        </a:xfrm>
        <a:solidFill>
          <a:srgbClr val="EA5838"/>
        </a:solidFill>
        <a:ln w="25400" cap="flat" cmpd="sng" algn="ctr">
          <a:solidFill>
            <a:srgbClr val="EA5838"/>
          </a:solidFill>
          <a:prstDash val="solid"/>
        </a:ln>
        <a:effectLst/>
      </dgm:spPr>
      <dgm:t>
        <a:bodyPr/>
        <a:lstStyle/>
        <a:p>
          <a:pPr>
            <a:buNone/>
          </a:pPr>
          <a:r>
            <a:rPr lang="en-US" altLang="zh-CN" sz="1200" b="1" kern="1200" dirty="0">
              <a:solidFill>
                <a:schemeClr val="bg1"/>
              </a:solidFill>
              <a:latin typeface="微软雅黑" panose="020B0503020204020204" pitchFamily="34" charset="-122"/>
              <a:ea typeface="微软雅黑" panose="020B0503020204020204" pitchFamily="34" charset="-122"/>
              <a:cs typeface="+mn-cs"/>
            </a:rPr>
            <a:t> 2016</a:t>
          </a:r>
          <a:r>
            <a:rPr lang="zh-CN" altLang="en-US" sz="1200" b="1" kern="1200" dirty="0">
              <a:solidFill>
                <a:schemeClr val="bg1"/>
              </a:solidFill>
              <a:latin typeface="微软雅黑" panose="020B0503020204020204" pitchFamily="34" charset="-122"/>
              <a:ea typeface="微软雅黑" panose="020B0503020204020204" pitchFamily="34" charset="-122"/>
              <a:cs typeface="+mn-cs"/>
            </a:rPr>
            <a:t>年金牛私募管理公司（宏观期货策略</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2017</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年</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4</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月，中证报）</a:t>
          </a:r>
        </a:p>
      </dgm:t>
    </dgm:pt>
    <dgm:pt modelId="{36AA4CD0-5647-49AB-BAAB-BF7EEE639BD9}" type="parTrans" cxnId="{E4A470F9-D57B-47BC-9F95-45472103DDE3}">
      <dgm:prSet/>
      <dgm:spPr/>
      <dgm:t>
        <a:bodyPr/>
        <a:lstStyle/>
        <a:p>
          <a:endParaRPr lang="zh-CN" altLang="en-US" sz="1200"/>
        </a:p>
      </dgm:t>
    </dgm:pt>
    <dgm:pt modelId="{FE445EC8-C6B6-4269-8731-D937A487F130}" type="sibTrans" cxnId="{E4A470F9-D57B-47BC-9F95-45472103DDE3}">
      <dgm:prSet/>
      <dgm:spPr/>
      <dgm:t>
        <a:bodyPr/>
        <a:lstStyle/>
        <a:p>
          <a:endParaRPr lang="zh-CN" altLang="en-US" sz="1200"/>
        </a:p>
      </dgm:t>
    </dgm:pt>
    <dgm:pt modelId="{9DD60721-C17E-4F2C-9A9C-D4A296CF253D}">
      <dgm:prSet phldrT="[文本]" custT="1"/>
      <dgm:spPr>
        <a:xfrm>
          <a:off x="475949" y="3105674"/>
          <a:ext cx="4050004" cy="371469"/>
        </a:xfrm>
        <a:solidFill>
          <a:srgbClr val="EA5838"/>
        </a:solidFill>
        <a:ln w="28575" cap="flat" cmpd="sng" algn="ctr">
          <a:solidFill>
            <a:srgbClr val="EA5838"/>
          </a:solidFill>
          <a:prstDash val="solid"/>
        </a:ln>
        <a:effectLst/>
      </dgm:spPr>
      <dgm:t>
        <a:bodyPr/>
        <a:lstStyle/>
        <a:p>
          <a:pPr>
            <a:buNone/>
          </a:pPr>
          <a:r>
            <a:rPr lang="en-US" altLang="zh-CN" sz="1200" b="1" kern="1200" dirty="0">
              <a:solidFill>
                <a:prstClr val="white"/>
              </a:solidFill>
              <a:latin typeface="微软雅黑" panose="020B0503020204020204" pitchFamily="34" charset="-122"/>
              <a:ea typeface="微软雅黑" panose="020B0503020204020204" pitchFamily="34" charset="-122"/>
              <a:cs typeface="+mn-cs"/>
            </a:rPr>
            <a:t> 2019</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年金牛特别贡献奖（</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2020</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年</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8</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月，中证报）</a:t>
          </a:r>
        </a:p>
      </dgm:t>
    </dgm:pt>
    <dgm:pt modelId="{9379F5CF-2857-4E01-AC3B-6A9D4C2CF7C2}" type="parTrans" cxnId="{D76D3937-2D98-487C-B815-4D7EB404905D}">
      <dgm:prSet/>
      <dgm:spPr/>
      <dgm:t>
        <a:bodyPr/>
        <a:lstStyle/>
        <a:p>
          <a:endParaRPr lang="zh-CN" altLang="en-US" sz="1200"/>
        </a:p>
      </dgm:t>
    </dgm:pt>
    <dgm:pt modelId="{D374828F-AD15-4CDD-BC16-5A17E1776B29}" type="sibTrans" cxnId="{D76D3937-2D98-487C-B815-4D7EB404905D}">
      <dgm:prSet/>
      <dgm:spPr/>
      <dgm:t>
        <a:bodyPr/>
        <a:lstStyle/>
        <a:p>
          <a:endParaRPr lang="zh-CN" altLang="en-US" sz="1200"/>
        </a:p>
      </dgm:t>
    </dgm:pt>
    <dgm:pt modelId="{47EFE050-01AD-46B9-8F27-3BCEFC9B9B0B}">
      <dgm:prSet phldrT="[文本]" custT="1"/>
      <dgm:spPr>
        <a:xfrm>
          <a:off x="475949" y="3105674"/>
          <a:ext cx="4050004" cy="371469"/>
        </a:xfrm>
        <a:solidFill>
          <a:srgbClr val="EA5838"/>
        </a:solidFill>
        <a:ln w="28575" cap="flat" cmpd="sng" algn="ctr">
          <a:solidFill>
            <a:srgbClr val="EA5838"/>
          </a:solidFill>
          <a:prstDash val="solid"/>
        </a:ln>
        <a:effectLst/>
      </dgm:spPr>
      <dgm:t>
        <a:bodyPr/>
        <a:lstStyle/>
        <a:p>
          <a:pPr>
            <a:buNone/>
          </a:pPr>
          <a:r>
            <a:rPr lang="en-US" altLang="zh-CN" sz="1200" b="1" kern="1200" dirty="0">
              <a:solidFill>
                <a:prstClr val="white"/>
              </a:solidFill>
              <a:latin typeface="微软雅黑" panose="020B0503020204020204" pitchFamily="34" charset="-122"/>
              <a:ea typeface="微软雅黑" panose="020B0503020204020204" pitchFamily="34" charset="-122"/>
              <a:cs typeface="+mn-cs"/>
            </a:rPr>
            <a:t> 2025</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年投资者获得感最高成长型基金公司、</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2025</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年最具成长潜力基金公司</a:t>
          </a:r>
          <a:r>
            <a:rPr lang="zh-CN" altLang="en-US" sz="1100" b="1" kern="1200" dirty="0">
              <a:solidFill>
                <a:prstClr val="white"/>
              </a:solidFill>
              <a:latin typeface="微软雅黑" panose="020B0503020204020204" pitchFamily="34" charset="-122"/>
              <a:ea typeface="微软雅黑" panose="020B0503020204020204" pitchFamily="34" charset="-122"/>
              <a:cs typeface="+mn-cs"/>
            </a:rPr>
            <a:t>（</a:t>
          </a:r>
          <a:r>
            <a:rPr lang="en-US" altLang="zh-CN" sz="1100" b="1" kern="1200" dirty="0">
              <a:solidFill>
                <a:prstClr val="white"/>
              </a:solidFill>
              <a:latin typeface="微软雅黑" panose="020B0503020204020204" pitchFamily="34" charset="-122"/>
              <a:ea typeface="微软雅黑" panose="020B0503020204020204" pitchFamily="34" charset="-122"/>
              <a:cs typeface="+mn-cs"/>
            </a:rPr>
            <a:t>2025</a:t>
          </a:r>
          <a:r>
            <a:rPr lang="zh-CN" altLang="en-US" sz="1100" b="1" kern="1200" dirty="0">
              <a:solidFill>
                <a:prstClr val="white"/>
              </a:solidFill>
              <a:latin typeface="微软雅黑" panose="020B0503020204020204" pitchFamily="34" charset="-122"/>
              <a:ea typeface="微软雅黑" panose="020B0503020204020204" pitchFamily="34" charset="-122"/>
              <a:cs typeface="+mn-cs"/>
            </a:rPr>
            <a:t>年</a:t>
          </a:r>
          <a:r>
            <a:rPr lang="en-US" altLang="zh-CN" sz="1100" b="1" kern="1200" dirty="0">
              <a:solidFill>
                <a:prstClr val="white"/>
              </a:solidFill>
              <a:latin typeface="微软雅黑" panose="020B0503020204020204" pitchFamily="34" charset="-122"/>
              <a:ea typeface="微软雅黑" panose="020B0503020204020204" pitchFamily="34" charset="-122"/>
              <a:cs typeface="+mn-cs"/>
            </a:rPr>
            <a:t>5</a:t>
          </a:r>
          <a:r>
            <a:rPr lang="zh-CN" altLang="en-US" sz="1100" b="1" kern="1200" dirty="0">
              <a:solidFill>
                <a:prstClr val="white"/>
              </a:solidFill>
              <a:latin typeface="微软雅黑" panose="020B0503020204020204" pitchFamily="34" charset="-122"/>
              <a:ea typeface="微软雅黑" panose="020B0503020204020204" pitchFamily="34" charset="-122"/>
              <a:cs typeface="+mn-cs"/>
            </a:rPr>
            <a:t>月，新浪财经）</a:t>
          </a:r>
          <a:endParaRPr lang="zh-CN" altLang="en-US" sz="1200" b="1" kern="1200" dirty="0">
            <a:solidFill>
              <a:prstClr val="white"/>
            </a:solidFill>
            <a:latin typeface="微软雅黑" panose="020B0503020204020204" pitchFamily="34" charset="-122"/>
            <a:ea typeface="微软雅黑" panose="020B0503020204020204" pitchFamily="34" charset="-122"/>
            <a:cs typeface="+mn-cs"/>
          </a:endParaRPr>
        </a:p>
      </dgm:t>
    </dgm:pt>
    <dgm:pt modelId="{C5744CA1-2CBD-43F9-92C1-928134214C9C}" type="parTrans" cxnId="{69712BF5-BCB3-462E-B336-8F48D2685C58}">
      <dgm:prSet/>
      <dgm:spPr/>
      <dgm:t>
        <a:bodyPr/>
        <a:lstStyle/>
        <a:p>
          <a:endParaRPr lang="zh-CN" altLang="en-US" sz="1200"/>
        </a:p>
      </dgm:t>
    </dgm:pt>
    <dgm:pt modelId="{418BFE84-E6A5-4BCB-8E87-4AEBB03820BE}" type="sibTrans" cxnId="{69712BF5-BCB3-462E-B336-8F48D2685C58}">
      <dgm:prSet/>
      <dgm:spPr/>
      <dgm:t>
        <a:bodyPr/>
        <a:lstStyle/>
        <a:p>
          <a:endParaRPr lang="zh-CN" altLang="en-US" sz="1200"/>
        </a:p>
      </dgm:t>
    </dgm:pt>
    <dgm:pt modelId="{D711956F-5A49-4897-BBAD-EFD6EFA9912B}">
      <dgm:prSet phldrT="[文本]" custT="1"/>
      <dgm:spPr>
        <a:xfrm>
          <a:off x="475949" y="3105674"/>
          <a:ext cx="4050004" cy="371469"/>
        </a:xfrm>
        <a:solidFill>
          <a:srgbClr val="EA5838"/>
        </a:solidFill>
        <a:ln w="28575" cap="flat" cmpd="sng" algn="ctr">
          <a:solidFill>
            <a:srgbClr val="EA5838"/>
          </a:solidFill>
          <a:prstDash val="solid"/>
        </a:ln>
        <a:effectLst/>
      </dgm:spPr>
      <dgm:t>
        <a:bodyPr/>
        <a:lstStyle/>
        <a:p>
          <a:pPr>
            <a:buNone/>
          </a:pPr>
          <a:r>
            <a:rPr lang="zh-CN" altLang="en-US" sz="1200" b="1" kern="1200" dirty="0">
              <a:solidFill>
                <a:prstClr val="white"/>
              </a:solidFill>
              <a:latin typeface="微软雅黑" panose="020B0503020204020204" pitchFamily="34" charset="-122"/>
              <a:ea typeface="微软雅黑" panose="020B0503020204020204" pitchFamily="34" charset="-122"/>
              <a:cs typeface="+mn-cs"/>
            </a:rPr>
            <a:t>博道伍佰智航获“五年期开放式股票型持续优胜金牛基金”（</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2025</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年</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12</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月</a:t>
          </a:r>
          <a:r>
            <a:rPr lang="en-US" altLang="zh-CN" sz="1200" b="1" kern="1200" dirty="0">
              <a:solidFill>
                <a:prstClr val="white"/>
              </a:solidFill>
              <a:latin typeface="微软雅黑" panose="020B0503020204020204" pitchFamily="34" charset="-122"/>
              <a:ea typeface="微软雅黑" panose="020B0503020204020204" pitchFamily="34" charset="-122"/>
              <a:cs typeface="+mn-cs"/>
            </a:rPr>
            <a:t>30</a:t>
          </a:r>
          <a:r>
            <a:rPr lang="zh-CN" altLang="en-US" sz="1200" b="1" kern="1200" dirty="0">
              <a:solidFill>
                <a:prstClr val="white"/>
              </a:solidFill>
              <a:latin typeface="微软雅黑" panose="020B0503020204020204" pitchFamily="34" charset="-122"/>
              <a:ea typeface="微软雅黑" panose="020B0503020204020204" pitchFamily="34" charset="-122"/>
              <a:cs typeface="+mn-cs"/>
            </a:rPr>
            <a:t>日，中证报）</a:t>
          </a:r>
        </a:p>
      </dgm:t>
    </dgm:pt>
    <dgm:pt modelId="{7E728A2C-6B61-4CCD-8554-D143A94A8BB5}" type="parTrans" cxnId="{BD9C96A8-BEDE-4C46-853E-769F6F556DAC}">
      <dgm:prSet/>
      <dgm:spPr/>
      <dgm:t>
        <a:bodyPr/>
        <a:lstStyle/>
        <a:p>
          <a:endParaRPr lang="zh-CN" altLang="en-US" sz="1200"/>
        </a:p>
      </dgm:t>
    </dgm:pt>
    <dgm:pt modelId="{3AF028A8-03A0-44BB-B103-0AB9A0D07C1F}" type="sibTrans" cxnId="{BD9C96A8-BEDE-4C46-853E-769F6F556DAC}">
      <dgm:prSet/>
      <dgm:spPr/>
      <dgm:t>
        <a:bodyPr/>
        <a:lstStyle/>
        <a:p>
          <a:endParaRPr lang="zh-CN" altLang="en-US" sz="1200"/>
        </a:p>
      </dgm:t>
    </dgm:pt>
    <dgm:pt modelId="{EB58AEBA-78BA-4504-B452-CA7A28FA015E}" type="pres">
      <dgm:prSet presAssocID="{1DAED91A-9B96-47DD-B317-F727D5F2F898}" presName="Name0" presStyleCnt="0">
        <dgm:presLayoutVars>
          <dgm:chMax val="7"/>
          <dgm:chPref val="7"/>
          <dgm:dir/>
        </dgm:presLayoutVars>
      </dgm:prSet>
      <dgm:spPr/>
      <dgm:t>
        <a:bodyPr/>
        <a:lstStyle/>
        <a:p>
          <a:endParaRPr lang="zh-CN" altLang="en-US"/>
        </a:p>
      </dgm:t>
    </dgm:pt>
    <dgm:pt modelId="{818851C6-9C5D-4A30-A9E5-1FCFE2CB4DD3}" type="pres">
      <dgm:prSet presAssocID="{1DAED91A-9B96-47DD-B317-F727D5F2F898}" presName="Name1" presStyleCnt="0"/>
      <dgm:spPr/>
    </dgm:pt>
    <dgm:pt modelId="{F3997296-375A-49A3-945C-CA5F6FD99CA5}" type="pres">
      <dgm:prSet presAssocID="{1DAED91A-9B96-47DD-B317-F727D5F2F898}" presName="cycle" presStyleCnt="0"/>
      <dgm:spPr/>
    </dgm:pt>
    <dgm:pt modelId="{3C70A746-68D5-4164-9198-8F7E2540C765}" type="pres">
      <dgm:prSet presAssocID="{1DAED91A-9B96-47DD-B317-F727D5F2F898}" presName="srcNode" presStyleLbl="node1" presStyleIdx="0" presStyleCnt="7"/>
      <dgm:spPr/>
    </dgm:pt>
    <dgm:pt modelId="{EDFDE0FB-D05B-4F36-AC93-D31213248F9E}" type="pres">
      <dgm:prSet presAssocID="{1DAED91A-9B96-47DD-B317-F727D5F2F898}" presName="conn" presStyleLbl="parChTrans1D2" presStyleIdx="0" presStyleCnt="1"/>
      <dgm:spPr>
        <a:prstGeom prst="blockArc">
          <a:avLst>
            <a:gd name="adj1" fmla="val 18900000"/>
            <a:gd name="adj2" fmla="val 2700000"/>
            <a:gd name="adj3" fmla="val 412"/>
          </a:avLst>
        </a:prstGeom>
      </dgm:spPr>
      <dgm:t>
        <a:bodyPr/>
        <a:lstStyle/>
        <a:p>
          <a:endParaRPr lang="zh-CN" altLang="en-US"/>
        </a:p>
      </dgm:t>
    </dgm:pt>
    <dgm:pt modelId="{FC28B985-20EA-4F52-A656-E52AFC8B7221}" type="pres">
      <dgm:prSet presAssocID="{1DAED91A-9B96-47DD-B317-F727D5F2F898}" presName="extraNode" presStyleLbl="node1" presStyleIdx="0" presStyleCnt="7"/>
      <dgm:spPr/>
    </dgm:pt>
    <dgm:pt modelId="{3D693B25-8FF0-4A3D-B272-3296BD4EAAC6}" type="pres">
      <dgm:prSet presAssocID="{1DAED91A-9B96-47DD-B317-F727D5F2F898}" presName="dstNode" presStyleLbl="node1" presStyleIdx="0" presStyleCnt="7"/>
      <dgm:spPr/>
    </dgm:pt>
    <dgm:pt modelId="{AA095C02-47AB-4592-ACF9-DEDD08F5A827}" type="pres">
      <dgm:prSet presAssocID="{4D1F49ED-698B-4949-AC4C-F62762BF0DD5}" presName="text_1" presStyleLbl="node1" presStyleIdx="0" presStyleCnt="7" custScaleX="100609" custScaleY="83113" custLinFactNeighborX="1159" custLinFactNeighborY="-2953">
        <dgm:presLayoutVars>
          <dgm:bulletEnabled val="1"/>
        </dgm:presLayoutVars>
      </dgm:prSet>
      <dgm:spPr>
        <a:prstGeom prst="rect">
          <a:avLst/>
        </a:prstGeom>
      </dgm:spPr>
      <dgm:t>
        <a:bodyPr/>
        <a:lstStyle/>
        <a:p>
          <a:endParaRPr lang="zh-CN" altLang="en-US"/>
        </a:p>
      </dgm:t>
    </dgm:pt>
    <dgm:pt modelId="{32207323-3DC4-4AEF-B676-6CC6FFDBB609}" type="pres">
      <dgm:prSet presAssocID="{4D1F49ED-698B-4949-AC4C-F62762BF0DD5}" presName="accent_1" presStyleCnt="0"/>
      <dgm:spPr/>
    </dgm:pt>
    <dgm:pt modelId="{FAA119A0-E702-4239-B791-B4125BE60ABC}" type="pres">
      <dgm:prSet presAssocID="{4D1F49ED-698B-4949-AC4C-F62762BF0DD5}" presName="accentRepeatNode" presStyleLbl="solidFgAcc1" presStyleIdx="0" presStyleCnt="7" custScaleX="77616" custScaleY="73174" custLinFactNeighborX="5082"/>
      <dgm:spPr>
        <a:xfrm>
          <a:off x="192703" y="324563"/>
          <a:ext cx="580549" cy="547324"/>
        </a:xfrm>
        <a:prstGeom prst="ellipse">
          <a:avLst/>
        </a:prstGeom>
        <a:solidFill>
          <a:srgbClr val="FFFFFF">
            <a:hueOff val="0"/>
            <a:satOff val="0"/>
            <a:lumOff val="0"/>
            <a:alphaOff val="0"/>
          </a:srgbClr>
        </a:solidFill>
        <a:ln w="25400" cap="flat" cmpd="sng" algn="ctr">
          <a:solidFill>
            <a:srgbClr val="EA5838"/>
          </a:solidFill>
          <a:prstDash val="solid"/>
        </a:ln>
        <a:effectLst/>
      </dgm:spPr>
    </dgm:pt>
    <dgm:pt modelId="{123CC244-39A8-4454-94B5-464D7CF114DA}" type="pres">
      <dgm:prSet presAssocID="{1F0C9C5A-849B-4F89-9647-B46BEF67EAD8}" presName="text_2" presStyleLbl="node1" presStyleIdx="1" presStyleCnt="7" custScaleX="103532" custScaleY="86907">
        <dgm:presLayoutVars>
          <dgm:bulletEnabled val="1"/>
        </dgm:presLayoutVars>
      </dgm:prSet>
      <dgm:spPr>
        <a:prstGeom prst="rect">
          <a:avLst/>
        </a:prstGeom>
      </dgm:spPr>
      <dgm:t>
        <a:bodyPr/>
        <a:lstStyle/>
        <a:p>
          <a:endParaRPr lang="zh-CN" altLang="en-US"/>
        </a:p>
      </dgm:t>
    </dgm:pt>
    <dgm:pt modelId="{AA45D581-E242-4542-81A6-902F326902F9}" type="pres">
      <dgm:prSet presAssocID="{1F0C9C5A-849B-4F89-9647-B46BEF67EAD8}" presName="accent_2" presStyleCnt="0"/>
      <dgm:spPr/>
    </dgm:pt>
    <dgm:pt modelId="{87DAC5AF-A9F8-4658-AC54-9B826A2303D9}" type="pres">
      <dgm:prSet presAssocID="{1F0C9C5A-849B-4F89-9647-B46BEF67EAD8}" presName="accentRepeatNode" presStyleLbl="solidFgAcc1" presStyleIdx="1" presStyleCnt="7" custScaleX="80595" custScaleY="70062" custLinFactNeighborX="-2498"/>
      <dgm:spPr>
        <a:xfrm>
          <a:off x="467931" y="1233929"/>
          <a:ext cx="602831" cy="524047"/>
        </a:xfrm>
        <a:prstGeom prst="ellipse">
          <a:avLst/>
        </a:prstGeom>
        <a:solidFill>
          <a:srgbClr val="FFFFFF">
            <a:hueOff val="0"/>
            <a:satOff val="0"/>
            <a:lumOff val="0"/>
            <a:alphaOff val="0"/>
          </a:srgbClr>
        </a:solidFill>
        <a:ln w="25400" cap="flat" cmpd="sng" algn="ctr">
          <a:solidFill>
            <a:srgbClr val="EA5838"/>
          </a:solidFill>
          <a:prstDash val="solid"/>
        </a:ln>
        <a:effectLst/>
      </dgm:spPr>
    </dgm:pt>
    <dgm:pt modelId="{243AE9AF-C3BA-41E2-94FA-F03B29F239F8}" type="pres">
      <dgm:prSet presAssocID="{E68BD8E9-C1FD-4106-9218-567C964DE443}" presName="text_3" presStyleLbl="node1" presStyleIdx="2" presStyleCnt="7" custScaleX="102309" custScaleY="115321">
        <dgm:presLayoutVars>
          <dgm:bulletEnabled val="1"/>
        </dgm:presLayoutVars>
      </dgm:prSet>
      <dgm:spPr>
        <a:prstGeom prst="rect">
          <a:avLst/>
        </a:prstGeom>
      </dgm:spPr>
      <dgm:t>
        <a:bodyPr/>
        <a:lstStyle/>
        <a:p>
          <a:endParaRPr lang="zh-CN" altLang="en-US"/>
        </a:p>
      </dgm:t>
    </dgm:pt>
    <dgm:pt modelId="{9FCC75CB-B244-471C-82A6-2A26617BE7F1}" type="pres">
      <dgm:prSet presAssocID="{E68BD8E9-C1FD-4106-9218-567C964DE443}" presName="accent_3" presStyleCnt="0"/>
      <dgm:spPr/>
    </dgm:pt>
    <dgm:pt modelId="{18932F0D-311C-4988-8074-F0019DF76C08}" type="pres">
      <dgm:prSet presAssocID="{E68BD8E9-C1FD-4106-9218-567C964DE443}" presName="accentRepeatNode" presStyleLbl="solidFgAcc1" presStyleIdx="2" presStyleCnt="7" custScaleX="72671" custScaleY="66950" custLinFactNeighborX="2509"/>
      <dgm:spPr>
        <a:xfrm>
          <a:off x="535017" y="2143296"/>
          <a:ext cx="543562" cy="500770"/>
        </a:xfrm>
        <a:prstGeom prst="ellipse">
          <a:avLst/>
        </a:prstGeom>
        <a:solidFill>
          <a:srgbClr val="FFFFFF">
            <a:hueOff val="0"/>
            <a:satOff val="0"/>
            <a:lumOff val="0"/>
            <a:alphaOff val="0"/>
          </a:srgbClr>
        </a:solidFill>
        <a:ln w="25400" cap="flat" cmpd="sng" algn="ctr">
          <a:solidFill>
            <a:srgbClr val="EA5838"/>
          </a:solidFill>
          <a:prstDash val="solid"/>
        </a:ln>
        <a:effectLst/>
      </dgm:spPr>
    </dgm:pt>
    <dgm:pt modelId="{28D00C45-FD0B-4DF9-B9DF-AB726898552C}" type="pres">
      <dgm:prSet presAssocID="{35C21720-1007-4939-B7FB-AE5C032E1205}" presName="text_4" presStyleLbl="node1" presStyleIdx="3" presStyleCnt="7" custScaleX="103145" custScaleY="94495">
        <dgm:presLayoutVars>
          <dgm:bulletEnabled val="1"/>
        </dgm:presLayoutVars>
      </dgm:prSet>
      <dgm:spPr>
        <a:prstGeom prst="rect">
          <a:avLst/>
        </a:prstGeom>
      </dgm:spPr>
      <dgm:t>
        <a:bodyPr/>
        <a:lstStyle/>
        <a:p>
          <a:endParaRPr lang="zh-CN" altLang="en-US"/>
        </a:p>
      </dgm:t>
    </dgm:pt>
    <dgm:pt modelId="{2B75172C-C9A6-4E91-A092-A31B7FDAC4FB}" type="pres">
      <dgm:prSet presAssocID="{35C21720-1007-4939-B7FB-AE5C032E1205}" presName="accent_4" presStyleCnt="0"/>
      <dgm:spPr/>
    </dgm:pt>
    <dgm:pt modelId="{161614C2-2539-486B-A6B2-4340AA2A4076}" type="pres">
      <dgm:prSet presAssocID="{35C21720-1007-4939-B7FB-AE5C032E1205}" presName="accentRepeatNode" presStyleLbl="solidFgAcc1" presStyleIdx="3" presStyleCnt="7" custScaleX="72801" custScaleY="67158"/>
      <dgm:spPr>
        <a:xfrm>
          <a:off x="172698" y="3040246"/>
          <a:ext cx="544534" cy="502326"/>
        </a:xfrm>
        <a:prstGeom prst="ellipse">
          <a:avLst/>
        </a:prstGeom>
        <a:solidFill>
          <a:srgbClr val="FFFFFF">
            <a:hueOff val="0"/>
            <a:satOff val="0"/>
            <a:lumOff val="0"/>
            <a:alphaOff val="0"/>
          </a:srgbClr>
        </a:solidFill>
        <a:ln w="25400" cap="flat" cmpd="sng" algn="ctr">
          <a:solidFill>
            <a:srgbClr val="EA5838"/>
          </a:solidFill>
          <a:prstDash val="solid"/>
        </a:ln>
        <a:effectLst/>
      </dgm:spPr>
    </dgm:pt>
    <dgm:pt modelId="{F83BBD3B-46BA-4735-8179-42CC43DE0526}" type="pres">
      <dgm:prSet presAssocID="{9DD60721-C17E-4F2C-9A9C-D4A296CF253D}" presName="text_5" presStyleLbl="node1" presStyleIdx="4" presStyleCnt="7" custScaleX="103119">
        <dgm:presLayoutVars>
          <dgm:bulletEnabled val="1"/>
        </dgm:presLayoutVars>
      </dgm:prSet>
      <dgm:spPr>
        <a:prstGeom prst="rect">
          <a:avLst/>
        </a:prstGeom>
      </dgm:spPr>
      <dgm:t>
        <a:bodyPr/>
        <a:lstStyle/>
        <a:p>
          <a:endParaRPr lang="zh-CN" altLang="en-US"/>
        </a:p>
      </dgm:t>
    </dgm:pt>
    <dgm:pt modelId="{646C028A-2186-46F6-A612-81327E3E3F43}" type="pres">
      <dgm:prSet presAssocID="{9DD60721-C17E-4F2C-9A9C-D4A296CF253D}" presName="accent_5" presStyleCnt="0"/>
      <dgm:spPr/>
    </dgm:pt>
    <dgm:pt modelId="{893907C0-7DCD-4180-BE0B-E09D2324DED0}" type="pres">
      <dgm:prSet presAssocID="{9DD60721-C17E-4F2C-9A9C-D4A296CF253D}" presName="accentRepeatNode" presStyleLbl="solidFgAcc1" presStyleIdx="4" presStyleCnt="7" custScaleX="78801" custScaleY="78801"/>
      <dgm:spPr>
        <a:ln w="38100">
          <a:solidFill>
            <a:srgbClr val="EA5838"/>
          </a:solidFill>
        </a:ln>
      </dgm:spPr>
    </dgm:pt>
    <dgm:pt modelId="{3B06443E-6760-488E-8ED7-D6040A4BE47C}" type="pres">
      <dgm:prSet presAssocID="{47EFE050-01AD-46B9-8F27-3BCEFC9B9B0B}" presName="text_6" presStyleLbl="node1" presStyleIdx="5" presStyleCnt="7" custScaleX="103043" custScaleY="147334">
        <dgm:presLayoutVars>
          <dgm:bulletEnabled val="1"/>
        </dgm:presLayoutVars>
      </dgm:prSet>
      <dgm:spPr/>
      <dgm:t>
        <a:bodyPr/>
        <a:lstStyle/>
        <a:p>
          <a:endParaRPr lang="zh-CN" altLang="en-US"/>
        </a:p>
      </dgm:t>
    </dgm:pt>
    <dgm:pt modelId="{227D4E26-10DB-4D9D-9B6F-B6EC4329E6C4}" type="pres">
      <dgm:prSet presAssocID="{47EFE050-01AD-46B9-8F27-3BCEFC9B9B0B}" presName="accent_6" presStyleCnt="0"/>
      <dgm:spPr/>
    </dgm:pt>
    <dgm:pt modelId="{1765C3A6-4AB8-439D-B6E6-6008B7393E0A}" type="pres">
      <dgm:prSet presAssocID="{47EFE050-01AD-46B9-8F27-3BCEFC9B9B0B}" presName="accentRepeatNode" presStyleLbl="solidFgAcc1" presStyleIdx="5" presStyleCnt="7" custScaleX="81774" custScaleY="81774"/>
      <dgm:spPr>
        <a:ln w="38100">
          <a:solidFill>
            <a:srgbClr val="EA5838"/>
          </a:solidFill>
        </a:ln>
      </dgm:spPr>
    </dgm:pt>
    <dgm:pt modelId="{2D84C0E2-72E3-4882-87D4-3AB555841857}" type="pres">
      <dgm:prSet presAssocID="{D711956F-5A49-4897-BBAD-EFD6EFA9912B}" presName="text_7" presStyleLbl="node1" presStyleIdx="6" presStyleCnt="7">
        <dgm:presLayoutVars>
          <dgm:bulletEnabled val="1"/>
        </dgm:presLayoutVars>
      </dgm:prSet>
      <dgm:spPr/>
      <dgm:t>
        <a:bodyPr/>
        <a:lstStyle/>
        <a:p>
          <a:endParaRPr lang="zh-CN" altLang="en-US"/>
        </a:p>
      </dgm:t>
    </dgm:pt>
    <dgm:pt modelId="{F99C5FE8-10BB-4F26-94F5-2CCAC1E6C29E}" type="pres">
      <dgm:prSet presAssocID="{D711956F-5A49-4897-BBAD-EFD6EFA9912B}" presName="accent_7" presStyleCnt="0"/>
      <dgm:spPr/>
    </dgm:pt>
    <dgm:pt modelId="{4C426148-1FF7-43A5-B7F5-D34AF5F69924}" type="pres">
      <dgm:prSet presAssocID="{D711956F-5A49-4897-BBAD-EFD6EFA9912B}" presName="accentRepeatNode" presStyleLbl="solidFgAcc1" presStyleIdx="6" presStyleCnt="7"/>
      <dgm:spPr>
        <a:ln w="31750">
          <a:solidFill>
            <a:srgbClr val="EA5838"/>
          </a:solidFill>
        </a:ln>
      </dgm:spPr>
    </dgm:pt>
  </dgm:ptLst>
  <dgm:cxnLst>
    <dgm:cxn modelId="{69712BF5-BCB3-462E-B336-8F48D2685C58}" srcId="{1DAED91A-9B96-47DD-B317-F727D5F2F898}" destId="{47EFE050-01AD-46B9-8F27-3BCEFC9B9B0B}" srcOrd="5" destOrd="0" parTransId="{C5744CA1-2CBD-43F9-92C1-928134214C9C}" sibTransId="{418BFE84-E6A5-4BCB-8E87-4AEBB03820BE}"/>
    <dgm:cxn modelId="{1746EAFF-595E-45A0-A091-56C6C0C52358}" srcId="{1DAED91A-9B96-47DD-B317-F727D5F2F898}" destId="{E68BD8E9-C1FD-4106-9218-567C964DE443}" srcOrd="2" destOrd="0" parTransId="{209A3EB0-FC8C-4039-9F28-23FD3E40EF70}" sibTransId="{6C6CE5A4-1101-43F3-A1CA-B00E1D297B3A}"/>
    <dgm:cxn modelId="{BD9C96A8-BEDE-4C46-853E-769F6F556DAC}" srcId="{1DAED91A-9B96-47DD-B317-F727D5F2F898}" destId="{D711956F-5A49-4897-BBAD-EFD6EFA9912B}" srcOrd="6" destOrd="0" parTransId="{7E728A2C-6B61-4CCD-8554-D143A94A8BB5}" sibTransId="{3AF028A8-03A0-44BB-B103-0AB9A0D07C1F}"/>
    <dgm:cxn modelId="{A89F0205-BFD6-4070-9FA7-06005F240E4F}" type="presOf" srcId="{E68BD8E9-C1FD-4106-9218-567C964DE443}" destId="{243AE9AF-C3BA-41E2-94FA-F03B29F239F8}" srcOrd="0" destOrd="0" presId="urn:microsoft.com/office/officeart/2008/layout/VerticalCurvedList#1"/>
    <dgm:cxn modelId="{255ABE0D-B955-42BC-8AC6-79C6C0F0A958}" srcId="{1DAED91A-9B96-47DD-B317-F727D5F2F898}" destId="{1F0C9C5A-849B-4F89-9647-B46BEF67EAD8}" srcOrd="1" destOrd="0" parTransId="{24EA826B-C5B0-4B83-ADE6-8D1B2C969636}" sibTransId="{20E81001-9243-4AE5-8D58-30E53462D084}"/>
    <dgm:cxn modelId="{F106833A-E6CF-4547-9A89-B2481A22DD47}" type="presOf" srcId="{3126818F-0680-4B81-8577-446B3B8FCF3E}" destId="{EDFDE0FB-D05B-4F36-AC93-D31213248F9E}" srcOrd="0" destOrd="0" presId="urn:microsoft.com/office/officeart/2008/layout/VerticalCurvedList#1"/>
    <dgm:cxn modelId="{668F2DBE-B6ED-4919-B41C-414BB34C92EB}" type="presOf" srcId="{47EFE050-01AD-46B9-8F27-3BCEFC9B9B0B}" destId="{3B06443E-6760-488E-8ED7-D6040A4BE47C}" srcOrd="0" destOrd="0" presId="urn:microsoft.com/office/officeart/2008/layout/VerticalCurvedList#1"/>
    <dgm:cxn modelId="{E4A470F9-D57B-47BC-9F95-45472103DDE3}" srcId="{1DAED91A-9B96-47DD-B317-F727D5F2F898}" destId="{35C21720-1007-4939-B7FB-AE5C032E1205}" srcOrd="3" destOrd="0" parTransId="{36AA4CD0-5647-49AB-BAAB-BF7EEE639BD9}" sibTransId="{FE445EC8-C6B6-4269-8731-D937A487F130}"/>
    <dgm:cxn modelId="{A68DA61F-5E20-4843-8AB0-B73745B56285}" type="presOf" srcId="{4D1F49ED-698B-4949-AC4C-F62762BF0DD5}" destId="{AA095C02-47AB-4592-ACF9-DEDD08F5A827}" srcOrd="0" destOrd="0" presId="urn:microsoft.com/office/officeart/2008/layout/VerticalCurvedList#1"/>
    <dgm:cxn modelId="{D76D3937-2D98-487C-B815-4D7EB404905D}" srcId="{1DAED91A-9B96-47DD-B317-F727D5F2F898}" destId="{9DD60721-C17E-4F2C-9A9C-D4A296CF253D}" srcOrd="4" destOrd="0" parTransId="{9379F5CF-2857-4E01-AC3B-6A9D4C2CF7C2}" sibTransId="{D374828F-AD15-4CDD-BC16-5A17E1776B29}"/>
    <dgm:cxn modelId="{F83E6057-3EC7-4FB3-A59C-8C84D9AD3C8A}" type="presOf" srcId="{D711956F-5A49-4897-BBAD-EFD6EFA9912B}" destId="{2D84C0E2-72E3-4882-87D4-3AB555841857}" srcOrd="0" destOrd="0" presId="urn:microsoft.com/office/officeart/2008/layout/VerticalCurvedList#1"/>
    <dgm:cxn modelId="{8F58FD3B-2BFC-46F5-8193-101775E62F24}" type="presOf" srcId="{35C21720-1007-4939-B7FB-AE5C032E1205}" destId="{28D00C45-FD0B-4DF9-B9DF-AB726898552C}" srcOrd="0" destOrd="0" presId="urn:microsoft.com/office/officeart/2008/layout/VerticalCurvedList#1"/>
    <dgm:cxn modelId="{78D1364F-0D02-4852-B5DB-B877F62A8F37}" type="presOf" srcId="{9DD60721-C17E-4F2C-9A9C-D4A296CF253D}" destId="{F83BBD3B-46BA-4735-8179-42CC43DE0526}" srcOrd="0" destOrd="0" presId="urn:microsoft.com/office/officeart/2008/layout/VerticalCurvedList#1"/>
    <dgm:cxn modelId="{36D0A276-47C4-4D70-AFFE-43D843633E6E}" srcId="{1DAED91A-9B96-47DD-B317-F727D5F2F898}" destId="{4D1F49ED-698B-4949-AC4C-F62762BF0DD5}" srcOrd="0" destOrd="0" parTransId="{FA628DDA-59E6-45C7-9A49-E316A152061A}" sibTransId="{3126818F-0680-4B81-8577-446B3B8FCF3E}"/>
    <dgm:cxn modelId="{1DDA5F1E-AC01-44D4-AAB4-2F4B624CCE05}" type="presOf" srcId="{1DAED91A-9B96-47DD-B317-F727D5F2F898}" destId="{EB58AEBA-78BA-4504-B452-CA7A28FA015E}" srcOrd="0" destOrd="0" presId="urn:microsoft.com/office/officeart/2008/layout/VerticalCurvedList#1"/>
    <dgm:cxn modelId="{6C3EAB69-5B3E-47E5-9D0C-17C684551859}" type="presOf" srcId="{1F0C9C5A-849B-4F89-9647-B46BEF67EAD8}" destId="{123CC244-39A8-4454-94B5-464D7CF114DA}" srcOrd="0" destOrd="0" presId="urn:microsoft.com/office/officeart/2008/layout/VerticalCurvedList#1"/>
    <dgm:cxn modelId="{2FC852F4-2D98-4C6F-91EC-5FC0E631A3FC}" type="presParOf" srcId="{EB58AEBA-78BA-4504-B452-CA7A28FA015E}" destId="{818851C6-9C5D-4A30-A9E5-1FCFE2CB4DD3}" srcOrd="0" destOrd="0" presId="urn:microsoft.com/office/officeart/2008/layout/VerticalCurvedList#1"/>
    <dgm:cxn modelId="{CFBF5E84-D8FF-4628-8B9A-0622B88438D0}" type="presParOf" srcId="{818851C6-9C5D-4A30-A9E5-1FCFE2CB4DD3}" destId="{F3997296-375A-49A3-945C-CA5F6FD99CA5}" srcOrd="0" destOrd="0" presId="urn:microsoft.com/office/officeart/2008/layout/VerticalCurvedList#1"/>
    <dgm:cxn modelId="{B2982F29-0CAA-4072-824E-37B620837FD3}" type="presParOf" srcId="{F3997296-375A-49A3-945C-CA5F6FD99CA5}" destId="{3C70A746-68D5-4164-9198-8F7E2540C765}" srcOrd="0" destOrd="0" presId="urn:microsoft.com/office/officeart/2008/layout/VerticalCurvedList#1"/>
    <dgm:cxn modelId="{0BFEF532-8303-4DBC-8E4D-17E43E4F9774}" type="presParOf" srcId="{F3997296-375A-49A3-945C-CA5F6FD99CA5}" destId="{EDFDE0FB-D05B-4F36-AC93-D31213248F9E}" srcOrd="1" destOrd="0" presId="urn:microsoft.com/office/officeart/2008/layout/VerticalCurvedList#1"/>
    <dgm:cxn modelId="{9645B9E1-B7DC-4AD8-B3BB-3D01A56EA8BE}" type="presParOf" srcId="{F3997296-375A-49A3-945C-CA5F6FD99CA5}" destId="{FC28B985-20EA-4F52-A656-E52AFC8B7221}" srcOrd="2" destOrd="0" presId="urn:microsoft.com/office/officeart/2008/layout/VerticalCurvedList#1"/>
    <dgm:cxn modelId="{A9F577DF-FE1E-46BF-A60F-1507ACCCD3DE}" type="presParOf" srcId="{F3997296-375A-49A3-945C-CA5F6FD99CA5}" destId="{3D693B25-8FF0-4A3D-B272-3296BD4EAAC6}" srcOrd="3" destOrd="0" presId="urn:microsoft.com/office/officeart/2008/layout/VerticalCurvedList#1"/>
    <dgm:cxn modelId="{3D092821-0119-4D23-A596-5061FBD05B53}" type="presParOf" srcId="{818851C6-9C5D-4A30-A9E5-1FCFE2CB4DD3}" destId="{AA095C02-47AB-4592-ACF9-DEDD08F5A827}" srcOrd="1" destOrd="0" presId="urn:microsoft.com/office/officeart/2008/layout/VerticalCurvedList#1"/>
    <dgm:cxn modelId="{F314B2A7-AAF0-4376-A5AE-44DB6765F861}" type="presParOf" srcId="{818851C6-9C5D-4A30-A9E5-1FCFE2CB4DD3}" destId="{32207323-3DC4-4AEF-B676-6CC6FFDBB609}" srcOrd="2" destOrd="0" presId="urn:microsoft.com/office/officeart/2008/layout/VerticalCurvedList#1"/>
    <dgm:cxn modelId="{997F7CFA-886A-40FE-ADD9-1E403D799057}" type="presParOf" srcId="{32207323-3DC4-4AEF-B676-6CC6FFDBB609}" destId="{FAA119A0-E702-4239-B791-B4125BE60ABC}" srcOrd="0" destOrd="0" presId="urn:microsoft.com/office/officeart/2008/layout/VerticalCurvedList#1"/>
    <dgm:cxn modelId="{F193693C-3257-4C8F-BCB6-4044FFCC5762}" type="presParOf" srcId="{818851C6-9C5D-4A30-A9E5-1FCFE2CB4DD3}" destId="{123CC244-39A8-4454-94B5-464D7CF114DA}" srcOrd="3" destOrd="0" presId="urn:microsoft.com/office/officeart/2008/layout/VerticalCurvedList#1"/>
    <dgm:cxn modelId="{2951284E-667C-4D35-83E5-DF26173FC93B}" type="presParOf" srcId="{818851C6-9C5D-4A30-A9E5-1FCFE2CB4DD3}" destId="{AA45D581-E242-4542-81A6-902F326902F9}" srcOrd="4" destOrd="0" presId="urn:microsoft.com/office/officeart/2008/layout/VerticalCurvedList#1"/>
    <dgm:cxn modelId="{F47B8EF1-98BB-43B9-9710-9D96C4071BF9}" type="presParOf" srcId="{AA45D581-E242-4542-81A6-902F326902F9}" destId="{87DAC5AF-A9F8-4658-AC54-9B826A2303D9}" srcOrd="0" destOrd="0" presId="urn:microsoft.com/office/officeart/2008/layout/VerticalCurvedList#1"/>
    <dgm:cxn modelId="{BED86F93-5E4F-43E1-AD36-6218C6043649}" type="presParOf" srcId="{818851C6-9C5D-4A30-A9E5-1FCFE2CB4DD3}" destId="{243AE9AF-C3BA-41E2-94FA-F03B29F239F8}" srcOrd="5" destOrd="0" presId="urn:microsoft.com/office/officeart/2008/layout/VerticalCurvedList#1"/>
    <dgm:cxn modelId="{B1583A88-5E6D-484C-BF85-749D0B8CDBD1}" type="presParOf" srcId="{818851C6-9C5D-4A30-A9E5-1FCFE2CB4DD3}" destId="{9FCC75CB-B244-471C-82A6-2A26617BE7F1}" srcOrd="6" destOrd="0" presId="urn:microsoft.com/office/officeart/2008/layout/VerticalCurvedList#1"/>
    <dgm:cxn modelId="{573FFC50-09F3-4169-9613-26372C08B5F7}" type="presParOf" srcId="{9FCC75CB-B244-471C-82A6-2A26617BE7F1}" destId="{18932F0D-311C-4988-8074-F0019DF76C08}" srcOrd="0" destOrd="0" presId="urn:microsoft.com/office/officeart/2008/layout/VerticalCurvedList#1"/>
    <dgm:cxn modelId="{83599860-9D71-4111-9D4E-2A879DDB555D}" type="presParOf" srcId="{818851C6-9C5D-4A30-A9E5-1FCFE2CB4DD3}" destId="{28D00C45-FD0B-4DF9-B9DF-AB726898552C}" srcOrd="7" destOrd="0" presId="urn:microsoft.com/office/officeart/2008/layout/VerticalCurvedList#1"/>
    <dgm:cxn modelId="{2044BA97-E716-4ADB-815A-D81137CB3650}" type="presParOf" srcId="{818851C6-9C5D-4A30-A9E5-1FCFE2CB4DD3}" destId="{2B75172C-C9A6-4E91-A092-A31B7FDAC4FB}" srcOrd="8" destOrd="0" presId="urn:microsoft.com/office/officeart/2008/layout/VerticalCurvedList#1"/>
    <dgm:cxn modelId="{6CA34D36-7B90-48B6-9D2B-B5C44CB522FA}" type="presParOf" srcId="{2B75172C-C9A6-4E91-A092-A31B7FDAC4FB}" destId="{161614C2-2539-486B-A6B2-4340AA2A4076}" srcOrd="0" destOrd="0" presId="urn:microsoft.com/office/officeart/2008/layout/VerticalCurvedList#1"/>
    <dgm:cxn modelId="{6D4CF6E3-1310-44B7-A4D2-7D861930E1E3}" type="presParOf" srcId="{818851C6-9C5D-4A30-A9E5-1FCFE2CB4DD3}" destId="{F83BBD3B-46BA-4735-8179-42CC43DE0526}" srcOrd="9" destOrd="0" presId="urn:microsoft.com/office/officeart/2008/layout/VerticalCurvedList#1"/>
    <dgm:cxn modelId="{4CE615CB-7F29-4A61-8DCF-E44CD26F68B0}" type="presParOf" srcId="{818851C6-9C5D-4A30-A9E5-1FCFE2CB4DD3}" destId="{646C028A-2186-46F6-A612-81327E3E3F43}" srcOrd="10" destOrd="0" presId="urn:microsoft.com/office/officeart/2008/layout/VerticalCurvedList#1"/>
    <dgm:cxn modelId="{27595385-4166-4D06-AF61-BBF0DE2C473F}" type="presParOf" srcId="{646C028A-2186-46F6-A612-81327E3E3F43}" destId="{893907C0-7DCD-4180-BE0B-E09D2324DED0}" srcOrd="0" destOrd="0" presId="urn:microsoft.com/office/officeart/2008/layout/VerticalCurvedList#1"/>
    <dgm:cxn modelId="{9F5ED8D2-48D1-40CD-8BB8-0530233F9C5B}" type="presParOf" srcId="{818851C6-9C5D-4A30-A9E5-1FCFE2CB4DD3}" destId="{3B06443E-6760-488E-8ED7-D6040A4BE47C}" srcOrd="11" destOrd="0" presId="urn:microsoft.com/office/officeart/2008/layout/VerticalCurvedList#1"/>
    <dgm:cxn modelId="{C582D914-B8C2-4290-A0C8-A208F092D4BE}" type="presParOf" srcId="{818851C6-9C5D-4A30-A9E5-1FCFE2CB4DD3}" destId="{227D4E26-10DB-4D9D-9B6F-B6EC4329E6C4}" srcOrd="12" destOrd="0" presId="urn:microsoft.com/office/officeart/2008/layout/VerticalCurvedList#1"/>
    <dgm:cxn modelId="{F2E98299-EC68-423A-B010-4F8E2ADFD007}" type="presParOf" srcId="{227D4E26-10DB-4D9D-9B6F-B6EC4329E6C4}" destId="{1765C3A6-4AB8-439D-B6E6-6008B7393E0A}" srcOrd="0" destOrd="0" presId="urn:microsoft.com/office/officeart/2008/layout/VerticalCurvedList#1"/>
    <dgm:cxn modelId="{495B8421-5186-45B4-AAB4-FFA75DED2844}" type="presParOf" srcId="{818851C6-9C5D-4A30-A9E5-1FCFE2CB4DD3}" destId="{2D84C0E2-72E3-4882-87D4-3AB555841857}" srcOrd="13" destOrd="0" presId="urn:microsoft.com/office/officeart/2008/layout/VerticalCurvedList#1"/>
    <dgm:cxn modelId="{C969FE78-8711-42A0-A2F4-A6F0503CD81D}" type="presParOf" srcId="{818851C6-9C5D-4A30-A9E5-1FCFE2CB4DD3}" destId="{F99C5FE8-10BB-4F26-94F5-2CCAC1E6C29E}" srcOrd="14" destOrd="0" presId="urn:microsoft.com/office/officeart/2008/layout/VerticalCurvedList#1"/>
    <dgm:cxn modelId="{9EF85EA1-80AE-42F2-8D52-C9DF361ED7AD}" type="presParOf" srcId="{F99C5FE8-10BB-4F26-94F5-2CCAC1E6C29E}" destId="{4C426148-1FF7-43A5-B7F5-D34AF5F69924}" srcOrd="0" destOrd="0" presId="urn:microsoft.com/office/officeart/2008/layout/VerticalCurved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VerticalCurvedList#1">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ea typeface="+mn-ea"/>
              </a:defRPr>
            </a:lvl1pPr>
          </a:lstStyle>
          <a:p>
            <a:pPr>
              <a:defRPr/>
            </a:pPr>
            <a:fld id="{ACA3C91A-0DBE-4643-B008-BE94C08EC768}" type="datetimeFigureOut">
              <a:rPr lang="zh-CN" altLang="en-US"/>
              <a:t>2026/10/16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ea typeface="+mn-ea"/>
              </a:defRPr>
            </a:lvl1pPr>
          </a:lstStyle>
          <a:p>
            <a:pPr>
              <a:defRPr/>
            </a:pPr>
            <a:fld id="{6696EAD9-3615-495B-BF26-14F285B3A675}" type="slidenum">
              <a:rPr lang="zh-CN" altLang="en-US"/>
              <a:t>‹#›</a:t>
            </a:fld>
            <a:endParaRPr lang="zh-CN" altLang="en-US"/>
          </a:p>
        </p:txBody>
      </p:sp>
    </p:spTree>
    <p:extLst>
      <p:ext uri="{BB962C8B-B14F-4D97-AF65-F5344CB8AC3E}">
        <p14:creationId xmlns:p14="http://schemas.microsoft.com/office/powerpoint/2010/main" val="25581618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127E95D-4ED7-4174-A04C-6A3BDCC5B28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378874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85509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9D5DB2-B89B-4E7D-96B4-EA5B515225FF}" type="slidenum">
              <a:rPr lang="zh-CN" altLang="en-US" smtClean="0"/>
              <a:t>20</a:t>
            </a:fld>
            <a:endParaRPr lang="zh-CN" altLang="en-US"/>
          </a:p>
        </p:txBody>
      </p:sp>
    </p:spTree>
    <p:extLst>
      <p:ext uri="{BB962C8B-B14F-4D97-AF65-F5344CB8AC3E}">
        <p14:creationId xmlns:p14="http://schemas.microsoft.com/office/powerpoint/2010/main" val="563269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9D5DB2-B89B-4E7D-96B4-EA5B515225FF}" type="slidenum">
              <a:rPr lang="zh-CN" altLang="en-US" smtClean="0"/>
              <a:t>21</a:t>
            </a:fld>
            <a:endParaRPr lang="zh-CN" altLang="en-US"/>
          </a:p>
        </p:txBody>
      </p:sp>
    </p:spTree>
    <p:extLst>
      <p:ext uri="{BB962C8B-B14F-4D97-AF65-F5344CB8AC3E}">
        <p14:creationId xmlns:p14="http://schemas.microsoft.com/office/powerpoint/2010/main" val="647565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9D5DB2-B89B-4E7D-96B4-EA5B515225FF}" type="slidenum">
              <a:rPr lang="zh-CN" altLang="en-US" smtClean="0"/>
              <a:t>23</a:t>
            </a:fld>
            <a:endParaRPr lang="zh-CN" altLang="en-US"/>
          </a:p>
        </p:txBody>
      </p:sp>
    </p:spTree>
    <p:extLst>
      <p:ext uri="{BB962C8B-B14F-4D97-AF65-F5344CB8AC3E}">
        <p14:creationId xmlns:p14="http://schemas.microsoft.com/office/powerpoint/2010/main" val="2168695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9D5DB2-B89B-4E7D-96B4-EA5B515225FF}" type="slidenum">
              <a:rPr lang="zh-CN" altLang="en-US" smtClean="0"/>
              <a:t>24</a:t>
            </a:fld>
            <a:endParaRPr lang="zh-CN" altLang="en-US"/>
          </a:p>
        </p:txBody>
      </p:sp>
    </p:spTree>
    <p:extLst>
      <p:ext uri="{BB962C8B-B14F-4D97-AF65-F5344CB8AC3E}">
        <p14:creationId xmlns:p14="http://schemas.microsoft.com/office/powerpoint/2010/main" val="3794827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9D5DB2-B89B-4E7D-96B4-EA5B515225FF}" type="slidenum">
              <a:rPr lang="zh-CN" altLang="en-US" smtClean="0"/>
              <a:t>25</a:t>
            </a:fld>
            <a:endParaRPr lang="zh-CN" altLang="en-US"/>
          </a:p>
        </p:txBody>
      </p:sp>
    </p:spTree>
    <p:extLst>
      <p:ext uri="{BB962C8B-B14F-4D97-AF65-F5344CB8AC3E}">
        <p14:creationId xmlns:p14="http://schemas.microsoft.com/office/powerpoint/2010/main" val="192386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101850" y="1001713"/>
            <a:ext cx="8899525" cy="50069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B9D5DB2-B89B-4E7D-96B4-EA5B515225F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sym typeface="Helvetica Neue"/>
              </a:rPr>
              <a:t>26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sym typeface="Helvetica Neue"/>
            </a:endParaRPr>
          </a:p>
        </p:txBody>
      </p:sp>
    </p:spTree>
    <p:extLst>
      <p:ext uri="{BB962C8B-B14F-4D97-AF65-F5344CB8AC3E}">
        <p14:creationId xmlns:p14="http://schemas.microsoft.com/office/powerpoint/2010/main" val="3212841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幻灯片图像占位符 1"/>
          <p:cNvSpPr>
            <a:spLocks noGrp="1" noRot="1" noChangeAspect="1"/>
          </p:cNvSpPr>
          <p:nvPr>
            <p:ph type="sldImg"/>
          </p:nvPr>
        </p:nvSpPr>
        <p:spPr>
          <a:xfrm>
            <a:off x="2697163" y="509588"/>
            <a:ext cx="4532312" cy="2549525"/>
          </a:xfrm>
        </p:spPr>
      </p:sp>
      <p:sp>
        <p:nvSpPr>
          <p:cNvPr id="1048627" name="备注占位符 2"/>
          <p:cNvSpPr>
            <a:spLocks noGrp="1"/>
          </p:cNvSpPr>
          <p:nvPr>
            <p:ph type="body" idx="1"/>
          </p:nvPr>
        </p:nvSpPr>
        <p:spPr>
          <a:xfrm>
            <a:off x="991066" y="3224429"/>
            <a:ext cx="7932934" cy="3054887"/>
          </a:xfrm>
          <a:prstGeom prst="rect">
            <a:avLst/>
          </a:prstGeom>
        </p:spPr>
        <p:txBody>
          <a:bodyPr lIns="88115" tIns="44058" rIns="88115" bIns="44058"/>
          <a:lstStyle/>
          <a:p>
            <a:endParaRPr lang="zh-CN" altLang="en-US" dirty="0"/>
          </a:p>
        </p:txBody>
      </p:sp>
      <p:sp>
        <p:nvSpPr>
          <p:cNvPr id="1048628" name="日期占位符 3"/>
          <p:cNvSpPr>
            <a:spLocks noGrp="1"/>
          </p:cNvSpPr>
          <p:nvPr>
            <p:ph type="dt"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81E7E3B-AC7A-4AE3-8B0E-9CE004B50CD2}" type="datetime1">
              <a:rPr kumimoji="0" lang="zh-CN" altLang="en-US" sz="18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sym typeface="Helvetica Neue"/>
              </a:rPr>
              <a:t>2026/10/16</a:t>
            </a:fld>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Helvetica Neue"/>
            </a:endParaRPr>
          </a:p>
        </p:txBody>
      </p:sp>
    </p:spTree>
    <p:extLst>
      <p:ext uri="{BB962C8B-B14F-4D97-AF65-F5344CB8AC3E}">
        <p14:creationId xmlns:p14="http://schemas.microsoft.com/office/powerpoint/2010/main" val="1082079562"/>
      </p:ext>
    </p:extLst>
  </p:cSld>
  <p:clrMapOvr>
    <a:overrideClrMapping bg1="dk1" tx1="dk1" bg2="dk1" tx2="dk1" accent1="dk1" accent2="dk1" accent3="dk1" accent4="dk1" accent5="dk1" accent6="dk1" hlink="dk1" folHlink="dk1"/>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63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zh-CN" altLang="en-US" dirty="0"/>
              <a:t>突出私募基因，深谙绝对收益</a:t>
            </a:r>
            <a:r>
              <a:rPr lang="en-US" altLang="zh-CN" dirty="0"/>
              <a:t>+</a:t>
            </a:r>
            <a:r>
              <a:rPr lang="zh-CN" altLang="en-US" dirty="0"/>
              <a:t>权益私募金牛</a:t>
            </a:r>
          </a:p>
        </p:txBody>
      </p:sp>
      <p:sp>
        <p:nvSpPr>
          <p:cNvPr id="563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3CFE7EE-A07A-4C03-AAB1-F0B787D1BC93}" type="slidenum">
              <a:rPr kumimoji="0" lang="zh-CN" altLang="en-US" sz="1200" b="0" i="0" u="none" strike="noStrike" kern="1200" cap="none" spc="0" normalizeH="0" baseline="0" noProof="0">
                <a:ln>
                  <a:noFill/>
                </a:ln>
                <a:solidFill>
                  <a:srgbClr val="000000"/>
                </a:solidFill>
                <a:effectLst/>
                <a:uLnTx/>
                <a:uFillTx/>
                <a:latin typeface="等线" panose="02010600030101010101" charset="-122"/>
                <a:ea typeface="等线" panose="02010600030101010101"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zh-CN" altLang="en-US" sz="1200" b="0" i="0" u="none" strike="noStrike" kern="120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325858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96EAD9-3615-495B-BF26-14F285B3A67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9244531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xfrm>
            <a:off x="-2101850" y="1001713"/>
            <a:ext cx="8899525" cy="5006975"/>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45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645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9CE563E-739B-4528-9706-C459D1A8F35A}" type="slidenum">
              <a:rPr kumimoji="0" lang="zh-CN" altLang="en-US" sz="12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rPr>
              <a:t>32</a:t>
            </a:fld>
            <a:endParaRPr kumimoji="0" lang="zh-CN" altLang="en-US" sz="12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424702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重点介绍旭冉</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D02CC1-9764-4931-87F9-C452F482E8C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sym typeface="Helvetica Neue"/>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sym typeface="Helvetica Neue"/>
            </a:endParaRPr>
          </a:p>
        </p:txBody>
      </p:sp>
    </p:spTree>
    <p:extLst>
      <p:ext uri="{BB962C8B-B14F-4D97-AF65-F5344CB8AC3E}">
        <p14:creationId xmlns:p14="http://schemas.microsoft.com/office/powerpoint/2010/main" val="1969341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突出旭冉</a:t>
            </a:r>
            <a:r>
              <a:rPr lang="en-US" altLang="zh-CN" dirty="0"/>
              <a:t>24</a:t>
            </a:r>
            <a:r>
              <a:rPr lang="zh-CN" altLang="en-US" dirty="0"/>
              <a:t>年加盟后，权益专户规模大幅增长，忠实的个人客户</a:t>
            </a:r>
            <a:r>
              <a:rPr lang="en-US" altLang="zh-CN" dirty="0"/>
              <a:t>+</a:t>
            </a:r>
            <a:r>
              <a:rPr lang="zh-CN" altLang="en-US" dirty="0"/>
              <a:t>机构客户，口口相传的口碑带来新客户的增长，客户信任度来自好的客户体验</a:t>
            </a: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96EAD9-3615-495B-BF26-14F285B3A67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2850573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00366C"/>
        </a:solidFill>
        <a:effectLst/>
      </p:bgPr>
    </p:bg>
    <p:spTree>
      <p:nvGrpSpPr>
        <p:cNvPr id="1" name=""/>
        <p:cNvGrpSpPr/>
        <p:nvPr/>
      </p:nvGrpSpPr>
      <p:grpSpPr>
        <a:xfrm>
          <a:off x="0" y="0"/>
          <a:ext cx="0" cy="0"/>
          <a:chOff x="0" y="0"/>
          <a:chExt cx="0" cy="0"/>
        </a:xfrm>
      </p:grpSpPr>
      <p:pic>
        <p:nvPicPr>
          <p:cNvPr id="4" name="图片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5263" y="5794375"/>
            <a:ext cx="4148137" cy="100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8"/>
          <p:cNvSpPr txBox="1"/>
          <p:nvPr userDrawn="1"/>
        </p:nvSpPr>
        <p:spPr>
          <a:xfrm>
            <a:off x="10161284" y="6356352"/>
            <a:ext cx="2222869"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a:srgbClr val="000000"/>
          </a:fontRef>
        </p:style>
        <p:txBody>
          <a:bodyPr spcFirstLastPara="1" lIns="50800" tIns="50800" rIns="50800" bIns="50800" spcCol="38100" anchor="ctr">
            <a:spAutoFit/>
          </a:bodyPr>
          <a:lstStyle/>
          <a:p>
            <a:pPr algn="ctr" defTabSz="825500" eaLnBrk="1" fontAlgn="auto">
              <a:spcBef>
                <a:spcPts val="0"/>
              </a:spcBef>
              <a:spcAft>
                <a:spcPts val="0"/>
              </a:spcAft>
              <a:defRPr/>
            </a:pPr>
            <a:r>
              <a:rPr lang="zh-CN" altLang="en-US" sz="1100" b="1" dirty="0">
                <a:solidFill>
                  <a:schemeClr val="bg1"/>
                </a:solidFill>
                <a:latin typeface="Helvetica Neue" panose="02000503000000020004"/>
                <a:ea typeface="Helvetica Neue" panose="02000503000000020004"/>
                <a:cs typeface="Helvetica Neue" panose="02000503000000020004"/>
                <a:sym typeface="Helvetica Neue" panose="02000503000000020004"/>
              </a:rPr>
              <a:t>内部培训材料，请勿外传</a:t>
            </a:r>
          </a:p>
        </p:txBody>
      </p:sp>
      <p:pic>
        <p:nvPicPr>
          <p:cNvPr id="6" name="图片 6"/>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98550" y="-617538"/>
            <a:ext cx="13290550" cy="747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0657" name="标题 1"/>
          <p:cNvSpPr>
            <a:spLocks noGrp="1"/>
          </p:cNvSpPr>
          <p:nvPr>
            <p:ph type="ctrTitle"/>
          </p:nvPr>
        </p:nvSpPr>
        <p:spPr>
          <a:xfrm>
            <a:off x="275771" y="115888"/>
            <a:ext cx="9144000" cy="2387600"/>
          </a:xfrm>
        </p:spPr>
        <p:txBody>
          <a:bodyPr anchor="b">
            <a:normAutofit/>
          </a:bodyPr>
          <a:lstStyle>
            <a:lvl1pPr algn="ctr">
              <a:defRPr sz="5400">
                <a:solidFill>
                  <a:schemeClr val="bg1"/>
                </a:solidFill>
              </a:defRPr>
            </a:lvl1pPr>
          </a:lstStyle>
          <a:p>
            <a:r>
              <a:rPr lang="zh-CN" altLang="en-US" dirty="0"/>
              <a:t>单击此处编辑母版标题样式</a:t>
            </a:r>
          </a:p>
        </p:txBody>
      </p:sp>
      <p:sp>
        <p:nvSpPr>
          <p:cNvPr id="1050658" name="副标题 2"/>
          <p:cNvSpPr>
            <a:spLocks noGrp="1"/>
          </p:cNvSpPr>
          <p:nvPr>
            <p:ph type="subTitle" idx="1" hasCustomPrompt="1"/>
          </p:nvPr>
        </p:nvSpPr>
        <p:spPr>
          <a:xfrm>
            <a:off x="-1901372" y="2680154"/>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优秀同行">
    <p:spTree>
      <p:nvGrpSpPr>
        <p:cNvPr id="1" name=""/>
        <p:cNvGrpSpPr/>
        <p:nvPr/>
      </p:nvGrpSpPr>
      <p:grpSpPr>
        <a:xfrm>
          <a:off x="0" y="0"/>
          <a:ext cx="0" cy="0"/>
          <a:chOff x="0" y="0"/>
          <a:chExt cx="0" cy="0"/>
        </a:xfrm>
      </p:grpSpPr>
      <p:sp>
        <p:nvSpPr>
          <p:cNvPr id="3" name="灯片编号占位符 5"/>
          <p:cNvSpPr txBox="1"/>
          <p:nvPr userDrawn="1"/>
        </p:nvSpPr>
        <p:spPr>
          <a:xfrm>
            <a:off x="11414125" y="6380163"/>
            <a:ext cx="555625" cy="365125"/>
          </a:xfrm>
          <a:prstGeom prst="rect">
            <a:avLst/>
          </a:prstGeom>
        </p:spPr>
        <p:txBody>
          <a:bodyPr/>
          <a:lstStyle>
            <a:lvl1pPr fontAlgn="auto">
              <a:spcBef>
                <a:spcPts val="0"/>
              </a:spcBef>
              <a:spcAft>
                <a:spcPts val="0"/>
              </a:spcAft>
              <a:defRPr sz="1500">
                <a:solidFill>
                  <a:srgbClr val="003565"/>
                </a:solidFill>
                <a:latin typeface="微软雅黑" panose="020B0503020204020204" pitchFamily="34" charset="-122"/>
                <a:ea typeface="微软雅黑" panose="020B0503020204020204" pitchFamily="34" charset="-122"/>
              </a:defRPr>
            </a:lvl1pPr>
          </a:lstStyle>
          <a:p>
            <a:pPr defTabSz="914400" eaLnBrk="1" hangingPunct="1">
              <a:defRPr/>
            </a:pPr>
            <a:fld id="{E8B50807-CA78-4C69-BDA5-269CE4A5C5A2}" type="slidenum">
              <a:rPr lang="zh-CN" altLang="en-US" smtClean="0"/>
              <a:t>‹#›</a:t>
            </a:fld>
            <a:endParaRPr lang="zh-CN" altLang="en-US" dirty="0"/>
          </a:p>
        </p:txBody>
      </p:sp>
      <p:sp>
        <p:nvSpPr>
          <p:cNvPr id="4" name="矩形 13"/>
          <p:cNvSpPr>
            <a:spLocks noChangeArrowheads="1"/>
          </p:cNvSpPr>
          <p:nvPr userDrawn="1"/>
        </p:nvSpPr>
        <p:spPr bwMode="auto">
          <a:xfrm>
            <a:off x="10101263" y="6456363"/>
            <a:ext cx="131286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defTabSz="914400" eaLnBrk="1" hangingPunct="1"/>
            <a:r>
              <a:rPr lang="zh-CN" altLang="en-US" sz="800">
                <a:solidFill>
                  <a:srgbClr val="000000"/>
                </a:solidFill>
              </a:rPr>
              <a:t>内部培训资料，请勿外传</a:t>
            </a:r>
          </a:p>
        </p:txBody>
      </p:sp>
      <p:sp>
        <p:nvSpPr>
          <p:cNvPr id="5" name="íṥľîḍè"/>
          <p:cNvSpPr/>
          <p:nvPr userDrawn="1"/>
        </p:nvSpPr>
        <p:spPr>
          <a:xfrm>
            <a:off x="0" y="438150"/>
            <a:ext cx="1279525" cy="582613"/>
          </a:xfrm>
          <a:prstGeom prst="rect">
            <a:avLst/>
          </a:pr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3000" dirty="0"/>
          </a:p>
        </p:txBody>
      </p:sp>
      <p:pic>
        <p:nvPicPr>
          <p:cNvPr id="6" name="图片 30"/>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48775" y="284163"/>
            <a:ext cx="272097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33"/>
          <p:cNvPicPr>
            <a:picLocks noChangeAspect="1"/>
          </p:cNvPicPr>
          <p:nvPr userDrawn="1"/>
        </p:nvPicPr>
        <p:blipFill>
          <a:blip r:embed="rId3" cstate="print">
            <a:duotone>
              <a:prstClr val="black"/>
              <a:schemeClr val="tx2">
                <a:tint val="45000"/>
                <a:satMod val="400000"/>
              </a:schemeClr>
            </a:duotone>
          </a:blip>
          <a:stretch>
            <a:fillRect/>
          </a:stretch>
        </p:blipFill>
        <p:spPr>
          <a:xfrm>
            <a:off x="-1104312" y="-618060"/>
            <a:ext cx="13290774" cy="7476060"/>
          </a:xfrm>
          <a:prstGeom prst="rect">
            <a:avLst/>
          </a:prstGeom>
        </p:spPr>
      </p:pic>
      <p:sp>
        <p:nvSpPr>
          <p:cNvPr id="1050401" name="íṣ1íḑè"/>
          <p:cNvSpPr>
            <a:spLocks noGrp="1"/>
          </p:cNvSpPr>
          <p:nvPr>
            <p:ph type="title"/>
          </p:nvPr>
        </p:nvSpPr>
        <p:spPr>
          <a:xfrm>
            <a:off x="1355626" y="415917"/>
            <a:ext cx="3586843" cy="535531"/>
          </a:xfrm>
        </p:spPr>
        <p:txBody>
          <a:bodyPr>
            <a:noAutofit/>
          </a:bodyPr>
          <a:lstStyle>
            <a:lvl1pPr>
              <a:defRPr sz="3200" b="1">
                <a:solidFill>
                  <a:srgbClr val="00366C"/>
                </a:solidFill>
                <a:latin typeface="+mj-lt"/>
              </a:defRPr>
            </a:lvl1pPr>
          </a:lstStyle>
          <a:p>
            <a:r>
              <a:rPr lang="zh-CN" altLang="en-US"/>
              <a:t>单击此处编辑母版标题样式</a:t>
            </a:r>
            <a:endParaRPr lang="zh-CN" altLang="en-US"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线条"/>
          <p:cNvSpPr>
            <a:spLocks noChangeShapeType="1"/>
          </p:cNvSpPr>
          <p:nvPr userDrawn="1"/>
        </p:nvSpPr>
        <p:spPr bwMode="auto">
          <a:xfrm>
            <a:off x="569913" y="6215063"/>
            <a:ext cx="11099800" cy="0"/>
          </a:xfrm>
          <a:prstGeom prst="line">
            <a:avLst/>
          </a:prstGeom>
          <a:noFill/>
          <a:ln w="25400">
            <a:solidFill>
              <a:srgbClr val="1C3665"/>
            </a:solidFill>
            <a:miter lim="400000"/>
          </a:ln>
          <a:extLst>
            <a:ext uri="{909E8E84-426E-40DD-AFC4-6F175D3DCCD1}">
              <a14:hiddenFill xmlns:a14="http://schemas.microsoft.com/office/drawing/2010/main">
                <a:noFill/>
              </a14:hiddenFill>
            </a:ext>
          </a:extLst>
        </p:spPr>
        <p:txBody>
          <a:bodyPr lIns="0" tIns="0" rIns="0" bIns="0" anchor="ctr"/>
          <a:lstStyle/>
          <a:p>
            <a:endParaRPr lang="zh-CN" altLang="en-US"/>
          </a:p>
        </p:txBody>
      </p:sp>
      <p:pic>
        <p:nvPicPr>
          <p:cNvPr id="5" name="图片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36038" y="215900"/>
            <a:ext cx="27225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a:spLocks noChangeArrowheads="1"/>
          </p:cNvSpPr>
          <p:nvPr userDrawn="1"/>
        </p:nvSpPr>
        <p:spPr bwMode="auto">
          <a:xfrm>
            <a:off x="569913" y="6356350"/>
            <a:ext cx="14541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defTabSz="914400" eaLnBrk="1" hangingPunct="1"/>
            <a:r>
              <a:rPr lang="zh-CN" altLang="en-US" sz="900" b="1">
                <a:solidFill>
                  <a:srgbClr val="00366C"/>
                </a:solidFill>
              </a:rPr>
              <a:t>内部培训资料，请勿外传</a:t>
            </a:r>
          </a:p>
        </p:txBody>
      </p:sp>
      <p:sp>
        <p:nvSpPr>
          <p:cNvPr id="7" name="íṥľîḍè"/>
          <p:cNvSpPr/>
          <p:nvPr userDrawn="1"/>
        </p:nvSpPr>
        <p:spPr>
          <a:xfrm>
            <a:off x="0" y="198438"/>
            <a:ext cx="677863" cy="534987"/>
          </a:xfrm>
          <a:prstGeom prst="rect">
            <a:avLst/>
          </a:pr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3000" dirty="0"/>
          </a:p>
        </p:txBody>
      </p:sp>
      <p:sp>
        <p:nvSpPr>
          <p:cNvPr id="1048740" name="标题 1"/>
          <p:cNvSpPr>
            <a:spLocks noGrp="1"/>
          </p:cNvSpPr>
          <p:nvPr>
            <p:ph type="title"/>
          </p:nvPr>
        </p:nvSpPr>
        <p:spPr>
          <a:xfrm>
            <a:off x="678094" y="201581"/>
            <a:ext cx="10515600" cy="448994"/>
          </a:xfrm>
        </p:spPr>
        <p:txBody>
          <a:bodyPr>
            <a:normAutofit/>
          </a:bodyPr>
          <a:lstStyle>
            <a:lvl1pPr>
              <a:defRPr sz="2800" b="1" baseline="0">
                <a:solidFill>
                  <a:srgbClr val="00366C"/>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048741" name="副标题 2"/>
          <p:cNvSpPr>
            <a:spLocks noGrp="1"/>
          </p:cNvSpPr>
          <p:nvPr>
            <p:ph type="subTitle" idx="1"/>
          </p:nvPr>
        </p:nvSpPr>
        <p:spPr>
          <a:xfrm>
            <a:off x="569341" y="906083"/>
            <a:ext cx="11099801" cy="4680520"/>
          </a:xfrm>
          <a:prstGeom prst="rect">
            <a:avLst/>
          </a:prstGeom>
        </p:spPr>
        <p:txBody>
          <a:bodyPr>
            <a:normAutofit/>
          </a:bodyPr>
          <a:lstStyle>
            <a:lvl1pPr marL="285750" marR="0" indent="-285750" algn="l" defTabSz="914400" rtl="0" eaLnBrk="1" fontAlgn="base" latinLnBrk="0" hangingPunct="1">
              <a:lnSpc>
                <a:spcPct val="150000"/>
              </a:lnSpc>
              <a:spcBef>
                <a:spcPct val="20000"/>
              </a:spcBef>
              <a:spcAft>
                <a:spcPct val="0"/>
              </a:spcAft>
              <a:buClrTx/>
              <a:buSzTx/>
              <a:buFont typeface="Wingdings" panose="05000000000000000000" pitchFamily="2" charset="2"/>
              <a:buChar char="n"/>
              <a:defRPr sz="1400">
                <a:solidFill>
                  <a:schemeClr val="tx1"/>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8" name="页脚占位符 38"/>
          <p:cNvSpPr>
            <a:spLocks noGrp="1"/>
          </p:cNvSpPr>
          <p:nvPr>
            <p:ph type="ftr" sz="quarter" idx="10"/>
          </p:nvPr>
        </p:nvSpPr>
        <p:spPr/>
        <p:txBody>
          <a:bodyPr/>
          <a:lstStyle>
            <a:lvl1pPr algn="l">
              <a:defRPr sz="800" dirty="0">
                <a:solidFill>
                  <a:schemeClr val="tx1"/>
                </a:solidFill>
              </a:defRPr>
            </a:lvl1pPr>
          </a:lstStyle>
          <a:p>
            <a:pPr>
              <a:defRPr/>
            </a:pPr>
            <a:endParaRPr lang="zh-CN" altLang="en-US"/>
          </a:p>
        </p:txBody>
      </p:sp>
      <p:sp>
        <p:nvSpPr>
          <p:cNvPr id="9" name="灯片编号占位符 39"/>
          <p:cNvSpPr>
            <a:spLocks noGrp="1"/>
          </p:cNvSpPr>
          <p:nvPr>
            <p:ph type="sldNum" sz="quarter" idx="11"/>
          </p:nvPr>
        </p:nvSpPr>
        <p:spPr>
          <a:xfrm>
            <a:off x="8926513" y="6356350"/>
            <a:ext cx="2743200" cy="365125"/>
          </a:xfrm>
        </p:spPr>
        <p:txBody>
          <a:bodyPr/>
          <a:lstStyle>
            <a:lvl1pPr>
              <a:defRPr sz="1800" smtClean="0">
                <a:solidFill>
                  <a:srgbClr val="203864"/>
                </a:solidFill>
              </a:defRPr>
            </a:lvl1pPr>
          </a:lstStyle>
          <a:p>
            <a:pPr>
              <a:defRPr/>
            </a:pPr>
            <a:fld id="{0F89DDD1-F981-4DD3-AF74-DF8A39E76E75}" type="slidenum">
              <a:rPr lang="zh-CN" altLang="en-US"/>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9_优秀同行">
    <p:spTree>
      <p:nvGrpSpPr>
        <p:cNvPr id="1" name=""/>
        <p:cNvGrpSpPr/>
        <p:nvPr/>
      </p:nvGrpSpPr>
      <p:grpSpPr>
        <a:xfrm>
          <a:off x="0" y="0"/>
          <a:ext cx="0" cy="0"/>
          <a:chOff x="0" y="0"/>
          <a:chExt cx="0" cy="0"/>
        </a:xfrm>
      </p:grpSpPr>
      <p:pic>
        <p:nvPicPr>
          <p:cNvPr id="6" name="图片 33"/>
          <p:cNvPicPr>
            <a:picLocks noChangeAspect="1"/>
          </p:cNvPicPr>
          <p:nvPr userDrawn="1"/>
        </p:nvPicPr>
        <p:blipFill>
          <a:blip r:embed="rId2" cstate="print">
            <a:duotone>
              <a:prstClr val="black"/>
              <a:schemeClr val="tx2">
                <a:tint val="45000"/>
                <a:satMod val="400000"/>
              </a:schemeClr>
            </a:duotone>
          </a:blip>
          <a:stretch>
            <a:fillRect/>
          </a:stretch>
        </p:blipFill>
        <p:spPr>
          <a:xfrm>
            <a:off x="-1098774" y="-618060"/>
            <a:ext cx="13290774" cy="7476060"/>
          </a:xfrm>
          <a:prstGeom prst="rect">
            <a:avLst/>
          </a:prstGeom>
        </p:spPr>
      </p:pic>
      <p:sp>
        <p:nvSpPr>
          <p:cNvPr id="4" name="íṥľîḍè"/>
          <p:cNvSpPr/>
          <p:nvPr userDrawn="1"/>
        </p:nvSpPr>
        <p:spPr>
          <a:xfrm>
            <a:off x="0" y="438150"/>
            <a:ext cx="1279525" cy="582613"/>
          </a:xfrm>
          <a:prstGeom prst="rect">
            <a:avLst/>
          </a:pr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914400" eaLnBrk="1" fontAlgn="auto" hangingPunct="1">
              <a:spcBef>
                <a:spcPts val="0"/>
              </a:spcBef>
              <a:spcAft>
                <a:spcPts val="0"/>
              </a:spcAft>
              <a:defRPr/>
            </a:pPr>
            <a:endParaRPr lang="en-GB">
              <a:solidFill>
                <a:prstClr val="white"/>
              </a:solidFill>
            </a:endParaRPr>
          </a:p>
        </p:txBody>
      </p:sp>
      <p:pic>
        <p:nvPicPr>
          <p:cNvPr id="5" name="图片 30"/>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39763" y="6254750"/>
            <a:ext cx="27209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形 1"/>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256713" y="438150"/>
            <a:ext cx="23971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0302" name="íṣ1íḑè"/>
          <p:cNvSpPr>
            <a:spLocks noGrp="1"/>
          </p:cNvSpPr>
          <p:nvPr>
            <p:ph type="title"/>
          </p:nvPr>
        </p:nvSpPr>
        <p:spPr>
          <a:xfrm>
            <a:off x="1355626" y="415917"/>
            <a:ext cx="3586843" cy="535531"/>
          </a:xfrm>
        </p:spPr>
        <p:txBody>
          <a:bodyPr>
            <a:noAutofit/>
          </a:bodyPr>
          <a:lstStyle>
            <a:lvl1pPr>
              <a:defRPr sz="3200" b="1">
                <a:solidFill>
                  <a:srgbClr val="00366C"/>
                </a:solidFill>
                <a:latin typeface="+mj-lt"/>
              </a:defRPr>
            </a:lvl1pPr>
          </a:lstStyle>
          <a:p>
            <a:r>
              <a:rPr lang="zh-CN" altLang="en-US" dirty="0"/>
              <a:t>单击此处编辑母版标题样式</a:t>
            </a:r>
          </a:p>
        </p:txBody>
      </p:sp>
      <p:sp>
        <p:nvSpPr>
          <p:cNvPr id="2" name="矩形 1">
            <a:extLst>
              <a:ext uri="{FF2B5EF4-FFF2-40B4-BE49-F238E27FC236}">
                <a16:creationId xmlns:a16="http://schemas.microsoft.com/office/drawing/2014/main" xmlns="" id="{50958101-2AF2-7CDD-A639-F9E982DB7D4E}"/>
              </a:ext>
            </a:extLst>
          </p:cNvPr>
          <p:cNvSpPr>
            <a:spLocks noChangeArrowheads="1"/>
          </p:cNvSpPr>
          <p:nvPr userDrawn="1"/>
        </p:nvSpPr>
        <p:spPr bwMode="auto">
          <a:xfrm>
            <a:off x="10500678" y="6483982"/>
            <a:ext cx="13128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defTabSz="914400" eaLnBrk="1" hangingPunct="1"/>
            <a:r>
              <a:rPr lang="zh-CN" altLang="en-US" sz="800" b="1" dirty="0">
                <a:solidFill>
                  <a:srgbClr val="00366C"/>
                </a:solidFill>
              </a:rPr>
              <a:t>内部培训资料，请勿外传</a:t>
            </a:r>
          </a:p>
        </p:txBody>
      </p:sp>
      <p:sp>
        <p:nvSpPr>
          <p:cNvPr id="9" name="灯片编号占位符 39">
            <a:extLst>
              <a:ext uri="{FF2B5EF4-FFF2-40B4-BE49-F238E27FC236}">
                <a16:creationId xmlns:a16="http://schemas.microsoft.com/office/drawing/2014/main" xmlns="" id="{BD22B792-271D-BD36-604A-66DF1701CEF0}"/>
              </a:ext>
            </a:extLst>
          </p:cNvPr>
          <p:cNvSpPr>
            <a:spLocks noGrp="1"/>
          </p:cNvSpPr>
          <p:nvPr>
            <p:ph type="sldNum" sz="quarter" idx="11"/>
          </p:nvPr>
        </p:nvSpPr>
        <p:spPr>
          <a:xfrm>
            <a:off x="11003280" y="6249193"/>
            <a:ext cx="665862" cy="307817"/>
          </a:xfrm>
        </p:spPr>
        <p:txBody>
          <a:bodyPr/>
          <a:lstStyle>
            <a:lvl1pPr algn="ctr" defTabSz="914400">
              <a:defRPr b="1" smtClean="0">
                <a:solidFill>
                  <a:srgbClr val="002060"/>
                </a:solidFill>
              </a:defRPr>
            </a:lvl1pPr>
          </a:lstStyle>
          <a:p>
            <a:pPr>
              <a:defRPr/>
            </a:pPr>
            <a:fld id="{6E91549D-98B7-4077-996F-05BE1B29F039}" type="slidenum">
              <a:rPr lang="zh-CN" altLang="en-US" smtClean="0"/>
              <a:t>‹#›</a:t>
            </a:fld>
            <a:endParaRPr lang="zh-CN" altLang="en-US"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6_仅标题">
    <p:spTree>
      <p:nvGrpSpPr>
        <p:cNvPr id="1" name=""/>
        <p:cNvGrpSpPr/>
        <p:nvPr/>
      </p:nvGrpSpPr>
      <p:grpSpPr>
        <a:xfrm>
          <a:off x="0" y="0"/>
          <a:ext cx="0" cy="0"/>
          <a:chOff x="0" y="0"/>
          <a:chExt cx="0" cy="0"/>
        </a:xfrm>
      </p:grpSpPr>
      <p:sp>
        <p:nvSpPr>
          <p:cNvPr id="4" name="线条"/>
          <p:cNvSpPr>
            <a:spLocks noChangeShapeType="1"/>
          </p:cNvSpPr>
          <p:nvPr userDrawn="1"/>
        </p:nvSpPr>
        <p:spPr bwMode="auto">
          <a:xfrm>
            <a:off x="569913" y="6215063"/>
            <a:ext cx="11099800" cy="0"/>
          </a:xfrm>
          <a:prstGeom prst="line">
            <a:avLst/>
          </a:prstGeom>
          <a:noFill/>
          <a:ln w="25400">
            <a:solidFill>
              <a:srgbClr val="1C3665"/>
            </a:solidFill>
            <a:miter lim="400000"/>
          </a:ln>
          <a:extLst>
            <a:ext uri="{909E8E84-426E-40DD-AFC4-6F175D3DCCD1}">
              <a14:hiddenFill xmlns:a14="http://schemas.microsoft.com/office/drawing/2010/main">
                <a:noFill/>
              </a14:hiddenFill>
            </a:ext>
          </a:extLst>
        </p:spPr>
        <p:txBody>
          <a:bodyPr lIns="0" tIns="0" rIns="0" bIns="0" anchor="ctr"/>
          <a:lstStyle/>
          <a:p>
            <a:endParaRPr lang="zh-CN" altLang="en-US"/>
          </a:p>
        </p:txBody>
      </p:sp>
      <p:pic>
        <p:nvPicPr>
          <p:cNvPr id="5" name="图片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9913" y="6345238"/>
            <a:ext cx="272097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a:spLocks noChangeArrowheads="1"/>
          </p:cNvSpPr>
          <p:nvPr userDrawn="1"/>
        </p:nvSpPr>
        <p:spPr bwMode="auto">
          <a:xfrm>
            <a:off x="10500678" y="6611955"/>
            <a:ext cx="13128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defTabSz="914400" eaLnBrk="1" hangingPunct="1"/>
            <a:r>
              <a:rPr lang="zh-CN" altLang="en-US" sz="800" b="1" dirty="0">
                <a:solidFill>
                  <a:srgbClr val="00366C"/>
                </a:solidFill>
              </a:rPr>
              <a:t>内部培训资料，请勿外传</a:t>
            </a:r>
          </a:p>
        </p:txBody>
      </p:sp>
      <p:sp>
        <p:nvSpPr>
          <p:cNvPr id="7" name="íṥľîḍè"/>
          <p:cNvSpPr/>
          <p:nvPr userDrawn="1"/>
        </p:nvSpPr>
        <p:spPr>
          <a:xfrm>
            <a:off x="0" y="198438"/>
            <a:ext cx="677863" cy="534987"/>
          </a:xfrm>
          <a:prstGeom prst="rect">
            <a:avLst/>
          </a:pr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3000"/>
          </a:p>
        </p:txBody>
      </p:sp>
      <p:pic>
        <p:nvPicPr>
          <p:cNvPr id="8" name="图形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426575" y="239713"/>
            <a:ext cx="2243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1538" name="标题 1"/>
          <p:cNvSpPr>
            <a:spLocks noGrp="1"/>
          </p:cNvSpPr>
          <p:nvPr>
            <p:ph type="title"/>
          </p:nvPr>
        </p:nvSpPr>
        <p:spPr>
          <a:xfrm>
            <a:off x="678094" y="201581"/>
            <a:ext cx="10515600" cy="448994"/>
          </a:xfrm>
        </p:spPr>
        <p:txBody>
          <a:bodyPr>
            <a:normAutofit/>
          </a:bodyPr>
          <a:lstStyle>
            <a:lvl1pPr>
              <a:defRPr sz="2800" b="1" baseline="0">
                <a:solidFill>
                  <a:srgbClr val="00366C"/>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051539" name="副标题 2"/>
          <p:cNvSpPr>
            <a:spLocks noGrp="1"/>
          </p:cNvSpPr>
          <p:nvPr>
            <p:ph type="subTitle" idx="1"/>
          </p:nvPr>
        </p:nvSpPr>
        <p:spPr>
          <a:xfrm>
            <a:off x="569341" y="906083"/>
            <a:ext cx="11099801" cy="4680520"/>
          </a:xfrm>
          <a:prstGeom prst="rect">
            <a:avLst/>
          </a:prstGeom>
        </p:spPr>
        <p:txBody>
          <a:bodyPr>
            <a:normAutofit/>
          </a:bodyPr>
          <a:lstStyle>
            <a:lvl1pPr marL="285750" marR="0" indent="-285750" algn="l" defTabSz="914400" rtl="0" eaLnBrk="1" fontAlgn="base" latinLnBrk="0" hangingPunct="1">
              <a:lnSpc>
                <a:spcPct val="150000"/>
              </a:lnSpc>
              <a:spcBef>
                <a:spcPct val="20000"/>
              </a:spcBef>
              <a:spcAft>
                <a:spcPct val="0"/>
              </a:spcAft>
              <a:buClrTx/>
              <a:buSzTx/>
              <a:buFont typeface="Wingdings" panose="05000000000000000000" pitchFamily="2" charset="2"/>
              <a:buChar char="n"/>
              <a:defRPr sz="1400">
                <a:solidFill>
                  <a:schemeClr val="tx1"/>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10" name="灯片编号占位符 39"/>
          <p:cNvSpPr>
            <a:spLocks noGrp="1"/>
          </p:cNvSpPr>
          <p:nvPr>
            <p:ph type="sldNum" sz="quarter" idx="11"/>
          </p:nvPr>
        </p:nvSpPr>
        <p:spPr>
          <a:xfrm>
            <a:off x="11193694" y="6246830"/>
            <a:ext cx="475448" cy="365125"/>
          </a:xfrm>
        </p:spPr>
        <p:txBody>
          <a:bodyPr/>
          <a:lstStyle>
            <a:lvl1pPr>
              <a:defRPr b="1" smtClean="0">
                <a:solidFill>
                  <a:schemeClr val="tx1"/>
                </a:solidFill>
              </a:defRPr>
            </a:lvl1pPr>
          </a:lstStyle>
          <a:p>
            <a:pPr>
              <a:defRPr/>
            </a:pPr>
            <a:fld id="{49FB53F7-37AE-4152-A115-BFA7398457ED}" type="slidenum">
              <a:rPr lang="zh-CN" altLang="en-US"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4" name="线条"/>
          <p:cNvSpPr>
            <a:spLocks noChangeShapeType="1"/>
          </p:cNvSpPr>
          <p:nvPr userDrawn="1"/>
        </p:nvSpPr>
        <p:spPr bwMode="auto">
          <a:xfrm>
            <a:off x="569913" y="6215063"/>
            <a:ext cx="11099800" cy="0"/>
          </a:xfrm>
          <a:prstGeom prst="line">
            <a:avLst/>
          </a:prstGeom>
          <a:noFill/>
          <a:ln w="25400">
            <a:solidFill>
              <a:srgbClr val="1C3665"/>
            </a:solidFill>
            <a:miter lim="400000"/>
          </a:ln>
          <a:extLst>
            <a:ext uri="{909E8E84-426E-40DD-AFC4-6F175D3DCCD1}">
              <a14:hiddenFill xmlns:a14="http://schemas.microsoft.com/office/drawing/2010/main">
                <a:noFill/>
              </a14:hiddenFill>
            </a:ext>
          </a:extLst>
        </p:spPr>
        <p:txBody>
          <a:bodyPr lIns="0" tIns="0" rIns="0" bIns="0" anchor="ctr"/>
          <a:lstStyle/>
          <a:p>
            <a:endParaRPr lang="zh-CN" altLang="en-US"/>
          </a:p>
        </p:txBody>
      </p:sp>
      <p:pic>
        <p:nvPicPr>
          <p:cNvPr id="5" name="图片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9913" y="6345238"/>
            <a:ext cx="272097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a:spLocks noChangeArrowheads="1"/>
          </p:cNvSpPr>
          <p:nvPr userDrawn="1"/>
        </p:nvSpPr>
        <p:spPr bwMode="auto">
          <a:xfrm>
            <a:off x="10500678" y="6483982"/>
            <a:ext cx="13128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defTabSz="914400" eaLnBrk="1" hangingPunct="1"/>
            <a:r>
              <a:rPr lang="zh-CN" altLang="en-US" sz="800" b="1" dirty="0">
                <a:solidFill>
                  <a:srgbClr val="00366C"/>
                </a:solidFill>
              </a:rPr>
              <a:t>内部培训资料，请勿外传</a:t>
            </a:r>
          </a:p>
        </p:txBody>
      </p:sp>
      <p:sp>
        <p:nvSpPr>
          <p:cNvPr id="7" name="íṥľîḍè"/>
          <p:cNvSpPr/>
          <p:nvPr userDrawn="1"/>
        </p:nvSpPr>
        <p:spPr>
          <a:xfrm>
            <a:off x="0" y="198438"/>
            <a:ext cx="677863" cy="534987"/>
          </a:xfrm>
          <a:prstGeom prst="rect">
            <a:avLst/>
          </a:pr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1" fontAlgn="auto" hangingPunct="1">
              <a:spcBef>
                <a:spcPts val="0"/>
              </a:spcBef>
              <a:spcAft>
                <a:spcPts val="0"/>
              </a:spcAft>
              <a:defRPr/>
            </a:pPr>
            <a:endParaRPr lang="en-GB" sz="3000">
              <a:solidFill>
                <a:prstClr val="white"/>
              </a:solidFill>
            </a:endParaRPr>
          </a:p>
        </p:txBody>
      </p:sp>
      <p:pic>
        <p:nvPicPr>
          <p:cNvPr id="8" name="图形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426575" y="239713"/>
            <a:ext cx="2243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0281" name="标题 1"/>
          <p:cNvSpPr>
            <a:spLocks noGrp="1"/>
          </p:cNvSpPr>
          <p:nvPr>
            <p:ph type="title"/>
          </p:nvPr>
        </p:nvSpPr>
        <p:spPr>
          <a:xfrm>
            <a:off x="678094" y="201581"/>
            <a:ext cx="10515600" cy="448994"/>
          </a:xfrm>
        </p:spPr>
        <p:txBody>
          <a:bodyPr>
            <a:normAutofit/>
          </a:bodyPr>
          <a:lstStyle>
            <a:lvl1pPr>
              <a:defRPr sz="2800" b="1" baseline="0">
                <a:solidFill>
                  <a:srgbClr val="00366C"/>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050282" name="副标题 2"/>
          <p:cNvSpPr>
            <a:spLocks noGrp="1"/>
          </p:cNvSpPr>
          <p:nvPr>
            <p:ph type="subTitle" idx="1"/>
          </p:nvPr>
        </p:nvSpPr>
        <p:spPr>
          <a:xfrm>
            <a:off x="569341" y="906083"/>
            <a:ext cx="11099801" cy="4680520"/>
          </a:xfrm>
          <a:prstGeom prst="rect">
            <a:avLst/>
          </a:prstGeom>
        </p:spPr>
        <p:txBody>
          <a:bodyPr>
            <a:normAutofit/>
          </a:bodyPr>
          <a:lstStyle>
            <a:lvl1pPr marL="285750" marR="0" indent="-285750" algn="l" defTabSz="914400" rtl="0" eaLnBrk="1" fontAlgn="base" latinLnBrk="0" hangingPunct="1">
              <a:lnSpc>
                <a:spcPct val="150000"/>
              </a:lnSpc>
              <a:spcBef>
                <a:spcPct val="20000"/>
              </a:spcBef>
              <a:spcAft>
                <a:spcPct val="0"/>
              </a:spcAft>
              <a:buClrTx/>
              <a:buSzTx/>
              <a:buFont typeface="Wingdings" panose="05000000000000000000" pitchFamily="2" charset="2"/>
              <a:buChar char="n"/>
              <a:defRPr sz="1400">
                <a:solidFill>
                  <a:schemeClr val="tx1"/>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10" name="灯片编号占位符 39"/>
          <p:cNvSpPr>
            <a:spLocks noGrp="1"/>
          </p:cNvSpPr>
          <p:nvPr>
            <p:ph type="sldNum" sz="quarter" idx="11"/>
          </p:nvPr>
        </p:nvSpPr>
        <p:spPr>
          <a:xfrm>
            <a:off x="11003280" y="6249193"/>
            <a:ext cx="665862" cy="307817"/>
          </a:xfrm>
        </p:spPr>
        <p:txBody>
          <a:bodyPr/>
          <a:lstStyle>
            <a:lvl1pPr algn="ctr" defTabSz="914400">
              <a:defRPr b="1" smtClean="0">
                <a:solidFill>
                  <a:srgbClr val="002060"/>
                </a:solidFill>
              </a:defRPr>
            </a:lvl1pPr>
          </a:lstStyle>
          <a:p>
            <a:pPr>
              <a:defRPr/>
            </a:pPr>
            <a:fld id="{6E91549D-98B7-4077-996F-05BE1B29F039}" type="slidenum">
              <a:rPr lang="zh-CN" altLang="en-US" smtClean="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博道基金管理有限公司"/>
          <p:cNvSpPr txBox="1">
            <a:spLocks noChangeArrowheads="1"/>
          </p:cNvSpPr>
          <p:nvPr userDrawn="1"/>
        </p:nvSpPr>
        <p:spPr bwMode="auto">
          <a:xfrm>
            <a:off x="9559290" y="6399213"/>
            <a:ext cx="2110423"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19050" tIns="19050" rIns="19050" bIns="19050" anchor="ctr">
            <a:spAutoFit/>
          </a:bodyPr>
          <a:lstStyle>
            <a:lvl1pPr defTabSz="309880">
              <a:defRPr>
                <a:solidFill>
                  <a:schemeClr val="tx1"/>
                </a:solidFill>
                <a:latin typeface="微软雅黑" panose="020B0503020204020204" pitchFamily="34" charset="-122"/>
                <a:ea typeface="微软雅黑" panose="020B0503020204020204" pitchFamily="34" charset="-122"/>
              </a:defRPr>
            </a:lvl1pPr>
            <a:lvl2pPr marL="742950" indent="-285750" defTabSz="309880">
              <a:defRPr>
                <a:solidFill>
                  <a:schemeClr val="tx1"/>
                </a:solidFill>
                <a:latin typeface="微软雅黑" panose="020B0503020204020204" pitchFamily="34" charset="-122"/>
                <a:ea typeface="微软雅黑" panose="020B0503020204020204" pitchFamily="34" charset="-122"/>
              </a:defRPr>
            </a:lvl2pPr>
            <a:lvl3pPr marL="1143000" indent="-228600" defTabSz="309880">
              <a:defRPr>
                <a:solidFill>
                  <a:schemeClr val="tx1"/>
                </a:solidFill>
                <a:latin typeface="微软雅黑" panose="020B0503020204020204" pitchFamily="34" charset="-122"/>
                <a:ea typeface="微软雅黑" panose="020B0503020204020204" pitchFamily="34" charset="-122"/>
              </a:defRPr>
            </a:lvl3pPr>
            <a:lvl4pPr marL="1600200" indent="-228600" defTabSz="309880">
              <a:defRPr>
                <a:solidFill>
                  <a:schemeClr val="tx1"/>
                </a:solidFill>
                <a:latin typeface="微软雅黑" panose="020B0503020204020204" pitchFamily="34" charset="-122"/>
                <a:ea typeface="微软雅黑" panose="020B0503020204020204" pitchFamily="34" charset="-122"/>
              </a:defRPr>
            </a:lvl4pPr>
            <a:lvl5pPr marL="2057400" indent="-228600" defTabSz="309880">
              <a:defRPr>
                <a:solidFill>
                  <a:schemeClr val="tx1"/>
                </a:solidFill>
                <a:latin typeface="微软雅黑" panose="020B0503020204020204" pitchFamily="34" charset="-122"/>
                <a:ea typeface="微软雅黑" panose="020B0503020204020204" pitchFamily="34" charset="-122"/>
              </a:defRPr>
            </a:lvl5pPr>
            <a:lvl6pPr marL="2514600" indent="-228600" defTabSz="30988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defTabSz="30988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defTabSz="30988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defTabSz="30988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eaLnBrk="1">
              <a:spcBef>
                <a:spcPts val="1690"/>
              </a:spcBef>
            </a:pPr>
            <a:r>
              <a:rPr lang="zh-CN" altLang="zh-CN" sz="1200" b="1" dirty="0">
                <a:solidFill>
                  <a:srgbClr val="000000"/>
                </a:solidFill>
                <a:latin typeface="Heiti SC Light"/>
                <a:ea typeface="Heiti SC Light"/>
                <a:cs typeface="Heiti SC Light"/>
                <a:sym typeface="Helvetica Neue" panose="02000503000000020004"/>
              </a:rPr>
              <a:t>   </a:t>
            </a:r>
            <a:r>
              <a:rPr lang="zh-CN" altLang="zh-CN" sz="1200" b="1" dirty="0">
                <a:solidFill>
                  <a:srgbClr val="000000"/>
                </a:solidFill>
                <a:latin typeface="+mn-ea"/>
                <a:ea typeface="+mn-ea"/>
                <a:cs typeface="Heiti SC Light"/>
                <a:sym typeface="Helvetica Neue" panose="02000503000000020004"/>
              </a:rPr>
              <a:t>博道基金管理有限公司</a:t>
            </a:r>
          </a:p>
        </p:txBody>
      </p:sp>
      <p:sp>
        <p:nvSpPr>
          <p:cNvPr id="3" name="本基金管理人承诺以诚实信用、勤勉尽责的原则管理和运用基金财产，但不保证基金一定盈利，也不保证最低收益。基金的过往业绩并不代表其将来表现，基金管理人管理的其他基金的业绩亦不构成对本基金业绩表现的保证。…"/>
          <p:cNvSpPr txBox="1"/>
          <p:nvPr userDrawn="1"/>
        </p:nvSpPr>
        <p:spPr>
          <a:xfrm>
            <a:off x="569913" y="3654425"/>
            <a:ext cx="11099800" cy="1654175"/>
          </a:xfrm>
          <a:prstGeom prst="rect">
            <a:avLst/>
          </a:prstGeom>
          <a:ln w="12700">
            <a:miter lim="400000"/>
          </a:ln>
        </p:spPr>
        <p:txBody>
          <a:bodyPr lIns="19050" tIns="19050" rIns="19050" bIns="19050" anchor="ctr">
            <a:spAutoFit/>
          </a:bodyPr>
          <a:lstStyle/>
          <a:p>
            <a:pPr algn="just" defTabSz="309880" eaLnBrk="1" fontAlgn="auto">
              <a:spcBef>
                <a:spcPts val="0"/>
              </a:spcBef>
              <a:spcAft>
                <a:spcPts val="0"/>
              </a:spcAft>
              <a:defRPr sz="2000" b="0">
                <a:latin typeface="PingFang SC Light"/>
                <a:ea typeface="PingFang SC Light"/>
                <a:cs typeface="PingFang SC Light"/>
                <a:sym typeface="PingFang SC Light"/>
              </a:defRPr>
            </a:pPr>
            <a:r>
              <a:rPr sz="1050" kern="0" dirty="0">
                <a:solidFill>
                  <a:srgbClr val="000000"/>
                </a:solidFill>
                <a:latin typeface="+mn-ea"/>
                <a:ea typeface="+mn-ea"/>
                <a:cs typeface="PingFang SC Light"/>
                <a:sym typeface="PingFang SC Light"/>
              </a:rPr>
              <a:t>本基金管理人承诺以诚实信用、勤勉尽责的原则管理和运用基金财产，但不保证基金一定盈利，也不保证最低收益。基金的过往业绩并不代表其将来表现，基金管理人管理的其他基金的业绩亦不构成对本基金业绩表现的保证。</a:t>
            </a:r>
          </a:p>
          <a:p>
            <a:pPr algn="just" defTabSz="309880" eaLnBrk="1" fontAlgn="auto">
              <a:spcBef>
                <a:spcPts val="0"/>
              </a:spcBef>
              <a:spcAft>
                <a:spcPts val="0"/>
              </a:spcAft>
              <a:defRPr sz="2000" b="0">
                <a:latin typeface="PingFang SC Light"/>
                <a:ea typeface="PingFang SC Light"/>
                <a:cs typeface="PingFang SC Light"/>
                <a:sym typeface="PingFang SC Light"/>
              </a:defRPr>
            </a:pPr>
            <a:endParaRPr sz="1050" kern="0" dirty="0">
              <a:solidFill>
                <a:srgbClr val="000000"/>
              </a:solidFill>
              <a:latin typeface="+mn-ea"/>
              <a:ea typeface="+mn-ea"/>
              <a:cs typeface="PingFang SC Light"/>
              <a:sym typeface="PingFang SC Light"/>
            </a:endParaRPr>
          </a:p>
          <a:p>
            <a:pPr algn="just" defTabSz="309880" eaLnBrk="1" fontAlgn="auto">
              <a:spcBef>
                <a:spcPts val="0"/>
              </a:spcBef>
              <a:spcAft>
                <a:spcPts val="0"/>
              </a:spcAft>
              <a:defRPr sz="2000" b="0">
                <a:latin typeface="PingFang SC Light"/>
                <a:ea typeface="PingFang SC Light"/>
                <a:cs typeface="PingFang SC Light"/>
                <a:sym typeface="PingFang SC Light"/>
              </a:defRPr>
            </a:pPr>
            <a:r>
              <a:rPr sz="1050" kern="0" dirty="0">
                <a:solidFill>
                  <a:srgbClr val="000000"/>
                </a:solidFill>
                <a:latin typeface="+mn-ea"/>
                <a:ea typeface="+mn-ea"/>
                <a:cs typeface="PingFang SC Light"/>
                <a:sym typeface="PingFang SC Light"/>
              </a:rPr>
              <a:t>投资有风险，敬请投资者认真阅读基金的相关法律文件，并选择适合自身风险承受能力的投资品种进行投资。本资料所含数据计算和排名仅用于专业机构分析参考，并不构成广告或销售要约，或买入任何证券、基金或其它投资工具的建议。</a:t>
            </a:r>
          </a:p>
          <a:p>
            <a:pPr algn="just" defTabSz="309880" eaLnBrk="1" fontAlgn="auto">
              <a:spcBef>
                <a:spcPts val="0"/>
              </a:spcBef>
              <a:spcAft>
                <a:spcPts val="0"/>
              </a:spcAft>
              <a:defRPr sz="2000" b="0">
                <a:latin typeface="PingFang SC Light"/>
                <a:ea typeface="PingFang SC Light"/>
                <a:cs typeface="PingFang SC Light"/>
                <a:sym typeface="PingFang SC Light"/>
              </a:defRPr>
            </a:pPr>
            <a:endParaRPr sz="1050" kern="0" dirty="0">
              <a:solidFill>
                <a:srgbClr val="000000"/>
              </a:solidFill>
              <a:latin typeface="+mn-ea"/>
              <a:ea typeface="+mn-ea"/>
              <a:cs typeface="PingFang SC Light"/>
              <a:sym typeface="PingFang SC Light"/>
            </a:endParaRPr>
          </a:p>
          <a:p>
            <a:pPr algn="just" defTabSz="309880" eaLnBrk="1" fontAlgn="auto">
              <a:spcBef>
                <a:spcPts val="0"/>
              </a:spcBef>
              <a:spcAft>
                <a:spcPts val="0"/>
              </a:spcAft>
              <a:defRPr sz="2000" b="0">
                <a:latin typeface="PingFang SC Light"/>
                <a:ea typeface="PingFang SC Light"/>
                <a:cs typeface="PingFang SC Light"/>
                <a:sym typeface="PingFang SC Light"/>
              </a:defRPr>
            </a:pPr>
            <a:r>
              <a:rPr sz="1050" kern="0" dirty="0">
                <a:solidFill>
                  <a:srgbClr val="000000"/>
                </a:solidFill>
                <a:latin typeface="+mn-ea"/>
                <a:ea typeface="+mn-ea"/>
                <a:cs typeface="PingFang SC Light"/>
                <a:sym typeface="PingFang SC Light"/>
              </a:rPr>
              <a:t>本材料仅供销售渠道内部培训使用，非基金推介材料,亦不构成任何法律文件。本资料可能包含机密信息、版权专有信息或私人信息，未经授权，请勿对资料内容进行任何更改或以任何方式传播、复制或派发。</a:t>
            </a:r>
            <a:endParaRPr lang="en-US" sz="1050" kern="0" dirty="0">
              <a:solidFill>
                <a:srgbClr val="000000"/>
              </a:solidFill>
              <a:latin typeface="+mn-ea"/>
              <a:ea typeface="+mn-ea"/>
              <a:cs typeface="PingFang SC Light"/>
              <a:sym typeface="PingFang SC Light"/>
            </a:endParaRPr>
          </a:p>
          <a:p>
            <a:pPr algn="just" defTabSz="309880" eaLnBrk="1" fontAlgn="auto">
              <a:spcBef>
                <a:spcPts val="0"/>
              </a:spcBef>
              <a:spcAft>
                <a:spcPts val="0"/>
              </a:spcAft>
              <a:defRPr sz="2000" b="0">
                <a:latin typeface="PingFang SC Light"/>
                <a:ea typeface="PingFang SC Light"/>
                <a:cs typeface="PingFang SC Light"/>
                <a:sym typeface="PingFang SC Light"/>
              </a:defRPr>
            </a:pPr>
            <a:endParaRPr lang="en-US" sz="1050" kern="0" dirty="0">
              <a:solidFill>
                <a:srgbClr val="000000"/>
              </a:solidFill>
              <a:latin typeface="+mn-ea"/>
              <a:ea typeface="+mn-ea"/>
              <a:cs typeface="PingFang SC Light"/>
              <a:sym typeface="PingFang SC Light"/>
            </a:endParaRPr>
          </a:p>
          <a:p>
            <a:pPr algn="just" defTabSz="309880" eaLnBrk="1" fontAlgn="auto">
              <a:spcBef>
                <a:spcPts val="0"/>
              </a:spcBef>
              <a:spcAft>
                <a:spcPts val="0"/>
              </a:spcAft>
              <a:defRPr sz="2000" b="0">
                <a:latin typeface="PingFang SC Light"/>
                <a:ea typeface="PingFang SC Light"/>
                <a:cs typeface="PingFang SC Light"/>
                <a:sym typeface="PingFang SC Light"/>
              </a:defRPr>
            </a:pPr>
            <a:r>
              <a:rPr lang="zh-CN" altLang="en-US" sz="1050" kern="0" dirty="0">
                <a:solidFill>
                  <a:srgbClr val="000000"/>
                </a:solidFill>
                <a:latin typeface="+mn-ea"/>
                <a:ea typeface="+mn-ea"/>
                <a:cs typeface="PingFang SC Light"/>
                <a:sym typeface="PingFang SC Light"/>
              </a:rPr>
              <a:t>谢谢合作！</a:t>
            </a:r>
            <a:endParaRPr sz="1050" kern="0" dirty="0">
              <a:solidFill>
                <a:srgbClr val="000000"/>
              </a:solidFill>
              <a:latin typeface="+mn-ea"/>
              <a:ea typeface="+mn-ea"/>
              <a:cs typeface="PingFang SC Light"/>
              <a:sym typeface="PingFang SC Light"/>
            </a:endParaRPr>
          </a:p>
        </p:txBody>
      </p:sp>
      <p:pic>
        <p:nvPicPr>
          <p:cNvPr id="4" name="图像" descr="图像"/>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36625" y="2311400"/>
            <a:ext cx="16383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5" name="文本框 16"/>
          <p:cNvSpPr txBox="1"/>
          <p:nvPr userDrawn="1"/>
        </p:nvSpPr>
        <p:spPr>
          <a:xfrm>
            <a:off x="3127375" y="2817813"/>
            <a:ext cx="8542338" cy="446087"/>
          </a:xfrm>
          <a:prstGeom prst="rect">
            <a:avLst/>
          </a:prstGeom>
          <a:noFill/>
          <a:ln w="12700" cap="flat">
            <a:noFill/>
            <a:miter lim="400000"/>
          </a:ln>
        </p:spPr>
        <p:style>
          <a:lnRef idx="0">
            <a:scrgbClr r="0" g="0" b="0"/>
          </a:lnRef>
          <a:fillRef idx="0">
            <a:scrgbClr r="0" g="0" b="0"/>
          </a:fillRef>
          <a:effectRef idx="0">
            <a:scrgbClr r="0" g="0" b="0"/>
          </a:effectRef>
          <a:fontRef idx="none">
            <a:srgbClr val="000000"/>
          </a:fontRef>
        </p:style>
        <p:txBody>
          <a:bodyPr spcFirstLastPara="1" lIns="38100" tIns="38100" rIns="38100" bIns="38100" spcCol="38100" anchor="ctr">
            <a:spAutoFit/>
          </a:bodyPr>
          <a:lstStyle/>
          <a:p>
            <a:pPr defTabSz="619125" eaLnBrk="1" fontAlgn="auto">
              <a:spcBef>
                <a:spcPts val="0"/>
              </a:spcBef>
              <a:spcAft>
                <a:spcPts val="0"/>
              </a:spcAft>
              <a:defRPr/>
            </a:pPr>
            <a:r>
              <a:rPr lang="zh-CN" altLang="en-US" sz="1200" b="1" dirty="0">
                <a:latin typeface="+mn-ea"/>
                <a:ea typeface="+mn-ea"/>
                <a:cs typeface="Helvetica Neue" panose="02000503000000020004"/>
                <a:sym typeface="Helvetica Neue" panose="02000503000000020004"/>
              </a:rPr>
              <a:t>为帮助销售经理更好地掌握本基金产品特点，制作本资料。本资料仅供销售经理了解本基金，不作为宣传推介材料，不得对外发放，请勿提供给投资者。</a:t>
            </a:r>
          </a:p>
        </p:txBody>
      </p:sp>
      <p:sp>
        <p:nvSpPr>
          <p:cNvPr id="6" name="线条"/>
          <p:cNvSpPr>
            <a:spLocks noChangeShapeType="1"/>
          </p:cNvSpPr>
          <p:nvPr userDrawn="1"/>
        </p:nvSpPr>
        <p:spPr bwMode="auto">
          <a:xfrm>
            <a:off x="569913" y="3495675"/>
            <a:ext cx="11099800" cy="0"/>
          </a:xfrm>
          <a:prstGeom prst="line">
            <a:avLst/>
          </a:prstGeom>
          <a:noFill/>
          <a:ln w="25400">
            <a:solidFill>
              <a:srgbClr val="1C3665"/>
            </a:solidFill>
            <a:miter lim="400000"/>
          </a:ln>
          <a:extLst>
            <a:ext uri="{909E8E84-426E-40DD-AFC4-6F175D3DCCD1}">
              <a14:hiddenFill xmlns:a14="http://schemas.microsoft.com/office/drawing/2010/main">
                <a:noFill/>
              </a14:hiddenFill>
            </a:ext>
          </a:extLst>
        </p:spPr>
        <p:txBody>
          <a:bodyPr lIns="0" tIns="0" rIns="0" bIns="0" anchor="ct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rgbClr val="00366C"/>
        </a:solidFill>
        <a:effectLst/>
      </p:bgPr>
    </p:bg>
    <p:spTree>
      <p:nvGrpSpPr>
        <p:cNvPr id="1" name=""/>
        <p:cNvGrpSpPr/>
        <p:nvPr/>
      </p:nvGrpSpPr>
      <p:grpSpPr>
        <a:xfrm>
          <a:off x="0" y="0"/>
          <a:ext cx="0" cy="0"/>
          <a:chOff x="0" y="0"/>
          <a:chExt cx="0" cy="0"/>
        </a:xfrm>
      </p:grpSpPr>
      <p:pic>
        <p:nvPicPr>
          <p:cNvPr id="2" name="图片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62525" y="1825625"/>
            <a:ext cx="226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411538" y="2873375"/>
            <a:ext cx="5368925"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7"/>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675313" y="4217988"/>
            <a:ext cx="108902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扫一扫，关注博道基金"/>
          <p:cNvSpPr txBox="1"/>
          <p:nvPr userDrawn="1"/>
        </p:nvSpPr>
        <p:spPr>
          <a:xfrm>
            <a:off x="5399088" y="5397500"/>
            <a:ext cx="1641475" cy="287338"/>
          </a:xfrm>
          <a:prstGeom prst="rect">
            <a:avLst/>
          </a:prstGeom>
          <a:ln w="12700">
            <a:miter lim="400000"/>
          </a:ln>
        </p:spPr>
        <p:txBody>
          <a:bodyPr wrap="none" lIns="50800" tIns="50800" rIns="50800" bIns="50800" anchor="ctr">
            <a:spAutoFit/>
          </a:bodyPr>
          <a:lstStyle>
            <a:lvl1pPr>
              <a:defRPr sz="1500">
                <a:solidFill>
                  <a:srgbClr val="D5D5D5"/>
                </a:solidFill>
              </a:defRPr>
            </a:lvl1pPr>
          </a:lstStyle>
          <a:p>
            <a:pPr eaLnBrk="1" fontAlgn="auto" hangingPunct="1">
              <a:spcBef>
                <a:spcPts val="0"/>
              </a:spcBef>
              <a:spcAft>
                <a:spcPts val="0"/>
              </a:spcAft>
              <a:defRPr/>
            </a:pPr>
            <a:r>
              <a:rPr sz="1200" dirty="0" err="1"/>
              <a:t>扫一扫，关注博道基金</a:t>
            </a:r>
            <a:endParaRPr sz="1200" dirty="0"/>
          </a:p>
        </p:txBody>
      </p:sp>
      <p:sp>
        <p:nvSpPr>
          <p:cNvPr id="6" name="文本框 5"/>
          <p:cNvSpPr txBox="1"/>
          <p:nvPr userDrawn="1"/>
        </p:nvSpPr>
        <p:spPr>
          <a:xfrm>
            <a:off x="10161284" y="6356352"/>
            <a:ext cx="2222869"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a:srgbClr val="000000"/>
          </a:fontRef>
        </p:style>
        <p:txBody>
          <a:bodyPr spcFirstLastPara="1" lIns="50800" tIns="50800" rIns="50800" bIns="50800" spcCol="38100" anchor="ctr">
            <a:spAutoFit/>
          </a:bodyPr>
          <a:lstStyle/>
          <a:p>
            <a:pPr algn="ctr" defTabSz="825500" eaLnBrk="1" fontAlgn="auto">
              <a:spcBef>
                <a:spcPts val="0"/>
              </a:spcBef>
              <a:spcAft>
                <a:spcPts val="0"/>
              </a:spcAft>
              <a:defRPr/>
            </a:pPr>
            <a:r>
              <a:rPr lang="zh-CN" altLang="en-US" sz="1100" b="1" dirty="0">
                <a:solidFill>
                  <a:schemeClr val="bg1"/>
                </a:solidFill>
                <a:latin typeface="Helvetica Neue" panose="02000503000000020004"/>
                <a:ea typeface="Helvetica Neue" panose="02000503000000020004"/>
                <a:cs typeface="Helvetica Neue" panose="02000503000000020004"/>
                <a:sym typeface="Helvetica Neue" panose="02000503000000020004"/>
              </a:rPr>
              <a:t>内部培训材料，请勿外传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indefinite" fill="hold"/>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dvAuto="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marL="15240">
              <a:lnSpc>
                <a:spcPct val="100000"/>
              </a:lnSpc>
              <a:spcBef>
                <a:spcPts val="150"/>
              </a:spcBef>
            </a:pPr>
            <a:endParaRPr lang="zh-CN" altLang="en-US" sz="1800">
              <a:latin typeface="等线" panose="02010600030101010101" charset="-122"/>
              <a:cs typeface="等线" panose="02010600030101010101" charset="-122"/>
            </a:endParaRPr>
          </a:p>
        </p:txBody>
      </p:sp>
      <p:sp>
        <p:nvSpPr>
          <p:cNvPr id="6" name="Slide Number Placeholder 5"/>
          <p:cNvSpPr>
            <a:spLocks noGrp="1"/>
          </p:cNvSpPr>
          <p:nvPr>
            <p:ph type="sldNum" sz="quarter" idx="12"/>
          </p:nvPr>
        </p:nvSpPr>
        <p:spPr/>
        <p:txBody>
          <a:bodyPr/>
          <a:lstStyle/>
          <a:p>
            <a:pPr marL="38100">
              <a:lnSpc>
                <a:spcPct val="100000"/>
              </a:lnSpc>
              <a:spcBef>
                <a:spcPts val="150"/>
              </a:spcBef>
            </a:pPr>
            <a:fld id="{81D60167-4931-47E6-BA6A-407CBD079E47}" type="slidenum">
              <a:rPr lang="en-US" altLang="zh-CN" smtClean="0"/>
              <a:t>‹#›</a:t>
            </a:fld>
            <a:endParaRPr lang="en-US" altLang="zh-CN"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46_仅标题">
    <p:spTree>
      <p:nvGrpSpPr>
        <p:cNvPr id="1" name=""/>
        <p:cNvGrpSpPr/>
        <p:nvPr/>
      </p:nvGrpSpPr>
      <p:grpSpPr>
        <a:xfrm>
          <a:off x="0" y="0"/>
          <a:ext cx="0" cy="0"/>
          <a:chOff x="0" y="0"/>
          <a:chExt cx="0" cy="0"/>
        </a:xfrm>
      </p:grpSpPr>
      <p:sp>
        <p:nvSpPr>
          <p:cNvPr id="7" name="线条"/>
          <p:cNvSpPr/>
          <p:nvPr userDrawn="1"/>
        </p:nvSpPr>
        <p:spPr>
          <a:xfrm>
            <a:off x="569341" y="6215254"/>
            <a:ext cx="11099801" cy="1"/>
          </a:xfrm>
          <a:prstGeom prst="line">
            <a:avLst/>
          </a:prstGeom>
          <a:ln w="25400">
            <a:solidFill>
              <a:srgbClr val="1C3665"/>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600" b="0" i="0" u="none" strike="noStrike" kern="1200" cap="none" spc="0" normalizeH="0" baseline="0" noProof="0">
              <a:ln>
                <a:noFill/>
              </a:ln>
              <a:solidFill>
                <a:srgbClr val="FFFFFF"/>
              </a:solidFill>
              <a:effectLst/>
              <a:uLnTx/>
              <a:uFillTx/>
              <a:latin typeface="Arial"/>
              <a:ea typeface="+mn-ea"/>
              <a:cs typeface="+mn-cs"/>
              <a:sym typeface="Helvetica Neue Medium"/>
            </a:endParaRPr>
          </a:p>
        </p:txBody>
      </p:sp>
      <p:sp>
        <p:nvSpPr>
          <p:cNvPr id="2" name="标题 1"/>
          <p:cNvSpPr>
            <a:spLocks noGrp="1"/>
          </p:cNvSpPr>
          <p:nvPr>
            <p:ph type="title"/>
          </p:nvPr>
        </p:nvSpPr>
        <p:spPr>
          <a:xfrm>
            <a:off x="678094" y="201581"/>
            <a:ext cx="7821530" cy="448994"/>
          </a:xfrm>
        </p:spPr>
        <p:txBody>
          <a:bodyPr>
            <a:normAutofit/>
          </a:bodyPr>
          <a:lstStyle>
            <a:lvl1pPr>
              <a:defRPr sz="2800" b="1" baseline="0">
                <a:solidFill>
                  <a:srgbClr val="00366C"/>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2" name="副标题 2"/>
          <p:cNvSpPr>
            <a:spLocks noGrp="1"/>
          </p:cNvSpPr>
          <p:nvPr>
            <p:ph type="subTitle" idx="1"/>
          </p:nvPr>
        </p:nvSpPr>
        <p:spPr>
          <a:xfrm>
            <a:off x="569341" y="906083"/>
            <a:ext cx="11099801" cy="4680520"/>
          </a:xfrm>
          <a:prstGeom prst="rect">
            <a:avLst/>
          </a:prstGeom>
        </p:spPr>
        <p:txBody>
          <a:bodyPr>
            <a:normAutofit/>
          </a:bodyPr>
          <a:lstStyle>
            <a:lvl1pPr marL="285750" marR="0" indent="-285750" algn="l" defTabSz="914400" rtl="0" eaLnBrk="1" fontAlgn="base" latinLnBrk="0" hangingPunct="1">
              <a:lnSpc>
                <a:spcPct val="150000"/>
              </a:lnSpc>
              <a:spcBef>
                <a:spcPct val="20000"/>
              </a:spcBef>
              <a:spcAft>
                <a:spcPct val="0"/>
              </a:spcAft>
              <a:buClrTx/>
              <a:buSzTx/>
              <a:buFont typeface="Wingdings" panose="05000000000000000000" pitchFamily="2" charset="2"/>
              <a:buChar char="n"/>
              <a:defRPr sz="1400">
                <a:solidFill>
                  <a:schemeClr val="tx1"/>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13" name="íṥľîḍè">
            <a:extLst>
              <a:ext uri="{FF2B5EF4-FFF2-40B4-BE49-F238E27FC236}">
                <a16:creationId xmlns:a16="http://schemas.microsoft.com/office/drawing/2014/main" xmlns="" id="{15C843A2-914F-407B-844C-FD2035DB2152}"/>
              </a:ext>
            </a:extLst>
          </p:cNvPr>
          <p:cNvSpPr/>
          <p:nvPr userDrawn="1"/>
        </p:nvSpPr>
        <p:spPr>
          <a:xfrm>
            <a:off x="0" y="198396"/>
            <a:ext cx="678094" cy="535731"/>
          </a:xfrm>
          <a:prstGeom prst="rect">
            <a:avLst/>
          </a:pr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000"/>
          </a:p>
        </p:txBody>
      </p:sp>
      <p:sp>
        <p:nvSpPr>
          <p:cNvPr id="14" name="矩形 5">
            <a:extLst>
              <a:ext uri="{FF2B5EF4-FFF2-40B4-BE49-F238E27FC236}">
                <a16:creationId xmlns:a16="http://schemas.microsoft.com/office/drawing/2014/main" xmlns="" id="{7CE028A3-32BB-4731-BB93-F9BEDE9DF86F}"/>
              </a:ext>
            </a:extLst>
          </p:cNvPr>
          <p:cNvSpPr/>
          <p:nvPr userDrawn="1"/>
        </p:nvSpPr>
        <p:spPr>
          <a:xfrm>
            <a:off x="10521930" y="6215254"/>
            <a:ext cx="1107996"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800" b="1" i="0" u="none" strike="noStrike" kern="1200" cap="none" spc="0" normalizeH="0" baseline="0" noProof="0" dirty="0">
                <a:ln>
                  <a:noFill/>
                </a:ln>
                <a:solidFill>
                  <a:schemeClr val="bg1">
                    <a:lumMod val="85000"/>
                  </a:schemeClr>
                </a:solidFill>
                <a:effectLst/>
                <a:uLnTx/>
                <a:uFillTx/>
                <a:latin typeface="微软雅黑" panose="020B0503020204020204" pitchFamily="34" charset="-122"/>
                <a:ea typeface="微软雅黑" panose="020B0503020204020204" pitchFamily="34" charset="-122"/>
                <a:cs typeface="+mn-cs"/>
              </a:rPr>
              <a:t>内部资料，请勿外传</a:t>
            </a:r>
          </a:p>
        </p:txBody>
      </p:sp>
      <p:pic>
        <p:nvPicPr>
          <p:cNvPr id="15" name="图片 7">
            <a:extLst>
              <a:ext uri="{FF2B5EF4-FFF2-40B4-BE49-F238E27FC236}">
                <a16:creationId xmlns:a16="http://schemas.microsoft.com/office/drawing/2014/main" xmlns="" id="{CE386196-FD2B-4CDB-8C17-76292121E6E6}"/>
              </a:ext>
            </a:extLst>
          </p:cNvPr>
          <p:cNvPicPr>
            <a:picLocks noChangeAspect="1"/>
          </p:cNvPicPr>
          <p:nvPr userDrawn="1"/>
        </p:nvPicPr>
        <p:blipFill>
          <a:blip r:embed="rId2" cstate="print"/>
          <a:stretch>
            <a:fillRect/>
          </a:stretch>
        </p:blipFill>
        <p:spPr>
          <a:xfrm>
            <a:off x="569341" y="6288254"/>
            <a:ext cx="2287708" cy="315664"/>
          </a:xfrm>
          <a:prstGeom prst="rect">
            <a:avLst/>
          </a:prstGeom>
        </p:spPr>
      </p:pic>
      <p:sp>
        <p:nvSpPr>
          <p:cNvPr id="16" name="灯片编号占位符 39">
            <a:extLst>
              <a:ext uri="{FF2B5EF4-FFF2-40B4-BE49-F238E27FC236}">
                <a16:creationId xmlns:a16="http://schemas.microsoft.com/office/drawing/2014/main" xmlns="" id="{20A481BA-0E79-47F0-BF23-42C750FDCBC5}"/>
              </a:ext>
            </a:extLst>
          </p:cNvPr>
          <p:cNvSpPr txBox="1">
            <a:spLocks/>
          </p:cNvSpPr>
          <p:nvPr userDrawn="1"/>
        </p:nvSpPr>
        <p:spPr>
          <a:xfrm>
            <a:off x="9002142" y="6432551"/>
            <a:ext cx="2743200" cy="365125"/>
          </a:xfrm>
          <a:prstGeom prst="rect">
            <a:avLst/>
          </a:prstGeom>
        </p:spPr>
        <p:txBody>
          <a:bodyPr vert="horz" lIns="45720" tIns="22860" rIns="45720" bIns="22860"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defPPr>
            <a:lvl1pPr marL="0" marR="0" indent="0" algn="r" defTabSz="825500" rtl="0" fontAlgn="auto" latinLnBrk="0" hangingPunct="0">
              <a:lnSpc>
                <a:spcPct val="100000"/>
              </a:lnSpc>
              <a:spcBef>
                <a:spcPts val="0"/>
              </a:spcBef>
              <a:spcAft>
                <a:spcPts val="0"/>
              </a:spcAft>
              <a:buClrTx/>
              <a:buSzTx/>
              <a:buFontTx/>
              <a:buNone/>
              <a:defRPr kumimoji="0" sz="3600" b="1" i="0" u="none" strike="noStrike" cap="none" spc="0" normalizeH="0" baseline="0">
                <a:ln>
                  <a:noFill/>
                </a:ln>
                <a:solidFill>
                  <a:srgbClr val="203864"/>
                </a:solidFill>
                <a:effectLst/>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9pPr>
          </a:lstStyle>
          <a:p>
            <a:fld id="{8912606B-CD4E-4545-A8AA-6EA89D67991C}" type="slidenum">
              <a:rPr lang="zh-CN" altLang="en-US" sz="1800" smtClean="0"/>
              <a:pPr/>
              <a:t>‹#›</a:t>
            </a:fld>
            <a:endParaRPr lang="zh-CN" altLang="en-US" sz="1800" dirty="0"/>
          </a:p>
        </p:txBody>
      </p:sp>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83617" y="75218"/>
            <a:ext cx="785525" cy="796213"/>
          </a:xfrm>
          <a:prstGeom prst="rect">
            <a:avLst/>
          </a:prstGeom>
        </p:spPr>
      </p:pic>
    </p:spTree>
    <p:extLst>
      <p:ext uri="{BB962C8B-B14F-4D97-AF65-F5344CB8AC3E}">
        <p14:creationId xmlns:p14="http://schemas.microsoft.com/office/powerpoint/2010/main" val="3397752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6"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1048737"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1048738"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ea typeface="+mn-ea"/>
              </a:defRPr>
            </a:lvl1pPr>
          </a:lstStyle>
          <a:p>
            <a:pPr>
              <a:defRPr/>
            </a:pPr>
            <a:fld id="{B3615670-6EB3-4331-954A-D1322E807918}"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2pPr>
      <a:lvl3pPr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3pPr>
      <a:lvl4pPr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4pPr>
      <a:lvl5pPr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hemeOverride" Target="../theme/themeOverr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20.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9.png"/><Relationship Id="rId5" Type="http://schemas.openxmlformats.org/officeDocument/2006/relationships/notesSlide" Target="../notesSlides/notesSlide3.xml"/><Relationship Id="rId4"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slideLayout" Target="../slideLayouts/slideLayout6.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image" Target="../media/image23.jpeg"/><Relationship Id="rId2" Type="http://schemas.openxmlformats.org/officeDocument/2006/relationships/tags" Target="../tags/tag5.xml"/><Relationship Id="rId16" Type="http://schemas.openxmlformats.org/officeDocument/2006/relationships/image" Target="../media/image22.jpeg"/><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5" Type="http://schemas.openxmlformats.org/officeDocument/2006/relationships/image" Target="../media/image21.jpeg"/><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5.jpeg"/></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ctrTitle"/>
          </p:nvPr>
        </p:nvSpPr>
        <p:spPr>
          <a:xfrm>
            <a:off x="849853" y="1945200"/>
            <a:ext cx="10377487" cy="1914525"/>
          </a:xfrm>
        </p:spPr>
        <p:txBody>
          <a:bodyPr>
            <a:normAutofit fontScale="90000"/>
          </a:bodyPr>
          <a:lstStyle/>
          <a:p>
            <a:pPr>
              <a:lnSpc>
                <a:spcPct val="150000"/>
              </a:lnSpc>
            </a:pPr>
            <a:r>
              <a:rPr lang="en-US" altLang="zh-CN" sz="4800" b="1" dirty="0"/>
              <a:t/>
            </a:r>
            <a:br>
              <a:rPr lang="en-US" altLang="zh-CN" sz="4800" b="1" dirty="0"/>
            </a:br>
            <a:r>
              <a:rPr lang="zh-CN" altLang="en-US" sz="6000" b="1" dirty="0"/>
              <a:t>最全</a:t>
            </a:r>
            <a:r>
              <a:rPr lang="en-US" altLang="zh-CN" sz="6000" b="1" dirty="0"/>
              <a:t>A</a:t>
            </a:r>
            <a:r>
              <a:rPr lang="zh-CN" altLang="en-US" sz="6000" b="1" dirty="0"/>
              <a:t>股</a:t>
            </a:r>
            <a:r>
              <a:rPr lang="zh-CN" altLang="en-US" sz="6000" b="1" dirty="0">
                <a:solidFill>
                  <a:srgbClr val="EA5838"/>
                </a:solidFill>
              </a:rPr>
              <a:t>指数</a:t>
            </a:r>
            <a:r>
              <a:rPr lang="zh-CN" altLang="en-US" sz="6000" b="1" dirty="0"/>
              <a:t>，值得更好的</a:t>
            </a:r>
            <a:r>
              <a:rPr lang="zh-CN" altLang="en-US" sz="6000" b="1" dirty="0">
                <a:solidFill>
                  <a:srgbClr val="EA5838"/>
                </a:solidFill>
              </a:rPr>
              <a:t>增强</a:t>
            </a:r>
            <a:r>
              <a:rPr lang="en-US" altLang="zh-CN" sz="6700" b="1" dirty="0"/>
              <a:t/>
            </a:r>
            <a:br>
              <a:rPr lang="en-US" altLang="zh-CN" sz="6700" b="1" dirty="0"/>
            </a:br>
            <a:r>
              <a:rPr lang="zh-CN" altLang="en-US" sz="2800" b="1" dirty="0"/>
              <a:t>博道中证全指指数增强型证券投资基金</a:t>
            </a:r>
            <a:r>
              <a:rPr lang="en-US" altLang="zh-CN" sz="2800" b="1" dirty="0"/>
              <a:t/>
            </a:r>
            <a:br>
              <a:rPr lang="en-US" altLang="zh-CN" sz="2800" b="1" dirty="0"/>
            </a:br>
            <a:r>
              <a:rPr lang="en-US" altLang="zh-CN" sz="1600" b="1" dirty="0"/>
              <a:t>【</a:t>
            </a:r>
            <a:r>
              <a:rPr lang="zh-CN" altLang="en-US" sz="1600" b="1" dirty="0"/>
              <a:t>基金代码：</a:t>
            </a:r>
            <a:r>
              <a:rPr lang="en-US" altLang="zh-CN" sz="1600" b="1" dirty="0"/>
              <a:t>A</a:t>
            </a:r>
            <a:r>
              <a:rPr lang="zh-CN" altLang="en-US" sz="1600" b="1" dirty="0"/>
              <a:t>类</a:t>
            </a:r>
            <a:r>
              <a:rPr lang="en-US" altLang="zh-CN" sz="1600" b="1" dirty="0"/>
              <a:t>025020 / C</a:t>
            </a:r>
            <a:r>
              <a:rPr lang="zh-CN" altLang="en-US" sz="1600" b="1" dirty="0"/>
              <a:t>类</a:t>
            </a:r>
            <a:r>
              <a:rPr lang="en-US" altLang="zh-CN" sz="1600" b="1" dirty="0"/>
              <a:t>025021</a:t>
            </a:r>
            <a:r>
              <a:rPr lang="en-US" altLang="zh-CN" sz="1800" b="1" dirty="0"/>
              <a:t>】</a:t>
            </a:r>
            <a:endParaRPr lang="zh-CN" altLang="en-US" sz="1800" b="1" dirty="0"/>
          </a:p>
        </p:txBody>
      </p:sp>
      <p:sp>
        <p:nvSpPr>
          <p:cNvPr id="6" name="文本框 5"/>
          <p:cNvSpPr txBox="1"/>
          <p:nvPr/>
        </p:nvSpPr>
        <p:spPr>
          <a:xfrm>
            <a:off x="5083175" y="4567238"/>
            <a:ext cx="2057400" cy="379412"/>
          </a:xfrm>
          <a:prstGeom prst="rect">
            <a:avLst/>
          </a:prstGeom>
          <a:noFill/>
          <a:ln w="12700" cap="flat">
            <a:noFill/>
            <a:miter lim="400000"/>
          </a:ln>
        </p:spPr>
        <p:style>
          <a:lnRef idx="0">
            <a:scrgbClr r="0" g="0" b="0"/>
          </a:lnRef>
          <a:fillRef idx="0">
            <a:scrgbClr r="0" g="0" b="0"/>
          </a:fillRef>
          <a:effectRef idx="0">
            <a:scrgbClr r="0" g="0" b="0"/>
          </a:effectRef>
          <a:fontRef idx="none"/>
        </p:style>
        <p:txBody>
          <a:bodyPr lIns="50800" tIns="50800" rIns="50800" bIns="50800" anchor="ctr">
            <a:spAutoFit/>
          </a:bodyPr>
          <a:lstStyle>
            <a:lvl1pPr defTabSz="824230">
              <a:defRPr>
                <a:solidFill>
                  <a:schemeClr val="tx1"/>
                </a:solidFill>
                <a:latin typeface="微软雅黑" panose="020B0503020204020204" pitchFamily="34" charset="-122"/>
                <a:ea typeface="微软雅黑" panose="020B0503020204020204" pitchFamily="34" charset="-122"/>
              </a:defRPr>
            </a:lvl1pPr>
            <a:lvl2pPr marL="742950" indent="-285750" defTabSz="824230">
              <a:defRPr>
                <a:solidFill>
                  <a:schemeClr val="tx1"/>
                </a:solidFill>
                <a:latin typeface="微软雅黑" panose="020B0503020204020204" pitchFamily="34" charset="-122"/>
                <a:ea typeface="微软雅黑" panose="020B0503020204020204" pitchFamily="34" charset="-122"/>
              </a:defRPr>
            </a:lvl2pPr>
            <a:lvl3pPr marL="1143000" indent="-228600" defTabSz="824230">
              <a:defRPr>
                <a:solidFill>
                  <a:schemeClr val="tx1"/>
                </a:solidFill>
                <a:latin typeface="微软雅黑" panose="020B0503020204020204" pitchFamily="34" charset="-122"/>
                <a:ea typeface="微软雅黑" panose="020B0503020204020204" pitchFamily="34" charset="-122"/>
              </a:defRPr>
            </a:lvl3pPr>
            <a:lvl4pPr marL="1600200" indent="-228600" defTabSz="824230">
              <a:defRPr>
                <a:solidFill>
                  <a:schemeClr val="tx1"/>
                </a:solidFill>
                <a:latin typeface="微软雅黑" panose="020B0503020204020204" pitchFamily="34" charset="-122"/>
                <a:ea typeface="微软雅黑" panose="020B0503020204020204" pitchFamily="34" charset="-122"/>
              </a:defRPr>
            </a:lvl4pPr>
            <a:lvl5pPr marL="2057400" indent="-228600" defTabSz="824230">
              <a:defRPr>
                <a:solidFill>
                  <a:schemeClr val="tx1"/>
                </a:solidFill>
                <a:latin typeface="微软雅黑" panose="020B0503020204020204" pitchFamily="34" charset="-122"/>
                <a:ea typeface="微软雅黑" panose="020B0503020204020204" pitchFamily="34" charset="-122"/>
              </a:defRPr>
            </a:lvl5pPr>
            <a:lvl6pPr marL="2514600" indent="-228600" defTabSz="82423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defTabSz="82423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defTabSz="82423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defTabSz="82423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a:r>
              <a:rPr lang="en-US" altLang="zh-CN" b="1" dirty="0">
                <a:solidFill>
                  <a:srgbClr val="FFFFFF"/>
                </a:solidFill>
                <a:latin typeface="+mj-ea"/>
                <a:ea typeface="+mj-ea"/>
                <a:cs typeface="Helvetica Neue" panose="02000503000000020004"/>
                <a:sym typeface="Helvetica Neue" panose="02000503000000020004"/>
              </a:rPr>
              <a:t>2026</a:t>
            </a:r>
            <a:r>
              <a:rPr lang="zh-CN" altLang="en-US" b="1" dirty="0">
                <a:solidFill>
                  <a:srgbClr val="FFFFFF"/>
                </a:solidFill>
                <a:latin typeface="+mj-ea"/>
                <a:ea typeface="+mj-ea"/>
                <a:cs typeface="Helvetica Neue" panose="02000503000000020004"/>
                <a:sym typeface="Helvetica Neue" panose="02000503000000020004"/>
              </a:rPr>
              <a:t>年</a:t>
            </a:r>
            <a:r>
              <a:rPr lang="en-US" altLang="zh-CN" b="1" dirty="0">
                <a:solidFill>
                  <a:srgbClr val="FFFFFF"/>
                </a:solidFill>
                <a:latin typeface="+mj-ea"/>
                <a:ea typeface="+mj-ea"/>
                <a:cs typeface="Helvetica Neue" panose="02000503000000020004"/>
                <a:sym typeface="Helvetica Neue" panose="02000503000000020004"/>
              </a:rPr>
              <a:t>06</a:t>
            </a:r>
            <a:r>
              <a:rPr lang="zh-CN" altLang="en-US" b="1" dirty="0">
                <a:solidFill>
                  <a:srgbClr val="FFFFFF"/>
                </a:solidFill>
                <a:latin typeface="+mj-ea"/>
                <a:ea typeface="+mj-ea"/>
                <a:cs typeface="Helvetica Neue" panose="02000503000000020004"/>
                <a:sym typeface="Helvetica Neue" panose="02000503000000020004"/>
              </a:rPr>
              <a:t>月</a:t>
            </a:r>
          </a:p>
        </p:txBody>
      </p:sp>
      <p:pic>
        <p:nvPicPr>
          <p:cNvPr id="12292" name="图片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96263" y="209550"/>
            <a:ext cx="444182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91F882-69EA-A72D-E003-76252AE8DB18}"/>
            </a:ext>
          </a:extLst>
        </p:cNvPr>
        <p:cNvGrpSpPr/>
        <p:nvPr/>
      </p:nvGrpSpPr>
      <p:grpSpPr>
        <a:xfrm>
          <a:off x="0" y="0"/>
          <a:ext cx="0" cy="0"/>
          <a:chOff x="0" y="0"/>
          <a:chExt cx="0" cy="0"/>
        </a:xfrm>
      </p:grpSpPr>
      <p:graphicFrame>
        <p:nvGraphicFramePr>
          <p:cNvPr id="14" name="图表 13">
            <a:extLst>
              <a:ext uri="{FF2B5EF4-FFF2-40B4-BE49-F238E27FC236}">
                <a16:creationId xmlns:a16="http://schemas.microsoft.com/office/drawing/2014/main" xmlns="" id="{7B374D75-43D3-C3FF-8875-E045B68A38AD}"/>
              </a:ext>
            </a:extLst>
          </p:cNvPr>
          <p:cNvGraphicFramePr>
            <a:graphicFrameLocks/>
          </p:cNvGraphicFramePr>
          <p:nvPr>
            <p:extLst>
              <p:ext uri="{D42A27DB-BD31-4B8C-83A1-F6EECF244321}">
                <p14:modId xmlns:p14="http://schemas.microsoft.com/office/powerpoint/2010/main" val="877598326"/>
              </p:ext>
            </p:extLst>
          </p:nvPr>
        </p:nvGraphicFramePr>
        <p:xfrm>
          <a:off x="532803" y="2465496"/>
          <a:ext cx="5760000" cy="3240000"/>
        </p:xfrm>
        <a:graphic>
          <a:graphicData uri="http://schemas.openxmlformats.org/drawingml/2006/chart">
            <c:chart xmlns:c="http://schemas.openxmlformats.org/drawingml/2006/chart" xmlns:r="http://schemas.openxmlformats.org/officeDocument/2006/relationships" r:id="rId2"/>
          </a:graphicData>
        </a:graphic>
      </p:graphicFrame>
      <p:sp>
        <p:nvSpPr>
          <p:cNvPr id="5" name="灯片编号占位符 4">
            <a:extLst>
              <a:ext uri="{FF2B5EF4-FFF2-40B4-BE49-F238E27FC236}">
                <a16:creationId xmlns:a16="http://schemas.microsoft.com/office/drawing/2014/main" xmlns="" id="{4F0630CB-8FDF-A751-AE39-A364FE376D57}"/>
              </a:ext>
            </a:extLst>
          </p:cNvPr>
          <p:cNvSpPr>
            <a:spLocks noGrp="1"/>
          </p:cNvSpPr>
          <p:nvPr>
            <p:ph type="sldNum" sz="quarter" idx="11"/>
          </p:nvPr>
        </p:nvSpPr>
        <p:spPr/>
        <p:txBody>
          <a:bodyPr/>
          <a:lstStyle/>
          <a:p>
            <a:pPr>
              <a:defRPr/>
            </a:pPr>
            <a:fld id="{49FB53F7-37AE-4152-A115-BFA7398457ED}" type="slidenum">
              <a:rPr lang="zh-CN" altLang="en-US" smtClean="0"/>
              <a:t>2</a:t>
            </a:fld>
            <a:endParaRPr lang="zh-CN" altLang="en-US" dirty="0"/>
          </a:p>
        </p:txBody>
      </p:sp>
      <p:sp>
        <p:nvSpPr>
          <p:cNvPr id="8" name="副标题 2">
            <a:extLst>
              <a:ext uri="{FF2B5EF4-FFF2-40B4-BE49-F238E27FC236}">
                <a16:creationId xmlns:a16="http://schemas.microsoft.com/office/drawing/2014/main" xmlns="" id="{59310C62-3EE3-AB44-4664-0EAB4B60C37D}"/>
              </a:ext>
            </a:extLst>
          </p:cNvPr>
          <p:cNvSpPr>
            <a:spLocks noGrp="1"/>
          </p:cNvSpPr>
          <p:nvPr>
            <p:ph type="subTitle" idx="1"/>
          </p:nvPr>
        </p:nvSpPr>
        <p:spPr>
          <a:xfrm>
            <a:off x="569341" y="980225"/>
            <a:ext cx="11004821" cy="1427072"/>
          </a:xfrm>
        </p:spPr>
        <p:txBody>
          <a:bodyPr>
            <a:normAutofit/>
          </a:bodyPr>
          <a:lstStyle/>
          <a:p>
            <a:pPr>
              <a:spcBef>
                <a:spcPts val="300"/>
              </a:spcBef>
              <a:buClr>
                <a:srgbClr val="002060"/>
              </a:buClr>
            </a:pPr>
            <a:r>
              <a:rPr lang="zh-CN" altLang="en-US" sz="1600" dirty="0">
                <a:solidFill>
                  <a:prstClr val="black"/>
                </a:solidFill>
              </a:rPr>
              <a:t>博道中证全指增强于</a:t>
            </a:r>
            <a:r>
              <a:rPr lang="en-US" altLang="zh-CN" sz="1600" dirty="0">
                <a:solidFill>
                  <a:prstClr val="black"/>
                </a:solidFill>
              </a:rPr>
              <a:t>2025</a:t>
            </a:r>
            <a:r>
              <a:rPr lang="zh-CN" altLang="en-US" sz="1600" dirty="0">
                <a:solidFill>
                  <a:prstClr val="black"/>
                </a:solidFill>
              </a:rPr>
              <a:t>年</a:t>
            </a:r>
            <a:r>
              <a:rPr lang="en-US" altLang="zh-CN" sz="1600" dirty="0">
                <a:solidFill>
                  <a:prstClr val="black"/>
                </a:solidFill>
              </a:rPr>
              <a:t>9</a:t>
            </a:r>
            <a:r>
              <a:rPr lang="zh-CN" altLang="en-US" sz="1600" dirty="0">
                <a:solidFill>
                  <a:prstClr val="black"/>
                </a:solidFill>
              </a:rPr>
              <a:t>月</a:t>
            </a:r>
            <a:r>
              <a:rPr lang="en-US" altLang="zh-CN" sz="1600" dirty="0">
                <a:solidFill>
                  <a:prstClr val="black"/>
                </a:solidFill>
              </a:rPr>
              <a:t>9</a:t>
            </a:r>
            <a:r>
              <a:rPr lang="zh-CN" altLang="en-US" sz="1600" dirty="0">
                <a:solidFill>
                  <a:prstClr val="black"/>
                </a:solidFill>
              </a:rPr>
              <a:t>日成立。</a:t>
            </a:r>
          </a:p>
          <a:p>
            <a:pPr>
              <a:spcBef>
                <a:spcPts val="300"/>
              </a:spcBef>
              <a:buClr>
                <a:srgbClr val="002060"/>
              </a:buClr>
            </a:pPr>
            <a:r>
              <a:rPr lang="zh-CN" altLang="en-US" sz="1600" dirty="0">
                <a:solidFill>
                  <a:prstClr val="black"/>
                </a:solidFill>
              </a:rPr>
              <a:t>截至</a:t>
            </a:r>
            <a:r>
              <a:rPr lang="en-US" altLang="zh-CN" sz="1600" dirty="0">
                <a:solidFill>
                  <a:prstClr val="black"/>
                </a:solidFill>
              </a:rPr>
              <a:t>2026</a:t>
            </a:r>
            <a:r>
              <a:rPr lang="zh-CN" altLang="en-US" sz="1600" dirty="0">
                <a:solidFill>
                  <a:prstClr val="black"/>
                </a:solidFill>
              </a:rPr>
              <a:t>年</a:t>
            </a:r>
            <a:r>
              <a:rPr lang="en-US" altLang="zh-CN" sz="1600" dirty="0">
                <a:solidFill>
                  <a:prstClr val="black"/>
                </a:solidFill>
              </a:rPr>
              <a:t>6</a:t>
            </a:r>
            <a:r>
              <a:rPr lang="zh-CN" altLang="en-US" sz="1600" dirty="0">
                <a:solidFill>
                  <a:prstClr val="black"/>
                </a:solidFill>
              </a:rPr>
              <a:t>月</a:t>
            </a:r>
            <a:r>
              <a:rPr lang="en-US" altLang="zh-CN" sz="1600" dirty="0">
                <a:solidFill>
                  <a:prstClr val="black"/>
                </a:solidFill>
              </a:rPr>
              <a:t>18</a:t>
            </a:r>
            <a:r>
              <a:rPr lang="zh-CN" altLang="en-US" sz="1600" dirty="0">
                <a:solidFill>
                  <a:prstClr val="black"/>
                </a:solidFill>
              </a:rPr>
              <a:t>日，博道中证全指增强</a:t>
            </a:r>
            <a:r>
              <a:rPr lang="en-US" altLang="zh-CN" sz="1600" dirty="0">
                <a:solidFill>
                  <a:prstClr val="black"/>
                </a:solidFill>
              </a:rPr>
              <a:t>A</a:t>
            </a:r>
            <a:r>
              <a:rPr lang="zh-CN" altLang="en-US" sz="1600" dirty="0">
                <a:solidFill>
                  <a:prstClr val="black"/>
                </a:solidFill>
              </a:rPr>
              <a:t>今年以来累计回报</a:t>
            </a:r>
            <a:r>
              <a:rPr lang="en-US" altLang="zh-CN" sz="1600" b="1" dirty="0">
                <a:solidFill>
                  <a:srgbClr val="EA5838"/>
                </a:solidFill>
              </a:rPr>
              <a:t>19.56%</a:t>
            </a:r>
            <a:r>
              <a:rPr lang="zh-CN" altLang="en-US" sz="1600" dirty="0">
                <a:solidFill>
                  <a:prstClr val="black"/>
                </a:solidFill>
              </a:rPr>
              <a:t>，对同期业绩比较基准累计超额收益</a:t>
            </a:r>
            <a:r>
              <a:rPr lang="en-US" altLang="zh-CN" sz="1600" b="1" dirty="0">
                <a:solidFill>
                  <a:srgbClr val="EA5838"/>
                </a:solidFill>
              </a:rPr>
              <a:t>10.21%</a:t>
            </a:r>
            <a:r>
              <a:rPr lang="zh-CN" altLang="en-US" sz="1600" dirty="0">
                <a:solidFill>
                  <a:prstClr val="black"/>
                </a:solidFill>
              </a:rPr>
              <a:t>。成立以来累计回报</a:t>
            </a:r>
            <a:r>
              <a:rPr lang="en-US" altLang="zh-CN" sz="1600" b="1" dirty="0">
                <a:solidFill>
                  <a:srgbClr val="EA5838"/>
                </a:solidFill>
              </a:rPr>
              <a:t>24.47%</a:t>
            </a:r>
            <a:r>
              <a:rPr lang="zh-CN" altLang="en-US" sz="1600" dirty="0">
                <a:solidFill>
                  <a:prstClr val="black"/>
                </a:solidFill>
              </a:rPr>
              <a:t>，对同期业绩比较基准累计超额收益</a:t>
            </a:r>
            <a:r>
              <a:rPr lang="en-US" altLang="zh-CN" sz="1600" b="1" dirty="0">
                <a:solidFill>
                  <a:srgbClr val="EA5838"/>
                </a:solidFill>
              </a:rPr>
              <a:t>10.75%</a:t>
            </a:r>
            <a:r>
              <a:rPr lang="zh-CN" altLang="en-US" sz="1600" dirty="0">
                <a:solidFill>
                  <a:prstClr val="black"/>
                </a:solidFill>
              </a:rPr>
              <a:t>。</a:t>
            </a:r>
            <a:endParaRPr lang="en-US" altLang="zh-CN" sz="1600" dirty="0">
              <a:solidFill>
                <a:prstClr val="black"/>
              </a:solidFill>
            </a:endParaRPr>
          </a:p>
        </p:txBody>
      </p:sp>
      <p:sp>
        <p:nvSpPr>
          <p:cNvPr id="11" name="标题 1">
            <a:extLst>
              <a:ext uri="{FF2B5EF4-FFF2-40B4-BE49-F238E27FC236}">
                <a16:creationId xmlns:a16="http://schemas.microsoft.com/office/drawing/2014/main" xmlns="" id="{65827153-E31F-3365-B1BD-476D2CF4665B}"/>
              </a:ext>
            </a:extLst>
          </p:cNvPr>
          <p:cNvSpPr>
            <a:spLocks noGrp="1"/>
          </p:cNvSpPr>
          <p:nvPr>
            <p:ph type="title"/>
          </p:nvPr>
        </p:nvSpPr>
        <p:spPr>
          <a:xfrm>
            <a:off x="678094" y="201581"/>
            <a:ext cx="10515600" cy="448994"/>
          </a:xfrm>
        </p:spPr>
        <p:txBody>
          <a:bodyPr>
            <a:normAutofit fontScale="90000"/>
          </a:bodyPr>
          <a:lstStyle/>
          <a:p>
            <a:r>
              <a:rPr lang="zh-CN" altLang="en-US" sz="2800" dirty="0"/>
              <a:t>博道</a:t>
            </a:r>
            <a:r>
              <a:rPr lang="zh-CN" altLang="en-US" dirty="0">
                <a:solidFill>
                  <a:srgbClr val="E5551B"/>
                </a:solidFill>
              </a:rPr>
              <a:t>中证全指</a:t>
            </a:r>
            <a:r>
              <a:rPr lang="zh-CN" altLang="en-US" sz="2800" dirty="0">
                <a:solidFill>
                  <a:schemeClr val="accent1">
                    <a:lumMod val="50000"/>
                  </a:schemeClr>
                </a:solidFill>
              </a:rPr>
              <a:t>指数</a:t>
            </a:r>
            <a:r>
              <a:rPr lang="zh-CN" altLang="en-US" sz="2800" dirty="0"/>
              <a:t>增强（</a:t>
            </a:r>
            <a:r>
              <a:rPr lang="en-US" altLang="zh-CN" sz="2800" dirty="0"/>
              <a:t>A</a:t>
            </a:r>
            <a:r>
              <a:rPr lang="zh-CN" altLang="en-US" sz="2800" dirty="0"/>
              <a:t>类</a:t>
            </a:r>
            <a:r>
              <a:rPr lang="en-US" altLang="zh-CN" sz="2800" dirty="0"/>
              <a:t>025020/C</a:t>
            </a:r>
            <a:r>
              <a:rPr lang="zh-CN" altLang="en-US" sz="2800" dirty="0"/>
              <a:t>类</a:t>
            </a:r>
            <a:r>
              <a:rPr lang="en-US" altLang="zh-CN" sz="2800" dirty="0"/>
              <a:t>025021</a:t>
            </a:r>
            <a:r>
              <a:rPr lang="zh-CN" altLang="en-US" sz="2800" dirty="0"/>
              <a:t>）</a:t>
            </a:r>
            <a:endParaRPr lang="zh-CN" altLang="en-US" dirty="0">
              <a:solidFill>
                <a:schemeClr val="accent1">
                  <a:lumMod val="50000"/>
                </a:schemeClr>
              </a:solidFill>
            </a:endParaRPr>
          </a:p>
        </p:txBody>
      </p:sp>
      <p:sp>
        <p:nvSpPr>
          <p:cNvPr id="12" name="矩形 9">
            <a:extLst>
              <a:ext uri="{FF2B5EF4-FFF2-40B4-BE49-F238E27FC236}">
                <a16:creationId xmlns:a16="http://schemas.microsoft.com/office/drawing/2014/main" xmlns="" id="{225D5DAD-CE11-EB9E-A5D1-D4A2AA52E79A}"/>
              </a:ext>
            </a:extLst>
          </p:cNvPr>
          <p:cNvSpPr/>
          <p:nvPr/>
        </p:nvSpPr>
        <p:spPr>
          <a:xfrm>
            <a:off x="2023067" y="6218217"/>
            <a:ext cx="8535987" cy="338554"/>
          </a:xfrm>
          <a:prstGeom prst="rect">
            <a:avLst/>
          </a:prstGeom>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prstClr val="black"/>
                </a:solidFill>
                <a:effectLst/>
                <a:uLnTx/>
                <a:uFillTx/>
                <a:latin typeface="微软雅黑"/>
                <a:ea typeface="微软雅黑"/>
                <a:cs typeface="+mn-cs"/>
                <a:sym typeface="+mn-ea"/>
              </a:rPr>
              <a:t>数据来源：</a:t>
            </a:r>
            <a:r>
              <a:rPr kumimoji="0" lang="en-US" altLang="zh-CN" sz="800" b="0" i="0" u="none" strike="noStrike" kern="1200" cap="none" spc="0" normalizeH="0" baseline="0" noProof="0" dirty="0">
                <a:ln>
                  <a:noFill/>
                </a:ln>
                <a:solidFill>
                  <a:prstClr val="black"/>
                </a:solidFill>
                <a:effectLst/>
                <a:uLnTx/>
                <a:uFillTx/>
                <a:latin typeface="微软雅黑"/>
                <a:ea typeface="微软雅黑"/>
                <a:cs typeface="+mn-cs"/>
                <a:sym typeface="+mn-ea"/>
              </a:rPr>
              <a:t>Wind</a:t>
            </a:r>
            <a:r>
              <a:rPr kumimoji="0" lang="zh-CN" altLang="en-US" sz="800" b="0" i="0" u="none" strike="noStrike" kern="1200" cap="none" spc="0" normalizeH="0" baseline="0" noProof="0" dirty="0">
                <a:ln>
                  <a:noFill/>
                </a:ln>
                <a:solidFill>
                  <a:prstClr val="black"/>
                </a:solidFill>
                <a:effectLst/>
                <a:uLnTx/>
                <a:uFillTx/>
                <a:latin typeface="微软雅黑"/>
                <a:ea typeface="微软雅黑"/>
                <a:cs typeface="+mn-cs"/>
                <a:sym typeface="+mn-ea"/>
              </a:rPr>
              <a:t>，博道基金，截至</a:t>
            </a:r>
            <a:r>
              <a:rPr kumimoji="0" lang="en-US" altLang="zh-CN" sz="800" b="0" i="0" u="none" strike="noStrike" kern="1200" cap="none" spc="0" normalizeH="0" baseline="0" noProof="0" dirty="0">
                <a:ln>
                  <a:noFill/>
                </a:ln>
                <a:solidFill>
                  <a:prstClr val="black"/>
                </a:solidFill>
                <a:effectLst/>
                <a:uLnTx/>
                <a:uFillTx/>
                <a:latin typeface="微软雅黑"/>
                <a:ea typeface="微软雅黑"/>
                <a:cs typeface="+mn-cs"/>
                <a:sym typeface="+mn-ea"/>
              </a:rPr>
              <a:t>2026</a:t>
            </a:r>
            <a:r>
              <a:rPr kumimoji="0" lang="zh-CN" altLang="en-US" sz="800" b="0" i="0" u="none" strike="noStrike" kern="1200" cap="none" spc="0" normalizeH="0" baseline="0" noProof="0" dirty="0">
                <a:ln>
                  <a:noFill/>
                </a:ln>
                <a:solidFill>
                  <a:prstClr val="black"/>
                </a:solidFill>
                <a:effectLst/>
                <a:uLnTx/>
                <a:uFillTx/>
                <a:latin typeface="微软雅黑"/>
                <a:ea typeface="微软雅黑"/>
                <a:cs typeface="+mn-cs"/>
                <a:sym typeface="+mn-ea"/>
              </a:rPr>
              <a:t>年</a:t>
            </a:r>
            <a:r>
              <a:rPr lang="en-US" altLang="zh-CN" sz="800" dirty="0">
                <a:solidFill>
                  <a:prstClr val="black"/>
                </a:solidFill>
                <a:latin typeface="微软雅黑"/>
                <a:ea typeface="微软雅黑"/>
                <a:sym typeface="+mn-ea"/>
              </a:rPr>
              <a:t>6</a:t>
            </a:r>
            <a:r>
              <a:rPr kumimoji="0" lang="zh-CN" altLang="en-US" sz="800" b="0" i="0" u="none" strike="noStrike" kern="1200" cap="none" spc="0" normalizeH="0" baseline="0" noProof="0" dirty="0">
                <a:ln>
                  <a:noFill/>
                </a:ln>
                <a:solidFill>
                  <a:prstClr val="black"/>
                </a:solidFill>
                <a:effectLst/>
                <a:uLnTx/>
                <a:uFillTx/>
                <a:latin typeface="微软雅黑"/>
                <a:ea typeface="微软雅黑"/>
                <a:cs typeface="+mn-cs"/>
                <a:sym typeface="+mn-ea"/>
              </a:rPr>
              <a:t>月</a:t>
            </a:r>
            <a:r>
              <a:rPr lang="en-US" altLang="zh-CN" sz="800" dirty="0">
                <a:solidFill>
                  <a:prstClr val="black"/>
                </a:solidFill>
                <a:latin typeface="微软雅黑"/>
                <a:ea typeface="微软雅黑"/>
                <a:sym typeface="+mn-ea"/>
              </a:rPr>
              <a:t>18</a:t>
            </a:r>
            <a:r>
              <a:rPr kumimoji="0" lang="zh-CN" altLang="en-US" sz="800" b="0" i="0" u="none" strike="noStrike" kern="1200" cap="none" spc="0" normalizeH="0" baseline="0" noProof="0" dirty="0">
                <a:ln>
                  <a:noFill/>
                </a:ln>
                <a:solidFill>
                  <a:prstClr val="black"/>
                </a:solidFill>
                <a:effectLst/>
                <a:uLnTx/>
                <a:uFillTx/>
                <a:latin typeface="微软雅黑"/>
                <a:ea typeface="微软雅黑"/>
                <a:cs typeface="+mn-cs"/>
                <a:sym typeface="+mn-ea"/>
              </a:rPr>
              <a:t>日</a:t>
            </a:r>
            <a:r>
              <a:rPr lang="zh-CN" altLang="en-US" sz="800" dirty="0">
                <a:solidFill>
                  <a:prstClr val="black"/>
                </a:solidFill>
                <a:latin typeface="微软雅黑"/>
                <a:ea typeface="微软雅黑"/>
                <a:sym typeface="+mn-ea"/>
              </a:rPr>
              <a:t>，</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AC</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份额只选取</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类份额。</a:t>
            </a:r>
            <a:r>
              <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panose="02000503000000020004"/>
              </a:rPr>
              <a:t>业绩基准为</a:t>
            </a:r>
            <a:r>
              <a:rPr kumimoji="0" lang="zh-CN" altLang="en-US" sz="8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中证全指指数收益率*</a:t>
            </a:r>
            <a:r>
              <a:rPr kumimoji="0" lang="en-US" altLang="zh-CN" sz="8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95%+</a:t>
            </a:r>
            <a:r>
              <a:rPr kumimoji="0" lang="zh-CN" altLang="en-US" sz="8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同期银行活期存款利率</a:t>
            </a:r>
            <a:r>
              <a:rPr kumimoji="0" lang="en-US" altLang="zh-CN" sz="8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a:t>
            </a:r>
            <a:r>
              <a:rPr kumimoji="0" lang="zh-CN" altLang="en-US" sz="8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税后</a:t>
            </a:r>
            <a:r>
              <a:rPr kumimoji="0" lang="en-US" altLang="zh-CN" sz="8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)*5%</a:t>
            </a:r>
            <a:r>
              <a:rPr kumimoji="0" lang="zh-CN" altLang="en-US" sz="8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a:t>
            </a:r>
            <a:endParaRPr kumimoji="0" lang="en-US" altLang="zh-CN" sz="800" b="0" i="0" u="none" strike="noStrike" kern="1200" cap="none" spc="0" normalizeH="0" baseline="0" noProof="0" dirty="0">
              <a:ln>
                <a:noFill/>
              </a:ln>
              <a:solidFill>
                <a:prstClr val="black"/>
              </a:solidFill>
              <a:effectLst/>
              <a:uLnTx/>
              <a:uFillTx/>
              <a:latin typeface="微软雅黑"/>
              <a:ea typeface="微软雅黑"/>
              <a:cs typeface="+mn-cs"/>
              <a:sym typeface="+mn-ea"/>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prstClr val="black"/>
                </a:solidFill>
                <a:effectLst/>
                <a:uLnTx/>
                <a:uFillTx/>
                <a:latin typeface="微软雅黑"/>
                <a:ea typeface="微软雅黑"/>
                <a:cs typeface="+mn-cs"/>
                <a:sym typeface="+mn-ea"/>
              </a:rPr>
              <a:t>风险提示：历史业绩并不代表未来表现。我国股市运作时间较短，不能反映证券市场发展的所有阶段。</a:t>
            </a:r>
          </a:p>
        </p:txBody>
      </p:sp>
      <p:graphicFrame>
        <p:nvGraphicFramePr>
          <p:cNvPr id="13" name="Google Shape;113;p1">
            <a:extLst>
              <a:ext uri="{FF2B5EF4-FFF2-40B4-BE49-F238E27FC236}">
                <a16:creationId xmlns:a16="http://schemas.microsoft.com/office/drawing/2014/main" xmlns="" id="{F12805D8-078F-9DBC-D67A-9DC471AC7DB8}"/>
              </a:ext>
            </a:extLst>
          </p:cNvPr>
          <p:cNvGraphicFramePr/>
          <p:nvPr>
            <p:extLst>
              <p:ext uri="{D42A27DB-BD31-4B8C-83A1-F6EECF244321}">
                <p14:modId xmlns:p14="http://schemas.microsoft.com/office/powerpoint/2010/main" val="1829907400"/>
              </p:ext>
            </p:extLst>
          </p:nvPr>
        </p:nvGraphicFramePr>
        <p:xfrm>
          <a:off x="6176383" y="2588663"/>
          <a:ext cx="5159828" cy="2321087"/>
        </p:xfrm>
        <a:graphic>
          <a:graphicData uri="http://schemas.openxmlformats.org/drawingml/2006/table">
            <a:tbl>
              <a:tblPr>
                <a:noFill/>
              </a:tblPr>
              <a:tblGrid>
                <a:gridCol w="1166281">
                  <a:extLst>
                    <a:ext uri="{9D8B030D-6E8A-4147-A177-3AD203B41FA5}">
                      <a16:colId xmlns:a16="http://schemas.microsoft.com/office/drawing/2014/main" xmlns="" val="20000"/>
                    </a:ext>
                  </a:extLst>
                </a:gridCol>
                <a:gridCol w="1622222">
                  <a:extLst>
                    <a:ext uri="{9D8B030D-6E8A-4147-A177-3AD203B41FA5}">
                      <a16:colId xmlns:a16="http://schemas.microsoft.com/office/drawing/2014/main" xmlns="" val="20001"/>
                    </a:ext>
                  </a:extLst>
                </a:gridCol>
                <a:gridCol w="1336699">
                  <a:extLst>
                    <a:ext uri="{9D8B030D-6E8A-4147-A177-3AD203B41FA5}">
                      <a16:colId xmlns:a16="http://schemas.microsoft.com/office/drawing/2014/main" xmlns="" val="20002"/>
                    </a:ext>
                  </a:extLst>
                </a:gridCol>
                <a:gridCol w="1034626">
                  <a:extLst>
                    <a:ext uri="{9D8B030D-6E8A-4147-A177-3AD203B41FA5}">
                      <a16:colId xmlns:a16="http://schemas.microsoft.com/office/drawing/2014/main" xmlns="" val="20003"/>
                    </a:ext>
                  </a:extLst>
                </a:gridCol>
              </a:tblGrid>
              <a:tr h="809594">
                <a:tc>
                  <a:txBody>
                    <a:bodyPr/>
                    <a:lstStyle/>
                    <a:p>
                      <a:pPr marL="0" marR="0" lvl="0" indent="0" algn="ctr" rtl="0">
                        <a:spcBef>
                          <a:spcPts val="0"/>
                        </a:spcBef>
                        <a:spcAft>
                          <a:spcPts val="0"/>
                        </a:spcAft>
                        <a:buNone/>
                      </a:pPr>
                      <a:r>
                        <a:rPr lang="zh-CN" sz="1200" b="1" i="0" u="none" strike="noStrike" cap="none" dirty="0">
                          <a:solidFill>
                            <a:srgbClr val="FFFFFF"/>
                          </a:solidFill>
                          <a:latin typeface="Microsoft Yahei"/>
                          <a:ea typeface="Microsoft Yahei"/>
                          <a:cs typeface="Microsoft Yahei"/>
                          <a:sym typeface="Microsoft Yahei"/>
                        </a:rPr>
                        <a:t>时间区间</a:t>
                      </a:r>
                      <a:endParaRPr sz="36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03565"/>
                    </a:solidFill>
                  </a:tcPr>
                </a:tc>
                <a:tc>
                  <a:txBody>
                    <a:bodyPr/>
                    <a:lstStyle/>
                    <a:p>
                      <a:pPr marL="0" marR="0" lvl="0" indent="0" algn="ctr" rtl="0">
                        <a:spcBef>
                          <a:spcPts val="0"/>
                        </a:spcBef>
                        <a:spcAft>
                          <a:spcPts val="0"/>
                        </a:spcAft>
                        <a:buNone/>
                      </a:pPr>
                      <a:r>
                        <a:rPr lang="zh-CN" sz="1200" b="1" i="0" u="none" strike="noStrike" cap="none" dirty="0">
                          <a:solidFill>
                            <a:srgbClr val="FFFFFF"/>
                          </a:solidFill>
                          <a:latin typeface="Microsoft Yahei"/>
                          <a:ea typeface="Microsoft Yahei"/>
                          <a:cs typeface="Microsoft Yahei"/>
                          <a:sym typeface="Microsoft Yahei"/>
                        </a:rPr>
                        <a:t>博道中证全指增强A</a:t>
                      </a:r>
                      <a:endParaRPr lang="en-US" altLang="zh-CN" sz="1200" b="1" i="0" u="none" strike="noStrike" cap="none" dirty="0">
                        <a:solidFill>
                          <a:srgbClr val="FFFFFF"/>
                        </a:solidFill>
                        <a:latin typeface="Microsoft Yahei"/>
                        <a:ea typeface="Microsoft Yahei"/>
                        <a:cs typeface="Microsoft Yahei"/>
                        <a:sym typeface="Microsoft Yahei"/>
                      </a:endParaRPr>
                    </a:p>
                    <a:p>
                      <a:pPr marL="0" marR="0" lvl="0" indent="0" algn="ctr" rtl="0">
                        <a:spcBef>
                          <a:spcPts val="0"/>
                        </a:spcBef>
                        <a:spcAft>
                          <a:spcPts val="0"/>
                        </a:spcAft>
                        <a:buNone/>
                      </a:pPr>
                      <a:r>
                        <a:rPr lang="zh-CN" sz="1200" b="1" i="0" u="none" strike="noStrike" cap="none" dirty="0">
                          <a:solidFill>
                            <a:srgbClr val="FFFFFF"/>
                          </a:solidFill>
                          <a:latin typeface="Microsoft Yahei"/>
                          <a:ea typeface="Microsoft Yahei"/>
                          <a:cs typeface="Microsoft Yahei"/>
                          <a:sym typeface="Microsoft Yahei"/>
                        </a:rPr>
                        <a:t>净值收益率</a:t>
                      </a:r>
                      <a:endParaRPr sz="36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03565"/>
                    </a:solidFill>
                  </a:tcPr>
                </a:tc>
                <a:tc>
                  <a:txBody>
                    <a:bodyPr/>
                    <a:lstStyle/>
                    <a:p>
                      <a:pPr marL="0" marR="0" lvl="0" indent="0" algn="ctr" rtl="0">
                        <a:spcBef>
                          <a:spcPts val="0"/>
                        </a:spcBef>
                        <a:spcAft>
                          <a:spcPts val="0"/>
                        </a:spcAft>
                        <a:buNone/>
                      </a:pPr>
                      <a:r>
                        <a:rPr lang="zh-CN" sz="1200" b="1" i="0" u="none" strike="noStrike" cap="none" dirty="0">
                          <a:solidFill>
                            <a:srgbClr val="FFFFFF"/>
                          </a:solidFill>
                          <a:latin typeface="Microsoft Yahei"/>
                          <a:ea typeface="Microsoft Yahei"/>
                          <a:cs typeface="Microsoft Yahei"/>
                          <a:sym typeface="Microsoft Yahei"/>
                        </a:rPr>
                        <a:t>业绩比较基准</a:t>
                      </a:r>
                      <a:endParaRPr sz="36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03565"/>
                    </a:solidFill>
                  </a:tcPr>
                </a:tc>
                <a:tc>
                  <a:txBody>
                    <a:bodyPr/>
                    <a:lstStyle/>
                    <a:p>
                      <a:pPr marL="0" marR="0" lvl="0" indent="0" algn="ctr" rtl="0">
                        <a:spcBef>
                          <a:spcPts val="0"/>
                        </a:spcBef>
                        <a:spcAft>
                          <a:spcPts val="0"/>
                        </a:spcAft>
                        <a:buNone/>
                      </a:pPr>
                      <a:r>
                        <a:rPr lang="zh-CN" sz="1200" b="1" i="0" u="none" strike="noStrike" cap="none" dirty="0">
                          <a:solidFill>
                            <a:srgbClr val="FFFFFF"/>
                          </a:solidFill>
                          <a:latin typeface="Microsoft Yahei"/>
                          <a:ea typeface="Microsoft Yahei"/>
                          <a:cs typeface="Microsoft Yahei"/>
                          <a:sym typeface="Microsoft Yahei"/>
                        </a:rPr>
                        <a:t>超额收益</a:t>
                      </a:r>
                      <a:endParaRPr sz="36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03565"/>
                    </a:solidFill>
                  </a:tcPr>
                </a:tc>
                <a:extLst>
                  <a:ext uri="{0D108BD9-81ED-4DB2-BD59-A6C34878D82A}">
                    <a16:rowId xmlns:a16="http://schemas.microsoft.com/office/drawing/2014/main" xmlns="" val="10000"/>
                  </a:ext>
                </a:extLst>
              </a:tr>
              <a:tr h="801262">
                <a:tc>
                  <a:txBody>
                    <a:bodyPr/>
                    <a:lstStyle/>
                    <a:p>
                      <a:pPr marL="0" marR="0" lvl="0" indent="0" algn="ctr" rtl="0">
                        <a:spcBef>
                          <a:spcPts val="0"/>
                        </a:spcBef>
                        <a:spcAft>
                          <a:spcPts val="0"/>
                        </a:spcAft>
                        <a:buNone/>
                      </a:pPr>
                      <a:r>
                        <a:rPr lang="zh-CN" sz="1200" b="1" i="0" u="none" strike="noStrike" cap="none" dirty="0">
                          <a:solidFill>
                            <a:srgbClr val="000000"/>
                          </a:solidFill>
                          <a:latin typeface="Microsoft Yahei"/>
                          <a:ea typeface="Microsoft Yahei"/>
                          <a:cs typeface="Microsoft Yahei"/>
                          <a:sym typeface="Microsoft Yahei"/>
                        </a:rPr>
                        <a:t>今年以来</a:t>
                      </a:r>
                      <a:endParaRPr sz="36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zh-CN" sz="1400" b="1" dirty="0">
                          <a:solidFill>
                            <a:srgbClr val="EA5838"/>
                          </a:solidFill>
                          <a:latin typeface="Microsoft Yahei"/>
                          <a:ea typeface="Microsoft Yahei"/>
                          <a:cs typeface="Microsoft Yahei"/>
                          <a:sym typeface="Microsoft Yahei"/>
                        </a:rPr>
                        <a:t>1</a:t>
                      </a:r>
                      <a:r>
                        <a:rPr lang="en-US" altLang="zh-CN" sz="1400" b="1" dirty="0">
                          <a:solidFill>
                            <a:srgbClr val="EA5838"/>
                          </a:solidFill>
                          <a:latin typeface="Microsoft Yahei"/>
                          <a:ea typeface="Microsoft Yahei"/>
                          <a:cs typeface="Microsoft Yahei"/>
                          <a:sym typeface="Microsoft Yahei"/>
                        </a:rPr>
                        <a:t>9</a:t>
                      </a:r>
                      <a:r>
                        <a:rPr lang="zh-CN" sz="1400" b="1" dirty="0">
                          <a:solidFill>
                            <a:srgbClr val="EA5838"/>
                          </a:solidFill>
                          <a:latin typeface="Microsoft Yahei"/>
                          <a:ea typeface="Microsoft Yahei"/>
                          <a:cs typeface="Microsoft Yahei"/>
                          <a:sym typeface="Microsoft Yahei"/>
                        </a:rPr>
                        <a:t>.</a:t>
                      </a:r>
                      <a:r>
                        <a:rPr lang="en-US" altLang="zh-CN" sz="1400" b="1" dirty="0">
                          <a:solidFill>
                            <a:srgbClr val="EA5838"/>
                          </a:solidFill>
                          <a:latin typeface="Microsoft Yahei"/>
                          <a:ea typeface="Microsoft Yahei"/>
                          <a:cs typeface="Microsoft Yahei"/>
                          <a:sym typeface="Microsoft Yahei"/>
                        </a:rPr>
                        <a:t>56</a:t>
                      </a:r>
                      <a:r>
                        <a:rPr lang="zh-CN" sz="1400" b="1" i="0" u="none" strike="noStrike" cap="none" dirty="0">
                          <a:solidFill>
                            <a:srgbClr val="EA5838"/>
                          </a:solidFill>
                          <a:latin typeface="Microsoft Yahei"/>
                          <a:ea typeface="Microsoft Yahei"/>
                          <a:cs typeface="Microsoft Yahei"/>
                          <a:sym typeface="Microsoft Yahei"/>
                        </a:rPr>
                        <a:t>%</a:t>
                      </a:r>
                      <a:endParaRPr sz="32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altLang="zh-CN" sz="1200" dirty="0">
                          <a:latin typeface="Microsoft Yahei"/>
                          <a:ea typeface="Microsoft Yahei"/>
                          <a:cs typeface="Microsoft Yahei"/>
                          <a:sym typeface="Microsoft Yahei"/>
                        </a:rPr>
                        <a:t>9</a:t>
                      </a:r>
                      <a:r>
                        <a:rPr lang="zh-CN" sz="1200" dirty="0">
                          <a:latin typeface="Microsoft Yahei"/>
                          <a:ea typeface="Microsoft Yahei"/>
                          <a:cs typeface="Microsoft Yahei"/>
                          <a:sym typeface="Microsoft Yahei"/>
                        </a:rPr>
                        <a:t>.</a:t>
                      </a:r>
                      <a:r>
                        <a:rPr lang="en-US" altLang="zh-CN" sz="1200" dirty="0">
                          <a:latin typeface="Microsoft Yahei"/>
                          <a:ea typeface="Microsoft Yahei"/>
                          <a:cs typeface="Microsoft Yahei"/>
                          <a:sym typeface="Microsoft Yahei"/>
                        </a:rPr>
                        <a:t>35</a:t>
                      </a:r>
                      <a:r>
                        <a:rPr lang="zh-CN" sz="1200" b="0" i="0" u="none" strike="noStrike" cap="none" dirty="0">
                          <a:solidFill>
                            <a:srgbClr val="000000"/>
                          </a:solidFill>
                          <a:latin typeface="Microsoft Yahei"/>
                          <a:ea typeface="Microsoft Yahei"/>
                          <a:cs typeface="Microsoft Yahei"/>
                          <a:sym typeface="Microsoft Yahei"/>
                        </a:rPr>
                        <a:t>%</a:t>
                      </a:r>
                      <a:endParaRPr sz="32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altLang="zh-CN" sz="1400" b="1" dirty="0">
                          <a:solidFill>
                            <a:srgbClr val="EA5838"/>
                          </a:solidFill>
                          <a:latin typeface="Microsoft Yahei"/>
                          <a:ea typeface="Microsoft Yahei"/>
                          <a:cs typeface="Microsoft Yahei"/>
                          <a:sym typeface="Microsoft Yahei"/>
                        </a:rPr>
                        <a:t>10</a:t>
                      </a:r>
                      <a:r>
                        <a:rPr lang="zh-CN" sz="1400" b="1" dirty="0">
                          <a:solidFill>
                            <a:srgbClr val="EA5838"/>
                          </a:solidFill>
                          <a:latin typeface="Microsoft Yahei"/>
                          <a:ea typeface="Microsoft Yahei"/>
                          <a:cs typeface="Microsoft Yahei"/>
                          <a:sym typeface="Microsoft Yahei"/>
                        </a:rPr>
                        <a:t>.</a:t>
                      </a:r>
                      <a:r>
                        <a:rPr lang="en-US" altLang="zh-CN" sz="1400" b="1" dirty="0">
                          <a:solidFill>
                            <a:srgbClr val="EA5838"/>
                          </a:solidFill>
                          <a:latin typeface="Microsoft Yahei"/>
                          <a:ea typeface="Microsoft Yahei"/>
                          <a:cs typeface="Microsoft Yahei"/>
                          <a:sym typeface="Microsoft Yahei"/>
                        </a:rPr>
                        <a:t>21</a:t>
                      </a:r>
                      <a:r>
                        <a:rPr lang="zh-CN" sz="1400" b="1" i="0" u="none" strike="noStrike" cap="none" dirty="0">
                          <a:solidFill>
                            <a:srgbClr val="EA5838"/>
                          </a:solidFill>
                          <a:latin typeface="Microsoft Yahei"/>
                          <a:ea typeface="Microsoft Yahei"/>
                          <a:cs typeface="Microsoft Yahei"/>
                          <a:sym typeface="Microsoft Yahei"/>
                        </a:rPr>
                        <a:t>%</a:t>
                      </a:r>
                      <a:endParaRPr sz="32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xmlns="" val="10001"/>
                  </a:ext>
                </a:extLst>
              </a:tr>
              <a:tr h="710231">
                <a:tc>
                  <a:txBody>
                    <a:bodyPr/>
                    <a:lstStyle/>
                    <a:p>
                      <a:pPr marL="0" marR="0" lvl="0" indent="0" algn="ctr" rtl="0">
                        <a:spcBef>
                          <a:spcPts val="0"/>
                        </a:spcBef>
                        <a:spcAft>
                          <a:spcPts val="0"/>
                        </a:spcAft>
                        <a:buNone/>
                      </a:pPr>
                      <a:r>
                        <a:rPr lang="zh-CN" sz="1200" b="1" i="0" u="none" strike="noStrike" cap="none" dirty="0">
                          <a:solidFill>
                            <a:srgbClr val="000000"/>
                          </a:solidFill>
                          <a:latin typeface="Microsoft Yahei"/>
                          <a:ea typeface="Microsoft Yahei"/>
                          <a:cs typeface="Microsoft Yahei"/>
                          <a:sym typeface="Microsoft Yahei"/>
                        </a:rPr>
                        <a:t>成立以来</a:t>
                      </a:r>
                      <a:endParaRPr sz="36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zh-CN" sz="1400" b="1" dirty="0">
                          <a:solidFill>
                            <a:srgbClr val="EA5838"/>
                          </a:solidFill>
                          <a:latin typeface="Microsoft Yahei"/>
                          <a:ea typeface="Microsoft Yahei"/>
                          <a:cs typeface="Microsoft Yahei"/>
                          <a:sym typeface="Microsoft Yahei"/>
                        </a:rPr>
                        <a:t>2</a:t>
                      </a:r>
                      <a:r>
                        <a:rPr lang="en-US" altLang="zh-CN" sz="1400" b="1" dirty="0">
                          <a:solidFill>
                            <a:srgbClr val="EA5838"/>
                          </a:solidFill>
                          <a:latin typeface="Microsoft Yahei"/>
                          <a:ea typeface="Microsoft Yahei"/>
                          <a:cs typeface="Microsoft Yahei"/>
                          <a:sym typeface="Microsoft Yahei"/>
                        </a:rPr>
                        <a:t>4</a:t>
                      </a:r>
                      <a:r>
                        <a:rPr lang="zh-CN" sz="1400" b="1" dirty="0">
                          <a:solidFill>
                            <a:srgbClr val="EA5838"/>
                          </a:solidFill>
                          <a:latin typeface="Microsoft Yahei"/>
                          <a:ea typeface="Microsoft Yahei"/>
                          <a:cs typeface="Microsoft Yahei"/>
                          <a:sym typeface="Microsoft Yahei"/>
                        </a:rPr>
                        <a:t>.</a:t>
                      </a:r>
                      <a:r>
                        <a:rPr lang="en-US" altLang="zh-CN" sz="1400" b="1" dirty="0">
                          <a:solidFill>
                            <a:srgbClr val="EA5838"/>
                          </a:solidFill>
                          <a:latin typeface="Microsoft Yahei"/>
                          <a:ea typeface="Microsoft Yahei"/>
                          <a:cs typeface="Microsoft Yahei"/>
                          <a:sym typeface="Microsoft Yahei"/>
                        </a:rPr>
                        <a:t>47</a:t>
                      </a:r>
                      <a:r>
                        <a:rPr lang="zh-CN" sz="1400" b="1" i="0" u="none" strike="noStrike" cap="none" dirty="0">
                          <a:solidFill>
                            <a:srgbClr val="EA5838"/>
                          </a:solidFill>
                          <a:latin typeface="Microsoft Yahei"/>
                          <a:ea typeface="Microsoft Yahei"/>
                          <a:cs typeface="Microsoft Yahei"/>
                          <a:sym typeface="Microsoft Yahei"/>
                        </a:rPr>
                        <a:t>%</a:t>
                      </a:r>
                      <a:endParaRPr sz="32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zh-CN" sz="1200" b="0" i="0" u="none" strike="noStrike" cap="none" dirty="0">
                          <a:solidFill>
                            <a:srgbClr val="000000"/>
                          </a:solidFill>
                          <a:latin typeface="Microsoft Yahei"/>
                          <a:ea typeface="Microsoft Yahei"/>
                          <a:cs typeface="Microsoft Yahei"/>
                          <a:sym typeface="Microsoft Yahei"/>
                        </a:rPr>
                        <a:t>1</a:t>
                      </a:r>
                      <a:r>
                        <a:rPr lang="en-US" altLang="zh-CN" sz="1200" b="0" i="0" u="none" strike="noStrike" cap="none" dirty="0">
                          <a:solidFill>
                            <a:srgbClr val="000000"/>
                          </a:solidFill>
                          <a:latin typeface="Microsoft Yahei"/>
                          <a:ea typeface="Microsoft Yahei"/>
                          <a:cs typeface="Microsoft Yahei"/>
                          <a:sym typeface="Microsoft Yahei"/>
                        </a:rPr>
                        <a:t>3</a:t>
                      </a:r>
                      <a:r>
                        <a:rPr lang="zh-CN" sz="1200" dirty="0">
                          <a:latin typeface="Microsoft Yahei"/>
                          <a:ea typeface="Microsoft Yahei"/>
                          <a:cs typeface="Microsoft Yahei"/>
                          <a:sym typeface="Microsoft Yahei"/>
                        </a:rPr>
                        <a:t>.</a:t>
                      </a:r>
                      <a:r>
                        <a:rPr lang="en-US" altLang="zh-CN" sz="1200" dirty="0">
                          <a:latin typeface="Microsoft Yahei"/>
                          <a:ea typeface="Microsoft Yahei"/>
                          <a:cs typeface="Microsoft Yahei"/>
                          <a:sym typeface="Microsoft Yahei"/>
                        </a:rPr>
                        <a:t>72</a:t>
                      </a:r>
                      <a:r>
                        <a:rPr lang="zh-CN" sz="1200" b="0" i="0" u="none" strike="noStrike" cap="none" dirty="0">
                          <a:solidFill>
                            <a:srgbClr val="000000"/>
                          </a:solidFill>
                          <a:latin typeface="Microsoft Yahei"/>
                          <a:ea typeface="Microsoft Yahei"/>
                          <a:cs typeface="Microsoft Yahei"/>
                          <a:sym typeface="Microsoft Yahei"/>
                        </a:rPr>
                        <a:t>%</a:t>
                      </a:r>
                      <a:endParaRPr sz="32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400" b="1" dirty="0">
                          <a:solidFill>
                            <a:srgbClr val="EA5838"/>
                          </a:solidFill>
                          <a:latin typeface="Microsoft Yahei"/>
                          <a:ea typeface="Microsoft Yahei"/>
                          <a:cs typeface="Microsoft Yahei"/>
                          <a:sym typeface="Microsoft Yahei"/>
                        </a:rPr>
                        <a:t>10</a:t>
                      </a:r>
                      <a:r>
                        <a:rPr lang="zh-CN" sz="1400" b="1" dirty="0">
                          <a:solidFill>
                            <a:srgbClr val="EA5838"/>
                          </a:solidFill>
                          <a:latin typeface="Microsoft Yahei"/>
                          <a:ea typeface="Microsoft Yahei"/>
                          <a:cs typeface="Microsoft Yahei"/>
                          <a:sym typeface="Microsoft Yahei"/>
                        </a:rPr>
                        <a:t>.</a:t>
                      </a:r>
                      <a:r>
                        <a:rPr lang="en-US" altLang="zh-CN" sz="1400" b="1" dirty="0">
                          <a:solidFill>
                            <a:srgbClr val="EA5838"/>
                          </a:solidFill>
                          <a:latin typeface="Microsoft Yahei"/>
                          <a:ea typeface="Microsoft Yahei"/>
                          <a:cs typeface="Microsoft Yahei"/>
                          <a:sym typeface="Microsoft Yahei"/>
                        </a:rPr>
                        <a:t>75</a:t>
                      </a:r>
                      <a:r>
                        <a:rPr lang="zh-CN" sz="1400" b="1" i="0" u="none" strike="noStrike" cap="none" dirty="0">
                          <a:solidFill>
                            <a:srgbClr val="EA5838"/>
                          </a:solidFill>
                          <a:latin typeface="Microsoft Yahei"/>
                          <a:ea typeface="Microsoft Yahei"/>
                          <a:cs typeface="Microsoft Yahei"/>
                          <a:sym typeface="Microsoft Yahei"/>
                        </a:rPr>
                        <a:t>%</a:t>
                      </a:r>
                      <a:endParaRPr sz="3200" dirty="0"/>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08846010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1355725" y="415925"/>
            <a:ext cx="3586163" cy="534988"/>
          </a:xfrm>
        </p:spPr>
        <p:txBody>
          <a:bodyPr/>
          <a:lstStyle/>
          <a:p>
            <a:r>
              <a:rPr lang="zh-CN" altLang="en-US"/>
              <a:t>目录</a:t>
            </a:r>
          </a:p>
        </p:txBody>
      </p:sp>
      <p:sp>
        <p:nvSpPr>
          <p:cNvPr id="8" name="íşḷíḓe"/>
          <p:cNvSpPr txBox="1"/>
          <p:nvPr/>
        </p:nvSpPr>
        <p:spPr>
          <a:xfrm>
            <a:off x="1355727" y="2940917"/>
            <a:ext cx="973137" cy="831850"/>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en-US" altLang="zh-CN" sz="4800" dirty="0">
                <a:solidFill>
                  <a:srgbClr val="00366C"/>
                </a:solidFill>
              </a:rPr>
              <a:t>02</a:t>
            </a:r>
            <a:endParaRPr lang="zh-CN" altLang="en-US" sz="4800" dirty="0">
              <a:solidFill>
                <a:srgbClr val="00366C"/>
              </a:solidFill>
            </a:endParaRPr>
          </a:p>
        </p:txBody>
      </p:sp>
      <p:sp>
        <p:nvSpPr>
          <p:cNvPr id="9" name="îSḻíḑè"/>
          <p:cNvSpPr txBox="1"/>
          <p:nvPr/>
        </p:nvSpPr>
        <p:spPr>
          <a:xfrm>
            <a:off x="2328861" y="3100610"/>
            <a:ext cx="7464843" cy="4616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zh-CN" altLang="en-US" sz="2400" dirty="0">
                <a:solidFill>
                  <a:srgbClr val="00366C"/>
                </a:solidFill>
              </a:rPr>
              <a:t>量化“梦之队”：行业领先的“超”能力</a:t>
            </a:r>
          </a:p>
        </p:txBody>
      </p:sp>
      <p:cxnSp>
        <p:nvCxnSpPr>
          <p:cNvPr id="10" name="iṧḷíde"/>
          <p:cNvCxnSpPr/>
          <p:nvPr/>
        </p:nvCxnSpPr>
        <p:spPr>
          <a:xfrm rot="5400000" flipV="1">
            <a:off x="3455196" y="868779"/>
            <a:ext cx="0" cy="3910013"/>
          </a:xfrm>
          <a:prstGeom prst="line">
            <a:avLst/>
          </a:prstGeom>
          <a:ln w="12700">
            <a:solidFill>
              <a:schemeClr val="tx1">
                <a:lumMod val="50000"/>
                <a:lumOff val="50000"/>
                <a:alpha val="20000"/>
              </a:schemeClr>
            </a:solidFill>
            <a:headEnd type="diamond"/>
          </a:ln>
        </p:spPr>
        <p:style>
          <a:lnRef idx="1">
            <a:schemeClr val="accent1"/>
          </a:lnRef>
          <a:fillRef idx="0">
            <a:schemeClr val="accent1"/>
          </a:fillRef>
          <a:effectRef idx="0">
            <a:schemeClr val="accent1"/>
          </a:effectRef>
          <a:fontRef idx="minor">
            <a:schemeClr val="tx1"/>
          </a:fontRef>
        </p:style>
      </p:cxnSp>
      <p:sp>
        <p:nvSpPr>
          <p:cNvPr id="12" name="îṩľïďé"/>
          <p:cNvSpPr txBox="1"/>
          <p:nvPr/>
        </p:nvSpPr>
        <p:spPr>
          <a:xfrm>
            <a:off x="1355726" y="1896912"/>
            <a:ext cx="1079500" cy="830263"/>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en-US" altLang="zh-CN" sz="4800" dirty="0">
                <a:solidFill>
                  <a:srgbClr val="EA5838"/>
                </a:solidFill>
              </a:rPr>
              <a:t>01</a:t>
            </a:r>
            <a:endParaRPr lang="zh-CN" altLang="en-US" sz="4800" dirty="0">
              <a:solidFill>
                <a:srgbClr val="EA5838"/>
              </a:solidFill>
            </a:endParaRPr>
          </a:p>
        </p:txBody>
      </p:sp>
      <p:sp>
        <p:nvSpPr>
          <p:cNvPr id="13" name="ïšḷîḓé"/>
          <p:cNvSpPr txBox="1"/>
          <p:nvPr/>
        </p:nvSpPr>
        <p:spPr>
          <a:xfrm>
            <a:off x="2373312" y="2111374"/>
            <a:ext cx="5403064" cy="4616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zh-CN" altLang="en-US" sz="2400" dirty="0">
                <a:solidFill>
                  <a:srgbClr val="EA5838"/>
                </a:solidFill>
              </a:rPr>
              <a:t>中证全指指数：</a:t>
            </a:r>
            <a:r>
              <a:rPr lang="en-US" altLang="zh-CN" sz="2400" dirty="0">
                <a:solidFill>
                  <a:srgbClr val="EA5838"/>
                </a:solidFill>
              </a:rPr>
              <a:t>A</a:t>
            </a:r>
            <a:r>
              <a:rPr lang="zh-CN" altLang="en-US" sz="2400" dirty="0">
                <a:solidFill>
                  <a:srgbClr val="EA5838"/>
                </a:solidFill>
              </a:rPr>
              <a:t>股最“全”指数</a:t>
            </a:r>
          </a:p>
        </p:txBody>
      </p:sp>
      <p:cxnSp>
        <p:nvCxnSpPr>
          <p:cNvPr id="17" name="iṧḷíde"/>
          <p:cNvCxnSpPr/>
          <p:nvPr/>
        </p:nvCxnSpPr>
        <p:spPr>
          <a:xfrm rot="5400000" flipV="1">
            <a:off x="3455196" y="1859035"/>
            <a:ext cx="0" cy="3910013"/>
          </a:xfrm>
          <a:prstGeom prst="line">
            <a:avLst/>
          </a:prstGeom>
          <a:ln w="12700">
            <a:solidFill>
              <a:schemeClr val="tx1">
                <a:lumMod val="50000"/>
                <a:lumOff val="50000"/>
                <a:alpha val="20000"/>
              </a:schemeClr>
            </a:solidFill>
            <a:headEnd type="diamond"/>
          </a:ln>
        </p:spPr>
        <p:style>
          <a:lnRef idx="1">
            <a:schemeClr val="accent1"/>
          </a:lnRef>
          <a:fillRef idx="0">
            <a:schemeClr val="accent1"/>
          </a:fillRef>
          <a:effectRef idx="0">
            <a:schemeClr val="accent1"/>
          </a:effectRef>
          <a:fontRef idx="minor">
            <a:schemeClr val="tx1"/>
          </a:fontRef>
        </p:style>
      </p:cxnSp>
      <p:sp>
        <p:nvSpPr>
          <p:cNvPr id="15" name="íşḷíḓe"/>
          <p:cNvSpPr txBox="1"/>
          <p:nvPr/>
        </p:nvSpPr>
        <p:spPr>
          <a:xfrm>
            <a:off x="1355726" y="3962297"/>
            <a:ext cx="973137" cy="831850"/>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en-US" altLang="zh-CN" sz="4800" dirty="0">
                <a:solidFill>
                  <a:srgbClr val="00366C"/>
                </a:solidFill>
              </a:rPr>
              <a:t>03</a:t>
            </a:r>
            <a:endParaRPr lang="zh-CN" altLang="en-US" sz="4800" dirty="0">
              <a:solidFill>
                <a:srgbClr val="00366C"/>
              </a:solidFill>
            </a:endParaRPr>
          </a:p>
        </p:txBody>
      </p:sp>
      <p:sp>
        <p:nvSpPr>
          <p:cNvPr id="16" name="îSḻíḑè"/>
          <p:cNvSpPr txBox="1"/>
          <p:nvPr/>
        </p:nvSpPr>
        <p:spPr>
          <a:xfrm>
            <a:off x="2328862" y="4121990"/>
            <a:ext cx="4518668" cy="4616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zh-CN" altLang="en-US" sz="2400" dirty="0">
                <a:solidFill>
                  <a:srgbClr val="00366C"/>
                </a:solidFill>
              </a:rPr>
              <a:t>与优秀同行：博道基金介绍</a:t>
            </a:r>
          </a:p>
        </p:txBody>
      </p:sp>
      <p:cxnSp>
        <p:nvCxnSpPr>
          <p:cNvPr id="18" name="iṧḷíde"/>
          <p:cNvCxnSpPr/>
          <p:nvPr/>
        </p:nvCxnSpPr>
        <p:spPr>
          <a:xfrm rot="5400000" flipV="1">
            <a:off x="3455195" y="2880415"/>
            <a:ext cx="0" cy="3910013"/>
          </a:xfrm>
          <a:prstGeom prst="line">
            <a:avLst/>
          </a:prstGeom>
          <a:ln w="12700">
            <a:solidFill>
              <a:schemeClr val="tx1">
                <a:lumMod val="50000"/>
                <a:lumOff val="50000"/>
                <a:alpha val="20000"/>
              </a:schemeClr>
            </a:solidFill>
            <a:headEnd type="diamond"/>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xmlns="" id="{09D5CD62-40EB-6066-094E-6AA46AFA6ED8}"/>
              </a:ext>
            </a:extLst>
          </p:cNvPr>
          <p:cNvSpPr>
            <a:spLocks noGrp="1"/>
          </p:cNvSpPr>
          <p:nvPr>
            <p:ph type="sldNum" sz="quarter" idx="11"/>
          </p:nvPr>
        </p:nvSpPr>
        <p:spPr/>
        <p:txBody>
          <a:bodyPr/>
          <a:lstStyle/>
          <a:p>
            <a:pPr>
              <a:defRPr/>
            </a:pPr>
            <a:fld id="{6E91549D-98B7-4077-996F-05BE1B29F039}" type="slidenum">
              <a:rPr lang="zh-CN" altLang="en-US" smtClean="0"/>
              <a:t>3</a:t>
            </a:fld>
            <a:endParaRPr lang="zh-CN" altLang="en-US"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5"/>
          <p:cNvGraphicFramePr>
            <a:graphicFrameLocks noGrp="1"/>
          </p:cNvGraphicFramePr>
          <p:nvPr>
            <p:extLst>
              <p:ext uri="{D42A27DB-BD31-4B8C-83A1-F6EECF244321}">
                <p14:modId xmlns:p14="http://schemas.microsoft.com/office/powerpoint/2010/main" val="1482372681"/>
              </p:ext>
            </p:extLst>
          </p:nvPr>
        </p:nvGraphicFramePr>
        <p:xfrm>
          <a:off x="672862" y="1310566"/>
          <a:ext cx="5829300" cy="4236868"/>
        </p:xfrm>
        <a:graphic>
          <a:graphicData uri="http://schemas.openxmlformats.org/drawingml/2006/table">
            <a:tbl>
              <a:tblPr firstRow="1" bandRow="1">
                <a:tableStyleId>{2D5ABB26-0587-4C30-8999-92F81FD0307C}</a:tableStyleId>
              </a:tblPr>
              <a:tblGrid>
                <a:gridCol w="2639695">
                  <a:extLst>
                    <a:ext uri="{9D8B030D-6E8A-4147-A177-3AD203B41FA5}">
                      <a16:colId xmlns:a16="http://schemas.microsoft.com/office/drawing/2014/main" xmlns="" val="20000"/>
                    </a:ext>
                  </a:extLst>
                </a:gridCol>
                <a:gridCol w="2900045">
                  <a:extLst>
                    <a:ext uri="{9D8B030D-6E8A-4147-A177-3AD203B41FA5}">
                      <a16:colId xmlns:a16="http://schemas.microsoft.com/office/drawing/2014/main" xmlns="" val="20001"/>
                    </a:ext>
                  </a:extLst>
                </a:gridCol>
                <a:gridCol w="289560">
                  <a:extLst>
                    <a:ext uri="{9D8B030D-6E8A-4147-A177-3AD203B41FA5}">
                      <a16:colId xmlns:a16="http://schemas.microsoft.com/office/drawing/2014/main" xmlns="" val="20002"/>
                    </a:ext>
                  </a:extLst>
                </a:gridCol>
              </a:tblGrid>
              <a:tr h="419430">
                <a:tc>
                  <a:txBody>
                    <a:bodyPr/>
                    <a:lstStyle/>
                    <a:p>
                      <a:pPr marL="91440">
                        <a:lnSpc>
                          <a:spcPct val="100000"/>
                        </a:lnSpc>
                        <a:spcBef>
                          <a:spcPts val="755"/>
                        </a:spcBef>
                      </a:pPr>
                      <a:r>
                        <a:rPr sz="1400" b="1" dirty="0">
                          <a:solidFill>
                            <a:srgbClr val="FFFFFF"/>
                          </a:solidFill>
                          <a:latin typeface="微软雅黑" panose="020B0503020204020204" pitchFamily="34" charset="-122"/>
                          <a:cs typeface="微软雅黑" panose="020B0503020204020204" pitchFamily="34" charset="-122"/>
                        </a:rPr>
                        <a:t>指数名称</a:t>
                      </a:r>
                      <a:endParaRPr sz="1400">
                        <a:latin typeface="微软雅黑" panose="020B0503020204020204" pitchFamily="34" charset="-122"/>
                        <a:cs typeface="微软雅黑" panose="020B0503020204020204" pitchFamily="34" charset="-122"/>
                      </a:endParaRPr>
                    </a:p>
                  </a:txBody>
                  <a:tcPr marL="0" marR="0" marT="95885" marB="0">
                    <a:solidFill>
                      <a:srgbClr val="317CAD"/>
                    </a:solidFill>
                  </a:tcPr>
                </a:tc>
                <a:tc>
                  <a:txBody>
                    <a:bodyPr/>
                    <a:lstStyle/>
                    <a:p>
                      <a:pPr marL="85090">
                        <a:lnSpc>
                          <a:spcPct val="100000"/>
                        </a:lnSpc>
                        <a:spcBef>
                          <a:spcPts val="755"/>
                        </a:spcBef>
                      </a:pPr>
                      <a:r>
                        <a:rPr sz="1400" b="1" dirty="0">
                          <a:solidFill>
                            <a:srgbClr val="FFFFFF"/>
                          </a:solidFill>
                          <a:latin typeface="微软雅黑" panose="020B0503020204020204" pitchFamily="34" charset="-122"/>
                          <a:cs typeface="微软雅黑" panose="020B0503020204020204" pitchFamily="34" charset="-122"/>
                        </a:rPr>
                        <a:t>中证全指指数</a:t>
                      </a:r>
                      <a:endParaRPr sz="1400" dirty="0">
                        <a:latin typeface="微软雅黑" panose="020B0503020204020204" pitchFamily="34" charset="-122"/>
                        <a:cs typeface="微软雅黑" panose="020B0503020204020204" pitchFamily="34" charset="-122"/>
                      </a:endParaRPr>
                    </a:p>
                  </a:txBody>
                  <a:tcPr marL="0" marR="0" marT="95885" marB="0">
                    <a:solidFill>
                      <a:srgbClr val="317CAD"/>
                    </a:solidFill>
                  </a:tcPr>
                </a:tc>
                <a:tc>
                  <a:txBody>
                    <a:bodyPr/>
                    <a:lstStyle/>
                    <a:p>
                      <a:pPr>
                        <a:lnSpc>
                          <a:spcPct val="100000"/>
                        </a:lnSpc>
                      </a:pPr>
                      <a:endParaRPr sz="1400">
                        <a:latin typeface="Times New Roman" panose="02020603050405020304"/>
                        <a:cs typeface="Times New Roman" panose="02020603050405020304"/>
                      </a:endParaRPr>
                    </a:p>
                  </a:txBody>
                  <a:tcPr marL="0" marR="0" marT="0" marB="0">
                    <a:solidFill>
                      <a:srgbClr val="F7F7F7"/>
                    </a:solidFill>
                  </a:tcPr>
                </a:tc>
                <a:extLst>
                  <a:ext uri="{0D108BD9-81ED-4DB2-BD59-A6C34878D82A}">
                    <a16:rowId xmlns:a16="http://schemas.microsoft.com/office/drawing/2014/main" xmlns="" val="10000"/>
                  </a:ext>
                </a:extLst>
              </a:tr>
              <a:tr h="268499">
                <a:tc>
                  <a:txBody>
                    <a:bodyPr/>
                    <a:lstStyle/>
                    <a:p>
                      <a:pPr marL="91440">
                        <a:lnSpc>
                          <a:spcPct val="100000"/>
                        </a:lnSpc>
                        <a:spcBef>
                          <a:spcPts val="310"/>
                        </a:spcBef>
                      </a:pPr>
                      <a:r>
                        <a:rPr sz="1200" dirty="0">
                          <a:solidFill>
                            <a:srgbClr val="444242"/>
                          </a:solidFill>
                          <a:latin typeface="微软雅黑" panose="020B0503020204020204" pitchFamily="34" charset="-122"/>
                          <a:cs typeface="微软雅黑" panose="020B0503020204020204" pitchFamily="34" charset="-122"/>
                        </a:rPr>
                        <a:t>指数代码</a:t>
                      </a:r>
                      <a:endParaRPr sz="1200">
                        <a:latin typeface="微软雅黑" panose="020B0503020204020204" pitchFamily="34" charset="-122"/>
                        <a:cs typeface="微软雅黑" panose="020B0503020204020204" pitchFamily="34" charset="-122"/>
                      </a:endParaRPr>
                    </a:p>
                  </a:txBody>
                  <a:tcPr marL="0" marR="0" marT="39370" marB="0">
                    <a:solidFill>
                      <a:srgbClr val="F7F7F7"/>
                    </a:solidFill>
                  </a:tcPr>
                </a:tc>
                <a:tc>
                  <a:txBody>
                    <a:bodyPr/>
                    <a:lstStyle/>
                    <a:p>
                      <a:pPr marL="85090">
                        <a:lnSpc>
                          <a:spcPct val="100000"/>
                        </a:lnSpc>
                        <a:spcBef>
                          <a:spcPts val="310"/>
                        </a:spcBef>
                      </a:pPr>
                      <a:r>
                        <a:rPr sz="1200" spc="-5" dirty="0">
                          <a:solidFill>
                            <a:srgbClr val="393838"/>
                          </a:solidFill>
                          <a:latin typeface="微软雅黑" panose="020B0503020204020204" pitchFamily="34" charset="-122"/>
                          <a:cs typeface="微软雅黑" panose="020B0503020204020204" pitchFamily="34" charset="-122"/>
                        </a:rPr>
                        <a:t>000985.CSI</a:t>
                      </a:r>
                      <a:endParaRPr sz="1200">
                        <a:latin typeface="微软雅黑" panose="020B0503020204020204" pitchFamily="34" charset="-122"/>
                        <a:cs typeface="微软雅黑" panose="020B0503020204020204" pitchFamily="34" charset="-122"/>
                      </a:endParaRPr>
                    </a:p>
                  </a:txBody>
                  <a:tcPr marL="0" marR="0" marT="39370" marB="0">
                    <a:solidFill>
                      <a:srgbClr val="F7F7F7"/>
                    </a:solidFill>
                  </a:tcPr>
                </a:tc>
                <a:tc>
                  <a:txBody>
                    <a:bodyPr/>
                    <a:lstStyle/>
                    <a:p>
                      <a:pPr>
                        <a:lnSpc>
                          <a:spcPct val="100000"/>
                        </a:lnSpc>
                      </a:pPr>
                      <a:endParaRPr sz="1400">
                        <a:latin typeface="Times New Roman" panose="02020603050405020304"/>
                        <a:cs typeface="Times New Roman" panose="02020603050405020304"/>
                      </a:endParaRPr>
                    </a:p>
                  </a:txBody>
                  <a:tcPr marL="0" marR="0" marT="0" marB="0">
                    <a:solidFill>
                      <a:srgbClr val="F7F7F7"/>
                    </a:solidFill>
                  </a:tcPr>
                </a:tc>
                <a:extLst>
                  <a:ext uri="{0D108BD9-81ED-4DB2-BD59-A6C34878D82A}">
                    <a16:rowId xmlns:a16="http://schemas.microsoft.com/office/drawing/2014/main" xmlns="" val="10001"/>
                  </a:ext>
                </a:extLst>
              </a:tr>
              <a:tr h="274320">
                <a:tc>
                  <a:txBody>
                    <a:bodyPr/>
                    <a:lstStyle/>
                    <a:p>
                      <a:pPr marL="91440">
                        <a:lnSpc>
                          <a:spcPct val="100000"/>
                        </a:lnSpc>
                        <a:spcBef>
                          <a:spcPts val="355"/>
                        </a:spcBef>
                      </a:pPr>
                      <a:r>
                        <a:rPr sz="1200" dirty="0">
                          <a:solidFill>
                            <a:srgbClr val="444242"/>
                          </a:solidFill>
                          <a:latin typeface="微软雅黑" panose="020B0503020204020204" pitchFamily="34" charset="-122"/>
                          <a:cs typeface="微软雅黑" panose="020B0503020204020204" pitchFamily="34" charset="-122"/>
                        </a:rPr>
                        <a:t>指数基日</a:t>
                      </a:r>
                      <a:endParaRPr sz="1200">
                        <a:latin typeface="微软雅黑" panose="020B0503020204020204" pitchFamily="34" charset="-122"/>
                        <a:cs typeface="微软雅黑" panose="020B0503020204020204" pitchFamily="34" charset="-122"/>
                      </a:endParaRPr>
                    </a:p>
                  </a:txBody>
                  <a:tcPr marL="0" marR="0" marT="45085" marB="0">
                    <a:solidFill>
                      <a:srgbClr val="F7F7F7"/>
                    </a:solidFill>
                  </a:tcPr>
                </a:tc>
                <a:tc>
                  <a:txBody>
                    <a:bodyPr/>
                    <a:lstStyle/>
                    <a:p>
                      <a:pPr marL="85090">
                        <a:lnSpc>
                          <a:spcPct val="100000"/>
                        </a:lnSpc>
                        <a:spcBef>
                          <a:spcPts val="355"/>
                        </a:spcBef>
                      </a:pPr>
                      <a:r>
                        <a:rPr sz="1200" spc="-5" dirty="0">
                          <a:solidFill>
                            <a:srgbClr val="444242"/>
                          </a:solidFill>
                          <a:latin typeface="微软雅黑" panose="020B0503020204020204" pitchFamily="34" charset="-122"/>
                          <a:cs typeface="微软雅黑" panose="020B0503020204020204" pitchFamily="34" charset="-122"/>
                        </a:rPr>
                        <a:t>2004-12-31</a:t>
                      </a:r>
                      <a:endParaRPr sz="1200" dirty="0">
                        <a:latin typeface="微软雅黑" panose="020B0503020204020204" pitchFamily="34" charset="-122"/>
                        <a:cs typeface="微软雅黑" panose="020B0503020204020204" pitchFamily="34" charset="-122"/>
                      </a:endParaRPr>
                    </a:p>
                  </a:txBody>
                  <a:tcPr marL="0" marR="0" marT="45085" marB="0">
                    <a:solidFill>
                      <a:srgbClr val="F7F7F7"/>
                    </a:solidFill>
                  </a:tcPr>
                </a:tc>
                <a:tc>
                  <a:txBody>
                    <a:bodyPr/>
                    <a:lstStyle/>
                    <a:p>
                      <a:pPr>
                        <a:lnSpc>
                          <a:spcPct val="100000"/>
                        </a:lnSpc>
                      </a:pPr>
                      <a:endParaRPr sz="1400">
                        <a:latin typeface="Times New Roman" panose="02020603050405020304"/>
                        <a:cs typeface="Times New Roman" panose="02020603050405020304"/>
                      </a:endParaRPr>
                    </a:p>
                  </a:txBody>
                  <a:tcPr marL="0" marR="0" marT="0" marB="0">
                    <a:solidFill>
                      <a:srgbClr val="F7F7F7"/>
                    </a:solidFill>
                  </a:tcPr>
                </a:tc>
                <a:extLst>
                  <a:ext uri="{0D108BD9-81ED-4DB2-BD59-A6C34878D82A}">
                    <a16:rowId xmlns:a16="http://schemas.microsoft.com/office/drawing/2014/main" xmlns="" val="10002"/>
                  </a:ext>
                </a:extLst>
              </a:tr>
              <a:tr h="274320">
                <a:tc>
                  <a:txBody>
                    <a:bodyPr/>
                    <a:lstStyle/>
                    <a:p>
                      <a:pPr marL="91440">
                        <a:lnSpc>
                          <a:spcPct val="100000"/>
                        </a:lnSpc>
                        <a:spcBef>
                          <a:spcPts val="355"/>
                        </a:spcBef>
                      </a:pPr>
                      <a:r>
                        <a:rPr sz="1200" dirty="0">
                          <a:solidFill>
                            <a:srgbClr val="444242"/>
                          </a:solidFill>
                          <a:latin typeface="微软雅黑" panose="020B0503020204020204" pitchFamily="34" charset="-122"/>
                          <a:cs typeface="微软雅黑" panose="020B0503020204020204" pitchFamily="34" charset="-122"/>
                        </a:rPr>
                        <a:t>指数基点</a:t>
                      </a:r>
                      <a:endParaRPr sz="1200">
                        <a:latin typeface="微软雅黑" panose="020B0503020204020204" pitchFamily="34" charset="-122"/>
                        <a:cs typeface="微软雅黑" panose="020B0503020204020204" pitchFamily="34" charset="-122"/>
                      </a:endParaRPr>
                    </a:p>
                  </a:txBody>
                  <a:tcPr marL="0" marR="0" marT="45085" marB="0">
                    <a:solidFill>
                      <a:srgbClr val="F7F7F7"/>
                    </a:solidFill>
                  </a:tcPr>
                </a:tc>
                <a:tc>
                  <a:txBody>
                    <a:bodyPr/>
                    <a:lstStyle/>
                    <a:p>
                      <a:pPr marL="85090">
                        <a:lnSpc>
                          <a:spcPct val="100000"/>
                        </a:lnSpc>
                        <a:spcBef>
                          <a:spcPts val="355"/>
                        </a:spcBef>
                      </a:pPr>
                      <a:r>
                        <a:rPr sz="1200" dirty="0">
                          <a:solidFill>
                            <a:srgbClr val="444242"/>
                          </a:solidFill>
                          <a:latin typeface="微软雅黑" panose="020B0503020204020204" pitchFamily="34" charset="-122"/>
                          <a:cs typeface="微软雅黑" panose="020B0503020204020204" pitchFamily="34" charset="-122"/>
                        </a:rPr>
                        <a:t>1000点</a:t>
                      </a:r>
                      <a:endParaRPr sz="1200" dirty="0">
                        <a:latin typeface="微软雅黑" panose="020B0503020204020204" pitchFamily="34" charset="-122"/>
                        <a:cs typeface="微软雅黑" panose="020B0503020204020204" pitchFamily="34" charset="-122"/>
                      </a:endParaRPr>
                    </a:p>
                  </a:txBody>
                  <a:tcPr marL="0" marR="0" marT="45085" marB="0">
                    <a:solidFill>
                      <a:srgbClr val="F7F7F7"/>
                    </a:solidFill>
                  </a:tcPr>
                </a:tc>
                <a:tc>
                  <a:txBody>
                    <a:bodyPr/>
                    <a:lstStyle/>
                    <a:p>
                      <a:pPr>
                        <a:lnSpc>
                          <a:spcPct val="100000"/>
                        </a:lnSpc>
                      </a:pPr>
                      <a:endParaRPr sz="1400">
                        <a:latin typeface="Times New Roman" panose="02020603050405020304"/>
                        <a:cs typeface="Times New Roman" panose="02020603050405020304"/>
                      </a:endParaRPr>
                    </a:p>
                  </a:txBody>
                  <a:tcPr marL="0" marR="0" marT="0" marB="0">
                    <a:solidFill>
                      <a:srgbClr val="F7F7F7"/>
                    </a:solidFill>
                  </a:tcPr>
                </a:tc>
                <a:extLst>
                  <a:ext uri="{0D108BD9-81ED-4DB2-BD59-A6C34878D82A}">
                    <a16:rowId xmlns:a16="http://schemas.microsoft.com/office/drawing/2014/main" xmlns="" val="10003"/>
                  </a:ext>
                </a:extLst>
              </a:tr>
              <a:tr h="1557908">
                <a:tc>
                  <a:txBody>
                    <a:bodyPr/>
                    <a:lstStyle/>
                    <a:p>
                      <a:pPr>
                        <a:lnSpc>
                          <a:spcPct val="100000"/>
                        </a:lnSpc>
                      </a:pPr>
                      <a:endParaRPr sz="1600" dirty="0">
                        <a:latin typeface="Times New Roman" panose="02020603050405020304"/>
                        <a:cs typeface="Times New Roman" panose="02020603050405020304"/>
                      </a:endParaRPr>
                    </a:p>
                    <a:p>
                      <a:pPr>
                        <a:lnSpc>
                          <a:spcPct val="100000"/>
                        </a:lnSpc>
                      </a:pPr>
                      <a:endParaRPr sz="1600" dirty="0">
                        <a:latin typeface="Times New Roman" panose="02020603050405020304"/>
                        <a:cs typeface="Times New Roman" panose="02020603050405020304"/>
                      </a:endParaRPr>
                    </a:p>
                    <a:p>
                      <a:pPr>
                        <a:lnSpc>
                          <a:spcPct val="100000"/>
                        </a:lnSpc>
                        <a:spcBef>
                          <a:spcPts val="50"/>
                        </a:spcBef>
                      </a:pPr>
                      <a:endParaRPr sz="1450" dirty="0">
                        <a:latin typeface="Times New Roman" panose="02020603050405020304"/>
                        <a:cs typeface="Times New Roman" panose="02020603050405020304"/>
                      </a:endParaRPr>
                    </a:p>
                    <a:p>
                      <a:pPr marL="91440">
                        <a:lnSpc>
                          <a:spcPct val="100000"/>
                        </a:lnSpc>
                      </a:pPr>
                      <a:r>
                        <a:rPr sz="1200" dirty="0">
                          <a:solidFill>
                            <a:srgbClr val="444242"/>
                          </a:solidFill>
                          <a:latin typeface="微软雅黑" panose="020B0503020204020204" pitchFamily="34" charset="-122"/>
                          <a:cs typeface="微软雅黑" panose="020B0503020204020204" pitchFamily="34" charset="-122"/>
                        </a:rPr>
                        <a:t>样本空间</a:t>
                      </a:r>
                      <a:endParaRPr sz="1200" dirty="0">
                        <a:latin typeface="微软雅黑" panose="020B0503020204020204" pitchFamily="34" charset="-122"/>
                        <a:cs typeface="微软雅黑" panose="020B0503020204020204" pitchFamily="34" charset="-122"/>
                      </a:endParaRPr>
                    </a:p>
                  </a:txBody>
                  <a:tcPr marL="0" marR="0" marT="0" marB="0">
                    <a:solidFill>
                      <a:schemeClr val="accent1">
                        <a:lumMod val="20000"/>
                        <a:lumOff val="80000"/>
                      </a:schemeClr>
                    </a:solidFill>
                  </a:tcPr>
                </a:tc>
                <a:tc>
                  <a:txBody>
                    <a:bodyPr/>
                    <a:lstStyle/>
                    <a:p>
                      <a:pPr marL="85090" marR="457200" algn="just">
                        <a:lnSpc>
                          <a:spcPct val="100000"/>
                        </a:lnSpc>
                        <a:spcBef>
                          <a:spcPts val="355"/>
                        </a:spcBef>
                      </a:pPr>
                      <a:r>
                        <a:rPr sz="1200" dirty="0">
                          <a:solidFill>
                            <a:srgbClr val="444242"/>
                          </a:solidFill>
                          <a:latin typeface="微软雅黑" panose="020B0503020204020204" pitchFamily="34" charset="-122"/>
                          <a:cs typeface="微软雅黑" panose="020B0503020204020204" pitchFamily="34" charset="-122"/>
                        </a:rPr>
                        <a:t>由同时满足以下条件的</a:t>
                      </a:r>
                      <a:r>
                        <a:rPr sz="1200" spc="-50" dirty="0">
                          <a:solidFill>
                            <a:srgbClr val="444242"/>
                          </a:solidFill>
                          <a:latin typeface="微软雅黑" panose="020B0503020204020204" pitchFamily="34" charset="-122"/>
                          <a:cs typeface="微软雅黑" panose="020B0503020204020204" pitchFamily="34" charset="-122"/>
                        </a:rPr>
                        <a:t> </a:t>
                      </a:r>
                      <a:r>
                        <a:rPr sz="1200" dirty="0">
                          <a:solidFill>
                            <a:srgbClr val="444242"/>
                          </a:solidFill>
                          <a:latin typeface="微软雅黑" panose="020B0503020204020204" pitchFamily="34" charset="-122"/>
                          <a:cs typeface="微软雅黑" panose="020B0503020204020204" pitchFamily="34" charset="-122"/>
                        </a:rPr>
                        <a:t>A</a:t>
                      </a:r>
                      <a:r>
                        <a:rPr sz="1200" spc="-45" dirty="0">
                          <a:solidFill>
                            <a:srgbClr val="444242"/>
                          </a:solidFill>
                          <a:latin typeface="微软雅黑" panose="020B0503020204020204" pitchFamily="34" charset="-122"/>
                          <a:cs typeface="微软雅黑" panose="020B0503020204020204" pitchFamily="34" charset="-122"/>
                        </a:rPr>
                        <a:t> </a:t>
                      </a:r>
                      <a:r>
                        <a:rPr sz="1200" dirty="0">
                          <a:solidFill>
                            <a:srgbClr val="444242"/>
                          </a:solidFill>
                          <a:latin typeface="微软雅黑" panose="020B0503020204020204" pitchFamily="34" charset="-122"/>
                          <a:cs typeface="微软雅黑" panose="020B0503020204020204" pitchFamily="34" charset="-122"/>
                        </a:rPr>
                        <a:t>股和红筹 企业发行的存托凭证组成：</a:t>
                      </a:r>
                      <a:endParaRPr sz="1200" dirty="0">
                        <a:latin typeface="微软雅黑" panose="020B0503020204020204" pitchFamily="34" charset="-122"/>
                        <a:cs typeface="微软雅黑" panose="020B0503020204020204" pitchFamily="34" charset="-122"/>
                      </a:endParaRPr>
                    </a:p>
                    <a:p>
                      <a:pPr marL="84455" indent="0" algn="just">
                        <a:lnSpc>
                          <a:spcPct val="100000"/>
                        </a:lnSpc>
                        <a:buNone/>
                        <a:tabLst>
                          <a:tab pos="523240" algn="l"/>
                        </a:tabLst>
                      </a:pPr>
                      <a:r>
                        <a:rPr lang="en-US" altLang="zh-CN" sz="1200" dirty="0">
                          <a:solidFill>
                            <a:srgbClr val="444242"/>
                          </a:solidFill>
                          <a:latin typeface="微软雅黑" panose="020B0503020204020204" pitchFamily="34" charset="-122"/>
                          <a:cs typeface="微软雅黑" panose="020B0503020204020204" pitchFamily="34" charset="-122"/>
                        </a:rPr>
                        <a:t>1</a:t>
                      </a:r>
                      <a:r>
                        <a:rPr lang="zh-CN" altLang="en-US" sz="1200" dirty="0">
                          <a:solidFill>
                            <a:srgbClr val="444242"/>
                          </a:solidFill>
                          <a:latin typeface="微软雅黑" panose="020B0503020204020204" pitchFamily="34" charset="-122"/>
                          <a:cs typeface="微软雅黑" panose="020B0503020204020204" pitchFamily="34" charset="-122"/>
                        </a:rPr>
                        <a:t>、</a:t>
                      </a:r>
                      <a:r>
                        <a:rPr sz="1200" dirty="0">
                          <a:solidFill>
                            <a:srgbClr val="444242"/>
                          </a:solidFill>
                          <a:latin typeface="微软雅黑" panose="020B0503020204020204" pitchFamily="34" charset="-122"/>
                          <a:cs typeface="微软雅黑" panose="020B0503020204020204" pitchFamily="34" charset="-122"/>
                        </a:rPr>
                        <a:t>非</a:t>
                      </a:r>
                      <a:r>
                        <a:rPr sz="1200" spc="-20" dirty="0">
                          <a:solidFill>
                            <a:srgbClr val="444242"/>
                          </a:solidFill>
                          <a:latin typeface="微软雅黑" panose="020B0503020204020204" pitchFamily="34" charset="-122"/>
                          <a:cs typeface="微软雅黑" panose="020B0503020204020204" pitchFamily="34" charset="-122"/>
                        </a:rPr>
                        <a:t> </a:t>
                      </a:r>
                      <a:r>
                        <a:rPr sz="1200" spc="-5" dirty="0">
                          <a:solidFill>
                            <a:srgbClr val="444242"/>
                          </a:solidFill>
                          <a:latin typeface="微软雅黑" panose="020B0503020204020204" pitchFamily="34" charset="-122"/>
                          <a:cs typeface="微软雅黑" panose="020B0503020204020204" pitchFamily="34" charset="-122"/>
                        </a:rPr>
                        <a:t>ST</a:t>
                      </a:r>
                      <a:r>
                        <a:rPr sz="1200" dirty="0">
                          <a:solidFill>
                            <a:srgbClr val="444242"/>
                          </a:solidFill>
                          <a:latin typeface="微软雅黑" panose="020B0503020204020204" pitchFamily="34" charset="-122"/>
                          <a:cs typeface="微软雅黑" panose="020B0503020204020204" pitchFamily="34" charset="-122"/>
                        </a:rPr>
                        <a:t>、*ST</a:t>
                      </a:r>
                      <a:r>
                        <a:rPr sz="1200" spc="-40" dirty="0">
                          <a:solidFill>
                            <a:srgbClr val="444242"/>
                          </a:solidFill>
                          <a:latin typeface="微软雅黑" panose="020B0503020204020204" pitchFamily="34" charset="-122"/>
                          <a:cs typeface="微软雅黑" panose="020B0503020204020204" pitchFamily="34" charset="-122"/>
                        </a:rPr>
                        <a:t> </a:t>
                      </a:r>
                      <a:r>
                        <a:rPr sz="1200" dirty="0">
                          <a:solidFill>
                            <a:srgbClr val="444242"/>
                          </a:solidFill>
                          <a:latin typeface="微软雅黑" panose="020B0503020204020204" pitchFamily="34" charset="-122"/>
                          <a:cs typeface="微软雅黑" panose="020B0503020204020204" pitchFamily="34" charset="-122"/>
                        </a:rPr>
                        <a:t>证券；</a:t>
                      </a:r>
                      <a:endParaRPr sz="1200" dirty="0">
                        <a:latin typeface="微软雅黑" panose="020B0503020204020204" pitchFamily="34" charset="-122"/>
                        <a:cs typeface="微软雅黑" panose="020B0503020204020204" pitchFamily="34" charset="-122"/>
                      </a:endParaRPr>
                    </a:p>
                    <a:p>
                      <a:pPr marL="85090" marR="521335" algn="just">
                        <a:lnSpc>
                          <a:spcPct val="100000"/>
                        </a:lnSpc>
                        <a:buNone/>
                        <a:tabLst>
                          <a:tab pos="523240" algn="l"/>
                        </a:tabLst>
                      </a:pPr>
                      <a:r>
                        <a:rPr lang="en-US" sz="1200" dirty="0">
                          <a:solidFill>
                            <a:srgbClr val="444242"/>
                          </a:solidFill>
                          <a:latin typeface="微软雅黑" panose="020B0503020204020204" pitchFamily="34" charset="-122"/>
                          <a:cs typeface="微软雅黑" panose="020B0503020204020204" pitchFamily="34" charset="-122"/>
                        </a:rPr>
                        <a:t>2</a:t>
                      </a:r>
                      <a:r>
                        <a:rPr lang="zh-CN" altLang="en-US" sz="1200" dirty="0">
                          <a:solidFill>
                            <a:srgbClr val="444242"/>
                          </a:solidFill>
                          <a:latin typeface="微软雅黑" panose="020B0503020204020204" pitchFamily="34" charset="-122"/>
                          <a:cs typeface="微软雅黑" panose="020B0503020204020204" pitchFamily="34" charset="-122"/>
                        </a:rPr>
                        <a:t>、</a:t>
                      </a:r>
                      <a:r>
                        <a:rPr sz="1200" dirty="0" err="1">
                          <a:solidFill>
                            <a:srgbClr val="444242"/>
                          </a:solidFill>
                          <a:latin typeface="微软雅黑" panose="020B0503020204020204" pitchFamily="34" charset="-122"/>
                          <a:cs typeface="微软雅黑" panose="020B0503020204020204" pitchFamily="34" charset="-122"/>
                        </a:rPr>
                        <a:t>科创板证券和北交所证券</a:t>
                      </a:r>
                      <a:r>
                        <a:rPr sz="1200" dirty="0">
                          <a:solidFill>
                            <a:srgbClr val="444242"/>
                          </a:solidFill>
                          <a:latin typeface="微软雅黑" panose="020B0503020204020204" pitchFamily="34" charset="-122"/>
                          <a:cs typeface="微软雅黑" panose="020B0503020204020204" pitchFamily="34" charset="-122"/>
                        </a:rPr>
                        <a:t>： </a:t>
                      </a:r>
                      <a:r>
                        <a:rPr sz="1200" spc="-345" dirty="0">
                          <a:solidFill>
                            <a:srgbClr val="444242"/>
                          </a:solidFill>
                          <a:latin typeface="微软雅黑" panose="020B0503020204020204" pitchFamily="34" charset="-122"/>
                          <a:cs typeface="微软雅黑" panose="020B0503020204020204" pitchFamily="34" charset="-122"/>
                        </a:rPr>
                        <a:t> </a:t>
                      </a:r>
                      <a:r>
                        <a:rPr sz="1200" dirty="0">
                          <a:solidFill>
                            <a:srgbClr val="444242"/>
                          </a:solidFill>
                          <a:latin typeface="微软雅黑" panose="020B0503020204020204" pitchFamily="34" charset="-122"/>
                          <a:cs typeface="微软雅黑" panose="020B0503020204020204" pitchFamily="34" charset="-122"/>
                        </a:rPr>
                        <a:t>上市时间分别超过一年和两年；</a:t>
                      </a:r>
                      <a:endParaRPr sz="1200" dirty="0">
                        <a:latin typeface="微软雅黑" panose="020B0503020204020204" pitchFamily="34" charset="-122"/>
                        <a:cs typeface="微软雅黑" panose="020B0503020204020204" pitchFamily="34" charset="-122"/>
                      </a:endParaRPr>
                    </a:p>
                    <a:p>
                      <a:pPr marL="85090" marR="501015" algn="just">
                        <a:lnSpc>
                          <a:spcPct val="100000"/>
                        </a:lnSpc>
                        <a:buNone/>
                        <a:tabLst>
                          <a:tab pos="523240" algn="l"/>
                        </a:tabLst>
                      </a:pPr>
                      <a:r>
                        <a:rPr lang="en-US" sz="1200" dirty="0">
                          <a:solidFill>
                            <a:srgbClr val="444242"/>
                          </a:solidFill>
                          <a:latin typeface="微软雅黑" panose="020B0503020204020204" pitchFamily="34" charset="-122"/>
                          <a:cs typeface="微软雅黑" panose="020B0503020204020204" pitchFamily="34" charset="-122"/>
                        </a:rPr>
                        <a:t>3</a:t>
                      </a:r>
                      <a:r>
                        <a:rPr lang="zh-CN" altLang="en-US" sz="1200" dirty="0">
                          <a:solidFill>
                            <a:srgbClr val="444242"/>
                          </a:solidFill>
                          <a:latin typeface="微软雅黑" panose="020B0503020204020204" pitchFamily="34" charset="-122"/>
                          <a:cs typeface="微软雅黑" panose="020B0503020204020204" pitchFamily="34" charset="-122"/>
                        </a:rPr>
                        <a:t>、</a:t>
                      </a:r>
                      <a:r>
                        <a:rPr sz="1200" dirty="0" err="1">
                          <a:solidFill>
                            <a:srgbClr val="444242"/>
                          </a:solidFill>
                          <a:latin typeface="微软雅黑" panose="020B0503020204020204" pitchFamily="34" charset="-122"/>
                          <a:cs typeface="微软雅黑" panose="020B0503020204020204" pitchFamily="34" charset="-122"/>
                        </a:rPr>
                        <a:t>其他证券：上市时间超过一个季度，除非该证券自上市以来日</a:t>
                      </a:r>
                      <a:r>
                        <a:rPr sz="1200" dirty="0">
                          <a:solidFill>
                            <a:srgbClr val="444242"/>
                          </a:solidFill>
                          <a:latin typeface="微软雅黑" panose="020B0503020204020204" pitchFamily="34" charset="-122"/>
                          <a:cs typeface="微软雅黑" panose="020B0503020204020204" pitchFamily="34" charset="-122"/>
                        </a:rPr>
                        <a:t> 均总市值排在前30位</a:t>
                      </a:r>
                      <a:endParaRPr sz="1200" dirty="0">
                        <a:latin typeface="微软雅黑" panose="020B0503020204020204" pitchFamily="34" charset="-122"/>
                        <a:cs typeface="微软雅黑" panose="020B0503020204020204" pitchFamily="34" charset="-122"/>
                      </a:endParaRPr>
                    </a:p>
                  </a:txBody>
                  <a:tcPr marL="0" marR="0" marT="45085" marB="0">
                    <a:solidFill>
                      <a:schemeClr val="accent1">
                        <a:lumMod val="20000"/>
                        <a:lumOff val="80000"/>
                      </a:schemeClr>
                    </a:solidFill>
                  </a:tcPr>
                </a:tc>
                <a:tc>
                  <a:txBody>
                    <a:bodyPr/>
                    <a:lstStyle/>
                    <a:p>
                      <a:pPr>
                        <a:lnSpc>
                          <a:spcPct val="100000"/>
                        </a:lnSpc>
                      </a:pPr>
                      <a:endParaRPr sz="1400">
                        <a:latin typeface="Times New Roman" panose="02020603050405020304"/>
                        <a:cs typeface="Times New Roman" panose="02020603050405020304"/>
                      </a:endParaRPr>
                    </a:p>
                  </a:txBody>
                  <a:tcPr marL="0" marR="0" marT="0" marB="0">
                    <a:solidFill>
                      <a:srgbClr val="F7F7F7"/>
                    </a:solidFill>
                  </a:tcPr>
                </a:tc>
                <a:extLst>
                  <a:ext uri="{0D108BD9-81ED-4DB2-BD59-A6C34878D82A}">
                    <a16:rowId xmlns:a16="http://schemas.microsoft.com/office/drawing/2014/main" xmlns="" val="10004"/>
                  </a:ext>
                </a:extLst>
              </a:tr>
              <a:tr h="284606">
                <a:tc>
                  <a:txBody>
                    <a:bodyPr/>
                    <a:lstStyle/>
                    <a:p>
                      <a:pPr marL="91440">
                        <a:lnSpc>
                          <a:spcPct val="100000"/>
                        </a:lnSpc>
                        <a:spcBef>
                          <a:spcPts val="385"/>
                        </a:spcBef>
                      </a:pPr>
                      <a:r>
                        <a:rPr sz="1200" dirty="0">
                          <a:solidFill>
                            <a:srgbClr val="444242"/>
                          </a:solidFill>
                          <a:latin typeface="微软雅黑" panose="020B0503020204020204" pitchFamily="34" charset="-122"/>
                          <a:cs typeface="微软雅黑" panose="020B0503020204020204" pitchFamily="34" charset="-122"/>
                        </a:rPr>
                        <a:t>成分股调整周期</a:t>
                      </a:r>
                      <a:endParaRPr sz="1200">
                        <a:latin typeface="微软雅黑" panose="020B0503020204020204" pitchFamily="34" charset="-122"/>
                        <a:cs typeface="微软雅黑" panose="020B0503020204020204" pitchFamily="34" charset="-122"/>
                      </a:endParaRPr>
                    </a:p>
                  </a:txBody>
                  <a:tcPr marL="0" marR="0" marT="48894" marB="0">
                    <a:solidFill>
                      <a:srgbClr val="F7F7F7"/>
                    </a:solidFill>
                  </a:tcPr>
                </a:tc>
                <a:tc>
                  <a:txBody>
                    <a:bodyPr/>
                    <a:lstStyle/>
                    <a:p>
                      <a:pPr marL="85090">
                        <a:lnSpc>
                          <a:spcPct val="100000"/>
                        </a:lnSpc>
                        <a:spcBef>
                          <a:spcPts val="385"/>
                        </a:spcBef>
                      </a:pPr>
                      <a:r>
                        <a:rPr sz="1200" dirty="0">
                          <a:solidFill>
                            <a:srgbClr val="444242"/>
                          </a:solidFill>
                          <a:latin typeface="微软雅黑" panose="020B0503020204020204" pitchFamily="34" charset="-122"/>
                          <a:cs typeface="微软雅黑" panose="020B0503020204020204" pitchFamily="34" charset="-122"/>
                        </a:rPr>
                        <a:t>每半年调整一次</a:t>
                      </a:r>
                      <a:endParaRPr sz="1200">
                        <a:latin typeface="微软雅黑" panose="020B0503020204020204" pitchFamily="34" charset="-122"/>
                        <a:cs typeface="微软雅黑" panose="020B0503020204020204" pitchFamily="34" charset="-122"/>
                      </a:endParaRPr>
                    </a:p>
                  </a:txBody>
                  <a:tcPr marL="0" marR="0" marT="48894" marB="0">
                    <a:solidFill>
                      <a:srgbClr val="F7F7F7"/>
                    </a:solidFill>
                  </a:tcPr>
                </a:tc>
                <a:tc>
                  <a:txBody>
                    <a:bodyPr/>
                    <a:lstStyle/>
                    <a:p>
                      <a:pPr>
                        <a:lnSpc>
                          <a:spcPct val="100000"/>
                        </a:lnSpc>
                      </a:pPr>
                      <a:endParaRPr sz="1400">
                        <a:latin typeface="Times New Roman" panose="02020603050405020304"/>
                        <a:cs typeface="Times New Roman" panose="02020603050405020304"/>
                      </a:endParaRPr>
                    </a:p>
                  </a:txBody>
                  <a:tcPr marL="0" marR="0" marT="0" marB="0">
                    <a:solidFill>
                      <a:srgbClr val="F7F7F7"/>
                    </a:solidFill>
                  </a:tcPr>
                </a:tc>
                <a:extLst>
                  <a:ext uri="{0D108BD9-81ED-4DB2-BD59-A6C34878D82A}">
                    <a16:rowId xmlns:a16="http://schemas.microsoft.com/office/drawing/2014/main" xmlns="" val="10005"/>
                  </a:ext>
                </a:extLst>
              </a:tr>
              <a:tr h="288036">
                <a:tc>
                  <a:txBody>
                    <a:bodyPr/>
                    <a:lstStyle/>
                    <a:p>
                      <a:pPr marL="91440">
                        <a:lnSpc>
                          <a:spcPct val="100000"/>
                        </a:lnSpc>
                        <a:spcBef>
                          <a:spcPts val="410"/>
                        </a:spcBef>
                      </a:pPr>
                      <a:r>
                        <a:rPr sz="1200" dirty="0">
                          <a:solidFill>
                            <a:srgbClr val="444242"/>
                          </a:solidFill>
                          <a:latin typeface="微软雅黑" panose="020B0503020204020204" pitchFamily="34" charset="-122"/>
                          <a:cs typeface="微软雅黑" panose="020B0503020204020204" pitchFamily="34" charset="-122"/>
                        </a:rPr>
                        <a:t>加权方式</a:t>
                      </a:r>
                      <a:endParaRPr sz="1200">
                        <a:latin typeface="微软雅黑" panose="020B0503020204020204" pitchFamily="34" charset="-122"/>
                        <a:cs typeface="微软雅黑" panose="020B0503020204020204" pitchFamily="34" charset="-122"/>
                      </a:endParaRPr>
                    </a:p>
                  </a:txBody>
                  <a:tcPr marL="0" marR="0" marT="52069" marB="0">
                    <a:solidFill>
                      <a:srgbClr val="F7F7F7"/>
                    </a:solidFill>
                  </a:tcPr>
                </a:tc>
                <a:tc>
                  <a:txBody>
                    <a:bodyPr/>
                    <a:lstStyle/>
                    <a:p>
                      <a:pPr marL="85090">
                        <a:lnSpc>
                          <a:spcPct val="100000"/>
                        </a:lnSpc>
                        <a:spcBef>
                          <a:spcPts val="410"/>
                        </a:spcBef>
                      </a:pPr>
                      <a:r>
                        <a:rPr sz="1200" dirty="0">
                          <a:solidFill>
                            <a:srgbClr val="444242"/>
                          </a:solidFill>
                          <a:latin typeface="微软雅黑" panose="020B0503020204020204" pitchFamily="34" charset="-122"/>
                          <a:cs typeface="微软雅黑" panose="020B0503020204020204" pitchFamily="34" charset="-122"/>
                        </a:rPr>
                        <a:t>自由流通市值加权分级靠档</a:t>
                      </a:r>
                      <a:endParaRPr sz="1200" dirty="0">
                        <a:latin typeface="微软雅黑" panose="020B0503020204020204" pitchFamily="34" charset="-122"/>
                        <a:cs typeface="微软雅黑" panose="020B0503020204020204" pitchFamily="34" charset="-122"/>
                      </a:endParaRPr>
                    </a:p>
                  </a:txBody>
                  <a:tcPr marL="0" marR="0" marT="52069" marB="0">
                    <a:lnR w="19050">
                      <a:solidFill>
                        <a:srgbClr val="02578A"/>
                      </a:solidFill>
                      <a:prstDash val="solid"/>
                    </a:lnR>
                    <a:solidFill>
                      <a:srgbClr val="F7F7F7"/>
                    </a:solidFill>
                  </a:tcPr>
                </a:tc>
                <a:tc>
                  <a:txBody>
                    <a:bodyPr/>
                    <a:lstStyle/>
                    <a:p>
                      <a:pPr>
                        <a:lnSpc>
                          <a:spcPct val="100000"/>
                        </a:lnSpc>
                      </a:pPr>
                      <a:endParaRPr sz="1400">
                        <a:latin typeface="Times New Roman" panose="02020603050405020304"/>
                        <a:cs typeface="Times New Roman" panose="02020603050405020304"/>
                      </a:endParaRPr>
                    </a:p>
                  </a:txBody>
                  <a:tcPr marL="0" marR="0" marT="0" marB="0">
                    <a:lnL w="19050">
                      <a:solidFill>
                        <a:srgbClr val="02578A"/>
                      </a:solidFill>
                      <a:prstDash val="solid"/>
                    </a:lnL>
                    <a:solidFill>
                      <a:srgbClr val="F7F7F7"/>
                    </a:solidFill>
                  </a:tcPr>
                </a:tc>
                <a:extLst>
                  <a:ext uri="{0D108BD9-81ED-4DB2-BD59-A6C34878D82A}">
                    <a16:rowId xmlns:a16="http://schemas.microsoft.com/office/drawing/2014/main" xmlns="" val="10006"/>
                  </a:ext>
                </a:extLst>
              </a:tr>
              <a:tr h="288036">
                <a:tc>
                  <a:txBody>
                    <a:bodyPr/>
                    <a:lstStyle/>
                    <a:p>
                      <a:pPr marL="91440">
                        <a:lnSpc>
                          <a:spcPct val="100000"/>
                        </a:lnSpc>
                        <a:spcBef>
                          <a:spcPts val="410"/>
                        </a:spcBef>
                      </a:pPr>
                      <a:r>
                        <a:rPr sz="1200" dirty="0">
                          <a:solidFill>
                            <a:srgbClr val="444242"/>
                          </a:solidFill>
                          <a:latin typeface="微软雅黑" panose="020B0503020204020204" pitchFamily="34" charset="-122"/>
                          <a:cs typeface="微软雅黑" panose="020B0503020204020204" pitchFamily="34" charset="-122"/>
                        </a:rPr>
                        <a:t>发布日期</a:t>
                      </a:r>
                      <a:endParaRPr sz="1200">
                        <a:latin typeface="微软雅黑" panose="020B0503020204020204" pitchFamily="34" charset="-122"/>
                        <a:cs typeface="微软雅黑" panose="020B0503020204020204" pitchFamily="34" charset="-122"/>
                      </a:endParaRPr>
                    </a:p>
                  </a:txBody>
                  <a:tcPr marL="0" marR="0" marT="52069" marB="0">
                    <a:solidFill>
                      <a:srgbClr val="F7F7F7"/>
                    </a:solidFill>
                  </a:tcPr>
                </a:tc>
                <a:tc>
                  <a:txBody>
                    <a:bodyPr/>
                    <a:lstStyle/>
                    <a:p>
                      <a:pPr marL="85090">
                        <a:lnSpc>
                          <a:spcPct val="100000"/>
                        </a:lnSpc>
                        <a:spcBef>
                          <a:spcPts val="410"/>
                        </a:spcBef>
                      </a:pPr>
                      <a:r>
                        <a:rPr sz="1200" spc="-5" dirty="0">
                          <a:solidFill>
                            <a:srgbClr val="444242"/>
                          </a:solidFill>
                          <a:latin typeface="微软雅黑" panose="020B0503020204020204" pitchFamily="34" charset="-122"/>
                          <a:cs typeface="微软雅黑" panose="020B0503020204020204" pitchFamily="34" charset="-122"/>
                        </a:rPr>
                        <a:t>2011-08-02</a:t>
                      </a:r>
                      <a:endParaRPr sz="1200" dirty="0">
                        <a:latin typeface="微软雅黑" panose="020B0503020204020204" pitchFamily="34" charset="-122"/>
                        <a:cs typeface="微软雅黑" panose="020B0503020204020204" pitchFamily="34" charset="-122"/>
                      </a:endParaRPr>
                    </a:p>
                  </a:txBody>
                  <a:tcPr marL="0" marR="0" marT="52069" marB="0">
                    <a:lnR w="19050">
                      <a:solidFill>
                        <a:srgbClr val="02578A"/>
                      </a:solidFill>
                      <a:prstDash val="solid"/>
                    </a:lnR>
                    <a:solidFill>
                      <a:srgbClr val="F7F7F7"/>
                    </a:solidFill>
                  </a:tcPr>
                </a:tc>
                <a:tc>
                  <a:txBody>
                    <a:bodyPr/>
                    <a:lstStyle/>
                    <a:p>
                      <a:pPr>
                        <a:lnSpc>
                          <a:spcPct val="100000"/>
                        </a:lnSpc>
                      </a:pPr>
                      <a:endParaRPr sz="1400">
                        <a:latin typeface="Times New Roman" panose="02020603050405020304"/>
                        <a:cs typeface="Times New Roman" panose="02020603050405020304"/>
                      </a:endParaRPr>
                    </a:p>
                  </a:txBody>
                  <a:tcPr marL="0" marR="0" marT="0" marB="0">
                    <a:lnL w="19050">
                      <a:solidFill>
                        <a:srgbClr val="02578A"/>
                      </a:solidFill>
                      <a:prstDash val="solid"/>
                    </a:lnL>
                    <a:solidFill>
                      <a:srgbClr val="F7F7F7"/>
                    </a:solidFill>
                  </a:tcPr>
                </a:tc>
                <a:extLst>
                  <a:ext uri="{0D108BD9-81ED-4DB2-BD59-A6C34878D82A}">
                    <a16:rowId xmlns:a16="http://schemas.microsoft.com/office/drawing/2014/main" xmlns="" val="10007"/>
                  </a:ext>
                </a:extLst>
              </a:tr>
              <a:tr h="288036">
                <a:tc>
                  <a:txBody>
                    <a:bodyPr/>
                    <a:lstStyle/>
                    <a:p>
                      <a:pPr marL="91440">
                        <a:lnSpc>
                          <a:spcPct val="100000"/>
                        </a:lnSpc>
                        <a:spcBef>
                          <a:spcPts val="410"/>
                        </a:spcBef>
                      </a:pPr>
                      <a:r>
                        <a:rPr sz="1200" dirty="0">
                          <a:solidFill>
                            <a:srgbClr val="444242"/>
                          </a:solidFill>
                          <a:latin typeface="微软雅黑" panose="020B0503020204020204" pitchFamily="34" charset="-122"/>
                          <a:cs typeface="微软雅黑" panose="020B0503020204020204" pitchFamily="34" charset="-122"/>
                        </a:rPr>
                        <a:t>收益处理方式</a:t>
                      </a:r>
                      <a:endParaRPr sz="1200">
                        <a:latin typeface="微软雅黑" panose="020B0503020204020204" pitchFamily="34" charset="-122"/>
                        <a:cs typeface="微软雅黑" panose="020B0503020204020204" pitchFamily="34" charset="-122"/>
                      </a:endParaRPr>
                    </a:p>
                  </a:txBody>
                  <a:tcPr marL="0" marR="0" marT="52069" marB="0">
                    <a:solidFill>
                      <a:srgbClr val="F7F7F7"/>
                    </a:solidFill>
                  </a:tcPr>
                </a:tc>
                <a:tc>
                  <a:txBody>
                    <a:bodyPr/>
                    <a:lstStyle/>
                    <a:p>
                      <a:pPr marL="85090">
                        <a:lnSpc>
                          <a:spcPct val="100000"/>
                        </a:lnSpc>
                        <a:spcBef>
                          <a:spcPts val="410"/>
                        </a:spcBef>
                      </a:pPr>
                      <a:r>
                        <a:rPr sz="1200" dirty="0">
                          <a:solidFill>
                            <a:srgbClr val="444242"/>
                          </a:solidFill>
                          <a:latin typeface="微软雅黑" panose="020B0503020204020204" pitchFamily="34" charset="-122"/>
                          <a:cs typeface="微软雅黑" panose="020B0503020204020204" pitchFamily="34" charset="-122"/>
                        </a:rPr>
                        <a:t>价格指数</a:t>
                      </a:r>
                      <a:endParaRPr sz="1200" dirty="0">
                        <a:latin typeface="微软雅黑" panose="020B0503020204020204" pitchFamily="34" charset="-122"/>
                        <a:cs typeface="微软雅黑" panose="020B0503020204020204" pitchFamily="34" charset="-122"/>
                      </a:endParaRPr>
                    </a:p>
                  </a:txBody>
                  <a:tcPr marL="0" marR="0" marT="52069" marB="0">
                    <a:lnR w="19050">
                      <a:solidFill>
                        <a:srgbClr val="02578A"/>
                      </a:solidFill>
                      <a:prstDash val="solid"/>
                    </a:lnR>
                    <a:solidFill>
                      <a:srgbClr val="F7F7F7"/>
                    </a:solidFill>
                  </a:tcPr>
                </a:tc>
                <a:tc>
                  <a:txBody>
                    <a:bodyPr/>
                    <a:lstStyle/>
                    <a:p>
                      <a:pPr>
                        <a:lnSpc>
                          <a:spcPct val="100000"/>
                        </a:lnSpc>
                      </a:pPr>
                      <a:endParaRPr sz="1400">
                        <a:latin typeface="Times New Roman" panose="02020603050405020304"/>
                        <a:cs typeface="Times New Roman" panose="02020603050405020304"/>
                      </a:endParaRPr>
                    </a:p>
                  </a:txBody>
                  <a:tcPr marL="0" marR="0" marT="0" marB="0">
                    <a:lnL w="19050">
                      <a:solidFill>
                        <a:srgbClr val="02578A"/>
                      </a:solidFill>
                      <a:prstDash val="solid"/>
                    </a:lnL>
                    <a:solidFill>
                      <a:srgbClr val="F7F7F7"/>
                    </a:solidFill>
                  </a:tcPr>
                </a:tc>
                <a:extLst>
                  <a:ext uri="{0D108BD9-81ED-4DB2-BD59-A6C34878D82A}">
                    <a16:rowId xmlns:a16="http://schemas.microsoft.com/office/drawing/2014/main" xmlns="" val="10008"/>
                  </a:ext>
                </a:extLst>
              </a:tr>
              <a:tr h="293677">
                <a:tc>
                  <a:txBody>
                    <a:bodyPr/>
                    <a:lstStyle/>
                    <a:p>
                      <a:pPr marL="91440">
                        <a:lnSpc>
                          <a:spcPct val="100000"/>
                        </a:lnSpc>
                        <a:spcBef>
                          <a:spcPts val="410"/>
                        </a:spcBef>
                      </a:pPr>
                      <a:r>
                        <a:rPr sz="1200" dirty="0">
                          <a:solidFill>
                            <a:srgbClr val="444242"/>
                          </a:solidFill>
                          <a:latin typeface="微软雅黑" panose="020B0503020204020204" pitchFamily="34" charset="-122"/>
                          <a:cs typeface="微软雅黑" panose="020B0503020204020204" pitchFamily="34" charset="-122"/>
                        </a:rPr>
                        <a:t>指数成分股数量（截至2</a:t>
                      </a:r>
                      <a:r>
                        <a:rPr sz="1200" spc="-10" dirty="0">
                          <a:solidFill>
                            <a:srgbClr val="444242"/>
                          </a:solidFill>
                          <a:latin typeface="微软雅黑" panose="020B0503020204020204" pitchFamily="34" charset="-122"/>
                          <a:cs typeface="微软雅黑" panose="020B0503020204020204" pitchFamily="34" charset="-122"/>
                        </a:rPr>
                        <a:t>02</a:t>
                      </a:r>
                      <a:r>
                        <a:rPr lang="en-US" sz="1200" spc="-10" dirty="0">
                          <a:solidFill>
                            <a:srgbClr val="444242"/>
                          </a:solidFill>
                          <a:latin typeface="微软雅黑" panose="020B0503020204020204" pitchFamily="34" charset="-122"/>
                          <a:cs typeface="微软雅黑" panose="020B0503020204020204" pitchFamily="34" charset="-122"/>
                        </a:rPr>
                        <a:t>6</a:t>
                      </a:r>
                      <a:r>
                        <a:rPr sz="1200" spc="-5" dirty="0">
                          <a:solidFill>
                            <a:srgbClr val="444242"/>
                          </a:solidFill>
                          <a:latin typeface="微软雅黑" panose="020B0503020204020204" pitchFamily="34" charset="-122"/>
                          <a:cs typeface="微软雅黑" panose="020B0503020204020204" pitchFamily="34" charset="-122"/>
                        </a:rPr>
                        <a:t>.</a:t>
                      </a:r>
                      <a:r>
                        <a:rPr lang="en-US" sz="1200" spc="-10" dirty="0">
                          <a:solidFill>
                            <a:srgbClr val="444242"/>
                          </a:solidFill>
                          <a:latin typeface="微软雅黑" panose="020B0503020204020204" pitchFamily="34" charset="-122"/>
                          <a:cs typeface="微软雅黑" panose="020B0503020204020204" pitchFamily="34" charset="-122"/>
                        </a:rPr>
                        <a:t>5</a:t>
                      </a:r>
                      <a:r>
                        <a:rPr sz="1200" spc="-15" dirty="0">
                          <a:solidFill>
                            <a:srgbClr val="444242"/>
                          </a:solidFill>
                          <a:latin typeface="微软雅黑" panose="020B0503020204020204" pitchFamily="34" charset="-122"/>
                          <a:cs typeface="微软雅黑" panose="020B0503020204020204" pitchFamily="34" charset="-122"/>
                        </a:rPr>
                        <a:t>.</a:t>
                      </a:r>
                      <a:r>
                        <a:rPr lang="en-US" sz="1200" spc="-15" dirty="0">
                          <a:solidFill>
                            <a:srgbClr val="444242"/>
                          </a:solidFill>
                          <a:latin typeface="微软雅黑" panose="020B0503020204020204" pitchFamily="34" charset="-122"/>
                          <a:cs typeface="微软雅黑" panose="020B0503020204020204" pitchFamily="34" charset="-122"/>
                        </a:rPr>
                        <a:t>31</a:t>
                      </a:r>
                      <a:r>
                        <a:rPr sz="1200" dirty="0">
                          <a:solidFill>
                            <a:srgbClr val="444242"/>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a:txBody>
                  <a:tcPr marL="0" marR="0" marT="52069" marB="0">
                    <a:lnB w="12700">
                      <a:solidFill>
                        <a:srgbClr val="393838"/>
                      </a:solidFill>
                      <a:prstDash val="solid"/>
                    </a:lnB>
                    <a:solidFill>
                      <a:srgbClr val="F7F7F7"/>
                    </a:solidFill>
                  </a:tcPr>
                </a:tc>
                <a:tc>
                  <a:txBody>
                    <a:bodyPr/>
                    <a:lstStyle/>
                    <a:p>
                      <a:pPr marL="85090">
                        <a:lnSpc>
                          <a:spcPct val="100000"/>
                        </a:lnSpc>
                        <a:spcBef>
                          <a:spcPts val="410"/>
                        </a:spcBef>
                      </a:pPr>
                      <a:r>
                        <a:rPr lang="en-US" sz="1200" dirty="0">
                          <a:latin typeface="微软雅黑" panose="020B0503020204020204" pitchFamily="34" charset="-122"/>
                          <a:cs typeface="微软雅黑" panose="020B0503020204020204" pitchFamily="34" charset="-122"/>
                        </a:rPr>
                        <a:t>5061</a:t>
                      </a:r>
                      <a:endParaRPr sz="1200" dirty="0">
                        <a:latin typeface="微软雅黑" panose="020B0503020204020204" pitchFamily="34" charset="-122"/>
                        <a:cs typeface="微软雅黑" panose="020B0503020204020204" pitchFamily="34" charset="-122"/>
                      </a:endParaRPr>
                    </a:p>
                  </a:txBody>
                  <a:tcPr marL="0" marR="0" marT="52069" marB="0">
                    <a:lnR w="19050">
                      <a:solidFill>
                        <a:srgbClr val="02578A"/>
                      </a:solidFill>
                      <a:prstDash val="solid"/>
                    </a:lnR>
                    <a:lnB w="12700">
                      <a:solidFill>
                        <a:srgbClr val="393838"/>
                      </a:solidFill>
                      <a:prstDash val="solid"/>
                    </a:lnB>
                    <a:solidFill>
                      <a:srgbClr val="F7F7F7"/>
                    </a:solidFill>
                  </a:tcPr>
                </a:tc>
                <a:tc>
                  <a:txBody>
                    <a:bodyPr/>
                    <a:lstStyle/>
                    <a:p>
                      <a:pPr>
                        <a:lnSpc>
                          <a:spcPct val="100000"/>
                        </a:lnSpc>
                      </a:pPr>
                      <a:endParaRPr sz="1400" dirty="0">
                        <a:latin typeface="Times New Roman" panose="02020603050405020304"/>
                        <a:cs typeface="Times New Roman" panose="02020603050405020304"/>
                      </a:endParaRPr>
                    </a:p>
                  </a:txBody>
                  <a:tcPr marL="0" marR="0" marT="0" marB="0">
                    <a:lnL w="19050">
                      <a:solidFill>
                        <a:srgbClr val="02578A"/>
                      </a:solidFill>
                      <a:prstDash val="solid"/>
                    </a:lnL>
                    <a:solidFill>
                      <a:srgbClr val="F7F7F7"/>
                    </a:solidFill>
                  </a:tcPr>
                </a:tc>
                <a:extLst>
                  <a:ext uri="{0D108BD9-81ED-4DB2-BD59-A6C34878D82A}">
                    <a16:rowId xmlns:a16="http://schemas.microsoft.com/office/drawing/2014/main" xmlns="" val="10009"/>
                  </a:ext>
                </a:extLst>
              </a:tr>
            </a:tbl>
          </a:graphicData>
        </a:graphic>
      </p:graphicFrame>
      <p:sp>
        <p:nvSpPr>
          <p:cNvPr id="16" name="object 1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zh-CN" altLang="en-US" b="1" kern="1200" spc="-5" baseline="0" dirty="0">
                <a:solidFill>
                  <a:srgbClr val="EA5838"/>
                </a:solidFill>
                <a:effectLst/>
                <a:latin typeface="微软雅黑" panose="020B0503020204020204" pitchFamily="34" charset="-122"/>
                <a:ea typeface="微软雅黑" panose="020B0503020204020204" pitchFamily="34" charset="-122"/>
                <a:cs typeface="+mj-cs"/>
              </a:rPr>
              <a:t>无惧风格轮动、</a:t>
            </a:r>
            <a:r>
              <a:rPr lang="zh-CN" altLang="zh-CN" b="1" kern="1200" spc="-5" baseline="0" dirty="0">
                <a:solidFill>
                  <a:srgbClr val="EA5838"/>
                </a:solidFill>
                <a:effectLst/>
                <a:latin typeface="微软雅黑" panose="020B0503020204020204" pitchFamily="34" charset="-122"/>
                <a:ea typeface="微软雅黑" panose="020B0503020204020204" pitchFamily="34" charset="-122"/>
                <a:cs typeface="+mj-cs"/>
              </a:rPr>
              <a:t>一键配置全市场</a:t>
            </a:r>
            <a:r>
              <a:rPr spc="-5" dirty="0"/>
              <a:t>：</a:t>
            </a:r>
            <a:r>
              <a:rPr spc="-5" dirty="0" err="1"/>
              <a:t>中证全指指数</a:t>
            </a:r>
            <a:endParaRPr dirty="0"/>
          </a:p>
        </p:txBody>
      </p:sp>
      <p:sp>
        <p:nvSpPr>
          <p:cNvPr id="24" name="灯片编号占位符 23"/>
          <p:cNvSpPr>
            <a:spLocks noGrp="1"/>
          </p:cNvSpPr>
          <p:nvPr>
            <p:ph type="sldNum" sz="quarter" idx="11"/>
          </p:nvPr>
        </p:nvSpPr>
        <p:spPr/>
        <p:txBody>
          <a:bodyPr/>
          <a:lstStyle/>
          <a:p>
            <a:pPr>
              <a:defRPr/>
            </a:pPr>
            <a:fld id="{49FB53F7-37AE-4152-A115-BFA7398457ED}" type="slidenum">
              <a:rPr lang="zh-CN" altLang="en-US" smtClean="0"/>
              <a:t>4</a:t>
            </a:fld>
            <a:endParaRPr lang="zh-CN" altLang="en-US" dirty="0"/>
          </a:p>
        </p:txBody>
      </p:sp>
      <p:sp>
        <p:nvSpPr>
          <p:cNvPr id="17" name="object 17"/>
          <p:cNvSpPr txBox="1"/>
          <p:nvPr/>
        </p:nvSpPr>
        <p:spPr>
          <a:xfrm>
            <a:off x="654672" y="5645452"/>
            <a:ext cx="88646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6C6969"/>
                </a:solidFill>
                <a:latin typeface="微软雅黑" panose="020B0503020204020204" pitchFamily="34" charset="-122"/>
                <a:cs typeface="微软雅黑" panose="020B0503020204020204" pitchFamily="34" charset="-122"/>
              </a:rPr>
              <a:t>数据来源：</a:t>
            </a:r>
            <a:r>
              <a:rPr sz="900" spc="-5" dirty="0">
                <a:solidFill>
                  <a:srgbClr val="6C6969"/>
                </a:solidFill>
                <a:latin typeface="微软雅黑" panose="020B0503020204020204" pitchFamily="34" charset="-122"/>
                <a:cs typeface="微软雅黑" panose="020B0503020204020204" pitchFamily="34" charset="-122"/>
              </a:rPr>
              <a:t>W</a:t>
            </a:r>
            <a:r>
              <a:rPr sz="900" dirty="0">
                <a:solidFill>
                  <a:srgbClr val="6C6969"/>
                </a:solidFill>
                <a:latin typeface="微软雅黑" panose="020B0503020204020204" pitchFamily="34" charset="-122"/>
                <a:cs typeface="微软雅黑" panose="020B0503020204020204" pitchFamily="34" charset="-122"/>
              </a:rPr>
              <a:t>i</a:t>
            </a:r>
            <a:r>
              <a:rPr sz="900" spc="-5" dirty="0">
                <a:solidFill>
                  <a:srgbClr val="6C6969"/>
                </a:solidFill>
                <a:latin typeface="微软雅黑" panose="020B0503020204020204" pitchFamily="34" charset="-122"/>
                <a:cs typeface="微软雅黑" panose="020B0503020204020204" pitchFamily="34" charset="-122"/>
              </a:rPr>
              <a:t>n</a:t>
            </a:r>
            <a:r>
              <a:rPr sz="900" dirty="0">
                <a:solidFill>
                  <a:srgbClr val="6C6969"/>
                </a:solidFill>
                <a:latin typeface="微软雅黑" panose="020B0503020204020204" pitchFamily="34" charset="-122"/>
                <a:cs typeface="微软雅黑" panose="020B0503020204020204" pitchFamily="34" charset="-122"/>
              </a:rPr>
              <a:t>d</a:t>
            </a:r>
            <a:endParaRPr sz="900">
              <a:latin typeface="微软雅黑" panose="020B0503020204020204" pitchFamily="34" charset="-122"/>
              <a:cs typeface="微软雅黑" panose="020B0503020204020204" pitchFamily="34" charset="-122"/>
            </a:endParaRPr>
          </a:p>
        </p:txBody>
      </p:sp>
      <p:grpSp>
        <p:nvGrpSpPr>
          <p:cNvPr id="26" name="组合 25"/>
          <p:cNvGrpSpPr/>
          <p:nvPr/>
        </p:nvGrpSpPr>
        <p:grpSpPr>
          <a:xfrm>
            <a:off x="6513684" y="1403987"/>
            <a:ext cx="5314493" cy="4241465"/>
            <a:chOff x="6182943" y="1351597"/>
            <a:chExt cx="5314493" cy="4241465"/>
          </a:xfrm>
        </p:grpSpPr>
        <p:sp>
          <p:nvSpPr>
            <p:cNvPr id="8" name="object 8"/>
            <p:cNvSpPr/>
            <p:nvPr/>
          </p:nvSpPr>
          <p:spPr>
            <a:xfrm>
              <a:off x="6182943" y="5119193"/>
              <a:ext cx="4820285" cy="413384"/>
            </a:xfrm>
            <a:custGeom>
              <a:avLst/>
              <a:gdLst/>
              <a:ahLst/>
              <a:cxnLst/>
              <a:rect l="l" t="t" r="r" b="b"/>
              <a:pathLst>
                <a:path w="4820284" h="413385">
                  <a:moveTo>
                    <a:pt x="4819723" y="413301"/>
                  </a:moveTo>
                  <a:lnTo>
                    <a:pt x="0" y="413301"/>
                  </a:lnTo>
                  <a:lnTo>
                    <a:pt x="238731" y="0"/>
                  </a:lnTo>
                  <a:lnTo>
                    <a:pt x="4580992" y="0"/>
                  </a:lnTo>
                  <a:lnTo>
                    <a:pt x="4819723" y="413301"/>
                  </a:lnTo>
                  <a:close/>
                </a:path>
              </a:pathLst>
            </a:custGeom>
            <a:solidFill>
              <a:srgbClr val="BC2020"/>
            </a:solidFill>
          </p:spPr>
          <p:txBody>
            <a:bodyPr wrap="square" lIns="0" tIns="0" rIns="0" bIns="0" rtlCol="0"/>
            <a:lstStyle/>
            <a:p>
              <a:endParaRPr/>
            </a:p>
          </p:txBody>
        </p:sp>
        <p:grpSp>
          <p:nvGrpSpPr>
            <p:cNvPr id="25" name="组合 24"/>
            <p:cNvGrpSpPr/>
            <p:nvPr/>
          </p:nvGrpSpPr>
          <p:grpSpPr>
            <a:xfrm>
              <a:off x="6365875" y="1351597"/>
              <a:ext cx="5131561" cy="4241465"/>
              <a:chOff x="6365875" y="1351597"/>
              <a:chExt cx="5131561" cy="4241465"/>
            </a:xfrm>
          </p:grpSpPr>
          <p:sp>
            <p:nvSpPr>
              <p:cNvPr id="2" name="object 2"/>
              <p:cNvSpPr txBox="1"/>
              <p:nvPr/>
            </p:nvSpPr>
            <p:spPr>
              <a:xfrm>
                <a:off x="6372669" y="3174149"/>
                <a:ext cx="602615" cy="208279"/>
              </a:xfrm>
              <a:prstGeom prst="rect">
                <a:avLst/>
              </a:prstGeom>
            </p:spPr>
            <p:txBody>
              <a:bodyPr vert="horz" wrap="square" lIns="0" tIns="12700" rIns="0" bIns="0" rtlCol="0">
                <a:spAutoFit/>
              </a:bodyPr>
              <a:lstStyle/>
              <a:p>
                <a:pPr marL="12700">
                  <a:lnSpc>
                    <a:spcPct val="100000"/>
                  </a:lnSpc>
                  <a:spcBef>
                    <a:spcPts val="100"/>
                  </a:spcBef>
                  <a:tabLst>
                    <a:tab pos="589280" algn="l"/>
                  </a:tabLst>
                </a:pPr>
                <a:r>
                  <a:rPr sz="1200" u="sng" dirty="0">
                    <a:solidFill>
                      <a:srgbClr val="444242"/>
                    </a:solidFill>
                    <a:uFill>
                      <a:solidFill>
                        <a:srgbClr val="1D1C1C"/>
                      </a:solidFill>
                    </a:uFill>
                    <a:latin typeface="Times New Roman" panose="02020603050405020304"/>
                    <a:cs typeface="Times New Roman" panose="02020603050405020304"/>
                  </a:rPr>
                  <a:t> 	</a:t>
                </a:r>
                <a:endParaRPr sz="1200">
                  <a:latin typeface="Times New Roman" panose="02020603050405020304"/>
                  <a:cs typeface="Times New Roman" panose="02020603050405020304"/>
                </a:endParaRPr>
              </a:p>
            </p:txBody>
          </p:sp>
          <p:sp>
            <p:nvSpPr>
              <p:cNvPr id="3" name="object 3"/>
              <p:cNvSpPr/>
              <p:nvPr/>
            </p:nvSpPr>
            <p:spPr>
              <a:xfrm>
                <a:off x="6453770" y="4367434"/>
                <a:ext cx="4278630" cy="696595"/>
              </a:xfrm>
              <a:custGeom>
                <a:avLst/>
                <a:gdLst/>
                <a:ahLst/>
                <a:cxnLst/>
                <a:rect l="l" t="t" r="r" b="b"/>
                <a:pathLst>
                  <a:path w="4278630" h="696595">
                    <a:moveTo>
                      <a:pt x="4278101" y="696220"/>
                    </a:moveTo>
                    <a:lnTo>
                      <a:pt x="0" y="696220"/>
                    </a:lnTo>
                    <a:lnTo>
                      <a:pt x="402146" y="0"/>
                    </a:lnTo>
                    <a:lnTo>
                      <a:pt x="3875954" y="0"/>
                    </a:lnTo>
                    <a:lnTo>
                      <a:pt x="4278101" y="696220"/>
                    </a:lnTo>
                    <a:close/>
                  </a:path>
                </a:pathLst>
              </a:custGeom>
              <a:solidFill>
                <a:srgbClr val="B9E0F8"/>
              </a:solidFill>
            </p:spPr>
            <p:txBody>
              <a:bodyPr wrap="square" lIns="0" tIns="0" rIns="0" bIns="0" rtlCol="0"/>
              <a:lstStyle/>
              <a:p>
                <a:endParaRPr/>
              </a:p>
            </p:txBody>
          </p:sp>
          <p:sp>
            <p:nvSpPr>
              <p:cNvPr id="4" name="object 4"/>
              <p:cNvSpPr/>
              <p:nvPr/>
            </p:nvSpPr>
            <p:spPr>
              <a:xfrm>
                <a:off x="6887981" y="3615679"/>
                <a:ext cx="3409950" cy="696595"/>
              </a:xfrm>
              <a:custGeom>
                <a:avLst/>
                <a:gdLst/>
                <a:ahLst/>
                <a:cxnLst/>
                <a:rect l="l" t="t" r="r" b="b"/>
                <a:pathLst>
                  <a:path w="3409950" h="696595">
                    <a:moveTo>
                      <a:pt x="3409649" y="696217"/>
                    </a:moveTo>
                    <a:lnTo>
                      <a:pt x="0" y="696217"/>
                    </a:lnTo>
                    <a:lnTo>
                      <a:pt x="402143" y="0"/>
                    </a:lnTo>
                    <a:lnTo>
                      <a:pt x="3007499" y="0"/>
                    </a:lnTo>
                    <a:lnTo>
                      <a:pt x="3409649" y="696217"/>
                    </a:lnTo>
                    <a:close/>
                  </a:path>
                </a:pathLst>
              </a:custGeom>
              <a:solidFill>
                <a:srgbClr val="86C4EA"/>
              </a:solidFill>
            </p:spPr>
            <p:txBody>
              <a:bodyPr wrap="square" lIns="0" tIns="0" rIns="0" bIns="0" rtlCol="0"/>
              <a:lstStyle/>
              <a:p>
                <a:endParaRPr/>
              </a:p>
            </p:txBody>
          </p:sp>
          <p:sp>
            <p:nvSpPr>
              <p:cNvPr id="5" name="object 5"/>
              <p:cNvSpPr/>
              <p:nvPr/>
            </p:nvSpPr>
            <p:spPr>
              <a:xfrm>
                <a:off x="7322221" y="2863921"/>
                <a:ext cx="2541270" cy="696595"/>
              </a:xfrm>
              <a:custGeom>
                <a:avLst/>
                <a:gdLst/>
                <a:ahLst/>
                <a:cxnLst/>
                <a:rect l="l" t="t" r="r" b="b"/>
                <a:pathLst>
                  <a:path w="2541270" h="696595">
                    <a:moveTo>
                      <a:pt x="2541196" y="696217"/>
                    </a:moveTo>
                    <a:lnTo>
                      <a:pt x="0" y="696217"/>
                    </a:lnTo>
                    <a:lnTo>
                      <a:pt x="402146" y="0"/>
                    </a:lnTo>
                    <a:lnTo>
                      <a:pt x="2139053" y="0"/>
                    </a:lnTo>
                    <a:lnTo>
                      <a:pt x="2541196" y="696217"/>
                    </a:lnTo>
                    <a:close/>
                  </a:path>
                </a:pathLst>
              </a:custGeom>
              <a:solidFill>
                <a:srgbClr val="529DC9"/>
              </a:solidFill>
            </p:spPr>
            <p:txBody>
              <a:bodyPr wrap="square" lIns="0" tIns="0" rIns="0" bIns="0" rtlCol="0"/>
              <a:lstStyle/>
              <a:p>
                <a:endParaRPr/>
              </a:p>
            </p:txBody>
          </p:sp>
          <p:sp>
            <p:nvSpPr>
              <p:cNvPr id="6" name="object 6"/>
              <p:cNvSpPr/>
              <p:nvPr/>
            </p:nvSpPr>
            <p:spPr>
              <a:xfrm>
                <a:off x="7756431" y="2112163"/>
                <a:ext cx="1673225" cy="696595"/>
              </a:xfrm>
              <a:custGeom>
                <a:avLst/>
                <a:gdLst/>
                <a:ahLst/>
                <a:cxnLst/>
                <a:rect l="l" t="t" r="r" b="b"/>
                <a:pathLst>
                  <a:path w="1673225" h="696594">
                    <a:moveTo>
                      <a:pt x="1672747" y="696217"/>
                    </a:moveTo>
                    <a:lnTo>
                      <a:pt x="0" y="696217"/>
                    </a:lnTo>
                    <a:lnTo>
                      <a:pt x="402146" y="0"/>
                    </a:lnTo>
                    <a:lnTo>
                      <a:pt x="1270601" y="0"/>
                    </a:lnTo>
                    <a:lnTo>
                      <a:pt x="1672747" y="696217"/>
                    </a:lnTo>
                    <a:close/>
                  </a:path>
                </a:pathLst>
              </a:custGeom>
              <a:solidFill>
                <a:srgbClr val="317CAD"/>
              </a:solidFill>
            </p:spPr>
            <p:txBody>
              <a:bodyPr wrap="square" lIns="0" tIns="0" rIns="0" bIns="0" rtlCol="0"/>
              <a:lstStyle/>
              <a:p>
                <a:endParaRPr/>
              </a:p>
            </p:txBody>
          </p:sp>
          <p:sp>
            <p:nvSpPr>
              <p:cNvPr id="7" name="object 7"/>
              <p:cNvSpPr/>
              <p:nvPr/>
            </p:nvSpPr>
            <p:spPr>
              <a:xfrm>
                <a:off x="8190673" y="1360405"/>
                <a:ext cx="804545" cy="696595"/>
              </a:xfrm>
              <a:custGeom>
                <a:avLst/>
                <a:gdLst/>
                <a:ahLst/>
                <a:cxnLst/>
                <a:rect l="l" t="t" r="r" b="b"/>
                <a:pathLst>
                  <a:path w="804545" h="696594">
                    <a:moveTo>
                      <a:pt x="804292" y="696217"/>
                    </a:moveTo>
                    <a:lnTo>
                      <a:pt x="0" y="696217"/>
                    </a:lnTo>
                    <a:lnTo>
                      <a:pt x="402146" y="0"/>
                    </a:lnTo>
                    <a:lnTo>
                      <a:pt x="804292" y="696217"/>
                    </a:lnTo>
                    <a:close/>
                  </a:path>
                </a:pathLst>
              </a:custGeom>
              <a:solidFill>
                <a:srgbClr val="02578A"/>
              </a:solidFill>
            </p:spPr>
            <p:txBody>
              <a:bodyPr wrap="square" lIns="0" tIns="0" rIns="0" bIns="0" rtlCol="0"/>
              <a:lstStyle/>
              <a:p>
                <a:endParaRPr/>
              </a:p>
            </p:txBody>
          </p:sp>
          <p:sp>
            <p:nvSpPr>
              <p:cNvPr id="9" name="object 9"/>
              <p:cNvSpPr/>
              <p:nvPr/>
            </p:nvSpPr>
            <p:spPr>
              <a:xfrm>
                <a:off x="10878311" y="5035296"/>
                <a:ext cx="619125" cy="0"/>
              </a:xfrm>
              <a:custGeom>
                <a:avLst/>
                <a:gdLst/>
                <a:ahLst/>
                <a:cxnLst/>
                <a:rect l="l" t="t" r="r" b="b"/>
                <a:pathLst>
                  <a:path w="619125">
                    <a:moveTo>
                      <a:pt x="0" y="0"/>
                    </a:moveTo>
                    <a:lnTo>
                      <a:pt x="619125" y="0"/>
                    </a:lnTo>
                  </a:path>
                </a:pathLst>
              </a:custGeom>
              <a:ln w="9525">
                <a:solidFill>
                  <a:srgbClr val="1D1C1C"/>
                </a:solidFill>
              </a:ln>
            </p:spPr>
            <p:txBody>
              <a:bodyPr wrap="square" lIns="0" tIns="0" rIns="0" bIns="0" rtlCol="0"/>
              <a:lstStyle/>
              <a:p>
                <a:endParaRPr/>
              </a:p>
            </p:txBody>
          </p:sp>
          <p:grpSp>
            <p:nvGrpSpPr>
              <p:cNvPr id="10" name="object 10"/>
              <p:cNvGrpSpPr/>
              <p:nvPr/>
            </p:nvGrpSpPr>
            <p:grpSpPr>
              <a:xfrm>
                <a:off x="8958071" y="1351597"/>
                <a:ext cx="2539365" cy="1344930"/>
                <a:chOff x="8958071" y="1351597"/>
                <a:chExt cx="2539365" cy="1344930"/>
              </a:xfrm>
            </p:grpSpPr>
            <p:sp>
              <p:nvSpPr>
                <p:cNvPr id="11" name="object 11"/>
                <p:cNvSpPr/>
                <p:nvPr/>
              </p:nvSpPr>
              <p:spPr>
                <a:xfrm>
                  <a:off x="8958071" y="1356360"/>
                  <a:ext cx="2539365" cy="0"/>
                </a:xfrm>
                <a:custGeom>
                  <a:avLst/>
                  <a:gdLst/>
                  <a:ahLst/>
                  <a:cxnLst/>
                  <a:rect l="l" t="t" r="r" b="b"/>
                  <a:pathLst>
                    <a:path w="2539365">
                      <a:moveTo>
                        <a:pt x="0" y="0"/>
                      </a:moveTo>
                      <a:lnTo>
                        <a:pt x="2539136" y="0"/>
                      </a:lnTo>
                    </a:path>
                  </a:pathLst>
                </a:custGeom>
                <a:ln w="9525">
                  <a:solidFill>
                    <a:srgbClr val="1D1C1C"/>
                  </a:solidFill>
                </a:ln>
              </p:spPr>
              <p:txBody>
                <a:bodyPr wrap="square" lIns="0" tIns="0" rIns="0" bIns="0" rtlCol="0"/>
                <a:lstStyle/>
                <a:p>
                  <a:endParaRPr/>
                </a:p>
              </p:txBody>
            </p:sp>
            <p:sp>
              <p:nvSpPr>
                <p:cNvPr id="12" name="object 12"/>
                <p:cNvSpPr/>
                <p:nvPr/>
              </p:nvSpPr>
              <p:spPr>
                <a:xfrm>
                  <a:off x="11361419" y="1505713"/>
                  <a:ext cx="0" cy="1190625"/>
                </a:xfrm>
                <a:custGeom>
                  <a:avLst/>
                  <a:gdLst/>
                  <a:ahLst/>
                  <a:cxnLst/>
                  <a:rect l="l" t="t" r="r" b="b"/>
                  <a:pathLst>
                    <a:path h="1190625">
                      <a:moveTo>
                        <a:pt x="0" y="1190625"/>
                      </a:moveTo>
                      <a:lnTo>
                        <a:pt x="0" y="0"/>
                      </a:lnTo>
                    </a:path>
                  </a:pathLst>
                </a:custGeom>
                <a:ln w="6350">
                  <a:solidFill>
                    <a:srgbClr val="02578A"/>
                  </a:solidFill>
                </a:ln>
              </p:spPr>
              <p:txBody>
                <a:bodyPr wrap="square" lIns="0" tIns="0" rIns="0" bIns="0" rtlCol="0"/>
                <a:lstStyle/>
                <a:p>
                  <a:endParaRPr/>
                </a:p>
              </p:txBody>
            </p:sp>
          </p:grpSp>
          <p:sp>
            <p:nvSpPr>
              <p:cNvPr id="13" name="object 13"/>
              <p:cNvSpPr/>
              <p:nvPr/>
            </p:nvSpPr>
            <p:spPr>
              <a:xfrm>
                <a:off x="11361419" y="3837429"/>
                <a:ext cx="0" cy="1087120"/>
              </a:xfrm>
              <a:custGeom>
                <a:avLst/>
                <a:gdLst/>
                <a:ahLst/>
                <a:cxnLst/>
                <a:rect l="l" t="t" r="r" b="b"/>
                <a:pathLst>
                  <a:path h="1087120">
                    <a:moveTo>
                      <a:pt x="0" y="1086573"/>
                    </a:moveTo>
                    <a:lnTo>
                      <a:pt x="0" y="0"/>
                    </a:lnTo>
                  </a:path>
                </a:pathLst>
              </a:custGeom>
              <a:ln w="6350">
                <a:solidFill>
                  <a:srgbClr val="02578A"/>
                </a:solidFill>
              </a:ln>
            </p:spPr>
            <p:txBody>
              <a:bodyPr wrap="square" lIns="0" tIns="0" rIns="0" bIns="0" rtlCol="0"/>
              <a:lstStyle/>
              <a:p>
                <a:endParaRPr/>
              </a:p>
            </p:txBody>
          </p:sp>
          <p:sp>
            <p:nvSpPr>
              <p:cNvPr id="14" name="object 14"/>
              <p:cNvSpPr/>
              <p:nvPr/>
            </p:nvSpPr>
            <p:spPr>
              <a:xfrm>
                <a:off x="6390132" y="5533644"/>
                <a:ext cx="619125" cy="0"/>
              </a:xfrm>
              <a:custGeom>
                <a:avLst/>
                <a:gdLst/>
                <a:ahLst/>
                <a:cxnLst/>
                <a:rect l="l" t="t" r="r" b="b"/>
                <a:pathLst>
                  <a:path w="619125">
                    <a:moveTo>
                      <a:pt x="0" y="0"/>
                    </a:moveTo>
                    <a:lnTo>
                      <a:pt x="619125" y="0"/>
                    </a:lnTo>
                  </a:path>
                </a:pathLst>
              </a:custGeom>
              <a:ln w="9525">
                <a:solidFill>
                  <a:srgbClr val="1D1C1C"/>
                </a:solidFill>
              </a:ln>
            </p:spPr>
            <p:txBody>
              <a:bodyPr wrap="square" lIns="0" tIns="0" rIns="0" bIns="0" rtlCol="0"/>
              <a:lstStyle/>
              <a:p>
                <a:endParaRPr/>
              </a:p>
            </p:txBody>
          </p:sp>
          <p:sp>
            <p:nvSpPr>
              <p:cNvPr id="18" name="object 18"/>
              <p:cNvSpPr txBox="1"/>
              <p:nvPr/>
            </p:nvSpPr>
            <p:spPr>
              <a:xfrm>
                <a:off x="8278938" y="1820738"/>
                <a:ext cx="716280" cy="667490"/>
              </a:xfrm>
              <a:prstGeom prst="rect">
                <a:avLst/>
              </a:prstGeom>
            </p:spPr>
            <p:txBody>
              <a:bodyPr vert="horz" wrap="square" lIns="0" tIns="13335" rIns="0" bIns="0" rtlCol="0">
                <a:spAutoFit/>
              </a:bodyPr>
              <a:lstStyle/>
              <a:p>
                <a:pPr marL="12700">
                  <a:lnSpc>
                    <a:spcPct val="100000"/>
                  </a:lnSpc>
                  <a:spcBef>
                    <a:spcPts val="105"/>
                  </a:spcBef>
                </a:pPr>
                <a:r>
                  <a:rPr sz="1200" b="1" dirty="0">
                    <a:solidFill>
                      <a:srgbClr val="FFFFFF"/>
                    </a:solidFill>
                    <a:latin typeface="微软雅黑" panose="020B0503020204020204" pitchFamily="34" charset="-122"/>
                    <a:cs typeface="微软雅黑" panose="020B0503020204020204" pitchFamily="34" charset="-122"/>
                  </a:rPr>
                  <a:t>沪深</a:t>
                </a:r>
                <a:r>
                  <a:rPr sz="1200" b="1" spc="-5" dirty="0">
                    <a:solidFill>
                      <a:srgbClr val="FFFFFF"/>
                    </a:solidFill>
                    <a:latin typeface="微软雅黑" panose="020B0503020204020204" pitchFamily="34" charset="-122"/>
                    <a:cs typeface="微软雅黑" panose="020B0503020204020204" pitchFamily="34" charset="-122"/>
                  </a:rPr>
                  <a:t>30</a:t>
                </a:r>
                <a:r>
                  <a:rPr sz="1200" b="1" dirty="0">
                    <a:solidFill>
                      <a:srgbClr val="FFFFFF"/>
                    </a:solidFill>
                    <a:latin typeface="微软雅黑" panose="020B0503020204020204" pitchFamily="34" charset="-122"/>
                    <a:cs typeface="微软雅黑" panose="020B0503020204020204" pitchFamily="34" charset="-122"/>
                  </a:rPr>
                  <a:t>0</a:t>
                </a:r>
                <a:endParaRPr sz="1200" dirty="0">
                  <a:latin typeface="微软雅黑" panose="020B0503020204020204" pitchFamily="34" charset="-122"/>
                  <a:cs typeface="微软雅黑" panose="020B0503020204020204" pitchFamily="34" charset="-122"/>
                </a:endParaRPr>
              </a:p>
              <a:p>
                <a:pPr>
                  <a:lnSpc>
                    <a:spcPct val="100000"/>
                  </a:lnSpc>
                  <a:spcBef>
                    <a:spcPts val="5"/>
                  </a:spcBef>
                </a:pPr>
                <a:endParaRPr sz="1650" dirty="0">
                  <a:latin typeface="微软雅黑" panose="020B0503020204020204" pitchFamily="34" charset="-122"/>
                  <a:cs typeface="微软雅黑" panose="020B0503020204020204" pitchFamily="34" charset="-122"/>
                </a:endParaRPr>
              </a:p>
              <a:p>
                <a:pPr marL="17145">
                  <a:lnSpc>
                    <a:spcPct val="100000"/>
                  </a:lnSpc>
                </a:pPr>
                <a:r>
                  <a:rPr sz="1400" b="1" dirty="0">
                    <a:solidFill>
                      <a:srgbClr val="FFFFFF"/>
                    </a:solidFill>
                    <a:latin typeface="微软雅黑" panose="020B0503020204020204" pitchFamily="34" charset="-122"/>
                    <a:cs typeface="微软雅黑" panose="020B0503020204020204" pitchFamily="34" charset="-122"/>
                  </a:rPr>
                  <a:t>中证</a:t>
                </a:r>
                <a:r>
                  <a:rPr sz="1400" b="1" spc="-5" dirty="0">
                    <a:solidFill>
                      <a:srgbClr val="FFFFFF"/>
                    </a:solidFill>
                    <a:latin typeface="微软雅黑" panose="020B0503020204020204" pitchFamily="34" charset="-122"/>
                    <a:cs typeface="微软雅黑" panose="020B0503020204020204" pitchFamily="34" charset="-122"/>
                  </a:rPr>
                  <a:t>50</a:t>
                </a:r>
                <a:r>
                  <a:rPr sz="1400" b="1" dirty="0">
                    <a:solidFill>
                      <a:srgbClr val="FFFFFF"/>
                    </a:solidFill>
                    <a:latin typeface="微软雅黑" panose="020B0503020204020204" pitchFamily="34" charset="-122"/>
                    <a:cs typeface="微软雅黑" panose="020B0503020204020204" pitchFamily="34" charset="-122"/>
                  </a:rPr>
                  <a:t>0</a:t>
                </a:r>
                <a:endParaRPr sz="1400" dirty="0">
                  <a:latin typeface="微软雅黑" panose="020B0503020204020204" pitchFamily="34" charset="-122"/>
                  <a:cs typeface="微软雅黑" panose="020B0503020204020204" pitchFamily="34" charset="-122"/>
                </a:endParaRPr>
              </a:p>
            </p:txBody>
          </p:sp>
          <p:sp>
            <p:nvSpPr>
              <p:cNvPr id="19" name="object 19"/>
              <p:cNvSpPr txBox="1"/>
              <p:nvPr/>
            </p:nvSpPr>
            <p:spPr>
              <a:xfrm>
                <a:off x="8232633" y="3048699"/>
                <a:ext cx="821690"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微软雅黑" panose="020B0503020204020204" pitchFamily="34" charset="-122"/>
                    <a:cs typeface="微软雅黑" panose="020B0503020204020204" pitchFamily="34" charset="-122"/>
                  </a:rPr>
                  <a:t>中证</a:t>
                </a:r>
                <a:r>
                  <a:rPr sz="1400" b="1" spc="-5" dirty="0">
                    <a:solidFill>
                      <a:srgbClr val="FFFFFF"/>
                    </a:solidFill>
                    <a:latin typeface="微软雅黑" panose="020B0503020204020204" pitchFamily="34" charset="-122"/>
                    <a:cs typeface="微软雅黑" panose="020B0503020204020204" pitchFamily="34" charset="-122"/>
                  </a:rPr>
                  <a:t>100</a:t>
                </a:r>
                <a:r>
                  <a:rPr sz="1400" b="1" dirty="0">
                    <a:solidFill>
                      <a:srgbClr val="FFFFFF"/>
                    </a:solidFill>
                    <a:latin typeface="微软雅黑" panose="020B0503020204020204" pitchFamily="34" charset="-122"/>
                    <a:cs typeface="微软雅黑" panose="020B0503020204020204" pitchFamily="34" charset="-122"/>
                  </a:rPr>
                  <a:t>0</a:t>
                </a:r>
                <a:endParaRPr sz="1400" dirty="0">
                  <a:latin typeface="微软雅黑" panose="020B0503020204020204" pitchFamily="34" charset="-122"/>
                  <a:cs typeface="微软雅黑" panose="020B0503020204020204" pitchFamily="34" charset="-122"/>
                </a:endParaRPr>
              </a:p>
            </p:txBody>
          </p:sp>
          <p:sp>
            <p:nvSpPr>
              <p:cNvPr id="20" name="object 20"/>
              <p:cNvSpPr txBox="1"/>
              <p:nvPr/>
            </p:nvSpPr>
            <p:spPr>
              <a:xfrm>
                <a:off x="8232633" y="3863388"/>
                <a:ext cx="82169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微软雅黑" panose="020B0503020204020204" pitchFamily="34" charset="-122"/>
                    <a:cs typeface="微软雅黑" panose="020B0503020204020204" pitchFamily="34" charset="-122"/>
                  </a:rPr>
                  <a:t>中证</a:t>
                </a:r>
                <a:r>
                  <a:rPr sz="1400" b="1" spc="-5" dirty="0">
                    <a:solidFill>
                      <a:srgbClr val="FFFFFF"/>
                    </a:solidFill>
                    <a:latin typeface="微软雅黑" panose="020B0503020204020204" pitchFamily="34" charset="-122"/>
                    <a:cs typeface="微软雅黑" panose="020B0503020204020204" pitchFamily="34" charset="-122"/>
                  </a:rPr>
                  <a:t>200</a:t>
                </a:r>
                <a:r>
                  <a:rPr sz="1400" b="1" dirty="0">
                    <a:solidFill>
                      <a:srgbClr val="FFFFFF"/>
                    </a:solidFill>
                    <a:latin typeface="微软雅黑" panose="020B0503020204020204" pitchFamily="34" charset="-122"/>
                    <a:cs typeface="微软雅黑" panose="020B0503020204020204" pitchFamily="34" charset="-122"/>
                  </a:rPr>
                  <a:t>0</a:t>
                </a:r>
                <a:endParaRPr sz="1400" dirty="0">
                  <a:latin typeface="微软雅黑" panose="020B0503020204020204" pitchFamily="34" charset="-122"/>
                  <a:cs typeface="微软雅黑" panose="020B0503020204020204" pitchFamily="34" charset="-122"/>
                </a:endParaRPr>
              </a:p>
            </p:txBody>
          </p:sp>
          <p:sp>
            <p:nvSpPr>
              <p:cNvPr id="21" name="object 21"/>
              <p:cNvSpPr txBox="1"/>
              <p:nvPr/>
            </p:nvSpPr>
            <p:spPr>
              <a:xfrm>
                <a:off x="11262485" y="2804266"/>
                <a:ext cx="203835" cy="880110"/>
              </a:xfrm>
              <a:prstGeom prst="rect">
                <a:avLst/>
              </a:prstGeom>
            </p:spPr>
            <p:txBody>
              <a:bodyPr vert="horz" wrap="square" lIns="0" tIns="13335" rIns="0" bIns="0" rtlCol="0">
                <a:spAutoFit/>
              </a:bodyPr>
              <a:lstStyle/>
              <a:p>
                <a:pPr marL="12700" marR="5080" algn="just">
                  <a:lnSpc>
                    <a:spcPct val="100000"/>
                  </a:lnSpc>
                  <a:spcBef>
                    <a:spcPts val="105"/>
                  </a:spcBef>
                </a:pPr>
                <a:r>
                  <a:rPr sz="1400" b="1" dirty="0">
                    <a:solidFill>
                      <a:srgbClr val="2C2A2A"/>
                    </a:solidFill>
                    <a:latin typeface="微软雅黑" panose="020B0503020204020204" pitchFamily="34" charset="-122"/>
                    <a:cs typeface="微软雅黑" panose="020B0503020204020204" pitchFamily="34" charset="-122"/>
                  </a:rPr>
                  <a:t>中 证 全 指</a:t>
                </a:r>
                <a:endParaRPr sz="1400">
                  <a:latin typeface="微软雅黑" panose="020B0503020204020204" pitchFamily="34" charset="-122"/>
                  <a:cs typeface="微软雅黑" panose="020B0503020204020204" pitchFamily="34" charset="-122"/>
                </a:endParaRPr>
              </a:p>
            </p:txBody>
          </p:sp>
          <p:sp>
            <p:nvSpPr>
              <p:cNvPr id="22" name="object 22"/>
              <p:cNvSpPr txBox="1"/>
              <p:nvPr/>
            </p:nvSpPr>
            <p:spPr>
              <a:xfrm>
                <a:off x="6904932" y="4680568"/>
                <a:ext cx="3658870" cy="912494"/>
              </a:xfrm>
              <a:prstGeom prst="rect">
                <a:avLst/>
              </a:prstGeom>
            </p:spPr>
            <p:txBody>
              <a:bodyPr vert="horz" wrap="square" lIns="0" tIns="12700" rIns="0" bIns="0" rtlCol="0">
                <a:spAutoFit/>
              </a:bodyPr>
              <a:lstStyle/>
              <a:p>
                <a:pPr marR="287655" algn="ctr">
                  <a:lnSpc>
                    <a:spcPct val="100000"/>
                  </a:lnSpc>
                  <a:spcBef>
                    <a:spcPts val="100"/>
                  </a:spcBef>
                </a:pPr>
                <a:r>
                  <a:rPr sz="1400" b="1" dirty="0">
                    <a:solidFill>
                      <a:srgbClr val="FFFFFF"/>
                    </a:solidFill>
                    <a:latin typeface="微软雅黑" panose="020B0503020204020204" pitchFamily="34" charset="-122"/>
                    <a:cs typeface="微软雅黑" panose="020B0503020204020204" pitchFamily="34" charset="-122"/>
                  </a:rPr>
                  <a:t>……</a:t>
                </a:r>
                <a:endParaRPr sz="1400" dirty="0">
                  <a:latin typeface="微软雅黑" panose="020B0503020204020204" pitchFamily="34" charset="-122"/>
                  <a:cs typeface="微软雅黑" panose="020B0503020204020204" pitchFamily="34" charset="-122"/>
                </a:endParaRPr>
              </a:p>
              <a:p>
                <a:pPr>
                  <a:lnSpc>
                    <a:spcPct val="100000"/>
                  </a:lnSpc>
                  <a:spcBef>
                    <a:spcPts val="75"/>
                  </a:spcBef>
                </a:pPr>
                <a:endParaRPr sz="1400" dirty="0">
                  <a:latin typeface="微软雅黑" panose="020B0503020204020204" pitchFamily="34" charset="-122"/>
                  <a:cs typeface="微软雅黑" panose="020B0503020204020204" pitchFamily="34" charset="-122"/>
                </a:endParaRPr>
              </a:p>
              <a:p>
                <a:pPr marL="12700">
                  <a:lnSpc>
                    <a:spcPct val="100000"/>
                  </a:lnSpc>
                  <a:spcBef>
                    <a:spcPts val="5"/>
                  </a:spcBef>
                </a:pPr>
                <a:r>
                  <a:rPr sz="1100" b="1" dirty="0">
                    <a:solidFill>
                      <a:srgbClr val="FFFFFF"/>
                    </a:solidFill>
                    <a:latin typeface="微软雅黑" panose="020B0503020204020204" pitchFamily="34" charset="-122"/>
                    <a:cs typeface="微软雅黑" panose="020B0503020204020204" pitchFamily="34" charset="-122"/>
                  </a:rPr>
                  <a:t>剔除</a:t>
                </a:r>
                <a:r>
                  <a:rPr sz="1100" b="1" spc="-25" dirty="0">
                    <a:solidFill>
                      <a:srgbClr val="FFFFFF"/>
                    </a:solidFill>
                    <a:latin typeface="微软雅黑" panose="020B0503020204020204" pitchFamily="34" charset="-122"/>
                    <a:cs typeface="微软雅黑" panose="020B0503020204020204" pitchFamily="34" charset="-122"/>
                  </a:rPr>
                  <a:t> </a:t>
                </a:r>
                <a:r>
                  <a:rPr sz="1100" b="1" dirty="0">
                    <a:solidFill>
                      <a:srgbClr val="FFFFFF"/>
                    </a:solidFill>
                    <a:latin typeface="微软雅黑" panose="020B0503020204020204" pitchFamily="34" charset="-122"/>
                    <a:cs typeface="微软雅黑" panose="020B0503020204020204" pitchFamily="34" charset="-122"/>
                  </a:rPr>
                  <a:t>：ST、*ST</a:t>
                </a:r>
                <a:r>
                  <a:rPr sz="1100" b="1" spc="-20" dirty="0">
                    <a:solidFill>
                      <a:srgbClr val="FFFFFF"/>
                    </a:solidFill>
                    <a:latin typeface="微软雅黑" panose="020B0503020204020204" pitchFamily="34" charset="-122"/>
                    <a:cs typeface="微软雅黑" panose="020B0503020204020204" pitchFamily="34" charset="-122"/>
                  </a:rPr>
                  <a:t> </a:t>
                </a:r>
                <a:r>
                  <a:rPr sz="1100" b="1" dirty="0">
                    <a:solidFill>
                      <a:srgbClr val="FFFFFF"/>
                    </a:solidFill>
                    <a:latin typeface="微软雅黑" panose="020B0503020204020204" pitchFamily="34" charset="-122"/>
                    <a:cs typeface="微软雅黑" panose="020B0503020204020204" pitchFamily="34" charset="-122"/>
                  </a:rPr>
                  <a:t>；科创板和北交所上</a:t>
                </a:r>
                <a:r>
                  <a:rPr sz="1100" b="1" spc="-15" dirty="0">
                    <a:solidFill>
                      <a:srgbClr val="FFFFFF"/>
                    </a:solidFill>
                    <a:latin typeface="微软雅黑" panose="020B0503020204020204" pitchFamily="34" charset="-122"/>
                    <a:cs typeface="微软雅黑" panose="020B0503020204020204" pitchFamily="34" charset="-122"/>
                  </a:rPr>
                  <a:t>市</a:t>
                </a:r>
                <a:r>
                  <a:rPr sz="1100" b="1" dirty="0">
                    <a:solidFill>
                      <a:srgbClr val="FFFFFF"/>
                    </a:solidFill>
                    <a:latin typeface="微软雅黑" panose="020B0503020204020204" pitchFamily="34" charset="-122"/>
                    <a:cs typeface="微软雅黑" panose="020B0503020204020204" pitchFamily="34" charset="-122"/>
                  </a:rPr>
                  <a:t>时间</a:t>
                </a:r>
                <a:r>
                  <a:rPr sz="1100" b="1" spc="-15" dirty="0">
                    <a:solidFill>
                      <a:srgbClr val="FFFFFF"/>
                    </a:solidFill>
                    <a:latin typeface="微软雅黑" panose="020B0503020204020204" pitchFamily="34" charset="-122"/>
                    <a:cs typeface="微软雅黑" panose="020B0503020204020204" pitchFamily="34" charset="-122"/>
                  </a:rPr>
                  <a:t>分</a:t>
                </a:r>
                <a:r>
                  <a:rPr sz="1100" b="1" dirty="0">
                    <a:solidFill>
                      <a:srgbClr val="FFFFFF"/>
                    </a:solidFill>
                    <a:latin typeface="微软雅黑" panose="020B0503020204020204" pitchFamily="34" charset="-122"/>
                    <a:cs typeface="微软雅黑" panose="020B0503020204020204" pitchFamily="34" charset="-122"/>
                  </a:rPr>
                  <a:t>别不</a:t>
                </a:r>
                <a:r>
                  <a:rPr sz="1100" b="1" spc="-15" dirty="0">
                    <a:solidFill>
                      <a:srgbClr val="FFFFFF"/>
                    </a:solidFill>
                    <a:latin typeface="微软雅黑" panose="020B0503020204020204" pitchFamily="34" charset="-122"/>
                    <a:cs typeface="微软雅黑" panose="020B0503020204020204" pitchFamily="34" charset="-122"/>
                  </a:rPr>
                  <a:t>足</a:t>
                </a:r>
                <a:r>
                  <a:rPr sz="1100" b="1" dirty="0">
                    <a:solidFill>
                      <a:srgbClr val="FFFFFF"/>
                    </a:solidFill>
                    <a:latin typeface="微软雅黑" panose="020B0503020204020204" pitchFamily="34" charset="-122"/>
                    <a:cs typeface="微软雅黑" panose="020B0503020204020204" pitchFamily="34" charset="-122"/>
                  </a:rPr>
                  <a:t>一</a:t>
                </a:r>
                <a:endParaRPr sz="1100" dirty="0">
                  <a:latin typeface="微软雅黑" panose="020B0503020204020204" pitchFamily="34" charset="-122"/>
                  <a:cs typeface="微软雅黑" panose="020B0503020204020204" pitchFamily="34" charset="-122"/>
                </a:endParaRPr>
              </a:p>
              <a:p>
                <a:pPr marL="12700">
                  <a:lnSpc>
                    <a:spcPct val="100000"/>
                  </a:lnSpc>
                </a:pPr>
                <a:r>
                  <a:rPr sz="1100" b="1" dirty="0">
                    <a:solidFill>
                      <a:srgbClr val="FFFFFF"/>
                    </a:solidFill>
                    <a:latin typeface="微软雅黑" panose="020B0503020204020204" pitchFamily="34" charset="-122"/>
                    <a:cs typeface="微软雅黑" panose="020B0503020204020204" pitchFamily="34" charset="-122"/>
                  </a:rPr>
                  <a:t>年和两</a:t>
                </a:r>
                <a:r>
                  <a:rPr sz="1100" b="1" spc="-15" dirty="0">
                    <a:solidFill>
                      <a:srgbClr val="FFFFFF"/>
                    </a:solidFill>
                    <a:latin typeface="微软雅黑" panose="020B0503020204020204" pitchFamily="34" charset="-122"/>
                    <a:cs typeface="微软雅黑" panose="020B0503020204020204" pitchFamily="34" charset="-122"/>
                  </a:rPr>
                  <a:t>年</a:t>
                </a:r>
                <a:r>
                  <a:rPr sz="1100" b="1" dirty="0">
                    <a:solidFill>
                      <a:srgbClr val="FFFFFF"/>
                    </a:solidFill>
                    <a:latin typeface="微软雅黑" panose="020B0503020204020204" pitchFamily="34" charset="-122"/>
                    <a:cs typeface="微软雅黑" panose="020B0503020204020204" pitchFamily="34" charset="-122"/>
                  </a:rPr>
                  <a:t>的；</a:t>
                </a:r>
                <a:r>
                  <a:rPr sz="1100" b="1" spc="-15" dirty="0">
                    <a:solidFill>
                      <a:srgbClr val="FFFFFF"/>
                    </a:solidFill>
                    <a:latin typeface="微软雅黑" panose="020B0503020204020204" pitchFamily="34" charset="-122"/>
                    <a:cs typeface="微软雅黑" panose="020B0503020204020204" pitchFamily="34" charset="-122"/>
                  </a:rPr>
                  <a:t>其</a:t>
                </a:r>
                <a:r>
                  <a:rPr sz="1100" b="1" dirty="0">
                    <a:solidFill>
                      <a:srgbClr val="FFFFFF"/>
                    </a:solidFill>
                    <a:latin typeface="微软雅黑" panose="020B0503020204020204" pitchFamily="34" charset="-122"/>
                    <a:cs typeface="微软雅黑" panose="020B0503020204020204" pitchFamily="34" charset="-122"/>
                  </a:rPr>
                  <a:t>他上</a:t>
                </a:r>
                <a:r>
                  <a:rPr sz="1100" b="1" spc="-15" dirty="0">
                    <a:solidFill>
                      <a:srgbClr val="FFFFFF"/>
                    </a:solidFill>
                    <a:latin typeface="微软雅黑" panose="020B0503020204020204" pitchFamily="34" charset="-122"/>
                    <a:cs typeface="微软雅黑" panose="020B0503020204020204" pitchFamily="34" charset="-122"/>
                  </a:rPr>
                  <a:t>市时</a:t>
                </a:r>
                <a:r>
                  <a:rPr sz="1100" b="1" dirty="0">
                    <a:solidFill>
                      <a:srgbClr val="FFFFFF"/>
                    </a:solidFill>
                    <a:latin typeface="微软雅黑" panose="020B0503020204020204" pitchFamily="34" charset="-122"/>
                    <a:cs typeface="微软雅黑" panose="020B0503020204020204" pitchFamily="34" charset="-122"/>
                  </a:rPr>
                  <a:t>间不足</a:t>
                </a:r>
                <a:r>
                  <a:rPr sz="1100" b="1" spc="-15" dirty="0">
                    <a:solidFill>
                      <a:srgbClr val="FFFFFF"/>
                    </a:solidFill>
                    <a:latin typeface="微软雅黑" panose="020B0503020204020204" pitchFamily="34" charset="-122"/>
                    <a:cs typeface="微软雅黑" panose="020B0503020204020204" pitchFamily="34" charset="-122"/>
                  </a:rPr>
                  <a:t>一</a:t>
                </a:r>
                <a:r>
                  <a:rPr sz="1100" b="1" dirty="0">
                    <a:solidFill>
                      <a:srgbClr val="FFFFFF"/>
                    </a:solidFill>
                    <a:latin typeface="微软雅黑" panose="020B0503020204020204" pitchFamily="34" charset="-122"/>
                    <a:cs typeface="微软雅黑" panose="020B0503020204020204" pitchFamily="34" charset="-122"/>
                  </a:rPr>
                  <a:t>个季</a:t>
                </a:r>
                <a:r>
                  <a:rPr sz="1100" b="1" spc="-15" dirty="0">
                    <a:solidFill>
                      <a:srgbClr val="FFFFFF"/>
                    </a:solidFill>
                    <a:latin typeface="微软雅黑" panose="020B0503020204020204" pitchFamily="34" charset="-122"/>
                    <a:cs typeface="微软雅黑" panose="020B0503020204020204" pitchFamily="34" charset="-122"/>
                  </a:rPr>
                  <a:t>度</a:t>
                </a:r>
                <a:r>
                  <a:rPr sz="1100" b="1" dirty="0">
                    <a:solidFill>
                      <a:srgbClr val="FFFFFF"/>
                    </a:solidFill>
                    <a:latin typeface="微软雅黑" panose="020B0503020204020204" pitchFamily="34" charset="-122"/>
                    <a:cs typeface="微软雅黑" panose="020B0503020204020204" pitchFamily="34" charset="-122"/>
                  </a:rPr>
                  <a:t>的（</a:t>
                </a:r>
                <a:r>
                  <a:rPr sz="1100" b="1" spc="-15" dirty="0">
                    <a:solidFill>
                      <a:srgbClr val="FFFFFF"/>
                    </a:solidFill>
                    <a:latin typeface="微软雅黑" panose="020B0503020204020204" pitchFamily="34" charset="-122"/>
                    <a:cs typeface="微软雅黑" panose="020B0503020204020204" pitchFamily="34" charset="-122"/>
                  </a:rPr>
                  <a:t>有除</a:t>
                </a:r>
                <a:r>
                  <a:rPr sz="1100" b="1" dirty="0">
                    <a:solidFill>
                      <a:srgbClr val="FFFFFF"/>
                    </a:solidFill>
                    <a:latin typeface="微软雅黑" panose="020B0503020204020204" pitchFamily="34" charset="-122"/>
                    <a:cs typeface="微软雅黑" panose="020B0503020204020204" pitchFamily="34" charset="-122"/>
                  </a:rPr>
                  <a:t>外情况）</a:t>
                </a:r>
                <a:endParaRPr sz="1100" dirty="0">
                  <a:latin typeface="微软雅黑" panose="020B0503020204020204" pitchFamily="34" charset="-122"/>
                  <a:cs typeface="微软雅黑" panose="020B0503020204020204" pitchFamily="34" charset="-122"/>
                </a:endParaRPr>
              </a:p>
            </p:txBody>
          </p:sp>
          <p:sp>
            <p:nvSpPr>
              <p:cNvPr id="23" name="object 23"/>
              <p:cNvSpPr txBox="1"/>
              <p:nvPr/>
            </p:nvSpPr>
            <p:spPr>
              <a:xfrm>
                <a:off x="6365875" y="3753358"/>
                <a:ext cx="152400" cy="787400"/>
              </a:xfrm>
              <a:prstGeom prst="rect">
                <a:avLst/>
              </a:prstGeom>
            </p:spPr>
            <p:txBody>
              <a:bodyPr vert="horz" wrap="square" lIns="0" tIns="12065" rIns="0" bIns="0" rtlCol="0">
                <a:spAutoFit/>
              </a:bodyPr>
              <a:lstStyle/>
              <a:p>
                <a:pPr marL="12700" marR="5080" algn="just">
                  <a:lnSpc>
                    <a:spcPct val="100000"/>
                  </a:lnSpc>
                  <a:spcBef>
                    <a:spcPts val="95"/>
                  </a:spcBef>
                </a:pPr>
                <a:r>
                  <a:rPr sz="1000" b="1" spc="-5" dirty="0">
                    <a:solidFill>
                      <a:srgbClr val="2C2A2A"/>
                    </a:solidFill>
                    <a:latin typeface="微软雅黑" panose="020B0503020204020204" pitchFamily="34" charset="-122"/>
                    <a:cs typeface="微软雅黑" panose="020B0503020204020204" pitchFamily="34" charset="-122"/>
                  </a:rPr>
                  <a:t>万 得 小 市 值</a:t>
                </a:r>
                <a:endParaRPr sz="1000">
                  <a:latin typeface="微软雅黑" panose="020B0503020204020204" pitchFamily="34" charset="-122"/>
                  <a:cs typeface="微软雅黑" panose="020B0503020204020204" pitchFamily="34" charset="-122"/>
                </a:endParaRPr>
              </a:p>
            </p:txBody>
          </p:sp>
        </p:grpSp>
      </p:gr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800" spc="-5" dirty="0" err="1"/>
              <a:t>中证全指指数</a:t>
            </a:r>
            <a:r>
              <a:rPr sz="2800" spc="-5" dirty="0"/>
              <a:t>：</a:t>
            </a:r>
            <a:r>
              <a:rPr lang="zh-CN" altLang="en-US" sz="2800" spc="-5" dirty="0"/>
              <a:t>历史业绩均衡、</a:t>
            </a:r>
            <a:r>
              <a:rPr sz="2800" spc="-5" dirty="0" err="1"/>
              <a:t>大小盘风格均衡</a:t>
            </a:r>
            <a:endParaRPr sz="2800" dirty="0"/>
          </a:p>
        </p:txBody>
      </p:sp>
      <p:sp>
        <p:nvSpPr>
          <p:cNvPr id="20" name="灯片编号占位符 19"/>
          <p:cNvSpPr>
            <a:spLocks noGrp="1"/>
          </p:cNvSpPr>
          <p:nvPr>
            <p:ph type="sldNum" sz="quarter" idx="11"/>
          </p:nvPr>
        </p:nvSpPr>
        <p:spPr/>
        <p:txBody>
          <a:bodyPr/>
          <a:lstStyle/>
          <a:p>
            <a:pPr>
              <a:defRPr/>
            </a:pPr>
            <a:fld id="{49FB53F7-37AE-4152-A115-BFA7398457ED}" type="slidenum">
              <a:rPr lang="zh-CN" altLang="en-US" smtClean="0"/>
              <a:t>5</a:t>
            </a:fld>
            <a:endParaRPr lang="zh-CN" altLang="en-US" dirty="0"/>
          </a:p>
        </p:txBody>
      </p:sp>
      <p:sp>
        <p:nvSpPr>
          <p:cNvPr id="3" name="object 3"/>
          <p:cNvSpPr txBox="1"/>
          <p:nvPr/>
        </p:nvSpPr>
        <p:spPr>
          <a:xfrm>
            <a:off x="602800" y="5533777"/>
            <a:ext cx="5265420" cy="151323"/>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6C6969"/>
                </a:solidFill>
                <a:latin typeface="微软雅黑" panose="020B0503020204020204" pitchFamily="34" charset="-122"/>
                <a:cs typeface="微软雅黑" panose="020B0503020204020204" pitchFamily="34" charset="-122"/>
              </a:rPr>
              <a:t>注：数据区间为2016</a:t>
            </a:r>
            <a:r>
              <a:rPr sz="900" spc="-5" dirty="0">
                <a:solidFill>
                  <a:srgbClr val="6C6969"/>
                </a:solidFill>
                <a:latin typeface="微软雅黑" panose="020B0503020204020204" pitchFamily="34" charset="-122"/>
                <a:cs typeface="微软雅黑" panose="020B0503020204020204" pitchFamily="34" charset="-122"/>
              </a:rPr>
              <a:t>.</a:t>
            </a:r>
            <a:r>
              <a:rPr sz="900" dirty="0">
                <a:solidFill>
                  <a:srgbClr val="6C6969"/>
                </a:solidFill>
                <a:latin typeface="微软雅黑" panose="020B0503020204020204" pitchFamily="34" charset="-122"/>
                <a:cs typeface="微软雅黑" panose="020B0503020204020204" pitchFamily="34" charset="-122"/>
              </a:rPr>
              <a:t>12</a:t>
            </a:r>
            <a:r>
              <a:rPr sz="900" spc="-5" dirty="0">
                <a:solidFill>
                  <a:srgbClr val="6C6969"/>
                </a:solidFill>
                <a:latin typeface="微软雅黑" panose="020B0503020204020204" pitchFamily="34" charset="-122"/>
                <a:cs typeface="微软雅黑" panose="020B0503020204020204" pitchFamily="34" charset="-122"/>
              </a:rPr>
              <a:t>.</a:t>
            </a:r>
            <a:r>
              <a:rPr sz="900" dirty="0">
                <a:solidFill>
                  <a:srgbClr val="6C6969"/>
                </a:solidFill>
                <a:latin typeface="微软雅黑" panose="020B0503020204020204" pitchFamily="34" charset="-122"/>
                <a:cs typeface="微软雅黑" panose="020B0503020204020204" pitchFamily="34" charset="-122"/>
              </a:rPr>
              <a:t>3</a:t>
            </a:r>
            <a:r>
              <a:rPr sz="900" spc="-5" dirty="0">
                <a:solidFill>
                  <a:srgbClr val="6C6969"/>
                </a:solidFill>
                <a:latin typeface="微软雅黑" panose="020B0503020204020204" pitchFamily="34" charset="-122"/>
                <a:cs typeface="微软雅黑" panose="020B0503020204020204" pitchFamily="34" charset="-122"/>
              </a:rPr>
              <a:t>0</a:t>
            </a:r>
            <a:r>
              <a:rPr sz="900" dirty="0">
                <a:solidFill>
                  <a:srgbClr val="6C6969"/>
                </a:solidFill>
                <a:latin typeface="微软雅黑" panose="020B0503020204020204" pitchFamily="34" charset="-122"/>
                <a:cs typeface="微软雅黑" panose="020B0503020204020204" pitchFamily="34" charset="-122"/>
              </a:rPr>
              <a:t>至202</a:t>
            </a:r>
            <a:r>
              <a:rPr lang="en-US" sz="900" spc="-15" dirty="0">
                <a:solidFill>
                  <a:srgbClr val="6C6969"/>
                </a:solidFill>
                <a:cs typeface="微软雅黑" panose="020B0503020204020204" pitchFamily="34" charset="-122"/>
              </a:rPr>
              <a:t>5</a:t>
            </a:r>
            <a:r>
              <a:rPr sz="900" spc="-5" dirty="0">
                <a:solidFill>
                  <a:srgbClr val="6C6969"/>
                </a:solidFill>
                <a:latin typeface="微软雅黑" panose="020B0503020204020204" pitchFamily="34" charset="-122"/>
                <a:cs typeface="微软雅黑" panose="020B0503020204020204" pitchFamily="34" charset="-122"/>
              </a:rPr>
              <a:t>.</a:t>
            </a:r>
            <a:r>
              <a:rPr lang="en-US" sz="900" spc="-5" dirty="0">
                <a:solidFill>
                  <a:srgbClr val="6C6969"/>
                </a:solidFill>
                <a:latin typeface="微软雅黑" panose="020B0503020204020204" pitchFamily="34" charset="-122"/>
                <a:cs typeface="微软雅黑" panose="020B0503020204020204" pitchFamily="34" charset="-122"/>
              </a:rPr>
              <a:t>12</a:t>
            </a:r>
            <a:r>
              <a:rPr sz="900" spc="-15" dirty="0">
                <a:solidFill>
                  <a:srgbClr val="6C6969"/>
                </a:solidFill>
                <a:latin typeface="微软雅黑" panose="020B0503020204020204" pitchFamily="34" charset="-122"/>
                <a:cs typeface="微软雅黑" panose="020B0503020204020204" pitchFamily="34" charset="-122"/>
              </a:rPr>
              <a:t>.</a:t>
            </a:r>
            <a:r>
              <a:rPr lang="en-US" sz="900" spc="-15" dirty="0">
                <a:solidFill>
                  <a:srgbClr val="6C6969"/>
                </a:solidFill>
                <a:latin typeface="微软雅黑" panose="020B0503020204020204" pitchFamily="34" charset="-122"/>
                <a:cs typeface="微软雅黑" panose="020B0503020204020204" pitchFamily="34" charset="-122"/>
              </a:rPr>
              <a:t>31</a:t>
            </a:r>
            <a:r>
              <a:rPr sz="900" dirty="0">
                <a:solidFill>
                  <a:srgbClr val="6C6969"/>
                </a:solidFill>
                <a:latin typeface="微软雅黑" panose="020B0503020204020204" pitchFamily="34" charset="-122"/>
                <a:cs typeface="微软雅黑" panose="020B0503020204020204" pitchFamily="34" charset="-122"/>
              </a:rPr>
              <a:t>；数据来源：</a:t>
            </a:r>
            <a:r>
              <a:rPr sz="900" spc="-5" dirty="0">
                <a:solidFill>
                  <a:srgbClr val="6C6969"/>
                </a:solidFill>
                <a:latin typeface="微软雅黑" panose="020B0503020204020204" pitchFamily="34" charset="-122"/>
                <a:cs typeface="微软雅黑" panose="020B0503020204020204" pitchFamily="34" charset="-122"/>
              </a:rPr>
              <a:t>W</a:t>
            </a:r>
            <a:r>
              <a:rPr sz="900" dirty="0">
                <a:solidFill>
                  <a:srgbClr val="6C6969"/>
                </a:solidFill>
                <a:latin typeface="微软雅黑" panose="020B0503020204020204" pitchFamily="34" charset="-122"/>
                <a:cs typeface="微软雅黑" panose="020B0503020204020204" pitchFamily="34" charset="-122"/>
              </a:rPr>
              <a:t>i</a:t>
            </a:r>
            <a:r>
              <a:rPr sz="900" spc="-5" dirty="0">
                <a:solidFill>
                  <a:srgbClr val="6C6969"/>
                </a:solidFill>
                <a:latin typeface="微软雅黑" panose="020B0503020204020204" pitchFamily="34" charset="-122"/>
                <a:cs typeface="微软雅黑" panose="020B0503020204020204" pitchFamily="34" charset="-122"/>
              </a:rPr>
              <a:t>n</a:t>
            </a:r>
            <a:r>
              <a:rPr sz="900" spc="-15" dirty="0">
                <a:solidFill>
                  <a:srgbClr val="6C6969"/>
                </a:solidFill>
                <a:latin typeface="微软雅黑" panose="020B0503020204020204" pitchFamily="34" charset="-122"/>
                <a:cs typeface="微软雅黑" panose="020B0503020204020204" pitchFamily="34" charset="-122"/>
              </a:rPr>
              <a:t>d</a:t>
            </a:r>
            <a:r>
              <a:rPr sz="900" dirty="0">
                <a:solidFill>
                  <a:srgbClr val="6C6969"/>
                </a:solidFill>
                <a:latin typeface="微软雅黑" panose="020B0503020204020204" pitchFamily="34" charset="-122"/>
                <a:cs typeface="微软雅黑" panose="020B0503020204020204" pitchFamily="34" charset="-122"/>
              </a:rPr>
              <a:t>；过往业绩并不预示未来表现。</a:t>
            </a:r>
            <a:endParaRPr sz="900" dirty="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extLst>
              <p:ext uri="{D42A27DB-BD31-4B8C-83A1-F6EECF244321}">
                <p14:modId xmlns:p14="http://schemas.microsoft.com/office/powerpoint/2010/main" val="1118650813"/>
              </p:ext>
            </p:extLst>
          </p:nvPr>
        </p:nvGraphicFramePr>
        <p:xfrm>
          <a:off x="354227" y="1517970"/>
          <a:ext cx="6619475" cy="3953247"/>
        </p:xfrm>
        <a:graphic>
          <a:graphicData uri="http://schemas.openxmlformats.org/drawingml/2006/table">
            <a:tbl>
              <a:tblPr firstRow="1" bandRow="1">
                <a:tableStyleId>{2D5ABB26-0587-4C30-8999-92F81FD0307C}</a:tableStyleId>
              </a:tblPr>
              <a:tblGrid>
                <a:gridCol w="933743">
                  <a:extLst>
                    <a:ext uri="{9D8B030D-6E8A-4147-A177-3AD203B41FA5}">
                      <a16:colId xmlns:a16="http://schemas.microsoft.com/office/drawing/2014/main" xmlns="" val="20000"/>
                    </a:ext>
                  </a:extLst>
                </a:gridCol>
                <a:gridCol w="631748">
                  <a:extLst>
                    <a:ext uri="{9D8B030D-6E8A-4147-A177-3AD203B41FA5}">
                      <a16:colId xmlns:a16="http://schemas.microsoft.com/office/drawing/2014/main" xmlns="" val="20001"/>
                    </a:ext>
                  </a:extLst>
                </a:gridCol>
                <a:gridCol w="631748">
                  <a:extLst>
                    <a:ext uri="{9D8B030D-6E8A-4147-A177-3AD203B41FA5}">
                      <a16:colId xmlns:a16="http://schemas.microsoft.com/office/drawing/2014/main" xmlns="" val="20002"/>
                    </a:ext>
                  </a:extLst>
                </a:gridCol>
                <a:gridCol w="631748">
                  <a:extLst>
                    <a:ext uri="{9D8B030D-6E8A-4147-A177-3AD203B41FA5}">
                      <a16:colId xmlns:a16="http://schemas.microsoft.com/office/drawing/2014/main" xmlns="" val="20003"/>
                    </a:ext>
                  </a:extLst>
                </a:gridCol>
                <a:gridCol w="631748">
                  <a:extLst>
                    <a:ext uri="{9D8B030D-6E8A-4147-A177-3AD203B41FA5}">
                      <a16:colId xmlns:a16="http://schemas.microsoft.com/office/drawing/2014/main" xmlns="" val="20004"/>
                    </a:ext>
                  </a:extLst>
                </a:gridCol>
                <a:gridCol w="631748">
                  <a:extLst>
                    <a:ext uri="{9D8B030D-6E8A-4147-A177-3AD203B41FA5}">
                      <a16:colId xmlns:a16="http://schemas.microsoft.com/office/drawing/2014/main" xmlns="" val="20005"/>
                    </a:ext>
                  </a:extLst>
                </a:gridCol>
                <a:gridCol w="631748">
                  <a:extLst>
                    <a:ext uri="{9D8B030D-6E8A-4147-A177-3AD203B41FA5}">
                      <a16:colId xmlns:a16="http://schemas.microsoft.com/office/drawing/2014/main" xmlns="" val="20006"/>
                    </a:ext>
                  </a:extLst>
                </a:gridCol>
                <a:gridCol w="631748">
                  <a:extLst>
                    <a:ext uri="{9D8B030D-6E8A-4147-A177-3AD203B41FA5}">
                      <a16:colId xmlns:a16="http://schemas.microsoft.com/office/drawing/2014/main" xmlns="" val="20007"/>
                    </a:ext>
                  </a:extLst>
                </a:gridCol>
                <a:gridCol w="631748">
                  <a:extLst>
                    <a:ext uri="{9D8B030D-6E8A-4147-A177-3AD203B41FA5}">
                      <a16:colId xmlns:a16="http://schemas.microsoft.com/office/drawing/2014/main" xmlns="" val="20008"/>
                    </a:ext>
                  </a:extLst>
                </a:gridCol>
                <a:gridCol w="631748">
                  <a:extLst>
                    <a:ext uri="{9D8B030D-6E8A-4147-A177-3AD203B41FA5}">
                      <a16:colId xmlns:a16="http://schemas.microsoft.com/office/drawing/2014/main" xmlns="" val="3905631767"/>
                    </a:ext>
                  </a:extLst>
                </a:gridCol>
              </a:tblGrid>
              <a:tr h="652970">
                <a:tc>
                  <a:txBody>
                    <a:bodyPr/>
                    <a:lstStyle/>
                    <a:p>
                      <a:pPr>
                        <a:lnSpc>
                          <a:spcPct val="100000"/>
                        </a:lnSpc>
                      </a:pPr>
                      <a:endParaRPr sz="1200" dirty="0">
                        <a:latin typeface="Times New Roman" panose="02020603050405020304"/>
                        <a:cs typeface="Times New Roman" panose="02020603050405020304"/>
                      </a:endParaRPr>
                    </a:p>
                  </a:txBody>
                  <a:tcPr marL="0" marR="0" marT="0" marB="0">
                    <a:solidFill>
                      <a:srgbClr val="002060"/>
                    </a:solidFill>
                  </a:tcPr>
                </a:tc>
                <a:tc>
                  <a:txBody>
                    <a:bodyPr/>
                    <a:lstStyle/>
                    <a:p>
                      <a:pPr algn="ctr">
                        <a:lnSpc>
                          <a:spcPct val="100000"/>
                        </a:lnSpc>
                      </a:pPr>
                      <a:r>
                        <a:rPr sz="1200" b="1" spc="-5" dirty="0">
                          <a:solidFill>
                            <a:srgbClr val="FFFFFF"/>
                          </a:solidFill>
                          <a:latin typeface="微软雅黑" panose="020B0503020204020204" pitchFamily="34" charset="-122"/>
                          <a:cs typeface="微软雅黑" panose="020B0503020204020204" pitchFamily="34" charset="-122"/>
                        </a:rPr>
                        <a:t>2017</a:t>
                      </a:r>
                      <a:endParaRPr sz="1200" dirty="0">
                        <a:latin typeface="微软雅黑" panose="020B0503020204020204" pitchFamily="34" charset="-122"/>
                        <a:cs typeface="微软雅黑" panose="020B0503020204020204" pitchFamily="34" charset="-122"/>
                      </a:endParaRPr>
                    </a:p>
                  </a:txBody>
                  <a:tcPr marL="0" marR="0" marT="4445" marB="0" anchor="ctr">
                    <a:solidFill>
                      <a:srgbClr val="002060"/>
                    </a:solidFill>
                  </a:tcPr>
                </a:tc>
                <a:tc>
                  <a:txBody>
                    <a:bodyPr/>
                    <a:lstStyle/>
                    <a:p>
                      <a:pPr marR="8255" algn="ctr">
                        <a:lnSpc>
                          <a:spcPct val="100000"/>
                        </a:lnSpc>
                      </a:pPr>
                      <a:r>
                        <a:rPr sz="1200" b="1" spc="-5" dirty="0">
                          <a:solidFill>
                            <a:srgbClr val="FFFFFF"/>
                          </a:solidFill>
                          <a:latin typeface="微软雅黑" panose="020B0503020204020204" pitchFamily="34" charset="-122"/>
                          <a:cs typeface="微软雅黑" panose="020B0503020204020204" pitchFamily="34" charset="-122"/>
                        </a:rPr>
                        <a:t>2018</a:t>
                      </a:r>
                      <a:endParaRPr sz="1200" dirty="0">
                        <a:latin typeface="微软雅黑" panose="020B0503020204020204" pitchFamily="34" charset="-122"/>
                        <a:cs typeface="微软雅黑" panose="020B0503020204020204" pitchFamily="34" charset="-122"/>
                      </a:endParaRPr>
                    </a:p>
                  </a:txBody>
                  <a:tcPr marL="0" marR="0" marT="4445" marB="0" anchor="ctr">
                    <a:solidFill>
                      <a:srgbClr val="002060"/>
                    </a:solidFill>
                  </a:tcPr>
                </a:tc>
                <a:tc>
                  <a:txBody>
                    <a:bodyPr/>
                    <a:lstStyle/>
                    <a:p>
                      <a:pPr marR="8255" algn="ctr">
                        <a:lnSpc>
                          <a:spcPct val="100000"/>
                        </a:lnSpc>
                      </a:pPr>
                      <a:r>
                        <a:rPr sz="1200" b="1" spc="-5" dirty="0">
                          <a:solidFill>
                            <a:srgbClr val="FFFFFF"/>
                          </a:solidFill>
                          <a:latin typeface="微软雅黑" panose="020B0503020204020204" pitchFamily="34" charset="-122"/>
                          <a:cs typeface="微软雅黑" panose="020B0503020204020204" pitchFamily="34" charset="-122"/>
                        </a:rPr>
                        <a:t>2019</a:t>
                      </a:r>
                      <a:endParaRPr sz="1200" dirty="0">
                        <a:latin typeface="微软雅黑" panose="020B0503020204020204" pitchFamily="34" charset="-122"/>
                        <a:cs typeface="微软雅黑" panose="020B0503020204020204" pitchFamily="34" charset="-122"/>
                      </a:endParaRPr>
                    </a:p>
                  </a:txBody>
                  <a:tcPr marL="0" marR="0" marT="4445" marB="0" anchor="ctr">
                    <a:solidFill>
                      <a:srgbClr val="002060"/>
                    </a:solidFill>
                  </a:tcPr>
                </a:tc>
                <a:tc>
                  <a:txBody>
                    <a:bodyPr/>
                    <a:lstStyle/>
                    <a:p>
                      <a:pPr algn="ctr">
                        <a:lnSpc>
                          <a:spcPct val="100000"/>
                        </a:lnSpc>
                      </a:pPr>
                      <a:r>
                        <a:rPr sz="1200" b="1" spc="-5" dirty="0">
                          <a:solidFill>
                            <a:srgbClr val="FFFFFF"/>
                          </a:solidFill>
                          <a:latin typeface="微软雅黑" panose="020B0503020204020204" pitchFamily="34" charset="-122"/>
                          <a:cs typeface="微软雅黑" panose="020B0503020204020204" pitchFamily="34" charset="-122"/>
                        </a:rPr>
                        <a:t>2020</a:t>
                      </a:r>
                      <a:endParaRPr sz="1200" dirty="0">
                        <a:latin typeface="微软雅黑" panose="020B0503020204020204" pitchFamily="34" charset="-122"/>
                        <a:cs typeface="微软雅黑" panose="020B0503020204020204" pitchFamily="34" charset="-122"/>
                      </a:endParaRPr>
                    </a:p>
                  </a:txBody>
                  <a:tcPr marL="0" marR="0" marT="4445" marB="0" anchor="ctr">
                    <a:solidFill>
                      <a:srgbClr val="002060"/>
                    </a:solidFill>
                  </a:tcPr>
                </a:tc>
                <a:tc>
                  <a:txBody>
                    <a:bodyPr/>
                    <a:lstStyle/>
                    <a:p>
                      <a:pPr marL="17145" algn="ctr">
                        <a:lnSpc>
                          <a:spcPct val="100000"/>
                        </a:lnSpc>
                      </a:pPr>
                      <a:r>
                        <a:rPr sz="1200" b="1" spc="-5" dirty="0">
                          <a:solidFill>
                            <a:srgbClr val="FFFFFF"/>
                          </a:solidFill>
                          <a:latin typeface="微软雅黑" panose="020B0503020204020204" pitchFamily="34" charset="-122"/>
                          <a:cs typeface="微软雅黑" panose="020B0503020204020204" pitchFamily="34" charset="-122"/>
                        </a:rPr>
                        <a:t>2021</a:t>
                      </a:r>
                      <a:endParaRPr sz="1200" dirty="0">
                        <a:latin typeface="微软雅黑" panose="020B0503020204020204" pitchFamily="34" charset="-122"/>
                        <a:cs typeface="微软雅黑" panose="020B0503020204020204" pitchFamily="34" charset="-122"/>
                      </a:endParaRPr>
                    </a:p>
                  </a:txBody>
                  <a:tcPr marL="0" marR="0" marT="4445" marB="0" anchor="ctr">
                    <a:solidFill>
                      <a:srgbClr val="002060"/>
                    </a:solidFill>
                  </a:tcPr>
                </a:tc>
                <a:tc>
                  <a:txBody>
                    <a:bodyPr/>
                    <a:lstStyle/>
                    <a:p>
                      <a:pPr marL="17145" algn="ctr">
                        <a:lnSpc>
                          <a:spcPct val="100000"/>
                        </a:lnSpc>
                      </a:pPr>
                      <a:r>
                        <a:rPr sz="1200" b="1" spc="-5" dirty="0">
                          <a:solidFill>
                            <a:srgbClr val="FFFFFF"/>
                          </a:solidFill>
                          <a:latin typeface="微软雅黑" panose="020B0503020204020204" pitchFamily="34" charset="-122"/>
                          <a:cs typeface="微软雅黑" panose="020B0503020204020204" pitchFamily="34" charset="-122"/>
                        </a:rPr>
                        <a:t>2022</a:t>
                      </a:r>
                      <a:endParaRPr sz="1200" dirty="0">
                        <a:latin typeface="微软雅黑" panose="020B0503020204020204" pitchFamily="34" charset="-122"/>
                        <a:cs typeface="微软雅黑" panose="020B0503020204020204" pitchFamily="34" charset="-122"/>
                      </a:endParaRPr>
                    </a:p>
                  </a:txBody>
                  <a:tcPr marL="0" marR="0" marT="4445" marB="0" anchor="ctr">
                    <a:solidFill>
                      <a:srgbClr val="002060"/>
                    </a:solidFill>
                  </a:tcPr>
                </a:tc>
                <a:tc>
                  <a:txBody>
                    <a:bodyPr/>
                    <a:lstStyle/>
                    <a:p>
                      <a:pPr algn="ctr">
                        <a:lnSpc>
                          <a:spcPct val="100000"/>
                        </a:lnSpc>
                      </a:pPr>
                      <a:r>
                        <a:rPr sz="1200" b="1" spc="-5" dirty="0">
                          <a:solidFill>
                            <a:srgbClr val="FFFFFF"/>
                          </a:solidFill>
                          <a:latin typeface="微软雅黑" panose="020B0503020204020204" pitchFamily="34" charset="-122"/>
                          <a:cs typeface="微软雅黑" panose="020B0503020204020204" pitchFamily="34" charset="-122"/>
                        </a:rPr>
                        <a:t>2023</a:t>
                      </a:r>
                      <a:endParaRPr sz="1200" dirty="0">
                        <a:latin typeface="微软雅黑" panose="020B0503020204020204" pitchFamily="34" charset="-122"/>
                        <a:cs typeface="微软雅黑" panose="020B0503020204020204" pitchFamily="34" charset="-122"/>
                      </a:endParaRPr>
                    </a:p>
                  </a:txBody>
                  <a:tcPr marL="0" marR="0" marT="4445" marB="0" anchor="ctr">
                    <a:solidFill>
                      <a:srgbClr val="002060"/>
                    </a:solidFill>
                  </a:tcPr>
                </a:tc>
                <a:tc>
                  <a:txBody>
                    <a:bodyPr/>
                    <a:lstStyle/>
                    <a:p>
                      <a:pPr algn="ctr">
                        <a:lnSpc>
                          <a:spcPct val="100000"/>
                        </a:lnSpc>
                      </a:pPr>
                      <a:r>
                        <a:rPr sz="1200" b="1" spc="-5" dirty="0">
                          <a:solidFill>
                            <a:srgbClr val="FFFFFF"/>
                          </a:solidFill>
                          <a:latin typeface="微软雅黑" panose="020B0503020204020204" pitchFamily="34" charset="-122"/>
                          <a:cs typeface="微软雅黑" panose="020B0503020204020204" pitchFamily="34" charset="-122"/>
                        </a:rPr>
                        <a:t>2024</a:t>
                      </a:r>
                      <a:endParaRPr sz="1200" dirty="0">
                        <a:latin typeface="微软雅黑" panose="020B0503020204020204" pitchFamily="34" charset="-122"/>
                        <a:cs typeface="微软雅黑" panose="020B0503020204020204" pitchFamily="34" charset="-122"/>
                      </a:endParaRPr>
                    </a:p>
                  </a:txBody>
                  <a:tcPr marL="0" marR="0" marT="4445" marB="0" anchor="c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5" normalizeH="0" baseline="0" noProof="0" dirty="0">
                          <a:ln>
                            <a:noFill/>
                          </a:ln>
                          <a:solidFill>
                            <a:srgbClr val="FFFFFF"/>
                          </a:solidFill>
                          <a:effectLst/>
                          <a:uLnTx/>
                          <a:uFillTx/>
                          <a:latin typeface="微软雅黑" panose="020B0503020204020204" pitchFamily="34" charset="-122"/>
                          <a:ea typeface="+mn-ea"/>
                          <a:cs typeface="微软雅黑" panose="020B0503020204020204" pitchFamily="34" charset="-122"/>
                        </a:rPr>
                        <a:t>2025</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微软雅黑" panose="020B0503020204020204" pitchFamily="34" charset="-122"/>
                      </a:endParaRPr>
                    </a:p>
                  </a:txBody>
                  <a:tcPr marL="0" marR="0" marT="4445" marB="0" anchor="ctr">
                    <a:solidFill>
                      <a:srgbClr val="002060"/>
                    </a:solidFill>
                  </a:tcPr>
                </a:tc>
                <a:extLst>
                  <a:ext uri="{0D108BD9-81ED-4DB2-BD59-A6C34878D82A}">
                    <a16:rowId xmlns:a16="http://schemas.microsoft.com/office/drawing/2014/main" xmlns="" val="10000"/>
                  </a:ext>
                </a:extLst>
              </a:tr>
              <a:tr h="660057">
                <a:tc>
                  <a:txBody>
                    <a:bodyPr/>
                    <a:lstStyle/>
                    <a:p>
                      <a:pPr>
                        <a:lnSpc>
                          <a:spcPct val="100000"/>
                        </a:lnSpc>
                        <a:spcBef>
                          <a:spcPts val="15"/>
                        </a:spcBef>
                      </a:pPr>
                      <a:endParaRPr sz="1600" dirty="0">
                        <a:solidFill>
                          <a:srgbClr val="002060"/>
                        </a:solidFill>
                        <a:latin typeface="Times New Roman" panose="02020603050405020304"/>
                        <a:cs typeface="Times New Roman" panose="02020603050405020304"/>
                      </a:endParaRPr>
                    </a:p>
                    <a:p>
                      <a:pPr algn="ctr">
                        <a:lnSpc>
                          <a:spcPct val="100000"/>
                        </a:lnSpc>
                      </a:pPr>
                      <a:r>
                        <a:rPr sz="1100" b="1" dirty="0">
                          <a:solidFill>
                            <a:srgbClr val="002060"/>
                          </a:solidFill>
                          <a:latin typeface="微软雅黑" panose="020B0503020204020204" pitchFamily="34" charset="-122"/>
                          <a:cs typeface="微软雅黑" panose="020B0503020204020204" pitchFamily="34" charset="-122"/>
                        </a:rPr>
                        <a:t>沪深300</a:t>
                      </a:r>
                      <a:endParaRPr sz="1100" dirty="0">
                        <a:solidFill>
                          <a:srgbClr val="002060"/>
                        </a:solidFill>
                        <a:latin typeface="微软雅黑" panose="020B0503020204020204" pitchFamily="34" charset="-122"/>
                        <a:cs typeface="微软雅黑" panose="020B0503020204020204" pitchFamily="34" charset="-122"/>
                      </a:endParaRPr>
                    </a:p>
                  </a:txBody>
                  <a:tcPr marL="0" marR="0" marT="1905" marB="0">
                    <a:solidFill>
                      <a:srgbClr val="F7F7F7"/>
                    </a:solidFill>
                  </a:tcPr>
                </a:tc>
                <a:tc>
                  <a:txBody>
                    <a:bodyPr/>
                    <a:lstStyle/>
                    <a:p>
                      <a:pPr algn="ctr">
                        <a:lnSpc>
                          <a:spcPct val="100000"/>
                        </a:lnSpc>
                      </a:pPr>
                      <a:r>
                        <a:rPr sz="1100" spc="-5" dirty="0">
                          <a:solidFill>
                            <a:srgbClr val="FFFFFF"/>
                          </a:solidFill>
                          <a:latin typeface="微软雅黑" panose="020B0503020204020204" pitchFamily="34" charset="-122"/>
                          <a:cs typeface="微软雅黑" panose="020B0503020204020204" pitchFamily="34" charset="-122"/>
                        </a:rPr>
                        <a:t>21.78%</a:t>
                      </a:r>
                      <a:endParaRPr sz="1100" dirty="0">
                        <a:latin typeface="微软雅黑" panose="020B0503020204020204" pitchFamily="34" charset="-122"/>
                        <a:cs typeface="微软雅黑" panose="020B0503020204020204" pitchFamily="34" charset="-122"/>
                      </a:endParaRPr>
                    </a:p>
                  </a:txBody>
                  <a:tcPr marL="0" marR="0" marT="635" marB="0" anchor="ctr">
                    <a:solidFill>
                      <a:srgbClr val="E46C6C"/>
                    </a:solidFill>
                  </a:tcPr>
                </a:tc>
                <a:tc>
                  <a:txBody>
                    <a:bodyPr/>
                    <a:lstStyle/>
                    <a:p>
                      <a:pPr marR="8255" algn="ctr">
                        <a:lnSpc>
                          <a:spcPct val="100000"/>
                        </a:lnSpc>
                      </a:pPr>
                      <a:r>
                        <a:rPr sz="1100" spc="-5" dirty="0">
                          <a:solidFill>
                            <a:srgbClr val="FFFFFF"/>
                          </a:solidFill>
                          <a:latin typeface="微软雅黑" panose="020B0503020204020204" pitchFamily="34" charset="-122"/>
                          <a:cs typeface="微软雅黑" panose="020B0503020204020204" pitchFamily="34" charset="-122"/>
                        </a:rPr>
                        <a:t>-25.31%</a:t>
                      </a:r>
                      <a:endParaRPr sz="1100" dirty="0">
                        <a:latin typeface="微软雅黑" panose="020B0503020204020204" pitchFamily="34" charset="-122"/>
                        <a:cs typeface="微软雅黑" panose="020B0503020204020204" pitchFamily="34" charset="-122"/>
                      </a:endParaRPr>
                    </a:p>
                  </a:txBody>
                  <a:tcPr marL="0" marR="0" marT="635" marB="0" anchor="ctr">
                    <a:solidFill>
                      <a:srgbClr val="E46C6C"/>
                    </a:solidFill>
                  </a:tcPr>
                </a:tc>
                <a:tc>
                  <a:txBody>
                    <a:bodyPr/>
                    <a:lstStyle/>
                    <a:p>
                      <a:pPr marR="9525" algn="ctr">
                        <a:lnSpc>
                          <a:spcPct val="100000"/>
                        </a:lnSpc>
                      </a:pPr>
                      <a:r>
                        <a:rPr sz="1100" spc="-5" dirty="0">
                          <a:solidFill>
                            <a:srgbClr val="FFFFFF"/>
                          </a:solidFill>
                          <a:latin typeface="微软雅黑" panose="020B0503020204020204" pitchFamily="34" charset="-122"/>
                          <a:cs typeface="微软雅黑" panose="020B0503020204020204" pitchFamily="34" charset="-122"/>
                        </a:rPr>
                        <a:t>36.07%</a:t>
                      </a:r>
                      <a:endParaRPr sz="1100" dirty="0">
                        <a:latin typeface="微软雅黑" panose="020B0503020204020204" pitchFamily="34" charset="-122"/>
                        <a:cs typeface="微软雅黑" panose="020B0503020204020204" pitchFamily="34" charset="-122"/>
                      </a:endParaRPr>
                    </a:p>
                  </a:txBody>
                  <a:tcPr marL="0" marR="0" marT="635" marB="0" anchor="ctr">
                    <a:solidFill>
                      <a:srgbClr val="E46C6C"/>
                    </a:solidFill>
                  </a:tcPr>
                </a:tc>
                <a:tc>
                  <a:txBody>
                    <a:bodyPr/>
                    <a:lstStyle/>
                    <a:p>
                      <a:pPr algn="ctr">
                        <a:lnSpc>
                          <a:spcPct val="100000"/>
                        </a:lnSpc>
                      </a:pPr>
                      <a:r>
                        <a:rPr sz="1100" spc="-5" dirty="0">
                          <a:solidFill>
                            <a:srgbClr val="FFFFFF"/>
                          </a:solidFill>
                          <a:latin typeface="微软雅黑" panose="020B0503020204020204" pitchFamily="34" charset="-122"/>
                          <a:cs typeface="微软雅黑" panose="020B0503020204020204" pitchFamily="34" charset="-122"/>
                        </a:rPr>
                        <a:t>27.21%</a:t>
                      </a:r>
                      <a:endParaRPr sz="1100" dirty="0">
                        <a:latin typeface="微软雅黑" panose="020B0503020204020204" pitchFamily="34" charset="-122"/>
                        <a:cs typeface="微软雅黑" panose="020B0503020204020204" pitchFamily="34" charset="-122"/>
                      </a:endParaRPr>
                    </a:p>
                  </a:txBody>
                  <a:tcPr marL="0" marR="0" marT="635" marB="0" anchor="ctr">
                    <a:solidFill>
                      <a:srgbClr val="E46C6C"/>
                    </a:solidFill>
                  </a:tcPr>
                </a:tc>
                <a:tc>
                  <a:txBody>
                    <a:bodyPr/>
                    <a:lstStyle/>
                    <a:p>
                      <a:pPr marL="14605" algn="ctr">
                        <a:lnSpc>
                          <a:spcPct val="100000"/>
                        </a:lnSpc>
                      </a:pPr>
                      <a:r>
                        <a:rPr sz="1100" spc="-5" dirty="0">
                          <a:solidFill>
                            <a:srgbClr val="FFFFFF"/>
                          </a:solidFill>
                          <a:latin typeface="微软雅黑" panose="020B0503020204020204" pitchFamily="34" charset="-122"/>
                          <a:cs typeface="微软雅黑" panose="020B0503020204020204" pitchFamily="34" charset="-122"/>
                        </a:rPr>
                        <a:t>-5.20%</a:t>
                      </a:r>
                      <a:endParaRPr sz="1100" dirty="0">
                        <a:latin typeface="微软雅黑" panose="020B0503020204020204" pitchFamily="34" charset="-122"/>
                        <a:cs typeface="微软雅黑" panose="020B0503020204020204" pitchFamily="34" charset="-122"/>
                      </a:endParaRPr>
                    </a:p>
                  </a:txBody>
                  <a:tcPr marL="0" marR="0" marT="635" marB="0" anchor="ctr">
                    <a:solidFill>
                      <a:srgbClr val="92D050"/>
                    </a:solidFill>
                  </a:tcPr>
                </a:tc>
                <a:tc>
                  <a:txBody>
                    <a:bodyPr/>
                    <a:lstStyle/>
                    <a:p>
                      <a:pPr marL="16510" algn="ctr">
                        <a:lnSpc>
                          <a:spcPct val="100000"/>
                        </a:lnSpc>
                      </a:pPr>
                      <a:r>
                        <a:rPr sz="1100" spc="-5" dirty="0">
                          <a:solidFill>
                            <a:srgbClr val="FFFFFF"/>
                          </a:solidFill>
                          <a:latin typeface="微软雅黑" panose="020B0503020204020204" pitchFamily="34" charset="-122"/>
                          <a:cs typeface="微软雅黑" panose="020B0503020204020204" pitchFamily="34" charset="-122"/>
                        </a:rPr>
                        <a:t>-21.63%</a:t>
                      </a:r>
                      <a:endParaRPr sz="1100" dirty="0">
                        <a:latin typeface="微软雅黑" panose="020B0503020204020204" pitchFamily="34" charset="-122"/>
                        <a:cs typeface="微软雅黑" panose="020B0503020204020204" pitchFamily="34" charset="-122"/>
                      </a:endParaRPr>
                    </a:p>
                  </a:txBody>
                  <a:tcPr marL="0" marR="0" marT="635" marB="0" anchor="ctr">
                    <a:solidFill>
                      <a:srgbClr val="92D050"/>
                    </a:solidFill>
                  </a:tcPr>
                </a:tc>
                <a:tc>
                  <a:txBody>
                    <a:bodyPr/>
                    <a:lstStyle/>
                    <a:p>
                      <a:pPr algn="ctr">
                        <a:lnSpc>
                          <a:spcPct val="100000"/>
                        </a:lnSpc>
                      </a:pPr>
                      <a:r>
                        <a:rPr sz="1100" spc="-5" dirty="0">
                          <a:solidFill>
                            <a:srgbClr val="FFFFFF"/>
                          </a:solidFill>
                          <a:latin typeface="微软雅黑" panose="020B0503020204020204" pitchFamily="34" charset="-122"/>
                          <a:cs typeface="微软雅黑" panose="020B0503020204020204" pitchFamily="34" charset="-122"/>
                        </a:rPr>
                        <a:t>-11.38%</a:t>
                      </a:r>
                      <a:endParaRPr sz="1100" dirty="0">
                        <a:latin typeface="微软雅黑" panose="020B0503020204020204" pitchFamily="34" charset="-122"/>
                        <a:cs typeface="微软雅黑" panose="020B0503020204020204" pitchFamily="34" charset="-122"/>
                      </a:endParaRPr>
                    </a:p>
                  </a:txBody>
                  <a:tcPr marL="0" marR="0" marT="635" marB="0" anchor="ctr">
                    <a:solidFill>
                      <a:srgbClr val="92D050"/>
                    </a:solidFill>
                  </a:tcPr>
                </a:tc>
                <a:tc>
                  <a:txBody>
                    <a:bodyPr/>
                    <a:lstStyle/>
                    <a:p>
                      <a:pPr algn="ctr">
                        <a:lnSpc>
                          <a:spcPct val="100000"/>
                        </a:lnSpc>
                      </a:pPr>
                      <a:r>
                        <a:rPr lang="en-US" sz="1100" spc="-5" dirty="0">
                          <a:solidFill>
                            <a:srgbClr val="FFFFFF"/>
                          </a:solidFill>
                          <a:latin typeface="微软雅黑" panose="020B0503020204020204" pitchFamily="34" charset="-122"/>
                          <a:cs typeface="微软雅黑" panose="020B0503020204020204" pitchFamily="34" charset="-122"/>
                        </a:rPr>
                        <a:t>14</a:t>
                      </a:r>
                      <a:r>
                        <a:rPr sz="1100" spc="-5" dirty="0">
                          <a:solidFill>
                            <a:srgbClr val="FFFFFF"/>
                          </a:solidFill>
                          <a:latin typeface="微软雅黑" panose="020B0503020204020204" pitchFamily="34" charset="-122"/>
                          <a:cs typeface="微软雅黑" panose="020B0503020204020204" pitchFamily="34" charset="-122"/>
                        </a:rPr>
                        <a:t>.</a:t>
                      </a:r>
                      <a:r>
                        <a:rPr lang="en-US" sz="1100" spc="-5" dirty="0">
                          <a:solidFill>
                            <a:srgbClr val="FFFFFF"/>
                          </a:solidFill>
                          <a:latin typeface="微软雅黑" panose="020B0503020204020204" pitchFamily="34" charset="-122"/>
                          <a:cs typeface="微软雅黑" panose="020B0503020204020204" pitchFamily="34" charset="-122"/>
                        </a:rPr>
                        <a:t>6</a:t>
                      </a:r>
                      <a:r>
                        <a:rPr sz="1100" spc="-5" dirty="0">
                          <a:solidFill>
                            <a:srgbClr val="FFFFFF"/>
                          </a:solidFill>
                          <a:latin typeface="微软雅黑" panose="020B0503020204020204" pitchFamily="34" charset="-122"/>
                          <a:cs typeface="微软雅黑" panose="020B0503020204020204" pitchFamily="34" charset="-122"/>
                        </a:rPr>
                        <a:t>8%</a:t>
                      </a:r>
                      <a:endParaRPr sz="1100" dirty="0">
                        <a:latin typeface="微软雅黑" panose="020B0503020204020204" pitchFamily="34" charset="-122"/>
                        <a:cs typeface="微软雅黑" panose="020B0503020204020204" pitchFamily="34" charset="-122"/>
                      </a:endParaRPr>
                    </a:p>
                  </a:txBody>
                  <a:tcPr marL="0" marR="0" marT="635" marB="0" anchor="ctr">
                    <a:solidFill>
                      <a:srgbClr val="E46C6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spc="-5" dirty="0">
                          <a:solidFill>
                            <a:schemeClr val="bg1"/>
                          </a:solidFill>
                          <a:latin typeface="微软雅黑" panose="020B0503020204020204" pitchFamily="34" charset="-122"/>
                          <a:cs typeface="微软雅黑" panose="020B0503020204020204" pitchFamily="34" charset="-122"/>
                        </a:rPr>
                        <a:t>17.66%</a:t>
                      </a:r>
                      <a:endParaRPr lang="zh-CN" altLang="en-US" sz="1100" dirty="0">
                        <a:solidFill>
                          <a:schemeClr val="bg1"/>
                        </a:solidFill>
                        <a:latin typeface="微软雅黑" panose="020B0503020204020204" pitchFamily="34" charset="-122"/>
                        <a:cs typeface="微软雅黑" panose="020B0503020204020204" pitchFamily="34" charset="-122"/>
                      </a:endParaRPr>
                    </a:p>
                  </a:txBody>
                  <a:tcPr marL="0" marR="0" marT="635" marB="0" anchor="ctr">
                    <a:solidFill>
                      <a:srgbClr val="92D050"/>
                    </a:solidFill>
                  </a:tcPr>
                </a:tc>
                <a:extLst>
                  <a:ext uri="{0D108BD9-81ED-4DB2-BD59-A6C34878D82A}">
                    <a16:rowId xmlns:a16="http://schemas.microsoft.com/office/drawing/2014/main" xmlns="" val="10001"/>
                  </a:ext>
                </a:extLst>
              </a:tr>
              <a:tr h="660057">
                <a:tc>
                  <a:txBody>
                    <a:bodyPr/>
                    <a:lstStyle/>
                    <a:p>
                      <a:pPr>
                        <a:lnSpc>
                          <a:spcPct val="100000"/>
                        </a:lnSpc>
                        <a:spcBef>
                          <a:spcPts val="15"/>
                        </a:spcBef>
                      </a:pPr>
                      <a:endParaRPr sz="1600" dirty="0">
                        <a:solidFill>
                          <a:srgbClr val="002060"/>
                        </a:solidFill>
                        <a:latin typeface="Times New Roman" panose="02020603050405020304"/>
                        <a:cs typeface="Times New Roman" panose="02020603050405020304"/>
                      </a:endParaRPr>
                    </a:p>
                    <a:p>
                      <a:pPr algn="ctr">
                        <a:lnSpc>
                          <a:spcPct val="100000"/>
                        </a:lnSpc>
                      </a:pPr>
                      <a:r>
                        <a:rPr sz="1100" b="1" dirty="0">
                          <a:solidFill>
                            <a:srgbClr val="002060"/>
                          </a:solidFill>
                          <a:latin typeface="微软雅黑" panose="020B0503020204020204" pitchFamily="34" charset="-122"/>
                          <a:cs typeface="微软雅黑" panose="020B0503020204020204" pitchFamily="34" charset="-122"/>
                        </a:rPr>
                        <a:t>中证500</a:t>
                      </a:r>
                      <a:endParaRPr sz="1100" dirty="0">
                        <a:solidFill>
                          <a:srgbClr val="002060"/>
                        </a:solidFill>
                        <a:latin typeface="微软雅黑" panose="020B0503020204020204" pitchFamily="34" charset="-122"/>
                        <a:cs typeface="微软雅黑" panose="020B0503020204020204" pitchFamily="34" charset="-122"/>
                      </a:endParaRPr>
                    </a:p>
                  </a:txBody>
                  <a:tcPr marL="0" marR="0" marT="1905" marB="0">
                    <a:solidFill>
                      <a:srgbClr val="F7F7F7"/>
                    </a:solidFill>
                  </a:tcPr>
                </a:tc>
                <a:tc>
                  <a:txBody>
                    <a:bodyPr/>
                    <a:lstStyle/>
                    <a:p>
                      <a:pPr algn="ctr">
                        <a:lnSpc>
                          <a:spcPct val="100000"/>
                        </a:lnSpc>
                      </a:pPr>
                      <a:r>
                        <a:rPr sz="1100" spc="-5" dirty="0">
                          <a:latin typeface="微软雅黑" panose="020B0503020204020204" pitchFamily="34" charset="-122"/>
                          <a:cs typeface="微软雅黑" panose="020B0503020204020204" pitchFamily="34" charset="-122"/>
                        </a:rPr>
                        <a:t>-0.20%</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marR="8255" algn="ctr">
                        <a:lnSpc>
                          <a:spcPct val="100000"/>
                        </a:lnSpc>
                      </a:pPr>
                      <a:r>
                        <a:rPr sz="1100" spc="-5" dirty="0">
                          <a:latin typeface="微软雅黑" panose="020B0503020204020204" pitchFamily="34" charset="-122"/>
                          <a:cs typeface="微软雅黑" panose="020B0503020204020204" pitchFamily="34" charset="-122"/>
                        </a:rPr>
                        <a:t>-33.32%</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marR="9525" algn="ctr">
                        <a:lnSpc>
                          <a:spcPct val="100000"/>
                        </a:lnSpc>
                      </a:pPr>
                      <a:r>
                        <a:rPr sz="1100" spc="-5" dirty="0">
                          <a:latin typeface="微软雅黑" panose="020B0503020204020204" pitchFamily="34" charset="-122"/>
                          <a:cs typeface="微软雅黑" panose="020B0503020204020204" pitchFamily="34" charset="-122"/>
                        </a:rPr>
                        <a:t>26.38%</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algn="ctr">
                        <a:lnSpc>
                          <a:spcPct val="100000"/>
                        </a:lnSpc>
                      </a:pPr>
                      <a:r>
                        <a:rPr sz="1100" spc="-5" dirty="0">
                          <a:latin typeface="微软雅黑" panose="020B0503020204020204" pitchFamily="34" charset="-122"/>
                          <a:cs typeface="微软雅黑" panose="020B0503020204020204" pitchFamily="34" charset="-122"/>
                        </a:rPr>
                        <a:t>20.87%</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marL="14605" algn="ctr">
                        <a:lnSpc>
                          <a:spcPct val="100000"/>
                        </a:lnSpc>
                      </a:pPr>
                      <a:r>
                        <a:rPr sz="1100" spc="-5" dirty="0">
                          <a:latin typeface="微软雅黑" panose="020B0503020204020204" pitchFamily="34" charset="-122"/>
                          <a:cs typeface="微软雅黑" panose="020B0503020204020204" pitchFamily="34" charset="-122"/>
                        </a:rPr>
                        <a:t>15.58%</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marL="16510" algn="ctr">
                        <a:lnSpc>
                          <a:spcPct val="100000"/>
                        </a:lnSpc>
                      </a:pPr>
                      <a:r>
                        <a:rPr sz="1100" spc="-5" dirty="0">
                          <a:latin typeface="微软雅黑" panose="020B0503020204020204" pitchFamily="34" charset="-122"/>
                          <a:cs typeface="微软雅黑" panose="020B0503020204020204" pitchFamily="34" charset="-122"/>
                        </a:rPr>
                        <a:t>-20.31%</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algn="ctr">
                        <a:lnSpc>
                          <a:spcPct val="100000"/>
                        </a:lnSpc>
                      </a:pPr>
                      <a:r>
                        <a:rPr sz="1100" spc="-5" dirty="0">
                          <a:latin typeface="微软雅黑" panose="020B0503020204020204" pitchFamily="34" charset="-122"/>
                          <a:cs typeface="微软雅黑" panose="020B0503020204020204" pitchFamily="34" charset="-122"/>
                        </a:rPr>
                        <a:t>-7.42%</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algn="ctr">
                        <a:lnSpc>
                          <a:spcPct val="100000"/>
                        </a:lnSpc>
                      </a:pPr>
                      <a:r>
                        <a:rPr lang="en-US" sz="1100" spc="-5" dirty="0">
                          <a:latin typeface="微软雅黑" panose="020B0503020204020204" pitchFamily="34" charset="-122"/>
                          <a:cs typeface="微软雅黑" panose="020B0503020204020204" pitchFamily="34" charset="-122"/>
                        </a:rPr>
                        <a:t>5</a:t>
                      </a:r>
                      <a:r>
                        <a:rPr sz="1100" spc="-5" dirty="0">
                          <a:latin typeface="微软雅黑" panose="020B0503020204020204" pitchFamily="34" charset="-122"/>
                          <a:cs typeface="微软雅黑" panose="020B0503020204020204" pitchFamily="34" charset="-122"/>
                        </a:rPr>
                        <a:t>.</a:t>
                      </a:r>
                      <a:r>
                        <a:rPr lang="en-US" sz="1100" spc="-5" dirty="0">
                          <a:latin typeface="微软雅黑" panose="020B0503020204020204" pitchFamily="34" charset="-122"/>
                          <a:cs typeface="微软雅黑" panose="020B0503020204020204" pitchFamily="34" charset="-122"/>
                        </a:rPr>
                        <a:t>46</a:t>
                      </a:r>
                      <a:r>
                        <a:rPr sz="1100" spc="-5" dirty="0">
                          <a:latin typeface="微软雅黑" panose="020B0503020204020204" pitchFamily="34" charset="-122"/>
                          <a:cs typeface="微软雅黑" panose="020B0503020204020204" pitchFamily="34" charset="-122"/>
                        </a:rPr>
                        <a:t>%</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algn="ctr">
                        <a:lnSpc>
                          <a:spcPct val="100000"/>
                        </a:lnSpc>
                      </a:pPr>
                      <a:r>
                        <a:rPr lang="en-US" sz="1100" dirty="0">
                          <a:latin typeface="微软雅黑" panose="020B0503020204020204" pitchFamily="34" charset="-122"/>
                          <a:cs typeface="微软雅黑" panose="020B0503020204020204" pitchFamily="34" charset="-122"/>
                        </a:rPr>
                        <a:t>30.39%</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extLst>
                  <a:ext uri="{0D108BD9-81ED-4DB2-BD59-A6C34878D82A}">
                    <a16:rowId xmlns:a16="http://schemas.microsoft.com/office/drawing/2014/main" xmlns="" val="10002"/>
                  </a:ext>
                </a:extLst>
              </a:tr>
              <a:tr h="660057">
                <a:tc>
                  <a:txBody>
                    <a:bodyPr/>
                    <a:lstStyle/>
                    <a:p>
                      <a:pPr>
                        <a:lnSpc>
                          <a:spcPct val="100000"/>
                        </a:lnSpc>
                        <a:spcBef>
                          <a:spcPts val="15"/>
                        </a:spcBef>
                      </a:pPr>
                      <a:endParaRPr sz="1600" dirty="0">
                        <a:solidFill>
                          <a:srgbClr val="002060"/>
                        </a:solidFill>
                        <a:latin typeface="Times New Roman" panose="02020603050405020304"/>
                        <a:cs typeface="Times New Roman" panose="02020603050405020304"/>
                      </a:endParaRPr>
                    </a:p>
                    <a:p>
                      <a:pPr algn="ctr">
                        <a:lnSpc>
                          <a:spcPct val="100000"/>
                        </a:lnSpc>
                      </a:pPr>
                      <a:r>
                        <a:rPr sz="1100" b="1" dirty="0">
                          <a:solidFill>
                            <a:srgbClr val="002060"/>
                          </a:solidFill>
                          <a:latin typeface="微软雅黑" panose="020B0503020204020204" pitchFamily="34" charset="-122"/>
                          <a:cs typeface="微软雅黑" panose="020B0503020204020204" pitchFamily="34" charset="-122"/>
                        </a:rPr>
                        <a:t>中证1000</a:t>
                      </a:r>
                      <a:endParaRPr sz="1100" dirty="0">
                        <a:solidFill>
                          <a:srgbClr val="002060"/>
                        </a:solidFill>
                        <a:latin typeface="微软雅黑" panose="020B0503020204020204" pitchFamily="34" charset="-122"/>
                        <a:cs typeface="微软雅黑" panose="020B0503020204020204" pitchFamily="34" charset="-122"/>
                      </a:endParaRPr>
                    </a:p>
                  </a:txBody>
                  <a:tcPr marL="0" marR="0" marT="1905" marB="0">
                    <a:solidFill>
                      <a:srgbClr val="F7F7F7"/>
                    </a:solidFill>
                  </a:tcPr>
                </a:tc>
                <a:tc>
                  <a:txBody>
                    <a:bodyPr/>
                    <a:lstStyle/>
                    <a:p>
                      <a:pPr algn="ctr">
                        <a:lnSpc>
                          <a:spcPct val="100000"/>
                        </a:lnSpc>
                      </a:pPr>
                      <a:r>
                        <a:rPr sz="1100" spc="-5" dirty="0">
                          <a:latin typeface="微软雅黑" panose="020B0503020204020204" pitchFamily="34" charset="-122"/>
                          <a:cs typeface="微软雅黑" panose="020B0503020204020204" pitchFamily="34" charset="-122"/>
                        </a:rPr>
                        <a:t>-17.35%</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marR="8255" algn="ctr">
                        <a:lnSpc>
                          <a:spcPct val="100000"/>
                        </a:lnSpc>
                      </a:pPr>
                      <a:r>
                        <a:rPr sz="1100" spc="-5" dirty="0">
                          <a:solidFill>
                            <a:srgbClr val="FFFFFF"/>
                          </a:solidFill>
                          <a:latin typeface="微软雅黑" panose="020B0503020204020204" pitchFamily="34" charset="-122"/>
                          <a:cs typeface="微软雅黑" panose="020B0503020204020204" pitchFamily="34" charset="-122"/>
                        </a:rPr>
                        <a:t>-36.87%</a:t>
                      </a:r>
                      <a:endParaRPr sz="1100" dirty="0">
                        <a:latin typeface="微软雅黑" panose="020B0503020204020204" pitchFamily="34" charset="-122"/>
                        <a:cs typeface="微软雅黑" panose="020B0503020204020204" pitchFamily="34" charset="-122"/>
                      </a:endParaRPr>
                    </a:p>
                  </a:txBody>
                  <a:tcPr marL="0" marR="0" marT="635" marB="0" anchor="ctr">
                    <a:solidFill>
                      <a:srgbClr val="92D050"/>
                    </a:solidFill>
                  </a:tcPr>
                </a:tc>
                <a:tc>
                  <a:txBody>
                    <a:bodyPr/>
                    <a:lstStyle/>
                    <a:p>
                      <a:pPr marR="9525" algn="ctr">
                        <a:lnSpc>
                          <a:spcPct val="100000"/>
                        </a:lnSpc>
                      </a:pPr>
                      <a:r>
                        <a:rPr sz="1100" spc="-5" dirty="0">
                          <a:solidFill>
                            <a:srgbClr val="FFFFFF"/>
                          </a:solidFill>
                          <a:latin typeface="微软雅黑" panose="020B0503020204020204" pitchFamily="34" charset="-122"/>
                          <a:cs typeface="微软雅黑" panose="020B0503020204020204" pitchFamily="34" charset="-122"/>
                        </a:rPr>
                        <a:t>25.67%</a:t>
                      </a:r>
                      <a:endParaRPr sz="1100" dirty="0">
                        <a:latin typeface="微软雅黑" panose="020B0503020204020204" pitchFamily="34" charset="-122"/>
                        <a:cs typeface="微软雅黑" panose="020B0503020204020204" pitchFamily="34" charset="-122"/>
                      </a:endParaRPr>
                    </a:p>
                  </a:txBody>
                  <a:tcPr marL="0" marR="0" marT="635" marB="0" anchor="ctr">
                    <a:solidFill>
                      <a:srgbClr val="92D050"/>
                    </a:solidFill>
                  </a:tcPr>
                </a:tc>
                <a:tc>
                  <a:txBody>
                    <a:bodyPr/>
                    <a:lstStyle/>
                    <a:p>
                      <a:pPr algn="ctr">
                        <a:lnSpc>
                          <a:spcPct val="100000"/>
                        </a:lnSpc>
                      </a:pPr>
                      <a:r>
                        <a:rPr sz="1100" spc="-5" dirty="0">
                          <a:latin typeface="微软雅黑" panose="020B0503020204020204" pitchFamily="34" charset="-122"/>
                          <a:cs typeface="微软雅黑" panose="020B0503020204020204" pitchFamily="34" charset="-122"/>
                        </a:rPr>
                        <a:t>19.39%</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marL="14605" algn="ctr">
                        <a:lnSpc>
                          <a:spcPct val="100000"/>
                        </a:lnSpc>
                      </a:pPr>
                      <a:r>
                        <a:rPr sz="1100" spc="-5" dirty="0">
                          <a:latin typeface="微软雅黑" panose="020B0503020204020204" pitchFamily="34" charset="-122"/>
                          <a:cs typeface="微软雅黑" panose="020B0503020204020204" pitchFamily="34" charset="-122"/>
                        </a:rPr>
                        <a:t>20.52%</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marL="16510" algn="ctr">
                        <a:lnSpc>
                          <a:spcPct val="100000"/>
                        </a:lnSpc>
                      </a:pPr>
                      <a:r>
                        <a:rPr sz="1100" spc="-5" dirty="0">
                          <a:latin typeface="微软雅黑" panose="020B0503020204020204" pitchFamily="34" charset="-122"/>
                          <a:cs typeface="微软雅黑" panose="020B0503020204020204" pitchFamily="34" charset="-122"/>
                        </a:rPr>
                        <a:t>-21.58%</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algn="ctr">
                        <a:lnSpc>
                          <a:spcPct val="100000"/>
                        </a:lnSpc>
                      </a:pPr>
                      <a:r>
                        <a:rPr sz="1100" spc="-5" dirty="0">
                          <a:latin typeface="微软雅黑" panose="020B0503020204020204" pitchFamily="34" charset="-122"/>
                          <a:cs typeface="微软雅黑" panose="020B0503020204020204" pitchFamily="34" charset="-122"/>
                        </a:rPr>
                        <a:t>-6.28%</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marL="0" algn="ctr" defTabSz="914400" rtl="0" eaLnBrk="1" latinLnBrk="0" hangingPunct="1">
                        <a:lnSpc>
                          <a:spcPct val="100000"/>
                        </a:lnSpc>
                      </a:pPr>
                      <a:r>
                        <a:rPr lang="en-US" sz="1100" kern="1200" spc="-5" dirty="0">
                          <a:solidFill>
                            <a:srgbClr val="FFFFFF"/>
                          </a:solidFill>
                          <a:latin typeface="微软雅黑" panose="020B0503020204020204" pitchFamily="34" charset="-122"/>
                          <a:ea typeface="+mn-ea"/>
                          <a:cs typeface="微软雅黑" panose="020B0503020204020204" pitchFamily="34" charset="-122"/>
                        </a:rPr>
                        <a:t>1.20</a:t>
                      </a:r>
                      <a:r>
                        <a:rPr sz="1100" kern="1200" spc="-5" dirty="0">
                          <a:solidFill>
                            <a:srgbClr val="FFFFFF"/>
                          </a:solidFill>
                          <a:latin typeface="微软雅黑" panose="020B0503020204020204" pitchFamily="34" charset="-122"/>
                          <a:ea typeface="+mn-ea"/>
                          <a:cs typeface="微软雅黑" panose="020B0503020204020204" pitchFamily="34" charset="-122"/>
                        </a:rPr>
                        <a:t>%</a:t>
                      </a:r>
                    </a:p>
                  </a:txBody>
                  <a:tcPr marL="0" marR="0" marT="635" marB="0" anchor="ctr">
                    <a:solidFill>
                      <a:srgbClr val="92D050"/>
                    </a:solidFill>
                  </a:tcPr>
                </a:tc>
                <a:tc>
                  <a:txBody>
                    <a:bodyPr/>
                    <a:lstStyle/>
                    <a:p>
                      <a:pPr algn="ctr">
                        <a:lnSpc>
                          <a:spcPct val="100000"/>
                        </a:lnSpc>
                      </a:pPr>
                      <a:r>
                        <a:rPr lang="en-US" sz="1100" dirty="0">
                          <a:latin typeface="微软雅黑" panose="020B0503020204020204" pitchFamily="34" charset="-122"/>
                          <a:cs typeface="微软雅黑" panose="020B0503020204020204" pitchFamily="34" charset="-122"/>
                        </a:rPr>
                        <a:t>27.49%</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extLst>
                  <a:ext uri="{0D108BD9-81ED-4DB2-BD59-A6C34878D82A}">
                    <a16:rowId xmlns:a16="http://schemas.microsoft.com/office/drawing/2014/main" xmlns="" val="10003"/>
                  </a:ext>
                </a:extLst>
              </a:tr>
              <a:tr h="660057">
                <a:tc>
                  <a:txBody>
                    <a:bodyPr/>
                    <a:lstStyle/>
                    <a:p>
                      <a:pPr>
                        <a:lnSpc>
                          <a:spcPct val="100000"/>
                        </a:lnSpc>
                        <a:spcBef>
                          <a:spcPts val="15"/>
                        </a:spcBef>
                      </a:pPr>
                      <a:endParaRPr sz="1600" dirty="0">
                        <a:solidFill>
                          <a:srgbClr val="002060"/>
                        </a:solidFill>
                        <a:latin typeface="Times New Roman" panose="02020603050405020304"/>
                        <a:cs typeface="Times New Roman" panose="02020603050405020304"/>
                      </a:endParaRPr>
                    </a:p>
                    <a:p>
                      <a:pPr algn="ctr">
                        <a:lnSpc>
                          <a:spcPct val="100000"/>
                        </a:lnSpc>
                      </a:pPr>
                      <a:r>
                        <a:rPr sz="1100" b="1" dirty="0">
                          <a:solidFill>
                            <a:srgbClr val="002060"/>
                          </a:solidFill>
                          <a:latin typeface="微软雅黑" panose="020B0503020204020204" pitchFamily="34" charset="-122"/>
                          <a:cs typeface="微软雅黑" panose="020B0503020204020204" pitchFamily="34" charset="-122"/>
                        </a:rPr>
                        <a:t>万得小市值</a:t>
                      </a:r>
                      <a:endParaRPr sz="1100" dirty="0">
                        <a:solidFill>
                          <a:srgbClr val="002060"/>
                        </a:solidFill>
                        <a:latin typeface="微软雅黑" panose="020B0503020204020204" pitchFamily="34" charset="-122"/>
                        <a:cs typeface="微软雅黑" panose="020B0503020204020204" pitchFamily="34" charset="-122"/>
                      </a:endParaRPr>
                    </a:p>
                  </a:txBody>
                  <a:tcPr marL="0" marR="0" marT="1905" marB="0">
                    <a:solidFill>
                      <a:srgbClr val="F7F7F7"/>
                    </a:solidFill>
                  </a:tcPr>
                </a:tc>
                <a:tc>
                  <a:txBody>
                    <a:bodyPr/>
                    <a:lstStyle/>
                    <a:p>
                      <a:pPr algn="ctr">
                        <a:lnSpc>
                          <a:spcPct val="100000"/>
                        </a:lnSpc>
                      </a:pPr>
                      <a:r>
                        <a:rPr sz="1100" spc="-5" dirty="0">
                          <a:solidFill>
                            <a:srgbClr val="FFFFFF"/>
                          </a:solidFill>
                          <a:latin typeface="微软雅黑" panose="020B0503020204020204" pitchFamily="34" charset="-122"/>
                          <a:cs typeface="微软雅黑" panose="020B0503020204020204" pitchFamily="34" charset="-122"/>
                        </a:rPr>
                        <a:t>-21.07%</a:t>
                      </a:r>
                      <a:endParaRPr sz="1100" dirty="0">
                        <a:latin typeface="微软雅黑" panose="020B0503020204020204" pitchFamily="34" charset="-122"/>
                        <a:cs typeface="微软雅黑" panose="020B0503020204020204" pitchFamily="34" charset="-122"/>
                      </a:endParaRPr>
                    </a:p>
                  </a:txBody>
                  <a:tcPr marL="0" marR="0" marT="635" marB="0" anchor="ctr">
                    <a:solidFill>
                      <a:srgbClr val="92D050"/>
                    </a:solidFill>
                  </a:tcPr>
                </a:tc>
                <a:tc>
                  <a:txBody>
                    <a:bodyPr/>
                    <a:lstStyle/>
                    <a:p>
                      <a:pPr marR="8255" algn="ctr">
                        <a:lnSpc>
                          <a:spcPct val="100000"/>
                        </a:lnSpc>
                      </a:pPr>
                      <a:r>
                        <a:rPr sz="1100" spc="-5" dirty="0">
                          <a:latin typeface="微软雅黑" panose="020B0503020204020204" pitchFamily="34" charset="-122"/>
                          <a:cs typeface="微软雅黑" panose="020B0503020204020204" pitchFamily="34" charset="-122"/>
                        </a:rPr>
                        <a:t>-30.10%</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marR="9525" algn="ctr">
                        <a:lnSpc>
                          <a:spcPct val="100000"/>
                        </a:lnSpc>
                      </a:pPr>
                      <a:r>
                        <a:rPr sz="1100" spc="-5" dirty="0">
                          <a:latin typeface="微软雅黑" panose="020B0503020204020204" pitchFamily="34" charset="-122"/>
                          <a:cs typeface="微软雅黑" panose="020B0503020204020204" pitchFamily="34" charset="-122"/>
                        </a:rPr>
                        <a:t>27.09%</a:t>
                      </a:r>
                      <a:endParaRPr sz="1100" dirty="0">
                        <a:latin typeface="微软雅黑" panose="020B0503020204020204" pitchFamily="34" charset="-122"/>
                        <a:cs typeface="微软雅黑" panose="020B0503020204020204" pitchFamily="34" charset="-122"/>
                      </a:endParaRPr>
                    </a:p>
                  </a:txBody>
                  <a:tcPr marL="0" marR="0" marT="635" marB="0" anchor="ctr">
                    <a:solidFill>
                      <a:srgbClr val="F7F7F7"/>
                    </a:solidFill>
                  </a:tcPr>
                </a:tc>
                <a:tc>
                  <a:txBody>
                    <a:bodyPr/>
                    <a:lstStyle/>
                    <a:p>
                      <a:pPr algn="ctr">
                        <a:lnSpc>
                          <a:spcPct val="100000"/>
                        </a:lnSpc>
                      </a:pPr>
                      <a:r>
                        <a:rPr sz="1100" spc="-5" dirty="0">
                          <a:solidFill>
                            <a:srgbClr val="FFFFFF"/>
                          </a:solidFill>
                          <a:latin typeface="微软雅黑" panose="020B0503020204020204" pitchFamily="34" charset="-122"/>
                          <a:cs typeface="微软雅黑" panose="020B0503020204020204" pitchFamily="34" charset="-122"/>
                        </a:rPr>
                        <a:t>15.21%</a:t>
                      </a:r>
                      <a:endParaRPr sz="1100" dirty="0">
                        <a:latin typeface="微软雅黑" panose="020B0503020204020204" pitchFamily="34" charset="-122"/>
                        <a:cs typeface="微软雅黑" panose="020B0503020204020204" pitchFamily="34" charset="-122"/>
                      </a:endParaRPr>
                    </a:p>
                  </a:txBody>
                  <a:tcPr marL="0" marR="0" marT="635" marB="0" anchor="ctr">
                    <a:solidFill>
                      <a:srgbClr val="92D050"/>
                    </a:solidFill>
                  </a:tcPr>
                </a:tc>
                <a:tc>
                  <a:txBody>
                    <a:bodyPr/>
                    <a:lstStyle/>
                    <a:p>
                      <a:pPr marL="14605" algn="ctr">
                        <a:lnSpc>
                          <a:spcPct val="100000"/>
                        </a:lnSpc>
                      </a:pPr>
                      <a:r>
                        <a:rPr sz="1100" spc="-5" dirty="0">
                          <a:solidFill>
                            <a:srgbClr val="FFFFFF"/>
                          </a:solidFill>
                          <a:latin typeface="微软雅黑" panose="020B0503020204020204" pitchFamily="34" charset="-122"/>
                          <a:cs typeface="微软雅黑" panose="020B0503020204020204" pitchFamily="34" charset="-122"/>
                        </a:rPr>
                        <a:t>30.15%</a:t>
                      </a:r>
                      <a:endParaRPr sz="1100" dirty="0">
                        <a:latin typeface="微软雅黑" panose="020B0503020204020204" pitchFamily="34" charset="-122"/>
                        <a:cs typeface="微软雅黑" panose="020B0503020204020204" pitchFamily="34" charset="-122"/>
                      </a:endParaRPr>
                    </a:p>
                  </a:txBody>
                  <a:tcPr marL="0" marR="0" marT="635" marB="0" anchor="ctr">
                    <a:solidFill>
                      <a:srgbClr val="E46C6C"/>
                    </a:solidFill>
                  </a:tcPr>
                </a:tc>
                <a:tc>
                  <a:txBody>
                    <a:bodyPr/>
                    <a:lstStyle/>
                    <a:p>
                      <a:pPr marL="14605" algn="ctr">
                        <a:lnSpc>
                          <a:spcPct val="100000"/>
                        </a:lnSpc>
                      </a:pPr>
                      <a:r>
                        <a:rPr sz="1100" spc="-5" dirty="0">
                          <a:solidFill>
                            <a:srgbClr val="FFFFFF"/>
                          </a:solidFill>
                          <a:latin typeface="微软雅黑" panose="020B0503020204020204" pitchFamily="34" charset="-122"/>
                          <a:cs typeface="微软雅黑" panose="020B0503020204020204" pitchFamily="34" charset="-122"/>
                        </a:rPr>
                        <a:t>-8.01%</a:t>
                      </a:r>
                      <a:endParaRPr sz="1100" dirty="0">
                        <a:latin typeface="微软雅黑" panose="020B0503020204020204" pitchFamily="34" charset="-122"/>
                        <a:cs typeface="微软雅黑" panose="020B0503020204020204" pitchFamily="34" charset="-122"/>
                      </a:endParaRPr>
                    </a:p>
                  </a:txBody>
                  <a:tcPr marL="0" marR="0" marT="635" marB="0" anchor="ctr">
                    <a:solidFill>
                      <a:srgbClr val="E46C6C"/>
                    </a:solidFill>
                  </a:tcPr>
                </a:tc>
                <a:tc>
                  <a:txBody>
                    <a:bodyPr/>
                    <a:lstStyle/>
                    <a:p>
                      <a:pPr algn="ctr">
                        <a:lnSpc>
                          <a:spcPct val="100000"/>
                        </a:lnSpc>
                      </a:pPr>
                      <a:r>
                        <a:rPr sz="1100" spc="-5" dirty="0">
                          <a:solidFill>
                            <a:srgbClr val="FFFFFF"/>
                          </a:solidFill>
                          <a:latin typeface="微软雅黑" panose="020B0503020204020204" pitchFamily="34" charset="-122"/>
                          <a:cs typeface="微软雅黑" panose="020B0503020204020204" pitchFamily="34" charset="-122"/>
                        </a:rPr>
                        <a:t>16.17%</a:t>
                      </a:r>
                      <a:endParaRPr sz="1100" dirty="0">
                        <a:latin typeface="微软雅黑" panose="020B0503020204020204" pitchFamily="34" charset="-122"/>
                        <a:cs typeface="微软雅黑" panose="020B0503020204020204" pitchFamily="34" charset="-122"/>
                      </a:endParaRPr>
                    </a:p>
                  </a:txBody>
                  <a:tcPr marL="0" marR="0" marT="635" marB="0" anchor="ctr">
                    <a:solidFill>
                      <a:srgbClr val="E46C6C"/>
                    </a:solidFill>
                  </a:tcPr>
                </a:tc>
                <a:tc>
                  <a:txBody>
                    <a:bodyPr/>
                    <a:lstStyle/>
                    <a:p>
                      <a:pPr algn="ctr">
                        <a:lnSpc>
                          <a:spcPct val="100000"/>
                        </a:lnSpc>
                      </a:pPr>
                      <a:r>
                        <a:rPr lang="en-US" sz="1100" spc="-5" dirty="0">
                          <a:solidFill>
                            <a:schemeClr val="tx1"/>
                          </a:solidFill>
                          <a:latin typeface="微软雅黑" panose="020B0503020204020204" pitchFamily="34" charset="-122"/>
                          <a:cs typeface="微软雅黑" panose="020B0503020204020204" pitchFamily="34" charset="-122"/>
                        </a:rPr>
                        <a:t>3.24</a:t>
                      </a:r>
                      <a:r>
                        <a:rPr sz="1100" spc="-5" dirty="0">
                          <a:solidFill>
                            <a:schemeClr val="tx1"/>
                          </a:solidFill>
                          <a:latin typeface="微软雅黑" panose="020B0503020204020204" pitchFamily="34" charset="-122"/>
                          <a:cs typeface="微软雅黑" panose="020B0503020204020204" pitchFamily="34" charset="-122"/>
                        </a:rPr>
                        <a:t>%</a:t>
                      </a:r>
                      <a:endParaRPr sz="1100" dirty="0">
                        <a:solidFill>
                          <a:schemeClr val="tx1"/>
                        </a:solidFill>
                        <a:latin typeface="微软雅黑" panose="020B0503020204020204" pitchFamily="34" charset="-122"/>
                        <a:cs typeface="微软雅黑" panose="020B0503020204020204" pitchFamily="34" charset="-122"/>
                      </a:endParaRPr>
                    </a:p>
                  </a:txBody>
                  <a:tcPr marL="0" marR="0" marT="635" marB="0" anchor="ctr">
                    <a:solidFill>
                      <a:schemeClr val="bg1"/>
                    </a:solidFill>
                  </a:tcPr>
                </a:tc>
                <a:tc>
                  <a:txBody>
                    <a:bodyPr/>
                    <a:lstStyle/>
                    <a:p>
                      <a:pPr algn="ctr">
                        <a:lnSpc>
                          <a:spcPct val="100000"/>
                        </a:lnSpc>
                      </a:pPr>
                      <a:r>
                        <a:rPr lang="en-US" sz="1100" dirty="0">
                          <a:solidFill>
                            <a:schemeClr val="bg1"/>
                          </a:solidFill>
                          <a:latin typeface="微软雅黑" panose="020B0503020204020204" pitchFamily="34" charset="-122"/>
                          <a:cs typeface="微软雅黑" panose="020B0503020204020204" pitchFamily="34" charset="-122"/>
                        </a:rPr>
                        <a:t>45.55%</a:t>
                      </a:r>
                      <a:endParaRPr sz="1100" dirty="0">
                        <a:solidFill>
                          <a:schemeClr val="bg1"/>
                        </a:solidFill>
                        <a:latin typeface="微软雅黑" panose="020B0503020204020204" pitchFamily="34" charset="-122"/>
                        <a:cs typeface="微软雅黑" panose="020B0503020204020204" pitchFamily="34" charset="-122"/>
                      </a:endParaRPr>
                    </a:p>
                  </a:txBody>
                  <a:tcPr marL="0" marR="0" marT="635" marB="0" anchor="ctr">
                    <a:solidFill>
                      <a:srgbClr val="E46C6C"/>
                    </a:solidFill>
                  </a:tcPr>
                </a:tc>
                <a:extLst>
                  <a:ext uri="{0D108BD9-81ED-4DB2-BD59-A6C34878D82A}">
                    <a16:rowId xmlns:a16="http://schemas.microsoft.com/office/drawing/2014/main" xmlns="" val="10004"/>
                  </a:ext>
                </a:extLst>
              </a:tr>
              <a:tr h="660049">
                <a:tc>
                  <a:txBody>
                    <a:bodyPr/>
                    <a:lstStyle/>
                    <a:p>
                      <a:pPr>
                        <a:lnSpc>
                          <a:spcPct val="100000"/>
                        </a:lnSpc>
                        <a:spcBef>
                          <a:spcPts val="15"/>
                        </a:spcBef>
                      </a:pPr>
                      <a:endParaRPr sz="1600" dirty="0">
                        <a:solidFill>
                          <a:srgbClr val="002060"/>
                        </a:solidFill>
                        <a:latin typeface="Times New Roman" panose="02020603050405020304"/>
                        <a:cs typeface="Times New Roman" panose="02020603050405020304"/>
                      </a:endParaRPr>
                    </a:p>
                    <a:p>
                      <a:pPr algn="ctr">
                        <a:lnSpc>
                          <a:spcPct val="100000"/>
                        </a:lnSpc>
                      </a:pPr>
                      <a:r>
                        <a:rPr sz="1100" b="1" dirty="0">
                          <a:solidFill>
                            <a:srgbClr val="002060"/>
                          </a:solidFill>
                          <a:latin typeface="微软雅黑" panose="020B0503020204020204" pitchFamily="34" charset="-122"/>
                          <a:cs typeface="微软雅黑" panose="020B0503020204020204" pitchFamily="34" charset="-122"/>
                        </a:rPr>
                        <a:t>中证全指</a:t>
                      </a:r>
                      <a:endParaRPr sz="1100" dirty="0">
                        <a:solidFill>
                          <a:srgbClr val="002060"/>
                        </a:solidFill>
                        <a:latin typeface="微软雅黑" panose="020B0503020204020204" pitchFamily="34" charset="-122"/>
                        <a:cs typeface="微软雅黑" panose="020B0503020204020204" pitchFamily="34" charset="-122"/>
                      </a:endParaRPr>
                    </a:p>
                  </a:txBody>
                  <a:tcPr marL="0" marR="0" marT="1905" marB="0">
                    <a:lnB w="12700">
                      <a:solidFill>
                        <a:srgbClr val="393838"/>
                      </a:solidFill>
                      <a:prstDash val="solid"/>
                    </a:lnB>
                    <a:solidFill>
                      <a:srgbClr val="F7F7F7"/>
                    </a:solidFill>
                  </a:tcPr>
                </a:tc>
                <a:tc>
                  <a:txBody>
                    <a:bodyPr/>
                    <a:lstStyle/>
                    <a:p>
                      <a:pPr marL="635" algn="ctr">
                        <a:lnSpc>
                          <a:spcPct val="100000"/>
                        </a:lnSpc>
                      </a:pPr>
                      <a:r>
                        <a:rPr sz="1100" spc="-5" dirty="0">
                          <a:latin typeface="微软雅黑" panose="020B0503020204020204" pitchFamily="34" charset="-122"/>
                          <a:cs typeface="微软雅黑" panose="020B0503020204020204" pitchFamily="34" charset="-122"/>
                        </a:rPr>
                        <a:t>2.34%</a:t>
                      </a:r>
                      <a:endParaRPr sz="1100" dirty="0">
                        <a:latin typeface="微软雅黑" panose="020B0503020204020204" pitchFamily="34" charset="-122"/>
                        <a:cs typeface="微软雅黑" panose="020B0503020204020204" pitchFamily="34" charset="-122"/>
                      </a:endParaRPr>
                    </a:p>
                  </a:txBody>
                  <a:tcPr marL="0" marR="0" marT="635" marB="0" anchor="ctr">
                    <a:lnB w="12700">
                      <a:solidFill>
                        <a:srgbClr val="393838"/>
                      </a:solidFill>
                      <a:prstDash val="solid"/>
                    </a:lnB>
                    <a:solidFill>
                      <a:srgbClr val="F7F7F7"/>
                    </a:solidFill>
                  </a:tcPr>
                </a:tc>
                <a:tc>
                  <a:txBody>
                    <a:bodyPr/>
                    <a:lstStyle/>
                    <a:p>
                      <a:pPr marR="7620" algn="ctr">
                        <a:lnSpc>
                          <a:spcPct val="100000"/>
                        </a:lnSpc>
                      </a:pPr>
                      <a:r>
                        <a:rPr sz="1100" spc="-5" dirty="0">
                          <a:latin typeface="微软雅黑" panose="020B0503020204020204" pitchFamily="34" charset="-122"/>
                          <a:cs typeface="微软雅黑" panose="020B0503020204020204" pitchFamily="34" charset="-122"/>
                        </a:rPr>
                        <a:t>-29.94%</a:t>
                      </a:r>
                      <a:endParaRPr sz="1100" dirty="0">
                        <a:latin typeface="微软雅黑" panose="020B0503020204020204" pitchFamily="34" charset="-122"/>
                        <a:cs typeface="微软雅黑" panose="020B0503020204020204" pitchFamily="34" charset="-122"/>
                      </a:endParaRPr>
                    </a:p>
                  </a:txBody>
                  <a:tcPr marL="0" marR="0" marT="635" marB="0" anchor="ctr">
                    <a:lnB w="12700">
                      <a:solidFill>
                        <a:srgbClr val="393838"/>
                      </a:solidFill>
                      <a:prstDash val="solid"/>
                    </a:lnB>
                    <a:solidFill>
                      <a:srgbClr val="F7F7F7"/>
                    </a:solidFill>
                  </a:tcPr>
                </a:tc>
                <a:tc>
                  <a:txBody>
                    <a:bodyPr/>
                    <a:lstStyle/>
                    <a:p>
                      <a:pPr marR="8890" algn="ctr">
                        <a:lnSpc>
                          <a:spcPct val="100000"/>
                        </a:lnSpc>
                      </a:pPr>
                      <a:r>
                        <a:rPr sz="1100" spc="-5" dirty="0">
                          <a:latin typeface="微软雅黑" panose="020B0503020204020204" pitchFamily="34" charset="-122"/>
                          <a:cs typeface="微软雅黑" panose="020B0503020204020204" pitchFamily="34" charset="-122"/>
                        </a:rPr>
                        <a:t>31.11%</a:t>
                      </a:r>
                      <a:endParaRPr sz="1100" dirty="0">
                        <a:latin typeface="微软雅黑" panose="020B0503020204020204" pitchFamily="34" charset="-122"/>
                        <a:cs typeface="微软雅黑" panose="020B0503020204020204" pitchFamily="34" charset="-122"/>
                      </a:endParaRPr>
                    </a:p>
                  </a:txBody>
                  <a:tcPr marL="0" marR="0" marT="635" marB="0" anchor="ctr">
                    <a:lnB w="12700">
                      <a:solidFill>
                        <a:srgbClr val="393838"/>
                      </a:solidFill>
                      <a:prstDash val="solid"/>
                    </a:lnB>
                    <a:solidFill>
                      <a:srgbClr val="F7F7F7"/>
                    </a:solidFill>
                  </a:tcPr>
                </a:tc>
                <a:tc>
                  <a:txBody>
                    <a:bodyPr/>
                    <a:lstStyle/>
                    <a:p>
                      <a:pPr algn="ctr">
                        <a:lnSpc>
                          <a:spcPct val="100000"/>
                        </a:lnSpc>
                      </a:pPr>
                      <a:r>
                        <a:rPr sz="1100" spc="-5" dirty="0">
                          <a:latin typeface="微软雅黑" panose="020B0503020204020204" pitchFamily="34" charset="-122"/>
                          <a:cs typeface="微软雅黑" panose="020B0503020204020204" pitchFamily="34" charset="-122"/>
                        </a:rPr>
                        <a:t>24.92%</a:t>
                      </a:r>
                      <a:endParaRPr sz="1100" dirty="0">
                        <a:latin typeface="微软雅黑" panose="020B0503020204020204" pitchFamily="34" charset="-122"/>
                        <a:cs typeface="微软雅黑" panose="020B0503020204020204" pitchFamily="34" charset="-122"/>
                      </a:endParaRPr>
                    </a:p>
                  </a:txBody>
                  <a:tcPr marL="0" marR="0" marT="635" marB="0" anchor="ctr">
                    <a:lnB w="12700">
                      <a:solidFill>
                        <a:srgbClr val="393838"/>
                      </a:solidFill>
                      <a:prstDash val="solid"/>
                    </a:lnB>
                    <a:solidFill>
                      <a:srgbClr val="F7F7F7"/>
                    </a:solidFill>
                  </a:tcPr>
                </a:tc>
                <a:tc>
                  <a:txBody>
                    <a:bodyPr/>
                    <a:lstStyle/>
                    <a:p>
                      <a:pPr marL="17145" algn="ctr">
                        <a:lnSpc>
                          <a:spcPct val="100000"/>
                        </a:lnSpc>
                      </a:pPr>
                      <a:r>
                        <a:rPr sz="1100" spc="-5" dirty="0">
                          <a:latin typeface="微软雅黑" panose="020B0503020204020204" pitchFamily="34" charset="-122"/>
                          <a:cs typeface="微软雅黑" panose="020B0503020204020204" pitchFamily="34" charset="-122"/>
                        </a:rPr>
                        <a:t>6.19%</a:t>
                      </a:r>
                      <a:endParaRPr sz="1100" dirty="0">
                        <a:latin typeface="微软雅黑" panose="020B0503020204020204" pitchFamily="34" charset="-122"/>
                        <a:cs typeface="微软雅黑" panose="020B0503020204020204" pitchFamily="34" charset="-122"/>
                      </a:endParaRPr>
                    </a:p>
                  </a:txBody>
                  <a:tcPr marL="0" marR="0" marT="635" marB="0" anchor="ctr">
                    <a:lnB w="12700">
                      <a:solidFill>
                        <a:srgbClr val="393838"/>
                      </a:solidFill>
                      <a:prstDash val="solid"/>
                    </a:lnB>
                    <a:solidFill>
                      <a:srgbClr val="F7F7F7"/>
                    </a:solidFill>
                  </a:tcPr>
                </a:tc>
                <a:tc>
                  <a:txBody>
                    <a:bodyPr/>
                    <a:lstStyle/>
                    <a:p>
                      <a:pPr marL="17145" algn="ctr">
                        <a:lnSpc>
                          <a:spcPct val="100000"/>
                        </a:lnSpc>
                      </a:pPr>
                      <a:r>
                        <a:rPr sz="1100" spc="-5" dirty="0">
                          <a:latin typeface="微软雅黑" panose="020B0503020204020204" pitchFamily="34" charset="-122"/>
                          <a:cs typeface="微软雅黑" panose="020B0503020204020204" pitchFamily="34" charset="-122"/>
                        </a:rPr>
                        <a:t>-20.32%</a:t>
                      </a:r>
                      <a:endParaRPr sz="1100" dirty="0">
                        <a:latin typeface="微软雅黑" panose="020B0503020204020204" pitchFamily="34" charset="-122"/>
                        <a:cs typeface="微软雅黑" panose="020B0503020204020204" pitchFamily="34" charset="-122"/>
                      </a:endParaRPr>
                    </a:p>
                  </a:txBody>
                  <a:tcPr marL="0" marR="0" marT="635" marB="0" anchor="ctr">
                    <a:lnB w="12700">
                      <a:solidFill>
                        <a:srgbClr val="393838"/>
                      </a:solidFill>
                      <a:prstDash val="solid"/>
                    </a:lnB>
                    <a:solidFill>
                      <a:srgbClr val="F7F7F7"/>
                    </a:solidFill>
                  </a:tcPr>
                </a:tc>
                <a:tc>
                  <a:txBody>
                    <a:bodyPr/>
                    <a:lstStyle/>
                    <a:p>
                      <a:pPr algn="ctr">
                        <a:lnSpc>
                          <a:spcPct val="100000"/>
                        </a:lnSpc>
                      </a:pPr>
                      <a:r>
                        <a:rPr sz="1050" dirty="0">
                          <a:latin typeface="微软雅黑" panose="020B0503020204020204" pitchFamily="34" charset="-122"/>
                          <a:cs typeface="微软雅黑" panose="020B0503020204020204" pitchFamily="34" charset="-122"/>
                        </a:rPr>
                        <a:t>-7.04%</a:t>
                      </a:r>
                    </a:p>
                  </a:txBody>
                  <a:tcPr marL="0" marR="0" marT="0" marB="0" anchor="ctr">
                    <a:lnB w="12700">
                      <a:solidFill>
                        <a:srgbClr val="393838"/>
                      </a:solidFill>
                      <a:prstDash val="solid"/>
                    </a:lnB>
                    <a:solidFill>
                      <a:srgbClr val="F7F7F7"/>
                    </a:solidFill>
                  </a:tcPr>
                </a:tc>
                <a:tc>
                  <a:txBody>
                    <a:bodyPr/>
                    <a:lstStyle/>
                    <a:p>
                      <a:pPr algn="ctr">
                        <a:lnSpc>
                          <a:spcPct val="100000"/>
                        </a:lnSpc>
                      </a:pPr>
                      <a:r>
                        <a:rPr lang="en-US" sz="1050" dirty="0">
                          <a:latin typeface="微软雅黑" panose="020B0503020204020204" pitchFamily="34" charset="-122"/>
                          <a:cs typeface="微软雅黑" panose="020B0503020204020204" pitchFamily="34" charset="-122"/>
                        </a:rPr>
                        <a:t>7.43</a:t>
                      </a:r>
                      <a:r>
                        <a:rPr sz="1050" dirty="0">
                          <a:latin typeface="微软雅黑" panose="020B0503020204020204" pitchFamily="34" charset="-122"/>
                          <a:cs typeface="微软雅黑" panose="020B0503020204020204" pitchFamily="34" charset="-122"/>
                        </a:rPr>
                        <a:t>%</a:t>
                      </a:r>
                    </a:p>
                  </a:txBody>
                  <a:tcPr marL="0" marR="0" marT="0" marB="0" anchor="ctr">
                    <a:lnB w="12700">
                      <a:solidFill>
                        <a:srgbClr val="393838"/>
                      </a:solidFill>
                      <a:prstDash val="solid"/>
                    </a:lnB>
                    <a:solidFill>
                      <a:srgbClr val="F7F7F7"/>
                    </a:solidFill>
                  </a:tcPr>
                </a:tc>
                <a:tc>
                  <a:txBody>
                    <a:bodyPr/>
                    <a:lstStyle/>
                    <a:p>
                      <a:pPr algn="ctr">
                        <a:lnSpc>
                          <a:spcPct val="100000"/>
                        </a:lnSpc>
                      </a:pPr>
                      <a:r>
                        <a:rPr lang="en-US" sz="1050" dirty="0">
                          <a:latin typeface="微软雅黑" panose="020B0503020204020204" pitchFamily="34" charset="-122"/>
                          <a:cs typeface="微软雅黑" panose="020B0503020204020204" pitchFamily="34" charset="-122"/>
                        </a:rPr>
                        <a:t>24.60%</a:t>
                      </a:r>
                      <a:endParaRPr sz="1050" dirty="0">
                        <a:latin typeface="微软雅黑" panose="020B0503020204020204" pitchFamily="34" charset="-122"/>
                        <a:cs typeface="微软雅黑" panose="020B0503020204020204" pitchFamily="34" charset="-122"/>
                      </a:endParaRPr>
                    </a:p>
                  </a:txBody>
                  <a:tcPr marL="0" marR="0" marT="0" marB="0" anchor="ctr">
                    <a:lnB w="12700">
                      <a:solidFill>
                        <a:srgbClr val="393838"/>
                      </a:solidFill>
                      <a:prstDash val="solid"/>
                    </a:lnB>
                    <a:solidFill>
                      <a:srgbClr val="F7F7F7"/>
                    </a:solidFill>
                  </a:tcPr>
                </a:tc>
                <a:extLst>
                  <a:ext uri="{0D108BD9-81ED-4DB2-BD59-A6C34878D82A}">
                    <a16:rowId xmlns:a16="http://schemas.microsoft.com/office/drawing/2014/main" xmlns="" val="10005"/>
                  </a:ext>
                </a:extLst>
              </a:tr>
            </a:tbl>
          </a:graphicData>
        </a:graphic>
      </p:graphicFrame>
      <p:grpSp>
        <p:nvGrpSpPr>
          <p:cNvPr id="5" name="object 5"/>
          <p:cNvGrpSpPr/>
          <p:nvPr/>
        </p:nvGrpSpPr>
        <p:grpSpPr>
          <a:xfrm>
            <a:off x="7628345" y="1866507"/>
            <a:ext cx="3895725" cy="3532504"/>
            <a:chOff x="7447109" y="1866507"/>
            <a:chExt cx="3895725" cy="3532504"/>
          </a:xfrm>
        </p:grpSpPr>
        <p:sp>
          <p:nvSpPr>
            <p:cNvPr id="6" name="object 6"/>
            <p:cNvSpPr/>
            <p:nvPr/>
          </p:nvSpPr>
          <p:spPr>
            <a:xfrm>
              <a:off x="8745616" y="1866507"/>
              <a:ext cx="0" cy="3532504"/>
            </a:xfrm>
            <a:custGeom>
              <a:avLst/>
              <a:gdLst/>
              <a:ahLst/>
              <a:cxnLst/>
              <a:rect l="l" t="t" r="r" b="b"/>
              <a:pathLst>
                <a:path h="3532504">
                  <a:moveTo>
                    <a:pt x="0" y="0"/>
                  </a:moveTo>
                  <a:lnTo>
                    <a:pt x="0" y="3532504"/>
                  </a:lnTo>
                </a:path>
              </a:pathLst>
            </a:custGeom>
            <a:ln w="3175">
              <a:solidFill>
                <a:srgbClr val="BEBEBE"/>
              </a:solidFill>
            </a:ln>
          </p:spPr>
          <p:txBody>
            <a:bodyPr wrap="square" lIns="0" tIns="0" rIns="0" bIns="0" rtlCol="0"/>
            <a:lstStyle/>
            <a:p>
              <a:endParaRPr/>
            </a:p>
          </p:txBody>
        </p:sp>
        <p:sp>
          <p:nvSpPr>
            <p:cNvPr id="7" name="object 7"/>
            <p:cNvSpPr/>
            <p:nvPr/>
          </p:nvSpPr>
          <p:spPr>
            <a:xfrm>
              <a:off x="10044121" y="1866507"/>
              <a:ext cx="0" cy="3532504"/>
            </a:xfrm>
            <a:custGeom>
              <a:avLst/>
              <a:gdLst/>
              <a:ahLst/>
              <a:cxnLst/>
              <a:rect l="l" t="t" r="r" b="b"/>
              <a:pathLst>
                <a:path h="3532504">
                  <a:moveTo>
                    <a:pt x="0" y="0"/>
                  </a:moveTo>
                  <a:lnTo>
                    <a:pt x="0" y="3532504"/>
                  </a:lnTo>
                </a:path>
              </a:pathLst>
            </a:custGeom>
            <a:ln w="3175">
              <a:solidFill>
                <a:srgbClr val="BEBEBE"/>
              </a:solidFill>
            </a:ln>
          </p:spPr>
          <p:txBody>
            <a:bodyPr wrap="square" lIns="0" tIns="0" rIns="0" bIns="0" rtlCol="0"/>
            <a:lstStyle/>
            <a:p>
              <a:endParaRPr/>
            </a:p>
          </p:txBody>
        </p:sp>
        <p:sp>
          <p:nvSpPr>
            <p:cNvPr id="8" name="object 8"/>
            <p:cNvSpPr/>
            <p:nvPr/>
          </p:nvSpPr>
          <p:spPr>
            <a:xfrm>
              <a:off x="7447109" y="3041891"/>
              <a:ext cx="3895725" cy="0"/>
            </a:xfrm>
            <a:custGeom>
              <a:avLst/>
              <a:gdLst/>
              <a:ahLst/>
              <a:cxnLst/>
              <a:rect l="l" t="t" r="r" b="b"/>
              <a:pathLst>
                <a:path w="3895725">
                  <a:moveTo>
                    <a:pt x="0" y="0"/>
                  </a:moveTo>
                  <a:lnTo>
                    <a:pt x="3895521" y="0"/>
                  </a:lnTo>
                </a:path>
              </a:pathLst>
            </a:custGeom>
            <a:ln w="3175">
              <a:solidFill>
                <a:srgbClr val="BEBEBE"/>
              </a:solidFill>
            </a:ln>
          </p:spPr>
          <p:txBody>
            <a:bodyPr wrap="square" lIns="0" tIns="0" rIns="0" bIns="0" rtlCol="0"/>
            <a:lstStyle/>
            <a:p>
              <a:endParaRPr/>
            </a:p>
          </p:txBody>
        </p:sp>
        <p:sp>
          <p:nvSpPr>
            <p:cNvPr id="9" name="object 9"/>
            <p:cNvSpPr/>
            <p:nvPr/>
          </p:nvSpPr>
          <p:spPr>
            <a:xfrm>
              <a:off x="7447109" y="4217276"/>
              <a:ext cx="3895725" cy="0"/>
            </a:xfrm>
            <a:custGeom>
              <a:avLst/>
              <a:gdLst/>
              <a:ahLst/>
              <a:cxnLst/>
              <a:rect l="l" t="t" r="r" b="b"/>
              <a:pathLst>
                <a:path w="3895725">
                  <a:moveTo>
                    <a:pt x="0" y="0"/>
                  </a:moveTo>
                  <a:lnTo>
                    <a:pt x="3895521" y="0"/>
                  </a:lnTo>
                </a:path>
              </a:pathLst>
            </a:custGeom>
            <a:ln w="3175">
              <a:solidFill>
                <a:srgbClr val="BEBEBE"/>
              </a:solidFill>
            </a:ln>
          </p:spPr>
          <p:txBody>
            <a:bodyPr wrap="square" lIns="0" tIns="0" rIns="0" bIns="0" rtlCol="0"/>
            <a:lstStyle/>
            <a:p>
              <a:endParaRPr/>
            </a:p>
          </p:txBody>
        </p:sp>
        <p:sp>
          <p:nvSpPr>
            <p:cNvPr id="10" name="object 10"/>
            <p:cNvSpPr/>
            <p:nvPr/>
          </p:nvSpPr>
          <p:spPr>
            <a:xfrm>
              <a:off x="7447109" y="5392660"/>
              <a:ext cx="3895725" cy="0"/>
            </a:xfrm>
            <a:custGeom>
              <a:avLst/>
              <a:gdLst/>
              <a:ahLst/>
              <a:cxnLst/>
              <a:rect l="l" t="t" r="r" b="b"/>
              <a:pathLst>
                <a:path w="3895725">
                  <a:moveTo>
                    <a:pt x="0" y="0"/>
                  </a:moveTo>
                  <a:lnTo>
                    <a:pt x="3895521" y="0"/>
                  </a:lnTo>
                </a:path>
              </a:pathLst>
            </a:custGeom>
            <a:ln w="12700">
              <a:solidFill>
                <a:srgbClr val="2C2A2A"/>
              </a:solidFill>
            </a:ln>
          </p:spPr>
          <p:txBody>
            <a:bodyPr wrap="square" lIns="0" tIns="0" rIns="0" bIns="0" rtlCol="0"/>
            <a:lstStyle/>
            <a:p>
              <a:endParaRPr/>
            </a:p>
          </p:txBody>
        </p:sp>
        <p:sp>
          <p:nvSpPr>
            <p:cNvPr id="11" name="object 11"/>
            <p:cNvSpPr/>
            <p:nvPr/>
          </p:nvSpPr>
          <p:spPr>
            <a:xfrm>
              <a:off x="7456931" y="1952244"/>
              <a:ext cx="1300480" cy="1138555"/>
            </a:xfrm>
            <a:custGeom>
              <a:avLst/>
              <a:gdLst/>
              <a:ahLst/>
              <a:cxnLst/>
              <a:rect l="l" t="t" r="r" b="b"/>
              <a:pathLst>
                <a:path w="1300479" h="1138555">
                  <a:moveTo>
                    <a:pt x="1299972" y="0"/>
                  </a:moveTo>
                  <a:lnTo>
                    <a:pt x="0" y="0"/>
                  </a:lnTo>
                  <a:lnTo>
                    <a:pt x="0" y="1138427"/>
                  </a:lnTo>
                  <a:lnTo>
                    <a:pt x="1299972" y="1138427"/>
                  </a:lnTo>
                  <a:lnTo>
                    <a:pt x="1299972" y="0"/>
                  </a:lnTo>
                  <a:close/>
                </a:path>
              </a:pathLst>
            </a:custGeom>
            <a:solidFill>
              <a:srgbClr val="02578A">
                <a:alpha val="70195"/>
              </a:srgbClr>
            </a:solidFill>
          </p:spPr>
          <p:txBody>
            <a:bodyPr wrap="square" lIns="0" tIns="0" rIns="0" bIns="0" rtlCol="0"/>
            <a:lstStyle/>
            <a:p>
              <a:endParaRPr/>
            </a:p>
          </p:txBody>
        </p:sp>
        <p:sp>
          <p:nvSpPr>
            <p:cNvPr id="12" name="object 12"/>
            <p:cNvSpPr/>
            <p:nvPr/>
          </p:nvSpPr>
          <p:spPr>
            <a:xfrm>
              <a:off x="10047732" y="4233672"/>
              <a:ext cx="1289685" cy="1149350"/>
            </a:xfrm>
            <a:custGeom>
              <a:avLst/>
              <a:gdLst/>
              <a:ahLst/>
              <a:cxnLst/>
              <a:rect l="l" t="t" r="r" b="b"/>
              <a:pathLst>
                <a:path w="1289684" h="1149350">
                  <a:moveTo>
                    <a:pt x="1289303" y="0"/>
                  </a:moveTo>
                  <a:lnTo>
                    <a:pt x="0" y="0"/>
                  </a:lnTo>
                  <a:lnTo>
                    <a:pt x="0" y="1149096"/>
                  </a:lnTo>
                  <a:lnTo>
                    <a:pt x="1289303" y="1149096"/>
                  </a:lnTo>
                  <a:lnTo>
                    <a:pt x="1289303" y="0"/>
                  </a:lnTo>
                  <a:close/>
                </a:path>
              </a:pathLst>
            </a:custGeom>
            <a:solidFill>
              <a:srgbClr val="86C4EA">
                <a:alpha val="70195"/>
              </a:srgbClr>
            </a:solidFill>
          </p:spPr>
          <p:txBody>
            <a:bodyPr wrap="square" lIns="0" tIns="0" rIns="0" bIns="0" rtlCol="0"/>
            <a:lstStyle/>
            <a:p>
              <a:endParaRPr/>
            </a:p>
          </p:txBody>
        </p:sp>
        <p:sp>
          <p:nvSpPr>
            <p:cNvPr id="13" name="object 13"/>
            <p:cNvSpPr/>
            <p:nvPr/>
          </p:nvSpPr>
          <p:spPr>
            <a:xfrm>
              <a:off x="8321039" y="2712719"/>
              <a:ext cx="1300480" cy="1138555"/>
            </a:xfrm>
            <a:custGeom>
              <a:avLst/>
              <a:gdLst/>
              <a:ahLst/>
              <a:cxnLst/>
              <a:rect l="l" t="t" r="r" b="b"/>
              <a:pathLst>
                <a:path w="1300479" h="1138554">
                  <a:moveTo>
                    <a:pt x="1299972" y="0"/>
                  </a:moveTo>
                  <a:lnTo>
                    <a:pt x="0" y="0"/>
                  </a:lnTo>
                  <a:lnTo>
                    <a:pt x="0" y="1138427"/>
                  </a:lnTo>
                  <a:lnTo>
                    <a:pt x="1299972" y="1138427"/>
                  </a:lnTo>
                  <a:lnTo>
                    <a:pt x="1299972" y="0"/>
                  </a:lnTo>
                  <a:close/>
                </a:path>
              </a:pathLst>
            </a:custGeom>
            <a:solidFill>
              <a:srgbClr val="317CAD">
                <a:alpha val="70195"/>
              </a:srgbClr>
            </a:solidFill>
          </p:spPr>
          <p:txBody>
            <a:bodyPr wrap="square" lIns="0" tIns="0" rIns="0" bIns="0" rtlCol="0"/>
            <a:lstStyle/>
            <a:p>
              <a:endParaRPr/>
            </a:p>
          </p:txBody>
        </p:sp>
        <p:sp>
          <p:nvSpPr>
            <p:cNvPr id="14" name="object 14"/>
            <p:cNvSpPr/>
            <p:nvPr/>
          </p:nvSpPr>
          <p:spPr>
            <a:xfrm>
              <a:off x="9183623" y="3473196"/>
              <a:ext cx="1300480" cy="1140460"/>
            </a:xfrm>
            <a:custGeom>
              <a:avLst/>
              <a:gdLst/>
              <a:ahLst/>
              <a:cxnLst/>
              <a:rect l="l" t="t" r="r" b="b"/>
              <a:pathLst>
                <a:path w="1300479" h="1140460">
                  <a:moveTo>
                    <a:pt x="1299972" y="0"/>
                  </a:moveTo>
                  <a:lnTo>
                    <a:pt x="0" y="0"/>
                  </a:lnTo>
                  <a:lnTo>
                    <a:pt x="0" y="1139952"/>
                  </a:lnTo>
                  <a:lnTo>
                    <a:pt x="1299972" y="1139952"/>
                  </a:lnTo>
                  <a:lnTo>
                    <a:pt x="1299972" y="0"/>
                  </a:lnTo>
                  <a:close/>
                </a:path>
              </a:pathLst>
            </a:custGeom>
            <a:solidFill>
              <a:srgbClr val="B9E0F8">
                <a:alpha val="70195"/>
              </a:srgbClr>
            </a:solidFill>
          </p:spPr>
          <p:txBody>
            <a:bodyPr wrap="square" lIns="0" tIns="0" rIns="0" bIns="0" rtlCol="0"/>
            <a:lstStyle/>
            <a:p>
              <a:endParaRPr/>
            </a:p>
          </p:txBody>
        </p:sp>
      </p:grpSp>
      <p:sp>
        <p:nvSpPr>
          <p:cNvPr id="15" name="object 15"/>
          <p:cNvSpPr txBox="1"/>
          <p:nvPr/>
        </p:nvSpPr>
        <p:spPr>
          <a:xfrm>
            <a:off x="7051281" y="2343963"/>
            <a:ext cx="3302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317CAD"/>
                </a:solidFill>
                <a:latin typeface="微软雅黑" panose="020B0503020204020204" pitchFamily="34" charset="-122"/>
                <a:cs typeface="微软雅黑" panose="020B0503020204020204" pitchFamily="34" charset="-122"/>
              </a:rPr>
              <a:t>大盘</a:t>
            </a:r>
            <a:endParaRPr sz="1200">
              <a:latin typeface="微软雅黑" panose="020B0503020204020204" pitchFamily="34" charset="-122"/>
              <a:cs typeface="微软雅黑" panose="020B0503020204020204" pitchFamily="34" charset="-122"/>
            </a:endParaRPr>
          </a:p>
        </p:txBody>
      </p:sp>
      <p:sp>
        <p:nvSpPr>
          <p:cNvPr id="16" name="object 16"/>
          <p:cNvSpPr txBox="1"/>
          <p:nvPr/>
        </p:nvSpPr>
        <p:spPr>
          <a:xfrm>
            <a:off x="7051281" y="3519272"/>
            <a:ext cx="3302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317CAD"/>
                </a:solidFill>
                <a:latin typeface="微软雅黑" panose="020B0503020204020204" pitchFamily="34" charset="-122"/>
                <a:cs typeface="微软雅黑" panose="020B0503020204020204" pitchFamily="34" charset="-122"/>
              </a:rPr>
              <a:t>中盘</a:t>
            </a:r>
            <a:endParaRPr sz="1200">
              <a:latin typeface="微软雅黑" panose="020B0503020204020204" pitchFamily="34" charset="-122"/>
              <a:cs typeface="微软雅黑" panose="020B0503020204020204" pitchFamily="34" charset="-122"/>
            </a:endParaRPr>
          </a:p>
        </p:txBody>
      </p:sp>
      <p:sp>
        <p:nvSpPr>
          <p:cNvPr id="17" name="object 17"/>
          <p:cNvSpPr txBox="1"/>
          <p:nvPr/>
        </p:nvSpPr>
        <p:spPr>
          <a:xfrm>
            <a:off x="7051281" y="4694733"/>
            <a:ext cx="3302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317CAD"/>
                </a:solidFill>
                <a:latin typeface="微软雅黑" panose="020B0503020204020204" pitchFamily="34" charset="-122"/>
                <a:cs typeface="微软雅黑" panose="020B0503020204020204" pitchFamily="34" charset="-122"/>
              </a:rPr>
              <a:t>小盘</a:t>
            </a:r>
            <a:endParaRPr sz="1200">
              <a:latin typeface="微软雅黑" panose="020B0503020204020204" pitchFamily="34" charset="-122"/>
              <a:cs typeface="微软雅黑" panose="020B0503020204020204" pitchFamily="34" charset="-122"/>
            </a:endParaRPr>
          </a:p>
        </p:txBody>
      </p:sp>
      <p:sp>
        <p:nvSpPr>
          <p:cNvPr id="18" name="object 18"/>
          <p:cNvSpPr txBox="1"/>
          <p:nvPr/>
        </p:nvSpPr>
        <p:spPr>
          <a:xfrm>
            <a:off x="8112137" y="5609439"/>
            <a:ext cx="2927350" cy="208279"/>
          </a:xfrm>
          <a:prstGeom prst="rect">
            <a:avLst/>
          </a:prstGeom>
        </p:spPr>
        <p:txBody>
          <a:bodyPr vert="horz" wrap="square" lIns="0" tIns="12700" rIns="0" bIns="0" rtlCol="0">
            <a:spAutoFit/>
          </a:bodyPr>
          <a:lstStyle/>
          <a:p>
            <a:pPr marL="12700">
              <a:lnSpc>
                <a:spcPct val="100000"/>
              </a:lnSpc>
              <a:spcBef>
                <a:spcPts val="100"/>
              </a:spcBef>
              <a:tabLst>
                <a:tab pos="1310640" algn="l"/>
                <a:tab pos="2609215" algn="l"/>
              </a:tabLst>
            </a:pPr>
            <a:r>
              <a:rPr sz="1200" b="1" dirty="0">
                <a:solidFill>
                  <a:srgbClr val="317CAD"/>
                </a:solidFill>
                <a:latin typeface="微软雅黑" panose="020B0503020204020204" pitchFamily="34" charset="-122"/>
                <a:cs typeface="微软雅黑" panose="020B0503020204020204" pitchFamily="34" charset="-122"/>
              </a:rPr>
              <a:t>价值	平衡	成长</a:t>
            </a:r>
            <a:endParaRPr sz="1200">
              <a:latin typeface="微软雅黑" panose="020B0503020204020204" pitchFamily="34" charset="-122"/>
              <a:cs typeface="微软雅黑" panose="020B0503020204020204" pitchFamily="34" charset="-122"/>
            </a:endParaRPr>
          </a:p>
        </p:txBody>
      </p:sp>
      <p:sp>
        <p:nvSpPr>
          <p:cNvPr id="19" name="object 19"/>
          <p:cNvSpPr txBox="1"/>
          <p:nvPr/>
        </p:nvSpPr>
        <p:spPr>
          <a:xfrm>
            <a:off x="7497197" y="1477517"/>
            <a:ext cx="4363716" cy="4024819"/>
          </a:xfrm>
          <a:prstGeom prst="rect">
            <a:avLst/>
          </a:prstGeom>
          <a:ln w="34925">
            <a:solidFill>
              <a:srgbClr val="BC2020"/>
            </a:solidFill>
          </a:ln>
        </p:spPr>
        <p:txBody>
          <a:bodyPr vert="horz" wrap="square" lIns="0" tIns="120014" rIns="0" bIns="0" rtlCol="0">
            <a:spAutoFit/>
          </a:bodyPr>
          <a:lstStyle/>
          <a:p>
            <a:pPr marL="64135" algn="ctr">
              <a:lnSpc>
                <a:spcPct val="100000"/>
              </a:lnSpc>
              <a:spcBef>
                <a:spcPts val="945"/>
              </a:spcBef>
            </a:pPr>
            <a:r>
              <a:rPr sz="1800" b="1" dirty="0">
                <a:solidFill>
                  <a:srgbClr val="BC2020"/>
                </a:solidFill>
                <a:latin typeface="微软雅黑" panose="020B0503020204020204" pitchFamily="34" charset="-122"/>
                <a:cs typeface="微软雅黑" panose="020B0503020204020204" pitchFamily="34" charset="-122"/>
              </a:rPr>
              <a:t>中证全指</a:t>
            </a:r>
            <a:endParaRPr sz="1800" dirty="0">
              <a:latin typeface="微软雅黑" panose="020B0503020204020204" pitchFamily="34" charset="-122"/>
              <a:cs typeface="微软雅黑" panose="020B0503020204020204" pitchFamily="34" charset="-122"/>
            </a:endParaRPr>
          </a:p>
          <a:p>
            <a:pPr>
              <a:lnSpc>
                <a:spcPct val="100000"/>
              </a:lnSpc>
              <a:spcBef>
                <a:spcPts val="40"/>
              </a:spcBef>
            </a:pPr>
            <a:endParaRPr sz="2200" dirty="0">
              <a:latin typeface="微软雅黑" panose="020B0503020204020204" pitchFamily="34" charset="-122"/>
              <a:cs typeface="微软雅黑" panose="020B0503020204020204" pitchFamily="34" charset="-122"/>
            </a:endParaRPr>
          </a:p>
          <a:p>
            <a:pPr marL="619125">
              <a:lnSpc>
                <a:spcPct val="100000"/>
              </a:lnSpc>
              <a:spcBef>
                <a:spcPts val="5"/>
              </a:spcBef>
            </a:pPr>
            <a:r>
              <a:rPr sz="1400" b="1" spc="-5" dirty="0">
                <a:solidFill>
                  <a:srgbClr val="FFFFFF"/>
                </a:solidFill>
                <a:latin typeface="微软雅黑" panose="020B0503020204020204" pitchFamily="34" charset="-122"/>
                <a:cs typeface="微软雅黑" panose="020B0503020204020204" pitchFamily="34" charset="-122"/>
              </a:rPr>
              <a:t>300</a:t>
            </a:r>
            <a:endParaRPr sz="1400" dirty="0">
              <a:latin typeface="微软雅黑" panose="020B0503020204020204" pitchFamily="34" charset="-122"/>
              <a:cs typeface="微软雅黑" panose="020B0503020204020204" pitchFamily="34" charset="-122"/>
            </a:endParaRPr>
          </a:p>
          <a:p>
            <a:pPr>
              <a:lnSpc>
                <a:spcPct val="100000"/>
              </a:lnSpc>
              <a:spcBef>
                <a:spcPts val="25"/>
              </a:spcBef>
            </a:pPr>
            <a:endParaRPr sz="2400" dirty="0">
              <a:latin typeface="微软雅黑" panose="020B0503020204020204" pitchFamily="34" charset="-122"/>
              <a:cs typeface="微软雅黑" panose="020B0503020204020204" pitchFamily="34" charset="-122"/>
            </a:endParaRPr>
          </a:p>
          <a:p>
            <a:pPr marR="835660" algn="ctr">
              <a:lnSpc>
                <a:spcPct val="100000"/>
              </a:lnSpc>
            </a:pPr>
            <a:r>
              <a:rPr sz="1400" b="1" spc="-5" dirty="0">
                <a:solidFill>
                  <a:srgbClr val="FFFFFF"/>
                </a:solidFill>
                <a:latin typeface="微软雅黑" panose="020B0503020204020204" pitchFamily="34" charset="-122"/>
                <a:cs typeface="微软雅黑" panose="020B0503020204020204" pitchFamily="34" charset="-122"/>
              </a:rPr>
              <a:t>500</a:t>
            </a:r>
            <a:endParaRPr sz="1400" dirty="0">
              <a:latin typeface="微软雅黑" panose="020B0503020204020204" pitchFamily="34" charset="-122"/>
              <a:cs typeface="微软雅黑" panose="020B0503020204020204" pitchFamily="34" charset="-122"/>
            </a:endParaRPr>
          </a:p>
          <a:p>
            <a:pPr>
              <a:lnSpc>
                <a:spcPct val="100000"/>
              </a:lnSpc>
              <a:spcBef>
                <a:spcPts val="60"/>
              </a:spcBef>
            </a:pPr>
            <a:endParaRPr sz="2300" dirty="0">
              <a:latin typeface="微软雅黑" panose="020B0503020204020204" pitchFamily="34" charset="-122"/>
              <a:cs typeface="微软雅黑" panose="020B0503020204020204" pitchFamily="34" charset="-122"/>
            </a:endParaRPr>
          </a:p>
          <a:p>
            <a:pPr marL="2338070">
              <a:lnSpc>
                <a:spcPct val="100000"/>
              </a:lnSpc>
            </a:pPr>
            <a:r>
              <a:rPr sz="1400" b="1" spc="-5" dirty="0">
                <a:solidFill>
                  <a:schemeClr val="accent1">
                    <a:lumMod val="75000"/>
                  </a:schemeClr>
                </a:solidFill>
                <a:latin typeface="微软雅黑" panose="020B0503020204020204" pitchFamily="34" charset="-122"/>
                <a:cs typeface="微软雅黑" panose="020B0503020204020204" pitchFamily="34" charset="-122"/>
              </a:rPr>
              <a:t>1000</a:t>
            </a:r>
            <a:endParaRPr sz="1400" dirty="0">
              <a:solidFill>
                <a:schemeClr val="accent1">
                  <a:lumMod val="75000"/>
                </a:schemeClr>
              </a:solidFill>
              <a:latin typeface="微软雅黑" panose="020B0503020204020204" pitchFamily="34" charset="-122"/>
              <a:cs typeface="微软雅黑" panose="020B0503020204020204" pitchFamily="34" charset="-122"/>
            </a:endParaRPr>
          </a:p>
          <a:p>
            <a:pPr>
              <a:lnSpc>
                <a:spcPct val="100000"/>
              </a:lnSpc>
              <a:spcBef>
                <a:spcPts val="60"/>
              </a:spcBef>
            </a:pPr>
            <a:endParaRPr sz="2500" dirty="0">
              <a:latin typeface="微软雅黑" panose="020B0503020204020204" pitchFamily="34" charset="-122"/>
              <a:cs typeface="微软雅黑" panose="020B0503020204020204" pitchFamily="34" charset="-122"/>
            </a:endParaRPr>
          </a:p>
          <a:p>
            <a:pPr marR="280670" algn="r">
              <a:lnSpc>
                <a:spcPct val="100000"/>
              </a:lnSpc>
            </a:pPr>
            <a:r>
              <a:rPr sz="1400" b="1" dirty="0" err="1">
                <a:solidFill>
                  <a:schemeClr val="accent1">
                    <a:lumMod val="50000"/>
                  </a:schemeClr>
                </a:solidFill>
                <a:latin typeface="微软雅黑" panose="020B0503020204020204" pitchFamily="34" charset="-122"/>
                <a:cs typeface="微软雅黑" panose="020B0503020204020204" pitchFamily="34" charset="-122"/>
              </a:rPr>
              <a:t>万得小市值</a:t>
            </a:r>
            <a:endParaRPr lang="en-US" sz="1400" b="1" dirty="0">
              <a:solidFill>
                <a:schemeClr val="accent1">
                  <a:lumMod val="50000"/>
                </a:schemeClr>
              </a:solidFill>
              <a:latin typeface="微软雅黑" panose="020B0503020204020204" pitchFamily="34" charset="-122"/>
              <a:cs typeface="微软雅黑" panose="020B0503020204020204" pitchFamily="34" charset="-122"/>
            </a:endParaRPr>
          </a:p>
          <a:p>
            <a:pPr marR="280670" algn="r">
              <a:lnSpc>
                <a:spcPct val="100000"/>
              </a:lnSpc>
            </a:pPr>
            <a:endParaRPr lang="en-US" sz="1400" b="1" dirty="0">
              <a:solidFill>
                <a:schemeClr val="accent1">
                  <a:lumMod val="50000"/>
                </a:schemeClr>
              </a:solidFill>
              <a:latin typeface="微软雅黑" panose="020B0503020204020204" pitchFamily="34" charset="-122"/>
              <a:cs typeface="微软雅黑" panose="020B0503020204020204" pitchFamily="34" charset="-122"/>
            </a:endParaRPr>
          </a:p>
          <a:p>
            <a:pPr marR="280670" algn="r">
              <a:lnSpc>
                <a:spcPct val="100000"/>
              </a:lnSpc>
            </a:pPr>
            <a:endParaRPr lang="en-US" sz="1400" b="1" dirty="0">
              <a:solidFill>
                <a:schemeClr val="accent1">
                  <a:lumMod val="50000"/>
                </a:schemeClr>
              </a:solidFill>
              <a:latin typeface="微软雅黑" panose="020B0503020204020204" pitchFamily="34" charset="-122"/>
              <a:cs typeface="微软雅黑" panose="020B0503020204020204" pitchFamily="34" charset="-122"/>
            </a:endParaRPr>
          </a:p>
          <a:p>
            <a:pPr marR="280670" algn="r">
              <a:lnSpc>
                <a:spcPct val="100000"/>
              </a:lnSpc>
            </a:pPr>
            <a:endParaRPr lang="en-US" sz="1400" b="1" dirty="0">
              <a:solidFill>
                <a:schemeClr val="accent1">
                  <a:lumMod val="50000"/>
                </a:schemeClr>
              </a:solidFill>
              <a:latin typeface="微软雅黑" panose="020B0503020204020204" pitchFamily="34" charset="-122"/>
              <a:cs typeface="微软雅黑" panose="020B0503020204020204" pitchFamily="34" charset="-122"/>
            </a:endParaRPr>
          </a:p>
          <a:p>
            <a:pPr marR="280670" algn="r">
              <a:lnSpc>
                <a:spcPct val="100000"/>
              </a:lnSpc>
            </a:pPr>
            <a:endParaRPr lang="en-US" sz="1400" b="1" dirty="0">
              <a:solidFill>
                <a:schemeClr val="accent1">
                  <a:lumMod val="50000"/>
                </a:schemeClr>
              </a:solidFill>
              <a:latin typeface="微软雅黑" panose="020B0503020204020204" pitchFamily="34" charset="-122"/>
              <a:cs typeface="微软雅黑" panose="020B0503020204020204" pitchFamily="34" charset="-122"/>
            </a:endParaRPr>
          </a:p>
          <a:p>
            <a:pPr marR="280670" algn="r">
              <a:lnSpc>
                <a:spcPct val="100000"/>
              </a:lnSpc>
            </a:pPr>
            <a:endParaRPr lang="en-US" sz="1400" b="1" dirty="0">
              <a:solidFill>
                <a:schemeClr val="accent1">
                  <a:lumMod val="50000"/>
                </a:schemeClr>
              </a:solidFill>
              <a:latin typeface="微软雅黑" panose="020B0503020204020204" pitchFamily="34" charset="-122"/>
              <a:cs typeface="微软雅黑" panose="020B0503020204020204" pitchFamily="34" charset="-122"/>
            </a:endParaRPr>
          </a:p>
          <a:p>
            <a:pPr marR="280670" algn="r">
              <a:lnSpc>
                <a:spcPct val="100000"/>
              </a:lnSpc>
            </a:pPr>
            <a:endParaRPr lang="en-US" sz="1400" b="1" dirty="0">
              <a:solidFill>
                <a:schemeClr val="accent1">
                  <a:lumMod val="50000"/>
                </a:schemeClr>
              </a:solidFill>
              <a:latin typeface="微软雅黑" panose="020B0503020204020204" pitchFamily="34" charset="-122"/>
              <a:cs typeface="微软雅黑" panose="020B0503020204020204" pitchFamily="34" charset="-122"/>
            </a:endParaRPr>
          </a:p>
        </p:txBody>
      </p:sp>
      <p:sp>
        <p:nvSpPr>
          <p:cNvPr id="21" name="文本占位符 7"/>
          <p:cNvSpPr txBox="1"/>
          <p:nvPr/>
        </p:nvSpPr>
        <p:spPr>
          <a:xfrm>
            <a:off x="4214084" y="6237203"/>
            <a:ext cx="4457218" cy="184150"/>
          </a:xfrm>
          <a:prstGeom prst="rect">
            <a:avLst/>
          </a:prstGeom>
        </p:spPr>
        <p:txBody>
          <a:bodyPr/>
          <a:lstStyle>
            <a:lvl1pPr marL="0" marR="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gn="r">
              <a:lnSpc>
                <a:spcPct val="100000"/>
              </a:lnSpc>
              <a:spcBef>
                <a:spcPct val="0"/>
              </a:spcBef>
              <a:defRPr/>
            </a:pPr>
            <a:r>
              <a:rPr lang="zh-CN" altLang="en-US" sz="700" kern="100" dirty="0">
                <a:solidFill>
                  <a:srgbClr val="000000"/>
                </a:solidFill>
                <a:cs typeface="Times New Roman" panose="02020603050405020304" pitchFamily="18" charset="0"/>
              </a:rPr>
              <a:t>风险提示：历史业绩并不代表其未来表现。我国股市运作时间较短，不能反映证券市场发展的所有阶段。</a:t>
            </a:r>
          </a:p>
          <a:p>
            <a:pPr algn="r">
              <a:lnSpc>
                <a:spcPct val="100000"/>
              </a:lnSpc>
              <a:spcBef>
                <a:spcPct val="0"/>
              </a:spcBef>
              <a:defRPr/>
            </a:pPr>
            <a:endParaRPr lang="zh-CN" altLang="en-US" sz="700" kern="100" dirty="0">
              <a:solidFill>
                <a:srgbClr val="000000"/>
              </a:solidFill>
              <a:cs typeface="Times New Roman" panose="02020603050405020304" pitchFamily="18" charset="0"/>
            </a:endParaRPr>
          </a:p>
          <a:p>
            <a:pPr algn="r">
              <a:lnSpc>
                <a:spcPct val="100000"/>
              </a:lnSpc>
              <a:spcBef>
                <a:spcPct val="0"/>
              </a:spcBef>
              <a:defRPr/>
            </a:pPr>
            <a:endParaRPr lang="zh-CN" altLang="en-US" sz="700" kern="100" dirty="0">
              <a:solidFill>
                <a:srgbClr val="000000"/>
              </a:solidFill>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800" spc="-5" dirty="0" err="1"/>
              <a:t>中证全指风险溢价率</a:t>
            </a:r>
            <a:r>
              <a:rPr lang="zh-CN" altLang="en-US" sz="2800" spc="-5" dirty="0"/>
              <a:t>仍在中位数附近</a:t>
            </a:r>
            <a:endParaRPr sz="2800" dirty="0"/>
          </a:p>
        </p:txBody>
      </p:sp>
      <p:sp>
        <p:nvSpPr>
          <p:cNvPr id="5" name="灯片编号占位符 4"/>
          <p:cNvSpPr>
            <a:spLocks noGrp="1"/>
          </p:cNvSpPr>
          <p:nvPr>
            <p:ph type="sldNum" sz="quarter" idx="11"/>
          </p:nvPr>
        </p:nvSpPr>
        <p:spPr/>
        <p:txBody>
          <a:bodyPr/>
          <a:lstStyle/>
          <a:p>
            <a:pPr>
              <a:defRPr/>
            </a:pPr>
            <a:fld id="{49FB53F7-37AE-4152-A115-BFA7398457ED}" type="slidenum">
              <a:rPr lang="zh-CN" altLang="en-US" smtClean="0"/>
              <a:t>6</a:t>
            </a:fld>
            <a:endParaRPr lang="zh-CN" altLang="en-US" dirty="0"/>
          </a:p>
        </p:txBody>
      </p:sp>
      <p:sp>
        <p:nvSpPr>
          <p:cNvPr id="3" name="object 3"/>
          <p:cNvSpPr txBox="1"/>
          <p:nvPr/>
        </p:nvSpPr>
        <p:spPr>
          <a:xfrm>
            <a:off x="1880115" y="5970938"/>
            <a:ext cx="5929630" cy="151323"/>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6C6969"/>
                </a:solidFill>
                <a:latin typeface="微软雅黑" panose="020B0503020204020204" pitchFamily="34" charset="-122"/>
                <a:cs typeface="微软雅黑" panose="020B0503020204020204" pitchFamily="34" charset="-122"/>
              </a:rPr>
              <a:t>数据来源：</a:t>
            </a:r>
            <a:r>
              <a:rPr sz="900" spc="-5" dirty="0">
                <a:solidFill>
                  <a:srgbClr val="6C6969"/>
                </a:solidFill>
                <a:latin typeface="微软雅黑" panose="020B0503020204020204" pitchFamily="34" charset="-122"/>
                <a:cs typeface="微软雅黑" panose="020B0503020204020204" pitchFamily="34" charset="-122"/>
              </a:rPr>
              <a:t>W</a:t>
            </a:r>
            <a:r>
              <a:rPr sz="900" dirty="0">
                <a:solidFill>
                  <a:srgbClr val="6C6969"/>
                </a:solidFill>
                <a:latin typeface="微软雅黑" panose="020B0503020204020204" pitchFamily="34" charset="-122"/>
                <a:cs typeface="微软雅黑" panose="020B0503020204020204" pitchFamily="34" charset="-122"/>
              </a:rPr>
              <a:t>i</a:t>
            </a:r>
            <a:r>
              <a:rPr sz="900" spc="-5" dirty="0">
                <a:solidFill>
                  <a:srgbClr val="6C6969"/>
                </a:solidFill>
                <a:latin typeface="微软雅黑" panose="020B0503020204020204" pitchFamily="34" charset="-122"/>
                <a:cs typeface="微软雅黑" panose="020B0503020204020204" pitchFamily="34" charset="-122"/>
              </a:rPr>
              <a:t>n</a:t>
            </a:r>
            <a:r>
              <a:rPr sz="900" dirty="0">
                <a:solidFill>
                  <a:srgbClr val="6C6969"/>
                </a:solidFill>
                <a:latin typeface="微软雅黑" panose="020B0503020204020204" pitchFamily="34" charset="-122"/>
                <a:cs typeface="微软雅黑" panose="020B0503020204020204" pitchFamily="34" charset="-122"/>
              </a:rPr>
              <a:t>d，数据范围201</a:t>
            </a:r>
            <a:r>
              <a:rPr lang="en-US" sz="900" spc="-5" dirty="0">
                <a:solidFill>
                  <a:srgbClr val="6C6969"/>
                </a:solidFill>
                <a:cs typeface="微软雅黑" panose="020B0503020204020204" pitchFamily="34" charset="-122"/>
              </a:rPr>
              <a:t>6.</a:t>
            </a:r>
            <a:r>
              <a:rPr lang="en-US" sz="900" dirty="0">
                <a:solidFill>
                  <a:srgbClr val="6C6969"/>
                </a:solidFill>
                <a:cs typeface="微软雅黑" panose="020B0503020204020204" pitchFamily="34" charset="-122"/>
              </a:rPr>
              <a:t>3</a:t>
            </a:r>
            <a:r>
              <a:rPr sz="900" spc="-5" dirty="0">
                <a:solidFill>
                  <a:srgbClr val="6C6969"/>
                </a:solidFill>
                <a:latin typeface="微软雅黑" panose="020B0503020204020204" pitchFamily="34" charset="-122"/>
                <a:cs typeface="微软雅黑" panose="020B0503020204020204" pitchFamily="34" charset="-122"/>
              </a:rPr>
              <a:t>.</a:t>
            </a:r>
            <a:r>
              <a:rPr lang="en-US" sz="900" dirty="0">
                <a:solidFill>
                  <a:srgbClr val="6C6969"/>
                </a:solidFill>
                <a:cs typeface="微软雅黑" panose="020B0503020204020204" pitchFamily="34" charset="-122"/>
              </a:rPr>
              <a:t>4</a:t>
            </a:r>
            <a:r>
              <a:rPr sz="900" dirty="0">
                <a:solidFill>
                  <a:srgbClr val="6C6969"/>
                </a:solidFill>
                <a:latin typeface="微软雅黑" panose="020B0503020204020204" pitchFamily="34" charset="-122"/>
                <a:cs typeface="微软雅黑" panose="020B0503020204020204" pitchFamily="34" charset="-122"/>
              </a:rPr>
              <a:t>至20</a:t>
            </a:r>
            <a:r>
              <a:rPr sz="900" spc="-15" dirty="0">
                <a:solidFill>
                  <a:srgbClr val="6C6969"/>
                </a:solidFill>
                <a:latin typeface="微软雅黑" panose="020B0503020204020204" pitchFamily="34" charset="-122"/>
                <a:cs typeface="微软雅黑" panose="020B0503020204020204" pitchFamily="34" charset="-122"/>
              </a:rPr>
              <a:t>2</a:t>
            </a:r>
            <a:r>
              <a:rPr lang="en-US" sz="900" spc="-15" dirty="0">
                <a:solidFill>
                  <a:srgbClr val="6C6969"/>
                </a:solidFill>
                <a:cs typeface="微软雅黑" panose="020B0503020204020204" pitchFamily="34" charset="-122"/>
              </a:rPr>
              <a:t>6</a:t>
            </a:r>
            <a:r>
              <a:rPr sz="900" spc="-5" dirty="0">
                <a:solidFill>
                  <a:srgbClr val="6C6969"/>
                </a:solidFill>
                <a:latin typeface="微软雅黑" panose="020B0503020204020204" pitchFamily="34" charset="-122"/>
                <a:cs typeface="微软雅黑" panose="020B0503020204020204" pitchFamily="34" charset="-122"/>
              </a:rPr>
              <a:t>.</a:t>
            </a:r>
            <a:r>
              <a:rPr lang="en-US" sz="900" spc="-15" dirty="0">
                <a:solidFill>
                  <a:srgbClr val="6C6969"/>
                </a:solidFill>
                <a:latin typeface="微软雅黑" panose="020B0503020204020204" pitchFamily="34" charset="-122"/>
                <a:cs typeface="微软雅黑" panose="020B0503020204020204" pitchFamily="34" charset="-122"/>
              </a:rPr>
              <a:t>5.31</a:t>
            </a:r>
            <a:r>
              <a:rPr sz="900" dirty="0">
                <a:solidFill>
                  <a:srgbClr val="6C6969"/>
                </a:solidFill>
                <a:latin typeface="微软雅黑" panose="020B0503020204020204" pitchFamily="34" charset="-122"/>
                <a:cs typeface="微软雅黑" panose="020B0503020204020204" pitchFamily="34" charset="-122"/>
              </a:rPr>
              <a:t>；风险溢价=</a:t>
            </a:r>
            <a:r>
              <a:rPr sz="900" spc="-15" dirty="0">
                <a:solidFill>
                  <a:srgbClr val="6C6969"/>
                </a:solidFill>
                <a:latin typeface="微软雅黑" panose="020B0503020204020204" pitchFamily="34" charset="-122"/>
                <a:cs typeface="微软雅黑" panose="020B0503020204020204" pitchFamily="34" charset="-122"/>
              </a:rPr>
              <a:t>1</a:t>
            </a:r>
            <a:r>
              <a:rPr sz="900" dirty="0">
                <a:solidFill>
                  <a:srgbClr val="6C6969"/>
                </a:solidFill>
                <a:latin typeface="微软雅黑" panose="020B0503020204020204" pitchFamily="34" charset="-122"/>
                <a:cs typeface="微软雅黑" panose="020B0503020204020204" pitchFamily="34" charset="-122"/>
              </a:rPr>
              <a:t>/市盈率（%）除以中国1</a:t>
            </a:r>
            <a:r>
              <a:rPr sz="900" spc="-5" dirty="0">
                <a:solidFill>
                  <a:srgbClr val="6C6969"/>
                </a:solidFill>
                <a:latin typeface="微软雅黑" panose="020B0503020204020204" pitchFamily="34" charset="-122"/>
                <a:cs typeface="微软雅黑" panose="020B0503020204020204" pitchFamily="34" charset="-122"/>
              </a:rPr>
              <a:t>0</a:t>
            </a:r>
            <a:r>
              <a:rPr sz="900" dirty="0">
                <a:solidFill>
                  <a:srgbClr val="6C6969"/>
                </a:solidFill>
                <a:latin typeface="微软雅黑" panose="020B0503020204020204" pitchFamily="34" charset="-122"/>
                <a:cs typeface="微软雅黑" panose="020B0503020204020204" pitchFamily="34" charset="-122"/>
              </a:rPr>
              <a:t>年国债收益率（中证）</a:t>
            </a:r>
            <a:endParaRPr sz="900" dirty="0">
              <a:latin typeface="微软雅黑" panose="020B0503020204020204" pitchFamily="34" charset="-122"/>
              <a:cs typeface="微软雅黑" panose="020B0503020204020204" pitchFamily="34" charset="-122"/>
            </a:endParaRPr>
          </a:p>
        </p:txBody>
      </p:sp>
      <p:sp>
        <p:nvSpPr>
          <p:cNvPr id="4" name="object 4"/>
          <p:cNvSpPr txBox="1"/>
          <p:nvPr/>
        </p:nvSpPr>
        <p:spPr>
          <a:xfrm>
            <a:off x="693102" y="999253"/>
            <a:ext cx="10805795" cy="1105535"/>
          </a:xfrm>
          <a:prstGeom prst="rect">
            <a:avLst/>
          </a:prstGeom>
        </p:spPr>
        <p:txBody>
          <a:bodyPr vert="horz" wrap="square" lIns="0" tIns="165100" rIns="0" bIns="0" rtlCol="0">
            <a:spAutoFit/>
          </a:bodyPr>
          <a:lstStyle/>
          <a:p>
            <a:pPr marL="12700">
              <a:lnSpc>
                <a:spcPct val="100000"/>
              </a:lnSpc>
              <a:spcBef>
                <a:spcPts val="1300"/>
              </a:spcBef>
            </a:pPr>
            <a:r>
              <a:rPr sz="1800" b="1" dirty="0">
                <a:solidFill>
                  <a:srgbClr val="002060"/>
                </a:solidFill>
                <a:latin typeface="微软雅黑" panose="020B0503020204020204" pitchFamily="34" charset="-122"/>
                <a:cs typeface="微软雅黑" panose="020B0503020204020204" pitchFamily="34" charset="-122"/>
              </a:rPr>
              <a:t>风险溢价分位点：</a:t>
            </a:r>
            <a:r>
              <a:rPr lang="en-US" sz="1800" b="1" spc="5" dirty="0">
                <a:solidFill>
                  <a:srgbClr val="BC2020"/>
                </a:solidFill>
                <a:cs typeface="微软雅黑" panose="020B0503020204020204" pitchFamily="34" charset="-122"/>
              </a:rPr>
              <a:t>39</a:t>
            </a:r>
            <a:r>
              <a:rPr lang="en-US" b="1" spc="5" dirty="0">
                <a:solidFill>
                  <a:srgbClr val="BC2020"/>
                </a:solidFill>
                <a:latin typeface="微软雅黑" panose="020B0503020204020204" pitchFamily="34" charset="-122"/>
              </a:rPr>
              <a:t>.58</a:t>
            </a:r>
            <a:r>
              <a:rPr sz="1800" b="1" spc="5" dirty="0">
                <a:solidFill>
                  <a:srgbClr val="BC2020"/>
                </a:solidFill>
                <a:latin typeface="微软雅黑" panose="020B0503020204020204" pitchFamily="34" charset="-122"/>
                <a:cs typeface="微软雅黑" panose="020B0503020204020204" pitchFamily="34" charset="-122"/>
              </a:rPr>
              <a:t>%</a:t>
            </a:r>
            <a:endParaRPr sz="1800" dirty="0">
              <a:latin typeface="微软雅黑" panose="020B0503020204020204" pitchFamily="34" charset="-122"/>
              <a:cs typeface="微软雅黑" panose="020B0503020204020204" pitchFamily="34" charset="-122"/>
            </a:endParaRPr>
          </a:p>
          <a:p>
            <a:pPr marL="12700" marR="5080">
              <a:lnSpc>
                <a:spcPct val="150000"/>
              </a:lnSpc>
              <a:spcBef>
                <a:spcPts val="100"/>
              </a:spcBef>
            </a:pPr>
            <a:r>
              <a:rPr sz="1400" spc="-40" dirty="0">
                <a:latin typeface="微软雅黑" panose="020B0503020204020204" pitchFamily="34" charset="-122"/>
                <a:cs typeface="微软雅黑" panose="020B0503020204020204" pitchFamily="34" charset="-122"/>
              </a:rPr>
              <a:t>风险溢价定义为股市市盈率倒数除以十年期国债利率，风险溢价越高说</a:t>
            </a:r>
            <a:r>
              <a:rPr sz="1400" spc="-25" dirty="0">
                <a:latin typeface="微软雅黑" panose="020B0503020204020204" pitchFamily="34" charset="-122"/>
                <a:cs typeface="微软雅黑" panose="020B0503020204020204" pitchFamily="34" charset="-122"/>
              </a:rPr>
              <a:t>明</a:t>
            </a:r>
            <a:r>
              <a:rPr sz="1400" spc="-40" dirty="0">
                <a:latin typeface="微软雅黑" panose="020B0503020204020204" pitchFamily="34" charset="-122"/>
                <a:cs typeface="微软雅黑" panose="020B0503020204020204" pitchFamily="34" charset="-122"/>
              </a:rPr>
              <a:t>股票相对债</a:t>
            </a:r>
            <a:r>
              <a:rPr sz="1400" spc="-25" dirty="0">
                <a:latin typeface="微软雅黑" panose="020B0503020204020204" pitchFamily="34" charset="-122"/>
                <a:cs typeface="微软雅黑" panose="020B0503020204020204" pitchFamily="34" charset="-122"/>
              </a:rPr>
              <a:t>券</a:t>
            </a:r>
            <a:r>
              <a:rPr sz="1400" spc="-40" dirty="0">
                <a:latin typeface="微软雅黑" panose="020B0503020204020204" pitchFamily="34" charset="-122"/>
                <a:cs typeface="微软雅黑" panose="020B0503020204020204" pitchFamily="34" charset="-122"/>
              </a:rPr>
              <a:t>越便宜，一</a:t>
            </a:r>
            <a:r>
              <a:rPr sz="1400" spc="-25" dirty="0">
                <a:latin typeface="微软雅黑" panose="020B0503020204020204" pitchFamily="34" charset="-122"/>
                <a:cs typeface="微软雅黑" panose="020B0503020204020204" pitchFamily="34" charset="-122"/>
              </a:rPr>
              <a:t>般</a:t>
            </a:r>
            <a:r>
              <a:rPr sz="1400" spc="-40" dirty="0">
                <a:latin typeface="微软雅黑" panose="020B0503020204020204" pitchFamily="34" charset="-122"/>
                <a:cs typeface="微软雅黑" panose="020B0503020204020204" pitchFamily="34" charset="-122"/>
              </a:rPr>
              <a:t>预示未来股</a:t>
            </a:r>
            <a:r>
              <a:rPr sz="1400" spc="-25" dirty="0">
                <a:latin typeface="微软雅黑" panose="020B0503020204020204" pitchFamily="34" charset="-122"/>
                <a:cs typeface="微软雅黑" panose="020B0503020204020204" pitchFamily="34" charset="-122"/>
              </a:rPr>
              <a:t>票</a:t>
            </a:r>
            <a:r>
              <a:rPr sz="1400" spc="-40" dirty="0">
                <a:latin typeface="微软雅黑" panose="020B0503020204020204" pitchFamily="34" charset="-122"/>
                <a:cs typeface="微软雅黑" panose="020B0503020204020204" pitchFamily="34" charset="-122"/>
              </a:rPr>
              <a:t>相对债券的</a:t>
            </a:r>
            <a:r>
              <a:rPr sz="1400" spc="-25" dirty="0">
                <a:latin typeface="微软雅黑" panose="020B0503020204020204" pitchFamily="34" charset="-122"/>
                <a:cs typeface="微软雅黑" panose="020B0503020204020204" pitchFamily="34" charset="-122"/>
              </a:rPr>
              <a:t>相</a:t>
            </a:r>
            <a:r>
              <a:rPr sz="1400" spc="-40" dirty="0">
                <a:latin typeface="微软雅黑" panose="020B0503020204020204" pitchFamily="34" charset="-122"/>
                <a:cs typeface="微软雅黑" panose="020B0503020204020204" pitchFamily="34" charset="-122"/>
              </a:rPr>
              <a:t>对表现越好</a:t>
            </a:r>
            <a:r>
              <a:rPr sz="1400" dirty="0">
                <a:latin typeface="微软雅黑" panose="020B0503020204020204" pitchFamily="34" charset="-122"/>
                <a:cs typeface="微软雅黑" panose="020B0503020204020204" pitchFamily="34" charset="-122"/>
              </a:rPr>
              <a:t>。 </a:t>
            </a:r>
            <a:r>
              <a:rPr sz="1400" spc="-40" dirty="0">
                <a:latin typeface="微软雅黑" panose="020B0503020204020204" pitchFamily="34" charset="-122"/>
                <a:cs typeface="微软雅黑" panose="020B0503020204020204" pitchFamily="34" charset="-122"/>
              </a:rPr>
              <a:t>历史上风险溢价到达两倍标准差附近时，市场通常都会出现止跌的情况。</a:t>
            </a:r>
            <a:endParaRPr sz="1400" dirty="0">
              <a:latin typeface="微软雅黑" panose="020B0503020204020204" pitchFamily="34" charset="-122"/>
              <a:cs typeface="微软雅黑" panose="020B0503020204020204" pitchFamily="34" charset="-122"/>
            </a:endParaRPr>
          </a:p>
        </p:txBody>
      </p:sp>
      <p:sp>
        <p:nvSpPr>
          <p:cNvPr id="20" name="文本占位符 7"/>
          <p:cNvSpPr txBox="1"/>
          <p:nvPr/>
        </p:nvSpPr>
        <p:spPr>
          <a:xfrm>
            <a:off x="4214084" y="6237203"/>
            <a:ext cx="4426221" cy="184150"/>
          </a:xfrm>
          <a:prstGeom prst="rect">
            <a:avLst/>
          </a:prstGeom>
        </p:spPr>
        <p:txBody>
          <a:bodyPr/>
          <a:lstStyle>
            <a:lvl1pPr marL="0" marR="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gn="r">
              <a:lnSpc>
                <a:spcPct val="100000"/>
              </a:lnSpc>
              <a:spcBef>
                <a:spcPct val="0"/>
              </a:spcBef>
              <a:defRPr/>
            </a:pPr>
            <a:r>
              <a:rPr lang="zh-CN" altLang="en-US" sz="700" kern="100" dirty="0">
                <a:solidFill>
                  <a:srgbClr val="000000"/>
                </a:solidFill>
                <a:cs typeface="Times New Roman" panose="02020603050405020304" pitchFamily="18" charset="0"/>
              </a:rPr>
              <a:t>风险提示：历史业绩并不代表其未来表现。我国股市运作时间较短，不能反映证券市场发展的所有阶段。</a:t>
            </a:r>
          </a:p>
          <a:p>
            <a:pPr algn="r">
              <a:lnSpc>
                <a:spcPct val="100000"/>
              </a:lnSpc>
              <a:spcBef>
                <a:spcPct val="0"/>
              </a:spcBef>
              <a:defRPr/>
            </a:pPr>
            <a:endParaRPr lang="zh-CN" altLang="en-US" sz="700" kern="100" dirty="0">
              <a:solidFill>
                <a:srgbClr val="000000"/>
              </a:solidFill>
              <a:cs typeface="Times New Roman" panose="02020603050405020304" pitchFamily="18" charset="0"/>
            </a:endParaRPr>
          </a:p>
          <a:p>
            <a:pPr algn="r">
              <a:lnSpc>
                <a:spcPct val="100000"/>
              </a:lnSpc>
              <a:spcBef>
                <a:spcPct val="0"/>
              </a:spcBef>
              <a:defRPr/>
            </a:pPr>
            <a:endParaRPr lang="zh-CN" altLang="en-US" sz="700" kern="100" dirty="0">
              <a:solidFill>
                <a:srgbClr val="000000"/>
              </a:solidFill>
              <a:cs typeface="Times New Roman" panose="02020603050405020304" pitchFamily="18" charset="0"/>
            </a:endParaRPr>
          </a:p>
        </p:txBody>
      </p:sp>
      <p:graphicFrame>
        <p:nvGraphicFramePr>
          <p:cNvPr id="6" name="图表 5">
            <a:extLst>
              <a:ext uri="{FF2B5EF4-FFF2-40B4-BE49-F238E27FC236}">
                <a16:creationId xmlns:a16="http://schemas.microsoft.com/office/drawing/2014/main" xmlns="" id="{557AC95A-8AB8-F467-9FD3-20F36201CCCD}"/>
              </a:ext>
            </a:extLst>
          </p:cNvPr>
          <p:cNvGraphicFramePr>
            <a:graphicFrameLocks/>
          </p:cNvGraphicFramePr>
          <p:nvPr>
            <p:extLst>
              <p:ext uri="{D42A27DB-BD31-4B8C-83A1-F6EECF244321}">
                <p14:modId xmlns:p14="http://schemas.microsoft.com/office/powerpoint/2010/main" val="1294430141"/>
              </p:ext>
            </p:extLst>
          </p:nvPr>
        </p:nvGraphicFramePr>
        <p:xfrm>
          <a:off x="1708106" y="2104788"/>
          <a:ext cx="8775786" cy="386615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zh-CN" altLang="en-US" dirty="0"/>
              <a:t>中证全指指数概况</a:t>
            </a:r>
            <a:endParaRPr dirty="0">
              <a:latin typeface="Arial" panose="020B0604020202020204"/>
              <a:cs typeface="Arial" panose="020B0604020202020204"/>
            </a:endParaRPr>
          </a:p>
        </p:txBody>
      </p:sp>
      <p:sp>
        <p:nvSpPr>
          <p:cNvPr id="20" name="灯片编号占位符 19"/>
          <p:cNvSpPr>
            <a:spLocks noGrp="1"/>
          </p:cNvSpPr>
          <p:nvPr>
            <p:ph type="sldNum" sz="quarter" idx="11"/>
          </p:nvPr>
        </p:nvSpPr>
        <p:spPr/>
        <p:txBody>
          <a:bodyPr/>
          <a:lstStyle/>
          <a:p>
            <a:pPr>
              <a:defRPr/>
            </a:pPr>
            <a:fld id="{6E91549D-98B7-4077-996F-05BE1B29F039}" type="slidenum">
              <a:rPr lang="zh-CN" altLang="en-US" smtClean="0"/>
              <a:t>7</a:t>
            </a:fld>
            <a:endParaRPr lang="zh-CN" altLang="en-US" dirty="0"/>
          </a:p>
        </p:txBody>
      </p:sp>
      <p:grpSp>
        <p:nvGrpSpPr>
          <p:cNvPr id="19" name="组合 18"/>
          <p:cNvGrpSpPr/>
          <p:nvPr/>
        </p:nvGrpSpPr>
        <p:grpSpPr>
          <a:xfrm>
            <a:off x="526770" y="1257918"/>
            <a:ext cx="11302240" cy="4802060"/>
            <a:chOff x="526770" y="1257918"/>
            <a:chExt cx="11302240" cy="4802060"/>
          </a:xfrm>
        </p:grpSpPr>
        <p:sp>
          <p:nvSpPr>
            <p:cNvPr id="4" name="object 4"/>
            <p:cNvSpPr txBox="1"/>
            <p:nvPr/>
          </p:nvSpPr>
          <p:spPr>
            <a:xfrm>
              <a:off x="1408785" y="1430837"/>
              <a:ext cx="2115811" cy="1013739"/>
            </a:xfrm>
            <a:prstGeom prst="rect">
              <a:avLst/>
            </a:prstGeom>
          </p:spPr>
          <p:txBody>
            <a:bodyPr vert="horz" wrap="square" lIns="0" tIns="114935" rIns="0" bIns="0" rtlCol="0">
              <a:spAutoFit/>
            </a:bodyPr>
            <a:lstStyle/>
            <a:p>
              <a:pPr marL="12700">
                <a:lnSpc>
                  <a:spcPct val="100000"/>
                </a:lnSpc>
                <a:spcBef>
                  <a:spcPts val="905"/>
                </a:spcBef>
              </a:pPr>
              <a:r>
                <a:rPr lang="zh-CN" altLang="en-US" sz="1400" dirty="0">
                  <a:latin typeface="微软雅黑" panose="020B0503020204020204" pitchFamily="34" charset="-122"/>
                  <a:cs typeface="微软雅黑" panose="020B0503020204020204" pitchFamily="34" charset="-122"/>
                </a:rPr>
                <a:t>包含</a:t>
              </a:r>
              <a:endParaRPr sz="1400" dirty="0">
                <a:latin typeface="微软雅黑" panose="020B0503020204020204" pitchFamily="34" charset="-122"/>
                <a:cs typeface="微软雅黑" panose="020B0503020204020204" pitchFamily="34" charset="-122"/>
              </a:endParaRPr>
            </a:p>
            <a:p>
              <a:pPr marL="31115" marR="5080">
                <a:lnSpc>
                  <a:spcPct val="100000"/>
                </a:lnSpc>
                <a:spcBef>
                  <a:spcPts val="1025"/>
                </a:spcBef>
              </a:pPr>
              <a:r>
                <a:rPr lang="zh-CN" altLang="en-US" b="1" dirty="0">
                  <a:solidFill>
                    <a:srgbClr val="EA5838"/>
                  </a:solidFill>
                  <a:latin typeface="微软雅黑" panose="020B0503020204020204" pitchFamily="34" charset="-122"/>
                  <a:cs typeface="微软雅黑" panose="020B0503020204020204" pitchFamily="34" charset="-122"/>
                </a:rPr>
                <a:t>上交所、深交所和北交所上市股票</a:t>
              </a:r>
              <a:endParaRPr sz="1800" dirty="0">
                <a:solidFill>
                  <a:srgbClr val="EA5838"/>
                </a:solidFill>
                <a:latin typeface="微软雅黑" panose="020B0503020204020204" pitchFamily="34" charset="-122"/>
                <a:cs typeface="微软雅黑" panose="020B0503020204020204" pitchFamily="34" charset="-122"/>
              </a:endParaRPr>
            </a:p>
          </p:txBody>
        </p:sp>
        <p:pic>
          <p:nvPicPr>
            <p:cNvPr id="5" name="object 5"/>
            <p:cNvPicPr/>
            <p:nvPr/>
          </p:nvPicPr>
          <p:blipFill>
            <a:blip r:embed="rId2" cstate="print"/>
            <a:stretch>
              <a:fillRect/>
            </a:stretch>
          </p:blipFill>
          <p:spPr>
            <a:xfrm>
              <a:off x="568999" y="1536238"/>
              <a:ext cx="606552" cy="609600"/>
            </a:xfrm>
            <a:prstGeom prst="rect">
              <a:avLst/>
            </a:prstGeom>
          </p:spPr>
        </p:pic>
        <p:pic>
          <p:nvPicPr>
            <p:cNvPr id="6" name="object 6"/>
            <p:cNvPicPr/>
            <p:nvPr/>
          </p:nvPicPr>
          <p:blipFill>
            <a:blip r:embed="rId3" cstate="print"/>
            <a:stretch>
              <a:fillRect/>
            </a:stretch>
          </p:blipFill>
          <p:spPr>
            <a:xfrm>
              <a:off x="581190" y="2973371"/>
              <a:ext cx="670560" cy="765048"/>
            </a:xfrm>
            <a:prstGeom prst="rect">
              <a:avLst/>
            </a:prstGeom>
          </p:spPr>
        </p:pic>
        <p:sp>
          <p:nvSpPr>
            <p:cNvPr id="7" name="object 7"/>
            <p:cNvSpPr txBox="1"/>
            <p:nvPr/>
          </p:nvSpPr>
          <p:spPr>
            <a:xfrm>
              <a:off x="1387690" y="2984771"/>
              <a:ext cx="2136905" cy="698268"/>
            </a:xfrm>
            <a:prstGeom prst="rect">
              <a:avLst/>
            </a:prstGeom>
          </p:spPr>
          <p:txBody>
            <a:bodyPr vert="horz" wrap="square" lIns="0" tIns="13335" rIns="0" bIns="0" rtlCol="0">
              <a:spAutoFit/>
            </a:bodyPr>
            <a:lstStyle/>
            <a:p>
              <a:pPr marL="12700">
                <a:lnSpc>
                  <a:spcPct val="100000"/>
                </a:lnSpc>
                <a:spcBef>
                  <a:spcPts val="105"/>
                </a:spcBef>
              </a:pPr>
              <a:r>
                <a:rPr sz="1400" dirty="0">
                  <a:latin typeface="微软雅黑" panose="020B0503020204020204" pitchFamily="34" charset="-122"/>
                  <a:cs typeface="微软雅黑" panose="020B0503020204020204" pitchFamily="34" charset="-122"/>
                </a:rPr>
                <a:t>具</a:t>
              </a:r>
              <a:r>
                <a:rPr sz="1400" spc="5" dirty="0">
                  <a:latin typeface="微软雅黑" panose="020B0503020204020204" pitchFamily="34" charset="-122"/>
                  <a:cs typeface="微软雅黑" panose="020B0503020204020204" pitchFamily="34" charset="-122"/>
                </a:rPr>
                <a:t>备</a:t>
              </a:r>
              <a:endParaRPr sz="1400" dirty="0">
                <a:latin typeface="微软雅黑" panose="020B0503020204020204" pitchFamily="34" charset="-122"/>
                <a:cs typeface="微软雅黑" panose="020B0503020204020204" pitchFamily="34" charset="-122"/>
              </a:endParaRPr>
            </a:p>
            <a:p>
              <a:pPr marL="52705" marR="5080">
                <a:lnSpc>
                  <a:spcPct val="100000"/>
                </a:lnSpc>
                <a:spcBef>
                  <a:spcPts val="1535"/>
                </a:spcBef>
              </a:pPr>
              <a:r>
                <a:rPr lang="zh-CN" altLang="en-US" sz="1800" b="1" dirty="0">
                  <a:solidFill>
                    <a:srgbClr val="EA5838"/>
                  </a:solidFill>
                  <a:latin typeface="微软雅黑" panose="020B0503020204020204" pitchFamily="34" charset="-122"/>
                  <a:cs typeface="微软雅黑" panose="020B0503020204020204" pitchFamily="34" charset="-122"/>
                </a:rPr>
                <a:t>全市场代表性</a:t>
              </a:r>
              <a:endParaRPr sz="1800" dirty="0">
                <a:solidFill>
                  <a:srgbClr val="EA5838"/>
                </a:solidFill>
                <a:latin typeface="微软雅黑" panose="020B0503020204020204" pitchFamily="34" charset="-122"/>
                <a:cs typeface="微软雅黑" panose="020B0503020204020204" pitchFamily="34" charset="-122"/>
              </a:endParaRPr>
            </a:p>
          </p:txBody>
        </p:sp>
        <p:pic>
          <p:nvPicPr>
            <p:cNvPr id="8" name="object 8"/>
            <p:cNvPicPr/>
            <p:nvPr/>
          </p:nvPicPr>
          <p:blipFill>
            <a:blip r:embed="rId4" cstate="print"/>
            <a:stretch>
              <a:fillRect/>
            </a:stretch>
          </p:blipFill>
          <p:spPr>
            <a:xfrm>
              <a:off x="596431" y="4218478"/>
              <a:ext cx="765047" cy="766572"/>
            </a:xfrm>
            <a:prstGeom prst="rect">
              <a:avLst/>
            </a:prstGeom>
          </p:spPr>
        </p:pic>
        <p:sp>
          <p:nvSpPr>
            <p:cNvPr id="10" name="object 10"/>
            <p:cNvSpPr/>
            <p:nvPr/>
          </p:nvSpPr>
          <p:spPr>
            <a:xfrm>
              <a:off x="526770" y="2568558"/>
              <a:ext cx="2880000" cy="7620"/>
            </a:xfrm>
            <a:custGeom>
              <a:avLst/>
              <a:gdLst/>
              <a:ahLst/>
              <a:cxnLst/>
              <a:rect l="l" t="t" r="r" b="b"/>
              <a:pathLst>
                <a:path w="2212975" h="7619">
                  <a:moveTo>
                    <a:pt x="2212975" y="7619"/>
                  </a:moveTo>
                  <a:lnTo>
                    <a:pt x="0" y="7619"/>
                  </a:lnTo>
                  <a:lnTo>
                    <a:pt x="0" y="0"/>
                  </a:lnTo>
                  <a:lnTo>
                    <a:pt x="2212975" y="0"/>
                  </a:lnTo>
                  <a:lnTo>
                    <a:pt x="2212975" y="7619"/>
                  </a:lnTo>
                  <a:close/>
                </a:path>
              </a:pathLst>
            </a:custGeom>
            <a:solidFill>
              <a:srgbClr val="252525"/>
            </a:solidFill>
          </p:spPr>
          <p:txBody>
            <a:bodyPr wrap="square" lIns="0" tIns="0" rIns="0" bIns="0" rtlCol="0"/>
            <a:lstStyle/>
            <a:p>
              <a:endParaRPr/>
            </a:p>
          </p:txBody>
        </p:sp>
        <p:sp>
          <p:nvSpPr>
            <p:cNvPr id="12" name="object 12"/>
            <p:cNvSpPr/>
            <p:nvPr/>
          </p:nvSpPr>
          <p:spPr>
            <a:xfrm>
              <a:off x="3777226" y="1257918"/>
              <a:ext cx="8051784" cy="4802060"/>
            </a:xfrm>
            <a:custGeom>
              <a:avLst/>
              <a:gdLst/>
              <a:ahLst/>
              <a:cxnLst/>
              <a:rect l="l" t="t" r="r" b="b"/>
              <a:pathLst>
                <a:path w="4845050" h="4413250">
                  <a:moveTo>
                    <a:pt x="4762" y="4408487"/>
                  </a:moveTo>
                  <a:lnTo>
                    <a:pt x="0" y="4408487"/>
                  </a:lnTo>
                  <a:lnTo>
                    <a:pt x="0" y="4370387"/>
                  </a:lnTo>
                  <a:lnTo>
                    <a:pt x="9525" y="4370387"/>
                  </a:lnTo>
                  <a:lnTo>
                    <a:pt x="9525" y="4403725"/>
                  </a:lnTo>
                  <a:lnTo>
                    <a:pt x="4762" y="4403725"/>
                  </a:lnTo>
                  <a:lnTo>
                    <a:pt x="4762" y="4408487"/>
                  </a:lnTo>
                  <a:close/>
                </a:path>
                <a:path w="4845050" h="4413250">
                  <a:moveTo>
                    <a:pt x="14287" y="4413250"/>
                  </a:moveTo>
                  <a:lnTo>
                    <a:pt x="4762" y="4413250"/>
                  </a:lnTo>
                  <a:lnTo>
                    <a:pt x="4762" y="4403725"/>
                  </a:lnTo>
                  <a:lnTo>
                    <a:pt x="9525" y="4403725"/>
                  </a:lnTo>
                  <a:lnTo>
                    <a:pt x="9525" y="4408487"/>
                  </a:lnTo>
                  <a:lnTo>
                    <a:pt x="14287" y="4408487"/>
                  </a:lnTo>
                  <a:lnTo>
                    <a:pt x="14287" y="4413250"/>
                  </a:lnTo>
                  <a:close/>
                </a:path>
                <a:path w="4845050" h="4413250">
                  <a:moveTo>
                    <a:pt x="14287" y="4408487"/>
                  </a:moveTo>
                  <a:lnTo>
                    <a:pt x="9525" y="4408487"/>
                  </a:lnTo>
                  <a:lnTo>
                    <a:pt x="9525" y="4403725"/>
                  </a:lnTo>
                  <a:lnTo>
                    <a:pt x="14287" y="4403725"/>
                  </a:lnTo>
                  <a:lnTo>
                    <a:pt x="14287" y="4408487"/>
                  </a:lnTo>
                  <a:close/>
                </a:path>
                <a:path w="4845050" h="4413250">
                  <a:moveTo>
                    <a:pt x="9525" y="4341812"/>
                  </a:moveTo>
                  <a:lnTo>
                    <a:pt x="0" y="4341812"/>
                  </a:lnTo>
                  <a:lnTo>
                    <a:pt x="0" y="4303712"/>
                  </a:lnTo>
                  <a:lnTo>
                    <a:pt x="9525" y="4303712"/>
                  </a:lnTo>
                  <a:lnTo>
                    <a:pt x="9525" y="4341812"/>
                  </a:lnTo>
                  <a:close/>
                </a:path>
                <a:path w="4845050" h="4413250">
                  <a:moveTo>
                    <a:pt x="9525" y="4275137"/>
                  </a:moveTo>
                  <a:lnTo>
                    <a:pt x="0" y="4275137"/>
                  </a:lnTo>
                  <a:lnTo>
                    <a:pt x="0" y="4237037"/>
                  </a:lnTo>
                  <a:lnTo>
                    <a:pt x="9525" y="4237037"/>
                  </a:lnTo>
                  <a:lnTo>
                    <a:pt x="9525" y="4275137"/>
                  </a:lnTo>
                  <a:close/>
                </a:path>
                <a:path w="4845050" h="4413250">
                  <a:moveTo>
                    <a:pt x="9525" y="4208462"/>
                  </a:moveTo>
                  <a:lnTo>
                    <a:pt x="0" y="4208462"/>
                  </a:lnTo>
                  <a:lnTo>
                    <a:pt x="0" y="4170362"/>
                  </a:lnTo>
                  <a:lnTo>
                    <a:pt x="9525" y="4170362"/>
                  </a:lnTo>
                  <a:lnTo>
                    <a:pt x="9525" y="4208462"/>
                  </a:lnTo>
                  <a:close/>
                </a:path>
                <a:path w="4845050" h="4413250">
                  <a:moveTo>
                    <a:pt x="9525" y="4141787"/>
                  </a:moveTo>
                  <a:lnTo>
                    <a:pt x="0" y="4141787"/>
                  </a:lnTo>
                  <a:lnTo>
                    <a:pt x="0" y="4103687"/>
                  </a:lnTo>
                  <a:lnTo>
                    <a:pt x="9525" y="4103687"/>
                  </a:lnTo>
                  <a:lnTo>
                    <a:pt x="9525" y="4141787"/>
                  </a:lnTo>
                  <a:close/>
                </a:path>
                <a:path w="4845050" h="4413250">
                  <a:moveTo>
                    <a:pt x="9525" y="4075112"/>
                  </a:moveTo>
                  <a:lnTo>
                    <a:pt x="0" y="4075112"/>
                  </a:lnTo>
                  <a:lnTo>
                    <a:pt x="0" y="4037012"/>
                  </a:lnTo>
                  <a:lnTo>
                    <a:pt x="9525" y="4037012"/>
                  </a:lnTo>
                  <a:lnTo>
                    <a:pt x="9525" y="4075112"/>
                  </a:lnTo>
                  <a:close/>
                </a:path>
                <a:path w="4845050" h="4413250">
                  <a:moveTo>
                    <a:pt x="9525" y="4008437"/>
                  </a:moveTo>
                  <a:lnTo>
                    <a:pt x="0" y="4008437"/>
                  </a:lnTo>
                  <a:lnTo>
                    <a:pt x="0" y="3970337"/>
                  </a:lnTo>
                  <a:lnTo>
                    <a:pt x="9525" y="3970337"/>
                  </a:lnTo>
                  <a:lnTo>
                    <a:pt x="9525" y="4008437"/>
                  </a:lnTo>
                  <a:close/>
                </a:path>
                <a:path w="4845050" h="4413250">
                  <a:moveTo>
                    <a:pt x="9525" y="3941762"/>
                  </a:moveTo>
                  <a:lnTo>
                    <a:pt x="0" y="3941762"/>
                  </a:lnTo>
                  <a:lnTo>
                    <a:pt x="0" y="3903662"/>
                  </a:lnTo>
                  <a:lnTo>
                    <a:pt x="9525" y="3903662"/>
                  </a:lnTo>
                  <a:lnTo>
                    <a:pt x="9525" y="3941762"/>
                  </a:lnTo>
                  <a:close/>
                </a:path>
                <a:path w="4845050" h="4413250">
                  <a:moveTo>
                    <a:pt x="9525" y="3875087"/>
                  </a:moveTo>
                  <a:lnTo>
                    <a:pt x="0" y="3875087"/>
                  </a:lnTo>
                  <a:lnTo>
                    <a:pt x="0" y="3836987"/>
                  </a:lnTo>
                  <a:lnTo>
                    <a:pt x="9525" y="3836987"/>
                  </a:lnTo>
                  <a:lnTo>
                    <a:pt x="9525" y="3875087"/>
                  </a:lnTo>
                  <a:close/>
                </a:path>
                <a:path w="4845050" h="4413250">
                  <a:moveTo>
                    <a:pt x="9525" y="3808412"/>
                  </a:moveTo>
                  <a:lnTo>
                    <a:pt x="0" y="3808412"/>
                  </a:lnTo>
                  <a:lnTo>
                    <a:pt x="0" y="3770312"/>
                  </a:lnTo>
                  <a:lnTo>
                    <a:pt x="9525" y="3770312"/>
                  </a:lnTo>
                  <a:lnTo>
                    <a:pt x="9525" y="3808412"/>
                  </a:lnTo>
                  <a:close/>
                </a:path>
                <a:path w="4845050" h="4413250">
                  <a:moveTo>
                    <a:pt x="9525" y="3741737"/>
                  </a:moveTo>
                  <a:lnTo>
                    <a:pt x="0" y="3741737"/>
                  </a:lnTo>
                  <a:lnTo>
                    <a:pt x="0" y="3703637"/>
                  </a:lnTo>
                  <a:lnTo>
                    <a:pt x="9525" y="3703637"/>
                  </a:lnTo>
                  <a:lnTo>
                    <a:pt x="9525" y="3741737"/>
                  </a:lnTo>
                  <a:close/>
                </a:path>
                <a:path w="4845050" h="4413250">
                  <a:moveTo>
                    <a:pt x="9525" y="3675062"/>
                  </a:moveTo>
                  <a:lnTo>
                    <a:pt x="0" y="3675062"/>
                  </a:lnTo>
                  <a:lnTo>
                    <a:pt x="0" y="3636962"/>
                  </a:lnTo>
                  <a:lnTo>
                    <a:pt x="9525" y="3636962"/>
                  </a:lnTo>
                  <a:lnTo>
                    <a:pt x="9525" y="3675062"/>
                  </a:lnTo>
                  <a:close/>
                </a:path>
                <a:path w="4845050" h="4413250">
                  <a:moveTo>
                    <a:pt x="9525" y="3608387"/>
                  </a:moveTo>
                  <a:lnTo>
                    <a:pt x="0" y="3608387"/>
                  </a:lnTo>
                  <a:lnTo>
                    <a:pt x="0" y="3570287"/>
                  </a:lnTo>
                  <a:lnTo>
                    <a:pt x="9525" y="3570287"/>
                  </a:lnTo>
                  <a:lnTo>
                    <a:pt x="9525" y="3608387"/>
                  </a:lnTo>
                  <a:close/>
                </a:path>
                <a:path w="4845050" h="4413250">
                  <a:moveTo>
                    <a:pt x="9525" y="3541712"/>
                  </a:moveTo>
                  <a:lnTo>
                    <a:pt x="0" y="3541712"/>
                  </a:lnTo>
                  <a:lnTo>
                    <a:pt x="0" y="3503612"/>
                  </a:lnTo>
                  <a:lnTo>
                    <a:pt x="9525" y="3503612"/>
                  </a:lnTo>
                  <a:lnTo>
                    <a:pt x="9525" y="3541712"/>
                  </a:lnTo>
                  <a:close/>
                </a:path>
                <a:path w="4845050" h="4413250">
                  <a:moveTo>
                    <a:pt x="9525" y="3475037"/>
                  </a:moveTo>
                  <a:lnTo>
                    <a:pt x="0" y="3475037"/>
                  </a:lnTo>
                  <a:lnTo>
                    <a:pt x="0" y="3436937"/>
                  </a:lnTo>
                  <a:lnTo>
                    <a:pt x="9525" y="3436937"/>
                  </a:lnTo>
                  <a:lnTo>
                    <a:pt x="9525" y="3475037"/>
                  </a:lnTo>
                  <a:close/>
                </a:path>
                <a:path w="4845050" h="4413250">
                  <a:moveTo>
                    <a:pt x="9525" y="3408362"/>
                  </a:moveTo>
                  <a:lnTo>
                    <a:pt x="0" y="3408362"/>
                  </a:lnTo>
                  <a:lnTo>
                    <a:pt x="0" y="3370262"/>
                  </a:lnTo>
                  <a:lnTo>
                    <a:pt x="9525" y="3370262"/>
                  </a:lnTo>
                  <a:lnTo>
                    <a:pt x="9525" y="3408362"/>
                  </a:lnTo>
                  <a:close/>
                </a:path>
                <a:path w="4845050" h="4413250">
                  <a:moveTo>
                    <a:pt x="9525" y="3341687"/>
                  </a:moveTo>
                  <a:lnTo>
                    <a:pt x="0" y="3341687"/>
                  </a:lnTo>
                  <a:lnTo>
                    <a:pt x="0" y="3303587"/>
                  </a:lnTo>
                  <a:lnTo>
                    <a:pt x="9525" y="3303587"/>
                  </a:lnTo>
                  <a:lnTo>
                    <a:pt x="9525" y="3341687"/>
                  </a:lnTo>
                  <a:close/>
                </a:path>
                <a:path w="4845050" h="4413250">
                  <a:moveTo>
                    <a:pt x="9525" y="3275012"/>
                  </a:moveTo>
                  <a:lnTo>
                    <a:pt x="0" y="3275012"/>
                  </a:lnTo>
                  <a:lnTo>
                    <a:pt x="0" y="3236912"/>
                  </a:lnTo>
                  <a:lnTo>
                    <a:pt x="9525" y="3236912"/>
                  </a:lnTo>
                  <a:lnTo>
                    <a:pt x="9525" y="3275012"/>
                  </a:lnTo>
                  <a:close/>
                </a:path>
                <a:path w="4845050" h="4413250">
                  <a:moveTo>
                    <a:pt x="9525" y="3208337"/>
                  </a:moveTo>
                  <a:lnTo>
                    <a:pt x="0" y="3208337"/>
                  </a:lnTo>
                  <a:lnTo>
                    <a:pt x="0" y="3170237"/>
                  </a:lnTo>
                  <a:lnTo>
                    <a:pt x="9525" y="3170237"/>
                  </a:lnTo>
                  <a:lnTo>
                    <a:pt x="9525" y="3208337"/>
                  </a:lnTo>
                  <a:close/>
                </a:path>
                <a:path w="4845050" h="4413250">
                  <a:moveTo>
                    <a:pt x="9525" y="3141662"/>
                  </a:moveTo>
                  <a:lnTo>
                    <a:pt x="0" y="3141662"/>
                  </a:lnTo>
                  <a:lnTo>
                    <a:pt x="0" y="3103562"/>
                  </a:lnTo>
                  <a:lnTo>
                    <a:pt x="9525" y="3103562"/>
                  </a:lnTo>
                  <a:lnTo>
                    <a:pt x="9525" y="3141662"/>
                  </a:lnTo>
                  <a:close/>
                </a:path>
                <a:path w="4845050" h="4413250">
                  <a:moveTo>
                    <a:pt x="9525" y="3074987"/>
                  </a:moveTo>
                  <a:lnTo>
                    <a:pt x="0" y="3074987"/>
                  </a:lnTo>
                  <a:lnTo>
                    <a:pt x="0" y="3036887"/>
                  </a:lnTo>
                  <a:lnTo>
                    <a:pt x="9525" y="3036887"/>
                  </a:lnTo>
                  <a:lnTo>
                    <a:pt x="9525" y="3074987"/>
                  </a:lnTo>
                  <a:close/>
                </a:path>
                <a:path w="4845050" h="4413250">
                  <a:moveTo>
                    <a:pt x="9525" y="3008312"/>
                  </a:moveTo>
                  <a:lnTo>
                    <a:pt x="0" y="3008312"/>
                  </a:lnTo>
                  <a:lnTo>
                    <a:pt x="0" y="2970212"/>
                  </a:lnTo>
                  <a:lnTo>
                    <a:pt x="9525" y="2970212"/>
                  </a:lnTo>
                  <a:lnTo>
                    <a:pt x="9525" y="3008312"/>
                  </a:lnTo>
                  <a:close/>
                </a:path>
                <a:path w="4845050" h="4413250">
                  <a:moveTo>
                    <a:pt x="9525" y="2941637"/>
                  </a:moveTo>
                  <a:lnTo>
                    <a:pt x="0" y="2941637"/>
                  </a:lnTo>
                  <a:lnTo>
                    <a:pt x="0" y="2903537"/>
                  </a:lnTo>
                  <a:lnTo>
                    <a:pt x="9525" y="2903537"/>
                  </a:lnTo>
                  <a:lnTo>
                    <a:pt x="9525" y="2941637"/>
                  </a:lnTo>
                  <a:close/>
                </a:path>
                <a:path w="4845050" h="4413250">
                  <a:moveTo>
                    <a:pt x="9525" y="2874962"/>
                  </a:moveTo>
                  <a:lnTo>
                    <a:pt x="0" y="2874962"/>
                  </a:lnTo>
                  <a:lnTo>
                    <a:pt x="0" y="2836862"/>
                  </a:lnTo>
                  <a:lnTo>
                    <a:pt x="9525" y="2836862"/>
                  </a:lnTo>
                  <a:lnTo>
                    <a:pt x="9525" y="2874962"/>
                  </a:lnTo>
                  <a:close/>
                </a:path>
                <a:path w="4845050" h="4413250">
                  <a:moveTo>
                    <a:pt x="9525" y="2808287"/>
                  </a:moveTo>
                  <a:lnTo>
                    <a:pt x="0" y="2808287"/>
                  </a:lnTo>
                  <a:lnTo>
                    <a:pt x="0" y="2770187"/>
                  </a:lnTo>
                  <a:lnTo>
                    <a:pt x="9525" y="2770187"/>
                  </a:lnTo>
                  <a:lnTo>
                    <a:pt x="9525" y="2808287"/>
                  </a:lnTo>
                  <a:close/>
                </a:path>
                <a:path w="4845050" h="4413250">
                  <a:moveTo>
                    <a:pt x="9525" y="2741612"/>
                  </a:moveTo>
                  <a:lnTo>
                    <a:pt x="0" y="2741612"/>
                  </a:lnTo>
                  <a:lnTo>
                    <a:pt x="0" y="2703512"/>
                  </a:lnTo>
                  <a:lnTo>
                    <a:pt x="9525" y="2703512"/>
                  </a:lnTo>
                  <a:lnTo>
                    <a:pt x="9525" y="2741612"/>
                  </a:lnTo>
                  <a:close/>
                </a:path>
                <a:path w="4845050" h="4413250">
                  <a:moveTo>
                    <a:pt x="9525" y="2674937"/>
                  </a:moveTo>
                  <a:lnTo>
                    <a:pt x="0" y="2674937"/>
                  </a:lnTo>
                  <a:lnTo>
                    <a:pt x="0" y="2636837"/>
                  </a:lnTo>
                  <a:lnTo>
                    <a:pt x="9525" y="2636837"/>
                  </a:lnTo>
                  <a:lnTo>
                    <a:pt x="9525" y="2674937"/>
                  </a:lnTo>
                  <a:close/>
                </a:path>
                <a:path w="4845050" h="4413250">
                  <a:moveTo>
                    <a:pt x="9525" y="2608262"/>
                  </a:moveTo>
                  <a:lnTo>
                    <a:pt x="0" y="2608262"/>
                  </a:lnTo>
                  <a:lnTo>
                    <a:pt x="0" y="2570162"/>
                  </a:lnTo>
                  <a:lnTo>
                    <a:pt x="9525" y="2570162"/>
                  </a:lnTo>
                  <a:lnTo>
                    <a:pt x="9525" y="2608262"/>
                  </a:lnTo>
                  <a:close/>
                </a:path>
                <a:path w="4845050" h="4413250">
                  <a:moveTo>
                    <a:pt x="9525" y="2541587"/>
                  </a:moveTo>
                  <a:lnTo>
                    <a:pt x="0" y="2541587"/>
                  </a:lnTo>
                  <a:lnTo>
                    <a:pt x="0" y="2503487"/>
                  </a:lnTo>
                  <a:lnTo>
                    <a:pt x="9525" y="2503487"/>
                  </a:lnTo>
                  <a:lnTo>
                    <a:pt x="9525" y="2541587"/>
                  </a:lnTo>
                  <a:close/>
                </a:path>
                <a:path w="4845050" h="4413250">
                  <a:moveTo>
                    <a:pt x="9525" y="2474912"/>
                  </a:moveTo>
                  <a:lnTo>
                    <a:pt x="0" y="2474912"/>
                  </a:lnTo>
                  <a:lnTo>
                    <a:pt x="0" y="2436812"/>
                  </a:lnTo>
                  <a:lnTo>
                    <a:pt x="9525" y="2436812"/>
                  </a:lnTo>
                  <a:lnTo>
                    <a:pt x="9525" y="2474912"/>
                  </a:lnTo>
                  <a:close/>
                </a:path>
                <a:path w="4845050" h="4413250">
                  <a:moveTo>
                    <a:pt x="9525" y="2408237"/>
                  </a:moveTo>
                  <a:lnTo>
                    <a:pt x="0" y="2408237"/>
                  </a:lnTo>
                  <a:lnTo>
                    <a:pt x="0" y="2370137"/>
                  </a:lnTo>
                  <a:lnTo>
                    <a:pt x="9525" y="2370137"/>
                  </a:lnTo>
                  <a:lnTo>
                    <a:pt x="9525" y="2408237"/>
                  </a:lnTo>
                  <a:close/>
                </a:path>
                <a:path w="4845050" h="4413250">
                  <a:moveTo>
                    <a:pt x="9525" y="2341562"/>
                  </a:moveTo>
                  <a:lnTo>
                    <a:pt x="0" y="2341562"/>
                  </a:lnTo>
                  <a:lnTo>
                    <a:pt x="0" y="2303462"/>
                  </a:lnTo>
                  <a:lnTo>
                    <a:pt x="9525" y="2303462"/>
                  </a:lnTo>
                  <a:lnTo>
                    <a:pt x="9525" y="2341562"/>
                  </a:lnTo>
                  <a:close/>
                </a:path>
                <a:path w="4845050" h="4413250">
                  <a:moveTo>
                    <a:pt x="9525" y="2274887"/>
                  </a:moveTo>
                  <a:lnTo>
                    <a:pt x="0" y="2274887"/>
                  </a:lnTo>
                  <a:lnTo>
                    <a:pt x="0" y="2236787"/>
                  </a:lnTo>
                  <a:lnTo>
                    <a:pt x="9525" y="2236787"/>
                  </a:lnTo>
                  <a:lnTo>
                    <a:pt x="9525" y="2274887"/>
                  </a:lnTo>
                  <a:close/>
                </a:path>
                <a:path w="4845050" h="4413250">
                  <a:moveTo>
                    <a:pt x="9525" y="2208212"/>
                  </a:moveTo>
                  <a:lnTo>
                    <a:pt x="0" y="2208212"/>
                  </a:lnTo>
                  <a:lnTo>
                    <a:pt x="0" y="2170112"/>
                  </a:lnTo>
                  <a:lnTo>
                    <a:pt x="9525" y="2170112"/>
                  </a:lnTo>
                  <a:lnTo>
                    <a:pt x="9525" y="2208212"/>
                  </a:lnTo>
                  <a:close/>
                </a:path>
                <a:path w="4845050" h="4413250">
                  <a:moveTo>
                    <a:pt x="9525" y="2141537"/>
                  </a:moveTo>
                  <a:lnTo>
                    <a:pt x="0" y="2141537"/>
                  </a:lnTo>
                  <a:lnTo>
                    <a:pt x="0" y="2103437"/>
                  </a:lnTo>
                  <a:lnTo>
                    <a:pt x="9525" y="2103437"/>
                  </a:lnTo>
                  <a:lnTo>
                    <a:pt x="9525" y="2141537"/>
                  </a:lnTo>
                  <a:close/>
                </a:path>
                <a:path w="4845050" h="4413250">
                  <a:moveTo>
                    <a:pt x="9525" y="2074862"/>
                  </a:moveTo>
                  <a:lnTo>
                    <a:pt x="0" y="2074862"/>
                  </a:lnTo>
                  <a:lnTo>
                    <a:pt x="0" y="2036762"/>
                  </a:lnTo>
                  <a:lnTo>
                    <a:pt x="9525" y="2036762"/>
                  </a:lnTo>
                  <a:lnTo>
                    <a:pt x="9525" y="2074862"/>
                  </a:lnTo>
                  <a:close/>
                </a:path>
                <a:path w="4845050" h="4413250">
                  <a:moveTo>
                    <a:pt x="9525" y="2008187"/>
                  </a:moveTo>
                  <a:lnTo>
                    <a:pt x="0" y="2008187"/>
                  </a:lnTo>
                  <a:lnTo>
                    <a:pt x="0" y="1970087"/>
                  </a:lnTo>
                  <a:lnTo>
                    <a:pt x="9525" y="1970087"/>
                  </a:lnTo>
                  <a:lnTo>
                    <a:pt x="9525" y="2008187"/>
                  </a:lnTo>
                  <a:close/>
                </a:path>
                <a:path w="4845050" h="4413250">
                  <a:moveTo>
                    <a:pt x="9525" y="1941512"/>
                  </a:moveTo>
                  <a:lnTo>
                    <a:pt x="0" y="1941512"/>
                  </a:lnTo>
                  <a:lnTo>
                    <a:pt x="0" y="1903412"/>
                  </a:lnTo>
                  <a:lnTo>
                    <a:pt x="9525" y="1903412"/>
                  </a:lnTo>
                  <a:lnTo>
                    <a:pt x="9525" y="1941512"/>
                  </a:lnTo>
                  <a:close/>
                </a:path>
                <a:path w="4845050" h="4413250">
                  <a:moveTo>
                    <a:pt x="9525" y="1874837"/>
                  </a:moveTo>
                  <a:lnTo>
                    <a:pt x="0" y="1874837"/>
                  </a:lnTo>
                  <a:lnTo>
                    <a:pt x="0" y="1836737"/>
                  </a:lnTo>
                  <a:lnTo>
                    <a:pt x="9525" y="1836737"/>
                  </a:lnTo>
                  <a:lnTo>
                    <a:pt x="9525" y="1874837"/>
                  </a:lnTo>
                  <a:close/>
                </a:path>
                <a:path w="4845050" h="4413250">
                  <a:moveTo>
                    <a:pt x="9525" y="1808162"/>
                  </a:moveTo>
                  <a:lnTo>
                    <a:pt x="0" y="1808162"/>
                  </a:lnTo>
                  <a:lnTo>
                    <a:pt x="0" y="1770062"/>
                  </a:lnTo>
                  <a:lnTo>
                    <a:pt x="9525" y="1770062"/>
                  </a:lnTo>
                  <a:lnTo>
                    <a:pt x="9525" y="1808162"/>
                  </a:lnTo>
                  <a:close/>
                </a:path>
                <a:path w="4845050" h="4413250">
                  <a:moveTo>
                    <a:pt x="9525" y="1741487"/>
                  </a:moveTo>
                  <a:lnTo>
                    <a:pt x="0" y="1741487"/>
                  </a:lnTo>
                  <a:lnTo>
                    <a:pt x="0" y="1703387"/>
                  </a:lnTo>
                  <a:lnTo>
                    <a:pt x="9525" y="1703387"/>
                  </a:lnTo>
                  <a:lnTo>
                    <a:pt x="9525" y="1741487"/>
                  </a:lnTo>
                  <a:close/>
                </a:path>
                <a:path w="4845050" h="4413250">
                  <a:moveTo>
                    <a:pt x="9525" y="1674812"/>
                  </a:moveTo>
                  <a:lnTo>
                    <a:pt x="0" y="1674812"/>
                  </a:lnTo>
                  <a:lnTo>
                    <a:pt x="0" y="1636712"/>
                  </a:lnTo>
                  <a:lnTo>
                    <a:pt x="9525" y="1636712"/>
                  </a:lnTo>
                  <a:lnTo>
                    <a:pt x="9525" y="1674812"/>
                  </a:lnTo>
                  <a:close/>
                </a:path>
                <a:path w="4845050" h="4413250">
                  <a:moveTo>
                    <a:pt x="9525" y="1608137"/>
                  </a:moveTo>
                  <a:lnTo>
                    <a:pt x="0" y="1608137"/>
                  </a:lnTo>
                  <a:lnTo>
                    <a:pt x="0" y="1570037"/>
                  </a:lnTo>
                  <a:lnTo>
                    <a:pt x="9525" y="1570037"/>
                  </a:lnTo>
                  <a:lnTo>
                    <a:pt x="9525" y="1608137"/>
                  </a:lnTo>
                  <a:close/>
                </a:path>
                <a:path w="4845050" h="4413250">
                  <a:moveTo>
                    <a:pt x="9525" y="1541462"/>
                  </a:moveTo>
                  <a:lnTo>
                    <a:pt x="0" y="1541462"/>
                  </a:lnTo>
                  <a:lnTo>
                    <a:pt x="0" y="1503362"/>
                  </a:lnTo>
                  <a:lnTo>
                    <a:pt x="9525" y="1503362"/>
                  </a:lnTo>
                  <a:lnTo>
                    <a:pt x="9525" y="1541462"/>
                  </a:lnTo>
                  <a:close/>
                </a:path>
                <a:path w="4845050" h="4413250">
                  <a:moveTo>
                    <a:pt x="9525" y="1474787"/>
                  </a:moveTo>
                  <a:lnTo>
                    <a:pt x="0" y="1474787"/>
                  </a:lnTo>
                  <a:lnTo>
                    <a:pt x="0" y="1436687"/>
                  </a:lnTo>
                  <a:lnTo>
                    <a:pt x="9525" y="1436687"/>
                  </a:lnTo>
                  <a:lnTo>
                    <a:pt x="9525" y="1474787"/>
                  </a:lnTo>
                  <a:close/>
                </a:path>
                <a:path w="4845050" h="4413250">
                  <a:moveTo>
                    <a:pt x="9525" y="1408112"/>
                  </a:moveTo>
                  <a:lnTo>
                    <a:pt x="0" y="1408112"/>
                  </a:lnTo>
                  <a:lnTo>
                    <a:pt x="0" y="1370012"/>
                  </a:lnTo>
                  <a:lnTo>
                    <a:pt x="9525" y="1370012"/>
                  </a:lnTo>
                  <a:lnTo>
                    <a:pt x="9525" y="1408112"/>
                  </a:lnTo>
                  <a:close/>
                </a:path>
                <a:path w="4845050" h="4413250">
                  <a:moveTo>
                    <a:pt x="9525" y="1341437"/>
                  </a:moveTo>
                  <a:lnTo>
                    <a:pt x="0" y="1341437"/>
                  </a:lnTo>
                  <a:lnTo>
                    <a:pt x="0" y="1303337"/>
                  </a:lnTo>
                  <a:lnTo>
                    <a:pt x="9525" y="1303337"/>
                  </a:lnTo>
                  <a:lnTo>
                    <a:pt x="9525" y="1341437"/>
                  </a:lnTo>
                  <a:close/>
                </a:path>
                <a:path w="4845050" h="4413250">
                  <a:moveTo>
                    <a:pt x="9525" y="1274762"/>
                  </a:moveTo>
                  <a:lnTo>
                    <a:pt x="0" y="1274762"/>
                  </a:lnTo>
                  <a:lnTo>
                    <a:pt x="0" y="1236662"/>
                  </a:lnTo>
                  <a:lnTo>
                    <a:pt x="9525" y="1236662"/>
                  </a:lnTo>
                  <a:lnTo>
                    <a:pt x="9525" y="1274762"/>
                  </a:lnTo>
                  <a:close/>
                </a:path>
                <a:path w="4845050" h="4413250">
                  <a:moveTo>
                    <a:pt x="9525" y="1208087"/>
                  </a:moveTo>
                  <a:lnTo>
                    <a:pt x="0" y="1208087"/>
                  </a:lnTo>
                  <a:lnTo>
                    <a:pt x="0" y="1169987"/>
                  </a:lnTo>
                  <a:lnTo>
                    <a:pt x="9525" y="1169987"/>
                  </a:lnTo>
                  <a:lnTo>
                    <a:pt x="9525" y="1208087"/>
                  </a:lnTo>
                  <a:close/>
                </a:path>
                <a:path w="4845050" h="4413250">
                  <a:moveTo>
                    <a:pt x="9525" y="1141412"/>
                  </a:moveTo>
                  <a:lnTo>
                    <a:pt x="0" y="1141412"/>
                  </a:lnTo>
                  <a:lnTo>
                    <a:pt x="0" y="1103312"/>
                  </a:lnTo>
                  <a:lnTo>
                    <a:pt x="9525" y="1103312"/>
                  </a:lnTo>
                  <a:lnTo>
                    <a:pt x="9525" y="1141412"/>
                  </a:lnTo>
                  <a:close/>
                </a:path>
                <a:path w="4845050" h="4413250">
                  <a:moveTo>
                    <a:pt x="9525" y="1074737"/>
                  </a:moveTo>
                  <a:lnTo>
                    <a:pt x="0" y="1074737"/>
                  </a:lnTo>
                  <a:lnTo>
                    <a:pt x="0" y="1036637"/>
                  </a:lnTo>
                  <a:lnTo>
                    <a:pt x="9525" y="1036637"/>
                  </a:lnTo>
                  <a:lnTo>
                    <a:pt x="9525" y="1074737"/>
                  </a:lnTo>
                  <a:close/>
                </a:path>
                <a:path w="4845050" h="4413250">
                  <a:moveTo>
                    <a:pt x="9525" y="1008062"/>
                  </a:moveTo>
                  <a:lnTo>
                    <a:pt x="0" y="1008062"/>
                  </a:lnTo>
                  <a:lnTo>
                    <a:pt x="0" y="969962"/>
                  </a:lnTo>
                  <a:lnTo>
                    <a:pt x="9525" y="969962"/>
                  </a:lnTo>
                  <a:lnTo>
                    <a:pt x="9525" y="1008062"/>
                  </a:lnTo>
                  <a:close/>
                </a:path>
                <a:path w="4845050" h="4413250">
                  <a:moveTo>
                    <a:pt x="9525" y="941387"/>
                  </a:moveTo>
                  <a:lnTo>
                    <a:pt x="0" y="941387"/>
                  </a:lnTo>
                  <a:lnTo>
                    <a:pt x="0" y="903287"/>
                  </a:lnTo>
                  <a:lnTo>
                    <a:pt x="9525" y="903287"/>
                  </a:lnTo>
                  <a:lnTo>
                    <a:pt x="9525" y="941387"/>
                  </a:lnTo>
                  <a:close/>
                </a:path>
                <a:path w="4845050" h="4413250">
                  <a:moveTo>
                    <a:pt x="9525" y="874712"/>
                  </a:moveTo>
                  <a:lnTo>
                    <a:pt x="0" y="874712"/>
                  </a:lnTo>
                  <a:lnTo>
                    <a:pt x="0" y="836612"/>
                  </a:lnTo>
                  <a:lnTo>
                    <a:pt x="9525" y="836612"/>
                  </a:lnTo>
                  <a:lnTo>
                    <a:pt x="9525" y="874712"/>
                  </a:lnTo>
                  <a:close/>
                </a:path>
                <a:path w="4845050" h="4413250">
                  <a:moveTo>
                    <a:pt x="9525" y="808037"/>
                  </a:moveTo>
                  <a:lnTo>
                    <a:pt x="0" y="808037"/>
                  </a:lnTo>
                  <a:lnTo>
                    <a:pt x="0" y="769937"/>
                  </a:lnTo>
                  <a:lnTo>
                    <a:pt x="9525" y="769937"/>
                  </a:lnTo>
                  <a:lnTo>
                    <a:pt x="9525" y="808037"/>
                  </a:lnTo>
                  <a:close/>
                </a:path>
                <a:path w="4845050" h="4413250">
                  <a:moveTo>
                    <a:pt x="9525" y="741362"/>
                  </a:moveTo>
                  <a:lnTo>
                    <a:pt x="0" y="741362"/>
                  </a:lnTo>
                  <a:lnTo>
                    <a:pt x="0" y="703262"/>
                  </a:lnTo>
                  <a:lnTo>
                    <a:pt x="9525" y="703262"/>
                  </a:lnTo>
                  <a:lnTo>
                    <a:pt x="9525" y="741362"/>
                  </a:lnTo>
                  <a:close/>
                </a:path>
                <a:path w="4845050" h="4413250">
                  <a:moveTo>
                    <a:pt x="9525" y="674687"/>
                  </a:moveTo>
                  <a:lnTo>
                    <a:pt x="0" y="674687"/>
                  </a:lnTo>
                  <a:lnTo>
                    <a:pt x="0" y="636587"/>
                  </a:lnTo>
                  <a:lnTo>
                    <a:pt x="9525" y="636587"/>
                  </a:lnTo>
                  <a:lnTo>
                    <a:pt x="9525" y="674687"/>
                  </a:lnTo>
                  <a:close/>
                </a:path>
                <a:path w="4845050" h="4413250">
                  <a:moveTo>
                    <a:pt x="9525" y="608012"/>
                  </a:moveTo>
                  <a:lnTo>
                    <a:pt x="0" y="608012"/>
                  </a:lnTo>
                  <a:lnTo>
                    <a:pt x="0" y="569912"/>
                  </a:lnTo>
                  <a:lnTo>
                    <a:pt x="9525" y="569912"/>
                  </a:lnTo>
                  <a:lnTo>
                    <a:pt x="9525" y="608012"/>
                  </a:lnTo>
                  <a:close/>
                </a:path>
                <a:path w="4845050" h="4413250">
                  <a:moveTo>
                    <a:pt x="9525" y="541337"/>
                  </a:moveTo>
                  <a:lnTo>
                    <a:pt x="0" y="541337"/>
                  </a:lnTo>
                  <a:lnTo>
                    <a:pt x="0" y="503237"/>
                  </a:lnTo>
                  <a:lnTo>
                    <a:pt x="9525" y="503237"/>
                  </a:lnTo>
                  <a:lnTo>
                    <a:pt x="9525" y="541337"/>
                  </a:lnTo>
                  <a:close/>
                </a:path>
                <a:path w="4845050" h="4413250">
                  <a:moveTo>
                    <a:pt x="9525" y="474662"/>
                  </a:moveTo>
                  <a:lnTo>
                    <a:pt x="0" y="474662"/>
                  </a:lnTo>
                  <a:lnTo>
                    <a:pt x="0" y="436562"/>
                  </a:lnTo>
                  <a:lnTo>
                    <a:pt x="9525" y="436562"/>
                  </a:lnTo>
                  <a:lnTo>
                    <a:pt x="9525" y="474662"/>
                  </a:lnTo>
                  <a:close/>
                </a:path>
                <a:path w="4845050" h="4413250">
                  <a:moveTo>
                    <a:pt x="9525" y="407987"/>
                  </a:moveTo>
                  <a:lnTo>
                    <a:pt x="0" y="407987"/>
                  </a:lnTo>
                  <a:lnTo>
                    <a:pt x="0" y="369887"/>
                  </a:lnTo>
                  <a:lnTo>
                    <a:pt x="9525" y="369887"/>
                  </a:lnTo>
                  <a:lnTo>
                    <a:pt x="9525" y="407987"/>
                  </a:lnTo>
                  <a:close/>
                </a:path>
                <a:path w="4845050" h="4413250">
                  <a:moveTo>
                    <a:pt x="9525" y="341312"/>
                  </a:moveTo>
                  <a:lnTo>
                    <a:pt x="0" y="341312"/>
                  </a:lnTo>
                  <a:lnTo>
                    <a:pt x="0" y="303212"/>
                  </a:lnTo>
                  <a:lnTo>
                    <a:pt x="9525" y="303212"/>
                  </a:lnTo>
                  <a:lnTo>
                    <a:pt x="9525" y="341312"/>
                  </a:lnTo>
                  <a:close/>
                </a:path>
                <a:path w="4845050" h="4413250">
                  <a:moveTo>
                    <a:pt x="9525" y="274637"/>
                  </a:moveTo>
                  <a:lnTo>
                    <a:pt x="0" y="274637"/>
                  </a:lnTo>
                  <a:lnTo>
                    <a:pt x="0" y="236537"/>
                  </a:lnTo>
                  <a:lnTo>
                    <a:pt x="9525" y="236537"/>
                  </a:lnTo>
                  <a:lnTo>
                    <a:pt x="9525" y="274637"/>
                  </a:lnTo>
                  <a:close/>
                </a:path>
                <a:path w="4845050" h="4413250">
                  <a:moveTo>
                    <a:pt x="9525" y="207962"/>
                  </a:moveTo>
                  <a:lnTo>
                    <a:pt x="0" y="207962"/>
                  </a:lnTo>
                  <a:lnTo>
                    <a:pt x="0" y="169862"/>
                  </a:lnTo>
                  <a:lnTo>
                    <a:pt x="9525" y="169862"/>
                  </a:lnTo>
                  <a:lnTo>
                    <a:pt x="9525" y="207962"/>
                  </a:lnTo>
                  <a:close/>
                </a:path>
                <a:path w="4845050" h="4413250">
                  <a:moveTo>
                    <a:pt x="9525" y="141287"/>
                  </a:moveTo>
                  <a:lnTo>
                    <a:pt x="0" y="141287"/>
                  </a:lnTo>
                  <a:lnTo>
                    <a:pt x="0" y="103187"/>
                  </a:lnTo>
                  <a:lnTo>
                    <a:pt x="9525" y="103187"/>
                  </a:lnTo>
                  <a:lnTo>
                    <a:pt x="9525" y="141287"/>
                  </a:lnTo>
                  <a:close/>
                </a:path>
                <a:path w="4845050" h="4413250">
                  <a:moveTo>
                    <a:pt x="9525" y="74612"/>
                  </a:moveTo>
                  <a:lnTo>
                    <a:pt x="0" y="74612"/>
                  </a:lnTo>
                  <a:lnTo>
                    <a:pt x="0" y="36512"/>
                  </a:lnTo>
                  <a:lnTo>
                    <a:pt x="9525" y="36512"/>
                  </a:lnTo>
                  <a:lnTo>
                    <a:pt x="9525" y="74612"/>
                  </a:lnTo>
                  <a:close/>
                </a:path>
                <a:path w="4845050" h="4413250">
                  <a:moveTo>
                    <a:pt x="6350" y="7937"/>
                  </a:moveTo>
                  <a:lnTo>
                    <a:pt x="0" y="7937"/>
                  </a:lnTo>
                  <a:lnTo>
                    <a:pt x="0" y="0"/>
                  </a:lnTo>
                  <a:lnTo>
                    <a:pt x="39687" y="0"/>
                  </a:lnTo>
                  <a:lnTo>
                    <a:pt x="39687" y="4762"/>
                  </a:lnTo>
                  <a:lnTo>
                    <a:pt x="9525" y="4762"/>
                  </a:lnTo>
                  <a:lnTo>
                    <a:pt x="6350" y="7937"/>
                  </a:lnTo>
                  <a:close/>
                </a:path>
                <a:path w="4845050" h="4413250">
                  <a:moveTo>
                    <a:pt x="9525" y="9525"/>
                  </a:moveTo>
                  <a:lnTo>
                    <a:pt x="4762" y="9525"/>
                  </a:lnTo>
                  <a:lnTo>
                    <a:pt x="9525" y="4762"/>
                  </a:lnTo>
                  <a:lnTo>
                    <a:pt x="9525" y="9525"/>
                  </a:lnTo>
                  <a:close/>
                </a:path>
                <a:path w="4845050" h="4413250">
                  <a:moveTo>
                    <a:pt x="39687" y="9525"/>
                  </a:moveTo>
                  <a:lnTo>
                    <a:pt x="9525" y="9525"/>
                  </a:lnTo>
                  <a:lnTo>
                    <a:pt x="9525" y="4762"/>
                  </a:lnTo>
                  <a:lnTo>
                    <a:pt x="39687" y="4762"/>
                  </a:lnTo>
                  <a:lnTo>
                    <a:pt x="39687" y="9525"/>
                  </a:lnTo>
                  <a:close/>
                </a:path>
                <a:path w="4845050" h="4413250">
                  <a:moveTo>
                    <a:pt x="106362" y="9525"/>
                  </a:moveTo>
                  <a:lnTo>
                    <a:pt x="68262" y="9525"/>
                  </a:lnTo>
                  <a:lnTo>
                    <a:pt x="68262" y="0"/>
                  </a:lnTo>
                  <a:lnTo>
                    <a:pt x="106362" y="0"/>
                  </a:lnTo>
                  <a:lnTo>
                    <a:pt x="106362" y="9525"/>
                  </a:lnTo>
                  <a:close/>
                </a:path>
                <a:path w="4845050" h="4413250">
                  <a:moveTo>
                    <a:pt x="173037" y="9525"/>
                  </a:moveTo>
                  <a:lnTo>
                    <a:pt x="134937" y="9525"/>
                  </a:lnTo>
                  <a:lnTo>
                    <a:pt x="134937" y="0"/>
                  </a:lnTo>
                  <a:lnTo>
                    <a:pt x="173037" y="0"/>
                  </a:lnTo>
                  <a:lnTo>
                    <a:pt x="173037" y="9525"/>
                  </a:lnTo>
                  <a:close/>
                </a:path>
                <a:path w="4845050" h="4413250">
                  <a:moveTo>
                    <a:pt x="239712" y="9525"/>
                  </a:moveTo>
                  <a:lnTo>
                    <a:pt x="201612" y="9525"/>
                  </a:lnTo>
                  <a:lnTo>
                    <a:pt x="201612" y="0"/>
                  </a:lnTo>
                  <a:lnTo>
                    <a:pt x="239712" y="0"/>
                  </a:lnTo>
                  <a:lnTo>
                    <a:pt x="239712" y="9525"/>
                  </a:lnTo>
                  <a:close/>
                </a:path>
                <a:path w="4845050" h="4413250">
                  <a:moveTo>
                    <a:pt x="306387" y="9525"/>
                  </a:moveTo>
                  <a:lnTo>
                    <a:pt x="268287" y="9525"/>
                  </a:lnTo>
                  <a:lnTo>
                    <a:pt x="268287" y="0"/>
                  </a:lnTo>
                  <a:lnTo>
                    <a:pt x="306387" y="0"/>
                  </a:lnTo>
                  <a:lnTo>
                    <a:pt x="306387" y="9525"/>
                  </a:lnTo>
                  <a:close/>
                </a:path>
                <a:path w="4845050" h="4413250">
                  <a:moveTo>
                    <a:pt x="373062" y="9525"/>
                  </a:moveTo>
                  <a:lnTo>
                    <a:pt x="334962" y="9525"/>
                  </a:lnTo>
                  <a:lnTo>
                    <a:pt x="334962" y="0"/>
                  </a:lnTo>
                  <a:lnTo>
                    <a:pt x="373062" y="0"/>
                  </a:lnTo>
                  <a:lnTo>
                    <a:pt x="373062" y="9525"/>
                  </a:lnTo>
                  <a:close/>
                </a:path>
                <a:path w="4845050" h="4413250">
                  <a:moveTo>
                    <a:pt x="439737" y="9525"/>
                  </a:moveTo>
                  <a:lnTo>
                    <a:pt x="401637" y="9525"/>
                  </a:lnTo>
                  <a:lnTo>
                    <a:pt x="401637" y="0"/>
                  </a:lnTo>
                  <a:lnTo>
                    <a:pt x="439737" y="0"/>
                  </a:lnTo>
                  <a:lnTo>
                    <a:pt x="439737" y="9525"/>
                  </a:lnTo>
                  <a:close/>
                </a:path>
                <a:path w="4845050" h="4413250">
                  <a:moveTo>
                    <a:pt x="506412" y="9525"/>
                  </a:moveTo>
                  <a:lnTo>
                    <a:pt x="468312" y="9525"/>
                  </a:lnTo>
                  <a:lnTo>
                    <a:pt x="468312" y="0"/>
                  </a:lnTo>
                  <a:lnTo>
                    <a:pt x="506412" y="0"/>
                  </a:lnTo>
                  <a:lnTo>
                    <a:pt x="506412" y="9525"/>
                  </a:lnTo>
                  <a:close/>
                </a:path>
                <a:path w="4845050" h="4413250">
                  <a:moveTo>
                    <a:pt x="573087" y="9525"/>
                  </a:moveTo>
                  <a:lnTo>
                    <a:pt x="534987" y="9525"/>
                  </a:lnTo>
                  <a:lnTo>
                    <a:pt x="534987" y="0"/>
                  </a:lnTo>
                  <a:lnTo>
                    <a:pt x="573087" y="0"/>
                  </a:lnTo>
                  <a:lnTo>
                    <a:pt x="573087" y="9525"/>
                  </a:lnTo>
                  <a:close/>
                </a:path>
                <a:path w="4845050" h="4413250">
                  <a:moveTo>
                    <a:pt x="639762" y="9525"/>
                  </a:moveTo>
                  <a:lnTo>
                    <a:pt x="601662" y="9525"/>
                  </a:lnTo>
                  <a:lnTo>
                    <a:pt x="601662" y="0"/>
                  </a:lnTo>
                  <a:lnTo>
                    <a:pt x="639762" y="0"/>
                  </a:lnTo>
                  <a:lnTo>
                    <a:pt x="639762" y="9525"/>
                  </a:lnTo>
                  <a:close/>
                </a:path>
                <a:path w="4845050" h="4413250">
                  <a:moveTo>
                    <a:pt x="706437" y="9525"/>
                  </a:moveTo>
                  <a:lnTo>
                    <a:pt x="668337" y="9525"/>
                  </a:lnTo>
                  <a:lnTo>
                    <a:pt x="668337" y="0"/>
                  </a:lnTo>
                  <a:lnTo>
                    <a:pt x="706437" y="0"/>
                  </a:lnTo>
                  <a:lnTo>
                    <a:pt x="706437" y="9525"/>
                  </a:lnTo>
                  <a:close/>
                </a:path>
                <a:path w="4845050" h="4413250">
                  <a:moveTo>
                    <a:pt x="773112" y="9525"/>
                  </a:moveTo>
                  <a:lnTo>
                    <a:pt x="735012" y="9525"/>
                  </a:lnTo>
                  <a:lnTo>
                    <a:pt x="735012" y="0"/>
                  </a:lnTo>
                  <a:lnTo>
                    <a:pt x="773112" y="0"/>
                  </a:lnTo>
                  <a:lnTo>
                    <a:pt x="773112" y="9525"/>
                  </a:lnTo>
                  <a:close/>
                </a:path>
                <a:path w="4845050" h="4413250">
                  <a:moveTo>
                    <a:pt x="839787" y="9525"/>
                  </a:moveTo>
                  <a:lnTo>
                    <a:pt x="801687" y="9525"/>
                  </a:lnTo>
                  <a:lnTo>
                    <a:pt x="801687" y="0"/>
                  </a:lnTo>
                  <a:lnTo>
                    <a:pt x="839787" y="0"/>
                  </a:lnTo>
                  <a:lnTo>
                    <a:pt x="839787" y="9525"/>
                  </a:lnTo>
                  <a:close/>
                </a:path>
                <a:path w="4845050" h="4413250">
                  <a:moveTo>
                    <a:pt x="906462" y="9525"/>
                  </a:moveTo>
                  <a:lnTo>
                    <a:pt x="868362" y="9525"/>
                  </a:lnTo>
                  <a:lnTo>
                    <a:pt x="868362" y="0"/>
                  </a:lnTo>
                  <a:lnTo>
                    <a:pt x="906462" y="0"/>
                  </a:lnTo>
                  <a:lnTo>
                    <a:pt x="906462" y="9525"/>
                  </a:lnTo>
                  <a:close/>
                </a:path>
                <a:path w="4845050" h="4413250">
                  <a:moveTo>
                    <a:pt x="973137" y="9525"/>
                  </a:moveTo>
                  <a:lnTo>
                    <a:pt x="935037" y="9525"/>
                  </a:lnTo>
                  <a:lnTo>
                    <a:pt x="935037" y="0"/>
                  </a:lnTo>
                  <a:lnTo>
                    <a:pt x="973137" y="0"/>
                  </a:lnTo>
                  <a:lnTo>
                    <a:pt x="973137" y="9525"/>
                  </a:lnTo>
                  <a:close/>
                </a:path>
                <a:path w="4845050" h="4413250">
                  <a:moveTo>
                    <a:pt x="1039812" y="9525"/>
                  </a:moveTo>
                  <a:lnTo>
                    <a:pt x="1001712" y="9525"/>
                  </a:lnTo>
                  <a:lnTo>
                    <a:pt x="1001712" y="0"/>
                  </a:lnTo>
                  <a:lnTo>
                    <a:pt x="1039812" y="0"/>
                  </a:lnTo>
                  <a:lnTo>
                    <a:pt x="1039812" y="9525"/>
                  </a:lnTo>
                  <a:close/>
                </a:path>
                <a:path w="4845050" h="4413250">
                  <a:moveTo>
                    <a:pt x="1106487" y="9525"/>
                  </a:moveTo>
                  <a:lnTo>
                    <a:pt x="1068387" y="9525"/>
                  </a:lnTo>
                  <a:lnTo>
                    <a:pt x="1068387" y="0"/>
                  </a:lnTo>
                  <a:lnTo>
                    <a:pt x="1106487" y="0"/>
                  </a:lnTo>
                  <a:lnTo>
                    <a:pt x="1106487" y="9525"/>
                  </a:lnTo>
                  <a:close/>
                </a:path>
                <a:path w="4845050" h="4413250">
                  <a:moveTo>
                    <a:pt x="1173162" y="9525"/>
                  </a:moveTo>
                  <a:lnTo>
                    <a:pt x="1135062" y="9525"/>
                  </a:lnTo>
                  <a:lnTo>
                    <a:pt x="1135062" y="0"/>
                  </a:lnTo>
                  <a:lnTo>
                    <a:pt x="1173162" y="0"/>
                  </a:lnTo>
                  <a:lnTo>
                    <a:pt x="1173162" y="9525"/>
                  </a:lnTo>
                  <a:close/>
                </a:path>
                <a:path w="4845050" h="4413250">
                  <a:moveTo>
                    <a:pt x="1239837" y="9525"/>
                  </a:moveTo>
                  <a:lnTo>
                    <a:pt x="1201737" y="9525"/>
                  </a:lnTo>
                  <a:lnTo>
                    <a:pt x="1201737" y="0"/>
                  </a:lnTo>
                  <a:lnTo>
                    <a:pt x="1239837" y="0"/>
                  </a:lnTo>
                  <a:lnTo>
                    <a:pt x="1239837" y="9525"/>
                  </a:lnTo>
                  <a:close/>
                </a:path>
                <a:path w="4845050" h="4413250">
                  <a:moveTo>
                    <a:pt x="1306512" y="9525"/>
                  </a:moveTo>
                  <a:lnTo>
                    <a:pt x="1268412" y="9525"/>
                  </a:lnTo>
                  <a:lnTo>
                    <a:pt x="1268412" y="0"/>
                  </a:lnTo>
                  <a:lnTo>
                    <a:pt x="1306512" y="0"/>
                  </a:lnTo>
                  <a:lnTo>
                    <a:pt x="1306512" y="9525"/>
                  </a:lnTo>
                  <a:close/>
                </a:path>
                <a:path w="4845050" h="4413250">
                  <a:moveTo>
                    <a:pt x="1373187" y="9525"/>
                  </a:moveTo>
                  <a:lnTo>
                    <a:pt x="1335087" y="9525"/>
                  </a:lnTo>
                  <a:lnTo>
                    <a:pt x="1335087" y="0"/>
                  </a:lnTo>
                  <a:lnTo>
                    <a:pt x="1373187" y="0"/>
                  </a:lnTo>
                  <a:lnTo>
                    <a:pt x="1373187" y="9525"/>
                  </a:lnTo>
                  <a:close/>
                </a:path>
                <a:path w="4845050" h="4413250">
                  <a:moveTo>
                    <a:pt x="1439862" y="9525"/>
                  </a:moveTo>
                  <a:lnTo>
                    <a:pt x="1401762" y="9525"/>
                  </a:lnTo>
                  <a:lnTo>
                    <a:pt x="1401762" y="0"/>
                  </a:lnTo>
                  <a:lnTo>
                    <a:pt x="1439862" y="0"/>
                  </a:lnTo>
                  <a:lnTo>
                    <a:pt x="1439862" y="9525"/>
                  </a:lnTo>
                  <a:close/>
                </a:path>
                <a:path w="4845050" h="4413250">
                  <a:moveTo>
                    <a:pt x="1506537" y="9525"/>
                  </a:moveTo>
                  <a:lnTo>
                    <a:pt x="1468437" y="9525"/>
                  </a:lnTo>
                  <a:lnTo>
                    <a:pt x="1468437" y="0"/>
                  </a:lnTo>
                  <a:lnTo>
                    <a:pt x="1506537" y="0"/>
                  </a:lnTo>
                  <a:lnTo>
                    <a:pt x="1506537" y="9525"/>
                  </a:lnTo>
                  <a:close/>
                </a:path>
                <a:path w="4845050" h="4413250">
                  <a:moveTo>
                    <a:pt x="1573212" y="9525"/>
                  </a:moveTo>
                  <a:lnTo>
                    <a:pt x="1535112" y="9525"/>
                  </a:lnTo>
                  <a:lnTo>
                    <a:pt x="1535112" y="0"/>
                  </a:lnTo>
                  <a:lnTo>
                    <a:pt x="1573212" y="0"/>
                  </a:lnTo>
                  <a:lnTo>
                    <a:pt x="1573212" y="9525"/>
                  </a:lnTo>
                  <a:close/>
                </a:path>
                <a:path w="4845050" h="4413250">
                  <a:moveTo>
                    <a:pt x="1639887" y="9525"/>
                  </a:moveTo>
                  <a:lnTo>
                    <a:pt x="1601787" y="9525"/>
                  </a:lnTo>
                  <a:lnTo>
                    <a:pt x="1601787" y="0"/>
                  </a:lnTo>
                  <a:lnTo>
                    <a:pt x="1639887" y="0"/>
                  </a:lnTo>
                  <a:lnTo>
                    <a:pt x="1639887" y="9525"/>
                  </a:lnTo>
                  <a:close/>
                </a:path>
                <a:path w="4845050" h="4413250">
                  <a:moveTo>
                    <a:pt x="1706562" y="9525"/>
                  </a:moveTo>
                  <a:lnTo>
                    <a:pt x="1668462" y="9525"/>
                  </a:lnTo>
                  <a:lnTo>
                    <a:pt x="1668462" y="0"/>
                  </a:lnTo>
                  <a:lnTo>
                    <a:pt x="1706562" y="0"/>
                  </a:lnTo>
                  <a:lnTo>
                    <a:pt x="1706562" y="9525"/>
                  </a:lnTo>
                  <a:close/>
                </a:path>
                <a:path w="4845050" h="4413250">
                  <a:moveTo>
                    <a:pt x="1773237" y="9525"/>
                  </a:moveTo>
                  <a:lnTo>
                    <a:pt x="1735137" y="9525"/>
                  </a:lnTo>
                  <a:lnTo>
                    <a:pt x="1735137" y="0"/>
                  </a:lnTo>
                  <a:lnTo>
                    <a:pt x="1773237" y="0"/>
                  </a:lnTo>
                  <a:lnTo>
                    <a:pt x="1773237" y="9525"/>
                  </a:lnTo>
                  <a:close/>
                </a:path>
                <a:path w="4845050" h="4413250">
                  <a:moveTo>
                    <a:pt x="1839912" y="9525"/>
                  </a:moveTo>
                  <a:lnTo>
                    <a:pt x="1801812" y="9525"/>
                  </a:lnTo>
                  <a:lnTo>
                    <a:pt x="1801812" y="0"/>
                  </a:lnTo>
                  <a:lnTo>
                    <a:pt x="1839912" y="0"/>
                  </a:lnTo>
                  <a:lnTo>
                    <a:pt x="1839912" y="9525"/>
                  </a:lnTo>
                  <a:close/>
                </a:path>
                <a:path w="4845050" h="4413250">
                  <a:moveTo>
                    <a:pt x="1906587" y="9525"/>
                  </a:moveTo>
                  <a:lnTo>
                    <a:pt x="1868487" y="9525"/>
                  </a:lnTo>
                  <a:lnTo>
                    <a:pt x="1868487" y="0"/>
                  </a:lnTo>
                  <a:lnTo>
                    <a:pt x="1906587" y="0"/>
                  </a:lnTo>
                  <a:lnTo>
                    <a:pt x="1906587" y="9525"/>
                  </a:lnTo>
                  <a:close/>
                </a:path>
                <a:path w="4845050" h="4413250">
                  <a:moveTo>
                    <a:pt x="1973262" y="9525"/>
                  </a:moveTo>
                  <a:lnTo>
                    <a:pt x="1935162" y="9525"/>
                  </a:lnTo>
                  <a:lnTo>
                    <a:pt x="1935162" y="0"/>
                  </a:lnTo>
                  <a:lnTo>
                    <a:pt x="1973262" y="0"/>
                  </a:lnTo>
                  <a:lnTo>
                    <a:pt x="1973262" y="9525"/>
                  </a:lnTo>
                  <a:close/>
                </a:path>
                <a:path w="4845050" h="4413250">
                  <a:moveTo>
                    <a:pt x="2039937" y="9525"/>
                  </a:moveTo>
                  <a:lnTo>
                    <a:pt x="2001837" y="9525"/>
                  </a:lnTo>
                  <a:lnTo>
                    <a:pt x="2001837" y="0"/>
                  </a:lnTo>
                  <a:lnTo>
                    <a:pt x="2039937" y="0"/>
                  </a:lnTo>
                  <a:lnTo>
                    <a:pt x="2039937" y="9525"/>
                  </a:lnTo>
                  <a:close/>
                </a:path>
                <a:path w="4845050" h="4413250">
                  <a:moveTo>
                    <a:pt x="2106612" y="9525"/>
                  </a:moveTo>
                  <a:lnTo>
                    <a:pt x="2068512" y="9525"/>
                  </a:lnTo>
                  <a:lnTo>
                    <a:pt x="2068512" y="0"/>
                  </a:lnTo>
                  <a:lnTo>
                    <a:pt x="2106612" y="0"/>
                  </a:lnTo>
                  <a:lnTo>
                    <a:pt x="2106612" y="9525"/>
                  </a:lnTo>
                  <a:close/>
                </a:path>
                <a:path w="4845050" h="4413250">
                  <a:moveTo>
                    <a:pt x="2173287" y="9525"/>
                  </a:moveTo>
                  <a:lnTo>
                    <a:pt x="2135187" y="9525"/>
                  </a:lnTo>
                  <a:lnTo>
                    <a:pt x="2135187" y="0"/>
                  </a:lnTo>
                  <a:lnTo>
                    <a:pt x="2173287" y="0"/>
                  </a:lnTo>
                  <a:lnTo>
                    <a:pt x="2173287" y="9525"/>
                  </a:lnTo>
                  <a:close/>
                </a:path>
                <a:path w="4845050" h="4413250">
                  <a:moveTo>
                    <a:pt x="2239962" y="9525"/>
                  </a:moveTo>
                  <a:lnTo>
                    <a:pt x="2201862" y="9525"/>
                  </a:lnTo>
                  <a:lnTo>
                    <a:pt x="2201862" y="0"/>
                  </a:lnTo>
                  <a:lnTo>
                    <a:pt x="2239962" y="0"/>
                  </a:lnTo>
                  <a:lnTo>
                    <a:pt x="2239962" y="9525"/>
                  </a:lnTo>
                  <a:close/>
                </a:path>
                <a:path w="4845050" h="4413250">
                  <a:moveTo>
                    <a:pt x="2306637" y="9525"/>
                  </a:moveTo>
                  <a:lnTo>
                    <a:pt x="2268537" y="9525"/>
                  </a:lnTo>
                  <a:lnTo>
                    <a:pt x="2268537" y="0"/>
                  </a:lnTo>
                  <a:lnTo>
                    <a:pt x="2306637" y="0"/>
                  </a:lnTo>
                  <a:lnTo>
                    <a:pt x="2306637" y="9525"/>
                  </a:lnTo>
                  <a:close/>
                </a:path>
                <a:path w="4845050" h="4413250">
                  <a:moveTo>
                    <a:pt x="2373312" y="9525"/>
                  </a:moveTo>
                  <a:lnTo>
                    <a:pt x="2335212" y="9525"/>
                  </a:lnTo>
                  <a:lnTo>
                    <a:pt x="2335212" y="0"/>
                  </a:lnTo>
                  <a:lnTo>
                    <a:pt x="2373312" y="0"/>
                  </a:lnTo>
                  <a:lnTo>
                    <a:pt x="2373312" y="9525"/>
                  </a:lnTo>
                  <a:close/>
                </a:path>
                <a:path w="4845050" h="4413250">
                  <a:moveTo>
                    <a:pt x="2439987" y="9525"/>
                  </a:moveTo>
                  <a:lnTo>
                    <a:pt x="2401887" y="9525"/>
                  </a:lnTo>
                  <a:lnTo>
                    <a:pt x="2401887" y="0"/>
                  </a:lnTo>
                  <a:lnTo>
                    <a:pt x="2439987" y="0"/>
                  </a:lnTo>
                  <a:lnTo>
                    <a:pt x="2439987" y="9525"/>
                  </a:lnTo>
                  <a:close/>
                </a:path>
                <a:path w="4845050" h="4413250">
                  <a:moveTo>
                    <a:pt x="2506662" y="9525"/>
                  </a:moveTo>
                  <a:lnTo>
                    <a:pt x="2468562" y="9525"/>
                  </a:lnTo>
                  <a:lnTo>
                    <a:pt x="2468562" y="0"/>
                  </a:lnTo>
                  <a:lnTo>
                    <a:pt x="2506662" y="0"/>
                  </a:lnTo>
                  <a:lnTo>
                    <a:pt x="2506662" y="9525"/>
                  </a:lnTo>
                  <a:close/>
                </a:path>
                <a:path w="4845050" h="4413250">
                  <a:moveTo>
                    <a:pt x="2573337" y="9525"/>
                  </a:moveTo>
                  <a:lnTo>
                    <a:pt x="2535237" y="9525"/>
                  </a:lnTo>
                  <a:lnTo>
                    <a:pt x="2535237" y="0"/>
                  </a:lnTo>
                  <a:lnTo>
                    <a:pt x="2573337" y="0"/>
                  </a:lnTo>
                  <a:lnTo>
                    <a:pt x="2573337" y="9525"/>
                  </a:lnTo>
                  <a:close/>
                </a:path>
                <a:path w="4845050" h="4413250">
                  <a:moveTo>
                    <a:pt x="2640012" y="9525"/>
                  </a:moveTo>
                  <a:lnTo>
                    <a:pt x="2601912" y="9525"/>
                  </a:lnTo>
                  <a:lnTo>
                    <a:pt x="2601912" y="0"/>
                  </a:lnTo>
                  <a:lnTo>
                    <a:pt x="2640012" y="0"/>
                  </a:lnTo>
                  <a:lnTo>
                    <a:pt x="2640012" y="9525"/>
                  </a:lnTo>
                  <a:close/>
                </a:path>
                <a:path w="4845050" h="4413250">
                  <a:moveTo>
                    <a:pt x="2706687" y="9525"/>
                  </a:moveTo>
                  <a:lnTo>
                    <a:pt x="2668587" y="9525"/>
                  </a:lnTo>
                  <a:lnTo>
                    <a:pt x="2668587" y="0"/>
                  </a:lnTo>
                  <a:lnTo>
                    <a:pt x="2706687" y="0"/>
                  </a:lnTo>
                  <a:lnTo>
                    <a:pt x="2706687" y="9525"/>
                  </a:lnTo>
                  <a:close/>
                </a:path>
                <a:path w="4845050" h="4413250">
                  <a:moveTo>
                    <a:pt x="2773362" y="9525"/>
                  </a:moveTo>
                  <a:lnTo>
                    <a:pt x="2735262" y="9525"/>
                  </a:lnTo>
                  <a:lnTo>
                    <a:pt x="2735262" y="0"/>
                  </a:lnTo>
                  <a:lnTo>
                    <a:pt x="2773362" y="0"/>
                  </a:lnTo>
                  <a:lnTo>
                    <a:pt x="2773362" y="9525"/>
                  </a:lnTo>
                  <a:close/>
                </a:path>
                <a:path w="4845050" h="4413250">
                  <a:moveTo>
                    <a:pt x="2840037" y="9525"/>
                  </a:moveTo>
                  <a:lnTo>
                    <a:pt x="2801937" y="9525"/>
                  </a:lnTo>
                  <a:lnTo>
                    <a:pt x="2801937" y="0"/>
                  </a:lnTo>
                  <a:lnTo>
                    <a:pt x="2840037" y="0"/>
                  </a:lnTo>
                  <a:lnTo>
                    <a:pt x="2840037" y="9525"/>
                  </a:lnTo>
                  <a:close/>
                </a:path>
                <a:path w="4845050" h="4413250">
                  <a:moveTo>
                    <a:pt x="2906712" y="9525"/>
                  </a:moveTo>
                  <a:lnTo>
                    <a:pt x="2868612" y="9525"/>
                  </a:lnTo>
                  <a:lnTo>
                    <a:pt x="2868612" y="0"/>
                  </a:lnTo>
                  <a:lnTo>
                    <a:pt x="2906712" y="0"/>
                  </a:lnTo>
                  <a:lnTo>
                    <a:pt x="2906712" y="9525"/>
                  </a:lnTo>
                  <a:close/>
                </a:path>
                <a:path w="4845050" h="4413250">
                  <a:moveTo>
                    <a:pt x="2973387" y="9525"/>
                  </a:moveTo>
                  <a:lnTo>
                    <a:pt x="2935287" y="9525"/>
                  </a:lnTo>
                  <a:lnTo>
                    <a:pt x="2935287" y="0"/>
                  </a:lnTo>
                  <a:lnTo>
                    <a:pt x="2973387" y="0"/>
                  </a:lnTo>
                  <a:lnTo>
                    <a:pt x="2973387" y="9525"/>
                  </a:lnTo>
                  <a:close/>
                </a:path>
                <a:path w="4845050" h="4413250">
                  <a:moveTo>
                    <a:pt x="3040062" y="9525"/>
                  </a:moveTo>
                  <a:lnTo>
                    <a:pt x="3001962" y="9525"/>
                  </a:lnTo>
                  <a:lnTo>
                    <a:pt x="3001962" y="0"/>
                  </a:lnTo>
                  <a:lnTo>
                    <a:pt x="3040062" y="0"/>
                  </a:lnTo>
                  <a:lnTo>
                    <a:pt x="3040062" y="9525"/>
                  </a:lnTo>
                  <a:close/>
                </a:path>
                <a:path w="4845050" h="4413250">
                  <a:moveTo>
                    <a:pt x="3106737" y="9525"/>
                  </a:moveTo>
                  <a:lnTo>
                    <a:pt x="3068637" y="9525"/>
                  </a:lnTo>
                  <a:lnTo>
                    <a:pt x="3068637" y="0"/>
                  </a:lnTo>
                  <a:lnTo>
                    <a:pt x="3106737" y="0"/>
                  </a:lnTo>
                  <a:lnTo>
                    <a:pt x="3106737" y="9525"/>
                  </a:lnTo>
                  <a:close/>
                </a:path>
                <a:path w="4845050" h="4413250">
                  <a:moveTo>
                    <a:pt x="3173412" y="9525"/>
                  </a:moveTo>
                  <a:lnTo>
                    <a:pt x="3135312" y="9525"/>
                  </a:lnTo>
                  <a:lnTo>
                    <a:pt x="3135312" y="0"/>
                  </a:lnTo>
                  <a:lnTo>
                    <a:pt x="3173412" y="0"/>
                  </a:lnTo>
                  <a:lnTo>
                    <a:pt x="3173412" y="9525"/>
                  </a:lnTo>
                  <a:close/>
                </a:path>
                <a:path w="4845050" h="4413250">
                  <a:moveTo>
                    <a:pt x="3240087" y="9525"/>
                  </a:moveTo>
                  <a:lnTo>
                    <a:pt x="3201987" y="9525"/>
                  </a:lnTo>
                  <a:lnTo>
                    <a:pt x="3201987" y="0"/>
                  </a:lnTo>
                  <a:lnTo>
                    <a:pt x="3240087" y="0"/>
                  </a:lnTo>
                  <a:lnTo>
                    <a:pt x="3240087" y="9525"/>
                  </a:lnTo>
                  <a:close/>
                </a:path>
                <a:path w="4845050" h="4413250">
                  <a:moveTo>
                    <a:pt x="3306762" y="9525"/>
                  </a:moveTo>
                  <a:lnTo>
                    <a:pt x="3268662" y="9525"/>
                  </a:lnTo>
                  <a:lnTo>
                    <a:pt x="3268662" y="0"/>
                  </a:lnTo>
                  <a:lnTo>
                    <a:pt x="3306762" y="0"/>
                  </a:lnTo>
                  <a:lnTo>
                    <a:pt x="3306762" y="9525"/>
                  </a:lnTo>
                  <a:close/>
                </a:path>
                <a:path w="4845050" h="4413250">
                  <a:moveTo>
                    <a:pt x="3373437" y="9525"/>
                  </a:moveTo>
                  <a:lnTo>
                    <a:pt x="3335337" y="9525"/>
                  </a:lnTo>
                  <a:lnTo>
                    <a:pt x="3335337" y="0"/>
                  </a:lnTo>
                  <a:lnTo>
                    <a:pt x="3373437" y="0"/>
                  </a:lnTo>
                  <a:lnTo>
                    <a:pt x="3373437" y="9525"/>
                  </a:lnTo>
                  <a:close/>
                </a:path>
                <a:path w="4845050" h="4413250">
                  <a:moveTo>
                    <a:pt x="3440112" y="9525"/>
                  </a:moveTo>
                  <a:lnTo>
                    <a:pt x="3402012" y="9525"/>
                  </a:lnTo>
                  <a:lnTo>
                    <a:pt x="3402012" y="0"/>
                  </a:lnTo>
                  <a:lnTo>
                    <a:pt x="3440112" y="0"/>
                  </a:lnTo>
                  <a:lnTo>
                    <a:pt x="3440112" y="9525"/>
                  </a:lnTo>
                  <a:close/>
                </a:path>
                <a:path w="4845050" h="4413250">
                  <a:moveTo>
                    <a:pt x="3506787" y="9525"/>
                  </a:moveTo>
                  <a:lnTo>
                    <a:pt x="3468687" y="9525"/>
                  </a:lnTo>
                  <a:lnTo>
                    <a:pt x="3468687" y="0"/>
                  </a:lnTo>
                  <a:lnTo>
                    <a:pt x="3506787" y="0"/>
                  </a:lnTo>
                  <a:lnTo>
                    <a:pt x="3506787" y="9525"/>
                  </a:lnTo>
                  <a:close/>
                </a:path>
                <a:path w="4845050" h="4413250">
                  <a:moveTo>
                    <a:pt x="3573462" y="9525"/>
                  </a:moveTo>
                  <a:lnTo>
                    <a:pt x="3535362" y="9525"/>
                  </a:lnTo>
                  <a:lnTo>
                    <a:pt x="3535362" y="0"/>
                  </a:lnTo>
                  <a:lnTo>
                    <a:pt x="3573462" y="0"/>
                  </a:lnTo>
                  <a:lnTo>
                    <a:pt x="3573462" y="9525"/>
                  </a:lnTo>
                  <a:close/>
                </a:path>
                <a:path w="4845050" h="4413250">
                  <a:moveTo>
                    <a:pt x="3640137" y="9525"/>
                  </a:moveTo>
                  <a:lnTo>
                    <a:pt x="3602037" y="9525"/>
                  </a:lnTo>
                  <a:lnTo>
                    <a:pt x="3602037" y="0"/>
                  </a:lnTo>
                  <a:lnTo>
                    <a:pt x="3640137" y="0"/>
                  </a:lnTo>
                  <a:lnTo>
                    <a:pt x="3640137" y="9525"/>
                  </a:lnTo>
                  <a:close/>
                </a:path>
                <a:path w="4845050" h="4413250">
                  <a:moveTo>
                    <a:pt x="3706812" y="9525"/>
                  </a:moveTo>
                  <a:lnTo>
                    <a:pt x="3668712" y="9525"/>
                  </a:lnTo>
                  <a:lnTo>
                    <a:pt x="3668712" y="0"/>
                  </a:lnTo>
                  <a:lnTo>
                    <a:pt x="3706812" y="0"/>
                  </a:lnTo>
                  <a:lnTo>
                    <a:pt x="3706812" y="9525"/>
                  </a:lnTo>
                  <a:close/>
                </a:path>
                <a:path w="4845050" h="4413250">
                  <a:moveTo>
                    <a:pt x="3773487" y="9525"/>
                  </a:moveTo>
                  <a:lnTo>
                    <a:pt x="3735387" y="9525"/>
                  </a:lnTo>
                  <a:lnTo>
                    <a:pt x="3735387" y="0"/>
                  </a:lnTo>
                  <a:lnTo>
                    <a:pt x="3773487" y="0"/>
                  </a:lnTo>
                  <a:lnTo>
                    <a:pt x="3773487" y="9525"/>
                  </a:lnTo>
                  <a:close/>
                </a:path>
                <a:path w="4845050" h="4413250">
                  <a:moveTo>
                    <a:pt x="3840162" y="9525"/>
                  </a:moveTo>
                  <a:lnTo>
                    <a:pt x="3802062" y="9525"/>
                  </a:lnTo>
                  <a:lnTo>
                    <a:pt x="3802062" y="0"/>
                  </a:lnTo>
                  <a:lnTo>
                    <a:pt x="3840162" y="0"/>
                  </a:lnTo>
                  <a:lnTo>
                    <a:pt x="3840162" y="9525"/>
                  </a:lnTo>
                  <a:close/>
                </a:path>
                <a:path w="4845050" h="4413250">
                  <a:moveTo>
                    <a:pt x="3906837" y="9525"/>
                  </a:moveTo>
                  <a:lnTo>
                    <a:pt x="3868737" y="9525"/>
                  </a:lnTo>
                  <a:lnTo>
                    <a:pt x="3868737" y="0"/>
                  </a:lnTo>
                  <a:lnTo>
                    <a:pt x="3906837" y="0"/>
                  </a:lnTo>
                  <a:lnTo>
                    <a:pt x="3906837" y="9525"/>
                  </a:lnTo>
                  <a:close/>
                </a:path>
                <a:path w="4845050" h="4413250">
                  <a:moveTo>
                    <a:pt x="3973512" y="9525"/>
                  </a:moveTo>
                  <a:lnTo>
                    <a:pt x="3935412" y="9525"/>
                  </a:lnTo>
                  <a:lnTo>
                    <a:pt x="3935412" y="0"/>
                  </a:lnTo>
                  <a:lnTo>
                    <a:pt x="3973512" y="0"/>
                  </a:lnTo>
                  <a:lnTo>
                    <a:pt x="3973512" y="9525"/>
                  </a:lnTo>
                  <a:close/>
                </a:path>
                <a:path w="4845050" h="4413250">
                  <a:moveTo>
                    <a:pt x="4040187" y="9525"/>
                  </a:moveTo>
                  <a:lnTo>
                    <a:pt x="4002087" y="9525"/>
                  </a:lnTo>
                  <a:lnTo>
                    <a:pt x="4002087" y="0"/>
                  </a:lnTo>
                  <a:lnTo>
                    <a:pt x="4040187" y="0"/>
                  </a:lnTo>
                  <a:lnTo>
                    <a:pt x="4040187" y="9525"/>
                  </a:lnTo>
                  <a:close/>
                </a:path>
                <a:path w="4845050" h="4413250">
                  <a:moveTo>
                    <a:pt x="4106862" y="9525"/>
                  </a:moveTo>
                  <a:lnTo>
                    <a:pt x="4068762" y="9525"/>
                  </a:lnTo>
                  <a:lnTo>
                    <a:pt x="4068762" y="0"/>
                  </a:lnTo>
                  <a:lnTo>
                    <a:pt x="4106862" y="0"/>
                  </a:lnTo>
                  <a:lnTo>
                    <a:pt x="4106862" y="9525"/>
                  </a:lnTo>
                  <a:close/>
                </a:path>
                <a:path w="4845050" h="4413250">
                  <a:moveTo>
                    <a:pt x="4173537" y="9525"/>
                  </a:moveTo>
                  <a:lnTo>
                    <a:pt x="4135437" y="9525"/>
                  </a:lnTo>
                  <a:lnTo>
                    <a:pt x="4135437" y="0"/>
                  </a:lnTo>
                  <a:lnTo>
                    <a:pt x="4173537" y="0"/>
                  </a:lnTo>
                  <a:lnTo>
                    <a:pt x="4173537" y="9525"/>
                  </a:lnTo>
                  <a:close/>
                </a:path>
                <a:path w="4845050" h="4413250">
                  <a:moveTo>
                    <a:pt x="4240212" y="9525"/>
                  </a:moveTo>
                  <a:lnTo>
                    <a:pt x="4202112" y="9525"/>
                  </a:lnTo>
                  <a:lnTo>
                    <a:pt x="4202112" y="0"/>
                  </a:lnTo>
                  <a:lnTo>
                    <a:pt x="4240212" y="0"/>
                  </a:lnTo>
                  <a:lnTo>
                    <a:pt x="4240212" y="9525"/>
                  </a:lnTo>
                  <a:close/>
                </a:path>
                <a:path w="4845050" h="4413250">
                  <a:moveTo>
                    <a:pt x="4306887" y="9525"/>
                  </a:moveTo>
                  <a:lnTo>
                    <a:pt x="4268787" y="9525"/>
                  </a:lnTo>
                  <a:lnTo>
                    <a:pt x="4268787" y="0"/>
                  </a:lnTo>
                  <a:lnTo>
                    <a:pt x="4306887" y="0"/>
                  </a:lnTo>
                  <a:lnTo>
                    <a:pt x="4306887" y="9525"/>
                  </a:lnTo>
                  <a:close/>
                </a:path>
                <a:path w="4845050" h="4413250">
                  <a:moveTo>
                    <a:pt x="4373562" y="9525"/>
                  </a:moveTo>
                  <a:lnTo>
                    <a:pt x="4335462" y="9525"/>
                  </a:lnTo>
                  <a:lnTo>
                    <a:pt x="4335462" y="0"/>
                  </a:lnTo>
                  <a:lnTo>
                    <a:pt x="4373562" y="0"/>
                  </a:lnTo>
                  <a:lnTo>
                    <a:pt x="4373562" y="9525"/>
                  </a:lnTo>
                  <a:close/>
                </a:path>
                <a:path w="4845050" h="4413250">
                  <a:moveTo>
                    <a:pt x="4440237" y="9525"/>
                  </a:moveTo>
                  <a:lnTo>
                    <a:pt x="4402137" y="9525"/>
                  </a:lnTo>
                  <a:lnTo>
                    <a:pt x="4402137" y="0"/>
                  </a:lnTo>
                  <a:lnTo>
                    <a:pt x="4440237" y="0"/>
                  </a:lnTo>
                  <a:lnTo>
                    <a:pt x="4440237" y="9525"/>
                  </a:lnTo>
                  <a:close/>
                </a:path>
                <a:path w="4845050" h="4413250">
                  <a:moveTo>
                    <a:pt x="4506912" y="9525"/>
                  </a:moveTo>
                  <a:lnTo>
                    <a:pt x="4468812" y="9525"/>
                  </a:lnTo>
                  <a:lnTo>
                    <a:pt x="4468812" y="0"/>
                  </a:lnTo>
                  <a:lnTo>
                    <a:pt x="4506912" y="0"/>
                  </a:lnTo>
                  <a:lnTo>
                    <a:pt x="4506912" y="9525"/>
                  </a:lnTo>
                  <a:close/>
                </a:path>
                <a:path w="4845050" h="4413250">
                  <a:moveTo>
                    <a:pt x="4573587" y="9525"/>
                  </a:moveTo>
                  <a:lnTo>
                    <a:pt x="4535487" y="9525"/>
                  </a:lnTo>
                  <a:lnTo>
                    <a:pt x="4535487" y="0"/>
                  </a:lnTo>
                  <a:lnTo>
                    <a:pt x="4573587" y="0"/>
                  </a:lnTo>
                  <a:lnTo>
                    <a:pt x="4573587" y="9525"/>
                  </a:lnTo>
                  <a:close/>
                </a:path>
                <a:path w="4845050" h="4413250">
                  <a:moveTo>
                    <a:pt x="4640262" y="9525"/>
                  </a:moveTo>
                  <a:lnTo>
                    <a:pt x="4602162" y="9525"/>
                  </a:lnTo>
                  <a:lnTo>
                    <a:pt x="4602162" y="0"/>
                  </a:lnTo>
                  <a:lnTo>
                    <a:pt x="4640262" y="0"/>
                  </a:lnTo>
                  <a:lnTo>
                    <a:pt x="4640262" y="9525"/>
                  </a:lnTo>
                  <a:close/>
                </a:path>
                <a:path w="4845050" h="4413250">
                  <a:moveTo>
                    <a:pt x="4706937" y="9525"/>
                  </a:moveTo>
                  <a:lnTo>
                    <a:pt x="4668837" y="9525"/>
                  </a:lnTo>
                  <a:lnTo>
                    <a:pt x="4668837" y="0"/>
                  </a:lnTo>
                  <a:lnTo>
                    <a:pt x="4706937" y="0"/>
                  </a:lnTo>
                  <a:lnTo>
                    <a:pt x="4706937" y="9525"/>
                  </a:lnTo>
                  <a:close/>
                </a:path>
                <a:path w="4845050" h="4413250">
                  <a:moveTo>
                    <a:pt x="4773612" y="9525"/>
                  </a:moveTo>
                  <a:lnTo>
                    <a:pt x="4735512" y="9525"/>
                  </a:lnTo>
                  <a:lnTo>
                    <a:pt x="4735512" y="0"/>
                  </a:lnTo>
                  <a:lnTo>
                    <a:pt x="4773612" y="0"/>
                  </a:lnTo>
                  <a:lnTo>
                    <a:pt x="4773612" y="9525"/>
                  </a:lnTo>
                  <a:close/>
                </a:path>
                <a:path w="4845050" h="4413250">
                  <a:moveTo>
                    <a:pt x="4840287" y="9525"/>
                  </a:moveTo>
                  <a:lnTo>
                    <a:pt x="4802187" y="9525"/>
                  </a:lnTo>
                  <a:lnTo>
                    <a:pt x="4802187" y="0"/>
                  </a:lnTo>
                  <a:lnTo>
                    <a:pt x="4840287" y="0"/>
                  </a:lnTo>
                  <a:lnTo>
                    <a:pt x="4840287" y="9525"/>
                  </a:lnTo>
                  <a:close/>
                </a:path>
                <a:path w="4845050" h="4413250">
                  <a:moveTo>
                    <a:pt x="4845050" y="71437"/>
                  </a:moveTo>
                  <a:lnTo>
                    <a:pt x="4835525" y="71437"/>
                  </a:lnTo>
                  <a:lnTo>
                    <a:pt x="4835525" y="33337"/>
                  </a:lnTo>
                  <a:lnTo>
                    <a:pt x="4845050" y="33337"/>
                  </a:lnTo>
                  <a:lnTo>
                    <a:pt x="4845050" y="71437"/>
                  </a:lnTo>
                  <a:close/>
                </a:path>
                <a:path w="4845050" h="4413250">
                  <a:moveTo>
                    <a:pt x="4845050" y="138112"/>
                  </a:moveTo>
                  <a:lnTo>
                    <a:pt x="4835525" y="138112"/>
                  </a:lnTo>
                  <a:lnTo>
                    <a:pt x="4835525" y="100012"/>
                  </a:lnTo>
                  <a:lnTo>
                    <a:pt x="4845050" y="100012"/>
                  </a:lnTo>
                  <a:lnTo>
                    <a:pt x="4845050" y="138112"/>
                  </a:lnTo>
                  <a:close/>
                </a:path>
                <a:path w="4845050" h="4413250">
                  <a:moveTo>
                    <a:pt x="4845050" y="204787"/>
                  </a:moveTo>
                  <a:lnTo>
                    <a:pt x="4835525" y="204787"/>
                  </a:lnTo>
                  <a:lnTo>
                    <a:pt x="4835525" y="166687"/>
                  </a:lnTo>
                  <a:lnTo>
                    <a:pt x="4845050" y="166687"/>
                  </a:lnTo>
                  <a:lnTo>
                    <a:pt x="4845050" y="204787"/>
                  </a:lnTo>
                  <a:close/>
                </a:path>
                <a:path w="4845050" h="4413250">
                  <a:moveTo>
                    <a:pt x="4845050" y="271462"/>
                  </a:moveTo>
                  <a:lnTo>
                    <a:pt x="4835525" y="271462"/>
                  </a:lnTo>
                  <a:lnTo>
                    <a:pt x="4835525" y="233362"/>
                  </a:lnTo>
                  <a:lnTo>
                    <a:pt x="4845050" y="233362"/>
                  </a:lnTo>
                  <a:lnTo>
                    <a:pt x="4845050" y="271462"/>
                  </a:lnTo>
                  <a:close/>
                </a:path>
                <a:path w="4845050" h="4413250">
                  <a:moveTo>
                    <a:pt x="4845050" y="338137"/>
                  </a:moveTo>
                  <a:lnTo>
                    <a:pt x="4835525" y="338137"/>
                  </a:lnTo>
                  <a:lnTo>
                    <a:pt x="4835525" y="300037"/>
                  </a:lnTo>
                  <a:lnTo>
                    <a:pt x="4845050" y="300037"/>
                  </a:lnTo>
                  <a:lnTo>
                    <a:pt x="4845050" y="338137"/>
                  </a:lnTo>
                  <a:close/>
                </a:path>
                <a:path w="4845050" h="4413250">
                  <a:moveTo>
                    <a:pt x="4845050" y="404812"/>
                  </a:moveTo>
                  <a:lnTo>
                    <a:pt x="4835525" y="404812"/>
                  </a:lnTo>
                  <a:lnTo>
                    <a:pt x="4835525" y="366712"/>
                  </a:lnTo>
                  <a:lnTo>
                    <a:pt x="4845050" y="366712"/>
                  </a:lnTo>
                  <a:lnTo>
                    <a:pt x="4845050" y="404812"/>
                  </a:lnTo>
                  <a:close/>
                </a:path>
                <a:path w="4845050" h="4413250">
                  <a:moveTo>
                    <a:pt x="4845050" y="471487"/>
                  </a:moveTo>
                  <a:lnTo>
                    <a:pt x="4835525" y="471487"/>
                  </a:lnTo>
                  <a:lnTo>
                    <a:pt x="4835525" y="433387"/>
                  </a:lnTo>
                  <a:lnTo>
                    <a:pt x="4845050" y="433387"/>
                  </a:lnTo>
                  <a:lnTo>
                    <a:pt x="4845050" y="471487"/>
                  </a:lnTo>
                  <a:close/>
                </a:path>
                <a:path w="4845050" h="4413250">
                  <a:moveTo>
                    <a:pt x="4845050" y="538162"/>
                  </a:moveTo>
                  <a:lnTo>
                    <a:pt x="4835525" y="538162"/>
                  </a:lnTo>
                  <a:lnTo>
                    <a:pt x="4835525" y="500062"/>
                  </a:lnTo>
                  <a:lnTo>
                    <a:pt x="4845050" y="500062"/>
                  </a:lnTo>
                  <a:lnTo>
                    <a:pt x="4845050" y="538162"/>
                  </a:lnTo>
                  <a:close/>
                </a:path>
                <a:path w="4845050" h="4413250">
                  <a:moveTo>
                    <a:pt x="4845050" y="604837"/>
                  </a:moveTo>
                  <a:lnTo>
                    <a:pt x="4835525" y="604837"/>
                  </a:lnTo>
                  <a:lnTo>
                    <a:pt x="4835525" y="566737"/>
                  </a:lnTo>
                  <a:lnTo>
                    <a:pt x="4845050" y="566737"/>
                  </a:lnTo>
                  <a:lnTo>
                    <a:pt x="4845050" y="604837"/>
                  </a:lnTo>
                  <a:close/>
                </a:path>
                <a:path w="4845050" h="4413250">
                  <a:moveTo>
                    <a:pt x="4845050" y="671512"/>
                  </a:moveTo>
                  <a:lnTo>
                    <a:pt x="4835525" y="671512"/>
                  </a:lnTo>
                  <a:lnTo>
                    <a:pt x="4835525" y="633412"/>
                  </a:lnTo>
                  <a:lnTo>
                    <a:pt x="4845050" y="633412"/>
                  </a:lnTo>
                  <a:lnTo>
                    <a:pt x="4845050" y="671512"/>
                  </a:lnTo>
                  <a:close/>
                </a:path>
                <a:path w="4845050" h="4413250">
                  <a:moveTo>
                    <a:pt x="4845050" y="738187"/>
                  </a:moveTo>
                  <a:lnTo>
                    <a:pt x="4835525" y="738187"/>
                  </a:lnTo>
                  <a:lnTo>
                    <a:pt x="4835525" y="700087"/>
                  </a:lnTo>
                  <a:lnTo>
                    <a:pt x="4845050" y="700087"/>
                  </a:lnTo>
                  <a:lnTo>
                    <a:pt x="4845050" y="738187"/>
                  </a:lnTo>
                  <a:close/>
                </a:path>
                <a:path w="4845050" h="4413250">
                  <a:moveTo>
                    <a:pt x="4845050" y="804862"/>
                  </a:moveTo>
                  <a:lnTo>
                    <a:pt x="4835525" y="804862"/>
                  </a:lnTo>
                  <a:lnTo>
                    <a:pt x="4835525" y="766762"/>
                  </a:lnTo>
                  <a:lnTo>
                    <a:pt x="4845050" y="766762"/>
                  </a:lnTo>
                  <a:lnTo>
                    <a:pt x="4845050" y="804862"/>
                  </a:lnTo>
                  <a:close/>
                </a:path>
                <a:path w="4845050" h="4413250">
                  <a:moveTo>
                    <a:pt x="4845050" y="871537"/>
                  </a:moveTo>
                  <a:lnTo>
                    <a:pt x="4835525" y="871537"/>
                  </a:lnTo>
                  <a:lnTo>
                    <a:pt x="4835525" y="833437"/>
                  </a:lnTo>
                  <a:lnTo>
                    <a:pt x="4845050" y="833437"/>
                  </a:lnTo>
                  <a:lnTo>
                    <a:pt x="4845050" y="871537"/>
                  </a:lnTo>
                  <a:close/>
                </a:path>
                <a:path w="4845050" h="4413250">
                  <a:moveTo>
                    <a:pt x="4845050" y="938212"/>
                  </a:moveTo>
                  <a:lnTo>
                    <a:pt x="4835525" y="938212"/>
                  </a:lnTo>
                  <a:lnTo>
                    <a:pt x="4835525" y="900112"/>
                  </a:lnTo>
                  <a:lnTo>
                    <a:pt x="4845050" y="900112"/>
                  </a:lnTo>
                  <a:lnTo>
                    <a:pt x="4845050" y="938212"/>
                  </a:lnTo>
                  <a:close/>
                </a:path>
                <a:path w="4845050" h="4413250">
                  <a:moveTo>
                    <a:pt x="4845050" y="1004887"/>
                  </a:moveTo>
                  <a:lnTo>
                    <a:pt x="4835525" y="1004887"/>
                  </a:lnTo>
                  <a:lnTo>
                    <a:pt x="4835525" y="966787"/>
                  </a:lnTo>
                  <a:lnTo>
                    <a:pt x="4845050" y="966787"/>
                  </a:lnTo>
                  <a:lnTo>
                    <a:pt x="4845050" y="1004887"/>
                  </a:lnTo>
                  <a:close/>
                </a:path>
                <a:path w="4845050" h="4413250">
                  <a:moveTo>
                    <a:pt x="4845050" y="1071562"/>
                  </a:moveTo>
                  <a:lnTo>
                    <a:pt x="4835525" y="1071562"/>
                  </a:lnTo>
                  <a:lnTo>
                    <a:pt x="4835525" y="1033462"/>
                  </a:lnTo>
                  <a:lnTo>
                    <a:pt x="4845050" y="1033462"/>
                  </a:lnTo>
                  <a:lnTo>
                    <a:pt x="4845050" y="1071562"/>
                  </a:lnTo>
                  <a:close/>
                </a:path>
                <a:path w="4845050" h="4413250">
                  <a:moveTo>
                    <a:pt x="4845050" y="1138237"/>
                  </a:moveTo>
                  <a:lnTo>
                    <a:pt x="4835525" y="1138237"/>
                  </a:lnTo>
                  <a:lnTo>
                    <a:pt x="4835525" y="1100137"/>
                  </a:lnTo>
                  <a:lnTo>
                    <a:pt x="4845050" y="1100137"/>
                  </a:lnTo>
                  <a:lnTo>
                    <a:pt x="4845050" y="1138237"/>
                  </a:lnTo>
                  <a:close/>
                </a:path>
                <a:path w="4845050" h="4413250">
                  <a:moveTo>
                    <a:pt x="4845050" y="1204912"/>
                  </a:moveTo>
                  <a:lnTo>
                    <a:pt x="4835525" y="1204912"/>
                  </a:lnTo>
                  <a:lnTo>
                    <a:pt x="4835525" y="1166812"/>
                  </a:lnTo>
                  <a:lnTo>
                    <a:pt x="4845050" y="1166812"/>
                  </a:lnTo>
                  <a:lnTo>
                    <a:pt x="4845050" y="1204912"/>
                  </a:lnTo>
                  <a:close/>
                </a:path>
                <a:path w="4845050" h="4413250">
                  <a:moveTo>
                    <a:pt x="4845050" y="1271587"/>
                  </a:moveTo>
                  <a:lnTo>
                    <a:pt x="4835525" y="1271587"/>
                  </a:lnTo>
                  <a:lnTo>
                    <a:pt x="4835525" y="1233487"/>
                  </a:lnTo>
                  <a:lnTo>
                    <a:pt x="4845050" y="1233487"/>
                  </a:lnTo>
                  <a:lnTo>
                    <a:pt x="4845050" y="1271587"/>
                  </a:lnTo>
                  <a:close/>
                </a:path>
                <a:path w="4845050" h="4413250">
                  <a:moveTo>
                    <a:pt x="4845050" y="1338262"/>
                  </a:moveTo>
                  <a:lnTo>
                    <a:pt x="4835525" y="1338262"/>
                  </a:lnTo>
                  <a:lnTo>
                    <a:pt x="4835525" y="1300162"/>
                  </a:lnTo>
                  <a:lnTo>
                    <a:pt x="4845050" y="1300162"/>
                  </a:lnTo>
                  <a:lnTo>
                    <a:pt x="4845050" y="1338262"/>
                  </a:lnTo>
                  <a:close/>
                </a:path>
                <a:path w="4845050" h="4413250">
                  <a:moveTo>
                    <a:pt x="4845050" y="1404937"/>
                  </a:moveTo>
                  <a:lnTo>
                    <a:pt x="4835525" y="1404937"/>
                  </a:lnTo>
                  <a:lnTo>
                    <a:pt x="4835525" y="1366837"/>
                  </a:lnTo>
                  <a:lnTo>
                    <a:pt x="4845050" y="1366837"/>
                  </a:lnTo>
                  <a:lnTo>
                    <a:pt x="4845050" y="1404937"/>
                  </a:lnTo>
                  <a:close/>
                </a:path>
                <a:path w="4845050" h="4413250">
                  <a:moveTo>
                    <a:pt x="4845050" y="1471612"/>
                  </a:moveTo>
                  <a:lnTo>
                    <a:pt x="4835525" y="1471612"/>
                  </a:lnTo>
                  <a:lnTo>
                    <a:pt x="4835525" y="1433512"/>
                  </a:lnTo>
                  <a:lnTo>
                    <a:pt x="4845050" y="1433512"/>
                  </a:lnTo>
                  <a:lnTo>
                    <a:pt x="4845050" y="1471612"/>
                  </a:lnTo>
                  <a:close/>
                </a:path>
                <a:path w="4845050" h="4413250">
                  <a:moveTo>
                    <a:pt x="4845050" y="1538287"/>
                  </a:moveTo>
                  <a:lnTo>
                    <a:pt x="4835525" y="1538287"/>
                  </a:lnTo>
                  <a:lnTo>
                    <a:pt x="4835525" y="1500187"/>
                  </a:lnTo>
                  <a:lnTo>
                    <a:pt x="4845050" y="1500187"/>
                  </a:lnTo>
                  <a:lnTo>
                    <a:pt x="4845050" y="1538287"/>
                  </a:lnTo>
                  <a:close/>
                </a:path>
                <a:path w="4845050" h="4413250">
                  <a:moveTo>
                    <a:pt x="4845050" y="1604962"/>
                  </a:moveTo>
                  <a:lnTo>
                    <a:pt x="4835525" y="1604962"/>
                  </a:lnTo>
                  <a:lnTo>
                    <a:pt x="4835525" y="1566862"/>
                  </a:lnTo>
                  <a:lnTo>
                    <a:pt x="4845050" y="1566862"/>
                  </a:lnTo>
                  <a:lnTo>
                    <a:pt x="4845050" y="1604962"/>
                  </a:lnTo>
                  <a:close/>
                </a:path>
                <a:path w="4845050" h="4413250">
                  <a:moveTo>
                    <a:pt x="4845050" y="1671637"/>
                  </a:moveTo>
                  <a:lnTo>
                    <a:pt x="4835525" y="1671637"/>
                  </a:lnTo>
                  <a:lnTo>
                    <a:pt x="4835525" y="1633537"/>
                  </a:lnTo>
                  <a:lnTo>
                    <a:pt x="4845050" y="1633537"/>
                  </a:lnTo>
                  <a:lnTo>
                    <a:pt x="4845050" y="1671637"/>
                  </a:lnTo>
                  <a:close/>
                </a:path>
                <a:path w="4845050" h="4413250">
                  <a:moveTo>
                    <a:pt x="4845050" y="1738312"/>
                  </a:moveTo>
                  <a:lnTo>
                    <a:pt x="4835525" y="1738312"/>
                  </a:lnTo>
                  <a:lnTo>
                    <a:pt x="4835525" y="1700212"/>
                  </a:lnTo>
                  <a:lnTo>
                    <a:pt x="4845050" y="1700212"/>
                  </a:lnTo>
                  <a:lnTo>
                    <a:pt x="4845050" y="1738312"/>
                  </a:lnTo>
                  <a:close/>
                </a:path>
                <a:path w="4845050" h="4413250">
                  <a:moveTo>
                    <a:pt x="4845050" y="1804987"/>
                  </a:moveTo>
                  <a:lnTo>
                    <a:pt x="4835525" y="1804987"/>
                  </a:lnTo>
                  <a:lnTo>
                    <a:pt x="4835525" y="1766887"/>
                  </a:lnTo>
                  <a:lnTo>
                    <a:pt x="4845050" y="1766887"/>
                  </a:lnTo>
                  <a:lnTo>
                    <a:pt x="4845050" y="1804987"/>
                  </a:lnTo>
                  <a:close/>
                </a:path>
                <a:path w="4845050" h="4413250">
                  <a:moveTo>
                    <a:pt x="4845050" y="1871662"/>
                  </a:moveTo>
                  <a:lnTo>
                    <a:pt x="4835525" y="1871662"/>
                  </a:lnTo>
                  <a:lnTo>
                    <a:pt x="4835525" y="1833562"/>
                  </a:lnTo>
                  <a:lnTo>
                    <a:pt x="4845050" y="1833562"/>
                  </a:lnTo>
                  <a:lnTo>
                    <a:pt x="4845050" y="1871662"/>
                  </a:lnTo>
                  <a:close/>
                </a:path>
                <a:path w="4845050" h="4413250">
                  <a:moveTo>
                    <a:pt x="4845050" y="1938337"/>
                  </a:moveTo>
                  <a:lnTo>
                    <a:pt x="4835525" y="1938337"/>
                  </a:lnTo>
                  <a:lnTo>
                    <a:pt x="4835525" y="1900237"/>
                  </a:lnTo>
                  <a:lnTo>
                    <a:pt x="4845050" y="1900237"/>
                  </a:lnTo>
                  <a:lnTo>
                    <a:pt x="4845050" y="1938337"/>
                  </a:lnTo>
                  <a:close/>
                </a:path>
                <a:path w="4845050" h="4413250">
                  <a:moveTo>
                    <a:pt x="4845050" y="2005012"/>
                  </a:moveTo>
                  <a:lnTo>
                    <a:pt x="4835525" y="2005012"/>
                  </a:lnTo>
                  <a:lnTo>
                    <a:pt x="4835525" y="1966912"/>
                  </a:lnTo>
                  <a:lnTo>
                    <a:pt x="4845050" y="1966912"/>
                  </a:lnTo>
                  <a:lnTo>
                    <a:pt x="4845050" y="2005012"/>
                  </a:lnTo>
                  <a:close/>
                </a:path>
                <a:path w="4845050" h="4413250">
                  <a:moveTo>
                    <a:pt x="4845050" y="2071687"/>
                  </a:moveTo>
                  <a:lnTo>
                    <a:pt x="4835525" y="2071687"/>
                  </a:lnTo>
                  <a:lnTo>
                    <a:pt x="4835525" y="2033587"/>
                  </a:lnTo>
                  <a:lnTo>
                    <a:pt x="4845050" y="2033587"/>
                  </a:lnTo>
                  <a:lnTo>
                    <a:pt x="4845050" y="2071687"/>
                  </a:lnTo>
                  <a:close/>
                </a:path>
                <a:path w="4845050" h="4413250">
                  <a:moveTo>
                    <a:pt x="4845050" y="2138362"/>
                  </a:moveTo>
                  <a:lnTo>
                    <a:pt x="4835525" y="2138362"/>
                  </a:lnTo>
                  <a:lnTo>
                    <a:pt x="4835525" y="2100262"/>
                  </a:lnTo>
                  <a:lnTo>
                    <a:pt x="4845050" y="2100262"/>
                  </a:lnTo>
                  <a:lnTo>
                    <a:pt x="4845050" y="2138362"/>
                  </a:lnTo>
                  <a:close/>
                </a:path>
                <a:path w="4845050" h="4413250">
                  <a:moveTo>
                    <a:pt x="4845050" y="2205037"/>
                  </a:moveTo>
                  <a:lnTo>
                    <a:pt x="4835525" y="2205037"/>
                  </a:lnTo>
                  <a:lnTo>
                    <a:pt x="4835525" y="2166937"/>
                  </a:lnTo>
                  <a:lnTo>
                    <a:pt x="4845050" y="2166937"/>
                  </a:lnTo>
                  <a:lnTo>
                    <a:pt x="4845050" y="2205037"/>
                  </a:lnTo>
                  <a:close/>
                </a:path>
                <a:path w="4845050" h="4413250">
                  <a:moveTo>
                    <a:pt x="4845050" y="2271712"/>
                  </a:moveTo>
                  <a:lnTo>
                    <a:pt x="4835525" y="2271712"/>
                  </a:lnTo>
                  <a:lnTo>
                    <a:pt x="4835525" y="2233612"/>
                  </a:lnTo>
                  <a:lnTo>
                    <a:pt x="4845050" y="2233612"/>
                  </a:lnTo>
                  <a:lnTo>
                    <a:pt x="4845050" y="2271712"/>
                  </a:lnTo>
                  <a:close/>
                </a:path>
                <a:path w="4845050" h="4413250">
                  <a:moveTo>
                    <a:pt x="4845050" y="2338387"/>
                  </a:moveTo>
                  <a:lnTo>
                    <a:pt x="4835525" y="2338387"/>
                  </a:lnTo>
                  <a:lnTo>
                    <a:pt x="4835525" y="2300287"/>
                  </a:lnTo>
                  <a:lnTo>
                    <a:pt x="4845050" y="2300287"/>
                  </a:lnTo>
                  <a:lnTo>
                    <a:pt x="4845050" y="2338387"/>
                  </a:lnTo>
                  <a:close/>
                </a:path>
                <a:path w="4845050" h="4413250">
                  <a:moveTo>
                    <a:pt x="4845050" y="2405062"/>
                  </a:moveTo>
                  <a:lnTo>
                    <a:pt x="4835525" y="2405062"/>
                  </a:lnTo>
                  <a:lnTo>
                    <a:pt x="4835525" y="2366962"/>
                  </a:lnTo>
                  <a:lnTo>
                    <a:pt x="4845050" y="2366962"/>
                  </a:lnTo>
                  <a:lnTo>
                    <a:pt x="4845050" y="2405062"/>
                  </a:lnTo>
                  <a:close/>
                </a:path>
                <a:path w="4845050" h="4413250">
                  <a:moveTo>
                    <a:pt x="4845050" y="2471737"/>
                  </a:moveTo>
                  <a:lnTo>
                    <a:pt x="4835525" y="2471737"/>
                  </a:lnTo>
                  <a:lnTo>
                    <a:pt x="4835525" y="2433637"/>
                  </a:lnTo>
                  <a:lnTo>
                    <a:pt x="4845050" y="2433637"/>
                  </a:lnTo>
                  <a:lnTo>
                    <a:pt x="4845050" y="2471737"/>
                  </a:lnTo>
                  <a:close/>
                </a:path>
                <a:path w="4845050" h="4413250">
                  <a:moveTo>
                    <a:pt x="4845050" y="2538412"/>
                  </a:moveTo>
                  <a:lnTo>
                    <a:pt x="4835525" y="2538412"/>
                  </a:lnTo>
                  <a:lnTo>
                    <a:pt x="4835525" y="2500312"/>
                  </a:lnTo>
                  <a:lnTo>
                    <a:pt x="4845050" y="2500312"/>
                  </a:lnTo>
                  <a:lnTo>
                    <a:pt x="4845050" y="2538412"/>
                  </a:lnTo>
                  <a:close/>
                </a:path>
                <a:path w="4845050" h="4413250">
                  <a:moveTo>
                    <a:pt x="4845050" y="2605087"/>
                  </a:moveTo>
                  <a:lnTo>
                    <a:pt x="4835525" y="2605087"/>
                  </a:lnTo>
                  <a:lnTo>
                    <a:pt x="4835525" y="2566987"/>
                  </a:lnTo>
                  <a:lnTo>
                    <a:pt x="4845050" y="2566987"/>
                  </a:lnTo>
                  <a:lnTo>
                    <a:pt x="4845050" y="2605087"/>
                  </a:lnTo>
                  <a:close/>
                </a:path>
                <a:path w="4845050" h="4413250">
                  <a:moveTo>
                    <a:pt x="4845050" y="2671762"/>
                  </a:moveTo>
                  <a:lnTo>
                    <a:pt x="4835525" y="2671762"/>
                  </a:lnTo>
                  <a:lnTo>
                    <a:pt x="4835525" y="2633662"/>
                  </a:lnTo>
                  <a:lnTo>
                    <a:pt x="4845050" y="2633662"/>
                  </a:lnTo>
                  <a:lnTo>
                    <a:pt x="4845050" y="2671762"/>
                  </a:lnTo>
                  <a:close/>
                </a:path>
                <a:path w="4845050" h="4413250">
                  <a:moveTo>
                    <a:pt x="4845050" y="2738437"/>
                  </a:moveTo>
                  <a:lnTo>
                    <a:pt x="4835525" y="2738437"/>
                  </a:lnTo>
                  <a:lnTo>
                    <a:pt x="4835525" y="2700337"/>
                  </a:lnTo>
                  <a:lnTo>
                    <a:pt x="4845050" y="2700337"/>
                  </a:lnTo>
                  <a:lnTo>
                    <a:pt x="4845050" y="2738437"/>
                  </a:lnTo>
                  <a:close/>
                </a:path>
                <a:path w="4845050" h="4413250">
                  <a:moveTo>
                    <a:pt x="4845050" y="2805112"/>
                  </a:moveTo>
                  <a:lnTo>
                    <a:pt x="4835525" y="2805112"/>
                  </a:lnTo>
                  <a:lnTo>
                    <a:pt x="4835525" y="2767012"/>
                  </a:lnTo>
                  <a:lnTo>
                    <a:pt x="4845050" y="2767012"/>
                  </a:lnTo>
                  <a:lnTo>
                    <a:pt x="4845050" y="2805112"/>
                  </a:lnTo>
                  <a:close/>
                </a:path>
                <a:path w="4845050" h="4413250">
                  <a:moveTo>
                    <a:pt x="4845050" y="2871787"/>
                  </a:moveTo>
                  <a:lnTo>
                    <a:pt x="4835525" y="2871787"/>
                  </a:lnTo>
                  <a:lnTo>
                    <a:pt x="4835525" y="2833687"/>
                  </a:lnTo>
                  <a:lnTo>
                    <a:pt x="4845050" y="2833687"/>
                  </a:lnTo>
                  <a:lnTo>
                    <a:pt x="4845050" y="2871787"/>
                  </a:lnTo>
                  <a:close/>
                </a:path>
                <a:path w="4845050" h="4413250">
                  <a:moveTo>
                    <a:pt x="4845050" y="2938462"/>
                  </a:moveTo>
                  <a:lnTo>
                    <a:pt x="4835525" y="2938462"/>
                  </a:lnTo>
                  <a:lnTo>
                    <a:pt x="4835525" y="2900362"/>
                  </a:lnTo>
                  <a:lnTo>
                    <a:pt x="4845050" y="2900362"/>
                  </a:lnTo>
                  <a:lnTo>
                    <a:pt x="4845050" y="2938462"/>
                  </a:lnTo>
                  <a:close/>
                </a:path>
                <a:path w="4845050" h="4413250">
                  <a:moveTo>
                    <a:pt x="4845050" y="3005137"/>
                  </a:moveTo>
                  <a:lnTo>
                    <a:pt x="4835525" y="3005137"/>
                  </a:lnTo>
                  <a:lnTo>
                    <a:pt x="4835525" y="2967037"/>
                  </a:lnTo>
                  <a:lnTo>
                    <a:pt x="4845050" y="2967037"/>
                  </a:lnTo>
                  <a:lnTo>
                    <a:pt x="4845050" y="3005137"/>
                  </a:lnTo>
                  <a:close/>
                </a:path>
                <a:path w="4845050" h="4413250">
                  <a:moveTo>
                    <a:pt x="4845050" y="3071812"/>
                  </a:moveTo>
                  <a:lnTo>
                    <a:pt x="4835525" y="3071812"/>
                  </a:lnTo>
                  <a:lnTo>
                    <a:pt x="4835525" y="3033712"/>
                  </a:lnTo>
                  <a:lnTo>
                    <a:pt x="4845050" y="3033712"/>
                  </a:lnTo>
                  <a:lnTo>
                    <a:pt x="4845050" y="3071812"/>
                  </a:lnTo>
                  <a:close/>
                </a:path>
                <a:path w="4845050" h="4413250">
                  <a:moveTo>
                    <a:pt x="4845050" y="3138487"/>
                  </a:moveTo>
                  <a:lnTo>
                    <a:pt x="4835525" y="3138487"/>
                  </a:lnTo>
                  <a:lnTo>
                    <a:pt x="4835525" y="3100387"/>
                  </a:lnTo>
                  <a:lnTo>
                    <a:pt x="4845050" y="3100387"/>
                  </a:lnTo>
                  <a:lnTo>
                    <a:pt x="4845050" y="3138487"/>
                  </a:lnTo>
                  <a:close/>
                </a:path>
                <a:path w="4845050" h="4413250">
                  <a:moveTo>
                    <a:pt x="4845050" y="3205162"/>
                  </a:moveTo>
                  <a:lnTo>
                    <a:pt x="4835525" y="3205162"/>
                  </a:lnTo>
                  <a:lnTo>
                    <a:pt x="4835525" y="3167062"/>
                  </a:lnTo>
                  <a:lnTo>
                    <a:pt x="4845050" y="3167062"/>
                  </a:lnTo>
                  <a:lnTo>
                    <a:pt x="4845050" y="3205162"/>
                  </a:lnTo>
                  <a:close/>
                </a:path>
                <a:path w="4845050" h="4413250">
                  <a:moveTo>
                    <a:pt x="4845050" y="3271837"/>
                  </a:moveTo>
                  <a:lnTo>
                    <a:pt x="4835525" y="3271837"/>
                  </a:lnTo>
                  <a:lnTo>
                    <a:pt x="4835525" y="3233737"/>
                  </a:lnTo>
                  <a:lnTo>
                    <a:pt x="4845050" y="3233737"/>
                  </a:lnTo>
                  <a:lnTo>
                    <a:pt x="4845050" y="3271837"/>
                  </a:lnTo>
                  <a:close/>
                </a:path>
                <a:path w="4845050" h="4413250">
                  <a:moveTo>
                    <a:pt x="4845050" y="3338512"/>
                  </a:moveTo>
                  <a:lnTo>
                    <a:pt x="4835525" y="3338512"/>
                  </a:lnTo>
                  <a:lnTo>
                    <a:pt x="4835525" y="3300412"/>
                  </a:lnTo>
                  <a:lnTo>
                    <a:pt x="4845050" y="3300412"/>
                  </a:lnTo>
                  <a:lnTo>
                    <a:pt x="4845050" y="3338512"/>
                  </a:lnTo>
                  <a:close/>
                </a:path>
                <a:path w="4845050" h="4413250">
                  <a:moveTo>
                    <a:pt x="4845050" y="3405187"/>
                  </a:moveTo>
                  <a:lnTo>
                    <a:pt x="4835525" y="3405187"/>
                  </a:lnTo>
                  <a:lnTo>
                    <a:pt x="4835525" y="3367087"/>
                  </a:lnTo>
                  <a:lnTo>
                    <a:pt x="4845050" y="3367087"/>
                  </a:lnTo>
                  <a:lnTo>
                    <a:pt x="4845050" y="3405187"/>
                  </a:lnTo>
                  <a:close/>
                </a:path>
                <a:path w="4845050" h="4413250">
                  <a:moveTo>
                    <a:pt x="4845050" y="3471862"/>
                  </a:moveTo>
                  <a:lnTo>
                    <a:pt x="4835525" y="3471862"/>
                  </a:lnTo>
                  <a:lnTo>
                    <a:pt x="4835525" y="3433762"/>
                  </a:lnTo>
                  <a:lnTo>
                    <a:pt x="4845050" y="3433762"/>
                  </a:lnTo>
                  <a:lnTo>
                    <a:pt x="4845050" y="3471862"/>
                  </a:lnTo>
                  <a:close/>
                </a:path>
                <a:path w="4845050" h="4413250">
                  <a:moveTo>
                    <a:pt x="4845050" y="3538537"/>
                  </a:moveTo>
                  <a:lnTo>
                    <a:pt x="4835525" y="3538537"/>
                  </a:lnTo>
                  <a:lnTo>
                    <a:pt x="4835525" y="3500437"/>
                  </a:lnTo>
                  <a:lnTo>
                    <a:pt x="4845050" y="3500437"/>
                  </a:lnTo>
                  <a:lnTo>
                    <a:pt x="4845050" y="3538537"/>
                  </a:lnTo>
                  <a:close/>
                </a:path>
                <a:path w="4845050" h="4413250">
                  <a:moveTo>
                    <a:pt x="4845050" y="3605212"/>
                  </a:moveTo>
                  <a:lnTo>
                    <a:pt x="4835525" y="3605212"/>
                  </a:lnTo>
                  <a:lnTo>
                    <a:pt x="4835525" y="3567112"/>
                  </a:lnTo>
                  <a:lnTo>
                    <a:pt x="4845050" y="3567112"/>
                  </a:lnTo>
                  <a:lnTo>
                    <a:pt x="4845050" y="3605212"/>
                  </a:lnTo>
                  <a:close/>
                </a:path>
                <a:path w="4845050" h="4413250">
                  <a:moveTo>
                    <a:pt x="4845050" y="3671887"/>
                  </a:moveTo>
                  <a:lnTo>
                    <a:pt x="4835525" y="3671887"/>
                  </a:lnTo>
                  <a:lnTo>
                    <a:pt x="4835525" y="3633787"/>
                  </a:lnTo>
                  <a:lnTo>
                    <a:pt x="4845050" y="3633787"/>
                  </a:lnTo>
                  <a:lnTo>
                    <a:pt x="4845050" y="3671887"/>
                  </a:lnTo>
                  <a:close/>
                </a:path>
                <a:path w="4845050" h="4413250">
                  <a:moveTo>
                    <a:pt x="4845050" y="3738562"/>
                  </a:moveTo>
                  <a:lnTo>
                    <a:pt x="4835525" y="3738562"/>
                  </a:lnTo>
                  <a:lnTo>
                    <a:pt x="4835525" y="3700462"/>
                  </a:lnTo>
                  <a:lnTo>
                    <a:pt x="4845050" y="3700462"/>
                  </a:lnTo>
                  <a:lnTo>
                    <a:pt x="4845050" y="3738562"/>
                  </a:lnTo>
                  <a:close/>
                </a:path>
                <a:path w="4845050" h="4413250">
                  <a:moveTo>
                    <a:pt x="4845050" y="3805237"/>
                  </a:moveTo>
                  <a:lnTo>
                    <a:pt x="4835525" y="3805237"/>
                  </a:lnTo>
                  <a:lnTo>
                    <a:pt x="4835525" y="3767137"/>
                  </a:lnTo>
                  <a:lnTo>
                    <a:pt x="4845050" y="3767137"/>
                  </a:lnTo>
                  <a:lnTo>
                    <a:pt x="4845050" y="3805237"/>
                  </a:lnTo>
                  <a:close/>
                </a:path>
                <a:path w="4845050" h="4413250">
                  <a:moveTo>
                    <a:pt x="4845050" y="3871912"/>
                  </a:moveTo>
                  <a:lnTo>
                    <a:pt x="4835525" y="3871912"/>
                  </a:lnTo>
                  <a:lnTo>
                    <a:pt x="4835525" y="3833812"/>
                  </a:lnTo>
                  <a:lnTo>
                    <a:pt x="4845050" y="3833812"/>
                  </a:lnTo>
                  <a:lnTo>
                    <a:pt x="4845050" y="3871912"/>
                  </a:lnTo>
                  <a:close/>
                </a:path>
                <a:path w="4845050" h="4413250">
                  <a:moveTo>
                    <a:pt x="4845050" y="3938587"/>
                  </a:moveTo>
                  <a:lnTo>
                    <a:pt x="4835525" y="3938587"/>
                  </a:lnTo>
                  <a:lnTo>
                    <a:pt x="4835525" y="3900487"/>
                  </a:lnTo>
                  <a:lnTo>
                    <a:pt x="4845050" y="3900487"/>
                  </a:lnTo>
                  <a:lnTo>
                    <a:pt x="4845050" y="3938587"/>
                  </a:lnTo>
                  <a:close/>
                </a:path>
                <a:path w="4845050" h="4413250">
                  <a:moveTo>
                    <a:pt x="4845050" y="4005262"/>
                  </a:moveTo>
                  <a:lnTo>
                    <a:pt x="4835525" y="4005262"/>
                  </a:lnTo>
                  <a:lnTo>
                    <a:pt x="4835525" y="3967162"/>
                  </a:lnTo>
                  <a:lnTo>
                    <a:pt x="4845050" y="3967162"/>
                  </a:lnTo>
                  <a:lnTo>
                    <a:pt x="4845050" y="4005262"/>
                  </a:lnTo>
                  <a:close/>
                </a:path>
                <a:path w="4845050" h="4413250">
                  <a:moveTo>
                    <a:pt x="4845050" y="4071937"/>
                  </a:moveTo>
                  <a:lnTo>
                    <a:pt x="4835525" y="4071937"/>
                  </a:lnTo>
                  <a:lnTo>
                    <a:pt x="4835525" y="4033837"/>
                  </a:lnTo>
                  <a:lnTo>
                    <a:pt x="4845050" y="4033837"/>
                  </a:lnTo>
                  <a:lnTo>
                    <a:pt x="4845050" y="4071937"/>
                  </a:lnTo>
                  <a:close/>
                </a:path>
                <a:path w="4845050" h="4413250">
                  <a:moveTo>
                    <a:pt x="4845050" y="4138612"/>
                  </a:moveTo>
                  <a:lnTo>
                    <a:pt x="4835525" y="4138612"/>
                  </a:lnTo>
                  <a:lnTo>
                    <a:pt x="4835525" y="4100512"/>
                  </a:lnTo>
                  <a:lnTo>
                    <a:pt x="4845050" y="4100512"/>
                  </a:lnTo>
                  <a:lnTo>
                    <a:pt x="4845050" y="4138612"/>
                  </a:lnTo>
                  <a:close/>
                </a:path>
                <a:path w="4845050" h="4413250">
                  <a:moveTo>
                    <a:pt x="4845050" y="4205287"/>
                  </a:moveTo>
                  <a:lnTo>
                    <a:pt x="4835525" y="4205287"/>
                  </a:lnTo>
                  <a:lnTo>
                    <a:pt x="4835525" y="4167187"/>
                  </a:lnTo>
                  <a:lnTo>
                    <a:pt x="4845050" y="4167187"/>
                  </a:lnTo>
                  <a:lnTo>
                    <a:pt x="4845050" y="4205287"/>
                  </a:lnTo>
                  <a:close/>
                </a:path>
                <a:path w="4845050" h="4413250">
                  <a:moveTo>
                    <a:pt x="4845050" y="4271962"/>
                  </a:moveTo>
                  <a:lnTo>
                    <a:pt x="4835525" y="4271962"/>
                  </a:lnTo>
                  <a:lnTo>
                    <a:pt x="4835525" y="4233862"/>
                  </a:lnTo>
                  <a:lnTo>
                    <a:pt x="4845050" y="4233862"/>
                  </a:lnTo>
                  <a:lnTo>
                    <a:pt x="4845050" y="4271962"/>
                  </a:lnTo>
                  <a:close/>
                </a:path>
                <a:path w="4845050" h="4413250">
                  <a:moveTo>
                    <a:pt x="4845050" y="4338637"/>
                  </a:moveTo>
                  <a:lnTo>
                    <a:pt x="4835525" y="4338637"/>
                  </a:lnTo>
                  <a:lnTo>
                    <a:pt x="4835525" y="4300537"/>
                  </a:lnTo>
                  <a:lnTo>
                    <a:pt x="4845050" y="4300537"/>
                  </a:lnTo>
                  <a:lnTo>
                    <a:pt x="4845050" y="4338637"/>
                  </a:lnTo>
                  <a:close/>
                </a:path>
                <a:path w="4845050" h="4413250">
                  <a:moveTo>
                    <a:pt x="4845050" y="4405312"/>
                  </a:moveTo>
                  <a:lnTo>
                    <a:pt x="4835525" y="4405312"/>
                  </a:lnTo>
                  <a:lnTo>
                    <a:pt x="4835525" y="4367212"/>
                  </a:lnTo>
                  <a:lnTo>
                    <a:pt x="4845050" y="4367212"/>
                  </a:lnTo>
                  <a:lnTo>
                    <a:pt x="4845050" y="4405312"/>
                  </a:lnTo>
                  <a:close/>
                </a:path>
                <a:path w="4845050" h="4413250">
                  <a:moveTo>
                    <a:pt x="4814887" y="4413250"/>
                  </a:moveTo>
                  <a:lnTo>
                    <a:pt x="4776787" y="4413250"/>
                  </a:lnTo>
                  <a:lnTo>
                    <a:pt x="4776787" y="4403725"/>
                  </a:lnTo>
                  <a:lnTo>
                    <a:pt x="4814887" y="4403725"/>
                  </a:lnTo>
                  <a:lnTo>
                    <a:pt x="4814887" y="4413250"/>
                  </a:lnTo>
                  <a:close/>
                </a:path>
                <a:path w="4845050" h="4413250">
                  <a:moveTo>
                    <a:pt x="4748212" y="4413250"/>
                  </a:moveTo>
                  <a:lnTo>
                    <a:pt x="4710112" y="4413250"/>
                  </a:lnTo>
                  <a:lnTo>
                    <a:pt x="4710112" y="4403725"/>
                  </a:lnTo>
                  <a:lnTo>
                    <a:pt x="4748212" y="4403725"/>
                  </a:lnTo>
                  <a:lnTo>
                    <a:pt x="4748212" y="4413250"/>
                  </a:lnTo>
                  <a:close/>
                </a:path>
                <a:path w="4845050" h="4413250">
                  <a:moveTo>
                    <a:pt x="4681537" y="4413250"/>
                  </a:moveTo>
                  <a:lnTo>
                    <a:pt x="4643437" y="4413250"/>
                  </a:lnTo>
                  <a:lnTo>
                    <a:pt x="4643437" y="4403725"/>
                  </a:lnTo>
                  <a:lnTo>
                    <a:pt x="4681537" y="4403725"/>
                  </a:lnTo>
                  <a:lnTo>
                    <a:pt x="4681537" y="4413250"/>
                  </a:lnTo>
                  <a:close/>
                </a:path>
                <a:path w="4845050" h="4413250">
                  <a:moveTo>
                    <a:pt x="4614862" y="4413250"/>
                  </a:moveTo>
                  <a:lnTo>
                    <a:pt x="4576762" y="4413250"/>
                  </a:lnTo>
                  <a:lnTo>
                    <a:pt x="4576762" y="4403725"/>
                  </a:lnTo>
                  <a:lnTo>
                    <a:pt x="4614862" y="4403725"/>
                  </a:lnTo>
                  <a:lnTo>
                    <a:pt x="4614862" y="4413250"/>
                  </a:lnTo>
                  <a:close/>
                </a:path>
                <a:path w="4845050" h="4413250">
                  <a:moveTo>
                    <a:pt x="4548187" y="4413250"/>
                  </a:moveTo>
                  <a:lnTo>
                    <a:pt x="4510087" y="4413250"/>
                  </a:lnTo>
                  <a:lnTo>
                    <a:pt x="4510087" y="4403725"/>
                  </a:lnTo>
                  <a:lnTo>
                    <a:pt x="4548187" y="4403725"/>
                  </a:lnTo>
                  <a:lnTo>
                    <a:pt x="4548187" y="4413250"/>
                  </a:lnTo>
                  <a:close/>
                </a:path>
                <a:path w="4845050" h="4413250">
                  <a:moveTo>
                    <a:pt x="4481512" y="4413250"/>
                  </a:moveTo>
                  <a:lnTo>
                    <a:pt x="4443412" y="4413250"/>
                  </a:lnTo>
                  <a:lnTo>
                    <a:pt x="4443412" y="4403725"/>
                  </a:lnTo>
                  <a:lnTo>
                    <a:pt x="4481512" y="4403725"/>
                  </a:lnTo>
                  <a:lnTo>
                    <a:pt x="4481512" y="4413250"/>
                  </a:lnTo>
                  <a:close/>
                </a:path>
                <a:path w="4845050" h="4413250">
                  <a:moveTo>
                    <a:pt x="4414837" y="4413250"/>
                  </a:moveTo>
                  <a:lnTo>
                    <a:pt x="4376737" y="4413250"/>
                  </a:lnTo>
                  <a:lnTo>
                    <a:pt x="4376737" y="4403725"/>
                  </a:lnTo>
                  <a:lnTo>
                    <a:pt x="4414837" y="4403725"/>
                  </a:lnTo>
                  <a:lnTo>
                    <a:pt x="4414837" y="4413250"/>
                  </a:lnTo>
                  <a:close/>
                </a:path>
                <a:path w="4845050" h="4413250">
                  <a:moveTo>
                    <a:pt x="4348162" y="4413250"/>
                  </a:moveTo>
                  <a:lnTo>
                    <a:pt x="4310062" y="4413250"/>
                  </a:lnTo>
                  <a:lnTo>
                    <a:pt x="4310062" y="4403725"/>
                  </a:lnTo>
                  <a:lnTo>
                    <a:pt x="4348162" y="4403725"/>
                  </a:lnTo>
                  <a:lnTo>
                    <a:pt x="4348162" y="4413250"/>
                  </a:lnTo>
                  <a:close/>
                </a:path>
                <a:path w="4845050" h="4413250">
                  <a:moveTo>
                    <a:pt x="4281487" y="4413250"/>
                  </a:moveTo>
                  <a:lnTo>
                    <a:pt x="4243387" y="4413250"/>
                  </a:lnTo>
                  <a:lnTo>
                    <a:pt x="4243387" y="4403725"/>
                  </a:lnTo>
                  <a:lnTo>
                    <a:pt x="4281487" y="4403725"/>
                  </a:lnTo>
                  <a:lnTo>
                    <a:pt x="4281487" y="4413250"/>
                  </a:lnTo>
                  <a:close/>
                </a:path>
                <a:path w="4845050" h="4413250">
                  <a:moveTo>
                    <a:pt x="4214812" y="4413250"/>
                  </a:moveTo>
                  <a:lnTo>
                    <a:pt x="4176712" y="4413250"/>
                  </a:lnTo>
                  <a:lnTo>
                    <a:pt x="4176712" y="4403725"/>
                  </a:lnTo>
                  <a:lnTo>
                    <a:pt x="4214812" y="4403725"/>
                  </a:lnTo>
                  <a:lnTo>
                    <a:pt x="4214812" y="4413250"/>
                  </a:lnTo>
                  <a:close/>
                </a:path>
                <a:path w="4845050" h="4413250">
                  <a:moveTo>
                    <a:pt x="4148137" y="4413250"/>
                  </a:moveTo>
                  <a:lnTo>
                    <a:pt x="4110037" y="4413250"/>
                  </a:lnTo>
                  <a:lnTo>
                    <a:pt x="4110037" y="4403725"/>
                  </a:lnTo>
                  <a:lnTo>
                    <a:pt x="4148137" y="4403725"/>
                  </a:lnTo>
                  <a:lnTo>
                    <a:pt x="4148137" y="4413250"/>
                  </a:lnTo>
                  <a:close/>
                </a:path>
                <a:path w="4845050" h="4413250">
                  <a:moveTo>
                    <a:pt x="4081462" y="4413250"/>
                  </a:moveTo>
                  <a:lnTo>
                    <a:pt x="4043362" y="4413250"/>
                  </a:lnTo>
                  <a:lnTo>
                    <a:pt x="4043362" y="4403725"/>
                  </a:lnTo>
                  <a:lnTo>
                    <a:pt x="4081462" y="4403725"/>
                  </a:lnTo>
                  <a:lnTo>
                    <a:pt x="4081462" y="4413250"/>
                  </a:lnTo>
                  <a:close/>
                </a:path>
                <a:path w="4845050" h="4413250">
                  <a:moveTo>
                    <a:pt x="4014787" y="4413250"/>
                  </a:moveTo>
                  <a:lnTo>
                    <a:pt x="3976687" y="4413250"/>
                  </a:lnTo>
                  <a:lnTo>
                    <a:pt x="3976687" y="4403725"/>
                  </a:lnTo>
                  <a:lnTo>
                    <a:pt x="4014787" y="4403725"/>
                  </a:lnTo>
                  <a:lnTo>
                    <a:pt x="4014787" y="4413250"/>
                  </a:lnTo>
                  <a:close/>
                </a:path>
                <a:path w="4845050" h="4413250">
                  <a:moveTo>
                    <a:pt x="3948112" y="4413250"/>
                  </a:moveTo>
                  <a:lnTo>
                    <a:pt x="3910012" y="4413250"/>
                  </a:lnTo>
                  <a:lnTo>
                    <a:pt x="3910012" y="4403725"/>
                  </a:lnTo>
                  <a:lnTo>
                    <a:pt x="3948112" y="4403725"/>
                  </a:lnTo>
                  <a:lnTo>
                    <a:pt x="3948112" y="4413250"/>
                  </a:lnTo>
                  <a:close/>
                </a:path>
                <a:path w="4845050" h="4413250">
                  <a:moveTo>
                    <a:pt x="3881437" y="4413250"/>
                  </a:moveTo>
                  <a:lnTo>
                    <a:pt x="3843337" y="4413250"/>
                  </a:lnTo>
                  <a:lnTo>
                    <a:pt x="3843337" y="4403725"/>
                  </a:lnTo>
                  <a:lnTo>
                    <a:pt x="3881437" y="4403725"/>
                  </a:lnTo>
                  <a:lnTo>
                    <a:pt x="3881437" y="4413250"/>
                  </a:lnTo>
                  <a:close/>
                </a:path>
                <a:path w="4845050" h="4413250">
                  <a:moveTo>
                    <a:pt x="3814762" y="4413250"/>
                  </a:moveTo>
                  <a:lnTo>
                    <a:pt x="3776662" y="4413250"/>
                  </a:lnTo>
                  <a:lnTo>
                    <a:pt x="3776662" y="4403725"/>
                  </a:lnTo>
                  <a:lnTo>
                    <a:pt x="3814762" y="4403725"/>
                  </a:lnTo>
                  <a:lnTo>
                    <a:pt x="3814762" y="4413250"/>
                  </a:lnTo>
                  <a:close/>
                </a:path>
                <a:path w="4845050" h="4413250">
                  <a:moveTo>
                    <a:pt x="3748087" y="4413250"/>
                  </a:moveTo>
                  <a:lnTo>
                    <a:pt x="3709987" y="4413250"/>
                  </a:lnTo>
                  <a:lnTo>
                    <a:pt x="3709987" y="4403725"/>
                  </a:lnTo>
                  <a:lnTo>
                    <a:pt x="3748087" y="4403725"/>
                  </a:lnTo>
                  <a:lnTo>
                    <a:pt x="3748087" y="4413250"/>
                  </a:lnTo>
                  <a:close/>
                </a:path>
                <a:path w="4845050" h="4413250">
                  <a:moveTo>
                    <a:pt x="3681412" y="4413250"/>
                  </a:moveTo>
                  <a:lnTo>
                    <a:pt x="3643312" y="4413250"/>
                  </a:lnTo>
                  <a:lnTo>
                    <a:pt x="3643312" y="4403725"/>
                  </a:lnTo>
                  <a:lnTo>
                    <a:pt x="3681412" y="4403725"/>
                  </a:lnTo>
                  <a:lnTo>
                    <a:pt x="3681412" y="4413250"/>
                  </a:lnTo>
                  <a:close/>
                </a:path>
                <a:path w="4845050" h="4413250">
                  <a:moveTo>
                    <a:pt x="3614737" y="4413250"/>
                  </a:moveTo>
                  <a:lnTo>
                    <a:pt x="3576637" y="4413250"/>
                  </a:lnTo>
                  <a:lnTo>
                    <a:pt x="3576637" y="4403725"/>
                  </a:lnTo>
                  <a:lnTo>
                    <a:pt x="3614737" y="4403725"/>
                  </a:lnTo>
                  <a:lnTo>
                    <a:pt x="3614737" y="4413250"/>
                  </a:lnTo>
                  <a:close/>
                </a:path>
                <a:path w="4845050" h="4413250">
                  <a:moveTo>
                    <a:pt x="3548062" y="4413250"/>
                  </a:moveTo>
                  <a:lnTo>
                    <a:pt x="3509962" y="4413250"/>
                  </a:lnTo>
                  <a:lnTo>
                    <a:pt x="3509962" y="4403725"/>
                  </a:lnTo>
                  <a:lnTo>
                    <a:pt x="3548062" y="4403725"/>
                  </a:lnTo>
                  <a:lnTo>
                    <a:pt x="3548062" y="4413250"/>
                  </a:lnTo>
                  <a:close/>
                </a:path>
                <a:path w="4845050" h="4413250">
                  <a:moveTo>
                    <a:pt x="3481387" y="4413250"/>
                  </a:moveTo>
                  <a:lnTo>
                    <a:pt x="3443287" y="4413250"/>
                  </a:lnTo>
                  <a:lnTo>
                    <a:pt x="3443287" y="4403725"/>
                  </a:lnTo>
                  <a:lnTo>
                    <a:pt x="3481387" y="4403725"/>
                  </a:lnTo>
                  <a:lnTo>
                    <a:pt x="3481387" y="4413250"/>
                  </a:lnTo>
                  <a:close/>
                </a:path>
                <a:path w="4845050" h="4413250">
                  <a:moveTo>
                    <a:pt x="3414712" y="4413250"/>
                  </a:moveTo>
                  <a:lnTo>
                    <a:pt x="3376612" y="4413250"/>
                  </a:lnTo>
                  <a:lnTo>
                    <a:pt x="3376612" y="4403725"/>
                  </a:lnTo>
                  <a:lnTo>
                    <a:pt x="3414712" y="4403725"/>
                  </a:lnTo>
                  <a:lnTo>
                    <a:pt x="3414712" y="4413250"/>
                  </a:lnTo>
                  <a:close/>
                </a:path>
                <a:path w="4845050" h="4413250">
                  <a:moveTo>
                    <a:pt x="3348037" y="4413250"/>
                  </a:moveTo>
                  <a:lnTo>
                    <a:pt x="3309937" y="4413250"/>
                  </a:lnTo>
                  <a:lnTo>
                    <a:pt x="3309937" y="4403725"/>
                  </a:lnTo>
                  <a:lnTo>
                    <a:pt x="3348037" y="4403725"/>
                  </a:lnTo>
                  <a:lnTo>
                    <a:pt x="3348037" y="4413250"/>
                  </a:lnTo>
                  <a:close/>
                </a:path>
                <a:path w="4845050" h="4413250">
                  <a:moveTo>
                    <a:pt x="3281362" y="4413250"/>
                  </a:moveTo>
                  <a:lnTo>
                    <a:pt x="3243262" y="4413250"/>
                  </a:lnTo>
                  <a:lnTo>
                    <a:pt x="3243262" y="4403725"/>
                  </a:lnTo>
                  <a:lnTo>
                    <a:pt x="3281362" y="4403725"/>
                  </a:lnTo>
                  <a:lnTo>
                    <a:pt x="3281362" y="4413250"/>
                  </a:lnTo>
                  <a:close/>
                </a:path>
                <a:path w="4845050" h="4413250">
                  <a:moveTo>
                    <a:pt x="3214687" y="4413250"/>
                  </a:moveTo>
                  <a:lnTo>
                    <a:pt x="3176587" y="4413250"/>
                  </a:lnTo>
                  <a:lnTo>
                    <a:pt x="3176587" y="4403725"/>
                  </a:lnTo>
                  <a:lnTo>
                    <a:pt x="3214687" y="4403725"/>
                  </a:lnTo>
                  <a:lnTo>
                    <a:pt x="3214687" y="4413250"/>
                  </a:lnTo>
                  <a:close/>
                </a:path>
                <a:path w="4845050" h="4413250">
                  <a:moveTo>
                    <a:pt x="3148012" y="4413250"/>
                  </a:moveTo>
                  <a:lnTo>
                    <a:pt x="3109912" y="4413250"/>
                  </a:lnTo>
                  <a:lnTo>
                    <a:pt x="3109912" y="4403725"/>
                  </a:lnTo>
                  <a:lnTo>
                    <a:pt x="3148012" y="4403725"/>
                  </a:lnTo>
                  <a:lnTo>
                    <a:pt x="3148012" y="4413250"/>
                  </a:lnTo>
                  <a:close/>
                </a:path>
                <a:path w="4845050" h="4413250">
                  <a:moveTo>
                    <a:pt x="3081337" y="4413250"/>
                  </a:moveTo>
                  <a:lnTo>
                    <a:pt x="3043237" y="4413250"/>
                  </a:lnTo>
                  <a:lnTo>
                    <a:pt x="3043237" y="4403725"/>
                  </a:lnTo>
                  <a:lnTo>
                    <a:pt x="3081337" y="4403725"/>
                  </a:lnTo>
                  <a:lnTo>
                    <a:pt x="3081337" y="4413250"/>
                  </a:lnTo>
                  <a:close/>
                </a:path>
                <a:path w="4845050" h="4413250">
                  <a:moveTo>
                    <a:pt x="3014662" y="4413250"/>
                  </a:moveTo>
                  <a:lnTo>
                    <a:pt x="2976562" y="4413250"/>
                  </a:lnTo>
                  <a:lnTo>
                    <a:pt x="2976562" y="4403725"/>
                  </a:lnTo>
                  <a:lnTo>
                    <a:pt x="3014662" y="4403725"/>
                  </a:lnTo>
                  <a:lnTo>
                    <a:pt x="3014662" y="4413250"/>
                  </a:lnTo>
                  <a:close/>
                </a:path>
                <a:path w="4845050" h="4413250">
                  <a:moveTo>
                    <a:pt x="2947987" y="4413250"/>
                  </a:moveTo>
                  <a:lnTo>
                    <a:pt x="2909887" y="4413250"/>
                  </a:lnTo>
                  <a:lnTo>
                    <a:pt x="2909887" y="4403725"/>
                  </a:lnTo>
                  <a:lnTo>
                    <a:pt x="2947987" y="4403725"/>
                  </a:lnTo>
                  <a:lnTo>
                    <a:pt x="2947987" y="4413250"/>
                  </a:lnTo>
                  <a:close/>
                </a:path>
                <a:path w="4845050" h="4413250">
                  <a:moveTo>
                    <a:pt x="2881312" y="4413250"/>
                  </a:moveTo>
                  <a:lnTo>
                    <a:pt x="2843212" y="4413250"/>
                  </a:lnTo>
                  <a:lnTo>
                    <a:pt x="2843212" y="4403725"/>
                  </a:lnTo>
                  <a:lnTo>
                    <a:pt x="2881312" y="4403725"/>
                  </a:lnTo>
                  <a:lnTo>
                    <a:pt x="2881312" y="4413250"/>
                  </a:lnTo>
                  <a:close/>
                </a:path>
                <a:path w="4845050" h="4413250">
                  <a:moveTo>
                    <a:pt x="2814637" y="4413250"/>
                  </a:moveTo>
                  <a:lnTo>
                    <a:pt x="2776537" y="4413250"/>
                  </a:lnTo>
                  <a:lnTo>
                    <a:pt x="2776537" y="4403725"/>
                  </a:lnTo>
                  <a:lnTo>
                    <a:pt x="2814637" y="4403725"/>
                  </a:lnTo>
                  <a:lnTo>
                    <a:pt x="2814637" y="4413250"/>
                  </a:lnTo>
                  <a:close/>
                </a:path>
                <a:path w="4845050" h="4413250">
                  <a:moveTo>
                    <a:pt x="2747962" y="4413250"/>
                  </a:moveTo>
                  <a:lnTo>
                    <a:pt x="2709862" y="4413250"/>
                  </a:lnTo>
                  <a:lnTo>
                    <a:pt x="2709862" y="4403725"/>
                  </a:lnTo>
                  <a:lnTo>
                    <a:pt x="2747962" y="4403725"/>
                  </a:lnTo>
                  <a:lnTo>
                    <a:pt x="2747962" y="4413250"/>
                  </a:lnTo>
                  <a:close/>
                </a:path>
                <a:path w="4845050" h="4413250">
                  <a:moveTo>
                    <a:pt x="2681287" y="4413250"/>
                  </a:moveTo>
                  <a:lnTo>
                    <a:pt x="2643187" y="4413250"/>
                  </a:lnTo>
                  <a:lnTo>
                    <a:pt x="2643187" y="4403725"/>
                  </a:lnTo>
                  <a:lnTo>
                    <a:pt x="2681287" y="4403725"/>
                  </a:lnTo>
                  <a:lnTo>
                    <a:pt x="2681287" y="4413250"/>
                  </a:lnTo>
                  <a:close/>
                </a:path>
                <a:path w="4845050" h="4413250">
                  <a:moveTo>
                    <a:pt x="2614612" y="4413250"/>
                  </a:moveTo>
                  <a:lnTo>
                    <a:pt x="2576512" y="4413250"/>
                  </a:lnTo>
                  <a:lnTo>
                    <a:pt x="2576512" y="4403725"/>
                  </a:lnTo>
                  <a:lnTo>
                    <a:pt x="2614612" y="4403725"/>
                  </a:lnTo>
                  <a:lnTo>
                    <a:pt x="2614612" y="4413250"/>
                  </a:lnTo>
                  <a:close/>
                </a:path>
                <a:path w="4845050" h="4413250">
                  <a:moveTo>
                    <a:pt x="2547937" y="4413250"/>
                  </a:moveTo>
                  <a:lnTo>
                    <a:pt x="2509837" y="4413250"/>
                  </a:lnTo>
                  <a:lnTo>
                    <a:pt x="2509837" y="4403725"/>
                  </a:lnTo>
                  <a:lnTo>
                    <a:pt x="2547937" y="4403725"/>
                  </a:lnTo>
                  <a:lnTo>
                    <a:pt x="2547937" y="4413250"/>
                  </a:lnTo>
                  <a:close/>
                </a:path>
                <a:path w="4845050" h="4413250">
                  <a:moveTo>
                    <a:pt x="2481262" y="4413250"/>
                  </a:moveTo>
                  <a:lnTo>
                    <a:pt x="2443162" y="4413250"/>
                  </a:lnTo>
                  <a:lnTo>
                    <a:pt x="2443162" y="4403725"/>
                  </a:lnTo>
                  <a:lnTo>
                    <a:pt x="2481262" y="4403725"/>
                  </a:lnTo>
                  <a:lnTo>
                    <a:pt x="2481262" y="4413250"/>
                  </a:lnTo>
                  <a:close/>
                </a:path>
                <a:path w="4845050" h="4413250">
                  <a:moveTo>
                    <a:pt x="2414587" y="4413250"/>
                  </a:moveTo>
                  <a:lnTo>
                    <a:pt x="2376487" y="4413250"/>
                  </a:lnTo>
                  <a:lnTo>
                    <a:pt x="2376487" y="4403725"/>
                  </a:lnTo>
                  <a:lnTo>
                    <a:pt x="2414587" y="4403725"/>
                  </a:lnTo>
                  <a:lnTo>
                    <a:pt x="2414587" y="4413250"/>
                  </a:lnTo>
                  <a:close/>
                </a:path>
                <a:path w="4845050" h="4413250">
                  <a:moveTo>
                    <a:pt x="2347912" y="4413250"/>
                  </a:moveTo>
                  <a:lnTo>
                    <a:pt x="2309812" y="4413250"/>
                  </a:lnTo>
                  <a:lnTo>
                    <a:pt x="2309812" y="4403725"/>
                  </a:lnTo>
                  <a:lnTo>
                    <a:pt x="2347912" y="4403725"/>
                  </a:lnTo>
                  <a:lnTo>
                    <a:pt x="2347912" y="4413250"/>
                  </a:lnTo>
                  <a:close/>
                </a:path>
                <a:path w="4845050" h="4413250">
                  <a:moveTo>
                    <a:pt x="2281237" y="4413250"/>
                  </a:moveTo>
                  <a:lnTo>
                    <a:pt x="2243137" y="4413250"/>
                  </a:lnTo>
                  <a:lnTo>
                    <a:pt x="2243137" y="4403725"/>
                  </a:lnTo>
                  <a:lnTo>
                    <a:pt x="2281237" y="4403725"/>
                  </a:lnTo>
                  <a:lnTo>
                    <a:pt x="2281237" y="4413250"/>
                  </a:lnTo>
                  <a:close/>
                </a:path>
                <a:path w="4845050" h="4413250">
                  <a:moveTo>
                    <a:pt x="2214562" y="4413250"/>
                  </a:moveTo>
                  <a:lnTo>
                    <a:pt x="2176462" y="4413250"/>
                  </a:lnTo>
                  <a:lnTo>
                    <a:pt x="2176462" y="4403725"/>
                  </a:lnTo>
                  <a:lnTo>
                    <a:pt x="2214562" y="4403725"/>
                  </a:lnTo>
                  <a:lnTo>
                    <a:pt x="2214562" y="4413250"/>
                  </a:lnTo>
                  <a:close/>
                </a:path>
                <a:path w="4845050" h="4413250">
                  <a:moveTo>
                    <a:pt x="2147887" y="4413250"/>
                  </a:moveTo>
                  <a:lnTo>
                    <a:pt x="2109787" y="4413250"/>
                  </a:lnTo>
                  <a:lnTo>
                    <a:pt x="2109787" y="4403725"/>
                  </a:lnTo>
                  <a:lnTo>
                    <a:pt x="2147887" y="4403725"/>
                  </a:lnTo>
                  <a:lnTo>
                    <a:pt x="2147887" y="4413250"/>
                  </a:lnTo>
                  <a:close/>
                </a:path>
                <a:path w="4845050" h="4413250">
                  <a:moveTo>
                    <a:pt x="2081212" y="4413250"/>
                  </a:moveTo>
                  <a:lnTo>
                    <a:pt x="2043112" y="4413250"/>
                  </a:lnTo>
                  <a:lnTo>
                    <a:pt x="2043112" y="4403725"/>
                  </a:lnTo>
                  <a:lnTo>
                    <a:pt x="2081212" y="4403725"/>
                  </a:lnTo>
                  <a:lnTo>
                    <a:pt x="2081212" y="4413250"/>
                  </a:lnTo>
                  <a:close/>
                </a:path>
                <a:path w="4845050" h="4413250">
                  <a:moveTo>
                    <a:pt x="2014537" y="4413250"/>
                  </a:moveTo>
                  <a:lnTo>
                    <a:pt x="1976437" y="4413250"/>
                  </a:lnTo>
                  <a:lnTo>
                    <a:pt x="1976437" y="4403725"/>
                  </a:lnTo>
                  <a:lnTo>
                    <a:pt x="2014537" y="4403725"/>
                  </a:lnTo>
                  <a:lnTo>
                    <a:pt x="2014537" y="4413250"/>
                  </a:lnTo>
                  <a:close/>
                </a:path>
                <a:path w="4845050" h="4413250">
                  <a:moveTo>
                    <a:pt x="1947862" y="4413250"/>
                  </a:moveTo>
                  <a:lnTo>
                    <a:pt x="1909762" y="4413250"/>
                  </a:lnTo>
                  <a:lnTo>
                    <a:pt x="1909762" y="4403725"/>
                  </a:lnTo>
                  <a:lnTo>
                    <a:pt x="1947862" y="4403725"/>
                  </a:lnTo>
                  <a:lnTo>
                    <a:pt x="1947862" y="4413250"/>
                  </a:lnTo>
                  <a:close/>
                </a:path>
                <a:path w="4845050" h="4413250">
                  <a:moveTo>
                    <a:pt x="1881187" y="4413250"/>
                  </a:moveTo>
                  <a:lnTo>
                    <a:pt x="1843087" y="4413250"/>
                  </a:lnTo>
                  <a:lnTo>
                    <a:pt x="1843087" y="4403725"/>
                  </a:lnTo>
                  <a:lnTo>
                    <a:pt x="1881187" y="4403725"/>
                  </a:lnTo>
                  <a:lnTo>
                    <a:pt x="1881187" y="4413250"/>
                  </a:lnTo>
                  <a:close/>
                </a:path>
                <a:path w="4845050" h="4413250">
                  <a:moveTo>
                    <a:pt x="1814512" y="4413250"/>
                  </a:moveTo>
                  <a:lnTo>
                    <a:pt x="1776412" y="4413250"/>
                  </a:lnTo>
                  <a:lnTo>
                    <a:pt x="1776412" y="4403725"/>
                  </a:lnTo>
                  <a:lnTo>
                    <a:pt x="1814512" y="4403725"/>
                  </a:lnTo>
                  <a:lnTo>
                    <a:pt x="1814512" y="4413250"/>
                  </a:lnTo>
                  <a:close/>
                </a:path>
                <a:path w="4845050" h="4413250">
                  <a:moveTo>
                    <a:pt x="1747837" y="4413250"/>
                  </a:moveTo>
                  <a:lnTo>
                    <a:pt x="1709737" y="4413250"/>
                  </a:lnTo>
                  <a:lnTo>
                    <a:pt x="1709737" y="4403725"/>
                  </a:lnTo>
                  <a:lnTo>
                    <a:pt x="1747837" y="4403725"/>
                  </a:lnTo>
                  <a:lnTo>
                    <a:pt x="1747837" y="4413250"/>
                  </a:lnTo>
                  <a:close/>
                </a:path>
                <a:path w="4845050" h="4413250">
                  <a:moveTo>
                    <a:pt x="1681162" y="4413250"/>
                  </a:moveTo>
                  <a:lnTo>
                    <a:pt x="1643062" y="4413250"/>
                  </a:lnTo>
                  <a:lnTo>
                    <a:pt x="1643062" y="4403725"/>
                  </a:lnTo>
                  <a:lnTo>
                    <a:pt x="1681162" y="4403725"/>
                  </a:lnTo>
                  <a:lnTo>
                    <a:pt x="1681162" y="4413250"/>
                  </a:lnTo>
                  <a:close/>
                </a:path>
                <a:path w="4845050" h="4413250">
                  <a:moveTo>
                    <a:pt x="1614487" y="4413250"/>
                  </a:moveTo>
                  <a:lnTo>
                    <a:pt x="1576387" y="4413250"/>
                  </a:lnTo>
                  <a:lnTo>
                    <a:pt x="1576387" y="4403725"/>
                  </a:lnTo>
                  <a:lnTo>
                    <a:pt x="1614487" y="4403725"/>
                  </a:lnTo>
                  <a:lnTo>
                    <a:pt x="1614487" y="4413250"/>
                  </a:lnTo>
                  <a:close/>
                </a:path>
                <a:path w="4845050" h="4413250">
                  <a:moveTo>
                    <a:pt x="1547812" y="4413250"/>
                  </a:moveTo>
                  <a:lnTo>
                    <a:pt x="1509712" y="4413250"/>
                  </a:lnTo>
                  <a:lnTo>
                    <a:pt x="1509712" y="4403725"/>
                  </a:lnTo>
                  <a:lnTo>
                    <a:pt x="1547812" y="4403725"/>
                  </a:lnTo>
                  <a:lnTo>
                    <a:pt x="1547812" y="4413250"/>
                  </a:lnTo>
                  <a:close/>
                </a:path>
                <a:path w="4845050" h="4413250">
                  <a:moveTo>
                    <a:pt x="1481137" y="4413250"/>
                  </a:moveTo>
                  <a:lnTo>
                    <a:pt x="1443037" y="4413250"/>
                  </a:lnTo>
                  <a:lnTo>
                    <a:pt x="1443037" y="4403725"/>
                  </a:lnTo>
                  <a:lnTo>
                    <a:pt x="1481137" y="4403725"/>
                  </a:lnTo>
                  <a:lnTo>
                    <a:pt x="1481137" y="4413250"/>
                  </a:lnTo>
                  <a:close/>
                </a:path>
                <a:path w="4845050" h="4413250">
                  <a:moveTo>
                    <a:pt x="1414462" y="4413250"/>
                  </a:moveTo>
                  <a:lnTo>
                    <a:pt x="1376362" y="4413250"/>
                  </a:lnTo>
                  <a:lnTo>
                    <a:pt x="1376362" y="4403725"/>
                  </a:lnTo>
                  <a:lnTo>
                    <a:pt x="1414462" y="4403725"/>
                  </a:lnTo>
                  <a:lnTo>
                    <a:pt x="1414462" y="4413250"/>
                  </a:lnTo>
                  <a:close/>
                </a:path>
                <a:path w="4845050" h="4413250">
                  <a:moveTo>
                    <a:pt x="1347787" y="4413250"/>
                  </a:moveTo>
                  <a:lnTo>
                    <a:pt x="1309687" y="4413250"/>
                  </a:lnTo>
                  <a:lnTo>
                    <a:pt x="1309687" y="4403725"/>
                  </a:lnTo>
                  <a:lnTo>
                    <a:pt x="1347787" y="4403725"/>
                  </a:lnTo>
                  <a:lnTo>
                    <a:pt x="1347787" y="4413250"/>
                  </a:lnTo>
                  <a:close/>
                </a:path>
                <a:path w="4845050" h="4413250">
                  <a:moveTo>
                    <a:pt x="1281112" y="4413250"/>
                  </a:moveTo>
                  <a:lnTo>
                    <a:pt x="1243012" y="4413250"/>
                  </a:lnTo>
                  <a:lnTo>
                    <a:pt x="1243012" y="4403725"/>
                  </a:lnTo>
                  <a:lnTo>
                    <a:pt x="1281112" y="4403725"/>
                  </a:lnTo>
                  <a:lnTo>
                    <a:pt x="1281112" y="4413250"/>
                  </a:lnTo>
                  <a:close/>
                </a:path>
                <a:path w="4845050" h="4413250">
                  <a:moveTo>
                    <a:pt x="1214437" y="4413250"/>
                  </a:moveTo>
                  <a:lnTo>
                    <a:pt x="1176337" y="4413250"/>
                  </a:lnTo>
                  <a:lnTo>
                    <a:pt x="1176337" y="4403725"/>
                  </a:lnTo>
                  <a:lnTo>
                    <a:pt x="1214437" y="4403725"/>
                  </a:lnTo>
                  <a:lnTo>
                    <a:pt x="1214437" y="4413250"/>
                  </a:lnTo>
                  <a:close/>
                </a:path>
                <a:path w="4845050" h="4413250">
                  <a:moveTo>
                    <a:pt x="1147762" y="4413250"/>
                  </a:moveTo>
                  <a:lnTo>
                    <a:pt x="1109662" y="4413250"/>
                  </a:lnTo>
                  <a:lnTo>
                    <a:pt x="1109662" y="4403725"/>
                  </a:lnTo>
                  <a:lnTo>
                    <a:pt x="1147762" y="4403725"/>
                  </a:lnTo>
                  <a:lnTo>
                    <a:pt x="1147762" y="4413250"/>
                  </a:lnTo>
                  <a:close/>
                </a:path>
                <a:path w="4845050" h="4413250">
                  <a:moveTo>
                    <a:pt x="1081087" y="4413250"/>
                  </a:moveTo>
                  <a:lnTo>
                    <a:pt x="1042987" y="4413250"/>
                  </a:lnTo>
                  <a:lnTo>
                    <a:pt x="1042987" y="4403725"/>
                  </a:lnTo>
                  <a:lnTo>
                    <a:pt x="1081087" y="4403725"/>
                  </a:lnTo>
                  <a:lnTo>
                    <a:pt x="1081087" y="4413250"/>
                  </a:lnTo>
                  <a:close/>
                </a:path>
                <a:path w="4845050" h="4413250">
                  <a:moveTo>
                    <a:pt x="1014412" y="4413250"/>
                  </a:moveTo>
                  <a:lnTo>
                    <a:pt x="976312" y="4413250"/>
                  </a:lnTo>
                  <a:lnTo>
                    <a:pt x="976312" y="4403725"/>
                  </a:lnTo>
                  <a:lnTo>
                    <a:pt x="1014412" y="4403725"/>
                  </a:lnTo>
                  <a:lnTo>
                    <a:pt x="1014412" y="4413250"/>
                  </a:lnTo>
                  <a:close/>
                </a:path>
                <a:path w="4845050" h="4413250">
                  <a:moveTo>
                    <a:pt x="947737" y="4413250"/>
                  </a:moveTo>
                  <a:lnTo>
                    <a:pt x="909637" y="4413250"/>
                  </a:lnTo>
                  <a:lnTo>
                    <a:pt x="909637" y="4403725"/>
                  </a:lnTo>
                  <a:lnTo>
                    <a:pt x="947737" y="4403725"/>
                  </a:lnTo>
                  <a:lnTo>
                    <a:pt x="947737" y="4413250"/>
                  </a:lnTo>
                  <a:close/>
                </a:path>
                <a:path w="4845050" h="4413250">
                  <a:moveTo>
                    <a:pt x="881062" y="4413250"/>
                  </a:moveTo>
                  <a:lnTo>
                    <a:pt x="842962" y="4413250"/>
                  </a:lnTo>
                  <a:lnTo>
                    <a:pt x="842962" y="4403725"/>
                  </a:lnTo>
                  <a:lnTo>
                    <a:pt x="881062" y="4403725"/>
                  </a:lnTo>
                  <a:lnTo>
                    <a:pt x="881062" y="4413250"/>
                  </a:lnTo>
                  <a:close/>
                </a:path>
                <a:path w="4845050" h="4413250">
                  <a:moveTo>
                    <a:pt x="814387" y="4413250"/>
                  </a:moveTo>
                  <a:lnTo>
                    <a:pt x="776287" y="4413250"/>
                  </a:lnTo>
                  <a:lnTo>
                    <a:pt x="776287" y="4403725"/>
                  </a:lnTo>
                  <a:lnTo>
                    <a:pt x="814387" y="4403725"/>
                  </a:lnTo>
                  <a:lnTo>
                    <a:pt x="814387" y="4413250"/>
                  </a:lnTo>
                  <a:close/>
                </a:path>
                <a:path w="4845050" h="4413250">
                  <a:moveTo>
                    <a:pt x="747712" y="4413250"/>
                  </a:moveTo>
                  <a:lnTo>
                    <a:pt x="709612" y="4413250"/>
                  </a:lnTo>
                  <a:lnTo>
                    <a:pt x="709612" y="4403725"/>
                  </a:lnTo>
                  <a:lnTo>
                    <a:pt x="747712" y="4403725"/>
                  </a:lnTo>
                  <a:lnTo>
                    <a:pt x="747712" y="4413250"/>
                  </a:lnTo>
                  <a:close/>
                </a:path>
                <a:path w="4845050" h="4413250">
                  <a:moveTo>
                    <a:pt x="681037" y="4413250"/>
                  </a:moveTo>
                  <a:lnTo>
                    <a:pt x="642937" y="4413250"/>
                  </a:lnTo>
                  <a:lnTo>
                    <a:pt x="642937" y="4403725"/>
                  </a:lnTo>
                  <a:lnTo>
                    <a:pt x="681037" y="4403725"/>
                  </a:lnTo>
                  <a:lnTo>
                    <a:pt x="681037" y="4413250"/>
                  </a:lnTo>
                  <a:close/>
                </a:path>
                <a:path w="4845050" h="4413250">
                  <a:moveTo>
                    <a:pt x="614362" y="4413250"/>
                  </a:moveTo>
                  <a:lnTo>
                    <a:pt x="576262" y="4413250"/>
                  </a:lnTo>
                  <a:lnTo>
                    <a:pt x="576262" y="4403725"/>
                  </a:lnTo>
                  <a:lnTo>
                    <a:pt x="614362" y="4403725"/>
                  </a:lnTo>
                  <a:lnTo>
                    <a:pt x="614362" y="4413250"/>
                  </a:lnTo>
                  <a:close/>
                </a:path>
                <a:path w="4845050" h="4413250">
                  <a:moveTo>
                    <a:pt x="547687" y="4413250"/>
                  </a:moveTo>
                  <a:lnTo>
                    <a:pt x="509587" y="4413250"/>
                  </a:lnTo>
                  <a:lnTo>
                    <a:pt x="509587" y="4403725"/>
                  </a:lnTo>
                  <a:lnTo>
                    <a:pt x="547687" y="4403725"/>
                  </a:lnTo>
                  <a:lnTo>
                    <a:pt x="547687" y="4413250"/>
                  </a:lnTo>
                  <a:close/>
                </a:path>
                <a:path w="4845050" h="4413250">
                  <a:moveTo>
                    <a:pt x="481012" y="4413250"/>
                  </a:moveTo>
                  <a:lnTo>
                    <a:pt x="442912" y="4413250"/>
                  </a:lnTo>
                  <a:lnTo>
                    <a:pt x="442912" y="4403725"/>
                  </a:lnTo>
                  <a:lnTo>
                    <a:pt x="481012" y="4403725"/>
                  </a:lnTo>
                  <a:lnTo>
                    <a:pt x="481012" y="4413250"/>
                  </a:lnTo>
                  <a:close/>
                </a:path>
                <a:path w="4845050" h="4413250">
                  <a:moveTo>
                    <a:pt x="414337" y="4413250"/>
                  </a:moveTo>
                  <a:lnTo>
                    <a:pt x="376237" y="4413250"/>
                  </a:lnTo>
                  <a:lnTo>
                    <a:pt x="376237" y="4403725"/>
                  </a:lnTo>
                  <a:lnTo>
                    <a:pt x="414337" y="4403725"/>
                  </a:lnTo>
                  <a:lnTo>
                    <a:pt x="414337" y="4413250"/>
                  </a:lnTo>
                  <a:close/>
                </a:path>
                <a:path w="4845050" h="4413250">
                  <a:moveTo>
                    <a:pt x="347662" y="4413250"/>
                  </a:moveTo>
                  <a:lnTo>
                    <a:pt x="309562" y="4413250"/>
                  </a:lnTo>
                  <a:lnTo>
                    <a:pt x="309562" y="4403725"/>
                  </a:lnTo>
                  <a:lnTo>
                    <a:pt x="347662" y="4403725"/>
                  </a:lnTo>
                  <a:lnTo>
                    <a:pt x="347662" y="4413250"/>
                  </a:lnTo>
                  <a:close/>
                </a:path>
                <a:path w="4845050" h="4413250">
                  <a:moveTo>
                    <a:pt x="280987" y="4413250"/>
                  </a:moveTo>
                  <a:lnTo>
                    <a:pt x="242887" y="4413250"/>
                  </a:lnTo>
                  <a:lnTo>
                    <a:pt x="242887" y="4403725"/>
                  </a:lnTo>
                  <a:lnTo>
                    <a:pt x="280987" y="4403725"/>
                  </a:lnTo>
                  <a:lnTo>
                    <a:pt x="280987" y="4413250"/>
                  </a:lnTo>
                  <a:close/>
                </a:path>
                <a:path w="4845050" h="4413250">
                  <a:moveTo>
                    <a:pt x="214312" y="4413250"/>
                  </a:moveTo>
                  <a:lnTo>
                    <a:pt x="176212" y="4413250"/>
                  </a:lnTo>
                  <a:lnTo>
                    <a:pt x="176212" y="4403725"/>
                  </a:lnTo>
                  <a:lnTo>
                    <a:pt x="214312" y="4403725"/>
                  </a:lnTo>
                  <a:lnTo>
                    <a:pt x="214312" y="4413250"/>
                  </a:lnTo>
                  <a:close/>
                </a:path>
                <a:path w="4845050" h="4413250">
                  <a:moveTo>
                    <a:pt x="147637" y="4413250"/>
                  </a:moveTo>
                  <a:lnTo>
                    <a:pt x="109537" y="4413250"/>
                  </a:lnTo>
                  <a:lnTo>
                    <a:pt x="109537" y="4403725"/>
                  </a:lnTo>
                  <a:lnTo>
                    <a:pt x="147637" y="4403725"/>
                  </a:lnTo>
                  <a:lnTo>
                    <a:pt x="147637" y="4413250"/>
                  </a:lnTo>
                  <a:close/>
                </a:path>
                <a:path w="4845050" h="4413250">
                  <a:moveTo>
                    <a:pt x="80962" y="4413250"/>
                  </a:moveTo>
                  <a:lnTo>
                    <a:pt x="42862" y="4413250"/>
                  </a:lnTo>
                  <a:lnTo>
                    <a:pt x="42862" y="4403725"/>
                  </a:lnTo>
                  <a:lnTo>
                    <a:pt x="80962" y="4403725"/>
                  </a:lnTo>
                  <a:lnTo>
                    <a:pt x="80962" y="4413250"/>
                  </a:lnTo>
                  <a:close/>
                </a:path>
              </a:pathLst>
            </a:custGeom>
            <a:solidFill>
              <a:srgbClr val="D9D9D9"/>
            </a:solidFill>
          </p:spPr>
          <p:txBody>
            <a:bodyPr wrap="square" lIns="0" tIns="0" rIns="0" bIns="0" rtlCol="0"/>
            <a:lstStyle/>
            <a:p>
              <a:endParaRPr/>
            </a:p>
          </p:txBody>
        </p:sp>
        <p:sp>
          <p:nvSpPr>
            <p:cNvPr id="13" name="object 13"/>
            <p:cNvSpPr txBox="1"/>
            <p:nvPr/>
          </p:nvSpPr>
          <p:spPr>
            <a:xfrm>
              <a:off x="3979634" y="1257918"/>
              <a:ext cx="7689508" cy="4727192"/>
            </a:xfrm>
            <a:prstGeom prst="rect">
              <a:avLst/>
            </a:prstGeom>
          </p:spPr>
          <p:txBody>
            <a:bodyPr vert="horz" wrap="square" lIns="0" tIns="130810" rIns="0" bIns="0" rtlCol="0">
              <a:spAutoFit/>
            </a:bodyPr>
            <a:lstStyle/>
            <a:p>
              <a:pPr marL="12700" algn="just">
                <a:lnSpc>
                  <a:spcPct val="100000"/>
                </a:lnSpc>
                <a:spcBef>
                  <a:spcPts val="1030"/>
                </a:spcBef>
              </a:pPr>
              <a:r>
                <a:rPr lang="zh-CN" altLang="en-US" sz="1400" b="1" dirty="0">
                  <a:latin typeface="微软雅黑" panose="020B0503020204020204" pitchFamily="34" charset="-122"/>
                  <a:cs typeface="微软雅黑" panose="020B0503020204020204" pitchFamily="34" charset="-122"/>
                </a:rPr>
                <a:t>指数名称</a:t>
              </a:r>
              <a:r>
                <a:rPr sz="1400" dirty="0">
                  <a:latin typeface="微软雅黑" panose="020B0503020204020204" pitchFamily="34" charset="-122"/>
                  <a:cs typeface="微软雅黑" panose="020B0503020204020204" pitchFamily="34" charset="-122"/>
                </a:rPr>
                <a:t>：</a:t>
              </a:r>
              <a:r>
                <a:rPr lang="zh-CN" altLang="en-US" sz="1400" b="1" dirty="0">
                  <a:solidFill>
                    <a:srgbClr val="EA5838"/>
                  </a:solidFill>
                  <a:latin typeface="微软雅黑" panose="020B0503020204020204" pitchFamily="34" charset="-122"/>
                  <a:cs typeface="微软雅黑" panose="020B0503020204020204" pitchFamily="34" charset="-122"/>
                </a:rPr>
                <a:t>中证全指指数</a:t>
              </a:r>
              <a:r>
                <a:rPr lang="zh-CN" altLang="en-US" sz="1400" b="1" spc="-5" dirty="0">
                  <a:solidFill>
                    <a:srgbClr val="EA5838"/>
                  </a:solidFill>
                  <a:latin typeface="Arial" panose="020B0604020202020204"/>
                  <a:cs typeface="Arial" panose="020B0604020202020204"/>
                </a:rPr>
                <a:t>（</a:t>
              </a:r>
              <a:r>
                <a:rPr lang="en-US" sz="1400" b="1" spc="-5" dirty="0">
                  <a:solidFill>
                    <a:srgbClr val="EA5838"/>
                  </a:solidFill>
                  <a:latin typeface="Arial" panose="020B0604020202020204"/>
                  <a:cs typeface="Arial" panose="020B0604020202020204"/>
                </a:rPr>
                <a:t>000985.CSI</a:t>
              </a:r>
              <a:r>
                <a:rPr lang="zh-CN" altLang="en-US" sz="1400" b="1" dirty="0">
                  <a:solidFill>
                    <a:srgbClr val="EA5838"/>
                  </a:solidFill>
                  <a:latin typeface="Arial" panose="020B0604020202020204"/>
                  <a:cs typeface="Arial" panose="020B0604020202020204"/>
                </a:rPr>
                <a:t>）</a:t>
              </a:r>
              <a:endParaRPr sz="1400" dirty="0">
                <a:solidFill>
                  <a:srgbClr val="EA5838"/>
                </a:solidFill>
                <a:latin typeface="Arial" panose="020B0604020202020204"/>
                <a:cs typeface="Arial" panose="020B0604020202020204"/>
              </a:endParaRPr>
            </a:p>
            <a:p>
              <a:pPr marL="12700" marR="5080" algn="just">
                <a:lnSpc>
                  <a:spcPct val="120000"/>
                </a:lnSpc>
                <a:spcBef>
                  <a:spcPts val="605"/>
                </a:spcBef>
              </a:pPr>
              <a:r>
                <a:rPr lang="zh-CN" altLang="en-US" sz="1400" b="1" dirty="0">
                  <a:latin typeface="微软雅黑" panose="020B0503020204020204" pitchFamily="34" charset="-122"/>
                  <a:cs typeface="微软雅黑" panose="020B0503020204020204" pitchFamily="34" charset="-122"/>
                </a:rPr>
                <a:t>指数简介</a:t>
              </a:r>
              <a:r>
                <a:rPr sz="1400" spc="10" dirty="0">
                  <a:latin typeface="微软雅黑" panose="020B0503020204020204" pitchFamily="34" charset="-122"/>
                  <a:cs typeface="微软雅黑" panose="020B0503020204020204" pitchFamily="34" charset="-122"/>
                </a:rPr>
                <a:t>：</a:t>
              </a:r>
              <a:r>
                <a:rPr lang="zh-CN" altLang="en-US" sz="1400" spc="10" dirty="0">
                  <a:latin typeface="微软雅黑" panose="020B0503020204020204" pitchFamily="34" charset="-122"/>
                  <a:cs typeface="微软雅黑" panose="020B0503020204020204" pitchFamily="34" charset="-122"/>
                </a:rPr>
                <a:t>中证全指由上海证券交易所、深圳证券交易所和北京证券交易所市场符合条件的股票和存托凭证组成样本，具有较高的市场代表性，反映上交所、深交所和北交所市场上市公司的整体表现</a:t>
              </a:r>
              <a:r>
                <a:rPr sz="1400" spc="5" dirty="0">
                  <a:latin typeface="微软雅黑" panose="020B0503020204020204" pitchFamily="34" charset="-122"/>
                  <a:cs typeface="微软雅黑" panose="020B0503020204020204" pitchFamily="34" charset="-122"/>
                </a:rPr>
                <a:t>。</a:t>
              </a:r>
              <a:endParaRPr sz="1400" dirty="0">
                <a:latin typeface="微软雅黑" panose="020B0503020204020204" pitchFamily="34" charset="-122"/>
                <a:cs typeface="微软雅黑" panose="020B0503020204020204" pitchFamily="34" charset="-122"/>
              </a:endParaRPr>
            </a:p>
            <a:p>
              <a:pPr marL="12700" marR="5080" algn="just">
                <a:lnSpc>
                  <a:spcPct val="120000"/>
                </a:lnSpc>
                <a:spcBef>
                  <a:spcPts val="600"/>
                </a:spcBef>
              </a:pPr>
              <a:r>
                <a:rPr lang="zh-CN" altLang="en-US" sz="1400" b="1" spc="10" dirty="0">
                  <a:latin typeface="微软雅黑" panose="020B0503020204020204" pitchFamily="34" charset="-122"/>
                  <a:cs typeface="微软雅黑" panose="020B0503020204020204" pitchFamily="34" charset="-122"/>
                </a:rPr>
                <a:t>样本空间</a:t>
              </a:r>
              <a:r>
                <a:rPr sz="1400" b="1" spc="10" dirty="0">
                  <a:latin typeface="微软雅黑" panose="020B0503020204020204" pitchFamily="34" charset="-122"/>
                  <a:cs typeface="微软雅黑" panose="020B0503020204020204" pitchFamily="34" charset="-122"/>
                </a:rPr>
                <a:t>：</a:t>
              </a:r>
              <a:r>
                <a:rPr lang="zh-CN" altLang="en-US" sz="1400" spc="10" dirty="0">
                  <a:latin typeface="微软雅黑" panose="020B0503020204020204" pitchFamily="34" charset="-122"/>
                  <a:cs typeface="微软雅黑" panose="020B0503020204020204" pitchFamily="34" charset="-122"/>
                </a:rPr>
                <a:t>指数样本空间</a:t>
              </a:r>
              <a:r>
                <a:rPr lang="zh-CN" altLang="en-US" sz="1400" spc="5" dirty="0">
                  <a:latin typeface="微软雅黑" panose="020B0503020204020204" pitchFamily="34" charset="-122"/>
                  <a:cs typeface="微软雅黑" panose="020B0503020204020204" pitchFamily="34" charset="-122"/>
                </a:rPr>
                <a:t>由同时满足以下条件的</a:t>
              </a:r>
              <a:r>
                <a:rPr lang="en-US" altLang="zh-CN" sz="1400" spc="5" dirty="0">
                  <a:latin typeface="微软雅黑" panose="020B0503020204020204" pitchFamily="34" charset="-122"/>
                  <a:cs typeface="微软雅黑" panose="020B0503020204020204" pitchFamily="34" charset="-122"/>
                </a:rPr>
                <a:t>A</a:t>
              </a:r>
              <a:r>
                <a:rPr lang="zh-CN" altLang="en-US" sz="1400" spc="5" dirty="0">
                  <a:latin typeface="微软雅黑" panose="020B0503020204020204" pitchFamily="34" charset="-122"/>
                  <a:cs typeface="微软雅黑" panose="020B0503020204020204" pitchFamily="34" charset="-122"/>
                </a:rPr>
                <a:t>股和红筹企业发行的存托凭证组成：</a:t>
              </a:r>
              <a:endParaRPr lang="en-US" altLang="zh-CN" sz="1400" spc="5" dirty="0">
                <a:latin typeface="微软雅黑" panose="020B0503020204020204" pitchFamily="34" charset="-122"/>
                <a:cs typeface="微软雅黑" panose="020B0503020204020204" pitchFamily="34" charset="-122"/>
              </a:endParaRPr>
            </a:p>
            <a:p>
              <a:pPr marL="12700" marR="5080" algn="just">
                <a:lnSpc>
                  <a:spcPct val="120000"/>
                </a:lnSpc>
                <a:spcBef>
                  <a:spcPts val="600"/>
                </a:spcBef>
              </a:pPr>
              <a:r>
                <a:rPr lang="zh-CN" altLang="en-US" sz="1400" dirty="0">
                  <a:latin typeface="微软雅黑" panose="020B0503020204020204" pitchFamily="34" charset="-122"/>
                  <a:cs typeface="微软雅黑" panose="020B0503020204020204" pitchFamily="34" charset="-122"/>
                </a:rPr>
                <a:t>（</a:t>
              </a:r>
              <a:r>
                <a:rPr lang="en-US" altLang="zh-CN" sz="1400" dirty="0">
                  <a:latin typeface="微软雅黑" panose="020B0503020204020204" pitchFamily="34" charset="-122"/>
                  <a:cs typeface="微软雅黑" panose="020B0503020204020204" pitchFamily="34" charset="-122"/>
                </a:rPr>
                <a:t>1</a:t>
              </a:r>
              <a:r>
                <a:rPr lang="zh-CN" altLang="en-US" sz="1400" dirty="0">
                  <a:latin typeface="微软雅黑" panose="020B0503020204020204" pitchFamily="34" charset="-122"/>
                  <a:cs typeface="微软雅黑" panose="020B0503020204020204" pitchFamily="34" charset="-122"/>
                </a:rPr>
                <a:t>）非</a:t>
              </a:r>
              <a:r>
                <a:rPr lang="en-US" altLang="zh-CN" sz="1400" dirty="0">
                  <a:latin typeface="微软雅黑" panose="020B0503020204020204" pitchFamily="34" charset="-122"/>
                  <a:cs typeface="微软雅黑" panose="020B0503020204020204" pitchFamily="34" charset="-122"/>
                </a:rPr>
                <a:t>ST</a:t>
              </a:r>
              <a:r>
                <a:rPr lang="zh-CN" altLang="en-US" sz="1400" dirty="0">
                  <a:latin typeface="微软雅黑" panose="020B0503020204020204" pitchFamily="34" charset="-122"/>
                  <a:cs typeface="微软雅黑" panose="020B0503020204020204" pitchFamily="34" charset="-122"/>
                </a:rPr>
                <a:t>、*</a:t>
              </a:r>
              <a:r>
                <a:rPr lang="en-US" altLang="zh-CN" sz="1400" dirty="0">
                  <a:latin typeface="微软雅黑" panose="020B0503020204020204" pitchFamily="34" charset="-122"/>
                  <a:cs typeface="微软雅黑" panose="020B0503020204020204" pitchFamily="34" charset="-122"/>
                </a:rPr>
                <a:t>ST</a:t>
              </a:r>
              <a:r>
                <a:rPr lang="zh-CN" altLang="en-US" sz="1400" dirty="0">
                  <a:latin typeface="微软雅黑" panose="020B0503020204020204" pitchFamily="34" charset="-122"/>
                  <a:cs typeface="微软雅黑" panose="020B0503020204020204" pitchFamily="34" charset="-122"/>
                </a:rPr>
                <a:t>证券；</a:t>
              </a:r>
            </a:p>
            <a:p>
              <a:pPr marL="12700" marR="5080" algn="just">
                <a:lnSpc>
                  <a:spcPct val="120000"/>
                </a:lnSpc>
                <a:spcBef>
                  <a:spcPts val="600"/>
                </a:spcBef>
              </a:pPr>
              <a:r>
                <a:rPr lang="zh-CN" altLang="en-US" sz="1400" dirty="0">
                  <a:latin typeface="微软雅黑" panose="020B0503020204020204" pitchFamily="34" charset="-122"/>
                  <a:cs typeface="微软雅黑" panose="020B0503020204020204" pitchFamily="34" charset="-122"/>
                </a:rPr>
                <a:t>（</a:t>
              </a:r>
              <a:r>
                <a:rPr lang="en-US" altLang="zh-CN" sz="1400" dirty="0">
                  <a:latin typeface="微软雅黑" panose="020B0503020204020204" pitchFamily="34" charset="-122"/>
                  <a:cs typeface="微软雅黑" panose="020B0503020204020204" pitchFamily="34" charset="-122"/>
                </a:rPr>
                <a:t>2</a:t>
              </a:r>
              <a:r>
                <a:rPr lang="zh-CN" altLang="en-US" sz="1400" dirty="0">
                  <a:latin typeface="微软雅黑" panose="020B0503020204020204" pitchFamily="34" charset="-122"/>
                  <a:cs typeface="微软雅黑" panose="020B0503020204020204" pitchFamily="34" charset="-122"/>
                </a:rPr>
                <a:t>）科创板证券和北交所证券：上市时间分别超过一年和两年；</a:t>
              </a:r>
            </a:p>
            <a:p>
              <a:pPr marL="12700" marR="5080" algn="just">
                <a:lnSpc>
                  <a:spcPct val="120000"/>
                </a:lnSpc>
                <a:spcBef>
                  <a:spcPts val="600"/>
                </a:spcBef>
              </a:pPr>
              <a:r>
                <a:rPr lang="zh-CN" altLang="en-US" sz="1400" dirty="0">
                  <a:latin typeface="微软雅黑" panose="020B0503020204020204" pitchFamily="34" charset="-122"/>
                  <a:cs typeface="微软雅黑" panose="020B0503020204020204" pitchFamily="34" charset="-122"/>
                </a:rPr>
                <a:t>（</a:t>
              </a:r>
              <a:r>
                <a:rPr lang="en-US" altLang="zh-CN" sz="1400" dirty="0">
                  <a:latin typeface="微软雅黑" panose="020B0503020204020204" pitchFamily="34" charset="-122"/>
                  <a:cs typeface="微软雅黑" panose="020B0503020204020204" pitchFamily="34" charset="-122"/>
                </a:rPr>
                <a:t>3</a:t>
              </a:r>
              <a:r>
                <a:rPr lang="zh-CN" altLang="en-US" sz="1400" dirty="0">
                  <a:latin typeface="微软雅黑" panose="020B0503020204020204" pitchFamily="34" charset="-122"/>
                  <a:cs typeface="微软雅黑" panose="020B0503020204020204" pitchFamily="34" charset="-122"/>
                </a:rPr>
                <a:t>）其他证券：上市时间超过一个季度，除非该证券自上市以来日均总市值排在前</a:t>
              </a:r>
              <a:r>
                <a:rPr lang="en-US" altLang="zh-CN" sz="1400" dirty="0">
                  <a:latin typeface="微软雅黑" panose="020B0503020204020204" pitchFamily="34" charset="-122"/>
                  <a:cs typeface="微软雅黑" panose="020B0503020204020204" pitchFamily="34" charset="-122"/>
                </a:rPr>
                <a:t>30</a:t>
              </a:r>
              <a:r>
                <a:rPr lang="zh-CN" altLang="en-US" sz="1400" dirty="0">
                  <a:latin typeface="微软雅黑" panose="020B0503020204020204" pitchFamily="34" charset="-122"/>
                  <a:cs typeface="微软雅黑" panose="020B0503020204020204" pitchFamily="34" charset="-122"/>
                </a:rPr>
                <a:t>位。</a:t>
              </a:r>
              <a:endParaRPr sz="1400" dirty="0">
                <a:latin typeface="微软雅黑" panose="020B0503020204020204" pitchFamily="34" charset="-122"/>
                <a:cs typeface="微软雅黑" panose="020B0503020204020204" pitchFamily="34" charset="-122"/>
              </a:endParaRPr>
            </a:p>
            <a:p>
              <a:pPr marL="12700">
                <a:lnSpc>
                  <a:spcPct val="100000"/>
                </a:lnSpc>
                <a:spcBef>
                  <a:spcPts val="935"/>
                </a:spcBef>
              </a:pPr>
              <a:r>
                <a:rPr sz="1400" b="1" dirty="0">
                  <a:latin typeface="微软雅黑" panose="020B0503020204020204" pitchFamily="34" charset="-122"/>
                  <a:cs typeface="微软雅黑" panose="020B0503020204020204" pitchFamily="34" charset="-122"/>
                </a:rPr>
                <a:t>选样方法：</a:t>
              </a:r>
              <a:r>
                <a:rPr sz="1400" dirty="0">
                  <a:latin typeface="微软雅黑" panose="020B0503020204020204" pitchFamily="34" charset="-122"/>
                  <a:cs typeface="微软雅黑" panose="020B0503020204020204" pitchFamily="34" charset="-122"/>
                </a:rPr>
                <a:t>选取样本空间内所有证券作为指数样本</a:t>
              </a:r>
              <a:r>
                <a:rPr sz="1400" spc="5" dirty="0">
                  <a:latin typeface="微软雅黑" panose="020B0503020204020204" pitchFamily="34" charset="-122"/>
                  <a:cs typeface="微软雅黑" panose="020B0503020204020204" pitchFamily="34" charset="-122"/>
                </a:rPr>
                <a:t>。</a:t>
              </a:r>
              <a:endParaRPr sz="1400" dirty="0">
                <a:latin typeface="微软雅黑" panose="020B0503020204020204" pitchFamily="34" charset="-122"/>
                <a:cs typeface="微软雅黑" panose="020B0503020204020204" pitchFamily="34" charset="-122"/>
              </a:endParaRPr>
            </a:p>
            <a:p>
              <a:pPr marL="12700" marR="5080" algn="just">
                <a:lnSpc>
                  <a:spcPct val="120000"/>
                </a:lnSpc>
                <a:spcBef>
                  <a:spcPts val="600"/>
                </a:spcBef>
              </a:pPr>
              <a:r>
                <a:rPr lang="zh-CN" altLang="en-US" sz="1400" b="1" spc="25" dirty="0">
                  <a:latin typeface="微软雅黑" panose="020B0503020204020204" pitchFamily="34" charset="-122"/>
                  <a:cs typeface="微软雅黑" panose="020B0503020204020204" pitchFamily="34" charset="-122"/>
                </a:rPr>
                <a:t>指数样本和权重调整</a:t>
              </a:r>
              <a:r>
                <a:rPr sz="1400" b="1" spc="25" dirty="0">
                  <a:latin typeface="微软雅黑" panose="020B0503020204020204" pitchFamily="34" charset="-122"/>
                  <a:cs typeface="微软雅黑" panose="020B0503020204020204" pitchFamily="34" charset="-122"/>
                </a:rPr>
                <a:t>：</a:t>
              </a:r>
              <a:endParaRPr lang="en-US" sz="1400" b="1" spc="25" dirty="0">
                <a:latin typeface="微软雅黑" panose="020B0503020204020204" pitchFamily="34" charset="-122"/>
                <a:cs typeface="微软雅黑" panose="020B0503020204020204" pitchFamily="34" charset="-122"/>
              </a:endParaRPr>
            </a:p>
            <a:p>
              <a:pPr marL="12700" marR="5080" algn="just">
                <a:lnSpc>
                  <a:spcPct val="120000"/>
                </a:lnSpc>
                <a:spcBef>
                  <a:spcPts val="600"/>
                </a:spcBef>
              </a:pPr>
              <a:r>
                <a:rPr lang="zh-CN" altLang="en-US" sz="1400" spc="5" dirty="0">
                  <a:latin typeface="微软雅黑" panose="020B0503020204020204" pitchFamily="34" charset="-122"/>
                  <a:cs typeface="微软雅黑" panose="020B0503020204020204" pitchFamily="34" charset="-122"/>
                </a:rPr>
                <a:t>（</a:t>
              </a:r>
              <a:r>
                <a:rPr lang="en-US" altLang="zh-CN" sz="1400" spc="5" dirty="0">
                  <a:latin typeface="微软雅黑" panose="020B0503020204020204" pitchFamily="34" charset="-122"/>
                  <a:cs typeface="微软雅黑" panose="020B0503020204020204" pitchFamily="34" charset="-122"/>
                </a:rPr>
                <a:t>1</a:t>
              </a:r>
              <a:r>
                <a:rPr lang="zh-CN" altLang="en-US" sz="1400" spc="5" dirty="0">
                  <a:latin typeface="微软雅黑" panose="020B0503020204020204" pitchFamily="34" charset="-122"/>
                  <a:cs typeface="微软雅黑" panose="020B0503020204020204" pitchFamily="34" charset="-122"/>
                </a:rPr>
                <a:t>）定期调整：指数样本每半年调整一次，样本调整实施时间分别为每年</a:t>
              </a:r>
              <a:r>
                <a:rPr lang="en-US" altLang="zh-CN" sz="1400" spc="5" dirty="0">
                  <a:latin typeface="微软雅黑" panose="020B0503020204020204" pitchFamily="34" charset="-122"/>
                  <a:cs typeface="微软雅黑" panose="020B0503020204020204" pitchFamily="34" charset="-122"/>
                </a:rPr>
                <a:t>6</a:t>
              </a:r>
              <a:r>
                <a:rPr lang="zh-CN" altLang="en-US" sz="1400" spc="5" dirty="0">
                  <a:latin typeface="微软雅黑" panose="020B0503020204020204" pitchFamily="34" charset="-122"/>
                  <a:cs typeface="微软雅黑" panose="020B0503020204020204" pitchFamily="34" charset="-122"/>
                </a:rPr>
                <a:t>月和</a:t>
              </a:r>
              <a:r>
                <a:rPr lang="en-US" altLang="zh-CN" sz="1400" spc="5" dirty="0">
                  <a:latin typeface="微软雅黑" panose="020B0503020204020204" pitchFamily="34" charset="-122"/>
                  <a:cs typeface="微软雅黑" panose="020B0503020204020204" pitchFamily="34" charset="-122"/>
                </a:rPr>
                <a:t>12</a:t>
              </a:r>
              <a:r>
                <a:rPr lang="zh-CN" altLang="en-US" sz="1400" spc="5" dirty="0">
                  <a:latin typeface="微软雅黑" panose="020B0503020204020204" pitchFamily="34" charset="-122"/>
                  <a:cs typeface="微软雅黑" panose="020B0503020204020204" pitchFamily="34" charset="-122"/>
                </a:rPr>
                <a:t>月的第二个星期五的下一交易日。</a:t>
              </a:r>
              <a:endParaRPr lang="en-US" altLang="zh-CN" sz="1400" spc="5" dirty="0">
                <a:latin typeface="微软雅黑" panose="020B0503020204020204" pitchFamily="34" charset="-122"/>
                <a:cs typeface="微软雅黑" panose="020B0503020204020204" pitchFamily="34" charset="-122"/>
              </a:endParaRPr>
            </a:p>
            <a:p>
              <a:pPr marL="12700" marR="5080" algn="just">
                <a:lnSpc>
                  <a:spcPct val="120000"/>
                </a:lnSpc>
                <a:spcBef>
                  <a:spcPts val="600"/>
                </a:spcBef>
              </a:pPr>
              <a:r>
                <a:rPr lang="zh-CN" altLang="en-US" sz="1400" spc="5" dirty="0">
                  <a:latin typeface="微软雅黑" panose="020B0503020204020204" pitchFamily="34" charset="-122"/>
                  <a:cs typeface="微软雅黑" panose="020B0503020204020204" pitchFamily="34" charset="-122"/>
                </a:rPr>
                <a:t>（</a:t>
              </a:r>
              <a:r>
                <a:rPr lang="en-US" altLang="zh-CN" sz="1400" spc="5" dirty="0">
                  <a:latin typeface="微软雅黑" panose="020B0503020204020204" pitchFamily="34" charset="-122"/>
                  <a:cs typeface="微软雅黑" panose="020B0503020204020204" pitchFamily="34" charset="-122"/>
                </a:rPr>
                <a:t>2</a:t>
              </a:r>
              <a:r>
                <a:rPr lang="zh-CN" altLang="en-US" sz="1400" spc="5" dirty="0">
                  <a:latin typeface="微软雅黑" panose="020B0503020204020204" pitchFamily="34" charset="-122"/>
                  <a:cs typeface="微软雅黑" panose="020B0503020204020204" pitchFamily="34" charset="-122"/>
                </a:rPr>
                <a:t>）临时调整：特殊情况下将对指数进行临时调整。当样本退市时，将其从指数样本中剔除。样本公司发生收购、合并、分拆等情形的处理，参照计算与维护细则处理。</a:t>
              </a:r>
              <a:endParaRPr sz="1400" dirty="0">
                <a:latin typeface="微软雅黑" panose="020B0503020204020204" pitchFamily="34" charset="-122"/>
                <a:cs typeface="微软雅黑" panose="020B0503020204020204" pitchFamily="34" charset="-122"/>
              </a:endParaRPr>
            </a:p>
            <a:p>
              <a:pPr marL="12700">
                <a:lnSpc>
                  <a:spcPct val="100000"/>
                </a:lnSpc>
                <a:spcBef>
                  <a:spcPts val="935"/>
                </a:spcBef>
              </a:pPr>
              <a:r>
                <a:rPr sz="1400" b="1" dirty="0">
                  <a:latin typeface="微软雅黑" panose="020B0503020204020204" pitchFamily="34" charset="-122"/>
                  <a:cs typeface="微软雅黑" panose="020B0503020204020204" pitchFamily="34" charset="-122"/>
                </a:rPr>
                <a:t>基日：</a:t>
              </a:r>
              <a:r>
                <a:rPr sz="1400" b="1" spc="-5" dirty="0">
                  <a:latin typeface="Arial" panose="020B0604020202020204"/>
                  <a:cs typeface="Arial" panose="020B0604020202020204"/>
                </a:rPr>
                <a:t>20</a:t>
              </a:r>
              <a:r>
                <a:rPr lang="en-US" sz="1400" b="1" spc="-5" dirty="0">
                  <a:latin typeface="Arial" panose="020B0604020202020204"/>
                  <a:cs typeface="Arial" panose="020B0604020202020204"/>
                </a:rPr>
                <a:t>04</a:t>
              </a:r>
              <a:r>
                <a:rPr sz="1400" b="1" spc="-5" dirty="0">
                  <a:latin typeface="Arial" panose="020B0604020202020204"/>
                  <a:cs typeface="Arial" panose="020B0604020202020204"/>
                </a:rPr>
                <a:t>-12-3</a:t>
              </a:r>
              <a:r>
                <a:rPr sz="1400" b="1" dirty="0">
                  <a:latin typeface="Arial" panose="020B0604020202020204"/>
                  <a:cs typeface="Arial" panose="020B0604020202020204"/>
                </a:rPr>
                <a:t>1</a:t>
              </a:r>
              <a:endParaRPr sz="1400" dirty="0">
                <a:latin typeface="Arial" panose="020B0604020202020204"/>
                <a:cs typeface="Arial" panose="020B0604020202020204"/>
              </a:endParaRPr>
            </a:p>
          </p:txBody>
        </p:sp>
      </p:grpSp>
      <p:sp>
        <p:nvSpPr>
          <p:cNvPr id="14" name="object 14"/>
          <p:cNvSpPr txBox="1"/>
          <p:nvPr/>
        </p:nvSpPr>
        <p:spPr>
          <a:xfrm>
            <a:off x="537849" y="5344418"/>
            <a:ext cx="2880001" cy="389209"/>
          </a:xfrm>
          <a:prstGeom prst="rect">
            <a:avLst/>
          </a:prstGeom>
        </p:spPr>
        <p:txBody>
          <a:bodyPr vert="horz" wrap="square" lIns="0" tIns="13335" rIns="0" bIns="0" rtlCol="0">
            <a:spAutoFit/>
          </a:bodyPr>
          <a:lstStyle/>
          <a:p>
            <a:pPr marL="12700">
              <a:lnSpc>
                <a:spcPts val="960"/>
              </a:lnSpc>
              <a:spcBef>
                <a:spcPts val="105"/>
              </a:spcBef>
            </a:pPr>
            <a:r>
              <a:rPr lang="zh-CN" altLang="en-US" sz="800" dirty="0">
                <a:solidFill>
                  <a:srgbClr val="7E7E7E"/>
                </a:solidFill>
                <a:latin typeface="宋体" panose="02010600030101010101" pitchFamily="2" charset="-122"/>
                <a:cs typeface="宋体" panose="02010600030101010101" pitchFamily="2" charset="-122"/>
              </a:rPr>
              <a:t>风险揭示</a:t>
            </a:r>
            <a:r>
              <a:rPr sz="800" dirty="0">
                <a:solidFill>
                  <a:srgbClr val="7E7E7E"/>
                </a:solidFill>
                <a:latin typeface="宋体" panose="02010600030101010101" pitchFamily="2" charset="-122"/>
                <a:cs typeface="宋体" panose="02010600030101010101" pitchFamily="2" charset="-122"/>
              </a:rPr>
              <a:t>：</a:t>
            </a:r>
            <a:r>
              <a:rPr lang="zh-CN" altLang="en-US" sz="800" spc="5" dirty="0">
                <a:solidFill>
                  <a:srgbClr val="7E7E7E"/>
                </a:solidFill>
                <a:latin typeface="宋体" panose="02010600030101010101" pitchFamily="2" charset="-122"/>
                <a:cs typeface="宋体" panose="02010600030101010101" pitchFamily="2" charset="-122"/>
              </a:rPr>
              <a:t>指数包含成分股数量会随股票发行、退市、被实施风险警示等因素变化。</a:t>
            </a:r>
            <a:endParaRPr sz="800" dirty="0">
              <a:latin typeface="宋体" panose="02010600030101010101" pitchFamily="2" charset="-122"/>
              <a:cs typeface="宋体" panose="02010600030101010101" pitchFamily="2" charset="-122"/>
            </a:endParaRPr>
          </a:p>
          <a:p>
            <a:pPr marL="17145">
              <a:lnSpc>
                <a:spcPts val="960"/>
              </a:lnSpc>
            </a:pPr>
            <a:r>
              <a:rPr sz="800" dirty="0">
                <a:solidFill>
                  <a:srgbClr val="7E7E7E"/>
                </a:solidFill>
                <a:latin typeface="宋体" panose="02010600030101010101" pitchFamily="2" charset="-122"/>
                <a:cs typeface="宋体" panose="02010600030101010101" pitchFamily="2" charset="-122"/>
              </a:rPr>
              <a:t>数据来源：中证指数公司，截至</a:t>
            </a:r>
            <a:r>
              <a:rPr sz="800" spc="-5" dirty="0">
                <a:solidFill>
                  <a:srgbClr val="7E7E7E"/>
                </a:solidFill>
                <a:latin typeface="微软雅黑" panose="020B0503020204020204" pitchFamily="34" charset="-122"/>
                <a:cs typeface="微软雅黑" panose="020B0503020204020204" pitchFamily="34" charset="-122"/>
              </a:rPr>
              <a:t>202</a:t>
            </a:r>
            <a:r>
              <a:rPr lang="en-US" sz="800" spc="-5" dirty="0">
                <a:solidFill>
                  <a:srgbClr val="7E7E7E"/>
                </a:solidFill>
                <a:latin typeface="微软雅黑" panose="020B0503020204020204" pitchFamily="34" charset="-122"/>
                <a:cs typeface="微软雅黑" panose="020B0503020204020204" pitchFamily="34" charset="-122"/>
              </a:rPr>
              <a:t>6</a:t>
            </a:r>
            <a:r>
              <a:rPr sz="800" dirty="0">
                <a:solidFill>
                  <a:srgbClr val="7E7E7E"/>
                </a:solidFill>
                <a:latin typeface="宋体" panose="02010600030101010101" pitchFamily="2" charset="-122"/>
                <a:cs typeface="宋体" panose="02010600030101010101" pitchFamily="2" charset="-122"/>
              </a:rPr>
              <a:t>年</a:t>
            </a:r>
            <a:r>
              <a:rPr lang="en-US" sz="800" spc="-5" dirty="0">
                <a:solidFill>
                  <a:srgbClr val="7E7E7E"/>
                </a:solidFill>
                <a:cs typeface="宋体" panose="02010600030101010101" pitchFamily="2" charset="-122"/>
              </a:rPr>
              <a:t>5</a:t>
            </a:r>
            <a:r>
              <a:rPr sz="800" dirty="0">
                <a:solidFill>
                  <a:srgbClr val="7E7E7E"/>
                </a:solidFill>
                <a:latin typeface="宋体" panose="02010600030101010101" pitchFamily="2" charset="-122"/>
                <a:cs typeface="宋体" panose="02010600030101010101" pitchFamily="2" charset="-122"/>
              </a:rPr>
              <a:t>月</a:t>
            </a:r>
            <a:r>
              <a:rPr lang="en-US" sz="800" spc="-5" dirty="0">
                <a:solidFill>
                  <a:srgbClr val="7E7E7E"/>
                </a:solidFill>
                <a:latin typeface="微软雅黑" panose="020B0503020204020204" pitchFamily="34" charset="-122"/>
                <a:cs typeface="宋体" panose="02010600030101010101" pitchFamily="2" charset="-122"/>
              </a:rPr>
              <a:t>31</a:t>
            </a:r>
            <a:r>
              <a:rPr sz="800" dirty="0">
                <a:solidFill>
                  <a:srgbClr val="7E7E7E"/>
                </a:solidFill>
                <a:latin typeface="宋体" panose="02010600030101010101" pitchFamily="2" charset="-122"/>
                <a:cs typeface="宋体" panose="02010600030101010101" pitchFamily="2" charset="-122"/>
              </a:rPr>
              <a:t>日。</a:t>
            </a:r>
            <a:endParaRPr sz="800" dirty="0">
              <a:latin typeface="宋体" panose="02010600030101010101" pitchFamily="2" charset="-122"/>
              <a:cs typeface="宋体" panose="02010600030101010101" pitchFamily="2" charset="-122"/>
            </a:endParaRPr>
          </a:p>
        </p:txBody>
      </p:sp>
      <p:sp>
        <p:nvSpPr>
          <p:cNvPr id="22" name="object 10"/>
          <p:cNvSpPr/>
          <p:nvPr/>
        </p:nvSpPr>
        <p:spPr>
          <a:xfrm>
            <a:off x="512916" y="3851490"/>
            <a:ext cx="2880000" cy="7620"/>
          </a:xfrm>
          <a:custGeom>
            <a:avLst/>
            <a:gdLst/>
            <a:ahLst/>
            <a:cxnLst/>
            <a:rect l="l" t="t" r="r" b="b"/>
            <a:pathLst>
              <a:path w="2212975" h="7619">
                <a:moveTo>
                  <a:pt x="2212975" y="7619"/>
                </a:moveTo>
                <a:lnTo>
                  <a:pt x="0" y="7619"/>
                </a:lnTo>
                <a:lnTo>
                  <a:pt x="0" y="0"/>
                </a:lnTo>
                <a:lnTo>
                  <a:pt x="2212975" y="0"/>
                </a:lnTo>
                <a:lnTo>
                  <a:pt x="2212975" y="7619"/>
                </a:lnTo>
                <a:close/>
              </a:path>
            </a:pathLst>
          </a:custGeom>
          <a:solidFill>
            <a:srgbClr val="252525"/>
          </a:solidFill>
        </p:spPr>
        <p:txBody>
          <a:bodyPr wrap="square" lIns="0" tIns="0" rIns="0" bIns="0" rtlCol="0"/>
          <a:lstStyle/>
          <a:p>
            <a:endParaRPr/>
          </a:p>
        </p:txBody>
      </p:sp>
      <p:sp>
        <p:nvSpPr>
          <p:cNvPr id="23" name="object 10"/>
          <p:cNvSpPr/>
          <p:nvPr/>
        </p:nvSpPr>
        <p:spPr>
          <a:xfrm>
            <a:off x="537850" y="5239710"/>
            <a:ext cx="2880000" cy="7620"/>
          </a:xfrm>
          <a:custGeom>
            <a:avLst/>
            <a:gdLst/>
            <a:ahLst/>
            <a:cxnLst/>
            <a:rect l="l" t="t" r="r" b="b"/>
            <a:pathLst>
              <a:path w="2212975" h="7619">
                <a:moveTo>
                  <a:pt x="2212975" y="7619"/>
                </a:moveTo>
                <a:lnTo>
                  <a:pt x="0" y="7619"/>
                </a:lnTo>
                <a:lnTo>
                  <a:pt x="0" y="0"/>
                </a:lnTo>
                <a:lnTo>
                  <a:pt x="2212975" y="0"/>
                </a:lnTo>
                <a:lnTo>
                  <a:pt x="2212975" y="7619"/>
                </a:lnTo>
                <a:close/>
              </a:path>
            </a:pathLst>
          </a:custGeom>
          <a:solidFill>
            <a:srgbClr val="252525"/>
          </a:solidFill>
        </p:spPr>
        <p:txBody>
          <a:bodyPr wrap="square" lIns="0" tIns="0" rIns="0" bIns="0" rtlCol="0"/>
          <a:lstStyle/>
          <a:p>
            <a:endParaRPr/>
          </a:p>
        </p:txBody>
      </p:sp>
      <p:sp>
        <p:nvSpPr>
          <p:cNvPr id="24" name="object 7"/>
          <p:cNvSpPr txBox="1"/>
          <p:nvPr/>
        </p:nvSpPr>
        <p:spPr>
          <a:xfrm>
            <a:off x="1407087" y="4276017"/>
            <a:ext cx="2136905" cy="698268"/>
          </a:xfrm>
          <a:prstGeom prst="rect">
            <a:avLst/>
          </a:prstGeom>
        </p:spPr>
        <p:txBody>
          <a:bodyPr vert="horz" wrap="square" lIns="0" tIns="13335" rIns="0" bIns="0" rtlCol="0">
            <a:spAutoFit/>
          </a:bodyPr>
          <a:lstStyle/>
          <a:p>
            <a:pPr marL="12700">
              <a:lnSpc>
                <a:spcPct val="100000"/>
              </a:lnSpc>
              <a:spcBef>
                <a:spcPts val="105"/>
              </a:spcBef>
            </a:pPr>
            <a:r>
              <a:rPr lang="zh-CN" altLang="en-US" sz="1400" spc="5" dirty="0">
                <a:latin typeface="微软雅黑" panose="020B0503020204020204" pitchFamily="34" charset="-122"/>
                <a:cs typeface="微软雅黑" panose="020B0503020204020204" pitchFamily="34" charset="-122"/>
              </a:rPr>
              <a:t>成分股</a:t>
            </a:r>
            <a:endParaRPr sz="1400" dirty="0">
              <a:latin typeface="微软雅黑" panose="020B0503020204020204" pitchFamily="34" charset="-122"/>
              <a:cs typeface="微软雅黑" panose="020B0503020204020204" pitchFamily="34" charset="-122"/>
            </a:endParaRPr>
          </a:p>
          <a:p>
            <a:pPr marL="52705" marR="5080">
              <a:lnSpc>
                <a:spcPct val="100000"/>
              </a:lnSpc>
              <a:spcBef>
                <a:spcPts val="1535"/>
              </a:spcBef>
            </a:pPr>
            <a:r>
              <a:rPr lang="en-US" altLang="zh-CN" sz="1800" b="1" dirty="0">
                <a:solidFill>
                  <a:srgbClr val="EA5838"/>
                </a:solidFill>
                <a:latin typeface="微软雅黑" panose="020B0503020204020204" pitchFamily="34" charset="-122"/>
                <a:cs typeface="微软雅黑" panose="020B0503020204020204" pitchFamily="34" charset="-122"/>
              </a:rPr>
              <a:t>5061</a:t>
            </a:r>
            <a:r>
              <a:rPr lang="zh-CN" altLang="en-US" sz="1800" b="1" dirty="0">
                <a:solidFill>
                  <a:srgbClr val="EA5838"/>
                </a:solidFill>
                <a:latin typeface="微软雅黑" panose="020B0503020204020204" pitchFamily="34" charset="-122"/>
                <a:cs typeface="微软雅黑" panose="020B0503020204020204" pitchFamily="34" charset="-122"/>
              </a:rPr>
              <a:t>只</a:t>
            </a:r>
            <a:endParaRPr sz="1800" dirty="0">
              <a:solidFill>
                <a:srgbClr val="EA5838"/>
              </a:solidFill>
              <a:latin typeface="微软雅黑" panose="020B0503020204020204" pitchFamily="34" charset="-122"/>
              <a:cs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814" y="242221"/>
            <a:ext cx="10515600" cy="448994"/>
          </a:xfrm>
        </p:spPr>
        <p:txBody>
          <a:bodyPr>
            <a:noAutofit/>
          </a:bodyPr>
          <a:lstStyle/>
          <a:p>
            <a:r>
              <a:rPr lang="en-US" altLang="zh-CN" dirty="0">
                <a:solidFill>
                  <a:srgbClr val="EA5838"/>
                </a:solidFill>
              </a:rPr>
              <a:t>1</a:t>
            </a:r>
            <a:r>
              <a:rPr lang="zh-CN" altLang="en-US" dirty="0">
                <a:solidFill>
                  <a:srgbClr val="EA5838"/>
                </a:solidFill>
              </a:rPr>
              <a:t>、最“全”指数：</a:t>
            </a:r>
            <a:r>
              <a:rPr lang="zh-CN" altLang="en-US" dirty="0"/>
              <a:t>行业分布全覆盖，成长潜力大</a:t>
            </a:r>
          </a:p>
        </p:txBody>
      </p:sp>
      <p:sp>
        <p:nvSpPr>
          <p:cNvPr id="3" name="灯片编号占位符 2"/>
          <p:cNvSpPr>
            <a:spLocks noGrp="1"/>
          </p:cNvSpPr>
          <p:nvPr>
            <p:ph type="sldNum" sz="quarter" idx="11"/>
          </p:nvPr>
        </p:nvSpPr>
        <p:spPr/>
        <p:txBody>
          <a:bodyPr/>
          <a:lstStyle/>
          <a:p>
            <a:pPr>
              <a:defRPr/>
            </a:pPr>
            <a:fld id="{6E91549D-98B7-4077-996F-05BE1B29F039}" type="slidenum">
              <a:rPr lang="zh-CN" altLang="en-US" smtClean="0"/>
              <a:t>8</a:t>
            </a:fld>
            <a:endParaRPr lang="zh-CN" altLang="en-US" dirty="0"/>
          </a:p>
        </p:txBody>
      </p:sp>
      <p:sp>
        <p:nvSpPr>
          <p:cNvPr id="4" name="矩形 3"/>
          <p:cNvSpPr/>
          <p:nvPr/>
        </p:nvSpPr>
        <p:spPr>
          <a:xfrm>
            <a:off x="600475" y="904918"/>
            <a:ext cx="11068667" cy="1341521"/>
          </a:xfrm>
          <a:prstGeom prst="rect">
            <a:avLst/>
          </a:prstGeom>
        </p:spPr>
        <p:txBody>
          <a:bodyPr wrap="square">
            <a:spAutoFit/>
          </a:bodyPr>
          <a:lstStyle/>
          <a:p>
            <a:pPr marL="342900" indent="-342900">
              <a:lnSpc>
                <a:spcPct val="130000"/>
              </a:lnSpc>
              <a:spcBef>
                <a:spcPts val="0"/>
              </a:spcBef>
              <a:buClr>
                <a:srgbClr val="002060"/>
              </a:buClr>
              <a:buFont typeface="Wingdings" panose="05000000000000000000" pitchFamily="2" charset="2"/>
              <a:buChar char="n"/>
            </a:pPr>
            <a:r>
              <a:rPr lang="zh-CN" altLang="en-US" sz="1600" b="0" i="0" dirty="0">
                <a:solidFill>
                  <a:srgbClr val="1A1A1A"/>
                </a:solidFill>
                <a:effectLst/>
                <a:latin typeface="微软雅黑" panose="020B0503020204020204" pitchFamily="34" charset="-122"/>
                <a:ea typeface="微软雅黑" panose="020B0503020204020204" pitchFamily="34" charset="-122"/>
              </a:rPr>
              <a:t>中证全指指数囊括上交所、深交所、北交所等三大交易所上市公司，覆盖</a:t>
            </a:r>
            <a:r>
              <a:rPr lang="en-US" altLang="zh-CN" sz="1600" b="0" i="0" dirty="0">
                <a:solidFill>
                  <a:srgbClr val="1A1A1A"/>
                </a:solidFill>
                <a:effectLst/>
                <a:latin typeface="微软雅黑" panose="020B0503020204020204" pitchFamily="34" charset="-122"/>
                <a:ea typeface="微软雅黑" panose="020B0503020204020204" pitchFamily="34" charset="-122"/>
              </a:rPr>
              <a:t>A</a:t>
            </a:r>
            <a:r>
              <a:rPr lang="zh-CN" altLang="en-US" sz="1600" b="0" i="0" dirty="0">
                <a:solidFill>
                  <a:srgbClr val="1A1A1A"/>
                </a:solidFill>
                <a:effectLst/>
                <a:latin typeface="微软雅黑" panose="020B0503020204020204" pitchFamily="34" charset="-122"/>
                <a:ea typeface="微软雅黑" panose="020B0503020204020204" pitchFamily="34" charset="-122"/>
              </a:rPr>
              <a:t>股市场超</a:t>
            </a:r>
            <a:r>
              <a:rPr lang="en-US" altLang="zh-CN" sz="1600" b="0" i="0" dirty="0">
                <a:solidFill>
                  <a:srgbClr val="1A1A1A"/>
                </a:solidFill>
                <a:effectLst/>
                <a:latin typeface="微软雅黑" panose="020B0503020204020204" pitchFamily="34" charset="-122"/>
                <a:ea typeface="微软雅黑" panose="020B0503020204020204" pitchFamily="34" charset="-122"/>
              </a:rPr>
              <a:t>98%</a:t>
            </a:r>
            <a:r>
              <a:rPr lang="zh-CN" altLang="en-US" sz="1600" b="0" i="0" dirty="0">
                <a:solidFill>
                  <a:srgbClr val="1A1A1A"/>
                </a:solidFill>
                <a:effectLst/>
                <a:latin typeface="微软雅黑" panose="020B0503020204020204" pitchFamily="34" charset="-122"/>
                <a:ea typeface="微软雅黑" panose="020B0503020204020204" pitchFamily="34" charset="-122"/>
              </a:rPr>
              <a:t>市值。按照申万行业分类，中证全指覆盖了</a:t>
            </a:r>
            <a:r>
              <a:rPr lang="en-US" altLang="zh-CN" sz="1600" b="0" i="0" dirty="0">
                <a:solidFill>
                  <a:srgbClr val="1A1A1A"/>
                </a:solidFill>
                <a:effectLst/>
                <a:latin typeface="微软雅黑" panose="020B0503020204020204" pitchFamily="34" charset="-122"/>
                <a:ea typeface="微软雅黑" panose="020B0503020204020204" pitchFamily="34" charset="-122"/>
              </a:rPr>
              <a:t>31</a:t>
            </a:r>
            <a:r>
              <a:rPr lang="zh-CN" altLang="en-US" sz="1600" b="0" i="0" dirty="0">
                <a:solidFill>
                  <a:srgbClr val="1A1A1A"/>
                </a:solidFill>
                <a:effectLst/>
                <a:latin typeface="微软雅黑" panose="020B0503020204020204" pitchFamily="34" charset="-122"/>
                <a:ea typeface="微软雅黑" panose="020B0503020204020204" pitchFamily="34" charset="-122"/>
              </a:rPr>
              <a:t>个一级行业，</a:t>
            </a:r>
            <a:r>
              <a:rPr lang="en-US" altLang="zh-CN" sz="1600" b="0" i="0" dirty="0">
                <a:solidFill>
                  <a:srgbClr val="1A1A1A"/>
                </a:solidFill>
                <a:effectLst/>
                <a:latin typeface="微软雅黑" panose="020B0503020204020204" pitchFamily="34" charset="-122"/>
                <a:ea typeface="微软雅黑" panose="020B0503020204020204" pitchFamily="34" charset="-122"/>
              </a:rPr>
              <a:t>131</a:t>
            </a:r>
            <a:r>
              <a:rPr lang="zh-CN" altLang="en-US" sz="1600" b="0" i="0" dirty="0">
                <a:solidFill>
                  <a:srgbClr val="1A1A1A"/>
                </a:solidFill>
                <a:effectLst/>
                <a:latin typeface="微软雅黑" panose="020B0503020204020204" pitchFamily="34" charset="-122"/>
                <a:ea typeface="微软雅黑" panose="020B0503020204020204" pitchFamily="34" charset="-122"/>
              </a:rPr>
              <a:t>个二级行业，以及</a:t>
            </a:r>
            <a:r>
              <a:rPr lang="en-US" altLang="zh-CN" sz="1600" b="0" i="0" dirty="0">
                <a:solidFill>
                  <a:srgbClr val="1A1A1A"/>
                </a:solidFill>
                <a:effectLst/>
                <a:latin typeface="微软雅黑" panose="020B0503020204020204" pitchFamily="34" charset="-122"/>
                <a:ea typeface="微软雅黑" panose="020B0503020204020204" pitchFamily="34" charset="-122"/>
              </a:rPr>
              <a:t>336</a:t>
            </a:r>
            <a:r>
              <a:rPr lang="zh-CN" altLang="en-US" sz="1600" b="0" i="0" dirty="0">
                <a:solidFill>
                  <a:srgbClr val="1A1A1A"/>
                </a:solidFill>
                <a:effectLst/>
                <a:latin typeface="微软雅黑" panose="020B0503020204020204" pitchFamily="34" charset="-122"/>
                <a:ea typeface="微软雅黑" panose="020B0503020204020204" pitchFamily="34" charset="-122"/>
              </a:rPr>
              <a:t>个三级行业。</a:t>
            </a:r>
            <a:endParaRPr lang="en-US" altLang="zh-CN" sz="1600" dirty="0">
              <a:solidFill>
                <a:srgbClr val="000000"/>
              </a:solidFill>
              <a:latin typeface="+mj-ea"/>
              <a:ea typeface="+mj-ea"/>
            </a:endParaRPr>
          </a:p>
          <a:p>
            <a:pPr marL="342900" indent="-342900">
              <a:lnSpc>
                <a:spcPct val="130000"/>
              </a:lnSpc>
              <a:spcBef>
                <a:spcPts val="0"/>
              </a:spcBef>
              <a:buClr>
                <a:srgbClr val="002060"/>
              </a:buClr>
              <a:buFont typeface="Wingdings" panose="05000000000000000000" pitchFamily="2" charset="2"/>
              <a:buChar char="n"/>
            </a:pPr>
            <a:r>
              <a:rPr lang="zh-CN" altLang="zh-CN" sz="1600" dirty="0">
                <a:solidFill>
                  <a:srgbClr val="000000"/>
                </a:solidFill>
                <a:latin typeface="+mj-ea"/>
                <a:ea typeface="+mj-ea"/>
              </a:rPr>
              <a:t>行业</a:t>
            </a:r>
            <a:r>
              <a:rPr lang="zh-CN" altLang="en-US" sz="1600" dirty="0">
                <a:solidFill>
                  <a:srgbClr val="000000"/>
                </a:solidFill>
                <a:latin typeface="+mj-ea"/>
                <a:ea typeface="+mj-ea"/>
              </a:rPr>
              <a:t>分布全面且均衡</a:t>
            </a:r>
            <a:r>
              <a:rPr lang="zh-CN" altLang="zh-CN" sz="1600" dirty="0">
                <a:solidFill>
                  <a:srgbClr val="000000"/>
                </a:solidFill>
                <a:latin typeface="+mj-ea"/>
                <a:ea typeface="+mj-ea"/>
              </a:rPr>
              <a:t>，</a:t>
            </a:r>
            <a:r>
              <a:rPr lang="zh-CN" altLang="en-US" sz="1600" dirty="0">
                <a:solidFill>
                  <a:srgbClr val="000000"/>
                </a:solidFill>
                <a:latin typeface="+mj-ea"/>
                <a:ea typeface="+mj-ea"/>
              </a:rPr>
              <a:t>风险更加分散，</a:t>
            </a:r>
            <a:r>
              <a:rPr lang="zh-CN" altLang="zh-CN" sz="1600" dirty="0">
                <a:solidFill>
                  <a:srgbClr val="000000"/>
                </a:solidFill>
                <a:latin typeface="+mj-ea"/>
                <a:ea typeface="+mj-ea"/>
              </a:rPr>
              <a:t>不会轻易受到某一板块或者行业的影响。</a:t>
            </a:r>
            <a:endParaRPr kumimoji="1" lang="en-US" altLang="zh-CN" sz="1600" dirty="0">
              <a:latin typeface="+mj-ea"/>
              <a:ea typeface="+mj-ea"/>
            </a:endParaRPr>
          </a:p>
          <a:p>
            <a:pPr marL="342900" indent="-342900">
              <a:lnSpc>
                <a:spcPct val="130000"/>
              </a:lnSpc>
              <a:spcBef>
                <a:spcPts val="0"/>
              </a:spcBef>
              <a:buClr>
                <a:srgbClr val="002060"/>
              </a:buClr>
              <a:buFont typeface="Wingdings" panose="05000000000000000000" pitchFamily="2" charset="2"/>
              <a:buChar char="n"/>
            </a:pPr>
            <a:r>
              <a:rPr kumimoji="1" lang="zh-CN" altLang="en-US" sz="1600" dirty="0">
                <a:latin typeface="+mj-ea"/>
                <a:ea typeface="+mj-ea"/>
              </a:rPr>
              <a:t>成分股基本面良好，信息技术、</a:t>
            </a:r>
            <a:r>
              <a:rPr kumimoji="1" lang="zh-CN" altLang="en-US" sz="1600" dirty="0">
                <a:latin typeface="+mj-ea"/>
              </a:rPr>
              <a:t>工业、</a:t>
            </a:r>
            <a:r>
              <a:rPr kumimoji="1" lang="zh-CN" altLang="en-US" sz="1600" dirty="0">
                <a:latin typeface="+mj-ea"/>
                <a:ea typeface="+mj-ea"/>
              </a:rPr>
              <a:t>通信服务等科技属性行业占比较高，经济结构转型驱使下指数有望持续受益。</a:t>
            </a:r>
            <a:endParaRPr kumimoji="1" lang="en-US" altLang="zh-CN" sz="1600" dirty="0">
              <a:latin typeface="+mj-ea"/>
              <a:ea typeface="+mj-ea"/>
            </a:endParaRPr>
          </a:p>
        </p:txBody>
      </p:sp>
      <p:sp>
        <p:nvSpPr>
          <p:cNvPr id="6" name="矩形 5"/>
          <p:cNvSpPr/>
          <p:nvPr/>
        </p:nvSpPr>
        <p:spPr>
          <a:xfrm>
            <a:off x="2464075" y="2779618"/>
            <a:ext cx="2877711" cy="307777"/>
          </a:xfrm>
          <a:prstGeom prst="rect">
            <a:avLst/>
          </a:prstGeom>
        </p:spPr>
        <p:txBody>
          <a:bodyPr wrap="none">
            <a:spAutoFit/>
          </a:bodyPr>
          <a:lstStyle/>
          <a:p>
            <a:pPr algn="ctr" defTabSz="914400" eaLnBrk="1" fontAlgn="auto" hangingPunct="1">
              <a:spcBef>
                <a:spcPts val="0"/>
              </a:spcBef>
              <a:spcAft>
                <a:spcPts val="0"/>
              </a:spcAft>
              <a:defRPr sz="1400" b="0" i="0" u="none" strike="noStrike" kern="1200" spc="0" baseline="0">
                <a:solidFill>
                  <a:srgbClr val="000000"/>
                </a:solidFill>
                <a:latin typeface="+mn-lt"/>
                <a:ea typeface="+mn-ea"/>
                <a:cs typeface="+mn-cs"/>
              </a:defRPr>
            </a:pPr>
            <a:r>
              <a:rPr lang="zh-CN" altLang="en-US" sz="1400" dirty="0">
                <a:solidFill>
                  <a:prstClr val="black">
                    <a:lumMod val="65000"/>
                    <a:lumOff val="35000"/>
                  </a:prstClr>
                </a:solidFill>
              </a:rPr>
              <a:t>中证全指指数成分股行业权重分布</a:t>
            </a:r>
            <a:endParaRPr lang="zh-CN" altLang="en-US" sz="1400" dirty="0">
              <a:solidFill>
                <a:srgbClr val="000000"/>
              </a:solidFill>
              <a:latin typeface="Arial" panose="020B0604020202020204"/>
              <a:ea typeface="黑体" panose="02010609060101010101" pitchFamily="49" charset="-122"/>
            </a:endParaRPr>
          </a:p>
        </p:txBody>
      </p:sp>
      <p:sp>
        <p:nvSpPr>
          <p:cNvPr id="10" name="矩形 9"/>
          <p:cNvSpPr/>
          <p:nvPr/>
        </p:nvSpPr>
        <p:spPr>
          <a:xfrm>
            <a:off x="5371825" y="6254912"/>
            <a:ext cx="3586239" cy="215444"/>
          </a:xfrm>
          <a:prstGeom prst="rect">
            <a:avLst/>
          </a:prstGeom>
        </p:spPr>
        <p:txBody>
          <a:bodyPr wrap="none">
            <a:spAutoFit/>
          </a:bodyPr>
          <a:lstStyle/>
          <a:p>
            <a:pPr algn="r" defTabSz="914400" eaLnBrk="1" fontAlgn="auto" hangingPunct="1">
              <a:spcBef>
                <a:spcPts val="0"/>
              </a:spcBef>
              <a:spcAft>
                <a:spcPts val="0"/>
              </a:spcAft>
              <a:defRPr/>
            </a:pPr>
            <a:r>
              <a:rPr lang="zh-CN" altLang="en-US" sz="800" dirty="0">
                <a:solidFill>
                  <a:prstClr val="black"/>
                </a:solidFill>
                <a:sym typeface="+mn-ea"/>
              </a:rPr>
              <a:t>数据来源：中证指数公司，截至</a:t>
            </a:r>
            <a:r>
              <a:rPr lang="en-US" altLang="zh-CN" sz="800" dirty="0">
                <a:solidFill>
                  <a:prstClr val="black"/>
                </a:solidFill>
                <a:sym typeface="+mn-ea"/>
              </a:rPr>
              <a:t>2026</a:t>
            </a:r>
            <a:r>
              <a:rPr lang="zh-CN" altLang="en-US" sz="800" dirty="0">
                <a:solidFill>
                  <a:prstClr val="black"/>
                </a:solidFill>
                <a:sym typeface="+mn-ea"/>
              </a:rPr>
              <a:t>年</a:t>
            </a:r>
            <a:r>
              <a:rPr lang="en-US" altLang="zh-CN" sz="800" dirty="0">
                <a:solidFill>
                  <a:prstClr val="black"/>
                </a:solidFill>
                <a:sym typeface="+mn-ea"/>
              </a:rPr>
              <a:t>5</a:t>
            </a:r>
            <a:r>
              <a:rPr lang="zh-CN" altLang="en-US" sz="800" dirty="0">
                <a:solidFill>
                  <a:prstClr val="black"/>
                </a:solidFill>
                <a:sym typeface="+mn-ea"/>
              </a:rPr>
              <a:t>月</a:t>
            </a:r>
            <a:r>
              <a:rPr lang="en-US" altLang="zh-CN" sz="800" dirty="0">
                <a:solidFill>
                  <a:prstClr val="black"/>
                </a:solidFill>
                <a:sym typeface="+mn-ea"/>
              </a:rPr>
              <a:t>31</a:t>
            </a:r>
            <a:r>
              <a:rPr lang="zh-CN" altLang="en-US" sz="800" dirty="0">
                <a:solidFill>
                  <a:prstClr val="black"/>
                </a:solidFill>
                <a:sym typeface="+mn-ea"/>
              </a:rPr>
              <a:t>日，采用中证一级行业分类。</a:t>
            </a:r>
            <a:endParaRPr lang="en-US" altLang="zh-CN" sz="800" dirty="0">
              <a:solidFill>
                <a:prstClr val="black"/>
              </a:solidFill>
              <a:sym typeface="+mn-ea"/>
            </a:endParaRPr>
          </a:p>
        </p:txBody>
      </p:sp>
      <p:sp>
        <p:nvSpPr>
          <p:cNvPr id="12" name="矩形 11"/>
          <p:cNvSpPr/>
          <p:nvPr/>
        </p:nvSpPr>
        <p:spPr>
          <a:xfrm>
            <a:off x="7841420" y="2779617"/>
            <a:ext cx="2877711" cy="307777"/>
          </a:xfrm>
          <a:prstGeom prst="rect">
            <a:avLst/>
          </a:prstGeom>
        </p:spPr>
        <p:txBody>
          <a:bodyPr wrap="none">
            <a:spAutoFit/>
          </a:bodyPr>
          <a:lstStyle/>
          <a:p>
            <a:pPr algn="ctr" defTabSz="914400" eaLnBrk="1" fontAlgn="auto" hangingPunct="1">
              <a:spcBef>
                <a:spcPts val="0"/>
              </a:spcBef>
              <a:spcAft>
                <a:spcPts val="0"/>
              </a:spcAft>
              <a:defRPr sz="1400" b="0" i="0" u="none" strike="noStrike" kern="1200" spc="0" baseline="0">
                <a:solidFill>
                  <a:srgbClr val="000000"/>
                </a:solidFill>
                <a:latin typeface="+mn-lt"/>
                <a:ea typeface="+mn-ea"/>
                <a:cs typeface="+mn-cs"/>
              </a:defRPr>
            </a:pPr>
            <a:r>
              <a:rPr lang="zh-CN" altLang="en-US" sz="1400" dirty="0">
                <a:solidFill>
                  <a:prstClr val="black">
                    <a:lumMod val="65000"/>
                    <a:lumOff val="35000"/>
                  </a:prstClr>
                </a:solidFill>
              </a:rPr>
              <a:t>中证全指指数上市交易所权重分布</a:t>
            </a:r>
            <a:endParaRPr lang="zh-CN" altLang="en-US" sz="1400" dirty="0">
              <a:solidFill>
                <a:srgbClr val="000000"/>
              </a:solidFill>
              <a:latin typeface="Arial" panose="020B0604020202020204"/>
              <a:ea typeface="黑体" panose="02010609060101010101" pitchFamily="49" charset="-122"/>
            </a:endParaRPr>
          </a:p>
        </p:txBody>
      </p:sp>
      <p:pic>
        <p:nvPicPr>
          <p:cNvPr id="8" name="图片 7">
            <a:extLst>
              <a:ext uri="{FF2B5EF4-FFF2-40B4-BE49-F238E27FC236}">
                <a16:creationId xmlns:a16="http://schemas.microsoft.com/office/drawing/2014/main" xmlns="" id="{4BBE0792-6B86-6331-3B64-B7AB82111773}"/>
              </a:ext>
            </a:extLst>
          </p:cNvPr>
          <p:cNvPicPr>
            <a:picLocks noChangeAspect="1"/>
          </p:cNvPicPr>
          <p:nvPr/>
        </p:nvPicPr>
        <p:blipFill>
          <a:blip r:embed="rId3"/>
          <a:stretch>
            <a:fillRect/>
          </a:stretch>
        </p:blipFill>
        <p:spPr>
          <a:xfrm>
            <a:off x="7398821" y="3191217"/>
            <a:ext cx="3794873" cy="2779964"/>
          </a:xfrm>
          <a:prstGeom prst="rect">
            <a:avLst/>
          </a:prstGeom>
        </p:spPr>
      </p:pic>
      <p:pic>
        <p:nvPicPr>
          <p:cNvPr id="13" name="图片 12">
            <a:extLst>
              <a:ext uri="{FF2B5EF4-FFF2-40B4-BE49-F238E27FC236}">
                <a16:creationId xmlns:a16="http://schemas.microsoft.com/office/drawing/2014/main" xmlns="" id="{7E9C2130-AF80-F44B-D82E-DD2BB34F154E}"/>
              </a:ext>
            </a:extLst>
          </p:cNvPr>
          <p:cNvPicPr>
            <a:picLocks noChangeAspect="1"/>
          </p:cNvPicPr>
          <p:nvPr/>
        </p:nvPicPr>
        <p:blipFill>
          <a:blip r:embed="rId4"/>
          <a:stretch>
            <a:fillRect/>
          </a:stretch>
        </p:blipFill>
        <p:spPr>
          <a:xfrm>
            <a:off x="2056865" y="3120284"/>
            <a:ext cx="3692129" cy="29218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altLang="zh-CN" dirty="0">
                <a:solidFill>
                  <a:srgbClr val="EA5838"/>
                </a:solidFill>
              </a:rPr>
              <a:t>2</a:t>
            </a:r>
            <a:r>
              <a:rPr lang="zh-CN" altLang="en-US" dirty="0">
                <a:solidFill>
                  <a:srgbClr val="EA5838"/>
                </a:solidFill>
              </a:rPr>
              <a:t>、均衡不偏科：</a:t>
            </a:r>
            <a:r>
              <a:rPr lang="zh-CN" altLang="en-US" spc="-5" dirty="0"/>
              <a:t>成分股权重分散、均衡</a:t>
            </a:r>
            <a:endParaRPr sz="2800" dirty="0"/>
          </a:p>
        </p:txBody>
      </p:sp>
      <p:sp>
        <p:nvSpPr>
          <p:cNvPr id="4" name="灯片编号占位符 3"/>
          <p:cNvSpPr>
            <a:spLocks noGrp="1"/>
          </p:cNvSpPr>
          <p:nvPr>
            <p:ph type="sldNum" sz="quarter" idx="11"/>
          </p:nvPr>
        </p:nvSpPr>
        <p:spPr/>
        <p:txBody>
          <a:bodyPr/>
          <a:lstStyle/>
          <a:p>
            <a:pPr>
              <a:defRPr/>
            </a:pPr>
            <a:fld id="{6E91549D-98B7-4077-996F-05BE1B29F039}" type="slidenum">
              <a:rPr lang="zh-CN" altLang="en-US" smtClean="0"/>
              <a:t>9</a:t>
            </a:fld>
            <a:endParaRPr lang="zh-CN" altLang="en-US" dirty="0"/>
          </a:p>
        </p:txBody>
      </p:sp>
      <p:sp>
        <p:nvSpPr>
          <p:cNvPr id="20" name="矩形 19"/>
          <p:cNvSpPr/>
          <p:nvPr/>
        </p:nvSpPr>
        <p:spPr>
          <a:xfrm>
            <a:off x="4506123" y="6218456"/>
            <a:ext cx="4959501" cy="338554"/>
          </a:xfrm>
          <a:prstGeom prst="rect">
            <a:avLst/>
          </a:prstGeom>
        </p:spPr>
        <p:txBody>
          <a:bodyPr wrap="square">
            <a:spAutoFit/>
          </a:bodyPr>
          <a:lstStyle/>
          <a:p>
            <a:pPr algn="r" defTabSz="914400" eaLnBrk="1" fontAlgn="auto" hangingPunct="1">
              <a:spcBef>
                <a:spcPts val="0"/>
              </a:spcBef>
              <a:spcAft>
                <a:spcPts val="0"/>
              </a:spcAft>
              <a:defRPr/>
            </a:pPr>
            <a:r>
              <a:rPr lang="zh-CN" altLang="en-US" sz="800" dirty="0">
                <a:solidFill>
                  <a:prstClr val="black"/>
                </a:solidFill>
                <a:sym typeface="+mn-ea"/>
              </a:rPr>
              <a:t>数据来源：中证指数公司，</a:t>
            </a:r>
            <a:r>
              <a:rPr lang="en-US" altLang="zh-CN" sz="800" dirty="0">
                <a:solidFill>
                  <a:prstClr val="black"/>
                </a:solidFill>
                <a:sym typeface="+mn-ea"/>
              </a:rPr>
              <a:t>Wind</a:t>
            </a:r>
            <a:r>
              <a:rPr lang="zh-CN" altLang="en-US" sz="800" dirty="0">
                <a:solidFill>
                  <a:prstClr val="black"/>
                </a:solidFill>
                <a:sym typeface="+mn-ea"/>
              </a:rPr>
              <a:t>，截至</a:t>
            </a:r>
            <a:r>
              <a:rPr lang="en-US" altLang="zh-CN" sz="800" dirty="0">
                <a:solidFill>
                  <a:prstClr val="black"/>
                </a:solidFill>
                <a:sym typeface="+mn-ea"/>
              </a:rPr>
              <a:t>2026</a:t>
            </a:r>
            <a:r>
              <a:rPr lang="zh-CN" altLang="en-US" sz="800" dirty="0">
                <a:solidFill>
                  <a:prstClr val="black"/>
                </a:solidFill>
                <a:sym typeface="+mn-ea"/>
              </a:rPr>
              <a:t>年</a:t>
            </a:r>
            <a:r>
              <a:rPr lang="en-US" altLang="zh-CN" sz="800" dirty="0">
                <a:solidFill>
                  <a:prstClr val="black"/>
                </a:solidFill>
                <a:sym typeface="+mn-ea"/>
              </a:rPr>
              <a:t>5</a:t>
            </a:r>
            <a:r>
              <a:rPr lang="zh-CN" altLang="en-US" sz="800" dirty="0">
                <a:solidFill>
                  <a:prstClr val="black"/>
                </a:solidFill>
                <a:sym typeface="+mn-ea"/>
              </a:rPr>
              <a:t>月</a:t>
            </a:r>
            <a:r>
              <a:rPr lang="en-US" altLang="zh-CN" sz="800" dirty="0">
                <a:solidFill>
                  <a:prstClr val="black"/>
                </a:solidFill>
                <a:sym typeface="+mn-ea"/>
              </a:rPr>
              <a:t>31</a:t>
            </a:r>
            <a:r>
              <a:rPr lang="zh-CN" altLang="en-US" sz="800" dirty="0">
                <a:solidFill>
                  <a:prstClr val="black"/>
                </a:solidFill>
                <a:sym typeface="+mn-ea"/>
              </a:rPr>
              <a:t>日。</a:t>
            </a:r>
            <a:endParaRPr lang="en-US" altLang="zh-CN" sz="800" dirty="0">
              <a:solidFill>
                <a:prstClr val="black"/>
              </a:solidFill>
              <a:sym typeface="+mn-ea"/>
            </a:endParaRPr>
          </a:p>
          <a:p>
            <a:pPr algn="r" defTabSz="914400" eaLnBrk="1" fontAlgn="auto" hangingPunct="1">
              <a:spcBef>
                <a:spcPts val="0"/>
              </a:spcBef>
              <a:spcAft>
                <a:spcPts val="0"/>
              </a:spcAft>
              <a:defRPr/>
            </a:pPr>
            <a:r>
              <a:rPr lang="zh-CN" altLang="en-US" sz="800" dirty="0">
                <a:solidFill>
                  <a:prstClr val="black"/>
                </a:solidFill>
                <a:sym typeface="+mn-ea"/>
              </a:rPr>
              <a:t>风险提示：</a:t>
            </a:r>
            <a:r>
              <a:rPr lang="zh-CN" altLang="en-US" sz="800" dirty="0">
                <a:solidFill>
                  <a:srgbClr val="000000"/>
                </a:solidFill>
              </a:rPr>
              <a:t>我国股市运作时间较短，不能反映证券市场发展的所有阶段。</a:t>
            </a:r>
            <a:r>
              <a:rPr lang="zh-CN" altLang="en-US" sz="800" dirty="0">
                <a:solidFill>
                  <a:prstClr val="black"/>
                </a:solidFill>
                <a:sym typeface="+mn-ea"/>
              </a:rPr>
              <a:t>历史业绩并不代表其未来表现</a:t>
            </a:r>
            <a:endParaRPr lang="zh-CN" altLang="en-US" sz="800" dirty="0">
              <a:solidFill>
                <a:prstClr val="black"/>
              </a:solidFill>
            </a:endParaRPr>
          </a:p>
        </p:txBody>
      </p:sp>
      <p:graphicFrame>
        <p:nvGraphicFramePr>
          <p:cNvPr id="8" name="object 5"/>
          <p:cNvGraphicFramePr>
            <a:graphicFrameLocks noGrp="1"/>
          </p:cNvGraphicFramePr>
          <p:nvPr>
            <p:extLst>
              <p:ext uri="{D42A27DB-BD31-4B8C-83A1-F6EECF244321}">
                <p14:modId xmlns:p14="http://schemas.microsoft.com/office/powerpoint/2010/main" val="1007983052"/>
              </p:ext>
            </p:extLst>
          </p:nvPr>
        </p:nvGraphicFramePr>
        <p:xfrm>
          <a:off x="579120" y="2777722"/>
          <a:ext cx="5577936" cy="2723540"/>
        </p:xfrm>
        <a:graphic>
          <a:graphicData uri="http://schemas.openxmlformats.org/drawingml/2006/table">
            <a:tbl>
              <a:tblPr firstRow="1" bandRow="1">
                <a:tableStyleId>{2D5ABB26-0587-4C30-8999-92F81FD0307C}</a:tableStyleId>
              </a:tblPr>
              <a:tblGrid>
                <a:gridCol w="697242">
                  <a:extLst>
                    <a:ext uri="{9D8B030D-6E8A-4147-A177-3AD203B41FA5}">
                      <a16:colId xmlns:a16="http://schemas.microsoft.com/office/drawing/2014/main" xmlns="" val="20000"/>
                    </a:ext>
                  </a:extLst>
                </a:gridCol>
                <a:gridCol w="697242">
                  <a:extLst>
                    <a:ext uri="{9D8B030D-6E8A-4147-A177-3AD203B41FA5}">
                      <a16:colId xmlns:a16="http://schemas.microsoft.com/office/drawing/2014/main" xmlns="" val="20001"/>
                    </a:ext>
                  </a:extLst>
                </a:gridCol>
                <a:gridCol w="697242">
                  <a:extLst>
                    <a:ext uri="{9D8B030D-6E8A-4147-A177-3AD203B41FA5}">
                      <a16:colId xmlns:a16="http://schemas.microsoft.com/office/drawing/2014/main" xmlns="" val="20002"/>
                    </a:ext>
                  </a:extLst>
                </a:gridCol>
                <a:gridCol w="697242">
                  <a:extLst>
                    <a:ext uri="{9D8B030D-6E8A-4147-A177-3AD203B41FA5}">
                      <a16:colId xmlns:a16="http://schemas.microsoft.com/office/drawing/2014/main" xmlns="" val="20003"/>
                    </a:ext>
                  </a:extLst>
                </a:gridCol>
                <a:gridCol w="697242">
                  <a:extLst>
                    <a:ext uri="{9D8B030D-6E8A-4147-A177-3AD203B41FA5}">
                      <a16:colId xmlns:a16="http://schemas.microsoft.com/office/drawing/2014/main" xmlns="" val="20004"/>
                    </a:ext>
                  </a:extLst>
                </a:gridCol>
                <a:gridCol w="697242">
                  <a:extLst>
                    <a:ext uri="{9D8B030D-6E8A-4147-A177-3AD203B41FA5}">
                      <a16:colId xmlns:a16="http://schemas.microsoft.com/office/drawing/2014/main" xmlns="" val="20005"/>
                    </a:ext>
                  </a:extLst>
                </a:gridCol>
                <a:gridCol w="697242">
                  <a:extLst>
                    <a:ext uri="{9D8B030D-6E8A-4147-A177-3AD203B41FA5}">
                      <a16:colId xmlns:a16="http://schemas.microsoft.com/office/drawing/2014/main" xmlns="" val="20006"/>
                    </a:ext>
                  </a:extLst>
                </a:gridCol>
                <a:gridCol w="697242">
                  <a:extLst>
                    <a:ext uri="{9D8B030D-6E8A-4147-A177-3AD203B41FA5}">
                      <a16:colId xmlns:a16="http://schemas.microsoft.com/office/drawing/2014/main" xmlns="" val="20007"/>
                    </a:ext>
                  </a:extLst>
                </a:gridCol>
              </a:tblGrid>
              <a:tr h="325760">
                <a:tc>
                  <a:txBody>
                    <a:bodyPr/>
                    <a:lstStyle/>
                    <a:p>
                      <a:pPr marL="2540" algn="ctr">
                        <a:lnSpc>
                          <a:spcPct val="100000"/>
                        </a:lnSpc>
                      </a:pPr>
                      <a:r>
                        <a:rPr sz="800" b="1" dirty="0">
                          <a:solidFill>
                            <a:srgbClr val="FFFFFF"/>
                          </a:solidFill>
                          <a:latin typeface="+mn-ea"/>
                          <a:ea typeface="+mn-ea"/>
                          <a:cs typeface="阿里巴巴普惠体 2.0 55 Regular"/>
                        </a:rPr>
                        <a:t>股票代码</a:t>
                      </a:r>
                      <a:endParaRPr sz="800" dirty="0">
                        <a:latin typeface="+mn-ea"/>
                        <a:ea typeface="+mn-ea"/>
                        <a:cs typeface="阿里巴巴普惠体 2.0 55 Regular"/>
                      </a:endParaRPr>
                    </a:p>
                  </a:txBody>
                  <a:tcPr marL="0" marR="0" marT="0" marB="0" anchor="ctr">
                    <a:lnT w="12700">
                      <a:solidFill>
                        <a:srgbClr val="795F5F"/>
                      </a:solidFill>
                      <a:prstDash val="solid"/>
                    </a:lnT>
                    <a:solidFill>
                      <a:srgbClr val="7D5B1B"/>
                    </a:solidFill>
                  </a:tcPr>
                </a:tc>
                <a:tc>
                  <a:txBody>
                    <a:bodyPr/>
                    <a:lstStyle/>
                    <a:p>
                      <a:pPr marL="2540" algn="ctr">
                        <a:lnSpc>
                          <a:spcPct val="100000"/>
                        </a:lnSpc>
                      </a:pPr>
                      <a:r>
                        <a:rPr lang="zh-CN" altLang="en-US" sz="800" b="1" dirty="0">
                          <a:solidFill>
                            <a:srgbClr val="FFFFFF"/>
                          </a:solidFill>
                          <a:latin typeface="+mn-ea"/>
                          <a:ea typeface="+mn-ea"/>
                          <a:cs typeface="阿里巴巴普惠体 2.0 55 Regular"/>
                        </a:rPr>
                        <a:t>股票简称</a:t>
                      </a:r>
                      <a:endParaRPr sz="800" dirty="0">
                        <a:latin typeface="+mn-ea"/>
                        <a:ea typeface="+mn-ea"/>
                        <a:cs typeface="阿里巴巴普惠体 2.0 55 Regular"/>
                      </a:endParaRPr>
                    </a:p>
                  </a:txBody>
                  <a:tcPr marL="0" marR="0" marT="0" marB="0" anchor="ctr">
                    <a:lnT w="12700" cap="flat" cmpd="sng" algn="ctr">
                      <a:solidFill>
                        <a:srgbClr val="795F5F"/>
                      </a:solidFill>
                      <a:prstDash val="solid"/>
                      <a:round/>
                      <a:headEnd type="none" w="med" len="med"/>
                      <a:tailEnd type="none" w="med" len="med"/>
                    </a:lnT>
                    <a:solidFill>
                      <a:srgbClr val="7D5B1B"/>
                    </a:solidFill>
                  </a:tcPr>
                </a:tc>
                <a:tc>
                  <a:txBody>
                    <a:bodyPr/>
                    <a:lstStyle/>
                    <a:p>
                      <a:pPr marL="2540" algn="ctr">
                        <a:lnSpc>
                          <a:spcPct val="100000"/>
                        </a:lnSpc>
                      </a:pPr>
                      <a:r>
                        <a:rPr lang="zh-CN" altLang="en-US" sz="800" b="1" dirty="0">
                          <a:solidFill>
                            <a:srgbClr val="FFFFFF"/>
                          </a:solidFill>
                          <a:latin typeface="+mn-ea"/>
                          <a:ea typeface="+mn-ea"/>
                          <a:cs typeface="阿里巴巴普惠体 2.0 55 Regular"/>
                        </a:rPr>
                        <a:t>中证一级行业</a:t>
                      </a:r>
                      <a:endParaRPr sz="800" dirty="0">
                        <a:latin typeface="+mn-ea"/>
                        <a:ea typeface="+mn-ea"/>
                        <a:cs typeface="阿里巴巴普惠体 2.0 55 Regular"/>
                      </a:endParaRPr>
                    </a:p>
                  </a:txBody>
                  <a:tcPr marL="0" marR="0" marT="0" marB="0" anchor="ctr">
                    <a:lnT w="12700" cap="flat" cmpd="sng" algn="ctr">
                      <a:solidFill>
                        <a:srgbClr val="795F5F"/>
                      </a:solidFill>
                      <a:prstDash val="solid"/>
                      <a:round/>
                      <a:headEnd type="none" w="med" len="med"/>
                      <a:tailEnd type="none" w="med" len="med"/>
                    </a:lnT>
                    <a:solidFill>
                      <a:srgbClr val="7D5B1B"/>
                    </a:solidFill>
                  </a:tcPr>
                </a:tc>
                <a:tc>
                  <a:txBody>
                    <a:bodyPr/>
                    <a:lstStyle/>
                    <a:p>
                      <a:pPr marL="254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FFFFFF"/>
                          </a:solidFill>
                          <a:effectLst/>
                          <a:uLnTx/>
                          <a:uFillTx/>
                          <a:latin typeface="+mn-ea"/>
                          <a:ea typeface="+mn-ea"/>
                          <a:cs typeface="阿里巴巴普惠体 2.0 55 Regular"/>
                        </a:rPr>
                        <a:t>总市值</a:t>
                      </a:r>
                      <a:endParaRPr kumimoji="0" lang="en-US" altLang="zh-CN" sz="800" b="1" i="0" u="none" strike="noStrike" kern="1200" cap="none" spc="0" normalizeH="0" baseline="0" noProof="0" dirty="0">
                        <a:ln>
                          <a:noFill/>
                        </a:ln>
                        <a:solidFill>
                          <a:srgbClr val="FFFFFF"/>
                        </a:solidFill>
                        <a:effectLst/>
                        <a:uLnTx/>
                        <a:uFillTx/>
                        <a:latin typeface="+mn-ea"/>
                        <a:ea typeface="+mn-ea"/>
                        <a:cs typeface="阿里巴巴普惠体 2.0 55 Regular"/>
                      </a:endParaRPr>
                    </a:p>
                    <a:p>
                      <a:pPr marL="254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FFFFFF"/>
                          </a:solidFill>
                          <a:effectLst/>
                          <a:uLnTx/>
                          <a:uFillTx/>
                          <a:latin typeface="+mn-ea"/>
                          <a:ea typeface="+mn-ea"/>
                          <a:cs typeface="阿里巴巴普惠体 2.0 55 Regular"/>
                        </a:rPr>
                        <a:t>（亿）</a:t>
                      </a:r>
                      <a:endParaRPr kumimoji="0" lang="zh-CN" altLang="en-US" sz="800" b="0" i="0" u="none" strike="noStrike" kern="1200" cap="none" spc="0" normalizeH="0" baseline="0" noProof="0" dirty="0">
                        <a:ln>
                          <a:noFill/>
                        </a:ln>
                        <a:solidFill>
                          <a:prstClr val="black"/>
                        </a:solidFill>
                        <a:effectLst/>
                        <a:uLnTx/>
                        <a:uFillTx/>
                        <a:latin typeface="+mn-ea"/>
                        <a:ea typeface="+mn-ea"/>
                        <a:cs typeface="阿里巴巴普惠体 2.0 55 Regular"/>
                      </a:endParaRPr>
                    </a:p>
                  </a:txBody>
                  <a:tcPr marL="0" marR="0" marT="0" marB="0" anchor="ctr">
                    <a:lnT w="12700" cap="flat" cmpd="sng" algn="ctr">
                      <a:solidFill>
                        <a:srgbClr val="795F5F"/>
                      </a:solidFill>
                      <a:prstDash val="solid"/>
                      <a:round/>
                      <a:headEnd type="none" w="med" len="med"/>
                      <a:tailEnd type="none" w="med" len="med"/>
                    </a:lnT>
                    <a:solidFill>
                      <a:srgbClr val="7D5B1B"/>
                    </a:solidFill>
                  </a:tcPr>
                </a:tc>
                <a:tc>
                  <a:txBody>
                    <a:bodyPr/>
                    <a:lstStyle/>
                    <a:p>
                      <a:pPr marL="254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FFFFFF"/>
                          </a:solidFill>
                          <a:effectLst/>
                          <a:uLnTx/>
                          <a:uFillTx/>
                          <a:latin typeface="+mn-ea"/>
                          <a:ea typeface="+mn-ea"/>
                          <a:cs typeface="阿里巴巴普惠体 2.0 55 Regular"/>
                        </a:rPr>
                        <a:t>自由流通市值</a:t>
                      </a:r>
                      <a:endParaRPr kumimoji="0" lang="en-US" altLang="zh-CN" sz="800" b="1" i="0" u="none" strike="noStrike" kern="1200" cap="none" spc="0" normalizeH="0" baseline="0" noProof="0" dirty="0">
                        <a:ln>
                          <a:noFill/>
                        </a:ln>
                        <a:solidFill>
                          <a:srgbClr val="FFFFFF"/>
                        </a:solidFill>
                        <a:effectLst/>
                        <a:uLnTx/>
                        <a:uFillTx/>
                        <a:latin typeface="+mn-ea"/>
                        <a:ea typeface="+mn-ea"/>
                        <a:cs typeface="阿里巴巴普惠体 2.0 55 Regular"/>
                      </a:endParaRPr>
                    </a:p>
                    <a:p>
                      <a:pPr marL="254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FFFFFF"/>
                          </a:solidFill>
                          <a:effectLst/>
                          <a:uLnTx/>
                          <a:uFillTx/>
                          <a:latin typeface="+mn-ea"/>
                          <a:ea typeface="+mn-ea"/>
                          <a:cs typeface="阿里巴巴普惠体 2.0 55 Regular"/>
                        </a:rPr>
                        <a:t>（亿）</a:t>
                      </a:r>
                      <a:endParaRPr kumimoji="0" lang="zh-CN" altLang="en-US" sz="800" b="0" i="0" u="none" strike="noStrike" kern="1200" cap="none" spc="0" normalizeH="0" baseline="0" noProof="0" dirty="0">
                        <a:ln>
                          <a:noFill/>
                        </a:ln>
                        <a:solidFill>
                          <a:prstClr val="black"/>
                        </a:solidFill>
                        <a:effectLst/>
                        <a:uLnTx/>
                        <a:uFillTx/>
                        <a:latin typeface="+mn-ea"/>
                        <a:ea typeface="+mn-ea"/>
                        <a:cs typeface="阿里巴巴普惠体 2.0 55 Regular"/>
                      </a:endParaRPr>
                    </a:p>
                  </a:txBody>
                  <a:tcPr marL="0" marR="0" marT="0" marB="0" anchor="ctr">
                    <a:lnT w="12700" cap="flat" cmpd="sng" algn="ctr">
                      <a:solidFill>
                        <a:srgbClr val="795F5F"/>
                      </a:solidFill>
                      <a:prstDash val="solid"/>
                      <a:round/>
                      <a:headEnd type="none" w="med" len="med"/>
                      <a:tailEnd type="none" w="med" len="med"/>
                    </a:lnT>
                    <a:solidFill>
                      <a:srgbClr val="7D5B1B"/>
                    </a:solidFill>
                  </a:tcPr>
                </a:tc>
                <a:tc>
                  <a:txBody>
                    <a:bodyPr/>
                    <a:lstStyle/>
                    <a:p>
                      <a:pPr marL="2540" algn="ctr">
                        <a:lnSpc>
                          <a:spcPct val="100000"/>
                        </a:lnSpc>
                      </a:pPr>
                      <a:r>
                        <a:rPr lang="zh-CN" altLang="en-US" sz="800" b="1" dirty="0">
                          <a:solidFill>
                            <a:srgbClr val="FFFFFF"/>
                          </a:solidFill>
                          <a:latin typeface="+mn-ea"/>
                          <a:ea typeface="+mn-ea"/>
                          <a:cs typeface="阿里巴巴普惠体 2.0 55 Regular"/>
                        </a:rPr>
                        <a:t>权重</a:t>
                      </a:r>
                      <a:endParaRPr lang="en-US" altLang="zh-CN" sz="800" b="1" dirty="0">
                        <a:solidFill>
                          <a:srgbClr val="FFFFFF"/>
                        </a:solidFill>
                        <a:latin typeface="+mn-ea"/>
                        <a:ea typeface="+mn-ea"/>
                        <a:cs typeface="阿里巴巴普惠体 2.0 55 Regular"/>
                      </a:endParaRPr>
                    </a:p>
                    <a:p>
                      <a:pPr marL="2540" algn="ctr">
                        <a:lnSpc>
                          <a:spcPct val="100000"/>
                        </a:lnSpc>
                      </a:pPr>
                      <a:r>
                        <a:rPr lang="zh-CN" altLang="en-US" sz="800" b="1" dirty="0">
                          <a:solidFill>
                            <a:srgbClr val="FFFFFF"/>
                          </a:solidFill>
                          <a:latin typeface="+mn-ea"/>
                          <a:ea typeface="+mn-ea"/>
                          <a:cs typeface="阿里巴巴普惠体 2.0 55 Regular"/>
                        </a:rPr>
                        <a:t>（</a:t>
                      </a:r>
                      <a:r>
                        <a:rPr lang="en-US" altLang="zh-CN" sz="800" b="1" dirty="0">
                          <a:solidFill>
                            <a:srgbClr val="FFFFFF"/>
                          </a:solidFill>
                          <a:latin typeface="+mn-ea"/>
                          <a:ea typeface="+mn-ea"/>
                          <a:cs typeface="阿里巴巴普惠体 2.0 55 Regular"/>
                        </a:rPr>
                        <a:t>%</a:t>
                      </a:r>
                      <a:r>
                        <a:rPr lang="zh-CN" altLang="en-US" sz="800" b="1" dirty="0">
                          <a:solidFill>
                            <a:srgbClr val="FFFFFF"/>
                          </a:solidFill>
                          <a:latin typeface="+mn-ea"/>
                          <a:ea typeface="+mn-ea"/>
                          <a:cs typeface="阿里巴巴普惠体 2.0 55 Regular"/>
                        </a:rPr>
                        <a:t>）</a:t>
                      </a:r>
                      <a:endParaRPr sz="800" dirty="0">
                        <a:latin typeface="+mn-ea"/>
                        <a:ea typeface="+mn-ea"/>
                        <a:cs typeface="阿里巴巴普惠体 2.0 55 Regular"/>
                      </a:endParaRPr>
                    </a:p>
                  </a:txBody>
                  <a:tcPr marL="0" marR="0" marT="0" marB="0" anchor="ctr">
                    <a:lnT w="12700" cap="flat" cmpd="sng" algn="ctr">
                      <a:solidFill>
                        <a:srgbClr val="795F5F"/>
                      </a:solidFill>
                      <a:prstDash val="solid"/>
                      <a:round/>
                      <a:headEnd type="none" w="med" len="med"/>
                      <a:tailEnd type="none" w="med" len="med"/>
                    </a:lnT>
                    <a:solidFill>
                      <a:srgbClr val="7D5B1B"/>
                    </a:solidFill>
                  </a:tcPr>
                </a:tc>
                <a:tc>
                  <a:txBody>
                    <a:bodyPr/>
                    <a:lstStyle/>
                    <a:p>
                      <a:pPr marL="254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FFFFFF"/>
                          </a:solidFill>
                          <a:effectLst/>
                          <a:uLnTx/>
                          <a:uFillTx/>
                          <a:latin typeface="+mn-ea"/>
                          <a:ea typeface="+mn-ea"/>
                          <a:cs typeface="阿里巴巴普惠体 2.0 55 Regular"/>
                        </a:rPr>
                        <a:t>上市板块</a:t>
                      </a:r>
                      <a:endParaRPr kumimoji="0" lang="zh-CN" altLang="en-US" sz="800" b="0" i="0" u="none" strike="noStrike" kern="1200" cap="none" spc="0" normalizeH="0" baseline="0" noProof="0" dirty="0">
                        <a:ln>
                          <a:noFill/>
                        </a:ln>
                        <a:solidFill>
                          <a:prstClr val="black"/>
                        </a:solidFill>
                        <a:effectLst/>
                        <a:uLnTx/>
                        <a:uFillTx/>
                        <a:latin typeface="+mn-ea"/>
                        <a:ea typeface="+mn-ea"/>
                        <a:cs typeface="阿里巴巴普惠体 2.0 55 Regular"/>
                      </a:endParaRPr>
                    </a:p>
                  </a:txBody>
                  <a:tcPr marL="0" marR="0" marT="0" marB="0" anchor="ctr">
                    <a:lnT w="12700" cap="flat" cmpd="sng" algn="ctr">
                      <a:solidFill>
                        <a:srgbClr val="795F5F"/>
                      </a:solidFill>
                      <a:prstDash val="solid"/>
                      <a:round/>
                      <a:headEnd type="none" w="med" len="med"/>
                      <a:tailEnd type="none" w="med" len="med"/>
                    </a:lnT>
                    <a:solidFill>
                      <a:srgbClr val="7D5B1B"/>
                    </a:solidFill>
                  </a:tcPr>
                </a:tc>
                <a:tc>
                  <a:txBody>
                    <a:bodyPr/>
                    <a:lstStyle/>
                    <a:p>
                      <a:pPr marL="254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FFFFFF"/>
                          </a:solidFill>
                          <a:effectLst/>
                          <a:uLnTx/>
                          <a:uFillTx/>
                          <a:latin typeface="+mn-ea"/>
                          <a:ea typeface="+mn-ea"/>
                          <a:cs typeface="阿里巴巴普惠体 2.0 55 Regular"/>
                        </a:rPr>
                        <a:t>上市交易所</a:t>
                      </a:r>
                      <a:endParaRPr kumimoji="0" lang="zh-CN" altLang="en-US" sz="800" b="0" i="0" u="none" strike="noStrike" kern="1200" cap="none" spc="0" normalizeH="0" baseline="0" noProof="0" dirty="0">
                        <a:ln>
                          <a:noFill/>
                        </a:ln>
                        <a:solidFill>
                          <a:prstClr val="black"/>
                        </a:solidFill>
                        <a:effectLst/>
                        <a:uLnTx/>
                        <a:uFillTx/>
                        <a:latin typeface="+mn-ea"/>
                        <a:ea typeface="+mn-ea"/>
                        <a:cs typeface="阿里巴巴普惠体 2.0 55 Regular"/>
                      </a:endParaRPr>
                    </a:p>
                  </a:txBody>
                  <a:tcPr marL="0" marR="0" marT="0" marB="0" anchor="ctr">
                    <a:lnT w="12700" cap="flat" cmpd="sng" algn="ctr">
                      <a:solidFill>
                        <a:srgbClr val="795F5F"/>
                      </a:solidFill>
                      <a:prstDash val="solid"/>
                      <a:round/>
                      <a:headEnd type="none" w="med" len="med"/>
                      <a:tailEnd type="none" w="med" len="med"/>
                    </a:lnT>
                    <a:solidFill>
                      <a:srgbClr val="7D5B1B"/>
                    </a:solidFill>
                  </a:tcPr>
                </a:tc>
                <a:extLst>
                  <a:ext uri="{0D108BD9-81ED-4DB2-BD59-A6C34878D82A}">
                    <a16:rowId xmlns:a16="http://schemas.microsoft.com/office/drawing/2014/main" xmlns="" val="10000"/>
                  </a:ext>
                </a:extLst>
              </a:tr>
              <a:tr h="239778">
                <a:tc>
                  <a:txBody>
                    <a:bodyPr/>
                    <a:lstStyle/>
                    <a:p>
                      <a:pPr algn="ctr" fontAlgn="b">
                        <a:buNone/>
                      </a:pPr>
                      <a:r>
                        <a:rPr lang="zh-CN" sz="800" b="0" i="0" u="none" strike="noStrike" dirty="0">
                          <a:solidFill>
                            <a:srgbClr val="000000"/>
                          </a:solidFill>
                          <a:effectLst/>
                          <a:latin typeface="+mn-lt"/>
                          <a:ea typeface="宋体" panose="02010600030101010101" pitchFamily="2" charset="-122"/>
                        </a:rPr>
                        <a:t>300308.SZ</a:t>
                      </a:r>
                    </a:p>
                  </a:txBody>
                  <a:tcPr marL="7620" marR="7620" marT="7620" marB="0" anchor="ctr"/>
                </a:tc>
                <a:tc>
                  <a:txBody>
                    <a:bodyPr/>
                    <a:lstStyle/>
                    <a:p>
                      <a:pPr algn="ctr" fontAlgn="b">
                        <a:buNone/>
                      </a:pPr>
                      <a:r>
                        <a:rPr lang="zh-CN" sz="800" b="0" i="0" u="none" strike="noStrike" dirty="0">
                          <a:solidFill>
                            <a:srgbClr val="000000"/>
                          </a:solidFill>
                          <a:effectLst/>
                          <a:latin typeface="+mn-ea"/>
                          <a:ea typeface="+mn-ea"/>
                        </a:rPr>
                        <a:t>中际旭创</a:t>
                      </a:r>
                    </a:p>
                  </a:txBody>
                  <a:tcPr marL="7620" marR="7620" marT="7620" marB="0" anchor="ctr"/>
                </a:tc>
                <a:tc>
                  <a:txBody>
                    <a:bodyPr/>
                    <a:lstStyle/>
                    <a:p>
                      <a:pPr marL="2540" algn="ctr">
                        <a:lnSpc>
                          <a:spcPct val="100000"/>
                        </a:lnSpc>
                        <a:spcBef>
                          <a:spcPts val="575"/>
                        </a:spcBef>
                      </a:pPr>
                      <a:r>
                        <a:rPr lang="zh-CN" altLang="en-US" sz="800" dirty="0">
                          <a:latin typeface="+mn-ea"/>
                          <a:ea typeface="+mn-ea"/>
                          <a:cs typeface="Arial Unicode MS"/>
                        </a:rPr>
                        <a:t>通信服务</a:t>
                      </a:r>
                      <a:endParaRPr sz="800" dirty="0">
                        <a:latin typeface="+mn-ea"/>
                        <a:ea typeface="+mn-ea"/>
                        <a:cs typeface="Arial Unicode MS"/>
                      </a:endParaRPr>
                    </a:p>
                  </a:txBody>
                  <a:tcPr marL="0" marR="0" marT="41155" marB="0" anchor="ctr"/>
                </a:tc>
                <a:tc>
                  <a:txBody>
                    <a:bodyPr/>
                    <a:lstStyle/>
                    <a:p>
                      <a:pPr algn="ctr" fontAlgn="b">
                        <a:buNone/>
                      </a:pPr>
                      <a:r>
                        <a:rPr lang="zh-CN" sz="800" b="0" i="0" u="none" strike="noStrike">
                          <a:solidFill>
                            <a:srgbClr val="000000"/>
                          </a:solidFill>
                          <a:effectLst/>
                          <a:latin typeface="+mn-ea"/>
                          <a:ea typeface="+mn-ea"/>
                        </a:rPr>
                        <a:t>12930.68</a:t>
                      </a:r>
                    </a:p>
                  </a:txBody>
                  <a:tcPr marL="0" marR="0" marT="0" marB="0" anchor="ctr"/>
                </a:tc>
                <a:tc>
                  <a:txBody>
                    <a:bodyPr/>
                    <a:lstStyle/>
                    <a:p>
                      <a:pPr algn="ctr" fontAlgn="b">
                        <a:buNone/>
                      </a:pPr>
                      <a:r>
                        <a:rPr lang="zh-CN" sz="800" b="0" i="0" u="none" strike="noStrike">
                          <a:solidFill>
                            <a:srgbClr val="000000"/>
                          </a:solidFill>
                          <a:effectLst/>
                          <a:latin typeface="+mn-ea"/>
                          <a:ea typeface="+mn-ea"/>
                        </a:rPr>
                        <a:t>9736.24</a:t>
                      </a:r>
                    </a:p>
                  </a:txBody>
                  <a:tcPr marL="0" marR="0" marT="0" marB="0" anchor="ctr"/>
                </a:tc>
                <a:tc>
                  <a:txBody>
                    <a:bodyPr/>
                    <a:lstStyle/>
                    <a:p>
                      <a:pPr algn="ctr" fontAlgn="b">
                        <a:buNone/>
                      </a:pPr>
                      <a:r>
                        <a:rPr lang="zh-CN" sz="800" b="0" i="0" u="none" strike="noStrike" dirty="0">
                          <a:solidFill>
                            <a:srgbClr val="000000"/>
                          </a:solidFill>
                          <a:effectLst/>
                          <a:latin typeface="+mn-ea"/>
                          <a:ea typeface="+mn-ea"/>
                        </a:rPr>
                        <a:t>2.2</a:t>
                      </a:r>
                      <a:r>
                        <a:rPr lang="en-US" altLang="zh-CN" sz="800" b="0" i="0" u="none" strike="noStrike" dirty="0">
                          <a:solidFill>
                            <a:srgbClr val="000000"/>
                          </a:solidFill>
                          <a:effectLst/>
                          <a:latin typeface="+mn-ea"/>
                          <a:ea typeface="+mn-ea"/>
                        </a:rPr>
                        <a:t>2</a:t>
                      </a:r>
                      <a:endParaRPr lang="zh-CN" sz="800" b="0" i="0" u="none" strike="noStrike" dirty="0">
                        <a:solidFill>
                          <a:srgbClr val="000000"/>
                        </a:solidFill>
                        <a:effectLst/>
                        <a:latin typeface="+mn-ea"/>
                        <a:ea typeface="+mn-ea"/>
                      </a:endParaRPr>
                    </a:p>
                  </a:txBody>
                  <a:tcPr marL="0" marR="0" marT="0" marB="0" anchor="ctr"/>
                </a:tc>
                <a:tc>
                  <a:txBody>
                    <a:bodyPr/>
                    <a:lstStyle/>
                    <a:p>
                      <a:pPr algn="ctr" fontAlgn="b"/>
                      <a:r>
                        <a:rPr lang="zh-CN" altLang="en-US" sz="800" b="0" i="0" u="none" strike="noStrike" dirty="0">
                          <a:solidFill>
                            <a:srgbClr val="000000"/>
                          </a:solidFill>
                          <a:effectLst/>
                          <a:latin typeface="+mn-ea"/>
                          <a:ea typeface="+mn-ea"/>
                        </a:rPr>
                        <a:t>创业板</a:t>
                      </a:r>
                    </a:p>
                  </a:txBody>
                  <a:tcPr marL="5368" marR="5368" marT="5368" marB="0" anchor="ctr"/>
                </a:tc>
                <a:tc>
                  <a:txBody>
                    <a:bodyPr/>
                    <a:lstStyle/>
                    <a:p>
                      <a:pPr algn="ctr" fontAlgn="b"/>
                      <a:r>
                        <a:rPr lang="zh-CN" altLang="en-US" sz="800" b="0" i="0" u="none" strike="noStrike" dirty="0">
                          <a:solidFill>
                            <a:srgbClr val="000000"/>
                          </a:solidFill>
                          <a:effectLst/>
                          <a:latin typeface="+mn-ea"/>
                          <a:ea typeface="+mn-ea"/>
                        </a:rPr>
                        <a:t>深圳</a:t>
                      </a:r>
                      <a:endParaRPr lang="en-US" altLang="zh-CN" sz="800" b="0" i="0" u="none" strike="noStrike" dirty="0">
                        <a:solidFill>
                          <a:srgbClr val="000000"/>
                        </a:solidFill>
                        <a:effectLst/>
                        <a:latin typeface="+mn-ea"/>
                        <a:ea typeface="+mn-ea"/>
                      </a:endParaRPr>
                    </a:p>
                  </a:txBody>
                  <a:tcPr marL="5368" marR="5368" marT="5368" marB="0" anchor="ctr"/>
                </a:tc>
                <a:extLst>
                  <a:ext uri="{0D108BD9-81ED-4DB2-BD59-A6C34878D82A}">
                    <a16:rowId xmlns:a16="http://schemas.microsoft.com/office/drawing/2014/main" xmlns="" val="10001"/>
                  </a:ext>
                </a:extLst>
              </a:tr>
              <a:tr h="239778">
                <a:tc>
                  <a:txBody>
                    <a:bodyPr/>
                    <a:lstStyle/>
                    <a:p>
                      <a:pPr algn="ctr" fontAlgn="b">
                        <a:buNone/>
                      </a:pPr>
                      <a:r>
                        <a:rPr lang="zh-CN" sz="800" b="0" i="0" u="none" strike="noStrike" dirty="0">
                          <a:solidFill>
                            <a:srgbClr val="000000"/>
                          </a:solidFill>
                          <a:effectLst/>
                          <a:latin typeface="+mn-lt"/>
                          <a:ea typeface="宋体" panose="02010600030101010101" pitchFamily="2" charset="-122"/>
                        </a:rPr>
                        <a:t>300750.SZ</a:t>
                      </a:r>
                    </a:p>
                  </a:txBody>
                  <a:tcPr marL="7620" marR="7620" marT="762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宁德时代</a:t>
                      </a:r>
                    </a:p>
                  </a:txBody>
                  <a:tcPr marL="7620" marR="7620" marT="7620" marB="0" anchor="ctr">
                    <a:solidFill>
                      <a:srgbClr val="D9D9D9"/>
                    </a:solidFill>
                  </a:tcPr>
                </a:tc>
                <a:tc>
                  <a:txBody>
                    <a:bodyPr/>
                    <a:lstStyle/>
                    <a:p>
                      <a:pPr marL="2540" algn="ctr">
                        <a:lnSpc>
                          <a:spcPct val="100000"/>
                        </a:lnSpc>
                        <a:spcBef>
                          <a:spcPts val="575"/>
                        </a:spcBef>
                      </a:pPr>
                      <a:r>
                        <a:rPr lang="zh-CN" altLang="en-US" sz="800" dirty="0">
                          <a:latin typeface="+mn-ea"/>
                          <a:ea typeface="+mn-ea"/>
                          <a:cs typeface="Arial Unicode MS"/>
                        </a:rPr>
                        <a:t>工业</a:t>
                      </a:r>
                      <a:endParaRPr sz="800" dirty="0">
                        <a:latin typeface="+mn-ea"/>
                        <a:ea typeface="+mn-ea"/>
                        <a:cs typeface="Arial Unicode MS"/>
                      </a:endParaRPr>
                    </a:p>
                  </a:txBody>
                  <a:tcPr marL="0" marR="0" marT="41155" marB="0" anchor="ctr">
                    <a:solidFill>
                      <a:srgbClr val="D9D9D9"/>
                    </a:solidFill>
                  </a:tcPr>
                </a:tc>
                <a:tc>
                  <a:txBody>
                    <a:bodyPr/>
                    <a:lstStyle/>
                    <a:p>
                      <a:pPr algn="ctr" fontAlgn="b">
                        <a:buNone/>
                      </a:pPr>
                      <a:r>
                        <a:rPr lang="zh-CN" sz="800" b="0" i="0" u="none" strike="noStrike">
                          <a:solidFill>
                            <a:srgbClr val="000000"/>
                          </a:solidFill>
                          <a:effectLst/>
                          <a:latin typeface="+mn-ea"/>
                          <a:ea typeface="+mn-ea"/>
                        </a:rPr>
                        <a:t>19616.33</a:t>
                      </a:r>
                    </a:p>
                  </a:txBody>
                  <a:tcPr marL="0" marR="0" marT="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11943.73</a:t>
                      </a:r>
                    </a:p>
                  </a:txBody>
                  <a:tcPr marL="0" marR="0" marT="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1.9</a:t>
                      </a:r>
                      <a:r>
                        <a:rPr lang="en-US" altLang="zh-CN" sz="800" b="0" i="0" u="none" strike="noStrike" dirty="0">
                          <a:solidFill>
                            <a:srgbClr val="000000"/>
                          </a:solidFill>
                          <a:effectLst/>
                          <a:latin typeface="+mn-ea"/>
                          <a:ea typeface="+mn-ea"/>
                        </a:rPr>
                        <a:t>3</a:t>
                      </a:r>
                      <a:endParaRPr lang="zh-CN" sz="800" b="0" i="0" u="none" strike="noStrike" dirty="0">
                        <a:solidFill>
                          <a:srgbClr val="000000"/>
                        </a:solidFill>
                        <a:effectLst/>
                        <a:latin typeface="+mn-ea"/>
                        <a:ea typeface="+mn-ea"/>
                      </a:endParaRPr>
                    </a:p>
                  </a:txBody>
                  <a:tcPr marL="0" marR="0" marT="0" marB="0" anchor="ctr">
                    <a:solidFill>
                      <a:srgbClr val="D9D9D9"/>
                    </a:solidFill>
                  </a:tcPr>
                </a:tc>
                <a:tc>
                  <a:txBody>
                    <a:bodyPr/>
                    <a:lstStyle/>
                    <a:p>
                      <a:pPr algn="ctr" fontAlgn="b"/>
                      <a:r>
                        <a:rPr lang="zh-CN" altLang="en-US" sz="800" b="0" i="0" u="none" strike="noStrike">
                          <a:solidFill>
                            <a:srgbClr val="000000"/>
                          </a:solidFill>
                          <a:effectLst/>
                          <a:latin typeface="+mn-ea"/>
                          <a:ea typeface="+mn-ea"/>
                        </a:rPr>
                        <a:t>创业板</a:t>
                      </a:r>
                    </a:p>
                  </a:txBody>
                  <a:tcPr marL="5368" marR="5368" marT="5368" marB="0" anchor="ctr">
                    <a:solidFill>
                      <a:srgbClr val="D9D9D9"/>
                    </a:solidFill>
                  </a:tcPr>
                </a:tc>
                <a:tc>
                  <a:txBody>
                    <a:bodyPr/>
                    <a:lstStyle/>
                    <a:p>
                      <a:pPr algn="ctr" fontAlgn="b"/>
                      <a:r>
                        <a:rPr lang="zh-CN" altLang="en-US" sz="800" b="0" i="0" u="none" strike="noStrike" dirty="0">
                          <a:solidFill>
                            <a:srgbClr val="000000"/>
                          </a:solidFill>
                          <a:effectLst/>
                          <a:latin typeface="+mn-ea"/>
                          <a:ea typeface="+mn-ea"/>
                        </a:rPr>
                        <a:t>深圳</a:t>
                      </a:r>
                      <a:endParaRPr lang="en-US" altLang="zh-CN" sz="800" b="0" i="0" u="none" strike="noStrike" dirty="0">
                        <a:solidFill>
                          <a:srgbClr val="000000"/>
                        </a:solidFill>
                        <a:effectLst/>
                        <a:latin typeface="+mn-ea"/>
                        <a:ea typeface="+mn-ea"/>
                      </a:endParaRPr>
                    </a:p>
                  </a:txBody>
                  <a:tcPr marL="5368" marR="5368" marT="5368" marB="0" anchor="ctr">
                    <a:solidFill>
                      <a:srgbClr val="D9D9D9"/>
                    </a:solidFill>
                  </a:tcPr>
                </a:tc>
                <a:extLst>
                  <a:ext uri="{0D108BD9-81ED-4DB2-BD59-A6C34878D82A}">
                    <a16:rowId xmlns:a16="http://schemas.microsoft.com/office/drawing/2014/main" xmlns="" val="10002"/>
                  </a:ext>
                </a:extLst>
              </a:tr>
              <a:tr h="239778">
                <a:tc>
                  <a:txBody>
                    <a:bodyPr/>
                    <a:lstStyle/>
                    <a:p>
                      <a:pPr algn="ctr" fontAlgn="b">
                        <a:buNone/>
                      </a:pPr>
                      <a:r>
                        <a:rPr lang="zh-CN" sz="800" b="0" i="0" u="none" strike="noStrike" dirty="0">
                          <a:solidFill>
                            <a:srgbClr val="000000"/>
                          </a:solidFill>
                          <a:effectLst/>
                          <a:latin typeface="+mn-lt"/>
                          <a:ea typeface="宋体" panose="02010600030101010101" pitchFamily="2" charset="-122"/>
                        </a:rPr>
                        <a:t>600519.SH</a:t>
                      </a:r>
                    </a:p>
                  </a:txBody>
                  <a:tcPr marL="7620" marR="7620" marT="7620" marB="0" anchor="ctr"/>
                </a:tc>
                <a:tc>
                  <a:txBody>
                    <a:bodyPr/>
                    <a:lstStyle/>
                    <a:p>
                      <a:pPr algn="ctr" fontAlgn="b">
                        <a:buNone/>
                      </a:pPr>
                      <a:r>
                        <a:rPr lang="zh-CN" sz="800" b="0" i="0" u="none" strike="noStrike" dirty="0">
                          <a:solidFill>
                            <a:srgbClr val="000000"/>
                          </a:solidFill>
                          <a:effectLst/>
                          <a:latin typeface="+mn-ea"/>
                          <a:ea typeface="+mn-ea"/>
                        </a:rPr>
                        <a:t>贵州茅台</a:t>
                      </a:r>
                    </a:p>
                  </a:txBody>
                  <a:tcPr marL="7620" marR="7620" marT="7620" marB="0" anchor="ctr"/>
                </a:tc>
                <a:tc>
                  <a:txBody>
                    <a:bodyPr/>
                    <a:lstStyle/>
                    <a:p>
                      <a:pPr marL="2540" algn="ctr">
                        <a:lnSpc>
                          <a:spcPct val="100000"/>
                        </a:lnSpc>
                        <a:spcBef>
                          <a:spcPts val="570"/>
                        </a:spcBef>
                      </a:pPr>
                      <a:r>
                        <a:rPr lang="zh-CN" altLang="en-US" sz="800" dirty="0">
                          <a:latin typeface="+mn-ea"/>
                          <a:ea typeface="+mn-ea"/>
                          <a:cs typeface="Arial Unicode MS"/>
                        </a:rPr>
                        <a:t>主要消费</a:t>
                      </a:r>
                      <a:endParaRPr sz="800" dirty="0">
                        <a:latin typeface="+mn-ea"/>
                        <a:ea typeface="+mn-ea"/>
                        <a:cs typeface="Arial Unicode MS"/>
                      </a:endParaRPr>
                    </a:p>
                  </a:txBody>
                  <a:tcPr marL="0" marR="0" marT="40798" marB="0" anchor="ctr"/>
                </a:tc>
                <a:tc>
                  <a:txBody>
                    <a:bodyPr/>
                    <a:lstStyle/>
                    <a:p>
                      <a:pPr algn="ctr" fontAlgn="b">
                        <a:buNone/>
                      </a:pPr>
                      <a:r>
                        <a:rPr lang="zh-CN" sz="800" b="0" i="0" u="none" strike="noStrike">
                          <a:solidFill>
                            <a:srgbClr val="000000"/>
                          </a:solidFill>
                          <a:effectLst/>
                          <a:latin typeface="+mn-ea"/>
                          <a:ea typeface="+mn-ea"/>
                        </a:rPr>
                        <a:t>16576.08</a:t>
                      </a:r>
                    </a:p>
                  </a:txBody>
                  <a:tcPr marL="0" marR="0" marT="0" marB="0" anchor="ctr"/>
                </a:tc>
                <a:tc>
                  <a:txBody>
                    <a:bodyPr/>
                    <a:lstStyle/>
                    <a:p>
                      <a:pPr algn="ctr" fontAlgn="b">
                        <a:buNone/>
                      </a:pPr>
                      <a:r>
                        <a:rPr lang="zh-CN" sz="800" b="0" i="0" u="none" strike="noStrike">
                          <a:solidFill>
                            <a:srgbClr val="000000"/>
                          </a:solidFill>
                          <a:effectLst/>
                          <a:latin typeface="+mn-ea"/>
                          <a:ea typeface="+mn-ea"/>
                        </a:rPr>
                        <a:t>7172.98</a:t>
                      </a:r>
                    </a:p>
                  </a:txBody>
                  <a:tcPr marL="0" marR="0" marT="0" marB="0" anchor="ctr"/>
                </a:tc>
                <a:tc>
                  <a:txBody>
                    <a:bodyPr/>
                    <a:lstStyle/>
                    <a:p>
                      <a:pPr algn="ctr" fontAlgn="b">
                        <a:buNone/>
                      </a:pPr>
                      <a:r>
                        <a:rPr lang="zh-CN" sz="800" b="0" i="0" u="none" strike="noStrike" dirty="0">
                          <a:solidFill>
                            <a:srgbClr val="000000"/>
                          </a:solidFill>
                          <a:effectLst/>
                          <a:latin typeface="+mn-ea"/>
                          <a:ea typeface="+mn-ea"/>
                        </a:rPr>
                        <a:t>1.4</a:t>
                      </a:r>
                      <a:r>
                        <a:rPr lang="en-US" altLang="zh-CN" sz="800" b="0" i="0" u="none" strike="noStrike" dirty="0">
                          <a:solidFill>
                            <a:srgbClr val="000000"/>
                          </a:solidFill>
                          <a:effectLst/>
                          <a:latin typeface="+mn-ea"/>
                          <a:ea typeface="+mn-ea"/>
                        </a:rPr>
                        <a:t>3</a:t>
                      </a:r>
                      <a:endParaRPr lang="zh-CN" sz="800" b="0" i="0" u="none" strike="noStrike" dirty="0">
                        <a:solidFill>
                          <a:srgbClr val="000000"/>
                        </a:solidFill>
                        <a:effectLst/>
                        <a:latin typeface="+mn-ea"/>
                        <a:ea typeface="+mn-ea"/>
                      </a:endParaRPr>
                    </a:p>
                  </a:txBody>
                  <a:tcPr marL="0" marR="0" marT="0" marB="0" anchor="ctr"/>
                </a:tc>
                <a:tc>
                  <a:txBody>
                    <a:bodyPr/>
                    <a:lstStyle/>
                    <a:p>
                      <a:pPr algn="ctr" fontAlgn="b"/>
                      <a:r>
                        <a:rPr lang="zh-CN" altLang="en-US" sz="800" b="0" i="0" u="none" strike="noStrike">
                          <a:solidFill>
                            <a:srgbClr val="000000"/>
                          </a:solidFill>
                          <a:effectLst/>
                          <a:latin typeface="+mn-ea"/>
                          <a:ea typeface="+mn-ea"/>
                        </a:rPr>
                        <a:t>主板</a:t>
                      </a:r>
                    </a:p>
                  </a:txBody>
                  <a:tcPr marL="5368" marR="5368" marT="5368" marB="0" anchor="ctr"/>
                </a:tc>
                <a:tc>
                  <a:txBody>
                    <a:bodyPr/>
                    <a:lstStyle/>
                    <a:p>
                      <a:pPr algn="ctr" fontAlgn="b"/>
                      <a:r>
                        <a:rPr lang="zh-CN" altLang="en-US" sz="800" b="0" i="0" u="none" strike="noStrike" dirty="0">
                          <a:solidFill>
                            <a:srgbClr val="000000"/>
                          </a:solidFill>
                          <a:effectLst/>
                          <a:latin typeface="+mn-ea"/>
                          <a:ea typeface="+mn-ea"/>
                        </a:rPr>
                        <a:t>上海</a:t>
                      </a:r>
                      <a:endParaRPr lang="en-US" altLang="zh-CN" sz="800" b="0" i="0" u="none" strike="noStrike" dirty="0">
                        <a:solidFill>
                          <a:srgbClr val="000000"/>
                        </a:solidFill>
                        <a:effectLst/>
                        <a:latin typeface="+mn-ea"/>
                        <a:ea typeface="+mn-ea"/>
                      </a:endParaRPr>
                    </a:p>
                  </a:txBody>
                  <a:tcPr marL="5368" marR="5368" marT="5368" marB="0" anchor="ctr"/>
                </a:tc>
                <a:extLst>
                  <a:ext uri="{0D108BD9-81ED-4DB2-BD59-A6C34878D82A}">
                    <a16:rowId xmlns:a16="http://schemas.microsoft.com/office/drawing/2014/main" xmlns="" val="10003"/>
                  </a:ext>
                </a:extLst>
              </a:tr>
              <a:tr h="239778">
                <a:tc>
                  <a:txBody>
                    <a:bodyPr/>
                    <a:lstStyle/>
                    <a:p>
                      <a:pPr algn="ctr" fontAlgn="b">
                        <a:buNone/>
                      </a:pPr>
                      <a:r>
                        <a:rPr lang="zh-CN" sz="800" b="0" i="0" u="none" strike="noStrike">
                          <a:solidFill>
                            <a:srgbClr val="000000"/>
                          </a:solidFill>
                          <a:effectLst/>
                          <a:latin typeface="+mn-lt"/>
                          <a:ea typeface="宋体" panose="02010600030101010101" pitchFamily="2" charset="-122"/>
                        </a:rPr>
                        <a:t>300502.SZ</a:t>
                      </a:r>
                    </a:p>
                  </a:txBody>
                  <a:tcPr marL="7620" marR="7620" marT="762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新易盛</a:t>
                      </a:r>
                    </a:p>
                  </a:txBody>
                  <a:tcPr marL="7620" marR="7620" marT="7620" marB="0" anchor="ctr">
                    <a:solidFill>
                      <a:srgbClr val="D9D9D9"/>
                    </a:solidFill>
                  </a:tcPr>
                </a:tc>
                <a:tc>
                  <a:txBody>
                    <a:bodyPr/>
                    <a:lstStyle/>
                    <a:p>
                      <a:pPr marL="2540" algn="ctr">
                        <a:lnSpc>
                          <a:spcPct val="100000"/>
                        </a:lnSpc>
                        <a:spcBef>
                          <a:spcPts val="570"/>
                        </a:spcBef>
                      </a:pPr>
                      <a:r>
                        <a:rPr lang="zh-CN" altLang="en-US" sz="800" dirty="0">
                          <a:latin typeface="+mn-ea"/>
                          <a:ea typeface="+mn-ea"/>
                          <a:cs typeface="Arial Unicode MS"/>
                        </a:rPr>
                        <a:t>通信服务</a:t>
                      </a:r>
                      <a:endParaRPr sz="800" dirty="0">
                        <a:latin typeface="+mn-ea"/>
                        <a:ea typeface="+mn-ea"/>
                        <a:cs typeface="Arial Unicode MS"/>
                      </a:endParaRPr>
                    </a:p>
                  </a:txBody>
                  <a:tcPr marL="0" marR="0" marT="40798" marB="0" anchor="ctr">
                    <a:solidFill>
                      <a:srgbClr val="D9D9D9"/>
                    </a:solidFill>
                  </a:tcPr>
                </a:tc>
                <a:tc>
                  <a:txBody>
                    <a:bodyPr/>
                    <a:lstStyle/>
                    <a:p>
                      <a:pPr algn="ctr" fontAlgn="b">
                        <a:buNone/>
                      </a:pPr>
                      <a:r>
                        <a:rPr lang="zh-CN" sz="800" b="0" i="0" u="none" strike="noStrike">
                          <a:solidFill>
                            <a:srgbClr val="000000"/>
                          </a:solidFill>
                          <a:effectLst/>
                          <a:latin typeface="+mn-ea"/>
                          <a:ea typeface="+mn-ea"/>
                        </a:rPr>
                        <a:t>7035.52</a:t>
                      </a:r>
                    </a:p>
                  </a:txBody>
                  <a:tcPr marL="0" marR="0" marT="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6033.63</a:t>
                      </a:r>
                    </a:p>
                  </a:txBody>
                  <a:tcPr marL="0" marR="0" marT="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1.2</a:t>
                      </a:r>
                      <a:r>
                        <a:rPr lang="en-US" altLang="zh-CN" sz="800" b="0" i="0" u="none" strike="noStrike" dirty="0">
                          <a:solidFill>
                            <a:srgbClr val="000000"/>
                          </a:solidFill>
                          <a:effectLst/>
                          <a:latin typeface="+mn-ea"/>
                          <a:ea typeface="+mn-ea"/>
                        </a:rPr>
                        <a:t>1</a:t>
                      </a:r>
                      <a:endParaRPr lang="zh-CN" sz="800" b="0" i="0" u="none" strike="noStrike" dirty="0">
                        <a:solidFill>
                          <a:srgbClr val="000000"/>
                        </a:solidFill>
                        <a:effectLst/>
                        <a:latin typeface="+mn-ea"/>
                        <a:ea typeface="+mn-ea"/>
                      </a:endParaRPr>
                    </a:p>
                  </a:txBody>
                  <a:tcPr marL="0" marR="0" marT="0" marB="0" anchor="ctr">
                    <a:solidFill>
                      <a:srgbClr val="D9D9D9"/>
                    </a:solidFill>
                  </a:tcPr>
                </a:tc>
                <a:tc>
                  <a:txBody>
                    <a:bodyPr/>
                    <a:lstStyle/>
                    <a:p>
                      <a:pPr algn="ctr" fontAlgn="b"/>
                      <a:r>
                        <a:rPr lang="zh-CN" altLang="en-US" sz="800" b="0" i="0" u="none" strike="noStrike" dirty="0">
                          <a:solidFill>
                            <a:srgbClr val="000000"/>
                          </a:solidFill>
                          <a:effectLst/>
                          <a:latin typeface="+mn-ea"/>
                          <a:ea typeface="+mn-ea"/>
                        </a:rPr>
                        <a:t>创业板</a:t>
                      </a:r>
                    </a:p>
                  </a:txBody>
                  <a:tcPr marL="5368" marR="5368" marT="5368" marB="0" anchor="ctr">
                    <a:solidFill>
                      <a:srgbClr val="D9D9D9"/>
                    </a:solidFill>
                  </a:tcPr>
                </a:tc>
                <a:tc>
                  <a:txBody>
                    <a:bodyPr/>
                    <a:lstStyle/>
                    <a:p>
                      <a:pPr algn="ctr" fontAlgn="b"/>
                      <a:r>
                        <a:rPr lang="zh-CN" altLang="en-US" sz="800" b="0" i="0" u="none" strike="noStrike" dirty="0">
                          <a:solidFill>
                            <a:srgbClr val="000000"/>
                          </a:solidFill>
                          <a:effectLst/>
                          <a:latin typeface="+mn-ea"/>
                          <a:ea typeface="+mn-ea"/>
                        </a:rPr>
                        <a:t>深圳</a:t>
                      </a:r>
                      <a:endParaRPr lang="en-US" altLang="zh-CN" sz="800" b="0" i="0" u="none" strike="noStrike" dirty="0">
                        <a:solidFill>
                          <a:srgbClr val="000000"/>
                        </a:solidFill>
                        <a:effectLst/>
                        <a:latin typeface="+mn-ea"/>
                        <a:ea typeface="+mn-ea"/>
                      </a:endParaRPr>
                    </a:p>
                  </a:txBody>
                  <a:tcPr marL="5368" marR="5368" marT="5368" marB="0" anchor="ctr">
                    <a:solidFill>
                      <a:srgbClr val="D9D9D9"/>
                    </a:solidFill>
                  </a:tcPr>
                </a:tc>
                <a:extLst>
                  <a:ext uri="{0D108BD9-81ED-4DB2-BD59-A6C34878D82A}">
                    <a16:rowId xmlns:a16="http://schemas.microsoft.com/office/drawing/2014/main" xmlns="" val="10004"/>
                  </a:ext>
                </a:extLst>
              </a:tr>
              <a:tr h="239778">
                <a:tc>
                  <a:txBody>
                    <a:bodyPr/>
                    <a:lstStyle/>
                    <a:p>
                      <a:pPr algn="ctr" fontAlgn="b">
                        <a:buNone/>
                      </a:pPr>
                      <a:r>
                        <a:rPr lang="zh-CN" sz="800" b="0" i="0" u="none" strike="noStrike" dirty="0">
                          <a:solidFill>
                            <a:srgbClr val="000000"/>
                          </a:solidFill>
                          <a:effectLst/>
                          <a:latin typeface="+mn-lt"/>
                          <a:ea typeface="宋体" panose="02010600030101010101" pitchFamily="2" charset="-122"/>
                        </a:rPr>
                        <a:t>601318.SH</a:t>
                      </a:r>
                    </a:p>
                  </a:txBody>
                  <a:tcPr marL="7620" marR="7620" marT="7620" marB="0" anchor="ctr"/>
                </a:tc>
                <a:tc>
                  <a:txBody>
                    <a:bodyPr/>
                    <a:lstStyle/>
                    <a:p>
                      <a:pPr algn="ctr" fontAlgn="b">
                        <a:buNone/>
                      </a:pPr>
                      <a:r>
                        <a:rPr lang="zh-CN" sz="800" b="0" i="0" u="none" strike="noStrike" dirty="0">
                          <a:solidFill>
                            <a:srgbClr val="000000"/>
                          </a:solidFill>
                          <a:effectLst/>
                          <a:latin typeface="+mn-ea"/>
                          <a:ea typeface="+mn-ea"/>
                        </a:rPr>
                        <a:t>中国平安</a:t>
                      </a:r>
                    </a:p>
                  </a:txBody>
                  <a:tcPr marL="7620" marR="7620" marT="7620" marB="0" anchor="ctr"/>
                </a:tc>
                <a:tc>
                  <a:txBody>
                    <a:bodyPr/>
                    <a:lstStyle/>
                    <a:p>
                      <a:pPr marL="2540" algn="ctr">
                        <a:lnSpc>
                          <a:spcPct val="100000"/>
                        </a:lnSpc>
                        <a:spcBef>
                          <a:spcPts val="570"/>
                        </a:spcBef>
                      </a:pPr>
                      <a:r>
                        <a:rPr lang="zh-CN" altLang="en-US" sz="800" dirty="0">
                          <a:latin typeface="+mn-ea"/>
                          <a:ea typeface="+mn-ea"/>
                          <a:cs typeface="Arial Unicode MS"/>
                        </a:rPr>
                        <a:t>金融</a:t>
                      </a:r>
                      <a:endParaRPr sz="800" dirty="0">
                        <a:latin typeface="+mn-ea"/>
                        <a:ea typeface="+mn-ea"/>
                        <a:cs typeface="Arial Unicode MS"/>
                      </a:endParaRPr>
                    </a:p>
                  </a:txBody>
                  <a:tcPr marL="0" marR="0" marT="40798" marB="0" anchor="ctr"/>
                </a:tc>
                <a:tc>
                  <a:txBody>
                    <a:bodyPr/>
                    <a:lstStyle/>
                    <a:p>
                      <a:pPr algn="ctr" fontAlgn="b">
                        <a:buNone/>
                      </a:pPr>
                      <a:r>
                        <a:rPr lang="zh-CN" sz="800" b="0" i="0" u="none" strike="noStrike">
                          <a:solidFill>
                            <a:srgbClr val="000000"/>
                          </a:solidFill>
                          <a:effectLst/>
                          <a:latin typeface="+mn-ea"/>
                          <a:ea typeface="+mn-ea"/>
                        </a:rPr>
                        <a:t>9687.59</a:t>
                      </a:r>
                    </a:p>
                  </a:txBody>
                  <a:tcPr marL="0" marR="0" marT="0" marB="0" anchor="ctr"/>
                </a:tc>
                <a:tc>
                  <a:txBody>
                    <a:bodyPr/>
                    <a:lstStyle/>
                    <a:p>
                      <a:pPr algn="ctr" fontAlgn="b">
                        <a:buNone/>
                      </a:pPr>
                      <a:r>
                        <a:rPr lang="zh-CN" sz="800" b="0" i="0" u="none" strike="noStrike">
                          <a:solidFill>
                            <a:srgbClr val="000000"/>
                          </a:solidFill>
                          <a:effectLst/>
                          <a:latin typeface="+mn-ea"/>
                          <a:ea typeface="+mn-ea"/>
                        </a:rPr>
                        <a:t>5188.08</a:t>
                      </a:r>
                    </a:p>
                  </a:txBody>
                  <a:tcPr marL="0" marR="0" marT="0" marB="0" anchor="ctr"/>
                </a:tc>
                <a:tc>
                  <a:txBody>
                    <a:bodyPr/>
                    <a:lstStyle/>
                    <a:p>
                      <a:pPr algn="ctr" fontAlgn="b">
                        <a:buNone/>
                      </a:pPr>
                      <a:r>
                        <a:rPr lang="zh-CN" sz="800" b="0" i="0" u="none" strike="noStrike" dirty="0">
                          <a:solidFill>
                            <a:srgbClr val="000000"/>
                          </a:solidFill>
                          <a:effectLst/>
                          <a:latin typeface="+mn-ea"/>
                          <a:ea typeface="+mn-ea"/>
                        </a:rPr>
                        <a:t>0.98</a:t>
                      </a:r>
                    </a:p>
                  </a:txBody>
                  <a:tcPr marL="0" marR="0" marT="0" marB="0" anchor="ctr"/>
                </a:tc>
                <a:tc>
                  <a:txBody>
                    <a:bodyPr/>
                    <a:lstStyle/>
                    <a:p>
                      <a:pPr algn="ctr" fontAlgn="b"/>
                      <a:r>
                        <a:rPr lang="zh-CN" altLang="en-US" sz="800" b="0" i="0" u="none" strike="noStrike" dirty="0">
                          <a:solidFill>
                            <a:srgbClr val="000000"/>
                          </a:solidFill>
                          <a:effectLst/>
                          <a:latin typeface="+mn-ea"/>
                          <a:ea typeface="+mn-ea"/>
                        </a:rPr>
                        <a:t>主板</a:t>
                      </a:r>
                    </a:p>
                  </a:txBody>
                  <a:tcPr marL="5368" marR="5368" marT="5368"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defRPr/>
                      </a:pPr>
                      <a:r>
                        <a:rPr lang="zh-CN" altLang="en-US" sz="800" b="0" i="0" u="none" strike="noStrike" dirty="0">
                          <a:solidFill>
                            <a:srgbClr val="000000"/>
                          </a:solidFill>
                          <a:effectLst/>
                          <a:latin typeface="+mn-ea"/>
                          <a:ea typeface="+mn-ea"/>
                        </a:rPr>
                        <a:t>上海</a:t>
                      </a:r>
                      <a:endParaRPr lang="en-US" altLang="zh-CN" sz="800" b="0" i="0" u="none" strike="noStrike" dirty="0">
                        <a:solidFill>
                          <a:srgbClr val="000000"/>
                        </a:solidFill>
                        <a:effectLst/>
                        <a:latin typeface="+mn-ea"/>
                        <a:ea typeface="+mn-ea"/>
                      </a:endParaRPr>
                    </a:p>
                  </a:txBody>
                  <a:tcPr marL="5368" marR="5368" marT="5368" marB="0" anchor="ctr"/>
                </a:tc>
                <a:extLst>
                  <a:ext uri="{0D108BD9-81ED-4DB2-BD59-A6C34878D82A}">
                    <a16:rowId xmlns:a16="http://schemas.microsoft.com/office/drawing/2014/main" xmlns="" val="10005"/>
                  </a:ext>
                </a:extLst>
              </a:tr>
              <a:tr h="239778">
                <a:tc>
                  <a:txBody>
                    <a:bodyPr/>
                    <a:lstStyle/>
                    <a:p>
                      <a:pPr algn="ctr" fontAlgn="b">
                        <a:buNone/>
                      </a:pPr>
                      <a:r>
                        <a:rPr lang="zh-CN" sz="800" b="0" i="0" u="none" strike="noStrike" dirty="0">
                          <a:solidFill>
                            <a:srgbClr val="000000"/>
                          </a:solidFill>
                          <a:effectLst/>
                          <a:latin typeface="+mn-lt"/>
                          <a:ea typeface="宋体" panose="02010600030101010101" pitchFamily="2" charset="-122"/>
                        </a:rPr>
                        <a:t>601899.SH</a:t>
                      </a:r>
                    </a:p>
                  </a:txBody>
                  <a:tcPr marL="7620" marR="7620" marT="762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紫金矿业</a:t>
                      </a:r>
                    </a:p>
                  </a:txBody>
                  <a:tcPr marL="7620" marR="7620" marT="7620" marB="0" anchor="ctr">
                    <a:solidFill>
                      <a:srgbClr val="D9D9D9"/>
                    </a:solidFill>
                  </a:tcPr>
                </a:tc>
                <a:tc>
                  <a:txBody>
                    <a:bodyPr/>
                    <a:lstStyle/>
                    <a:p>
                      <a:pPr marL="2540" algn="ctr">
                        <a:lnSpc>
                          <a:spcPct val="100000"/>
                        </a:lnSpc>
                        <a:spcBef>
                          <a:spcPts val="570"/>
                        </a:spcBef>
                      </a:pPr>
                      <a:r>
                        <a:rPr lang="zh-CN" altLang="en-US" sz="800" dirty="0">
                          <a:latin typeface="+mn-ea"/>
                          <a:ea typeface="+mn-ea"/>
                          <a:cs typeface="Arial Unicode MS"/>
                        </a:rPr>
                        <a:t>原材料</a:t>
                      </a:r>
                      <a:endParaRPr sz="800" dirty="0">
                        <a:latin typeface="+mn-ea"/>
                        <a:ea typeface="+mn-ea"/>
                        <a:cs typeface="Arial Unicode MS"/>
                      </a:endParaRPr>
                    </a:p>
                  </a:txBody>
                  <a:tcPr marL="0" marR="0" marT="40798" marB="0" anchor="ctr">
                    <a:solidFill>
                      <a:srgbClr val="D9D9D9"/>
                    </a:solidFill>
                  </a:tcPr>
                </a:tc>
                <a:tc>
                  <a:txBody>
                    <a:bodyPr/>
                    <a:lstStyle/>
                    <a:p>
                      <a:pPr algn="ctr" fontAlgn="b">
                        <a:buNone/>
                      </a:pPr>
                      <a:r>
                        <a:rPr lang="zh-CN" sz="800" b="0" i="0" u="none" strike="noStrike">
                          <a:solidFill>
                            <a:srgbClr val="000000"/>
                          </a:solidFill>
                          <a:effectLst/>
                          <a:latin typeface="+mn-ea"/>
                          <a:ea typeface="+mn-ea"/>
                        </a:rPr>
                        <a:t>8094.21</a:t>
                      </a:r>
                    </a:p>
                  </a:txBody>
                  <a:tcPr marL="0" marR="0" marT="0" marB="0" anchor="ctr">
                    <a:solidFill>
                      <a:srgbClr val="D9D9D9"/>
                    </a:solidFill>
                  </a:tcPr>
                </a:tc>
                <a:tc>
                  <a:txBody>
                    <a:bodyPr/>
                    <a:lstStyle/>
                    <a:p>
                      <a:pPr algn="ctr" fontAlgn="b">
                        <a:buNone/>
                      </a:pPr>
                      <a:r>
                        <a:rPr lang="zh-CN" sz="800" b="0" i="0" u="none" strike="noStrike">
                          <a:solidFill>
                            <a:srgbClr val="000000"/>
                          </a:solidFill>
                          <a:effectLst/>
                          <a:latin typeface="+mn-ea"/>
                          <a:ea typeface="+mn-ea"/>
                        </a:rPr>
                        <a:t>4419.36</a:t>
                      </a:r>
                    </a:p>
                  </a:txBody>
                  <a:tcPr marL="0" marR="0" marT="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0.86</a:t>
                      </a:r>
                    </a:p>
                  </a:txBody>
                  <a:tcPr marL="0" marR="0" marT="0" marB="0" anchor="ctr">
                    <a:solidFill>
                      <a:srgbClr val="D9D9D9"/>
                    </a:solidFill>
                  </a:tcPr>
                </a:tc>
                <a:tc>
                  <a:txBody>
                    <a:bodyPr/>
                    <a:lstStyle/>
                    <a:p>
                      <a:pPr algn="ctr" fontAlgn="b"/>
                      <a:r>
                        <a:rPr lang="zh-CN" altLang="en-US" sz="800" b="0" i="0" u="none" strike="noStrike" dirty="0">
                          <a:solidFill>
                            <a:srgbClr val="000000"/>
                          </a:solidFill>
                          <a:effectLst/>
                          <a:latin typeface="+mn-ea"/>
                          <a:ea typeface="+mn-ea"/>
                        </a:rPr>
                        <a:t>主板</a:t>
                      </a:r>
                    </a:p>
                  </a:txBody>
                  <a:tcPr marL="5368" marR="5368" marT="5368" marB="0" anchor="ctr">
                    <a:solidFill>
                      <a:srgbClr val="D9D9D9"/>
                    </a:solidFill>
                  </a:tcPr>
                </a:tc>
                <a:tc>
                  <a:txBody>
                    <a:bodyPr/>
                    <a:lstStyle/>
                    <a:p>
                      <a:pPr algn="ctr" fontAlgn="b"/>
                      <a:r>
                        <a:rPr lang="zh-CN" altLang="en-US" sz="800" b="0" i="0" u="none" strike="noStrike" dirty="0">
                          <a:solidFill>
                            <a:srgbClr val="000000"/>
                          </a:solidFill>
                          <a:effectLst/>
                          <a:latin typeface="+mn-ea"/>
                          <a:ea typeface="+mn-ea"/>
                        </a:rPr>
                        <a:t>上海</a:t>
                      </a:r>
                      <a:endParaRPr lang="en-US" altLang="zh-CN" sz="800" b="0" i="0" u="none" strike="noStrike" dirty="0">
                        <a:solidFill>
                          <a:srgbClr val="000000"/>
                        </a:solidFill>
                        <a:effectLst/>
                        <a:latin typeface="+mn-ea"/>
                        <a:ea typeface="+mn-ea"/>
                      </a:endParaRPr>
                    </a:p>
                  </a:txBody>
                  <a:tcPr marL="5368" marR="5368" marT="5368" marB="0" anchor="ctr">
                    <a:solidFill>
                      <a:srgbClr val="D9D9D9"/>
                    </a:solidFill>
                  </a:tcPr>
                </a:tc>
                <a:extLst>
                  <a:ext uri="{0D108BD9-81ED-4DB2-BD59-A6C34878D82A}">
                    <a16:rowId xmlns:a16="http://schemas.microsoft.com/office/drawing/2014/main" xmlns="" val="10006"/>
                  </a:ext>
                </a:extLst>
              </a:tr>
              <a:tr h="239778">
                <a:tc>
                  <a:txBody>
                    <a:bodyPr/>
                    <a:lstStyle/>
                    <a:p>
                      <a:pPr algn="ctr" fontAlgn="b">
                        <a:buNone/>
                      </a:pPr>
                      <a:r>
                        <a:rPr lang="zh-CN" sz="800" b="0" i="0" u="none" strike="noStrike" dirty="0">
                          <a:solidFill>
                            <a:srgbClr val="000000"/>
                          </a:solidFill>
                          <a:effectLst/>
                          <a:latin typeface="+mn-lt"/>
                          <a:ea typeface="宋体" panose="02010600030101010101" pitchFamily="2" charset="-122"/>
                        </a:rPr>
                        <a:t>600036.SH</a:t>
                      </a:r>
                    </a:p>
                  </a:txBody>
                  <a:tcPr marL="7620" marR="7620" marT="7620" marB="0" anchor="ctr"/>
                </a:tc>
                <a:tc>
                  <a:txBody>
                    <a:bodyPr/>
                    <a:lstStyle/>
                    <a:p>
                      <a:pPr algn="ctr" fontAlgn="b">
                        <a:buNone/>
                      </a:pPr>
                      <a:r>
                        <a:rPr lang="zh-CN" sz="800" b="0" i="0" u="none" strike="noStrike" dirty="0">
                          <a:solidFill>
                            <a:srgbClr val="000000"/>
                          </a:solidFill>
                          <a:effectLst/>
                          <a:latin typeface="+mn-ea"/>
                          <a:ea typeface="+mn-ea"/>
                        </a:rPr>
                        <a:t>招商银行</a:t>
                      </a:r>
                    </a:p>
                  </a:txBody>
                  <a:tcPr marL="7620" marR="7620" marT="7620" marB="0" anchor="ctr"/>
                </a:tc>
                <a:tc>
                  <a:txBody>
                    <a:bodyPr/>
                    <a:lstStyle/>
                    <a:p>
                      <a:pPr marL="2540" algn="ctr">
                        <a:lnSpc>
                          <a:spcPct val="100000"/>
                        </a:lnSpc>
                        <a:spcBef>
                          <a:spcPts val="660"/>
                        </a:spcBef>
                      </a:pPr>
                      <a:r>
                        <a:rPr lang="zh-CN" altLang="en-US" sz="800" dirty="0">
                          <a:latin typeface="+mn-ea"/>
                          <a:ea typeface="+mn-ea"/>
                          <a:cs typeface="Arial Unicode MS"/>
                        </a:rPr>
                        <a:t>金融</a:t>
                      </a:r>
                      <a:endParaRPr sz="800" dirty="0">
                        <a:latin typeface="+mn-ea"/>
                        <a:ea typeface="+mn-ea"/>
                        <a:cs typeface="Arial Unicode MS"/>
                      </a:endParaRPr>
                    </a:p>
                  </a:txBody>
                  <a:tcPr marL="0" marR="0" marT="47239" marB="0" anchor="ctr"/>
                </a:tc>
                <a:tc>
                  <a:txBody>
                    <a:bodyPr/>
                    <a:lstStyle/>
                    <a:p>
                      <a:pPr algn="ctr" fontAlgn="b">
                        <a:buNone/>
                      </a:pPr>
                      <a:r>
                        <a:rPr lang="zh-CN" sz="800" b="0" i="0" u="none" strike="noStrike">
                          <a:solidFill>
                            <a:srgbClr val="000000"/>
                          </a:solidFill>
                          <a:effectLst/>
                          <a:latin typeface="+mn-ea"/>
                          <a:ea typeface="+mn-ea"/>
                        </a:rPr>
                        <a:t>9586.06</a:t>
                      </a:r>
                    </a:p>
                  </a:txBody>
                  <a:tcPr marL="0" marR="0" marT="0" marB="0" anchor="ctr"/>
                </a:tc>
                <a:tc>
                  <a:txBody>
                    <a:bodyPr/>
                    <a:lstStyle/>
                    <a:p>
                      <a:pPr algn="ctr" fontAlgn="b">
                        <a:buNone/>
                      </a:pPr>
                      <a:r>
                        <a:rPr lang="zh-CN" sz="800" b="0" i="0" u="none" strike="noStrike">
                          <a:solidFill>
                            <a:srgbClr val="000000"/>
                          </a:solidFill>
                          <a:effectLst/>
                          <a:latin typeface="+mn-ea"/>
                          <a:ea typeface="+mn-ea"/>
                        </a:rPr>
                        <a:t>4024.26</a:t>
                      </a:r>
                    </a:p>
                  </a:txBody>
                  <a:tcPr marL="0" marR="0" marT="0" marB="0" anchor="ctr"/>
                </a:tc>
                <a:tc>
                  <a:txBody>
                    <a:bodyPr/>
                    <a:lstStyle/>
                    <a:p>
                      <a:pPr algn="ctr" fontAlgn="b">
                        <a:buNone/>
                      </a:pPr>
                      <a:r>
                        <a:rPr lang="zh-CN" sz="800" b="0" i="0" u="none" strike="noStrike" dirty="0">
                          <a:solidFill>
                            <a:srgbClr val="000000"/>
                          </a:solidFill>
                          <a:effectLst/>
                          <a:latin typeface="+mn-ea"/>
                          <a:ea typeface="+mn-ea"/>
                        </a:rPr>
                        <a:t>0.8</a:t>
                      </a:r>
                      <a:r>
                        <a:rPr lang="en-US" altLang="zh-CN" sz="800" b="0" i="0" u="none" strike="noStrike" dirty="0">
                          <a:solidFill>
                            <a:srgbClr val="000000"/>
                          </a:solidFill>
                          <a:effectLst/>
                          <a:latin typeface="+mn-ea"/>
                          <a:ea typeface="+mn-ea"/>
                        </a:rPr>
                        <a:t>1</a:t>
                      </a:r>
                      <a:endParaRPr lang="zh-CN" sz="800" b="0" i="0" u="none" strike="noStrike" dirty="0">
                        <a:solidFill>
                          <a:srgbClr val="000000"/>
                        </a:solidFill>
                        <a:effectLst/>
                        <a:latin typeface="+mn-ea"/>
                        <a:ea typeface="+mn-ea"/>
                      </a:endParaRPr>
                    </a:p>
                  </a:txBody>
                  <a:tcPr marL="0" marR="0" marT="0" marB="0" anchor="ctr"/>
                </a:tc>
                <a:tc>
                  <a:txBody>
                    <a:bodyPr/>
                    <a:lstStyle/>
                    <a:p>
                      <a:pPr algn="ctr" fontAlgn="b"/>
                      <a:r>
                        <a:rPr lang="zh-CN" altLang="en-US" sz="800" b="0" i="0" u="none" strike="noStrike" dirty="0">
                          <a:solidFill>
                            <a:srgbClr val="000000"/>
                          </a:solidFill>
                          <a:effectLst/>
                          <a:latin typeface="+mn-ea"/>
                          <a:ea typeface="+mn-ea"/>
                        </a:rPr>
                        <a:t>主板</a:t>
                      </a:r>
                    </a:p>
                  </a:txBody>
                  <a:tcPr marL="5368" marR="5368" marT="5368"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defRPr/>
                      </a:pPr>
                      <a:r>
                        <a:rPr lang="zh-CN" altLang="en-US" sz="800" b="0" i="0" u="none" strike="noStrike" dirty="0">
                          <a:solidFill>
                            <a:srgbClr val="000000"/>
                          </a:solidFill>
                          <a:effectLst/>
                          <a:latin typeface="+mn-ea"/>
                          <a:ea typeface="+mn-ea"/>
                        </a:rPr>
                        <a:t>上海</a:t>
                      </a:r>
                      <a:endParaRPr lang="en-US" altLang="zh-CN" sz="800" b="0" i="0" u="none" strike="noStrike" dirty="0">
                        <a:solidFill>
                          <a:srgbClr val="000000"/>
                        </a:solidFill>
                        <a:effectLst/>
                        <a:latin typeface="+mn-ea"/>
                        <a:ea typeface="+mn-ea"/>
                      </a:endParaRPr>
                    </a:p>
                  </a:txBody>
                  <a:tcPr marL="5368" marR="5368" marT="5368" marB="0" anchor="ctr"/>
                </a:tc>
                <a:extLst>
                  <a:ext uri="{0D108BD9-81ED-4DB2-BD59-A6C34878D82A}">
                    <a16:rowId xmlns:a16="http://schemas.microsoft.com/office/drawing/2014/main" xmlns="" val="10007"/>
                  </a:ext>
                </a:extLst>
              </a:tr>
              <a:tr h="239778">
                <a:tc>
                  <a:txBody>
                    <a:bodyPr/>
                    <a:lstStyle/>
                    <a:p>
                      <a:pPr algn="ctr" fontAlgn="b">
                        <a:buNone/>
                      </a:pPr>
                      <a:r>
                        <a:rPr lang="zh-CN" sz="800" b="0" i="0" u="none" strike="noStrike" dirty="0">
                          <a:solidFill>
                            <a:srgbClr val="000000"/>
                          </a:solidFill>
                          <a:effectLst/>
                          <a:latin typeface="+mn-lt"/>
                          <a:ea typeface="宋体" panose="02010600030101010101" pitchFamily="2" charset="-122"/>
                        </a:rPr>
                        <a:t>688256.SH</a:t>
                      </a:r>
                    </a:p>
                  </a:txBody>
                  <a:tcPr marL="7620" marR="7620" marT="762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寒武纪</a:t>
                      </a:r>
                    </a:p>
                  </a:txBody>
                  <a:tcPr marL="7620" marR="7620" marT="7620" marB="0" anchor="ctr">
                    <a:solidFill>
                      <a:srgbClr val="D9D9D9"/>
                    </a:solidFill>
                  </a:tcPr>
                </a:tc>
                <a:tc>
                  <a:txBody>
                    <a:bodyPr/>
                    <a:lstStyle/>
                    <a:p>
                      <a:pPr marL="2540" algn="ctr">
                        <a:lnSpc>
                          <a:spcPct val="100000"/>
                        </a:lnSpc>
                        <a:spcBef>
                          <a:spcPts val="495"/>
                        </a:spcBef>
                      </a:pPr>
                      <a:r>
                        <a:rPr lang="zh-CN" altLang="en-US" sz="800" dirty="0">
                          <a:latin typeface="+mn-ea"/>
                          <a:ea typeface="+mn-ea"/>
                          <a:cs typeface="Arial Unicode MS"/>
                        </a:rPr>
                        <a:t>信息技术</a:t>
                      </a:r>
                      <a:endParaRPr sz="800" dirty="0">
                        <a:latin typeface="+mn-ea"/>
                        <a:ea typeface="+mn-ea"/>
                        <a:cs typeface="Arial Unicode MS"/>
                      </a:endParaRPr>
                    </a:p>
                  </a:txBody>
                  <a:tcPr marL="0" marR="0" marT="35429" marB="0" anchor="ctr">
                    <a:solidFill>
                      <a:srgbClr val="D9D9D9"/>
                    </a:solidFill>
                  </a:tcPr>
                </a:tc>
                <a:tc>
                  <a:txBody>
                    <a:bodyPr/>
                    <a:lstStyle/>
                    <a:p>
                      <a:pPr algn="ctr" fontAlgn="b">
                        <a:buNone/>
                      </a:pPr>
                      <a:r>
                        <a:rPr lang="zh-CN" sz="800" b="0" i="0" u="none" strike="noStrike">
                          <a:solidFill>
                            <a:srgbClr val="000000"/>
                          </a:solidFill>
                          <a:effectLst/>
                          <a:latin typeface="+mn-ea"/>
                          <a:ea typeface="+mn-ea"/>
                        </a:rPr>
                        <a:t>8230.64</a:t>
                      </a:r>
                    </a:p>
                  </a:txBody>
                  <a:tcPr marL="0" marR="0" marT="0" marB="0" anchor="ctr">
                    <a:solidFill>
                      <a:srgbClr val="D9D9D9"/>
                    </a:solidFill>
                  </a:tcPr>
                </a:tc>
                <a:tc>
                  <a:txBody>
                    <a:bodyPr/>
                    <a:lstStyle/>
                    <a:p>
                      <a:pPr algn="ctr" fontAlgn="b">
                        <a:buNone/>
                      </a:pPr>
                      <a:r>
                        <a:rPr lang="zh-CN" sz="800" b="0" i="0" u="none" strike="noStrike">
                          <a:solidFill>
                            <a:srgbClr val="000000"/>
                          </a:solidFill>
                          <a:effectLst/>
                          <a:latin typeface="+mn-ea"/>
                          <a:ea typeface="+mn-ea"/>
                        </a:rPr>
                        <a:t>4017.54</a:t>
                      </a:r>
                    </a:p>
                  </a:txBody>
                  <a:tcPr marL="0" marR="0" marT="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0.7</a:t>
                      </a:r>
                      <a:r>
                        <a:rPr lang="en-US" altLang="zh-CN" sz="800" b="0" i="0" u="none" strike="noStrike" dirty="0">
                          <a:solidFill>
                            <a:srgbClr val="000000"/>
                          </a:solidFill>
                          <a:effectLst/>
                          <a:latin typeface="+mn-ea"/>
                          <a:ea typeface="+mn-ea"/>
                        </a:rPr>
                        <a:t>1</a:t>
                      </a:r>
                      <a:endParaRPr lang="zh-CN" sz="800" b="0" i="0" u="none" strike="noStrike" dirty="0">
                        <a:solidFill>
                          <a:srgbClr val="000000"/>
                        </a:solidFill>
                        <a:effectLst/>
                        <a:latin typeface="+mn-ea"/>
                        <a:ea typeface="+mn-ea"/>
                      </a:endParaRPr>
                    </a:p>
                  </a:txBody>
                  <a:tcPr marL="0" marR="0" marT="0" marB="0" anchor="ctr">
                    <a:solidFill>
                      <a:srgbClr val="D9D9D9"/>
                    </a:solidFill>
                  </a:tcPr>
                </a:tc>
                <a:tc>
                  <a:txBody>
                    <a:bodyPr/>
                    <a:lstStyle/>
                    <a:p>
                      <a:pPr algn="ctr" fontAlgn="b"/>
                      <a:r>
                        <a:rPr lang="zh-CN" altLang="en-US" sz="800" b="0" i="0" u="none" strike="noStrike" dirty="0">
                          <a:solidFill>
                            <a:srgbClr val="000000"/>
                          </a:solidFill>
                          <a:effectLst/>
                          <a:latin typeface="+mn-ea"/>
                          <a:ea typeface="+mn-ea"/>
                        </a:rPr>
                        <a:t>科创版</a:t>
                      </a:r>
                    </a:p>
                  </a:txBody>
                  <a:tcPr marL="5368" marR="5368" marT="5368" marB="0" anchor="ctr">
                    <a:solidFill>
                      <a:srgbClr val="D9D9D9"/>
                    </a:solidFill>
                  </a:tcPr>
                </a:tc>
                <a:tc>
                  <a:txBody>
                    <a:bodyPr/>
                    <a:lstStyle/>
                    <a:p>
                      <a:pPr algn="ctr" fontAlgn="b"/>
                      <a:r>
                        <a:rPr lang="zh-CN" altLang="en-US" sz="800" b="0" i="0" u="none" strike="noStrike" dirty="0">
                          <a:solidFill>
                            <a:srgbClr val="000000"/>
                          </a:solidFill>
                          <a:effectLst/>
                          <a:latin typeface="+mn-ea"/>
                          <a:ea typeface="+mn-ea"/>
                        </a:rPr>
                        <a:t>上海</a:t>
                      </a:r>
                      <a:endParaRPr lang="en-US" altLang="zh-CN" sz="800" b="0" i="0" u="none" strike="noStrike" dirty="0">
                        <a:solidFill>
                          <a:srgbClr val="000000"/>
                        </a:solidFill>
                        <a:effectLst/>
                        <a:latin typeface="+mn-ea"/>
                        <a:ea typeface="+mn-ea"/>
                      </a:endParaRPr>
                    </a:p>
                  </a:txBody>
                  <a:tcPr marL="5368" marR="5368" marT="5368" marB="0" anchor="ctr">
                    <a:solidFill>
                      <a:srgbClr val="D9D9D9"/>
                    </a:solidFill>
                  </a:tcPr>
                </a:tc>
                <a:extLst>
                  <a:ext uri="{0D108BD9-81ED-4DB2-BD59-A6C34878D82A}">
                    <a16:rowId xmlns:a16="http://schemas.microsoft.com/office/drawing/2014/main" xmlns="" val="10008"/>
                  </a:ext>
                </a:extLst>
              </a:tr>
              <a:tr h="239778">
                <a:tc>
                  <a:txBody>
                    <a:bodyPr/>
                    <a:lstStyle/>
                    <a:p>
                      <a:pPr algn="ctr" fontAlgn="b">
                        <a:buNone/>
                      </a:pPr>
                      <a:r>
                        <a:rPr lang="zh-CN" sz="800" b="0" i="0" u="none" strike="noStrike" dirty="0">
                          <a:solidFill>
                            <a:srgbClr val="000000"/>
                          </a:solidFill>
                          <a:effectLst/>
                          <a:latin typeface="+mn-lt"/>
                          <a:ea typeface="宋体" panose="02010600030101010101" pitchFamily="2" charset="-122"/>
                        </a:rPr>
                        <a:t>000333.SZ</a:t>
                      </a:r>
                    </a:p>
                  </a:txBody>
                  <a:tcPr marL="7620" marR="7620" marT="7620" marB="0" anchor="ctr">
                    <a:noFill/>
                  </a:tcPr>
                </a:tc>
                <a:tc>
                  <a:txBody>
                    <a:bodyPr/>
                    <a:lstStyle/>
                    <a:p>
                      <a:pPr algn="ctr" fontAlgn="b">
                        <a:buNone/>
                      </a:pPr>
                      <a:r>
                        <a:rPr lang="zh-CN" sz="800" b="0" i="0" u="none" strike="noStrike" dirty="0">
                          <a:solidFill>
                            <a:srgbClr val="000000"/>
                          </a:solidFill>
                          <a:effectLst/>
                          <a:latin typeface="+mn-ea"/>
                          <a:ea typeface="+mn-ea"/>
                        </a:rPr>
                        <a:t>美的集团</a:t>
                      </a:r>
                    </a:p>
                  </a:txBody>
                  <a:tcPr marL="7620" marR="7620" marT="7620" marB="0" anchor="ctr">
                    <a:noFill/>
                  </a:tcPr>
                </a:tc>
                <a:tc>
                  <a:txBody>
                    <a:bodyPr/>
                    <a:lstStyle/>
                    <a:p>
                      <a:pPr marL="2540" algn="ctr">
                        <a:lnSpc>
                          <a:spcPct val="100000"/>
                        </a:lnSpc>
                        <a:spcBef>
                          <a:spcPts val="495"/>
                        </a:spcBef>
                      </a:pPr>
                      <a:r>
                        <a:rPr lang="zh-CN" altLang="en-US" sz="800" dirty="0">
                          <a:latin typeface="+mn-ea"/>
                          <a:ea typeface="+mn-ea"/>
                          <a:cs typeface="Arial Unicode MS"/>
                        </a:rPr>
                        <a:t>可选消费</a:t>
                      </a:r>
                      <a:endParaRPr sz="800" dirty="0">
                        <a:latin typeface="+mn-ea"/>
                        <a:ea typeface="+mn-ea"/>
                        <a:cs typeface="Arial Unicode MS"/>
                      </a:endParaRPr>
                    </a:p>
                  </a:txBody>
                  <a:tcPr marL="0" marR="0" marT="35429" marB="0" anchor="ctr">
                    <a:noFill/>
                  </a:tcPr>
                </a:tc>
                <a:tc>
                  <a:txBody>
                    <a:bodyPr/>
                    <a:lstStyle/>
                    <a:p>
                      <a:pPr algn="ctr" fontAlgn="b">
                        <a:buNone/>
                      </a:pPr>
                      <a:r>
                        <a:rPr lang="zh-CN" sz="800" b="0" i="0" u="none" strike="noStrike">
                          <a:solidFill>
                            <a:srgbClr val="000000"/>
                          </a:solidFill>
                          <a:effectLst/>
                          <a:latin typeface="+mn-ea"/>
                          <a:ea typeface="+mn-ea"/>
                        </a:rPr>
                        <a:t>6154.35</a:t>
                      </a:r>
                    </a:p>
                  </a:txBody>
                  <a:tcPr marL="0" marR="0" marT="0" marB="0" anchor="ctr">
                    <a:noFill/>
                  </a:tcPr>
                </a:tc>
                <a:tc>
                  <a:txBody>
                    <a:bodyPr/>
                    <a:lstStyle/>
                    <a:p>
                      <a:pPr algn="ctr" fontAlgn="b">
                        <a:buNone/>
                      </a:pPr>
                      <a:r>
                        <a:rPr lang="zh-CN" sz="800" b="0" i="0" u="none" strike="noStrike">
                          <a:solidFill>
                            <a:srgbClr val="000000"/>
                          </a:solidFill>
                          <a:effectLst/>
                          <a:latin typeface="+mn-ea"/>
                          <a:ea typeface="+mn-ea"/>
                        </a:rPr>
                        <a:t>3793.46</a:t>
                      </a:r>
                    </a:p>
                  </a:txBody>
                  <a:tcPr marL="0" marR="0" marT="0" marB="0" anchor="ctr">
                    <a:noFill/>
                  </a:tcPr>
                </a:tc>
                <a:tc>
                  <a:txBody>
                    <a:bodyPr/>
                    <a:lstStyle/>
                    <a:p>
                      <a:pPr algn="ctr" fontAlgn="b">
                        <a:buNone/>
                      </a:pPr>
                      <a:r>
                        <a:rPr lang="zh-CN" sz="800" b="0" i="0" u="none" strike="noStrike" dirty="0">
                          <a:solidFill>
                            <a:srgbClr val="000000"/>
                          </a:solidFill>
                          <a:effectLst/>
                          <a:latin typeface="+mn-ea"/>
                          <a:ea typeface="+mn-ea"/>
                        </a:rPr>
                        <a:t>0.68</a:t>
                      </a:r>
                    </a:p>
                  </a:txBody>
                  <a:tcPr marL="0" marR="0" marT="0" marB="0" anchor="ctr">
                    <a:noFill/>
                  </a:tcPr>
                </a:tc>
                <a:tc>
                  <a:txBody>
                    <a:bodyPr/>
                    <a:lstStyle/>
                    <a:p>
                      <a:pPr algn="ctr" fontAlgn="b"/>
                      <a:r>
                        <a:rPr lang="zh-CN" altLang="en-US" sz="800" b="0" i="0" u="none" strike="noStrike" dirty="0">
                          <a:solidFill>
                            <a:srgbClr val="000000"/>
                          </a:solidFill>
                          <a:effectLst/>
                          <a:latin typeface="+mn-ea"/>
                          <a:ea typeface="+mn-ea"/>
                        </a:rPr>
                        <a:t>主板</a:t>
                      </a:r>
                    </a:p>
                  </a:txBody>
                  <a:tcPr marL="5368" marR="5368" marT="5368" marB="0" anchor="ctr">
                    <a:noFill/>
                  </a:tcPr>
                </a:tc>
                <a:tc>
                  <a:txBody>
                    <a:bodyPr/>
                    <a:lstStyle/>
                    <a:p>
                      <a:pPr algn="ctr" fontAlgn="b"/>
                      <a:r>
                        <a:rPr lang="zh-CN" altLang="en-US" sz="800" b="0" i="0" u="none" strike="noStrike" dirty="0">
                          <a:solidFill>
                            <a:srgbClr val="000000"/>
                          </a:solidFill>
                          <a:effectLst/>
                          <a:latin typeface="+mn-ea"/>
                          <a:ea typeface="+mn-ea"/>
                        </a:rPr>
                        <a:t>深圳</a:t>
                      </a:r>
                      <a:endParaRPr lang="en-US" altLang="zh-CN" sz="800" b="0" i="0" u="none" strike="noStrike" dirty="0">
                        <a:solidFill>
                          <a:srgbClr val="000000"/>
                        </a:solidFill>
                        <a:effectLst/>
                        <a:latin typeface="+mn-ea"/>
                        <a:ea typeface="+mn-ea"/>
                      </a:endParaRPr>
                    </a:p>
                  </a:txBody>
                  <a:tcPr marL="5368" marR="5368" marT="5368" marB="0" anchor="ctr">
                    <a:noFill/>
                  </a:tcPr>
                </a:tc>
                <a:extLst>
                  <a:ext uri="{0D108BD9-81ED-4DB2-BD59-A6C34878D82A}">
                    <a16:rowId xmlns:a16="http://schemas.microsoft.com/office/drawing/2014/main" xmlns="" val="10009"/>
                  </a:ext>
                </a:extLst>
              </a:tr>
              <a:tr h="239778">
                <a:tc>
                  <a:txBody>
                    <a:bodyPr/>
                    <a:lstStyle/>
                    <a:p>
                      <a:pPr algn="ctr" fontAlgn="b">
                        <a:buNone/>
                      </a:pPr>
                      <a:r>
                        <a:rPr lang="zh-CN" sz="800" b="0" i="0" u="none" strike="noStrike" dirty="0">
                          <a:solidFill>
                            <a:srgbClr val="000000"/>
                          </a:solidFill>
                          <a:effectLst/>
                          <a:latin typeface="+mn-lt"/>
                          <a:ea typeface="宋体" panose="02010600030101010101" pitchFamily="2" charset="-122"/>
                        </a:rPr>
                        <a:t>002475.SZ</a:t>
                      </a:r>
                    </a:p>
                  </a:txBody>
                  <a:tcPr marL="7620" marR="7620" marT="762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立讯精密</a:t>
                      </a:r>
                    </a:p>
                  </a:txBody>
                  <a:tcPr marL="7620" marR="7620" marT="7620" marB="0" anchor="ctr">
                    <a:solidFill>
                      <a:srgbClr val="D9D9D9"/>
                    </a:solidFill>
                  </a:tcPr>
                </a:tc>
                <a:tc>
                  <a:txBody>
                    <a:bodyPr/>
                    <a:lstStyle/>
                    <a:p>
                      <a:pPr marL="2540" algn="ctr">
                        <a:lnSpc>
                          <a:spcPct val="100000"/>
                        </a:lnSpc>
                        <a:spcBef>
                          <a:spcPts val="495"/>
                        </a:spcBef>
                      </a:pPr>
                      <a:r>
                        <a:rPr lang="zh-CN" altLang="en-US" sz="800" dirty="0">
                          <a:latin typeface="+mn-ea"/>
                          <a:ea typeface="+mn-ea"/>
                          <a:cs typeface="Arial Unicode MS"/>
                        </a:rPr>
                        <a:t>信息技术</a:t>
                      </a:r>
                      <a:endParaRPr sz="800" dirty="0">
                        <a:latin typeface="+mn-ea"/>
                        <a:ea typeface="+mn-ea"/>
                        <a:cs typeface="Arial Unicode MS"/>
                      </a:endParaRPr>
                    </a:p>
                  </a:txBody>
                  <a:tcPr marL="0" marR="0" marT="35429"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5339.9</a:t>
                      </a:r>
                    </a:p>
                  </a:txBody>
                  <a:tcPr marL="0" marR="0" marT="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3325.71</a:t>
                      </a:r>
                    </a:p>
                  </a:txBody>
                  <a:tcPr marL="0" marR="0" marT="0" marB="0" anchor="ctr">
                    <a:solidFill>
                      <a:srgbClr val="D9D9D9"/>
                    </a:solidFill>
                  </a:tcPr>
                </a:tc>
                <a:tc>
                  <a:txBody>
                    <a:bodyPr/>
                    <a:lstStyle/>
                    <a:p>
                      <a:pPr algn="ctr" fontAlgn="b">
                        <a:buNone/>
                      </a:pPr>
                      <a:r>
                        <a:rPr lang="zh-CN" sz="800" b="0" i="0" u="none" strike="noStrike" dirty="0">
                          <a:solidFill>
                            <a:srgbClr val="000000"/>
                          </a:solidFill>
                          <a:effectLst/>
                          <a:latin typeface="+mn-ea"/>
                          <a:ea typeface="+mn-ea"/>
                        </a:rPr>
                        <a:t>0.64</a:t>
                      </a:r>
                    </a:p>
                  </a:txBody>
                  <a:tcPr marL="0" marR="0" marT="0" marB="0" anchor="ctr">
                    <a:solidFill>
                      <a:srgbClr val="D9D9D9"/>
                    </a:solidFill>
                  </a:tcPr>
                </a:tc>
                <a:tc>
                  <a:txBody>
                    <a:bodyPr/>
                    <a:lstStyle/>
                    <a:p>
                      <a:pPr algn="ctr" fontAlgn="b"/>
                      <a:r>
                        <a:rPr lang="zh-CN" altLang="en-US" sz="800" b="0" i="0" u="none" strike="noStrike" dirty="0">
                          <a:solidFill>
                            <a:srgbClr val="000000"/>
                          </a:solidFill>
                          <a:effectLst/>
                          <a:latin typeface="+mn-ea"/>
                          <a:ea typeface="+mn-ea"/>
                        </a:rPr>
                        <a:t>主板</a:t>
                      </a:r>
                    </a:p>
                  </a:txBody>
                  <a:tcPr marL="5368" marR="5368" marT="5368" marB="0" anchor="ctr">
                    <a:solidFill>
                      <a:srgbClr val="D9D9D9"/>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defRPr/>
                      </a:pPr>
                      <a:r>
                        <a:rPr lang="zh-CN" altLang="en-US" sz="800" b="0" i="0" u="none" strike="noStrike" dirty="0">
                          <a:solidFill>
                            <a:srgbClr val="000000"/>
                          </a:solidFill>
                          <a:effectLst/>
                          <a:latin typeface="+mn-ea"/>
                          <a:ea typeface="+mn-ea"/>
                        </a:rPr>
                        <a:t>深圳</a:t>
                      </a:r>
                      <a:endParaRPr lang="en-US" altLang="zh-CN" sz="800" b="0" i="0" u="none" strike="noStrike" dirty="0">
                        <a:solidFill>
                          <a:srgbClr val="000000"/>
                        </a:solidFill>
                        <a:effectLst/>
                        <a:latin typeface="+mn-ea"/>
                        <a:ea typeface="+mn-ea"/>
                      </a:endParaRPr>
                    </a:p>
                  </a:txBody>
                  <a:tcPr marL="5368" marR="5368" marT="5368" marB="0" anchor="ctr">
                    <a:solidFill>
                      <a:srgbClr val="D9D9D9"/>
                    </a:solidFill>
                  </a:tcPr>
                </a:tc>
                <a:extLst>
                  <a:ext uri="{0D108BD9-81ED-4DB2-BD59-A6C34878D82A}">
                    <a16:rowId xmlns:a16="http://schemas.microsoft.com/office/drawing/2014/main" xmlns="" val="10010"/>
                  </a:ext>
                </a:extLst>
              </a:tr>
            </a:tbl>
          </a:graphicData>
        </a:graphic>
      </p:graphicFrame>
      <p:sp>
        <p:nvSpPr>
          <p:cNvPr id="10" name="文本框 9"/>
          <p:cNvSpPr txBox="1"/>
          <p:nvPr/>
        </p:nvSpPr>
        <p:spPr>
          <a:xfrm>
            <a:off x="416928" y="927315"/>
            <a:ext cx="10940883" cy="1497654"/>
          </a:xfrm>
          <a:prstGeom prst="rect">
            <a:avLst/>
          </a:prstGeom>
          <a:noFill/>
        </p:spPr>
        <p:txBody>
          <a:bodyPr wrap="square">
            <a:spAutoFit/>
          </a:bodyPr>
          <a:lstStyle/>
          <a:p>
            <a:pPr marL="342900" indent="-342900">
              <a:lnSpc>
                <a:spcPct val="130000"/>
              </a:lnSpc>
              <a:spcBef>
                <a:spcPts val="0"/>
              </a:spcBef>
              <a:buClr>
                <a:srgbClr val="002060"/>
              </a:buClr>
              <a:buFont typeface="Wingdings" panose="05000000000000000000" pitchFamily="2" charset="2"/>
              <a:buChar char="n"/>
            </a:pPr>
            <a:endParaRPr kumimoji="1" lang="en-US" altLang="zh-CN" sz="1800" dirty="0">
              <a:latin typeface="+mj-ea"/>
              <a:ea typeface="+mj-ea"/>
            </a:endParaRPr>
          </a:p>
          <a:p>
            <a:pPr marL="342900" indent="-342900">
              <a:lnSpc>
                <a:spcPct val="130000"/>
              </a:lnSpc>
              <a:spcBef>
                <a:spcPts val="0"/>
              </a:spcBef>
              <a:buClr>
                <a:srgbClr val="002060"/>
              </a:buClr>
              <a:buFont typeface="Wingdings" panose="05000000000000000000" pitchFamily="2" charset="2"/>
              <a:buChar char="n"/>
            </a:pPr>
            <a:r>
              <a:rPr lang="zh-CN" altLang="en-US" sz="1800" dirty="0">
                <a:solidFill>
                  <a:srgbClr val="000000"/>
                </a:solidFill>
                <a:latin typeface="+mj-ea"/>
                <a:ea typeface="+mj-ea"/>
              </a:rPr>
              <a:t>成分股市值分布合理，其中</a:t>
            </a:r>
            <a:r>
              <a:rPr lang="en-US" altLang="zh-CN" dirty="0">
                <a:solidFill>
                  <a:srgbClr val="000000"/>
                </a:solidFill>
                <a:latin typeface="+mj-ea"/>
                <a:ea typeface="+mj-ea"/>
              </a:rPr>
              <a:t>42</a:t>
            </a:r>
            <a:r>
              <a:rPr lang="en-US" altLang="zh-CN" sz="1800" dirty="0">
                <a:solidFill>
                  <a:srgbClr val="000000"/>
                </a:solidFill>
                <a:latin typeface="+mj-ea"/>
                <a:ea typeface="+mj-ea"/>
              </a:rPr>
              <a:t>.52%</a:t>
            </a:r>
            <a:r>
              <a:rPr lang="zh-CN" altLang="en-US" sz="1800" dirty="0">
                <a:solidFill>
                  <a:srgbClr val="000000"/>
                </a:solidFill>
                <a:latin typeface="+mj-ea"/>
                <a:ea typeface="+mj-ea"/>
              </a:rPr>
              <a:t>权重聚焦于千亿市值龙头，</a:t>
            </a:r>
            <a:r>
              <a:rPr lang="en-US" altLang="zh-CN" dirty="0">
                <a:solidFill>
                  <a:srgbClr val="000000"/>
                </a:solidFill>
                <a:latin typeface="+mj-ea"/>
                <a:ea typeface="+mj-ea"/>
              </a:rPr>
              <a:t>14</a:t>
            </a:r>
            <a:r>
              <a:rPr lang="en-US" altLang="zh-CN" sz="1800" dirty="0">
                <a:solidFill>
                  <a:srgbClr val="000000"/>
                </a:solidFill>
                <a:latin typeface="+mj-ea"/>
                <a:ea typeface="+mj-ea"/>
              </a:rPr>
              <a:t>.76%</a:t>
            </a:r>
            <a:r>
              <a:rPr lang="zh-CN" altLang="en-US" sz="1800" dirty="0">
                <a:solidFill>
                  <a:srgbClr val="000000"/>
                </a:solidFill>
                <a:latin typeface="+mj-ea"/>
                <a:ea typeface="+mj-ea"/>
              </a:rPr>
              <a:t>权重覆盖市值百亿以下的高弹性小盘股，龙头与成长兼备。</a:t>
            </a:r>
          </a:p>
          <a:p>
            <a:pPr marL="342900" indent="-342900">
              <a:lnSpc>
                <a:spcPct val="130000"/>
              </a:lnSpc>
              <a:spcBef>
                <a:spcPts val="0"/>
              </a:spcBef>
              <a:buClr>
                <a:srgbClr val="002060"/>
              </a:buClr>
              <a:buFont typeface="Wingdings" panose="05000000000000000000" pitchFamily="2" charset="2"/>
              <a:buChar char="n"/>
            </a:pPr>
            <a:endParaRPr lang="zh-CN" altLang="en-US" sz="1800" dirty="0">
              <a:solidFill>
                <a:srgbClr val="000000"/>
              </a:solidFill>
              <a:latin typeface="+mj-ea"/>
              <a:ea typeface="+mj-ea"/>
            </a:endParaRPr>
          </a:p>
        </p:txBody>
      </p:sp>
      <p:sp>
        <p:nvSpPr>
          <p:cNvPr id="13" name="矩形 12"/>
          <p:cNvSpPr/>
          <p:nvPr/>
        </p:nvSpPr>
        <p:spPr>
          <a:xfrm>
            <a:off x="1988070" y="2425633"/>
            <a:ext cx="2859007" cy="307777"/>
          </a:xfrm>
          <a:prstGeom prst="rect">
            <a:avLst/>
          </a:prstGeom>
        </p:spPr>
        <p:txBody>
          <a:bodyPr wrap="square">
            <a:spAutoFit/>
          </a:bodyPr>
          <a:lstStyle/>
          <a:p>
            <a:pPr algn="ctr" defTabSz="914400" eaLnBrk="1" fontAlgn="auto" hangingPunct="1">
              <a:spcBef>
                <a:spcPts val="0"/>
              </a:spcBef>
              <a:spcAft>
                <a:spcPts val="0"/>
              </a:spcAft>
              <a:defRPr sz="1400" b="0" i="0" u="none" strike="noStrike" kern="1200" spc="0" baseline="0">
                <a:solidFill>
                  <a:srgbClr val="000000"/>
                </a:solidFill>
                <a:latin typeface="+mn-lt"/>
                <a:ea typeface="+mn-ea"/>
                <a:cs typeface="+mn-cs"/>
              </a:defRPr>
            </a:pPr>
            <a:r>
              <a:rPr lang="zh-CN" altLang="en-US" sz="1400" dirty="0">
                <a:solidFill>
                  <a:prstClr val="black">
                    <a:lumMod val="65000"/>
                    <a:lumOff val="35000"/>
                  </a:prstClr>
                </a:solidFill>
              </a:rPr>
              <a:t>中证全指指数上市交易所权重分布</a:t>
            </a:r>
            <a:endParaRPr lang="zh-CN" altLang="en-US" sz="1400" dirty="0">
              <a:solidFill>
                <a:srgbClr val="000000"/>
              </a:solidFill>
              <a:latin typeface="Arial" panose="020B0604020202020204"/>
              <a:ea typeface="黑体" panose="02010609060101010101" pitchFamily="49" charset="-122"/>
            </a:endParaRPr>
          </a:p>
        </p:txBody>
      </p:sp>
      <p:graphicFrame>
        <p:nvGraphicFramePr>
          <p:cNvPr id="3" name="图表 2">
            <a:extLst>
              <a:ext uri="{FF2B5EF4-FFF2-40B4-BE49-F238E27FC236}">
                <a16:creationId xmlns:a16="http://schemas.microsoft.com/office/drawing/2014/main" xmlns="" id="{0BFB4C97-26DF-7609-3899-2096DCCA3080}"/>
              </a:ext>
            </a:extLst>
          </p:cNvPr>
          <p:cNvGraphicFramePr>
            <a:graphicFrameLocks/>
          </p:cNvGraphicFramePr>
          <p:nvPr>
            <p:extLst>
              <p:ext uri="{D42A27DB-BD31-4B8C-83A1-F6EECF244321}">
                <p14:modId xmlns:p14="http://schemas.microsoft.com/office/powerpoint/2010/main" val="3944105296"/>
              </p:ext>
            </p:extLst>
          </p:nvPr>
        </p:nvGraphicFramePr>
        <p:xfrm>
          <a:off x="6393180" y="2387277"/>
          <a:ext cx="5275962" cy="320044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814" y="242221"/>
            <a:ext cx="10515600" cy="448994"/>
          </a:xfrm>
        </p:spPr>
        <p:txBody>
          <a:bodyPr>
            <a:noAutofit/>
          </a:bodyPr>
          <a:lstStyle/>
          <a:p>
            <a:r>
              <a:rPr lang="en-US" altLang="zh-CN" dirty="0">
                <a:solidFill>
                  <a:srgbClr val="EA5838"/>
                </a:solidFill>
              </a:rPr>
              <a:t>3</a:t>
            </a:r>
            <a:r>
              <a:rPr lang="zh-CN" altLang="en-US" dirty="0">
                <a:solidFill>
                  <a:srgbClr val="EA5838"/>
                </a:solidFill>
              </a:rPr>
              <a:t>、收益空间：</a:t>
            </a:r>
            <a:r>
              <a:rPr lang="zh-CN" altLang="en-US" dirty="0"/>
              <a:t>弹性较大，配置价值高</a:t>
            </a:r>
          </a:p>
        </p:txBody>
      </p:sp>
      <p:sp>
        <p:nvSpPr>
          <p:cNvPr id="3" name="副标题 2"/>
          <p:cNvSpPr>
            <a:spLocks noGrp="1"/>
          </p:cNvSpPr>
          <p:nvPr>
            <p:ph type="subTitle" idx="1"/>
          </p:nvPr>
        </p:nvSpPr>
        <p:spPr>
          <a:xfrm>
            <a:off x="569341" y="906083"/>
            <a:ext cx="6046251" cy="3113595"/>
          </a:xfrm>
          <a:solidFill>
            <a:schemeClr val="accent1">
              <a:lumMod val="20000"/>
              <a:lumOff val="80000"/>
            </a:schemeClr>
          </a:solidFill>
        </p:spPr>
        <p:txBody>
          <a:bodyPr/>
          <a:lstStyle/>
          <a:p>
            <a:r>
              <a:rPr lang="zh-CN" altLang="en-US" b="0" i="0" dirty="0">
                <a:solidFill>
                  <a:srgbClr val="1A1A1A"/>
                </a:solidFill>
                <a:effectLst/>
                <a:latin typeface="微软雅黑" panose="020B0503020204020204" pitchFamily="34" charset="-122"/>
                <a:ea typeface="微软雅黑" panose="020B0503020204020204" pitchFamily="34" charset="-122"/>
              </a:rPr>
              <a:t>基日以来截至当前，中证全指已经历</a:t>
            </a:r>
            <a:r>
              <a:rPr lang="en-US" altLang="zh-CN" b="0" i="0" dirty="0">
                <a:solidFill>
                  <a:srgbClr val="1A1A1A"/>
                </a:solidFill>
                <a:effectLst/>
                <a:latin typeface="微软雅黑" panose="020B0503020204020204" pitchFamily="34" charset="-122"/>
                <a:ea typeface="微软雅黑" panose="020B0503020204020204" pitchFamily="34" charset="-122"/>
              </a:rPr>
              <a:t>5</a:t>
            </a:r>
            <a:r>
              <a:rPr lang="zh-CN" altLang="en-US" b="0" i="0" dirty="0">
                <a:solidFill>
                  <a:srgbClr val="1A1A1A"/>
                </a:solidFill>
                <a:effectLst/>
                <a:latin typeface="微软雅黑" panose="020B0503020204020204" pitchFamily="34" charset="-122"/>
                <a:ea typeface="微软雅黑" panose="020B0503020204020204" pitchFamily="34" charset="-122"/>
              </a:rPr>
              <a:t>轮大幅波动，从涨跌幅度看，在市场整体上涨期间，指数上涨弹性较大。数据显示， </a:t>
            </a:r>
            <a:r>
              <a:rPr lang="en-US" altLang="zh-CN" b="0" i="0" dirty="0">
                <a:solidFill>
                  <a:srgbClr val="1A1A1A"/>
                </a:solidFill>
                <a:effectLst/>
                <a:latin typeface="微软雅黑" panose="020B0503020204020204" pitchFamily="34" charset="-122"/>
                <a:ea typeface="微软雅黑" panose="020B0503020204020204" pitchFamily="34" charset="-122"/>
              </a:rPr>
              <a:t>2014</a:t>
            </a:r>
            <a:r>
              <a:rPr lang="zh-CN" altLang="en-US" b="0" i="0" dirty="0">
                <a:solidFill>
                  <a:srgbClr val="1A1A1A"/>
                </a:solidFill>
                <a:effectLst/>
                <a:latin typeface="微软雅黑" panose="020B0503020204020204" pitchFamily="34" charset="-122"/>
                <a:ea typeface="微软雅黑" panose="020B0503020204020204" pitchFamily="34" charset="-122"/>
              </a:rPr>
              <a:t>年</a:t>
            </a:r>
            <a:r>
              <a:rPr lang="en-US" altLang="zh-CN" b="0" i="0" dirty="0">
                <a:solidFill>
                  <a:srgbClr val="1A1A1A"/>
                </a:solidFill>
                <a:effectLst/>
                <a:latin typeface="微软雅黑" panose="020B0503020204020204" pitchFamily="34" charset="-122"/>
                <a:ea typeface="微软雅黑" panose="020B0503020204020204" pitchFamily="34" charset="-122"/>
              </a:rPr>
              <a:t>5</a:t>
            </a:r>
            <a:r>
              <a:rPr lang="zh-CN" altLang="en-US" b="0" i="0" dirty="0">
                <a:solidFill>
                  <a:srgbClr val="1A1A1A"/>
                </a:solidFill>
                <a:effectLst/>
                <a:latin typeface="微软雅黑" panose="020B0503020204020204" pitchFamily="34" charset="-122"/>
                <a:ea typeface="微软雅黑" panose="020B0503020204020204" pitchFamily="34" charset="-122"/>
              </a:rPr>
              <a:t>月</a:t>
            </a:r>
            <a:r>
              <a:rPr lang="en-US" altLang="zh-CN" b="0" i="0" dirty="0">
                <a:solidFill>
                  <a:srgbClr val="1A1A1A"/>
                </a:solidFill>
                <a:effectLst/>
                <a:latin typeface="微软雅黑" panose="020B0503020204020204" pitchFamily="34" charset="-122"/>
                <a:ea typeface="微软雅黑" panose="020B0503020204020204" pitchFamily="34" charset="-122"/>
              </a:rPr>
              <a:t>19</a:t>
            </a:r>
            <a:r>
              <a:rPr lang="zh-CN" altLang="en-US" b="0" i="0" dirty="0">
                <a:solidFill>
                  <a:srgbClr val="1A1A1A"/>
                </a:solidFill>
                <a:effectLst/>
                <a:latin typeface="微软雅黑" panose="020B0503020204020204" pitchFamily="34" charset="-122"/>
                <a:ea typeface="微软雅黑" panose="020B0503020204020204" pitchFamily="34" charset="-122"/>
              </a:rPr>
              <a:t>日至</a:t>
            </a:r>
            <a:r>
              <a:rPr lang="en-US" altLang="zh-CN" b="0" i="0" dirty="0">
                <a:solidFill>
                  <a:srgbClr val="1A1A1A"/>
                </a:solidFill>
                <a:effectLst/>
                <a:latin typeface="微软雅黑" panose="020B0503020204020204" pitchFamily="34" charset="-122"/>
                <a:ea typeface="微软雅黑" panose="020B0503020204020204" pitchFamily="34" charset="-122"/>
              </a:rPr>
              <a:t>2015</a:t>
            </a:r>
            <a:r>
              <a:rPr lang="zh-CN" altLang="en-US" b="0" i="0" dirty="0">
                <a:solidFill>
                  <a:srgbClr val="1A1A1A"/>
                </a:solidFill>
                <a:effectLst/>
                <a:latin typeface="微软雅黑" panose="020B0503020204020204" pitchFamily="34" charset="-122"/>
                <a:ea typeface="微软雅黑" panose="020B0503020204020204" pitchFamily="34" charset="-122"/>
              </a:rPr>
              <a:t>年</a:t>
            </a:r>
            <a:r>
              <a:rPr lang="en-US" altLang="zh-CN" b="0" i="0" dirty="0">
                <a:solidFill>
                  <a:srgbClr val="1A1A1A"/>
                </a:solidFill>
                <a:effectLst/>
                <a:latin typeface="微软雅黑" panose="020B0503020204020204" pitchFamily="34" charset="-122"/>
                <a:ea typeface="微软雅黑" panose="020B0503020204020204" pitchFamily="34" charset="-122"/>
              </a:rPr>
              <a:t>6</a:t>
            </a:r>
            <a:r>
              <a:rPr lang="zh-CN" altLang="en-US" b="0" i="0" dirty="0">
                <a:solidFill>
                  <a:srgbClr val="1A1A1A"/>
                </a:solidFill>
                <a:effectLst/>
                <a:latin typeface="微软雅黑" panose="020B0503020204020204" pitchFamily="34" charset="-122"/>
                <a:ea typeface="微软雅黑" panose="020B0503020204020204" pitchFamily="34" charset="-122"/>
              </a:rPr>
              <a:t>月</a:t>
            </a:r>
            <a:r>
              <a:rPr lang="en-US" altLang="zh-CN" b="0" i="0" dirty="0">
                <a:solidFill>
                  <a:srgbClr val="1A1A1A"/>
                </a:solidFill>
                <a:effectLst/>
                <a:latin typeface="微软雅黑" panose="020B0503020204020204" pitchFamily="34" charset="-122"/>
                <a:ea typeface="微软雅黑" panose="020B0503020204020204" pitchFamily="34" charset="-122"/>
              </a:rPr>
              <a:t>12</a:t>
            </a:r>
            <a:r>
              <a:rPr lang="zh-CN" altLang="en-US" b="0" i="0" dirty="0">
                <a:solidFill>
                  <a:srgbClr val="1A1A1A"/>
                </a:solidFill>
                <a:effectLst/>
                <a:latin typeface="微软雅黑" panose="020B0503020204020204" pitchFamily="34" charset="-122"/>
                <a:ea typeface="微软雅黑" panose="020B0503020204020204" pitchFamily="34" charset="-122"/>
              </a:rPr>
              <a:t>日，涨幅达到了</a:t>
            </a:r>
            <a:r>
              <a:rPr lang="en-US" altLang="zh-CN" b="0" i="0" dirty="0">
                <a:solidFill>
                  <a:srgbClr val="1A1A1A"/>
                </a:solidFill>
                <a:effectLst/>
                <a:latin typeface="微软雅黑" panose="020B0503020204020204" pitchFamily="34" charset="-122"/>
                <a:ea typeface="微软雅黑" panose="020B0503020204020204" pitchFamily="34" charset="-122"/>
              </a:rPr>
              <a:t>189.26%</a:t>
            </a:r>
            <a:r>
              <a:rPr lang="zh-CN" altLang="en-US" b="0" i="0" dirty="0">
                <a:solidFill>
                  <a:srgbClr val="1A1A1A"/>
                </a:solidFill>
                <a:effectLst/>
                <a:latin typeface="微软雅黑" panose="020B0503020204020204" pitchFamily="34" charset="-122"/>
                <a:ea typeface="微软雅黑" panose="020B0503020204020204" pitchFamily="34" charset="-122"/>
              </a:rPr>
              <a:t>，而</a:t>
            </a:r>
            <a:r>
              <a:rPr lang="en-US" altLang="zh-CN" b="0" i="0" dirty="0">
                <a:solidFill>
                  <a:srgbClr val="1A1A1A"/>
                </a:solidFill>
                <a:effectLst/>
                <a:latin typeface="微软雅黑" panose="020B0503020204020204" pitchFamily="34" charset="-122"/>
                <a:ea typeface="微软雅黑" panose="020B0503020204020204" pitchFamily="34" charset="-122"/>
              </a:rPr>
              <a:t>2006</a:t>
            </a:r>
            <a:r>
              <a:rPr lang="zh-CN" altLang="en-US" b="0" i="0" dirty="0">
                <a:solidFill>
                  <a:srgbClr val="1A1A1A"/>
                </a:solidFill>
                <a:effectLst/>
                <a:latin typeface="微软雅黑" panose="020B0503020204020204" pitchFamily="34" charset="-122"/>
                <a:ea typeface="微软雅黑" panose="020B0503020204020204" pitchFamily="34" charset="-122"/>
              </a:rPr>
              <a:t>年</a:t>
            </a:r>
            <a:r>
              <a:rPr lang="en-US" altLang="zh-CN" b="0" i="0" dirty="0">
                <a:solidFill>
                  <a:srgbClr val="1A1A1A"/>
                </a:solidFill>
                <a:effectLst/>
                <a:latin typeface="微软雅黑" panose="020B0503020204020204" pitchFamily="34" charset="-122"/>
                <a:ea typeface="微软雅黑" panose="020B0503020204020204" pitchFamily="34" charset="-122"/>
              </a:rPr>
              <a:t>1</a:t>
            </a:r>
            <a:r>
              <a:rPr lang="zh-CN" altLang="en-US" b="0" i="0" dirty="0">
                <a:solidFill>
                  <a:srgbClr val="1A1A1A"/>
                </a:solidFill>
                <a:effectLst/>
                <a:latin typeface="微软雅黑" panose="020B0503020204020204" pitchFamily="34" charset="-122"/>
                <a:ea typeface="微软雅黑" panose="020B0503020204020204" pitchFamily="34" charset="-122"/>
              </a:rPr>
              <a:t>月</a:t>
            </a:r>
            <a:r>
              <a:rPr lang="en-US" altLang="zh-CN" b="0" i="0" dirty="0">
                <a:solidFill>
                  <a:srgbClr val="1A1A1A"/>
                </a:solidFill>
                <a:effectLst/>
                <a:latin typeface="微软雅黑" panose="020B0503020204020204" pitchFamily="34" charset="-122"/>
                <a:ea typeface="微软雅黑" panose="020B0503020204020204" pitchFamily="34" charset="-122"/>
              </a:rPr>
              <a:t>4</a:t>
            </a:r>
            <a:r>
              <a:rPr lang="zh-CN" altLang="en-US" b="0" i="0" dirty="0">
                <a:solidFill>
                  <a:srgbClr val="1A1A1A"/>
                </a:solidFill>
                <a:effectLst/>
                <a:latin typeface="微软雅黑" panose="020B0503020204020204" pitchFamily="34" charset="-122"/>
                <a:ea typeface="微软雅黑" panose="020B0503020204020204" pitchFamily="34" charset="-122"/>
              </a:rPr>
              <a:t>日至</a:t>
            </a:r>
            <a:r>
              <a:rPr lang="en-US" altLang="zh-CN" b="0" i="0" dirty="0">
                <a:solidFill>
                  <a:srgbClr val="1A1A1A"/>
                </a:solidFill>
                <a:effectLst/>
                <a:latin typeface="微软雅黑" panose="020B0503020204020204" pitchFamily="34" charset="-122"/>
                <a:ea typeface="微软雅黑" panose="020B0503020204020204" pitchFamily="34" charset="-122"/>
              </a:rPr>
              <a:t>2007</a:t>
            </a:r>
            <a:r>
              <a:rPr lang="zh-CN" altLang="en-US" b="0" i="0" dirty="0">
                <a:solidFill>
                  <a:srgbClr val="1A1A1A"/>
                </a:solidFill>
                <a:effectLst/>
                <a:latin typeface="微软雅黑" panose="020B0503020204020204" pitchFamily="34" charset="-122"/>
                <a:ea typeface="微软雅黑" panose="020B0503020204020204" pitchFamily="34" charset="-122"/>
              </a:rPr>
              <a:t>年</a:t>
            </a:r>
            <a:r>
              <a:rPr lang="en-US" altLang="zh-CN" b="0" i="0" dirty="0">
                <a:solidFill>
                  <a:srgbClr val="1A1A1A"/>
                </a:solidFill>
                <a:effectLst/>
                <a:latin typeface="微软雅黑" panose="020B0503020204020204" pitchFamily="34" charset="-122"/>
                <a:ea typeface="微软雅黑" panose="020B0503020204020204" pitchFamily="34" charset="-122"/>
              </a:rPr>
              <a:t>10</a:t>
            </a:r>
            <a:r>
              <a:rPr lang="zh-CN" altLang="en-US" b="0" i="0" dirty="0">
                <a:solidFill>
                  <a:srgbClr val="1A1A1A"/>
                </a:solidFill>
                <a:effectLst/>
                <a:latin typeface="微软雅黑" panose="020B0503020204020204" pitchFamily="34" charset="-122"/>
                <a:ea typeface="微软雅黑" panose="020B0503020204020204" pitchFamily="34" charset="-122"/>
              </a:rPr>
              <a:t>月</a:t>
            </a:r>
            <a:r>
              <a:rPr lang="en-US" altLang="zh-CN" b="0" i="0" dirty="0">
                <a:solidFill>
                  <a:srgbClr val="1A1A1A"/>
                </a:solidFill>
                <a:effectLst/>
                <a:latin typeface="微软雅黑" panose="020B0503020204020204" pitchFamily="34" charset="-122"/>
                <a:ea typeface="微软雅黑" panose="020B0503020204020204" pitchFamily="34" charset="-122"/>
              </a:rPr>
              <a:t>16</a:t>
            </a:r>
            <a:r>
              <a:rPr lang="zh-CN" altLang="en-US" b="0" i="0" dirty="0">
                <a:solidFill>
                  <a:srgbClr val="1A1A1A"/>
                </a:solidFill>
                <a:effectLst/>
                <a:latin typeface="微软雅黑" panose="020B0503020204020204" pitchFamily="34" charset="-122"/>
                <a:ea typeface="微软雅黑" panose="020B0503020204020204" pitchFamily="34" charset="-122"/>
              </a:rPr>
              <a:t>日涨幅更是达到了</a:t>
            </a:r>
            <a:r>
              <a:rPr lang="en-US" altLang="zh-CN" b="0" i="0" dirty="0">
                <a:solidFill>
                  <a:srgbClr val="1A1A1A"/>
                </a:solidFill>
                <a:effectLst/>
                <a:latin typeface="微软雅黑" panose="020B0503020204020204" pitchFamily="34" charset="-122"/>
                <a:ea typeface="微软雅黑" panose="020B0503020204020204" pitchFamily="34" charset="-122"/>
              </a:rPr>
              <a:t>509.77%</a:t>
            </a:r>
            <a:r>
              <a:rPr lang="zh-CN" altLang="en-US" b="0" i="0" dirty="0">
                <a:solidFill>
                  <a:srgbClr val="1A1A1A"/>
                </a:solidFill>
                <a:effectLst/>
                <a:latin typeface="微软雅黑" panose="020B0503020204020204" pitchFamily="34" charset="-122"/>
                <a:ea typeface="微软雅黑" panose="020B0503020204020204" pitchFamily="34" charset="-122"/>
              </a:rPr>
              <a:t>。</a:t>
            </a:r>
            <a:endParaRPr lang="en-US" altLang="zh-CN" b="0" i="0" dirty="0">
              <a:solidFill>
                <a:srgbClr val="1A1A1A"/>
              </a:solidFill>
              <a:effectLst/>
              <a:latin typeface="微软雅黑" panose="020B0503020204020204" pitchFamily="34" charset="-122"/>
              <a:ea typeface="微软雅黑" panose="020B0503020204020204" pitchFamily="34" charset="-122"/>
            </a:endParaRPr>
          </a:p>
          <a:p>
            <a:endParaRPr lang="en-US" altLang="zh-CN" b="0" i="0" dirty="0">
              <a:solidFill>
                <a:srgbClr val="1A1A1A"/>
              </a:solidFill>
              <a:effectLst/>
              <a:latin typeface="微软雅黑" panose="020B0503020204020204" pitchFamily="34" charset="-122"/>
              <a:ea typeface="微软雅黑" panose="020B0503020204020204" pitchFamily="34" charset="-122"/>
            </a:endParaRPr>
          </a:p>
          <a:p>
            <a:r>
              <a:rPr lang="zh-CN" altLang="en-US" b="0" i="0" dirty="0">
                <a:solidFill>
                  <a:srgbClr val="1A1A1A"/>
                </a:solidFill>
                <a:effectLst/>
                <a:latin typeface="微软雅黑" panose="020B0503020204020204" pitchFamily="34" charset="-122"/>
                <a:ea typeface="微软雅黑" panose="020B0503020204020204" pitchFamily="34" charset="-122"/>
              </a:rPr>
              <a:t>中证全指自基日以来累计涨幅</a:t>
            </a:r>
            <a:r>
              <a:rPr lang="en-US" altLang="zh-CN" b="0" i="0" dirty="0">
                <a:solidFill>
                  <a:srgbClr val="1A1A1A"/>
                </a:solidFill>
                <a:effectLst/>
                <a:latin typeface="微软雅黑" panose="020B0503020204020204" pitchFamily="34" charset="-122"/>
                <a:ea typeface="微软雅黑" panose="020B0503020204020204" pitchFamily="34" charset="-122"/>
              </a:rPr>
              <a:t>536.88%</a:t>
            </a:r>
            <a:r>
              <a:rPr lang="zh-CN" altLang="en-US" b="0" i="0" dirty="0">
                <a:solidFill>
                  <a:srgbClr val="1A1A1A"/>
                </a:solidFill>
                <a:effectLst/>
                <a:latin typeface="微软雅黑" panose="020B0503020204020204" pitchFamily="34" charset="-122"/>
                <a:ea typeface="微软雅黑" panose="020B0503020204020204" pitchFamily="34" charset="-122"/>
              </a:rPr>
              <a:t>，超越</a:t>
            </a:r>
            <a:r>
              <a:rPr lang="zh-CN" altLang="en-US" b="0" i="0" u="none" strike="noStrike" dirty="0">
                <a:effectLst/>
                <a:latin typeface="微软雅黑" panose="020B0503020204020204" pitchFamily="34" charset="-122"/>
                <a:ea typeface="微软雅黑" panose="020B0503020204020204" pitchFamily="34" charset="-122"/>
              </a:rPr>
              <a:t>沪深</a:t>
            </a:r>
            <a:r>
              <a:rPr lang="en-US" altLang="zh-CN" b="0" i="0" u="none" strike="noStrike" dirty="0">
                <a:effectLst/>
                <a:latin typeface="微软雅黑" panose="020B0503020204020204" pitchFamily="34" charset="-122"/>
                <a:ea typeface="微软雅黑" panose="020B0503020204020204" pitchFamily="34" charset="-122"/>
              </a:rPr>
              <a:t>300</a:t>
            </a:r>
            <a:r>
              <a:rPr lang="zh-CN" altLang="en-US" b="0" i="0" dirty="0">
                <a:effectLst/>
                <a:latin typeface="微软雅黑" panose="020B0503020204020204" pitchFamily="34" charset="-122"/>
                <a:ea typeface="微软雅黑" panose="020B0503020204020204" pitchFamily="34" charset="-122"/>
              </a:rPr>
              <a:t>、</a:t>
            </a:r>
            <a:r>
              <a:rPr lang="zh-CN" altLang="en-US" b="0" i="0" u="none" strike="noStrike" dirty="0">
                <a:effectLst/>
                <a:latin typeface="微软雅黑" panose="020B0503020204020204" pitchFamily="34" charset="-122"/>
                <a:ea typeface="微软雅黑" panose="020B0503020204020204" pitchFamily="34" charset="-122"/>
              </a:rPr>
              <a:t>上证指数</a:t>
            </a:r>
            <a:r>
              <a:rPr lang="zh-CN" altLang="en-US" b="0" i="0" dirty="0">
                <a:solidFill>
                  <a:srgbClr val="1A1A1A"/>
                </a:solidFill>
                <a:effectLst/>
                <a:latin typeface="微软雅黑" panose="020B0503020204020204" pitchFamily="34" charset="-122"/>
                <a:ea typeface="微软雅黑" panose="020B0503020204020204" pitchFamily="34" charset="-122"/>
              </a:rPr>
              <a:t>、中证</a:t>
            </a:r>
            <a:r>
              <a:rPr lang="en-US" altLang="zh-CN" b="0" i="0" dirty="0">
                <a:solidFill>
                  <a:srgbClr val="1A1A1A"/>
                </a:solidFill>
                <a:effectLst/>
                <a:latin typeface="微软雅黑" panose="020B0503020204020204" pitchFamily="34" charset="-122"/>
                <a:ea typeface="微软雅黑" panose="020B0503020204020204" pitchFamily="34" charset="-122"/>
              </a:rPr>
              <a:t>800</a:t>
            </a:r>
            <a:r>
              <a:rPr lang="zh-CN" altLang="en-US" b="0" i="0" dirty="0">
                <a:solidFill>
                  <a:srgbClr val="1A1A1A"/>
                </a:solidFill>
                <a:effectLst/>
                <a:latin typeface="微软雅黑" panose="020B0503020204020204" pitchFamily="34" charset="-122"/>
                <a:ea typeface="微软雅黑" panose="020B0503020204020204" pitchFamily="34" charset="-122"/>
              </a:rPr>
              <a:t>等市场指数。其夏普比率、最大回撤表现在宽基指数中也相对较优，配置价值较高。</a:t>
            </a:r>
            <a:r>
              <a:rPr lang="zh-CN" altLang="en-US" sz="1000" b="0" i="0" dirty="0">
                <a:solidFill>
                  <a:srgbClr val="000000"/>
                </a:solidFill>
                <a:effectLst/>
                <a:latin typeface="微软雅黑" panose="020B0503020204020204" pitchFamily="34" charset="-122"/>
                <a:ea typeface="微软雅黑" panose="020B0503020204020204" pitchFamily="34" charset="-122"/>
              </a:rPr>
              <a:t>（数据来源：</a:t>
            </a:r>
            <a:r>
              <a:rPr lang="en-US" altLang="zh-CN" sz="1000" b="0" i="0" dirty="0">
                <a:solidFill>
                  <a:srgbClr val="000000"/>
                </a:solidFill>
                <a:effectLst/>
                <a:latin typeface="微软雅黑" panose="020B0503020204020204" pitchFamily="34" charset="-122"/>
                <a:ea typeface="微软雅黑" panose="020B0503020204020204" pitchFamily="34" charset="-122"/>
              </a:rPr>
              <a:t>wind</a:t>
            </a:r>
            <a:r>
              <a:rPr lang="zh-CN" altLang="en-US" sz="1000" b="0" i="0" dirty="0">
                <a:solidFill>
                  <a:srgbClr val="000000"/>
                </a:solidFill>
                <a:effectLst/>
                <a:latin typeface="微软雅黑" panose="020B0503020204020204" pitchFamily="34" charset="-122"/>
                <a:ea typeface="微软雅黑" panose="020B0503020204020204" pitchFamily="34" charset="-122"/>
              </a:rPr>
              <a:t>，统计区间：</a:t>
            </a:r>
            <a:r>
              <a:rPr lang="en-US" altLang="zh-CN" sz="1000" b="0" i="0" dirty="0">
                <a:solidFill>
                  <a:srgbClr val="000000"/>
                </a:solidFill>
                <a:effectLst/>
                <a:latin typeface="微软雅黑" panose="020B0503020204020204" pitchFamily="34" charset="-122"/>
                <a:ea typeface="微软雅黑" panose="020B0503020204020204" pitchFamily="34" charset="-122"/>
              </a:rPr>
              <a:t>2004.12.31-2026.05.31</a:t>
            </a:r>
            <a:r>
              <a:rPr lang="zh-CN" altLang="en-US" sz="1000" b="0" i="0" dirty="0">
                <a:solidFill>
                  <a:srgbClr val="000000"/>
                </a:solidFill>
                <a:effectLst/>
                <a:latin typeface="微软雅黑" panose="020B0503020204020204" pitchFamily="34" charset="-122"/>
                <a:ea typeface="微软雅黑" panose="020B0503020204020204" pitchFamily="34" charset="-122"/>
              </a:rPr>
              <a:t>）</a:t>
            </a:r>
            <a:endParaRPr lang="zh-CN" altLang="en-US" dirty="0"/>
          </a:p>
        </p:txBody>
      </p:sp>
      <p:sp>
        <p:nvSpPr>
          <p:cNvPr id="4" name="灯片编号占位符 3"/>
          <p:cNvSpPr>
            <a:spLocks noGrp="1"/>
          </p:cNvSpPr>
          <p:nvPr>
            <p:ph type="sldNum" sz="quarter" idx="11"/>
          </p:nvPr>
        </p:nvSpPr>
        <p:spPr/>
        <p:txBody>
          <a:bodyPr/>
          <a:lstStyle/>
          <a:p>
            <a:pPr>
              <a:defRPr/>
            </a:pPr>
            <a:fld id="{6E91549D-98B7-4077-996F-05BE1B29F039}" type="slidenum">
              <a:rPr lang="zh-CN" altLang="en-US" smtClean="0"/>
              <a:t>10</a:t>
            </a:fld>
            <a:endParaRPr lang="zh-CN" altLang="en-US" dirty="0"/>
          </a:p>
        </p:txBody>
      </p:sp>
      <p:sp>
        <p:nvSpPr>
          <p:cNvPr id="7" name="文本框 6"/>
          <p:cNvSpPr txBox="1"/>
          <p:nvPr/>
        </p:nvSpPr>
        <p:spPr>
          <a:xfrm>
            <a:off x="5181601" y="6249193"/>
            <a:ext cx="5821680" cy="215444"/>
          </a:xfrm>
          <a:prstGeom prst="rect">
            <a:avLst/>
          </a:prstGeom>
          <a:noFill/>
        </p:spPr>
        <p:txBody>
          <a:bodyPr wrap="square">
            <a:spAutoFit/>
          </a:bodyPr>
          <a:lstStyle/>
          <a:p>
            <a:r>
              <a:rPr lang="zh-CN" altLang="en-US" sz="800" dirty="0"/>
              <a:t>数据来源：</a:t>
            </a:r>
            <a:r>
              <a:rPr lang="en-US" altLang="zh-CN" sz="800" dirty="0"/>
              <a:t>wind</a:t>
            </a:r>
            <a:r>
              <a:rPr lang="zh-CN" altLang="en-US" sz="800" dirty="0"/>
              <a:t>，统计区间：</a:t>
            </a:r>
            <a:r>
              <a:rPr lang="en-US" altLang="zh-CN" sz="800" dirty="0"/>
              <a:t>2004.12.31-2026.5.31</a:t>
            </a:r>
            <a:r>
              <a:rPr lang="zh-CN" altLang="en-US" sz="800" dirty="0"/>
              <a:t>，指数过往收益不预示未来表现，不构成指数基金收益的承诺或保证。</a:t>
            </a:r>
          </a:p>
        </p:txBody>
      </p:sp>
      <p:sp>
        <p:nvSpPr>
          <p:cNvPr id="9" name="文本框 8"/>
          <p:cNvSpPr txBox="1"/>
          <p:nvPr/>
        </p:nvSpPr>
        <p:spPr>
          <a:xfrm>
            <a:off x="8138872" y="1197605"/>
            <a:ext cx="2486005" cy="276999"/>
          </a:xfrm>
          <a:prstGeom prst="rect">
            <a:avLst/>
          </a:prstGeom>
          <a:noFill/>
        </p:spPr>
        <p:txBody>
          <a:bodyPr wrap="square">
            <a:spAutoFit/>
          </a:bodyPr>
          <a:lstStyle/>
          <a:p>
            <a:r>
              <a:rPr lang="zh-CN" altLang="en-US" sz="1200" dirty="0"/>
              <a:t>表：中证全指指数阶段涨跌幅一览</a:t>
            </a:r>
          </a:p>
        </p:txBody>
      </p:sp>
      <p:sp>
        <p:nvSpPr>
          <p:cNvPr id="12" name="文本框 11"/>
          <p:cNvSpPr txBox="1"/>
          <p:nvPr/>
        </p:nvSpPr>
        <p:spPr>
          <a:xfrm>
            <a:off x="2213042" y="4297589"/>
            <a:ext cx="2767520" cy="276999"/>
          </a:xfrm>
          <a:prstGeom prst="rect">
            <a:avLst/>
          </a:prstGeom>
          <a:noFill/>
        </p:spPr>
        <p:txBody>
          <a:bodyPr wrap="square">
            <a:spAutoFit/>
          </a:bodyPr>
          <a:lstStyle/>
          <a:p>
            <a:r>
              <a:rPr lang="zh-CN" altLang="en-US" sz="1200" dirty="0"/>
              <a:t>表：中证全指与其他指数收益率对比</a:t>
            </a:r>
          </a:p>
        </p:txBody>
      </p:sp>
      <p:graphicFrame>
        <p:nvGraphicFramePr>
          <p:cNvPr id="6" name="表格 5"/>
          <p:cNvGraphicFramePr>
            <a:graphicFrameLocks noGrp="1"/>
          </p:cNvGraphicFramePr>
          <p:nvPr>
            <p:extLst>
              <p:ext uri="{D42A27DB-BD31-4B8C-83A1-F6EECF244321}">
                <p14:modId xmlns:p14="http://schemas.microsoft.com/office/powerpoint/2010/main" val="3371825537"/>
              </p:ext>
            </p:extLst>
          </p:nvPr>
        </p:nvGraphicFramePr>
        <p:xfrm>
          <a:off x="7342950" y="1454955"/>
          <a:ext cx="3966063" cy="4556536"/>
        </p:xfrm>
        <a:graphic>
          <a:graphicData uri="http://schemas.openxmlformats.org/drawingml/2006/table">
            <a:tbl>
              <a:tblPr/>
              <a:tblGrid>
                <a:gridCol w="1047586">
                  <a:extLst>
                    <a:ext uri="{9D8B030D-6E8A-4147-A177-3AD203B41FA5}">
                      <a16:colId xmlns:a16="http://schemas.microsoft.com/office/drawing/2014/main" xmlns="" val="20000"/>
                    </a:ext>
                  </a:extLst>
                </a:gridCol>
                <a:gridCol w="936865">
                  <a:extLst>
                    <a:ext uri="{9D8B030D-6E8A-4147-A177-3AD203B41FA5}">
                      <a16:colId xmlns:a16="http://schemas.microsoft.com/office/drawing/2014/main" xmlns="" val="20001"/>
                    </a:ext>
                  </a:extLst>
                </a:gridCol>
                <a:gridCol w="1039068">
                  <a:extLst>
                    <a:ext uri="{9D8B030D-6E8A-4147-A177-3AD203B41FA5}">
                      <a16:colId xmlns:a16="http://schemas.microsoft.com/office/drawing/2014/main" xmlns="" val="20002"/>
                    </a:ext>
                  </a:extLst>
                </a:gridCol>
                <a:gridCol w="942544">
                  <a:extLst>
                    <a:ext uri="{9D8B030D-6E8A-4147-A177-3AD203B41FA5}">
                      <a16:colId xmlns:a16="http://schemas.microsoft.com/office/drawing/2014/main" xmlns="" val="20003"/>
                    </a:ext>
                  </a:extLst>
                </a:gridCol>
              </a:tblGrid>
              <a:tr h="453874">
                <a:tc>
                  <a:txBody>
                    <a:bodyPr/>
                    <a:lstStyle/>
                    <a:p>
                      <a:pPr algn="ctr" fontAlgn="ctr"/>
                      <a:r>
                        <a:rPr lang="zh-CN" altLang="en-US" sz="1400" b="1" i="0" u="none" strike="noStrike">
                          <a:solidFill>
                            <a:srgbClr val="FFFFFF"/>
                          </a:solidFill>
                          <a:effectLst/>
                          <a:latin typeface="等线" panose="02010600030101010101" charset="-122"/>
                          <a:ea typeface="等线" panose="02010600030101010101" charset="-122"/>
                        </a:rPr>
                        <a:t>市场阶段</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002060"/>
                    </a:solidFill>
                  </a:tcPr>
                </a:tc>
                <a:tc gridSpan="2">
                  <a:txBody>
                    <a:bodyPr/>
                    <a:lstStyle/>
                    <a:p>
                      <a:pPr algn="ctr" fontAlgn="ctr"/>
                      <a:r>
                        <a:rPr lang="zh-CN" altLang="en-US" sz="1400" b="1" i="0" u="none" strike="noStrike">
                          <a:solidFill>
                            <a:srgbClr val="FFFFFF"/>
                          </a:solidFill>
                          <a:effectLst/>
                          <a:latin typeface="等线" panose="02010600030101010101" charset="-122"/>
                          <a:ea typeface="等线" panose="02010600030101010101" charset="-122"/>
                        </a:rPr>
                        <a:t>时间区间</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002060"/>
                    </a:solidFill>
                  </a:tcPr>
                </a:tc>
                <a:tc hMerge="1">
                  <a:txBody>
                    <a:bodyPr/>
                    <a:lstStyle/>
                    <a:p>
                      <a:endParaRPr lang="zh-CN"/>
                    </a:p>
                  </a:txBody>
                  <a:tcPr/>
                </a:tc>
                <a:tc>
                  <a:txBody>
                    <a:bodyPr/>
                    <a:lstStyle/>
                    <a:p>
                      <a:pPr algn="ctr" fontAlgn="ctr"/>
                      <a:r>
                        <a:rPr lang="zh-CN" altLang="en-US" sz="1400" b="1" i="0" u="none" strike="noStrike">
                          <a:solidFill>
                            <a:srgbClr val="FFFFFF"/>
                          </a:solidFill>
                          <a:effectLst/>
                          <a:latin typeface="等线" panose="02010600030101010101" charset="-122"/>
                          <a:ea typeface="等线" panose="02010600030101010101" charset="-122"/>
                        </a:rPr>
                        <a:t>涨跌幅</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002060"/>
                    </a:solidFill>
                  </a:tcPr>
                </a:tc>
                <a:extLst>
                  <a:ext uri="{0D108BD9-81ED-4DB2-BD59-A6C34878D82A}">
                    <a16:rowId xmlns:a16="http://schemas.microsoft.com/office/drawing/2014/main" xmlns="" val="10000"/>
                  </a:ext>
                </a:extLst>
              </a:tr>
              <a:tr h="400477">
                <a:tc>
                  <a:txBody>
                    <a:bodyPr/>
                    <a:lstStyle/>
                    <a:p>
                      <a:pPr algn="ctr" fontAlgn="ctr"/>
                      <a:r>
                        <a:rPr lang="zh-CN" altLang="en-US" sz="1400" b="0" i="0" u="none" strike="noStrike">
                          <a:solidFill>
                            <a:srgbClr val="000000"/>
                          </a:solidFill>
                          <a:effectLst/>
                          <a:latin typeface="等线" panose="02010600030101010101" charset="-122"/>
                          <a:ea typeface="等线" panose="02010600030101010101" charset="-122"/>
                        </a:rPr>
                        <a:t>第一次下跌</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2005/1/4</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2005/6/6</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1" i="0" u="none" strike="noStrike">
                          <a:solidFill>
                            <a:srgbClr val="70AD47"/>
                          </a:solidFill>
                          <a:effectLst/>
                          <a:latin typeface="等线" panose="02010600030101010101" charset="-122"/>
                          <a:ea typeface="等线" panose="02010600030101010101" charset="-122"/>
                        </a:rPr>
                        <a:t>-18.86%</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xmlns="" val="10001"/>
                  </a:ext>
                </a:extLst>
              </a:tr>
              <a:tr h="409377">
                <a:tc>
                  <a:txBody>
                    <a:bodyPr/>
                    <a:lstStyle/>
                    <a:p>
                      <a:pPr algn="ctr" fontAlgn="ctr"/>
                      <a:r>
                        <a:rPr lang="zh-CN" altLang="en-US" sz="1400" b="0" i="0" u="none" strike="noStrike">
                          <a:solidFill>
                            <a:srgbClr val="000000"/>
                          </a:solidFill>
                          <a:effectLst/>
                          <a:latin typeface="等线" panose="02010600030101010101" charset="-122"/>
                          <a:ea typeface="等线" panose="02010600030101010101" charset="-122"/>
                        </a:rPr>
                        <a:t>第一次上涨</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2006/1/4</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等线" panose="02010600030101010101" charset="-122"/>
                          <a:ea typeface="等线" panose="02010600030101010101" charset="-122"/>
                        </a:rPr>
                        <a:t>2007/10/16</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1" i="0" u="none" strike="noStrike">
                          <a:solidFill>
                            <a:srgbClr val="C00000"/>
                          </a:solidFill>
                          <a:effectLst/>
                          <a:latin typeface="等线" panose="02010600030101010101" charset="-122"/>
                          <a:ea typeface="等线" panose="02010600030101010101" charset="-122"/>
                        </a:rPr>
                        <a:t>509.77%</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xmlns="" val="10002"/>
                  </a:ext>
                </a:extLst>
              </a:tr>
              <a:tr h="391577">
                <a:tc>
                  <a:txBody>
                    <a:bodyPr/>
                    <a:lstStyle/>
                    <a:p>
                      <a:pPr algn="ctr" fontAlgn="ctr"/>
                      <a:r>
                        <a:rPr lang="zh-CN" altLang="en-US" sz="1400" b="0" i="0" u="none" strike="noStrike" dirty="0">
                          <a:solidFill>
                            <a:srgbClr val="000000"/>
                          </a:solidFill>
                          <a:effectLst/>
                          <a:latin typeface="等线" panose="02010600030101010101" charset="-122"/>
                          <a:ea typeface="等线" panose="02010600030101010101" charset="-122"/>
                        </a:rPr>
                        <a:t>第二次下跌</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2008/1/10</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2008/11/4</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1" i="0" u="none" strike="noStrike">
                          <a:solidFill>
                            <a:srgbClr val="70AD47"/>
                          </a:solidFill>
                          <a:effectLst/>
                          <a:latin typeface="等线" panose="02010600030101010101" charset="-122"/>
                          <a:ea typeface="等线" panose="02010600030101010101" charset="-122"/>
                        </a:rPr>
                        <a:t>-70.92%</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xmlns="" val="10003"/>
                  </a:ext>
                </a:extLst>
              </a:tr>
              <a:tr h="391577">
                <a:tc>
                  <a:txBody>
                    <a:bodyPr/>
                    <a:lstStyle/>
                    <a:p>
                      <a:pPr algn="ctr" fontAlgn="ctr"/>
                      <a:r>
                        <a:rPr lang="zh-CN" altLang="en-US" sz="1400" b="0" i="0" u="none" strike="noStrike">
                          <a:solidFill>
                            <a:srgbClr val="000000"/>
                          </a:solidFill>
                          <a:effectLst/>
                          <a:latin typeface="等线" panose="02010600030101010101" charset="-122"/>
                          <a:ea typeface="等线" panose="02010600030101010101" charset="-122"/>
                        </a:rPr>
                        <a:t>第二次上涨</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2009/1/5</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2009/12/31</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1" i="0" u="none" strike="noStrike">
                          <a:solidFill>
                            <a:srgbClr val="C00000"/>
                          </a:solidFill>
                          <a:effectLst/>
                          <a:latin typeface="等线" panose="02010600030101010101" charset="-122"/>
                          <a:ea typeface="等线" panose="02010600030101010101" charset="-122"/>
                        </a:rPr>
                        <a:t>106.46%</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xmlns="" val="10004"/>
                  </a:ext>
                </a:extLst>
              </a:tr>
              <a:tr h="391577">
                <a:tc>
                  <a:txBody>
                    <a:bodyPr/>
                    <a:lstStyle/>
                    <a:p>
                      <a:pPr algn="ctr" fontAlgn="ctr"/>
                      <a:r>
                        <a:rPr lang="zh-CN" altLang="en-US" sz="1400" b="0" i="0" u="none" strike="noStrike">
                          <a:solidFill>
                            <a:srgbClr val="000000"/>
                          </a:solidFill>
                          <a:effectLst/>
                          <a:latin typeface="等线" panose="02010600030101010101" charset="-122"/>
                          <a:ea typeface="等线" panose="02010600030101010101" charset="-122"/>
                        </a:rPr>
                        <a:t>第三次下跌</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2010/1/4</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2014/5/19</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1" i="0" u="none" strike="noStrike">
                          <a:solidFill>
                            <a:srgbClr val="70AD47"/>
                          </a:solidFill>
                          <a:effectLst/>
                          <a:latin typeface="等线" panose="02010600030101010101" charset="-122"/>
                          <a:ea typeface="等线" panose="02010600030101010101" charset="-122"/>
                        </a:rPr>
                        <a:t>-27.95%</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xmlns="" val="10005"/>
                  </a:ext>
                </a:extLst>
              </a:tr>
              <a:tr h="436075">
                <a:tc>
                  <a:txBody>
                    <a:bodyPr/>
                    <a:lstStyle/>
                    <a:p>
                      <a:pPr algn="ctr" fontAlgn="ctr"/>
                      <a:r>
                        <a:rPr lang="zh-CN" altLang="en-US" sz="1400" b="0" i="0" u="none" strike="noStrike" dirty="0">
                          <a:solidFill>
                            <a:srgbClr val="000000"/>
                          </a:solidFill>
                          <a:effectLst/>
                          <a:latin typeface="等线" panose="02010600030101010101" charset="-122"/>
                          <a:ea typeface="等线" panose="02010600030101010101" charset="-122"/>
                        </a:rPr>
                        <a:t>第三次上涨</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2014/5/19</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2015/6/12</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1" i="0" u="none" strike="noStrike">
                          <a:solidFill>
                            <a:srgbClr val="C00000"/>
                          </a:solidFill>
                          <a:effectLst/>
                          <a:latin typeface="等线" panose="02010600030101010101" charset="-122"/>
                          <a:ea typeface="等线" panose="02010600030101010101" charset="-122"/>
                        </a:rPr>
                        <a:t>189.26%</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xmlns="" val="10006"/>
                  </a:ext>
                </a:extLst>
              </a:tr>
              <a:tr h="418275">
                <a:tc>
                  <a:txBody>
                    <a:bodyPr/>
                    <a:lstStyle/>
                    <a:p>
                      <a:pPr algn="ctr" fontAlgn="ctr"/>
                      <a:r>
                        <a:rPr lang="zh-CN" altLang="en-US" sz="1400" b="0" i="0" u="none" strike="noStrike">
                          <a:solidFill>
                            <a:srgbClr val="000000"/>
                          </a:solidFill>
                          <a:effectLst/>
                          <a:latin typeface="等线" panose="02010600030101010101" charset="-122"/>
                          <a:ea typeface="等线" panose="02010600030101010101" charset="-122"/>
                        </a:rPr>
                        <a:t>第四次下跌</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2015/6/12</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2018/12/31</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1" i="0" u="none" strike="noStrike">
                          <a:solidFill>
                            <a:srgbClr val="70AD47"/>
                          </a:solidFill>
                          <a:effectLst/>
                          <a:latin typeface="等线" panose="02010600030101010101" charset="-122"/>
                          <a:ea typeface="等线" panose="02010600030101010101" charset="-122"/>
                        </a:rPr>
                        <a:t>-56.51%</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xmlns="" val="10007"/>
                  </a:ext>
                </a:extLst>
              </a:tr>
              <a:tr h="409377">
                <a:tc>
                  <a:txBody>
                    <a:bodyPr/>
                    <a:lstStyle/>
                    <a:p>
                      <a:pPr algn="ctr" fontAlgn="ctr"/>
                      <a:r>
                        <a:rPr lang="zh-CN" altLang="en-US" sz="1400" b="0" i="0" u="none" strike="noStrike">
                          <a:solidFill>
                            <a:srgbClr val="000000"/>
                          </a:solidFill>
                          <a:effectLst/>
                          <a:latin typeface="等线" panose="02010600030101010101" charset="-122"/>
                          <a:ea typeface="等线" panose="02010600030101010101" charset="-122"/>
                        </a:rPr>
                        <a:t>第四次上涨</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2019/1/2</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2021/12/31</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1" i="0" u="none" strike="noStrike">
                          <a:solidFill>
                            <a:srgbClr val="C00000"/>
                          </a:solidFill>
                          <a:effectLst/>
                          <a:latin typeface="等线" panose="02010600030101010101" charset="-122"/>
                          <a:ea typeface="等线" panose="02010600030101010101" charset="-122"/>
                        </a:rPr>
                        <a:t>73.93%</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xmlns="" val="10008"/>
                  </a:ext>
                </a:extLst>
              </a:tr>
              <a:tr h="391577">
                <a:tc>
                  <a:txBody>
                    <a:bodyPr/>
                    <a:lstStyle/>
                    <a:p>
                      <a:pPr algn="ctr" fontAlgn="ctr"/>
                      <a:r>
                        <a:rPr lang="zh-CN" altLang="en-US" sz="1400" b="0" i="0" u="none" strike="noStrike">
                          <a:solidFill>
                            <a:srgbClr val="000000"/>
                          </a:solidFill>
                          <a:effectLst/>
                          <a:latin typeface="等线" panose="02010600030101010101" charset="-122"/>
                          <a:ea typeface="等线" panose="02010600030101010101" charset="-122"/>
                        </a:rPr>
                        <a:t>第五次下跌</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2022/1/4</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2024/9/25</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r>
                        <a:rPr lang="en-US" altLang="zh-CN" sz="1400" b="1" i="0" u="none" strike="noStrike">
                          <a:solidFill>
                            <a:srgbClr val="70AD47"/>
                          </a:solidFill>
                          <a:effectLst/>
                          <a:latin typeface="等线" panose="02010600030101010101" charset="-122"/>
                          <a:ea typeface="等线" panose="02010600030101010101" charset="-122"/>
                        </a:rPr>
                        <a:t>-34.04%</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xmlns="" val="10009"/>
                  </a:ext>
                </a:extLst>
              </a:tr>
              <a:tr h="462773">
                <a:tc>
                  <a:txBody>
                    <a:bodyPr/>
                    <a:lstStyle/>
                    <a:p>
                      <a:pPr algn="ctr" fontAlgn="ctr"/>
                      <a:r>
                        <a:rPr lang="zh-CN" altLang="en-US" sz="1400" b="0" i="0" u="none" strike="noStrike">
                          <a:solidFill>
                            <a:srgbClr val="000000"/>
                          </a:solidFill>
                          <a:effectLst/>
                          <a:latin typeface="等线" panose="02010600030101010101" charset="-122"/>
                          <a:ea typeface="等线" panose="02010600030101010101" charset="-122"/>
                        </a:rPr>
                        <a:t>第五次上涨</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等线" panose="02010600030101010101" charset="-122"/>
                          <a:ea typeface="等线" panose="02010600030101010101" charset="-122"/>
                        </a:rPr>
                        <a:t>2024/9/25</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等线" panose="02010600030101010101" charset="-122"/>
                          <a:ea typeface="等线" panose="02010600030101010101" charset="-122"/>
                        </a:rPr>
                        <a:t>2026/5/31</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ctr"/>
                      <a:r>
                        <a:rPr lang="en-US" altLang="zh-CN" sz="1400" b="1" i="0" u="none" strike="noStrike" dirty="0">
                          <a:solidFill>
                            <a:srgbClr val="C00000"/>
                          </a:solidFill>
                          <a:effectLst/>
                          <a:latin typeface="等线" panose="02010600030101010101" charset="-122"/>
                          <a:ea typeface="等线" panose="02010600030101010101" charset="-122"/>
                        </a:rPr>
                        <a:t>63.80%</a:t>
                      </a:r>
                    </a:p>
                  </a:txBody>
                  <a:tcPr marL="8499" marR="8499" marT="8499" marB="0" anchor="ctr">
                    <a:lnL w="6350" cap="flat" cmpd="sng" algn="ctr">
                      <a:solidFill>
                        <a:srgbClr val="8EA9DB"/>
                      </a:solidFill>
                      <a:prstDash val="solid"/>
                      <a:round/>
                      <a:headEnd type="none" w="med" len="med"/>
                      <a:tailEnd type="none" w="med" len="med"/>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xmlns="" val="10010"/>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136002896"/>
              </p:ext>
            </p:extLst>
          </p:nvPr>
        </p:nvGraphicFramePr>
        <p:xfrm>
          <a:off x="429584" y="4574588"/>
          <a:ext cx="6023097" cy="1543256"/>
        </p:xfrm>
        <a:graphic>
          <a:graphicData uri="http://schemas.openxmlformats.org/drawingml/2006/table">
            <a:tbl>
              <a:tblPr/>
              <a:tblGrid>
                <a:gridCol w="2252247">
                  <a:extLst>
                    <a:ext uri="{9D8B030D-6E8A-4147-A177-3AD203B41FA5}">
                      <a16:colId xmlns:a16="http://schemas.microsoft.com/office/drawing/2014/main" xmlns="" val="20000"/>
                    </a:ext>
                  </a:extLst>
                </a:gridCol>
                <a:gridCol w="951221">
                  <a:extLst>
                    <a:ext uri="{9D8B030D-6E8A-4147-A177-3AD203B41FA5}">
                      <a16:colId xmlns:a16="http://schemas.microsoft.com/office/drawing/2014/main" xmlns="" val="20001"/>
                    </a:ext>
                  </a:extLst>
                </a:gridCol>
                <a:gridCol w="936953">
                  <a:extLst>
                    <a:ext uri="{9D8B030D-6E8A-4147-A177-3AD203B41FA5}">
                      <a16:colId xmlns:a16="http://schemas.microsoft.com/office/drawing/2014/main" xmlns="" val="20002"/>
                    </a:ext>
                  </a:extLst>
                </a:gridCol>
                <a:gridCol w="941338">
                  <a:extLst>
                    <a:ext uri="{9D8B030D-6E8A-4147-A177-3AD203B41FA5}">
                      <a16:colId xmlns:a16="http://schemas.microsoft.com/office/drawing/2014/main" xmlns="" val="20003"/>
                    </a:ext>
                  </a:extLst>
                </a:gridCol>
                <a:gridCol w="941338">
                  <a:extLst>
                    <a:ext uri="{9D8B030D-6E8A-4147-A177-3AD203B41FA5}">
                      <a16:colId xmlns:a16="http://schemas.microsoft.com/office/drawing/2014/main" xmlns="" val="20004"/>
                    </a:ext>
                  </a:extLst>
                </a:gridCol>
              </a:tblGrid>
              <a:tr h="533606">
                <a:tc>
                  <a:txBody>
                    <a:bodyPr/>
                    <a:lstStyle/>
                    <a:p>
                      <a:pPr algn="ctr" fontAlgn="ctr"/>
                      <a:r>
                        <a:rPr lang="zh-CN" altLang="en-US" sz="1400" b="1" i="0" u="none" strike="noStrike">
                          <a:solidFill>
                            <a:srgbClr val="FFFFFF"/>
                          </a:solidFill>
                          <a:effectLst/>
                          <a:latin typeface="等线" panose="02010600030101010101" charset="-122"/>
                          <a:ea typeface="等线" panose="02010600030101010101" charset="-122"/>
                        </a:rPr>
                        <a:t>　</a:t>
                      </a:r>
                    </a:p>
                  </a:txBody>
                  <a:tcPr marL="9525" marR="9525" marT="9525" marB="0" anchor="ctr">
                    <a:lnL>
                      <a:noFill/>
                    </a:lnL>
                    <a:lnR>
                      <a:noFill/>
                    </a:lnR>
                    <a:lnT>
                      <a:noFill/>
                    </a:lnT>
                    <a:lnB>
                      <a:noFill/>
                    </a:lnB>
                    <a:solidFill>
                      <a:srgbClr val="002060"/>
                    </a:solidFill>
                  </a:tcPr>
                </a:tc>
                <a:tc>
                  <a:txBody>
                    <a:bodyPr/>
                    <a:lstStyle/>
                    <a:p>
                      <a:pPr algn="ctr" fontAlgn="ctr"/>
                      <a:r>
                        <a:rPr lang="zh-CN" altLang="en-US" sz="1400" b="1" i="0" u="none" strike="noStrike">
                          <a:solidFill>
                            <a:srgbClr val="FFFFFF"/>
                          </a:solidFill>
                          <a:effectLst/>
                          <a:latin typeface="等线" panose="02010600030101010101" charset="-122"/>
                          <a:ea typeface="等线" panose="02010600030101010101" charset="-122"/>
                        </a:rPr>
                        <a:t>中证全指</a:t>
                      </a:r>
                    </a:p>
                  </a:txBody>
                  <a:tcPr marL="9525" marR="9525" marT="9525" marB="0" anchor="ctr">
                    <a:lnL>
                      <a:noFill/>
                    </a:lnL>
                    <a:lnR>
                      <a:noFill/>
                    </a:lnR>
                    <a:lnT>
                      <a:noFill/>
                    </a:lnT>
                    <a:lnB>
                      <a:noFill/>
                    </a:lnB>
                    <a:solidFill>
                      <a:srgbClr val="002060"/>
                    </a:solidFill>
                  </a:tcPr>
                </a:tc>
                <a:tc>
                  <a:txBody>
                    <a:bodyPr/>
                    <a:lstStyle/>
                    <a:p>
                      <a:pPr algn="ctr" fontAlgn="ctr"/>
                      <a:r>
                        <a:rPr lang="zh-CN" altLang="en-US" sz="1400" b="1" i="0" u="none" strike="noStrike">
                          <a:solidFill>
                            <a:srgbClr val="FFFFFF"/>
                          </a:solidFill>
                          <a:effectLst/>
                          <a:latin typeface="等线" panose="02010600030101010101" charset="-122"/>
                          <a:ea typeface="等线" panose="02010600030101010101" charset="-122"/>
                        </a:rPr>
                        <a:t>上证指数</a:t>
                      </a:r>
                    </a:p>
                  </a:txBody>
                  <a:tcPr marL="9525" marR="9525" marT="9525" marB="0" anchor="ctr">
                    <a:lnL>
                      <a:noFill/>
                    </a:lnL>
                    <a:lnR>
                      <a:noFill/>
                    </a:lnR>
                    <a:lnT>
                      <a:noFill/>
                    </a:lnT>
                    <a:lnB>
                      <a:noFill/>
                    </a:lnB>
                    <a:solidFill>
                      <a:srgbClr val="002060"/>
                    </a:solidFill>
                  </a:tcPr>
                </a:tc>
                <a:tc>
                  <a:txBody>
                    <a:bodyPr/>
                    <a:lstStyle/>
                    <a:p>
                      <a:pPr algn="ctr" fontAlgn="ctr"/>
                      <a:r>
                        <a:rPr lang="zh-CN" altLang="en-US" sz="1400" b="1" i="0" u="none" strike="noStrike">
                          <a:solidFill>
                            <a:srgbClr val="FFFFFF"/>
                          </a:solidFill>
                          <a:effectLst/>
                          <a:latin typeface="等线" panose="02010600030101010101" charset="-122"/>
                          <a:ea typeface="等线" panose="02010600030101010101" charset="-122"/>
                        </a:rPr>
                        <a:t>沪深</a:t>
                      </a:r>
                      <a:r>
                        <a:rPr lang="en-US" altLang="zh-CN" sz="1400" b="1" i="0" u="none" strike="noStrike">
                          <a:solidFill>
                            <a:srgbClr val="FFFFFF"/>
                          </a:solidFill>
                          <a:effectLst/>
                          <a:latin typeface="等线" panose="02010600030101010101" charset="-122"/>
                          <a:ea typeface="等线" panose="02010600030101010101" charset="-122"/>
                        </a:rPr>
                        <a:t>300</a:t>
                      </a:r>
                    </a:p>
                  </a:txBody>
                  <a:tcPr marL="9525" marR="9525" marT="9525" marB="0" anchor="ctr">
                    <a:lnL>
                      <a:noFill/>
                    </a:lnL>
                    <a:lnR>
                      <a:noFill/>
                    </a:lnR>
                    <a:lnT>
                      <a:noFill/>
                    </a:lnT>
                    <a:lnB>
                      <a:noFill/>
                    </a:lnB>
                    <a:solidFill>
                      <a:srgbClr val="002060"/>
                    </a:solidFill>
                  </a:tcPr>
                </a:tc>
                <a:tc>
                  <a:txBody>
                    <a:bodyPr/>
                    <a:lstStyle/>
                    <a:p>
                      <a:pPr algn="ctr" fontAlgn="ctr"/>
                      <a:r>
                        <a:rPr lang="zh-CN" altLang="en-US" sz="1400" b="1" i="0" u="none" strike="noStrike">
                          <a:solidFill>
                            <a:srgbClr val="FFFFFF"/>
                          </a:solidFill>
                          <a:effectLst/>
                          <a:latin typeface="等线" panose="02010600030101010101" charset="-122"/>
                          <a:ea typeface="等线" panose="02010600030101010101" charset="-122"/>
                        </a:rPr>
                        <a:t>中证</a:t>
                      </a:r>
                      <a:r>
                        <a:rPr lang="en-US" altLang="zh-CN" sz="1400" b="1" i="0" u="none" strike="noStrike">
                          <a:solidFill>
                            <a:srgbClr val="FFFFFF"/>
                          </a:solidFill>
                          <a:effectLst/>
                          <a:latin typeface="等线" panose="02010600030101010101" charset="-122"/>
                          <a:ea typeface="等线" panose="02010600030101010101" charset="-122"/>
                        </a:rPr>
                        <a:t>800</a:t>
                      </a:r>
                    </a:p>
                  </a:txBody>
                  <a:tcPr marL="9525" marR="9525" marT="9525" marB="0" anchor="ctr">
                    <a:lnL>
                      <a:noFill/>
                    </a:lnL>
                    <a:lnR>
                      <a:noFill/>
                    </a:lnR>
                    <a:lnT>
                      <a:noFill/>
                    </a:lnT>
                    <a:lnB>
                      <a:noFill/>
                    </a:lnB>
                    <a:solidFill>
                      <a:srgbClr val="002060"/>
                    </a:solidFill>
                  </a:tcPr>
                </a:tc>
                <a:extLst>
                  <a:ext uri="{0D108BD9-81ED-4DB2-BD59-A6C34878D82A}">
                    <a16:rowId xmlns:a16="http://schemas.microsoft.com/office/drawing/2014/main" xmlns="" val="10000"/>
                  </a:ext>
                </a:extLst>
              </a:tr>
              <a:tr h="419100">
                <a:tc>
                  <a:txBody>
                    <a:bodyPr/>
                    <a:lstStyle/>
                    <a:p>
                      <a:pPr algn="ctr" fontAlgn="ctr"/>
                      <a:r>
                        <a:rPr lang="zh-CN" altLang="en-US" sz="1200" b="1" i="0" u="none" strike="noStrike" dirty="0">
                          <a:solidFill>
                            <a:srgbClr val="000000"/>
                          </a:solidFill>
                          <a:effectLst/>
                          <a:latin typeface="等线" panose="02010600030101010101" charset="-122"/>
                          <a:ea typeface="等线" panose="02010600030101010101" charset="-122"/>
                        </a:rPr>
                        <a:t>近五年收益率</a:t>
                      </a:r>
                    </a:p>
                  </a:txBody>
                  <a:tcPr marL="9525" marR="9525" marT="9525" marB="0" anchor="ctr">
                    <a:lnL>
                      <a:noFill/>
                    </a:lnL>
                    <a:lnR>
                      <a:noFill/>
                    </a:lnR>
                    <a:lnT>
                      <a:noFill/>
                    </a:lnT>
                    <a:lnB>
                      <a:noFill/>
                    </a:lnB>
                  </a:tcPr>
                </a:tc>
                <a:tc>
                  <a:txBody>
                    <a:bodyPr/>
                    <a:lstStyle/>
                    <a:p>
                      <a:pPr algn="ctr" fontAlgn="ctr"/>
                      <a:r>
                        <a:rPr lang="en-US" altLang="zh-CN" sz="1200" b="1" i="0" u="none" strike="noStrike" kern="1200" dirty="0">
                          <a:solidFill>
                            <a:srgbClr val="FF0000"/>
                          </a:solidFill>
                          <a:effectLst/>
                          <a:latin typeface="等线" panose="02010600030101010101" pitchFamily="2" charset="-122"/>
                          <a:ea typeface="等线" panose="02010600030101010101" pitchFamily="2" charset="-122"/>
                          <a:cs typeface="+mn-cs"/>
                        </a:rPr>
                        <a:t>9.63%</a:t>
                      </a:r>
                    </a:p>
                  </a:txBody>
                  <a:tcPr marL="9525" marR="9525" marT="9525" marB="0" anchor="ctr">
                    <a:lnL>
                      <a:noFill/>
                    </a:lnL>
                    <a:lnR>
                      <a:noFill/>
                    </a:lnR>
                    <a:lnT>
                      <a:noFill/>
                    </a:lnT>
                    <a:lnB>
                      <a:noFill/>
                    </a:lnB>
                  </a:tcPr>
                </a:tc>
                <a:tc>
                  <a:txBody>
                    <a:bodyPr/>
                    <a:lstStyle/>
                    <a:p>
                      <a:pPr algn="ctr" fontAlgn="ctr"/>
                      <a:r>
                        <a:rPr lang="en-US" altLang="zh-CN" sz="1200" b="0" i="0" u="none" strike="noStrike" dirty="0">
                          <a:solidFill>
                            <a:srgbClr val="000000"/>
                          </a:solidFill>
                          <a:effectLst/>
                          <a:latin typeface="等线" panose="02010600030101010101" pitchFamily="2" charset="-122"/>
                          <a:ea typeface="等线" panose="02010600030101010101" pitchFamily="2" charset="-122"/>
                        </a:rPr>
                        <a:t>12.53%</a:t>
                      </a:r>
                    </a:p>
                  </a:txBody>
                  <a:tcPr marL="9525" marR="9525" marT="9525" marB="0" anchor="ctr">
                    <a:lnL>
                      <a:noFill/>
                    </a:lnL>
                    <a:lnR>
                      <a:noFill/>
                    </a:lnR>
                    <a:lnT>
                      <a:noFill/>
                    </a:lnT>
                    <a:lnB>
                      <a:noFill/>
                    </a:lnB>
                  </a:tcPr>
                </a:tc>
                <a:tc>
                  <a:txBody>
                    <a:bodyPr/>
                    <a:lstStyle/>
                    <a:p>
                      <a:pPr algn="ctr" fontAlgn="ctr"/>
                      <a:r>
                        <a:rPr lang="en-US" altLang="zh-CN" sz="1200" b="0" i="0" u="none" strike="noStrike" dirty="0">
                          <a:solidFill>
                            <a:srgbClr val="000000"/>
                          </a:solidFill>
                          <a:effectLst/>
                          <a:latin typeface="等线" panose="02010600030101010101" pitchFamily="2" charset="-122"/>
                          <a:ea typeface="等线" panose="02010600030101010101" pitchFamily="2" charset="-122"/>
                        </a:rPr>
                        <a:t>-8.24%</a:t>
                      </a:r>
                    </a:p>
                  </a:txBody>
                  <a:tcPr marL="9525" marR="9525" marT="9525" marB="0" anchor="ctr">
                    <a:lnL>
                      <a:noFill/>
                    </a:lnL>
                    <a:lnR>
                      <a:noFill/>
                    </a:lnR>
                    <a:lnT>
                      <a:noFill/>
                    </a:lnT>
                    <a:lnB>
                      <a:noFill/>
                    </a:lnB>
                  </a:tcPr>
                </a:tc>
                <a:tc>
                  <a:txBody>
                    <a:bodyPr/>
                    <a:lstStyle/>
                    <a:p>
                      <a:pPr algn="ctr" fontAlgn="ctr"/>
                      <a:r>
                        <a:rPr lang="en-US" altLang="zh-CN" sz="1200" b="0" i="0" u="none" strike="noStrike" dirty="0">
                          <a:solidFill>
                            <a:srgbClr val="000000"/>
                          </a:solidFill>
                          <a:effectLst/>
                          <a:latin typeface="等线" panose="02010600030101010101" pitchFamily="2" charset="-122"/>
                          <a:ea typeface="等线" panose="02010600030101010101" pitchFamily="2" charset="-122"/>
                        </a:rPr>
                        <a:t>-1.10%</a:t>
                      </a:r>
                    </a:p>
                  </a:txBody>
                  <a:tcPr marL="9525" marR="9525" marT="9525" marB="0" anchor="ctr">
                    <a:lnL>
                      <a:noFill/>
                    </a:lnL>
                    <a:lnR>
                      <a:noFill/>
                    </a:lnR>
                    <a:lnT>
                      <a:noFill/>
                    </a:lnT>
                    <a:lnB>
                      <a:noFill/>
                    </a:lnB>
                  </a:tcPr>
                </a:tc>
                <a:extLst>
                  <a:ext uri="{0D108BD9-81ED-4DB2-BD59-A6C34878D82A}">
                    <a16:rowId xmlns:a16="http://schemas.microsoft.com/office/drawing/2014/main" xmlns="" val="10001"/>
                  </a:ext>
                </a:extLst>
              </a:tr>
              <a:tr h="590550">
                <a:tc>
                  <a:txBody>
                    <a:bodyPr/>
                    <a:lstStyle/>
                    <a:p>
                      <a:pPr algn="ctr" fontAlgn="ctr"/>
                      <a:r>
                        <a:rPr lang="zh-CN" altLang="en-US" sz="1200" b="1" i="0" u="none" strike="noStrike">
                          <a:solidFill>
                            <a:srgbClr val="000000"/>
                          </a:solidFill>
                          <a:effectLst/>
                          <a:latin typeface="等线" panose="02010600030101010101" charset="-122"/>
                          <a:ea typeface="等线" panose="02010600030101010101" charset="-122"/>
                        </a:rPr>
                        <a:t>自中证全指基日（</a:t>
                      </a:r>
                      <a:r>
                        <a:rPr lang="en-US" altLang="zh-CN" sz="1200" b="1" i="0" u="none" strike="noStrike">
                          <a:solidFill>
                            <a:srgbClr val="000000"/>
                          </a:solidFill>
                          <a:effectLst/>
                          <a:latin typeface="等线" panose="02010600030101010101" charset="-122"/>
                          <a:ea typeface="等线" panose="02010600030101010101" charset="-122"/>
                        </a:rPr>
                        <a:t>2004/12/31</a:t>
                      </a:r>
                      <a:r>
                        <a:rPr lang="zh-CN" altLang="en-US" sz="1200" b="1" i="0" u="none" strike="noStrike">
                          <a:solidFill>
                            <a:srgbClr val="000000"/>
                          </a:solidFill>
                          <a:effectLst/>
                          <a:latin typeface="等线" panose="02010600030101010101" charset="-122"/>
                          <a:ea typeface="等线" panose="02010600030101010101" charset="-122"/>
                        </a:rPr>
                        <a:t>）起收益率</a:t>
                      </a:r>
                    </a:p>
                  </a:txBody>
                  <a:tcPr marL="9525" marR="9525" marT="9525" marB="0" anchor="ctr">
                    <a:lnL>
                      <a:noFill/>
                    </a:lnL>
                    <a:lnR>
                      <a:noFill/>
                    </a:lnR>
                    <a:lnT>
                      <a:noFill/>
                    </a:lnT>
                    <a:lnB>
                      <a:noFill/>
                    </a:lnB>
                  </a:tcPr>
                </a:tc>
                <a:tc>
                  <a:txBody>
                    <a:bodyPr/>
                    <a:lstStyle/>
                    <a:p>
                      <a:pPr algn="ctr" fontAlgn="ctr"/>
                      <a:r>
                        <a:rPr lang="en-US" altLang="zh-CN" sz="1200" b="1" i="0" u="none" strike="noStrike" dirty="0">
                          <a:solidFill>
                            <a:srgbClr val="FF0000"/>
                          </a:solidFill>
                          <a:effectLst/>
                          <a:latin typeface="等线" panose="02010600030101010101" pitchFamily="2" charset="-122"/>
                          <a:ea typeface="等线" panose="02010600030101010101" pitchFamily="2" charset="-122"/>
                        </a:rPr>
                        <a:t>536.88%</a:t>
                      </a:r>
                    </a:p>
                  </a:txBody>
                  <a:tcPr marL="9525" marR="9525" marT="9525" marB="0" anchor="ctr">
                    <a:lnL>
                      <a:noFill/>
                    </a:lnL>
                    <a:lnR>
                      <a:noFill/>
                    </a:lnR>
                    <a:lnT>
                      <a:noFill/>
                    </a:lnT>
                    <a:lnB>
                      <a:noFill/>
                    </a:lnB>
                  </a:tcPr>
                </a:tc>
                <a:tc>
                  <a:txBody>
                    <a:bodyPr/>
                    <a:lstStyle/>
                    <a:p>
                      <a:pPr algn="ctr" fontAlgn="ctr"/>
                      <a:r>
                        <a:rPr lang="en-US" altLang="zh-CN" sz="1200" b="0" i="0" u="none" strike="noStrike" dirty="0">
                          <a:solidFill>
                            <a:srgbClr val="000000"/>
                          </a:solidFill>
                          <a:effectLst/>
                          <a:latin typeface="等线" panose="02010600030101010101" pitchFamily="2" charset="-122"/>
                          <a:ea typeface="等线" panose="02010600030101010101" pitchFamily="2" charset="-122"/>
                        </a:rPr>
                        <a:t>221.25%</a:t>
                      </a:r>
                    </a:p>
                  </a:txBody>
                  <a:tcPr marL="9525" marR="9525" marT="9525" marB="0" anchor="ctr">
                    <a:lnL>
                      <a:noFill/>
                    </a:lnL>
                    <a:lnR>
                      <a:noFill/>
                    </a:lnR>
                    <a:lnT>
                      <a:noFill/>
                    </a:lnT>
                    <a:lnB>
                      <a:noFill/>
                    </a:lnB>
                  </a:tcPr>
                </a:tc>
                <a:tc>
                  <a:txBody>
                    <a:bodyPr/>
                    <a:lstStyle/>
                    <a:p>
                      <a:pPr algn="ctr" fontAlgn="ctr"/>
                      <a:r>
                        <a:rPr lang="en-US" altLang="zh-CN" sz="1200" b="0" i="0" u="none" strike="noStrike" dirty="0">
                          <a:solidFill>
                            <a:srgbClr val="000000"/>
                          </a:solidFill>
                          <a:effectLst/>
                          <a:latin typeface="等线" panose="02010600030101010101" pitchFamily="2" charset="-122"/>
                          <a:ea typeface="等线" panose="02010600030101010101" pitchFamily="2" charset="-122"/>
                        </a:rPr>
                        <a:t>389.21%</a:t>
                      </a:r>
                    </a:p>
                  </a:txBody>
                  <a:tcPr marL="9525" marR="9525" marT="9525" marB="0" anchor="ctr">
                    <a:lnL>
                      <a:noFill/>
                    </a:lnL>
                    <a:lnR>
                      <a:noFill/>
                    </a:lnR>
                    <a:lnT>
                      <a:noFill/>
                    </a:lnT>
                    <a:lnB>
                      <a:noFill/>
                    </a:lnB>
                  </a:tcPr>
                </a:tc>
                <a:tc>
                  <a:txBody>
                    <a:bodyPr/>
                    <a:lstStyle/>
                    <a:p>
                      <a:pPr algn="ctr" fontAlgn="ctr"/>
                      <a:r>
                        <a:rPr lang="en-US" altLang="zh-CN" sz="1200" b="0" i="0" u="none" strike="noStrike" dirty="0">
                          <a:solidFill>
                            <a:srgbClr val="000000"/>
                          </a:solidFill>
                          <a:effectLst/>
                          <a:latin typeface="等线" panose="02010600030101010101" pitchFamily="2" charset="-122"/>
                          <a:ea typeface="等线" panose="02010600030101010101" pitchFamily="2" charset="-122"/>
                        </a:rPr>
                        <a:t>448.59%</a:t>
                      </a:r>
                    </a:p>
                  </a:txBody>
                  <a:tcPr marL="9525" marR="9525" marT="9525" marB="0" anchor="ctr">
                    <a:lnL>
                      <a:noFill/>
                    </a:lnL>
                    <a:lnR>
                      <a:noFill/>
                    </a:lnR>
                    <a:lnT>
                      <a:noFill/>
                    </a:lnT>
                    <a:lnB>
                      <a:noFill/>
                    </a:lnB>
                  </a:tcPr>
                </a:tc>
                <a:extLst>
                  <a:ext uri="{0D108BD9-81ED-4DB2-BD59-A6C34878D82A}">
                    <a16:rowId xmlns:a16="http://schemas.microsoft.com/office/drawing/2014/main" xmlns=""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6974" y="242221"/>
            <a:ext cx="10515600" cy="448994"/>
          </a:xfrm>
        </p:spPr>
        <p:txBody>
          <a:bodyPr>
            <a:noAutofit/>
          </a:bodyPr>
          <a:lstStyle/>
          <a:p>
            <a:r>
              <a:rPr lang="en-US" altLang="zh-CN" dirty="0">
                <a:solidFill>
                  <a:srgbClr val="EA5838"/>
                </a:solidFill>
              </a:rPr>
              <a:t>4</a:t>
            </a:r>
            <a:r>
              <a:rPr lang="zh-CN" altLang="en-US" dirty="0">
                <a:solidFill>
                  <a:srgbClr val="EA5838"/>
                </a:solidFill>
              </a:rPr>
              <a:t>、投资体验佳：</a:t>
            </a:r>
            <a:r>
              <a:rPr lang="zh-CN" altLang="en-US" dirty="0"/>
              <a:t>股息率稳定，分红能力更强</a:t>
            </a:r>
          </a:p>
        </p:txBody>
      </p:sp>
      <p:sp>
        <p:nvSpPr>
          <p:cNvPr id="3" name="副标题 2"/>
          <p:cNvSpPr>
            <a:spLocks noGrp="1"/>
          </p:cNvSpPr>
          <p:nvPr>
            <p:ph type="subTitle" idx="1"/>
          </p:nvPr>
        </p:nvSpPr>
        <p:spPr/>
        <p:txBody>
          <a:bodyPr/>
          <a:lstStyle/>
          <a:p>
            <a:r>
              <a:rPr lang="zh-CN" altLang="en-US" b="0" i="0" dirty="0">
                <a:solidFill>
                  <a:srgbClr val="1A1A1A"/>
                </a:solidFill>
                <a:effectLst/>
                <a:latin typeface="微软雅黑" panose="020B0503020204020204" pitchFamily="34" charset="-122"/>
                <a:ea typeface="微软雅黑" panose="020B0503020204020204" pitchFamily="34" charset="-122"/>
              </a:rPr>
              <a:t>分红情况通常能够体现中国上市公司整体盈利能力和对股东回报的重视程度。</a:t>
            </a:r>
            <a:r>
              <a:rPr lang="en-US" altLang="zh-CN" b="0" i="0" dirty="0">
                <a:solidFill>
                  <a:srgbClr val="1A1A1A"/>
                </a:solidFill>
                <a:effectLst/>
                <a:latin typeface="微软雅黑" panose="020B0503020204020204" pitchFamily="34" charset="-122"/>
                <a:ea typeface="微软雅黑" panose="020B0503020204020204" pitchFamily="34" charset="-122"/>
              </a:rPr>
              <a:t>2016</a:t>
            </a:r>
            <a:r>
              <a:rPr lang="zh-CN" altLang="en-US" b="0" i="0" dirty="0">
                <a:solidFill>
                  <a:srgbClr val="1A1A1A"/>
                </a:solidFill>
                <a:effectLst/>
                <a:latin typeface="微软雅黑" panose="020B0503020204020204" pitchFamily="34" charset="-122"/>
                <a:ea typeface="微软雅黑" panose="020B0503020204020204" pitchFamily="34" charset="-122"/>
              </a:rPr>
              <a:t>年以来至</a:t>
            </a:r>
            <a:r>
              <a:rPr lang="en-US" altLang="zh-CN" b="0" i="0" dirty="0">
                <a:solidFill>
                  <a:srgbClr val="1A1A1A"/>
                </a:solidFill>
                <a:effectLst/>
                <a:latin typeface="微软雅黑" panose="020B0503020204020204" pitchFamily="34" charset="-122"/>
                <a:ea typeface="微软雅黑" panose="020B0503020204020204" pitchFamily="34" charset="-122"/>
              </a:rPr>
              <a:t>2025</a:t>
            </a:r>
            <a:r>
              <a:rPr lang="zh-CN" altLang="en-US" b="0" i="0" dirty="0">
                <a:solidFill>
                  <a:srgbClr val="1A1A1A"/>
                </a:solidFill>
                <a:effectLst/>
                <a:latin typeface="微软雅黑" panose="020B0503020204020204" pitchFamily="34" charset="-122"/>
                <a:ea typeface="微软雅黑" panose="020B0503020204020204" pitchFamily="34" charset="-122"/>
              </a:rPr>
              <a:t>年，中证全指现金分红整体呈现上升趋势，</a:t>
            </a:r>
            <a:r>
              <a:rPr lang="en-US" altLang="zh-CN" b="0" i="0" dirty="0">
                <a:solidFill>
                  <a:srgbClr val="1A1A1A"/>
                </a:solidFill>
                <a:effectLst/>
                <a:latin typeface="微软雅黑" panose="020B0503020204020204" pitchFamily="34" charset="-122"/>
                <a:ea typeface="微软雅黑" panose="020B0503020204020204" pitchFamily="34" charset="-122"/>
              </a:rPr>
              <a:t>2025</a:t>
            </a:r>
            <a:r>
              <a:rPr lang="zh-CN" altLang="en-US" b="0" i="0" dirty="0">
                <a:solidFill>
                  <a:srgbClr val="1A1A1A"/>
                </a:solidFill>
                <a:effectLst/>
                <a:latin typeface="微软雅黑" panose="020B0503020204020204" pitchFamily="34" charset="-122"/>
                <a:ea typeface="微软雅黑" panose="020B0503020204020204" pitchFamily="34" charset="-122"/>
              </a:rPr>
              <a:t>年全年现金分红总额达到</a:t>
            </a:r>
            <a:r>
              <a:rPr lang="en-US" altLang="zh-CN" dirty="0">
                <a:solidFill>
                  <a:srgbClr val="1A1A1A"/>
                </a:solidFill>
              </a:rPr>
              <a:t>25</a:t>
            </a:r>
            <a:r>
              <a:rPr lang="en-US" altLang="zh-CN" b="0" i="0" dirty="0">
                <a:solidFill>
                  <a:srgbClr val="1A1A1A"/>
                </a:solidFill>
                <a:effectLst/>
                <a:latin typeface="微软雅黑" panose="020B0503020204020204" pitchFamily="34" charset="-122"/>
                <a:ea typeface="微软雅黑" panose="020B0503020204020204" pitchFamily="34" charset="-122"/>
              </a:rPr>
              <a:t>,083.03</a:t>
            </a:r>
            <a:r>
              <a:rPr lang="zh-CN" altLang="en-US" b="0" i="0" dirty="0">
                <a:solidFill>
                  <a:srgbClr val="1A1A1A"/>
                </a:solidFill>
                <a:effectLst/>
                <a:latin typeface="微软雅黑" panose="020B0503020204020204" pitchFamily="34" charset="-122"/>
                <a:ea typeface="微软雅黑" panose="020B0503020204020204" pitchFamily="34" charset="-122"/>
              </a:rPr>
              <a:t>亿元，为投资者提供了相对稳定的现金流。</a:t>
            </a:r>
            <a:endParaRPr lang="en-US" altLang="zh-CN" b="0" i="0" dirty="0">
              <a:solidFill>
                <a:srgbClr val="1A1A1A"/>
              </a:solidFill>
              <a:effectLst/>
              <a:latin typeface="微软雅黑" panose="020B0503020204020204" pitchFamily="34" charset="-122"/>
              <a:ea typeface="微软雅黑" panose="020B0503020204020204" pitchFamily="34" charset="-122"/>
            </a:endParaRPr>
          </a:p>
          <a:p>
            <a:r>
              <a:rPr lang="zh-CN" altLang="en-US" dirty="0"/>
              <a:t>指数股息率较高，也说明成分股公司当前整体而言股价较低，意味着公司股票的估值收缩风险相对较低。中证全指近四年股息率约在</a:t>
            </a:r>
            <a:r>
              <a:rPr lang="en-US" altLang="zh-CN" dirty="0"/>
              <a:t>2%</a:t>
            </a:r>
            <a:r>
              <a:rPr lang="zh-CN" altLang="en-US" dirty="0"/>
              <a:t>左右，优于中证</a:t>
            </a:r>
            <a:r>
              <a:rPr lang="en-US" altLang="zh-CN" dirty="0"/>
              <a:t>500</a:t>
            </a:r>
            <a:r>
              <a:rPr lang="zh-CN" altLang="en-US" dirty="0"/>
              <a:t>、中证</a:t>
            </a:r>
            <a:r>
              <a:rPr lang="en-US" altLang="zh-CN" dirty="0"/>
              <a:t>1000</a:t>
            </a:r>
            <a:r>
              <a:rPr lang="zh-CN" altLang="en-US" dirty="0"/>
              <a:t>等指数。</a:t>
            </a:r>
          </a:p>
        </p:txBody>
      </p:sp>
      <p:sp>
        <p:nvSpPr>
          <p:cNvPr id="4" name="灯片编号占位符 3"/>
          <p:cNvSpPr>
            <a:spLocks noGrp="1"/>
          </p:cNvSpPr>
          <p:nvPr>
            <p:ph type="sldNum" sz="quarter" idx="11"/>
          </p:nvPr>
        </p:nvSpPr>
        <p:spPr/>
        <p:txBody>
          <a:bodyPr/>
          <a:lstStyle/>
          <a:p>
            <a:pPr>
              <a:defRPr/>
            </a:pPr>
            <a:fld id="{6E91549D-98B7-4077-996F-05BE1B29F039}" type="slidenum">
              <a:rPr lang="zh-CN" altLang="en-US" smtClean="0"/>
              <a:t>11</a:t>
            </a:fld>
            <a:endParaRPr lang="zh-CN" altLang="en-US" dirty="0"/>
          </a:p>
        </p:txBody>
      </p:sp>
      <p:sp>
        <p:nvSpPr>
          <p:cNvPr id="7" name="文本框 6"/>
          <p:cNvSpPr txBox="1"/>
          <p:nvPr/>
        </p:nvSpPr>
        <p:spPr>
          <a:xfrm>
            <a:off x="1577502" y="2367277"/>
            <a:ext cx="1963366" cy="276999"/>
          </a:xfrm>
          <a:prstGeom prst="rect">
            <a:avLst/>
          </a:prstGeom>
          <a:noFill/>
        </p:spPr>
        <p:txBody>
          <a:bodyPr wrap="square">
            <a:spAutoFit/>
          </a:bodyPr>
          <a:lstStyle/>
          <a:p>
            <a:r>
              <a:rPr lang="zh-CN" altLang="en-US" sz="1200" b="1" dirty="0"/>
              <a:t>表：中证全指股息率表现</a:t>
            </a:r>
          </a:p>
        </p:txBody>
      </p:sp>
      <p:sp>
        <p:nvSpPr>
          <p:cNvPr id="8" name="文本框 7"/>
          <p:cNvSpPr txBox="1"/>
          <p:nvPr/>
        </p:nvSpPr>
        <p:spPr>
          <a:xfrm>
            <a:off x="1021910" y="5951917"/>
            <a:ext cx="2924782" cy="215444"/>
          </a:xfrm>
          <a:prstGeom prst="rect">
            <a:avLst/>
          </a:prstGeom>
          <a:noFill/>
        </p:spPr>
        <p:txBody>
          <a:bodyPr wrap="square">
            <a:spAutoFit/>
          </a:bodyPr>
          <a:lstStyle/>
          <a:p>
            <a:r>
              <a:rPr lang="zh-CN" altLang="en-US" sz="800" dirty="0"/>
              <a:t>数据来源：</a:t>
            </a:r>
            <a:r>
              <a:rPr lang="en-US" altLang="zh-CN" sz="800" dirty="0"/>
              <a:t>wind</a:t>
            </a:r>
            <a:r>
              <a:rPr lang="zh-CN" altLang="en-US" sz="800" dirty="0"/>
              <a:t>，统计区间：</a:t>
            </a:r>
            <a:r>
              <a:rPr lang="en-US" altLang="zh-CN" sz="800" dirty="0"/>
              <a:t>2016.01.01-2025.12.31</a:t>
            </a:r>
            <a:r>
              <a:rPr lang="zh-CN" altLang="en-US" sz="800" dirty="0"/>
              <a:t>。</a:t>
            </a:r>
          </a:p>
        </p:txBody>
      </p:sp>
      <p:sp>
        <p:nvSpPr>
          <p:cNvPr id="11" name="文本框 10"/>
          <p:cNvSpPr txBox="1"/>
          <p:nvPr/>
        </p:nvSpPr>
        <p:spPr>
          <a:xfrm>
            <a:off x="6656964" y="2630086"/>
            <a:ext cx="3957534" cy="276999"/>
          </a:xfrm>
          <a:prstGeom prst="rect">
            <a:avLst/>
          </a:prstGeom>
          <a:noFill/>
        </p:spPr>
        <p:txBody>
          <a:bodyPr wrap="square">
            <a:spAutoFit/>
          </a:bodyPr>
          <a:lstStyle/>
          <a:p>
            <a:r>
              <a:rPr lang="zh-CN" altLang="en-US" sz="1200" b="1" dirty="0"/>
              <a:t>表：中证全指与其他指数股息率对比</a:t>
            </a:r>
          </a:p>
        </p:txBody>
      </p:sp>
      <p:sp>
        <p:nvSpPr>
          <p:cNvPr id="14" name="文本框 13"/>
          <p:cNvSpPr txBox="1"/>
          <p:nvPr/>
        </p:nvSpPr>
        <p:spPr>
          <a:xfrm>
            <a:off x="5008028" y="5670905"/>
            <a:ext cx="2924782" cy="215444"/>
          </a:xfrm>
          <a:prstGeom prst="rect">
            <a:avLst/>
          </a:prstGeom>
          <a:noFill/>
        </p:spPr>
        <p:txBody>
          <a:bodyPr wrap="square">
            <a:spAutoFit/>
          </a:bodyPr>
          <a:lstStyle/>
          <a:p>
            <a:r>
              <a:rPr lang="zh-CN" altLang="en-US" sz="800" dirty="0"/>
              <a:t>数据来源：</a:t>
            </a:r>
            <a:r>
              <a:rPr lang="en-US" altLang="zh-CN" sz="800" dirty="0"/>
              <a:t>wind</a:t>
            </a:r>
            <a:r>
              <a:rPr lang="zh-CN" altLang="en-US" sz="800" dirty="0"/>
              <a:t>，统计区间：</a:t>
            </a:r>
            <a:r>
              <a:rPr lang="en-US" altLang="zh-CN" sz="800" dirty="0"/>
              <a:t>2021.01.01-2025.12.31</a:t>
            </a:r>
            <a:r>
              <a:rPr lang="zh-CN" altLang="en-US" sz="800" dirty="0"/>
              <a:t>。</a:t>
            </a:r>
          </a:p>
        </p:txBody>
      </p:sp>
      <p:sp>
        <p:nvSpPr>
          <p:cNvPr id="15" name="矩形 14"/>
          <p:cNvSpPr/>
          <p:nvPr/>
        </p:nvSpPr>
        <p:spPr>
          <a:xfrm>
            <a:off x="3742020" y="6218456"/>
            <a:ext cx="7451674" cy="215444"/>
          </a:xfrm>
          <a:prstGeom prst="rect">
            <a:avLst/>
          </a:prstGeom>
        </p:spPr>
        <p:txBody>
          <a:bodyPr wrap="square">
            <a:spAutoFit/>
          </a:bodyPr>
          <a:lstStyle/>
          <a:p>
            <a:pPr algn="r" defTabSz="914400" eaLnBrk="1" fontAlgn="auto" hangingPunct="1">
              <a:spcBef>
                <a:spcPts val="0"/>
              </a:spcBef>
              <a:spcAft>
                <a:spcPts val="0"/>
              </a:spcAft>
              <a:defRPr/>
            </a:pPr>
            <a:r>
              <a:rPr lang="zh-CN" altLang="en-US" sz="800" dirty="0">
                <a:solidFill>
                  <a:prstClr val="black"/>
                </a:solidFill>
                <a:sym typeface="+mn-ea"/>
              </a:rPr>
              <a:t>风险提示：</a:t>
            </a:r>
            <a:r>
              <a:rPr lang="zh-CN" altLang="en-US" sz="800" dirty="0">
                <a:solidFill>
                  <a:srgbClr val="000000"/>
                </a:solidFill>
              </a:rPr>
              <a:t>我国股市运作时间较短，不能反映证券市场发展的所有阶段。</a:t>
            </a:r>
            <a:r>
              <a:rPr lang="zh-CN" altLang="en-US" sz="800" dirty="0">
                <a:solidFill>
                  <a:prstClr val="black"/>
                </a:solidFill>
                <a:sym typeface="+mn-ea"/>
              </a:rPr>
              <a:t>历史业绩并不代表其未来表现</a:t>
            </a:r>
            <a:endParaRPr lang="zh-CN" altLang="en-US" sz="800" dirty="0">
              <a:solidFill>
                <a:prstClr val="black"/>
              </a:solidFill>
            </a:endParaRPr>
          </a:p>
        </p:txBody>
      </p:sp>
      <p:graphicFrame>
        <p:nvGraphicFramePr>
          <p:cNvPr id="6" name="表格 5"/>
          <p:cNvGraphicFramePr>
            <a:graphicFrameLocks noGrp="1"/>
          </p:cNvGraphicFramePr>
          <p:nvPr>
            <p:extLst>
              <p:ext uri="{D42A27DB-BD31-4B8C-83A1-F6EECF244321}">
                <p14:modId xmlns:p14="http://schemas.microsoft.com/office/powerpoint/2010/main" val="3519620400"/>
              </p:ext>
            </p:extLst>
          </p:nvPr>
        </p:nvGraphicFramePr>
        <p:xfrm>
          <a:off x="4724067" y="2976116"/>
          <a:ext cx="6945075" cy="2641224"/>
        </p:xfrm>
        <a:graphic>
          <a:graphicData uri="http://schemas.openxmlformats.org/drawingml/2006/table">
            <a:tbl>
              <a:tblPr/>
              <a:tblGrid>
                <a:gridCol w="1162116">
                  <a:extLst>
                    <a:ext uri="{9D8B030D-6E8A-4147-A177-3AD203B41FA5}">
                      <a16:colId xmlns:a16="http://schemas.microsoft.com/office/drawing/2014/main" xmlns="" val="20000"/>
                    </a:ext>
                  </a:extLst>
                </a:gridCol>
                <a:gridCol w="1145059">
                  <a:extLst>
                    <a:ext uri="{9D8B030D-6E8A-4147-A177-3AD203B41FA5}">
                      <a16:colId xmlns:a16="http://schemas.microsoft.com/office/drawing/2014/main" xmlns="" val="20001"/>
                    </a:ext>
                  </a:extLst>
                </a:gridCol>
                <a:gridCol w="927580">
                  <a:extLst>
                    <a:ext uri="{9D8B030D-6E8A-4147-A177-3AD203B41FA5}">
                      <a16:colId xmlns:a16="http://schemas.microsoft.com/office/drawing/2014/main" xmlns="" val="20002"/>
                    </a:ext>
                  </a:extLst>
                </a:gridCol>
                <a:gridCol w="927580">
                  <a:extLst>
                    <a:ext uri="{9D8B030D-6E8A-4147-A177-3AD203B41FA5}">
                      <a16:colId xmlns:a16="http://schemas.microsoft.com/office/drawing/2014/main" xmlns="" val="20003"/>
                    </a:ext>
                  </a:extLst>
                </a:gridCol>
                <a:gridCol w="927580">
                  <a:extLst>
                    <a:ext uri="{9D8B030D-6E8A-4147-A177-3AD203B41FA5}">
                      <a16:colId xmlns:a16="http://schemas.microsoft.com/office/drawing/2014/main" xmlns="" val="20004"/>
                    </a:ext>
                  </a:extLst>
                </a:gridCol>
                <a:gridCol w="927580">
                  <a:extLst>
                    <a:ext uri="{9D8B030D-6E8A-4147-A177-3AD203B41FA5}">
                      <a16:colId xmlns:a16="http://schemas.microsoft.com/office/drawing/2014/main" xmlns="" val="3928634543"/>
                    </a:ext>
                  </a:extLst>
                </a:gridCol>
                <a:gridCol w="927580">
                  <a:extLst>
                    <a:ext uri="{9D8B030D-6E8A-4147-A177-3AD203B41FA5}">
                      <a16:colId xmlns:a16="http://schemas.microsoft.com/office/drawing/2014/main" xmlns="" val="20005"/>
                    </a:ext>
                  </a:extLst>
                </a:gridCol>
              </a:tblGrid>
              <a:tr h="520034">
                <a:tc rowSpan="2">
                  <a:txBody>
                    <a:bodyPr/>
                    <a:lstStyle/>
                    <a:p>
                      <a:pPr algn="ctr" fontAlgn="ctr"/>
                      <a:r>
                        <a:rPr lang="zh-CN" altLang="en-US" sz="1400" b="1" i="0" u="none" strike="noStrike" dirty="0">
                          <a:solidFill>
                            <a:srgbClr val="FFFFFF"/>
                          </a:solidFill>
                          <a:effectLst/>
                          <a:latin typeface="+mn-ea"/>
                          <a:ea typeface="+mn-ea"/>
                        </a:rPr>
                        <a:t>指数代码</a:t>
                      </a:r>
                    </a:p>
                  </a:txBody>
                  <a:tcPr marL="131377" marR="131377" marT="65688" marB="656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BDD7EE"/>
                      </a:solidFill>
                      <a:prstDash val="solid"/>
                      <a:round/>
                      <a:headEnd type="none" w="med" len="med"/>
                      <a:tailEnd type="none" w="med" len="med"/>
                    </a:lnB>
                    <a:solidFill>
                      <a:srgbClr val="002060"/>
                    </a:solidFill>
                  </a:tcPr>
                </a:tc>
                <a:tc rowSpan="2">
                  <a:txBody>
                    <a:bodyPr/>
                    <a:lstStyle/>
                    <a:p>
                      <a:pPr algn="ctr" fontAlgn="ctr"/>
                      <a:r>
                        <a:rPr lang="zh-CN" altLang="en-US" sz="1400" b="1" i="0" u="none" strike="noStrike" dirty="0">
                          <a:solidFill>
                            <a:srgbClr val="FFFFFF"/>
                          </a:solidFill>
                          <a:effectLst/>
                          <a:latin typeface="+mn-ea"/>
                          <a:ea typeface="+mn-ea"/>
                        </a:rPr>
                        <a:t>指数简称</a:t>
                      </a:r>
                    </a:p>
                  </a:txBody>
                  <a:tcPr marL="131377" marR="131377" marT="65688" marB="656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BDD7EE"/>
                      </a:solidFill>
                      <a:prstDash val="solid"/>
                      <a:round/>
                      <a:headEnd type="none" w="med" len="med"/>
                      <a:tailEnd type="none" w="med" len="med"/>
                    </a:lnB>
                    <a:solidFill>
                      <a:srgbClr val="002060"/>
                    </a:solidFill>
                  </a:tcPr>
                </a:tc>
                <a:tc gridSpan="5">
                  <a:txBody>
                    <a:bodyPr/>
                    <a:lstStyle/>
                    <a:p>
                      <a:pPr algn="ctr" fontAlgn="ctr"/>
                      <a:r>
                        <a:rPr lang="zh-CN" altLang="en-US" sz="1400" b="1" i="0" u="none" strike="noStrike" dirty="0">
                          <a:solidFill>
                            <a:srgbClr val="FFFFFF"/>
                          </a:solidFill>
                          <a:effectLst/>
                          <a:latin typeface="+mn-ea"/>
                          <a:ea typeface="+mn-ea"/>
                        </a:rPr>
                        <a:t>股息率</a:t>
                      </a:r>
                    </a:p>
                  </a:txBody>
                  <a:tcPr marL="131377" marR="131377" marT="65688" marB="656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zh-CN"/>
                    </a:p>
                  </a:txBody>
                  <a:tcPr/>
                </a:tc>
                <a:tc hMerge="1">
                  <a:txBody>
                    <a:bodyPr/>
                    <a:lstStyle/>
                    <a:p>
                      <a:endParaRPr lang="zh-CN"/>
                    </a:p>
                  </a:txBody>
                  <a:tcPr/>
                </a:tc>
                <a:tc hMerge="1">
                  <a:txBody>
                    <a:bodyPr/>
                    <a:lstStyle/>
                    <a:p>
                      <a:endParaRPr lang="zh-CN" altLang="en-US"/>
                    </a:p>
                  </a:txBody>
                  <a:tcPr/>
                </a:tc>
                <a:tc hMerge="1">
                  <a:txBody>
                    <a:bodyPr/>
                    <a:lstStyle/>
                    <a:p>
                      <a:endParaRPr lang="zh-CN"/>
                    </a:p>
                  </a:txBody>
                  <a:tcPr/>
                </a:tc>
                <a:extLst>
                  <a:ext uri="{0D108BD9-81ED-4DB2-BD59-A6C34878D82A}">
                    <a16:rowId xmlns:a16="http://schemas.microsoft.com/office/drawing/2014/main" xmlns="" val="10000"/>
                  </a:ext>
                </a:extLst>
              </a:tr>
              <a:tr h="465293">
                <a:tc vMerge="1">
                  <a:txBody>
                    <a:bodyPr/>
                    <a:lstStyle/>
                    <a:p>
                      <a:endParaRPr lang="zh-CN"/>
                    </a:p>
                  </a:txBody>
                  <a:tcPr/>
                </a:tc>
                <a:tc vMerge="1">
                  <a:txBody>
                    <a:bodyPr/>
                    <a:lstStyle/>
                    <a:p>
                      <a:endParaRPr lang="zh-CN"/>
                    </a:p>
                  </a:txBody>
                  <a:tcPr/>
                </a:tc>
                <a:tc>
                  <a:txBody>
                    <a:bodyPr/>
                    <a:lstStyle/>
                    <a:p>
                      <a:pPr algn="ctr" fontAlgn="ctr"/>
                      <a:r>
                        <a:rPr lang="en-US" altLang="zh-CN" sz="1400" b="1" i="0" u="none" strike="noStrike" dirty="0">
                          <a:solidFill>
                            <a:srgbClr val="FFFFFF"/>
                          </a:solidFill>
                          <a:effectLst/>
                          <a:latin typeface="+mn-ea"/>
                          <a:ea typeface="+mn-ea"/>
                        </a:rPr>
                        <a:t>2021</a:t>
                      </a:r>
                      <a:r>
                        <a:rPr lang="zh-CN" altLang="en-US" sz="1400" b="1" i="0" u="none" strike="noStrike" dirty="0">
                          <a:solidFill>
                            <a:srgbClr val="FFFFFF"/>
                          </a:solidFill>
                          <a:effectLst/>
                          <a:latin typeface="+mn-ea"/>
                          <a:ea typeface="+mn-ea"/>
                        </a:rPr>
                        <a:t>年</a:t>
                      </a:r>
                    </a:p>
                  </a:txBody>
                  <a:tcPr marL="13685" marR="13685" marT="1368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BDD7EE"/>
                      </a:solidFill>
                      <a:prstDash val="solid"/>
                      <a:round/>
                      <a:headEnd type="none" w="med" len="med"/>
                      <a:tailEnd type="none" w="med" len="med"/>
                    </a:lnB>
                    <a:solidFill>
                      <a:srgbClr val="002060"/>
                    </a:solidFill>
                  </a:tcPr>
                </a:tc>
                <a:tc>
                  <a:txBody>
                    <a:bodyPr/>
                    <a:lstStyle/>
                    <a:p>
                      <a:pPr algn="ctr" fontAlgn="ctr"/>
                      <a:r>
                        <a:rPr lang="en-US" altLang="zh-CN" sz="1400" b="1" i="0" u="none" strike="noStrike" dirty="0">
                          <a:solidFill>
                            <a:srgbClr val="FFFFFF"/>
                          </a:solidFill>
                          <a:effectLst/>
                          <a:latin typeface="+mn-ea"/>
                          <a:ea typeface="+mn-ea"/>
                        </a:rPr>
                        <a:t>2022</a:t>
                      </a:r>
                      <a:r>
                        <a:rPr lang="zh-CN" altLang="en-US" sz="1400" b="1" i="0" u="none" strike="noStrike" dirty="0">
                          <a:solidFill>
                            <a:srgbClr val="FFFFFF"/>
                          </a:solidFill>
                          <a:effectLst/>
                          <a:latin typeface="+mn-ea"/>
                          <a:ea typeface="+mn-ea"/>
                        </a:rPr>
                        <a:t>年</a:t>
                      </a:r>
                    </a:p>
                  </a:txBody>
                  <a:tcPr marL="13685" marR="13685" marT="1368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BDD7EE"/>
                      </a:solidFill>
                      <a:prstDash val="solid"/>
                      <a:round/>
                      <a:headEnd type="none" w="med" len="med"/>
                      <a:tailEnd type="none" w="med" len="med"/>
                    </a:lnB>
                    <a:solidFill>
                      <a:srgbClr val="002060"/>
                    </a:solidFill>
                  </a:tcPr>
                </a:tc>
                <a:tc>
                  <a:txBody>
                    <a:bodyPr/>
                    <a:lstStyle/>
                    <a:p>
                      <a:pPr algn="ctr" fontAlgn="ctr"/>
                      <a:r>
                        <a:rPr lang="en-US" altLang="zh-CN" sz="1400" b="1" i="0" u="none" strike="noStrike" dirty="0">
                          <a:solidFill>
                            <a:srgbClr val="FFFFFF"/>
                          </a:solidFill>
                          <a:effectLst/>
                          <a:latin typeface="+mn-ea"/>
                          <a:ea typeface="+mn-ea"/>
                        </a:rPr>
                        <a:t>2023</a:t>
                      </a:r>
                      <a:r>
                        <a:rPr lang="zh-CN" altLang="en-US" sz="1400" b="1" i="0" u="none" strike="noStrike" dirty="0">
                          <a:solidFill>
                            <a:srgbClr val="FFFFFF"/>
                          </a:solidFill>
                          <a:effectLst/>
                          <a:latin typeface="+mn-ea"/>
                          <a:ea typeface="+mn-ea"/>
                        </a:rPr>
                        <a:t>年</a:t>
                      </a:r>
                    </a:p>
                  </a:txBody>
                  <a:tcPr marL="13685" marR="13685" marT="1368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BDD7EE"/>
                      </a:solidFill>
                      <a:prstDash val="solid"/>
                      <a:round/>
                      <a:headEnd type="none" w="med" len="med"/>
                      <a:tailEnd type="none" w="med" len="med"/>
                    </a:lnB>
                    <a:solidFill>
                      <a:srgbClr val="002060"/>
                    </a:solidFill>
                  </a:tcPr>
                </a:tc>
                <a:tc>
                  <a:txBody>
                    <a:bodyPr/>
                    <a:lstStyle/>
                    <a:p>
                      <a:pPr algn="ctr" fontAlgn="ctr"/>
                      <a:r>
                        <a:rPr lang="en-US" altLang="zh-CN" sz="1400" b="1" i="0" u="none" strike="noStrike" dirty="0">
                          <a:solidFill>
                            <a:srgbClr val="FFFFFF"/>
                          </a:solidFill>
                          <a:effectLst/>
                          <a:latin typeface="+mn-ea"/>
                          <a:ea typeface="+mn-ea"/>
                        </a:rPr>
                        <a:t>2024</a:t>
                      </a:r>
                      <a:r>
                        <a:rPr lang="zh-CN" altLang="en-US" sz="1400" b="1" i="0" u="none" strike="noStrike" dirty="0">
                          <a:solidFill>
                            <a:srgbClr val="FFFFFF"/>
                          </a:solidFill>
                          <a:effectLst/>
                          <a:latin typeface="+mn-ea"/>
                          <a:ea typeface="+mn-ea"/>
                        </a:rPr>
                        <a:t>年</a:t>
                      </a:r>
                    </a:p>
                  </a:txBody>
                  <a:tcPr marL="13685" marR="13685" marT="1368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BDD7EE"/>
                      </a:solidFill>
                      <a:prstDash val="solid"/>
                      <a:round/>
                      <a:headEnd type="none" w="med" len="med"/>
                      <a:tailEnd type="none" w="med" len="med"/>
                    </a:lnB>
                    <a:solidFill>
                      <a:srgbClr val="002060"/>
                    </a:solidFill>
                  </a:tcPr>
                </a:tc>
                <a:tc>
                  <a:txBody>
                    <a:bodyPr/>
                    <a:lstStyle/>
                    <a:p>
                      <a:pPr algn="ctr" fontAlgn="ctr"/>
                      <a:r>
                        <a:rPr lang="en-US" altLang="zh-CN" sz="1400" b="1" i="0" u="none" strike="noStrike" dirty="0">
                          <a:solidFill>
                            <a:srgbClr val="FFFFFF"/>
                          </a:solidFill>
                          <a:effectLst/>
                          <a:latin typeface="+mn-ea"/>
                          <a:ea typeface="+mn-ea"/>
                        </a:rPr>
                        <a:t>2025</a:t>
                      </a:r>
                      <a:r>
                        <a:rPr lang="zh-CN" altLang="en-US" sz="1400" b="1" i="0" u="none" strike="noStrike" dirty="0">
                          <a:solidFill>
                            <a:srgbClr val="FFFFFF"/>
                          </a:solidFill>
                          <a:effectLst/>
                          <a:latin typeface="+mn-ea"/>
                          <a:ea typeface="+mn-ea"/>
                        </a:rPr>
                        <a:t>年</a:t>
                      </a:r>
                    </a:p>
                  </a:txBody>
                  <a:tcPr marL="13685" marR="13685" marT="1368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BDD7EE"/>
                      </a:solidFill>
                      <a:prstDash val="solid"/>
                      <a:round/>
                      <a:headEnd type="none" w="med" len="med"/>
                      <a:tailEnd type="none" w="med" len="med"/>
                    </a:lnB>
                    <a:solidFill>
                      <a:srgbClr val="002060"/>
                    </a:solidFill>
                  </a:tcPr>
                </a:tc>
                <a:extLst>
                  <a:ext uri="{0D108BD9-81ED-4DB2-BD59-A6C34878D82A}">
                    <a16:rowId xmlns:a16="http://schemas.microsoft.com/office/drawing/2014/main" xmlns="" val="10001"/>
                  </a:ext>
                </a:extLst>
              </a:tr>
              <a:tr h="383183">
                <a:tc>
                  <a:txBody>
                    <a:bodyPr/>
                    <a:lstStyle/>
                    <a:p>
                      <a:pPr algn="ctr" fontAlgn="ctr"/>
                      <a:r>
                        <a:rPr lang="en-US" sz="1400" b="0" i="0" u="none" strike="noStrike">
                          <a:solidFill>
                            <a:srgbClr val="000000"/>
                          </a:solidFill>
                          <a:effectLst/>
                          <a:latin typeface="+mn-ea"/>
                          <a:ea typeface="+mn-ea"/>
                        </a:rPr>
                        <a:t>000985.CSI</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mn-ea"/>
                          <a:ea typeface="+mn-ea"/>
                        </a:rPr>
                        <a:t>中证全指</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1.50%</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2.14%</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2.25%</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2.29%</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1.96%</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extLst>
                  <a:ext uri="{0D108BD9-81ED-4DB2-BD59-A6C34878D82A}">
                    <a16:rowId xmlns:a16="http://schemas.microsoft.com/office/drawing/2014/main" xmlns="" val="10002"/>
                  </a:ext>
                </a:extLst>
              </a:tr>
              <a:tr h="437923">
                <a:tc>
                  <a:txBody>
                    <a:bodyPr/>
                    <a:lstStyle/>
                    <a:p>
                      <a:pPr algn="ctr" fontAlgn="ctr"/>
                      <a:r>
                        <a:rPr lang="en-US" sz="1400" b="0" i="0" u="none" strike="noStrike">
                          <a:solidFill>
                            <a:srgbClr val="000000"/>
                          </a:solidFill>
                          <a:effectLst/>
                          <a:latin typeface="+mn-ea"/>
                          <a:ea typeface="+mn-ea"/>
                        </a:rPr>
                        <a:t>000905.SH</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mn-ea"/>
                          <a:ea typeface="+mn-ea"/>
                        </a:rPr>
                        <a:t>中证</a:t>
                      </a:r>
                      <a:r>
                        <a:rPr lang="en-US" altLang="zh-CN" sz="1400" b="0" i="0" u="none" strike="noStrike">
                          <a:solidFill>
                            <a:srgbClr val="000000"/>
                          </a:solidFill>
                          <a:effectLst/>
                          <a:latin typeface="+mn-ea"/>
                          <a:ea typeface="+mn-ea"/>
                        </a:rPr>
                        <a:t>500</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mn-ea"/>
                          <a:ea typeface="+mn-ea"/>
                        </a:rPr>
                        <a:t>1.44%</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1.87%</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1.84%</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1.82%</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1.43%</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extLst>
                  <a:ext uri="{0D108BD9-81ED-4DB2-BD59-A6C34878D82A}">
                    <a16:rowId xmlns:a16="http://schemas.microsoft.com/office/drawing/2014/main" xmlns="" val="10003"/>
                  </a:ext>
                </a:extLst>
              </a:tr>
              <a:tr h="410553">
                <a:tc>
                  <a:txBody>
                    <a:bodyPr/>
                    <a:lstStyle/>
                    <a:p>
                      <a:pPr algn="ctr" fontAlgn="ctr"/>
                      <a:r>
                        <a:rPr lang="en-US" sz="1400" b="0" i="0" u="none" strike="noStrike" dirty="0">
                          <a:solidFill>
                            <a:srgbClr val="000000"/>
                          </a:solidFill>
                          <a:effectLst/>
                          <a:latin typeface="+mn-ea"/>
                          <a:ea typeface="+mn-ea"/>
                        </a:rPr>
                        <a:t>000852.SH</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mn-ea"/>
                          <a:ea typeface="+mn-ea"/>
                        </a:rPr>
                        <a:t>中证</a:t>
                      </a:r>
                      <a:r>
                        <a:rPr lang="en-US" altLang="zh-CN" sz="1400" b="0" i="0" u="none" strike="noStrike" dirty="0">
                          <a:solidFill>
                            <a:srgbClr val="000000"/>
                          </a:solidFill>
                          <a:effectLst/>
                          <a:latin typeface="+mn-ea"/>
                          <a:ea typeface="+mn-ea"/>
                        </a:rPr>
                        <a:t>1000</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mn-ea"/>
                          <a:ea typeface="+mn-ea"/>
                        </a:rPr>
                        <a:t>0.81%</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mn-ea"/>
                          <a:ea typeface="+mn-ea"/>
                        </a:rPr>
                        <a:t>1.18%</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1.25%</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1.50%</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1.09%</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extLst>
                  <a:ext uri="{0D108BD9-81ED-4DB2-BD59-A6C34878D82A}">
                    <a16:rowId xmlns:a16="http://schemas.microsoft.com/office/drawing/2014/main" xmlns="" val="10004"/>
                  </a:ext>
                </a:extLst>
              </a:tr>
              <a:tr h="424238">
                <a:tc>
                  <a:txBody>
                    <a:bodyPr/>
                    <a:lstStyle/>
                    <a:p>
                      <a:pPr algn="ctr" fontAlgn="ctr"/>
                      <a:r>
                        <a:rPr lang="en-US" sz="1400" b="0" i="0" u="none" strike="noStrike">
                          <a:solidFill>
                            <a:srgbClr val="000000"/>
                          </a:solidFill>
                          <a:effectLst/>
                          <a:latin typeface="+mn-ea"/>
                          <a:ea typeface="+mn-ea"/>
                        </a:rPr>
                        <a:t>932000.CSI</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mn-ea"/>
                          <a:ea typeface="+mn-ea"/>
                        </a:rPr>
                        <a:t>中证</a:t>
                      </a:r>
                      <a:r>
                        <a:rPr lang="en-US" altLang="zh-CN" sz="1400" b="0" i="0" u="none" strike="noStrike">
                          <a:solidFill>
                            <a:srgbClr val="000000"/>
                          </a:solidFill>
                          <a:effectLst/>
                          <a:latin typeface="+mn-ea"/>
                          <a:ea typeface="+mn-ea"/>
                        </a:rPr>
                        <a:t>2000</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mn-ea"/>
                          <a:ea typeface="+mn-ea"/>
                        </a:rPr>
                        <a:t>-</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0.88%</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1.07%</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mn-ea"/>
                          <a:ea typeface="+mn-ea"/>
                        </a:rPr>
                        <a:t>0.77%</a:t>
                      </a:r>
                    </a:p>
                  </a:txBody>
                  <a:tcPr marL="13685" marR="13685" marT="13685" marB="0" anchor="ctr">
                    <a:lnL w="6350" cap="flat" cmpd="sng" algn="ctr">
                      <a:solidFill>
                        <a:srgbClr val="BDD7EE"/>
                      </a:solidFill>
                      <a:prstDash val="solid"/>
                      <a:round/>
                      <a:headEnd type="none" w="med" len="med"/>
                      <a:tailEnd type="none" w="med" len="med"/>
                    </a:lnL>
                    <a:lnR w="6350" cap="flat" cmpd="sng" algn="ctr">
                      <a:solidFill>
                        <a:srgbClr val="BDD7EE"/>
                      </a:solidFill>
                      <a:prstDash val="solid"/>
                      <a:round/>
                      <a:headEnd type="none" w="med" len="med"/>
                      <a:tailEnd type="none" w="med" len="med"/>
                    </a:lnR>
                    <a:lnT w="6350" cap="flat" cmpd="sng" algn="ctr">
                      <a:solidFill>
                        <a:srgbClr val="BDD7EE"/>
                      </a:solidFill>
                      <a:prstDash val="solid"/>
                      <a:round/>
                      <a:headEnd type="none" w="med" len="med"/>
                      <a:tailEnd type="none" w="med" len="med"/>
                    </a:lnT>
                    <a:lnB w="6350" cap="flat" cmpd="sng" algn="ctr">
                      <a:solidFill>
                        <a:srgbClr val="BDD7EE"/>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graphicFrame>
        <p:nvGraphicFramePr>
          <p:cNvPr id="9" name="表格 8">
            <a:extLst>
              <a:ext uri="{FF2B5EF4-FFF2-40B4-BE49-F238E27FC236}">
                <a16:creationId xmlns:a16="http://schemas.microsoft.com/office/drawing/2014/main" xmlns="" id="{65E6773E-C491-FB43-299A-962341774468}"/>
              </a:ext>
            </a:extLst>
          </p:cNvPr>
          <p:cNvGraphicFramePr>
            <a:graphicFrameLocks noGrp="1"/>
          </p:cNvGraphicFramePr>
          <p:nvPr>
            <p:extLst>
              <p:ext uri="{D42A27DB-BD31-4B8C-83A1-F6EECF244321}">
                <p14:modId xmlns:p14="http://schemas.microsoft.com/office/powerpoint/2010/main" val="3083708850"/>
              </p:ext>
            </p:extLst>
          </p:nvPr>
        </p:nvGraphicFramePr>
        <p:xfrm>
          <a:off x="628976" y="2629596"/>
          <a:ext cx="3860418" cy="3271224"/>
        </p:xfrm>
        <a:graphic>
          <a:graphicData uri="http://schemas.openxmlformats.org/drawingml/2006/table">
            <a:tbl>
              <a:tblPr firstRow="1" bandRow="1">
                <a:tableStyleId>{5C22544A-7EE6-4342-B048-85BDC9FD1C3A}</a:tableStyleId>
              </a:tblPr>
              <a:tblGrid>
                <a:gridCol w="1286806">
                  <a:extLst>
                    <a:ext uri="{9D8B030D-6E8A-4147-A177-3AD203B41FA5}">
                      <a16:colId xmlns:a16="http://schemas.microsoft.com/office/drawing/2014/main" xmlns="" val="1949668525"/>
                    </a:ext>
                  </a:extLst>
                </a:gridCol>
                <a:gridCol w="1286806">
                  <a:extLst>
                    <a:ext uri="{9D8B030D-6E8A-4147-A177-3AD203B41FA5}">
                      <a16:colId xmlns:a16="http://schemas.microsoft.com/office/drawing/2014/main" xmlns="" val="1915873323"/>
                    </a:ext>
                  </a:extLst>
                </a:gridCol>
                <a:gridCol w="1286806">
                  <a:extLst>
                    <a:ext uri="{9D8B030D-6E8A-4147-A177-3AD203B41FA5}">
                      <a16:colId xmlns:a16="http://schemas.microsoft.com/office/drawing/2014/main" xmlns="" val="4159689664"/>
                    </a:ext>
                  </a:extLst>
                </a:gridCol>
              </a:tblGrid>
              <a:tr h="297384">
                <a:tc>
                  <a:txBody>
                    <a:bodyPr/>
                    <a:lstStyle/>
                    <a:p>
                      <a:pPr algn="ctr"/>
                      <a:r>
                        <a:rPr lang="zh-CN" altLang="en-US" sz="1200" dirty="0"/>
                        <a:t>年度</a:t>
                      </a:r>
                    </a:p>
                  </a:txBody>
                  <a:tcPr anchor="ctr">
                    <a:solidFill>
                      <a:srgbClr val="00366C"/>
                    </a:solidFill>
                  </a:tcPr>
                </a:tc>
                <a:tc>
                  <a:txBody>
                    <a:bodyPr/>
                    <a:lstStyle/>
                    <a:p>
                      <a:pPr algn="ctr"/>
                      <a:r>
                        <a:rPr lang="zh-CN" altLang="en-US" sz="1200" dirty="0"/>
                        <a:t>股息率</a:t>
                      </a:r>
                    </a:p>
                  </a:txBody>
                  <a:tcPr anchor="ctr">
                    <a:solidFill>
                      <a:srgbClr val="00366C"/>
                    </a:solidFill>
                  </a:tcPr>
                </a:tc>
                <a:tc>
                  <a:txBody>
                    <a:bodyPr/>
                    <a:lstStyle/>
                    <a:p>
                      <a:pPr algn="ctr"/>
                      <a:r>
                        <a:rPr lang="zh-CN" altLang="en-US" sz="1200" dirty="0"/>
                        <a:t>现金分红（亿元）</a:t>
                      </a:r>
                    </a:p>
                  </a:txBody>
                  <a:tcPr anchor="ctr">
                    <a:solidFill>
                      <a:srgbClr val="00366C"/>
                    </a:solidFill>
                  </a:tcPr>
                </a:tc>
                <a:extLst>
                  <a:ext uri="{0D108BD9-81ED-4DB2-BD59-A6C34878D82A}">
                    <a16:rowId xmlns:a16="http://schemas.microsoft.com/office/drawing/2014/main" xmlns="" val="903129896"/>
                  </a:ext>
                </a:extLst>
              </a:tr>
              <a:tr h="297384">
                <a:tc>
                  <a:txBody>
                    <a:bodyPr/>
                    <a:lstStyle/>
                    <a:p>
                      <a:pPr algn="ctr"/>
                      <a:r>
                        <a:rPr lang="en-US" altLang="zh-CN" sz="1200" dirty="0"/>
                        <a:t>2025</a:t>
                      </a:r>
                      <a:endParaRPr lang="zh-CN" altLang="en-US" sz="1200" dirty="0"/>
                    </a:p>
                  </a:txBody>
                  <a:tcPr anchor="ctr"/>
                </a:tc>
                <a:tc>
                  <a:txBody>
                    <a:bodyPr/>
                    <a:lstStyle/>
                    <a:p>
                      <a:pPr algn="ctr"/>
                      <a:r>
                        <a:rPr lang="en-US" altLang="zh-CN" sz="1200" dirty="0"/>
                        <a:t>1.96%</a:t>
                      </a:r>
                      <a:endParaRPr lang="zh-CN" altLang="en-US"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25,083.03</a:t>
                      </a:r>
                      <a:endParaRPr lang="zh-CN" altLang="en-US" sz="1200" dirty="0"/>
                    </a:p>
                  </a:txBody>
                  <a:tcPr anchor="ctr"/>
                </a:tc>
                <a:extLst>
                  <a:ext uri="{0D108BD9-81ED-4DB2-BD59-A6C34878D82A}">
                    <a16:rowId xmlns:a16="http://schemas.microsoft.com/office/drawing/2014/main" xmlns="" val="149397406"/>
                  </a:ext>
                </a:extLst>
              </a:tr>
              <a:tr h="297384">
                <a:tc>
                  <a:txBody>
                    <a:bodyPr/>
                    <a:lstStyle/>
                    <a:p>
                      <a:pPr algn="ctr"/>
                      <a:r>
                        <a:rPr lang="en-US" altLang="zh-CN" sz="1200" dirty="0"/>
                        <a:t>2024</a:t>
                      </a:r>
                      <a:endParaRPr lang="zh-CN" altLang="en-US" sz="1200" dirty="0"/>
                    </a:p>
                  </a:txBody>
                  <a:tcPr anchor="ctr"/>
                </a:tc>
                <a:tc>
                  <a:txBody>
                    <a:bodyPr/>
                    <a:lstStyle/>
                    <a:p>
                      <a:pPr algn="ctr"/>
                      <a:r>
                        <a:rPr lang="en-US" altLang="zh-CN" sz="1200" dirty="0"/>
                        <a:t>2.29%</a:t>
                      </a:r>
                      <a:endParaRPr lang="zh-CN" altLang="en-US" sz="1200" dirty="0"/>
                    </a:p>
                  </a:txBody>
                  <a:tcPr anchor="ctr"/>
                </a:tc>
                <a:tc>
                  <a:txBody>
                    <a:bodyPr/>
                    <a:lstStyle/>
                    <a:p>
                      <a:pPr algn="ctr"/>
                      <a:r>
                        <a:rPr lang="en-US" altLang="zh-CN" sz="1200" dirty="0"/>
                        <a:t>24,292.48</a:t>
                      </a:r>
                      <a:endParaRPr lang="zh-CN" altLang="en-US" sz="1200" dirty="0"/>
                    </a:p>
                  </a:txBody>
                  <a:tcPr anchor="ctr"/>
                </a:tc>
                <a:extLst>
                  <a:ext uri="{0D108BD9-81ED-4DB2-BD59-A6C34878D82A}">
                    <a16:rowId xmlns:a16="http://schemas.microsoft.com/office/drawing/2014/main" xmlns="" val="1059326151"/>
                  </a:ext>
                </a:extLst>
              </a:tr>
              <a:tr h="297384">
                <a:tc>
                  <a:txBody>
                    <a:bodyPr/>
                    <a:lstStyle/>
                    <a:p>
                      <a:pPr algn="ctr"/>
                      <a:r>
                        <a:rPr lang="en-US" altLang="zh-CN" sz="1200" dirty="0"/>
                        <a:t>2023</a:t>
                      </a:r>
                      <a:endParaRPr lang="zh-CN" altLang="en-US" sz="1200" dirty="0"/>
                    </a:p>
                  </a:txBody>
                  <a:tcPr anchor="ctr"/>
                </a:tc>
                <a:tc>
                  <a:txBody>
                    <a:bodyPr/>
                    <a:lstStyle/>
                    <a:p>
                      <a:pPr algn="ctr"/>
                      <a:r>
                        <a:rPr lang="en-US" altLang="zh-CN" sz="1200" dirty="0"/>
                        <a:t>2.25%</a:t>
                      </a:r>
                      <a:endParaRPr lang="zh-CN" altLang="en-US" sz="1200" dirty="0"/>
                    </a:p>
                  </a:txBody>
                  <a:tcPr anchor="ctr"/>
                </a:tc>
                <a:tc>
                  <a:txBody>
                    <a:bodyPr/>
                    <a:lstStyle/>
                    <a:p>
                      <a:pPr algn="ctr"/>
                      <a:r>
                        <a:rPr lang="en-US" altLang="zh-CN" sz="1200" dirty="0"/>
                        <a:t>22,743.77</a:t>
                      </a:r>
                      <a:endParaRPr lang="zh-CN" altLang="en-US" sz="1200" dirty="0"/>
                    </a:p>
                  </a:txBody>
                  <a:tcPr anchor="ctr"/>
                </a:tc>
                <a:extLst>
                  <a:ext uri="{0D108BD9-81ED-4DB2-BD59-A6C34878D82A}">
                    <a16:rowId xmlns:a16="http://schemas.microsoft.com/office/drawing/2014/main" xmlns="" val="3673336252"/>
                  </a:ext>
                </a:extLst>
              </a:tr>
              <a:tr h="297384">
                <a:tc>
                  <a:txBody>
                    <a:bodyPr/>
                    <a:lstStyle/>
                    <a:p>
                      <a:pPr algn="ctr"/>
                      <a:r>
                        <a:rPr lang="en-US" altLang="zh-CN" sz="1200" dirty="0"/>
                        <a:t>2022</a:t>
                      </a:r>
                      <a:endParaRPr lang="zh-CN" altLang="en-US" sz="1200" dirty="0"/>
                    </a:p>
                  </a:txBody>
                  <a:tcPr anchor="ctr"/>
                </a:tc>
                <a:tc>
                  <a:txBody>
                    <a:bodyPr/>
                    <a:lstStyle/>
                    <a:p>
                      <a:pPr algn="ctr"/>
                      <a:r>
                        <a:rPr lang="en-US" altLang="zh-CN" sz="1200" dirty="0"/>
                        <a:t>2.14%</a:t>
                      </a:r>
                      <a:endParaRPr lang="zh-CN" altLang="en-US" sz="1200" dirty="0"/>
                    </a:p>
                  </a:txBody>
                  <a:tcPr anchor="ctr"/>
                </a:tc>
                <a:tc>
                  <a:txBody>
                    <a:bodyPr/>
                    <a:lstStyle/>
                    <a:p>
                      <a:pPr algn="ctr"/>
                      <a:r>
                        <a:rPr lang="en-US" altLang="zh-CN" sz="1200" dirty="0"/>
                        <a:t>22,468.58</a:t>
                      </a:r>
                      <a:endParaRPr lang="zh-CN" altLang="en-US" sz="1200" dirty="0"/>
                    </a:p>
                  </a:txBody>
                  <a:tcPr anchor="ctr"/>
                </a:tc>
                <a:extLst>
                  <a:ext uri="{0D108BD9-81ED-4DB2-BD59-A6C34878D82A}">
                    <a16:rowId xmlns:a16="http://schemas.microsoft.com/office/drawing/2014/main" xmlns="" val="1301937502"/>
                  </a:ext>
                </a:extLst>
              </a:tr>
              <a:tr h="297384">
                <a:tc>
                  <a:txBody>
                    <a:bodyPr/>
                    <a:lstStyle/>
                    <a:p>
                      <a:pPr algn="ctr"/>
                      <a:r>
                        <a:rPr lang="en-US" altLang="zh-CN" sz="1200" dirty="0"/>
                        <a:t>2021</a:t>
                      </a:r>
                      <a:endParaRPr lang="zh-CN" altLang="en-US" sz="1200" dirty="0"/>
                    </a:p>
                  </a:txBody>
                  <a:tcPr anchor="ctr"/>
                </a:tc>
                <a:tc>
                  <a:txBody>
                    <a:bodyPr/>
                    <a:lstStyle/>
                    <a:p>
                      <a:pPr algn="ctr"/>
                      <a:r>
                        <a:rPr lang="en-US" altLang="zh-CN" sz="1200" dirty="0"/>
                        <a:t>1.50%</a:t>
                      </a:r>
                      <a:endParaRPr lang="zh-CN" altLang="en-US" sz="1200" dirty="0"/>
                    </a:p>
                  </a:txBody>
                  <a:tcPr anchor="ctr"/>
                </a:tc>
                <a:tc>
                  <a:txBody>
                    <a:bodyPr/>
                    <a:lstStyle/>
                    <a:p>
                      <a:pPr algn="ctr"/>
                      <a:r>
                        <a:rPr lang="en-US" altLang="zh-CN" sz="1200" dirty="0"/>
                        <a:t>18,499.75</a:t>
                      </a:r>
                      <a:endParaRPr lang="zh-CN" altLang="en-US" sz="1200" dirty="0"/>
                    </a:p>
                  </a:txBody>
                  <a:tcPr anchor="ctr"/>
                </a:tc>
                <a:extLst>
                  <a:ext uri="{0D108BD9-81ED-4DB2-BD59-A6C34878D82A}">
                    <a16:rowId xmlns:a16="http://schemas.microsoft.com/office/drawing/2014/main" xmlns="" val="2418422303"/>
                  </a:ext>
                </a:extLst>
              </a:tr>
              <a:tr h="297384">
                <a:tc>
                  <a:txBody>
                    <a:bodyPr/>
                    <a:lstStyle/>
                    <a:p>
                      <a:pPr algn="ctr"/>
                      <a:r>
                        <a:rPr lang="en-US" altLang="zh-CN" sz="1200" dirty="0"/>
                        <a:t>2020</a:t>
                      </a:r>
                      <a:endParaRPr lang="zh-CN" altLang="en-US" sz="1200" dirty="0"/>
                    </a:p>
                  </a:txBody>
                  <a:tcPr anchor="ctr"/>
                </a:tc>
                <a:tc>
                  <a:txBody>
                    <a:bodyPr/>
                    <a:lstStyle/>
                    <a:p>
                      <a:pPr algn="ctr"/>
                      <a:r>
                        <a:rPr lang="en-US" altLang="zh-CN" sz="1200" dirty="0"/>
                        <a:t>1.54%</a:t>
                      </a:r>
                      <a:endParaRPr lang="zh-CN" altLang="en-US" sz="1200" dirty="0"/>
                    </a:p>
                  </a:txBody>
                  <a:tcPr anchor="ctr"/>
                </a:tc>
                <a:tc>
                  <a:txBody>
                    <a:bodyPr/>
                    <a:lstStyle/>
                    <a:p>
                      <a:pPr algn="ctr"/>
                      <a:r>
                        <a:rPr lang="en-US" altLang="zh-CN" sz="1200" dirty="0"/>
                        <a:t>15,275.90</a:t>
                      </a:r>
                      <a:endParaRPr lang="zh-CN" altLang="en-US" sz="1200" dirty="0"/>
                    </a:p>
                  </a:txBody>
                  <a:tcPr anchor="ctr"/>
                </a:tc>
                <a:extLst>
                  <a:ext uri="{0D108BD9-81ED-4DB2-BD59-A6C34878D82A}">
                    <a16:rowId xmlns:a16="http://schemas.microsoft.com/office/drawing/2014/main" xmlns="" val="2514170713"/>
                  </a:ext>
                </a:extLst>
              </a:tr>
              <a:tr h="297384">
                <a:tc>
                  <a:txBody>
                    <a:bodyPr/>
                    <a:lstStyle/>
                    <a:p>
                      <a:pPr algn="ctr"/>
                      <a:r>
                        <a:rPr lang="en-US" altLang="zh-CN" sz="1200" dirty="0"/>
                        <a:t>2019</a:t>
                      </a:r>
                      <a:endParaRPr lang="zh-CN" altLang="en-US" sz="1200" dirty="0"/>
                    </a:p>
                  </a:txBody>
                  <a:tcPr anchor="ctr"/>
                </a:tc>
                <a:tc>
                  <a:txBody>
                    <a:bodyPr/>
                    <a:lstStyle/>
                    <a:p>
                      <a:pPr algn="ctr"/>
                      <a:r>
                        <a:rPr lang="en-US" altLang="zh-CN" sz="1200" dirty="0"/>
                        <a:t>1.69%</a:t>
                      </a:r>
                      <a:endParaRPr lang="zh-CN" altLang="en-US" sz="1200" dirty="0"/>
                    </a:p>
                  </a:txBody>
                  <a:tcPr anchor="ctr"/>
                </a:tc>
                <a:tc>
                  <a:txBody>
                    <a:bodyPr/>
                    <a:lstStyle/>
                    <a:p>
                      <a:pPr algn="ctr"/>
                      <a:r>
                        <a:rPr lang="en-US" altLang="zh-CN" sz="1200" dirty="0"/>
                        <a:t>13,555.53</a:t>
                      </a:r>
                      <a:endParaRPr lang="zh-CN" altLang="en-US" sz="1200" dirty="0"/>
                    </a:p>
                  </a:txBody>
                  <a:tcPr anchor="ctr"/>
                </a:tc>
                <a:extLst>
                  <a:ext uri="{0D108BD9-81ED-4DB2-BD59-A6C34878D82A}">
                    <a16:rowId xmlns:a16="http://schemas.microsoft.com/office/drawing/2014/main" xmlns="" val="1317396225"/>
                  </a:ext>
                </a:extLst>
              </a:tr>
              <a:tr h="297384">
                <a:tc>
                  <a:txBody>
                    <a:bodyPr/>
                    <a:lstStyle/>
                    <a:p>
                      <a:pPr algn="ctr"/>
                      <a:r>
                        <a:rPr lang="en-US" altLang="zh-CN" sz="1200" dirty="0"/>
                        <a:t>2018</a:t>
                      </a:r>
                      <a:endParaRPr lang="zh-CN" altLang="en-US" sz="1200" dirty="0"/>
                    </a:p>
                  </a:txBody>
                  <a:tcPr anchor="ctr"/>
                </a:tc>
                <a:tc>
                  <a:txBody>
                    <a:bodyPr/>
                    <a:lstStyle/>
                    <a:p>
                      <a:pPr algn="ctr"/>
                      <a:r>
                        <a:rPr lang="en-US" altLang="zh-CN" sz="1200" dirty="0"/>
                        <a:t>2.24%</a:t>
                      </a:r>
                      <a:endParaRPr lang="zh-CN" altLang="en-US" sz="1200" dirty="0"/>
                    </a:p>
                  </a:txBody>
                  <a:tcPr anchor="ctr"/>
                </a:tc>
                <a:tc>
                  <a:txBody>
                    <a:bodyPr/>
                    <a:lstStyle/>
                    <a:p>
                      <a:pPr algn="ctr"/>
                      <a:r>
                        <a:rPr lang="en-US" altLang="zh-CN" sz="1200" dirty="0"/>
                        <a:t>12,242.73</a:t>
                      </a:r>
                      <a:endParaRPr lang="zh-CN" altLang="en-US" sz="1200" dirty="0"/>
                    </a:p>
                  </a:txBody>
                  <a:tcPr anchor="ctr"/>
                </a:tc>
                <a:extLst>
                  <a:ext uri="{0D108BD9-81ED-4DB2-BD59-A6C34878D82A}">
                    <a16:rowId xmlns:a16="http://schemas.microsoft.com/office/drawing/2014/main" xmlns="" val="2400171743"/>
                  </a:ext>
                </a:extLst>
              </a:tr>
              <a:tr h="297384">
                <a:tc>
                  <a:txBody>
                    <a:bodyPr/>
                    <a:lstStyle/>
                    <a:p>
                      <a:pPr algn="ctr"/>
                      <a:r>
                        <a:rPr lang="en-US" altLang="zh-CN" sz="1200" dirty="0"/>
                        <a:t>2017</a:t>
                      </a:r>
                      <a:endParaRPr lang="zh-CN" altLang="en-US" sz="1200" dirty="0"/>
                    </a:p>
                  </a:txBody>
                  <a:tcPr anchor="ctr"/>
                </a:tc>
                <a:tc>
                  <a:txBody>
                    <a:bodyPr/>
                    <a:lstStyle/>
                    <a:p>
                      <a:pPr algn="ctr"/>
                      <a:r>
                        <a:rPr lang="en-US" altLang="zh-CN" sz="1200" dirty="0"/>
                        <a:t>1.45%</a:t>
                      </a:r>
                      <a:endParaRPr lang="zh-CN" altLang="en-US" sz="1200" dirty="0"/>
                    </a:p>
                  </a:txBody>
                  <a:tcPr anchor="ctr"/>
                </a:tc>
                <a:tc>
                  <a:txBody>
                    <a:bodyPr/>
                    <a:lstStyle/>
                    <a:p>
                      <a:pPr algn="ctr"/>
                      <a:r>
                        <a:rPr lang="en-US" altLang="zh-CN" sz="1200" dirty="0"/>
                        <a:t>11,560.56</a:t>
                      </a:r>
                      <a:endParaRPr lang="zh-CN" altLang="en-US" sz="1200" dirty="0"/>
                    </a:p>
                  </a:txBody>
                  <a:tcPr anchor="ctr"/>
                </a:tc>
                <a:extLst>
                  <a:ext uri="{0D108BD9-81ED-4DB2-BD59-A6C34878D82A}">
                    <a16:rowId xmlns:a16="http://schemas.microsoft.com/office/drawing/2014/main" xmlns="" val="442224344"/>
                  </a:ext>
                </a:extLst>
              </a:tr>
              <a:tr h="297384">
                <a:tc>
                  <a:txBody>
                    <a:bodyPr/>
                    <a:lstStyle/>
                    <a:p>
                      <a:pPr algn="ctr"/>
                      <a:r>
                        <a:rPr lang="en-US" altLang="zh-CN" sz="1200" dirty="0"/>
                        <a:t>2016</a:t>
                      </a:r>
                      <a:endParaRPr lang="zh-CN" altLang="en-US" sz="1200" dirty="0"/>
                    </a:p>
                  </a:txBody>
                  <a:tcPr anchor="ctr"/>
                </a:tc>
                <a:tc>
                  <a:txBody>
                    <a:bodyPr/>
                    <a:lstStyle/>
                    <a:p>
                      <a:pPr algn="ctr"/>
                      <a:r>
                        <a:rPr lang="en-US" altLang="zh-CN" sz="1200" dirty="0"/>
                        <a:t>1.38%</a:t>
                      </a:r>
                      <a:endParaRPr lang="zh-CN" altLang="en-US" sz="1200" dirty="0"/>
                    </a:p>
                  </a:txBody>
                  <a:tcPr anchor="ctr"/>
                </a:tc>
                <a:tc>
                  <a:txBody>
                    <a:bodyPr/>
                    <a:lstStyle/>
                    <a:p>
                      <a:pPr algn="ctr"/>
                      <a:r>
                        <a:rPr lang="en-US" altLang="zh-CN" sz="1200" dirty="0"/>
                        <a:t>8,944.60</a:t>
                      </a:r>
                      <a:endParaRPr lang="zh-CN" altLang="en-US" sz="1200" dirty="0"/>
                    </a:p>
                  </a:txBody>
                  <a:tcPr anchor="ctr"/>
                </a:tc>
                <a:extLst>
                  <a:ext uri="{0D108BD9-81ED-4DB2-BD59-A6C34878D82A}">
                    <a16:rowId xmlns:a16="http://schemas.microsoft.com/office/drawing/2014/main" xmlns="" val="332987145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zh-CN" altLang="en-US" spc="40" dirty="0"/>
              <a:t>小结：中证全指指数的投资价值</a:t>
            </a:r>
            <a:endParaRPr spc="35" dirty="0"/>
          </a:p>
        </p:txBody>
      </p:sp>
      <p:sp>
        <p:nvSpPr>
          <p:cNvPr id="17" name="灯片编号占位符 16"/>
          <p:cNvSpPr>
            <a:spLocks noGrp="1"/>
          </p:cNvSpPr>
          <p:nvPr>
            <p:ph type="sldNum" sz="quarter" idx="11"/>
          </p:nvPr>
        </p:nvSpPr>
        <p:spPr/>
        <p:txBody>
          <a:bodyPr/>
          <a:lstStyle/>
          <a:p>
            <a:pPr>
              <a:defRPr/>
            </a:pPr>
            <a:fld id="{6E91549D-98B7-4077-996F-05BE1B29F039}" type="slidenum">
              <a:rPr lang="zh-CN" altLang="en-US" smtClean="0"/>
              <a:t>12</a:t>
            </a:fld>
            <a:endParaRPr lang="zh-CN" altLang="en-US" dirty="0"/>
          </a:p>
        </p:txBody>
      </p:sp>
      <p:grpSp>
        <p:nvGrpSpPr>
          <p:cNvPr id="6" name="组合 5"/>
          <p:cNvGrpSpPr/>
          <p:nvPr/>
        </p:nvGrpSpPr>
        <p:grpSpPr>
          <a:xfrm>
            <a:off x="418505" y="1613526"/>
            <a:ext cx="2170104" cy="3817620"/>
            <a:chOff x="749808" y="1620011"/>
            <a:chExt cx="2304415" cy="3817620"/>
          </a:xfrm>
        </p:grpSpPr>
        <p:sp>
          <p:nvSpPr>
            <p:cNvPr id="20" name="object 4"/>
            <p:cNvSpPr/>
            <p:nvPr/>
          </p:nvSpPr>
          <p:spPr>
            <a:xfrm>
              <a:off x="749808" y="1620011"/>
              <a:ext cx="2304415" cy="3817620"/>
            </a:xfrm>
            <a:custGeom>
              <a:avLst/>
              <a:gdLst/>
              <a:ahLst/>
              <a:cxnLst/>
              <a:rect l="l" t="t" r="r" b="b"/>
              <a:pathLst>
                <a:path w="2304415" h="3817620">
                  <a:moveTo>
                    <a:pt x="1920240" y="3817620"/>
                  </a:moveTo>
                  <a:lnTo>
                    <a:pt x="384048" y="3817620"/>
                  </a:lnTo>
                  <a:lnTo>
                    <a:pt x="335917" y="3814505"/>
                  </a:lnTo>
                  <a:lnTo>
                    <a:pt x="289565" y="3805667"/>
                  </a:lnTo>
                  <a:lnTo>
                    <a:pt x="245351" y="3791464"/>
                  </a:lnTo>
                  <a:lnTo>
                    <a:pt x="203635" y="3772257"/>
                  </a:lnTo>
                  <a:lnTo>
                    <a:pt x="164777" y="3748405"/>
                  </a:lnTo>
                  <a:lnTo>
                    <a:pt x="129138" y="3720268"/>
                  </a:lnTo>
                  <a:lnTo>
                    <a:pt x="97076" y="3688207"/>
                  </a:lnTo>
                  <a:lnTo>
                    <a:pt x="68953" y="3652580"/>
                  </a:lnTo>
                  <a:lnTo>
                    <a:pt x="45127" y="3613749"/>
                  </a:lnTo>
                  <a:lnTo>
                    <a:pt x="25959" y="3572072"/>
                  </a:lnTo>
                  <a:lnTo>
                    <a:pt x="11808" y="3527911"/>
                  </a:lnTo>
                  <a:lnTo>
                    <a:pt x="3035" y="3481624"/>
                  </a:lnTo>
                  <a:lnTo>
                    <a:pt x="0" y="3433572"/>
                  </a:lnTo>
                  <a:lnTo>
                    <a:pt x="0" y="384048"/>
                  </a:lnTo>
                  <a:lnTo>
                    <a:pt x="3035" y="336006"/>
                  </a:lnTo>
                  <a:lnTo>
                    <a:pt x="11808" y="289728"/>
                  </a:lnTo>
                  <a:lnTo>
                    <a:pt x="25959" y="245574"/>
                  </a:lnTo>
                  <a:lnTo>
                    <a:pt x="45127" y="203903"/>
                  </a:lnTo>
                  <a:lnTo>
                    <a:pt x="68953" y="165075"/>
                  </a:lnTo>
                  <a:lnTo>
                    <a:pt x="97076" y="129450"/>
                  </a:lnTo>
                  <a:lnTo>
                    <a:pt x="129138" y="97389"/>
                  </a:lnTo>
                  <a:lnTo>
                    <a:pt x="164777" y="69250"/>
                  </a:lnTo>
                  <a:lnTo>
                    <a:pt x="203635" y="45395"/>
                  </a:lnTo>
                  <a:lnTo>
                    <a:pt x="245351" y="26182"/>
                  </a:lnTo>
                  <a:lnTo>
                    <a:pt x="289565" y="11972"/>
                  </a:lnTo>
                  <a:lnTo>
                    <a:pt x="335917" y="3124"/>
                  </a:lnTo>
                  <a:lnTo>
                    <a:pt x="384048" y="0"/>
                  </a:lnTo>
                  <a:lnTo>
                    <a:pt x="1920240" y="0"/>
                  </a:lnTo>
                  <a:lnTo>
                    <a:pt x="1968449" y="3124"/>
                  </a:lnTo>
                  <a:lnTo>
                    <a:pt x="2014866" y="11972"/>
                  </a:lnTo>
                  <a:lnTo>
                    <a:pt x="2059132" y="26182"/>
                  </a:lnTo>
                  <a:lnTo>
                    <a:pt x="2100887" y="45395"/>
                  </a:lnTo>
                  <a:lnTo>
                    <a:pt x="2139771" y="69250"/>
                  </a:lnTo>
                  <a:lnTo>
                    <a:pt x="2175424" y="97389"/>
                  </a:lnTo>
                  <a:lnTo>
                    <a:pt x="2207485" y="129450"/>
                  </a:lnTo>
                  <a:lnTo>
                    <a:pt x="2235596" y="165075"/>
                  </a:lnTo>
                  <a:lnTo>
                    <a:pt x="2259396" y="203903"/>
                  </a:lnTo>
                  <a:lnTo>
                    <a:pt x="2278524" y="245574"/>
                  </a:lnTo>
                  <a:lnTo>
                    <a:pt x="2292623" y="289728"/>
                  </a:lnTo>
                  <a:lnTo>
                    <a:pt x="2301330" y="336006"/>
                  </a:lnTo>
                  <a:lnTo>
                    <a:pt x="2304288" y="384048"/>
                  </a:lnTo>
                  <a:lnTo>
                    <a:pt x="2304288" y="3433572"/>
                  </a:lnTo>
                  <a:lnTo>
                    <a:pt x="2301330" y="3481624"/>
                  </a:lnTo>
                  <a:lnTo>
                    <a:pt x="2292623" y="3527911"/>
                  </a:lnTo>
                  <a:lnTo>
                    <a:pt x="2278524" y="3572072"/>
                  </a:lnTo>
                  <a:lnTo>
                    <a:pt x="2259396" y="3613749"/>
                  </a:lnTo>
                  <a:lnTo>
                    <a:pt x="2235596" y="3652580"/>
                  </a:lnTo>
                  <a:lnTo>
                    <a:pt x="2207485" y="3688207"/>
                  </a:lnTo>
                  <a:lnTo>
                    <a:pt x="2175424" y="3720268"/>
                  </a:lnTo>
                  <a:lnTo>
                    <a:pt x="2139771" y="3748405"/>
                  </a:lnTo>
                  <a:lnTo>
                    <a:pt x="2100887" y="3772257"/>
                  </a:lnTo>
                  <a:lnTo>
                    <a:pt x="2059132" y="3791464"/>
                  </a:lnTo>
                  <a:lnTo>
                    <a:pt x="2014866" y="3805667"/>
                  </a:lnTo>
                  <a:lnTo>
                    <a:pt x="1968449" y="3814505"/>
                  </a:lnTo>
                  <a:lnTo>
                    <a:pt x="1920240" y="3817620"/>
                  </a:lnTo>
                  <a:close/>
                </a:path>
              </a:pathLst>
            </a:custGeom>
            <a:solidFill>
              <a:srgbClr val="BEBEBE"/>
            </a:solidFill>
          </p:spPr>
          <p:txBody>
            <a:bodyPr wrap="square" lIns="0" tIns="0" rIns="0" bIns="0" rtlCol="0"/>
            <a:lstStyle/>
            <a:p>
              <a:endParaRPr/>
            </a:p>
          </p:txBody>
        </p:sp>
        <p:sp>
          <p:nvSpPr>
            <p:cNvPr id="21" name="object 8"/>
            <p:cNvSpPr txBox="1"/>
            <p:nvPr/>
          </p:nvSpPr>
          <p:spPr>
            <a:xfrm>
              <a:off x="1414310" y="1928329"/>
              <a:ext cx="855478" cy="331470"/>
            </a:xfrm>
            <a:prstGeom prst="rect">
              <a:avLst/>
            </a:prstGeom>
          </p:spPr>
          <p:txBody>
            <a:bodyPr vert="horz" wrap="square" lIns="0" tIns="13335" rIns="0" bIns="0" rtlCol="0">
              <a:spAutoFit/>
            </a:bodyPr>
            <a:lstStyle/>
            <a:p>
              <a:pPr marL="12700">
                <a:lnSpc>
                  <a:spcPct val="100000"/>
                </a:lnSpc>
                <a:spcBef>
                  <a:spcPts val="105"/>
                </a:spcBef>
              </a:pPr>
              <a:r>
                <a:rPr lang="zh-CN" altLang="en-US" sz="2000" b="1" u="sng" spc="35" dirty="0">
                  <a:uFill>
                    <a:solidFill>
                      <a:srgbClr val="000000"/>
                    </a:solidFill>
                  </a:uFill>
                  <a:latin typeface="阿里巴巴普惠体 2.0 55 Regular"/>
                  <a:cs typeface="阿里巴巴普惠体 2.0 55 Regular"/>
                </a:rPr>
                <a:t>全覆盖</a:t>
              </a:r>
              <a:endParaRPr sz="2000" dirty="0">
                <a:latin typeface="阿里巴巴普惠体 2.0 55 Regular"/>
                <a:cs typeface="阿里巴巴普惠体 2.0 55 Regular"/>
              </a:endParaRPr>
            </a:p>
          </p:txBody>
        </p:sp>
        <p:sp>
          <p:nvSpPr>
            <p:cNvPr id="23" name="object 10"/>
            <p:cNvSpPr txBox="1"/>
            <p:nvPr/>
          </p:nvSpPr>
          <p:spPr>
            <a:xfrm>
              <a:off x="1090145" y="2657684"/>
              <a:ext cx="1654442" cy="2166619"/>
            </a:xfrm>
            <a:prstGeom prst="rect">
              <a:avLst/>
            </a:prstGeom>
          </p:spPr>
          <p:txBody>
            <a:bodyPr vert="horz" wrap="square" lIns="0" tIns="12065" rIns="0" bIns="0" rtlCol="0">
              <a:spAutoFit/>
            </a:bodyPr>
            <a:lstStyle/>
            <a:p>
              <a:pPr marL="12700" marR="5080" algn="just">
                <a:lnSpc>
                  <a:spcPct val="100000"/>
                </a:lnSpc>
                <a:spcBef>
                  <a:spcPts val="95"/>
                </a:spcBef>
              </a:pPr>
              <a:r>
                <a:rPr lang="zh-CN" altLang="en-US" sz="1400" dirty="0"/>
                <a:t>中证全指覆盖</a:t>
              </a:r>
              <a:r>
                <a:rPr lang="en-US" altLang="zh-CN" sz="1400" dirty="0"/>
                <a:t>A</a:t>
              </a:r>
              <a:r>
                <a:rPr lang="zh-CN" altLang="en-US" sz="1400" dirty="0"/>
                <a:t>股市场约</a:t>
              </a:r>
              <a:r>
                <a:rPr lang="en-US" altLang="zh-CN" sz="1400" dirty="0"/>
                <a:t>94%-98%</a:t>
              </a:r>
              <a:r>
                <a:rPr lang="zh-CN" altLang="en-US" sz="1400" dirty="0"/>
                <a:t>的上市公司，成分股数量超</a:t>
              </a:r>
              <a:r>
                <a:rPr lang="en-US" altLang="zh-CN" sz="1400" dirty="0"/>
                <a:t>5000</a:t>
              </a:r>
              <a:r>
                <a:rPr lang="zh-CN" altLang="en-US" sz="1400" dirty="0"/>
                <a:t>只，包含沪深主板、创业板、科创板及北交所股票，涵盖全部</a:t>
              </a:r>
              <a:r>
                <a:rPr lang="en-US" altLang="zh-CN" sz="1400" dirty="0"/>
                <a:t>31</a:t>
              </a:r>
              <a:r>
                <a:rPr lang="zh-CN" altLang="en-US" sz="1400" dirty="0"/>
                <a:t>个申万一级行业和</a:t>
              </a:r>
              <a:r>
                <a:rPr lang="en-US" altLang="zh-CN" sz="1400" dirty="0"/>
                <a:t>336</a:t>
              </a:r>
              <a:r>
                <a:rPr lang="zh-CN" altLang="en-US" sz="1400" dirty="0"/>
                <a:t>个三级行业。</a:t>
              </a:r>
              <a:endParaRPr sz="1400" dirty="0"/>
            </a:p>
          </p:txBody>
        </p:sp>
        <p:sp>
          <p:nvSpPr>
            <p:cNvPr id="32" name="object 8"/>
            <p:cNvSpPr txBox="1"/>
            <p:nvPr/>
          </p:nvSpPr>
          <p:spPr>
            <a:xfrm>
              <a:off x="1338349" y="2258644"/>
              <a:ext cx="1127099" cy="198131"/>
            </a:xfrm>
            <a:prstGeom prst="rect">
              <a:avLst/>
            </a:prstGeom>
          </p:spPr>
          <p:txBody>
            <a:bodyPr vert="horz" wrap="square" lIns="0" tIns="13335" rIns="0" bIns="0" rtlCol="0">
              <a:spAutoFit/>
            </a:bodyPr>
            <a:lstStyle/>
            <a:p>
              <a:pPr marL="12700">
                <a:lnSpc>
                  <a:spcPct val="100000"/>
                </a:lnSpc>
                <a:spcBef>
                  <a:spcPts val="105"/>
                </a:spcBef>
              </a:pPr>
              <a:r>
                <a:rPr lang="zh-CN" altLang="en-US" sz="1200" b="1" spc="35" dirty="0">
                  <a:uFill>
                    <a:solidFill>
                      <a:srgbClr val="000000"/>
                    </a:solidFill>
                  </a:uFill>
                  <a:latin typeface="阿里巴巴普惠体 2.0 55 Regular"/>
                  <a:cs typeface="阿里巴巴普惠体 2.0 55 Regular"/>
                </a:rPr>
                <a:t>市场代表性高</a:t>
              </a:r>
              <a:endParaRPr sz="1200" dirty="0">
                <a:latin typeface="阿里巴巴普惠体 2.0 55 Regular"/>
                <a:cs typeface="阿里巴巴普惠体 2.0 55 Regular"/>
              </a:endParaRPr>
            </a:p>
          </p:txBody>
        </p:sp>
      </p:grpSp>
      <p:grpSp>
        <p:nvGrpSpPr>
          <p:cNvPr id="3" name="组合 2"/>
          <p:cNvGrpSpPr/>
          <p:nvPr/>
        </p:nvGrpSpPr>
        <p:grpSpPr>
          <a:xfrm>
            <a:off x="9502561" y="1625231"/>
            <a:ext cx="2166581" cy="3817620"/>
            <a:chOff x="3646917" y="1620011"/>
            <a:chExt cx="2166581" cy="3817620"/>
          </a:xfrm>
        </p:grpSpPr>
        <p:sp>
          <p:nvSpPr>
            <p:cNvPr id="19" name="object 3"/>
            <p:cNvSpPr/>
            <p:nvPr/>
          </p:nvSpPr>
          <p:spPr>
            <a:xfrm>
              <a:off x="3646917" y="1620011"/>
              <a:ext cx="2166581" cy="3817620"/>
            </a:xfrm>
            <a:custGeom>
              <a:avLst/>
              <a:gdLst/>
              <a:ahLst/>
              <a:cxnLst/>
              <a:rect l="l" t="t" r="r" b="b"/>
              <a:pathLst>
                <a:path w="2304415" h="3817620">
                  <a:moveTo>
                    <a:pt x="1920239" y="3817620"/>
                  </a:moveTo>
                  <a:lnTo>
                    <a:pt x="384048" y="3817620"/>
                  </a:lnTo>
                  <a:lnTo>
                    <a:pt x="335936" y="3814492"/>
                  </a:lnTo>
                  <a:lnTo>
                    <a:pt x="289599" y="3805642"/>
                  </a:lnTo>
                  <a:lnTo>
                    <a:pt x="245398" y="3791430"/>
                  </a:lnTo>
                  <a:lnTo>
                    <a:pt x="203692" y="3772216"/>
                  </a:lnTo>
                  <a:lnTo>
                    <a:pt x="164841" y="3748360"/>
                  </a:lnTo>
                  <a:lnTo>
                    <a:pt x="129204" y="3720221"/>
                  </a:lnTo>
                  <a:lnTo>
                    <a:pt x="97143" y="3688159"/>
                  </a:lnTo>
                  <a:lnTo>
                    <a:pt x="69016" y="3652535"/>
                  </a:lnTo>
                  <a:lnTo>
                    <a:pt x="45184" y="3613708"/>
                  </a:lnTo>
                  <a:lnTo>
                    <a:pt x="26006" y="3572038"/>
                  </a:lnTo>
                  <a:lnTo>
                    <a:pt x="11843" y="3527886"/>
                  </a:lnTo>
                  <a:lnTo>
                    <a:pt x="3054" y="3481610"/>
                  </a:lnTo>
                  <a:lnTo>
                    <a:pt x="0" y="3433572"/>
                  </a:lnTo>
                  <a:lnTo>
                    <a:pt x="0" y="384048"/>
                  </a:lnTo>
                  <a:lnTo>
                    <a:pt x="3054" y="335993"/>
                  </a:lnTo>
                  <a:lnTo>
                    <a:pt x="11843" y="289703"/>
                  </a:lnTo>
                  <a:lnTo>
                    <a:pt x="26006" y="245540"/>
                  </a:lnTo>
                  <a:lnTo>
                    <a:pt x="45184" y="203862"/>
                  </a:lnTo>
                  <a:lnTo>
                    <a:pt x="69016" y="165030"/>
                  </a:lnTo>
                  <a:lnTo>
                    <a:pt x="97143" y="129403"/>
                  </a:lnTo>
                  <a:lnTo>
                    <a:pt x="129204" y="97341"/>
                  </a:lnTo>
                  <a:lnTo>
                    <a:pt x="164841" y="69205"/>
                  </a:lnTo>
                  <a:lnTo>
                    <a:pt x="203692" y="45354"/>
                  </a:lnTo>
                  <a:lnTo>
                    <a:pt x="245398" y="26148"/>
                  </a:lnTo>
                  <a:lnTo>
                    <a:pt x="289599" y="11947"/>
                  </a:lnTo>
                  <a:lnTo>
                    <a:pt x="335936" y="3111"/>
                  </a:lnTo>
                  <a:lnTo>
                    <a:pt x="384048" y="0"/>
                  </a:lnTo>
                  <a:lnTo>
                    <a:pt x="1920239" y="0"/>
                  </a:lnTo>
                  <a:lnTo>
                    <a:pt x="1968468" y="3111"/>
                  </a:lnTo>
                  <a:lnTo>
                    <a:pt x="2014901" y="11947"/>
                  </a:lnTo>
                  <a:lnTo>
                    <a:pt x="2059180" y="26148"/>
                  </a:lnTo>
                  <a:lnTo>
                    <a:pt x="2100944" y="45354"/>
                  </a:lnTo>
                  <a:lnTo>
                    <a:pt x="2139834" y="69205"/>
                  </a:lnTo>
                  <a:lnTo>
                    <a:pt x="2175490" y="97341"/>
                  </a:lnTo>
                  <a:lnTo>
                    <a:pt x="2207552" y="129403"/>
                  </a:lnTo>
                  <a:lnTo>
                    <a:pt x="2235659" y="165030"/>
                  </a:lnTo>
                  <a:lnTo>
                    <a:pt x="2259452" y="203862"/>
                  </a:lnTo>
                  <a:lnTo>
                    <a:pt x="2278572" y="245540"/>
                  </a:lnTo>
                  <a:lnTo>
                    <a:pt x="2292657" y="289703"/>
                  </a:lnTo>
                  <a:lnTo>
                    <a:pt x="2301349" y="335993"/>
                  </a:lnTo>
                  <a:lnTo>
                    <a:pt x="2304288" y="384048"/>
                  </a:lnTo>
                  <a:lnTo>
                    <a:pt x="2304288" y="3433572"/>
                  </a:lnTo>
                  <a:lnTo>
                    <a:pt x="2301349" y="3481610"/>
                  </a:lnTo>
                  <a:lnTo>
                    <a:pt x="2292657" y="3527886"/>
                  </a:lnTo>
                  <a:lnTo>
                    <a:pt x="2278572" y="3572038"/>
                  </a:lnTo>
                  <a:lnTo>
                    <a:pt x="2259452" y="3613708"/>
                  </a:lnTo>
                  <a:lnTo>
                    <a:pt x="2235659" y="3652535"/>
                  </a:lnTo>
                  <a:lnTo>
                    <a:pt x="2207552" y="3688159"/>
                  </a:lnTo>
                  <a:lnTo>
                    <a:pt x="2175490" y="3720221"/>
                  </a:lnTo>
                  <a:lnTo>
                    <a:pt x="2139834" y="3748360"/>
                  </a:lnTo>
                  <a:lnTo>
                    <a:pt x="2100944" y="3772216"/>
                  </a:lnTo>
                  <a:lnTo>
                    <a:pt x="2059180" y="3791430"/>
                  </a:lnTo>
                  <a:lnTo>
                    <a:pt x="2014901" y="3805642"/>
                  </a:lnTo>
                  <a:lnTo>
                    <a:pt x="1968468" y="3814492"/>
                  </a:lnTo>
                  <a:lnTo>
                    <a:pt x="1920239" y="3817620"/>
                  </a:lnTo>
                  <a:close/>
                </a:path>
              </a:pathLst>
            </a:custGeom>
            <a:solidFill>
              <a:schemeClr val="accent1">
                <a:lumMod val="20000"/>
                <a:lumOff val="80000"/>
              </a:schemeClr>
            </a:solidFill>
          </p:spPr>
          <p:txBody>
            <a:bodyPr wrap="square" lIns="0" tIns="0" rIns="0" bIns="0" rtlCol="0"/>
            <a:lstStyle/>
            <a:p>
              <a:endParaRPr/>
            </a:p>
          </p:txBody>
        </p:sp>
        <p:sp>
          <p:nvSpPr>
            <p:cNvPr id="22" name="object 9"/>
            <p:cNvSpPr txBox="1"/>
            <p:nvPr/>
          </p:nvSpPr>
          <p:spPr>
            <a:xfrm>
              <a:off x="4127706" y="1927173"/>
              <a:ext cx="1221264" cy="290464"/>
            </a:xfrm>
            <a:prstGeom prst="rect">
              <a:avLst/>
            </a:prstGeom>
          </p:spPr>
          <p:txBody>
            <a:bodyPr vert="horz" wrap="square" lIns="0" tIns="13335" rIns="0" bIns="0" rtlCol="0">
              <a:spAutoFit/>
            </a:bodyPr>
            <a:lstStyle/>
            <a:p>
              <a:pPr marL="12700">
                <a:lnSpc>
                  <a:spcPct val="100000"/>
                </a:lnSpc>
                <a:spcBef>
                  <a:spcPts val="105"/>
                </a:spcBef>
              </a:pPr>
              <a:r>
                <a:rPr lang="zh-CN" altLang="en-US" b="1" u="sng" spc="35" dirty="0">
                  <a:uFill>
                    <a:solidFill>
                      <a:srgbClr val="000000"/>
                    </a:solidFill>
                  </a:uFill>
                  <a:latin typeface="阿里巴巴普惠体 2.0 55 Regular"/>
                  <a:cs typeface="阿里巴巴普惠体 2.0 55 Regular"/>
                </a:rPr>
                <a:t>长期业绩好</a:t>
              </a:r>
              <a:endParaRPr dirty="0">
                <a:latin typeface="阿里巴巴普惠体 2.0 55 Regular"/>
                <a:cs typeface="阿里巴巴普惠体 2.0 55 Regular"/>
              </a:endParaRPr>
            </a:p>
          </p:txBody>
        </p:sp>
        <p:sp>
          <p:nvSpPr>
            <p:cNvPr id="24" name="object 11"/>
            <p:cNvSpPr txBox="1"/>
            <p:nvPr/>
          </p:nvSpPr>
          <p:spPr>
            <a:xfrm>
              <a:off x="3781112" y="2576127"/>
              <a:ext cx="1907543" cy="2394886"/>
            </a:xfrm>
            <a:prstGeom prst="rect">
              <a:avLst/>
            </a:prstGeom>
          </p:spPr>
          <p:txBody>
            <a:bodyPr vert="horz" wrap="square" lIns="0" tIns="12065" rIns="0" bIns="0" rtlCol="0">
              <a:spAutoFit/>
            </a:bodyPr>
            <a:lstStyle/>
            <a:p>
              <a:pPr marL="298450" marR="5080" indent="-285750" algn="just">
                <a:lnSpc>
                  <a:spcPct val="100000"/>
                </a:lnSpc>
                <a:spcBef>
                  <a:spcPts val="95"/>
                </a:spcBef>
                <a:buFont typeface="Wingdings" panose="05000000000000000000" pitchFamily="2" charset="2"/>
                <a:buChar char="ü"/>
              </a:pPr>
              <a:r>
                <a:rPr lang="zh-CN" altLang="en-US" sz="1400" dirty="0">
                  <a:latin typeface="Arial Unicode MS"/>
                  <a:cs typeface="Arial Unicode MS"/>
                </a:rPr>
                <a:t>基日（</a:t>
              </a:r>
              <a:r>
                <a:rPr lang="en-US" altLang="zh-CN" sz="1400" dirty="0">
                  <a:latin typeface="Arial Unicode MS"/>
                  <a:cs typeface="Arial Unicode MS"/>
                </a:rPr>
                <a:t>2004</a:t>
              </a:r>
              <a:r>
                <a:rPr lang="zh-CN" altLang="en-US" sz="1400" dirty="0">
                  <a:latin typeface="Arial Unicode MS"/>
                  <a:cs typeface="Arial Unicode MS"/>
                </a:rPr>
                <a:t>年</a:t>
              </a:r>
              <a:r>
                <a:rPr lang="en-US" altLang="zh-CN" sz="1400" dirty="0">
                  <a:latin typeface="Arial Unicode MS"/>
                  <a:cs typeface="Arial Unicode MS"/>
                </a:rPr>
                <a:t>12</a:t>
              </a:r>
              <a:r>
                <a:rPr lang="zh-CN" altLang="en-US" sz="1400" dirty="0">
                  <a:latin typeface="Arial Unicode MS"/>
                  <a:cs typeface="Arial Unicode MS"/>
                </a:rPr>
                <a:t>月</a:t>
              </a:r>
              <a:r>
                <a:rPr lang="en-US" altLang="zh-CN" sz="1400" dirty="0">
                  <a:latin typeface="Arial Unicode MS"/>
                  <a:cs typeface="Arial Unicode MS"/>
                </a:rPr>
                <a:t>31</a:t>
              </a:r>
              <a:r>
                <a:rPr lang="zh-CN" altLang="en-US" sz="1400" dirty="0">
                  <a:latin typeface="Arial Unicode MS"/>
                  <a:cs typeface="Arial Unicode MS"/>
                </a:rPr>
                <a:t>日）以来累计涨幅超过</a:t>
              </a:r>
              <a:r>
                <a:rPr lang="en-US" altLang="zh-CN" sz="1400" dirty="0">
                  <a:latin typeface="Arial Unicode MS"/>
                  <a:cs typeface="Arial Unicode MS"/>
                </a:rPr>
                <a:t>5</a:t>
              </a:r>
              <a:r>
                <a:rPr lang="zh-CN" altLang="en-US" sz="1400" dirty="0">
                  <a:latin typeface="Arial Unicode MS"/>
                  <a:cs typeface="Arial Unicode MS"/>
                </a:rPr>
                <a:t>倍，年化收益率约</a:t>
              </a:r>
              <a:r>
                <a:rPr lang="en-US" altLang="zh-CN" sz="1400" dirty="0">
                  <a:latin typeface="Arial Unicode MS"/>
                  <a:cs typeface="Arial Unicode MS"/>
                </a:rPr>
                <a:t>9.02%</a:t>
              </a:r>
              <a:r>
                <a:rPr lang="zh-CN" altLang="en-US" sz="1400" dirty="0">
                  <a:latin typeface="Arial Unicode MS"/>
                  <a:cs typeface="Arial Unicode MS"/>
                </a:rPr>
                <a:t>，优于沪深</a:t>
              </a:r>
              <a:r>
                <a:rPr lang="en-US" altLang="zh-CN" sz="1400" dirty="0">
                  <a:latin typeface="Arial Unicode MS"/>
                  <a:cs typeface="Arial Unicode MS"/>
                </a:rPr>
                <a:t>300</a:t>
              </a:r>
              <a:r>
                <a:rPr lang="zh-CN" altLang="en-US" sz="1400" dirty="0">
                  <a:latin typeface="Arial Unicode MS"/>
                  <a:cs typeface="Arial Unicode MS"/>
                </a:rPr>
                <a:t>、中证</a:t>
              </a:r>
              <a:r>
                <a:rPr lang="en-US" altLang="zh-CN" sz="1400" dirty="0">
                  <a:latin typeface="Arial Unicode MS"/>
                  <a:cs typeface="Arial Unicode MS"/>
                </a:rPr>
                <a:t>800</a:t>
              </a:r>
              <a:r>
                <a:rPr lang="zh-CN" altLang="en-US" sz="1400" dirty="0">
                  <a:latin typeface="Arial Unicode MS"/>
                  <a:cs typeface="Arial Unicode MS"/>
                </a:rPr>
                <a:t>等主流宽基指数。</a:t>
              </a:r>
            </a:p>
            <a:p>
              <a:pPr marL="298450" marR="5080" indent="-285750" algn="just">
                <a:lnSpc>
                  <a:spcPct val="100000"/>
                </a:lnSpc>
                <a:spcBef>
                  <a:spcPts val="95"/>
                </a:spcBef>
                <a:buFont typeface="Wingdings" panose="05000000000000000000" pitchFamily="2" charset="2"/>
                <a:buChar char="ü"/>
              </a:pPr>
              <a:r>
                <a:rPr lang="zh-CN" altLang="en-US" sz="1400" dirty="0">
                  <a:latin typeface="Arial Unicode MS"/>
                  <a:cs typeface="Arial Unicode MS"/>
                </a:rPr>
                <a:t>​抗风险能力较强​：近五年最大回撤低于同类指数，夏普比率（衡量风险调整后收益）表现突出。</a:t>
              </a:r>
              <a:endParaRPr sz="1400" dirty="0">
                <a:latin typeface="Arial Unicode MS"/>
                <a:cs typeface="Arial Unicode MS"/>
              </a:endParaRPr>
            </a:p>
          </p:txBody>
        </p:sp>
        <p:sp>
          <p:nvSpPr>
            <p:cNvPr id="33" name="object 8"/>
            <p:cNvSpPr txBox="1"/>
            <p:nvPr/>
          </p:nvSpPr>
          <p:spPr>
            <a:xfrm>
              <a:off x="4237032" y="2258644"/>
              <a:ext cx="1007397" cy="198131"/>
            </a:xfrm>
            <a:prstGeom prst="rect">
              <a:avLst/>
            </a:prstGeom>
          </p:spPr>
          <p:txBody>
            <a:bodyPr vert="horz" wrap="square" lIns="0" tIns="13335" rIns="0" bIns="0" rtlCol="0">
              <a:spAutoFit/>
            </a:bodyPr>
            <a:lstStyle/>
            <a:p>
              <a:pPr marL="12700">
                <a:lnSpc>
                  <a:spcPct val="100000"/>
                </a:lnSpc>
                <a:spcBef>
                  <a:spcPts val="105"/>
                </a:spcBef>
              </a:pPr>
              <a:r>
                <a:rPr lang="zh-CN" altLang="en-US" sz="1200" b="1" spc="35" dirty="0">
                  <a:uFill>
                    <a:solidFill>
                      <a:srgbClr val="000000"/>
                    </a:solidFill>
                  </a:uFill>
                  <a:latin typeface="阿里巴巴普惠体 2.0 55 Regular"/>
                  <a:cs typeface="阿里巴巴普惠体 2.0 55 Regular"/>
                </a:rPr>
                <a:t>历史表现优异</a:t>
              </a:r>
              <a:endParaRPr sz="1200" dirty="0">
                <a:latin typeface="阿里巴巴普惠体 2.0 55 Regular"/>
                <a:cs typeface="阿里巴巴普惠体 2.0 55 Regular"/>
              </a:endParaRPr>
            </a:p>
          </p:txBody>
        </p:sp>
      </p:grpSp>
      <p:grpSp>
        <p:nvGrpSpPr>
          <p:cNvPr id="5" name="组合 4"/>
          <p:cNvGrpSpPr/>
          <p:nvPr/>
        </p:nvGrpSpPr>
        <p:grpSpPr>
          <a:xfrm>
            <a:off x="7230485" y="1625231"/>
            <a:ext cx="2062176" cy="3817620"/>
            <a:chOff x="9302495" y="1620011"/>
            <a:chExt cx="2304415" cy="3817620"/>
          </a:xfrm>
        </p:grpSpPr>
        <p:sp>
          <p:nvSpPr>
            <p:cNvPr id="27" name="object 14"/>
            <p:cNvSpPr/>
            <p:nvPr/>
          </p:nvSpPr>
          <p:spPr>
            <a:xfrm>
              <a:off x="9302495" y="1620011"/>
              <a:ext cx="2304415" cy="3817620"/>
            </a:xfrm>
            <a:custGeom>
              <a:avLst/>
              <a:gdLst/>
              <a:ahLst/>
              <a:cxnLst/>
              <a:rect l="l" t="t" r="r" b="b"/>
              <a:pathLst>
                <a:path w="2304415" h="3817620">
                  <a:moveTo>
                    <a:pt x="1920239" y="3817620"/>
                  </a:moveTo>
                  <a:lnTo>
                    <a:pt x="384048" y="3817620"/>
                  </a:lnTo>
                  <a:lnTo>
                    <a:pt x="335795" y="3814505"/>
                  </a:lnTo>
                  <a:lnTo>
                    <a:pt x="289341" y="3805667"/>
                  </a:lnTo>
                  <a:lnTo>
                    <a:pt x="245046" y="3791464"/>
                  </a:lnTo>
                  <a:lnTo>
                    <a:pt x="203270" y="3772257"/>
                  </a:lnTo>
                  <a:lnTo>
                    <a:pt x="164372" y="3748405"/>
                  </a:lnTo>
                  <a:lnTo>
                    <a:pt x="128712" y="3720268"/>
                  </a:lnTo>
                  <a:lnTo>
                    <a:pt x="96650" y="3688207"/>
                  </a:lnTo>
                  <a:lnTo>
                    <a:pt x="68547" y="3652580"/>
                  </a:lnTo>
                  <a:lnTo>
                    <a:pt x="44762" y="3613749"/>
                  </a:lnTo>
                  <a:lnTo>
                    <a:pt x="25654" y="3572072"/>
                  </a:lnTo>
                  <a:lnTo>
                    <a:pt x="11585" y="3527911"/>
                  </a:lnTo>
                  <a:lnTo>
                    <a:pt x="2913" y="3481624"/>
                  </a:lnTo>
                  <a:lnTo>
                    <a:pt x="0" y="3433572"/>
                  </a:lnTo>
                  <a:lnTo>
                    <a:pt x="0" y="384048"/>
                  </a:lnTo>
                  <a:lnTo>
                    <a:pt x="2913" y="336006"/>
                  </a:lnTo>
                  <a:lnTo>
                    <a:pt x="11585" y="289728"/>
                  </a:lnTo>
                  <a:lnTo>
                    <a:pt x="25654" y="245574"/>
                  </a:lnTo>
                  <a:lnTo>
                    <a:pt x="44762" y="203903"/>
                  </a:lnTo>
                  <a:lnTo>
                    <a:pt x="68547" y="165075"/>
                  </a:lnTo>
                  <a:lnTo>
                    <a:pt x="96650" y="129450"/>
                  </a:lnTo>
                  <a:lnTo>
                    <a:pt x="128712" y="97389"/>
                  </a:lnTo>
                  <a:lnTo>
                    <a:pt x="164372" y="69250"/>
                  </a:lnTo>
                  <a:lnTo>
                    <a:pt x="203270" y="45395"/>
                  </a:lnTo>
                  <a:lnTo>
                    <a:pt x="245046" y="26182"/>
                  </a:lnTo>
                  <a:lnTo>
                    <a:pt x="289341" y="11972"/>
                  </a:lnTo>
                  <a:lnTo>
                    <a:pt x="335795" y="3124"/>
                  </a:lnTo>
                  <a:lnTo>
                    <a:pt x="384048" y="0"/>
                  </a:lnTo>
                  <a:lnTo>
                    <a:pt x="1920239" y="0"/>
                  </a:lnTo>
                  <a:lnTo>
                    <a:pt x="1968327" y="3124"/>
                  </a:lnTo>
                  <a:lnTo>
                    <a:pt x="2014643" y="11972"/>
                  </a:lnTo>
                  <a:lnTo>
                    <a:pt x="2058828" y="26182"/>
                  </a:lnTo>
                  <a:lnTo>
                    <a:pt x="2100522" y="45395"/>
                  </a:lnTo>
                  <a:lnTo>
                    <a:pt x="2139365" y="69250"/>
                  </a:lnTo>
                  <a:lnTo>
                    <a:pt x="2174998" y="97389"/>
                  </a:lnTo>
                  <a:lnTo>
                    <a:pt x="2207059" y="129450"/>
                  </a:lnTo>
                  <a:lnTo>
                    <a:pt x="2235190" y="165075"/>
                  </a:lnTo>
                  <a:lnTo>
                    <a:pt x="2259030" y="203903"/>
                  </a:lnTo>
                  <a:lnTo>
                    <a:pt x="2278220" y="245574"/>
                  </a:lnTo>
                  <a:lnTo>
                    <a:pt x="2292400" y="289728"/>
                  </a:lnTo>
                  <a:lnTo>
                    <a:pt x="2301209" y="336006"/>
                  </a:lnTo>
                  <a:lnTo>
                    <a:pt x="2304287" y="384048"/>
                  </a:lnTo>
                  <a:lnTo>
                    <a:pt x="2304287" y="3433572"/>
                  </a:lnTo>
                  <a:lnTo>
                    <a:pt x="2301209" y="3481624"/>
                  </a:lnTo>
                  <a:lnTo>
                    <a:pt x="2292400" y="3527911"/>
                  </a:lnTo>
                  <a:lnTo>
                    <a:pt x="2278220" y="3572072"/>
                  </a:lnTo>
                  <a:lnTo>
                    <a:pt x="2259030" y="3613749"/>
                  </a:lnTo>
                  <a:lnTo>
                    <a:pt x="2235190" y="3652580"/>
                  </a:lnTo>
                  <a:lnTo>
                    <a:pt x="2207059" y="3688207"/>
                  </a:lnTo>
                  <a:lnTo>
                    <a:pt x="2174998" y="3720268"/>
                  </a:lnTo>
                  <a:lnTo>
                    <a:pt x="2139365" y="3748405"/>
                  </a:lnTo>
                  <a:lnTo>
                    <a:pt x="2100522" y="3772257"/>
                  </a:lnTo>
                  <a:lnTo>
                    <a:pt x="2058828" y="3791464"/>
                  </a:lnTo>
                  <a:lnTo>
                    <a:pt x="2014643" y="3805667"/>
                  </a:lnTo>
                  <a:lnTo>
                    <a:pt x="1968327" y="3814505"/>
                  </a:lnTo>
                  <a:lnTo>
                    <a:pt x="1920239" y="3817620"/>
                  </a:lnTo>
                  <a:close/>
                </a:path>
              </a:pathLst>
            </a:custGeom>
            <a:solidFill>
              <a:srgbClr val="002060"/>
            </a:solidFill>
          </p:spPr>
          <p:txBody>
            <a:bodyPr wrap="square" lIns="0" tIns="0" rIns="0" bIns="0" rtlCol="0"/>
            <a:lstStyle/>
            <a:p>
              <a:endParaRPr/>
            </a:p>
          </p:txBody>
        </p:sp>
        <p:sp>
          <p:nvSpPr>
            <p:cNvPr id="28" name="object 15"/>
            <p:cNvSpPr txBox="1"/>
            <p:nvPr/>
          </p:nvSpPr>
          <p:spPr>
            <a:xfrm>
              <a:off x="9872402" y="1910947"/>
              <a:ext cx="1254357" cy="321242"/>
            </a:xfrm>
            <a:prstGeom prst="rect">
              <a:avLst/>
            </a:prstGeom>
          </p:spPr>
          <p:txBody>
            <a:bodyPr vert="horz" wrap="square" lIns="0" tIns="13335" rIns="0" bIns="0" rtlCol="0">
              <a:spAutoFit/>
            </a:bodyPr>
            <a:lstStyle/>
            <a:p>
              <a:pPr marL="12700">
                <a:lnSpc>
                  <a:spcPct val="100000"/>
                </a:lnSpc>
                <a:spcBef>
                  <a:spcPts val="105"/>
                </a:spcBef>
              </a:pPr>
              <a:r>
                <a:rPr lang="zh-CN" altLang="en-US" sz="2000" b="1" u="sng" spc="35" dirty="0">
                  <a:solidFill>
                    <a:schemeClr val="bg1"/>
                  </a:solidFill>
                  <a:uFill>
                    <a:solidFill>
                      <a:srgbClr val="000000"/>
                    </a:solidFill>
                  </a:uFill>
                  <a:latin typeface="阿里巴巴普惠体 2.0 55 Regular"/>
                  <a:cs typeface="阿里巴巴普惠体 2.0 55 Regular"/>
                </a:rPr>
                <a:t>分红稳定</a:t>
              </a:r>
              <a:endParaRPr sz="2000" dirty="0">
                <a:solidFill>
                  <a:schemeClr val="bg1"/>
                </a:solidFill>
                <a:latin typeface="阿里巴巴普惠体 2.0 55 Regular"/>
                <a:cs typeface="阿里巴巴普惠体 2.0 55 Regular"/>
              </a:endParaRPr>
            </a:p>
          </p:txBody>
        </p:sp>
        <p:sp>
          <p:nvSpPr>
            <p:cNvPr id="29" name="object 16"/>
            <p:cNvSpPr txBox="1"/>
            <p:nvPr/>
          </p:nvSpPr>
          <p:spPr>
            <a:xfrm>
              <a:off x="9700416" y="2791032"/>
              <a:ext cx="1508572" cy="1735732"/>
            </a:xfrm>
            <a:prstGeom prst="rect">
              <a:avLst/>
            </a:prstGeom>
          </p:spPr>
          <p:txBody>
            <a:bodyPr vert="horz" wrap="square" lIns="0" tIns="12065" rIns="0" bIns="0" rtlCol="0">
              <a:spAutoFit/>
            </a:bodyPr>
            <a:lstStyle/>
            <a:p>
              <a:pPr marL="12700" marR="5080" algn="just">
                <a:lnSpc>
                  <a:spcPct val="100000"/>
                </a:lnSpc>
                <a:spcBef>
                  <a:spcPts val="95"/>
                </a:spcBef>
              </a:pPr>
              <a:r>
                <a:rPr lang="zh-CN" altLang="en-US" sz="1600" dirty="0">
                  <a:solidFill>
                    <a:schemeClr val="bg1"/>
                  </a:solidFill>
                  <a:latin typeface="Arial Unicode MS"/>
                  <a:cs typeface="Arial Unicode MS"/>
                </a:rPr>
                <a:t>近四年股息率约</a:t>
              </a:r>
              <a:r>
                <a:rPr lang="en-US" altLang="zh-CN" sz="1600" dirty="0">
                  <a:solidFill>
                    <a:schemeClr val="bg1"/>
                  </a:solidFill>
                  <a:latin typeface="Arial Unicode MS"/>
                  <a:cs typeface="Arial Unicode MS"/>
                </a:rPr>
                <a:t>2%</a:t>
              </a:r>
              <a:r>
                <a:rPr lang="zh-CN" altLang="en-US" sz="1600" dirty="0">
                  <a:solidFill>
                    <a:schemeClr val="bg1"/>
                  </a:solidFill>
                  <a:latin typeface="Arial Unicode MS"/>
                  <a:cs typeface="Arial Unicode MS"/>
                </a:rPr>
                <a:t>，分红总额逐年增长，</a:t>
              </a:r>
              <a:r>
                <a:rPr lang="en-US" altLang="zh-CN" sz="1600" dirty="0">
                  <a:solidFill>
                    <a:schemeClr val="bg1"/>
                  </a:solidFill>
                  <a:latin typeface="Arial Unicode MS"/>
                  <a:cs typeface="Arial Unicode MS"/>
                </a:rPr>
                <a:t>2025</a:t>
              </a:r>
              <a:r>
                <a:rPr lang="zh-CN" altLang="en-US" sz="1600" dirty="0">
                  <a:solidFill>
                    <a:schemeClr val="bg1"/>
                  </a:solidFill>
                  <a:latin typeface="Arial Unicode MS"/>
                  <a:cs typeface="Arial Unicode MS"/>
                </a:rPr>
                <a:t>年达</a:t>
              </a:r>
              <a:r>
                <a:rPr lang="en-US" altLang="zh-CN" sz="1600" dirty="0">
                  <a:solidFill>
                    <a:schemeClr val="bg1"/>
                  </a:solidFill>
                  <a:latin typeface="Arial Unicode MS"/>
                  <a:cs typeface="Arial Unicode MS"/>
                </a:rPr>
                <a:t>2.51</a:t>
              </a:r>
              <a:r>
                <a:rPr lang="zh-CN" altLang="en-US" sz="1600" dirty="0">
                  <a:solidFill>
                    <a:schemeClr val="bg1"/>
                  </a:solidFill>
                  <a:latin typeface="Arial Unicode MS"/>
                  <a:cs typeface="Arial Unicode MS"/>
                </a:rPr>
                <a:t>万亿元，为投资者提供稳定现金流。</a:t>
              </a:r>
              <a:endParaRPr sz="1600" dirty="0">
                <a:solidFill>
                  <a:schemeClr val="bg1"/>
                </a:solidFill>
                <a:latin typeface="Arial Unicode MS"/>
                <a:cs typeface="Arial Unicode MS"/>
              </a:endParaRPr>
            </a:p>
          </p:txBody>
        </p:sp>
        <p:cxnSp>
          <p:nvCxnSpPr>
            <p:cNvPr id="30" name="直接连接符 29"/>
            <p:cNvCxnSpPr/>
            <p:nvPr/>
          </p:nvCxnSpPr>
          <p:spPr>
            <a:xfrm>
              <a:off x="9939336" y="2258644"/>
              <a:ext cx="1063944"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object 8"/>
            <p:cNvSpPr txBox="1"/>
            <p:nvPr/>
          </p:nvSpPr>
          <p:spPr>
            <a:xfrm>
              <a:off x="9995883" y="2285100"/>
              <a:ext cx="1007397" cy="198131"/>
            </a:xfrm>
            <a:prstGeom prst="rect">
              <a:avLst/>
            </a:prstGeom>
          </p:spPr>
          <p:txBody>
            <a:bodyPr vert="horz" wrap="square" lIns="0" tIns="13335" rIns="0" bIns="0" rtlCol="0">
              <a:spAutoFit/>
            </a:bodyPr>
            <a:lstStyle/>
            <a:p>
              <a:pPr marL="12700" algn="ctr">
                <a:lnSpc>
                  <a:spcPct val="100000"/>
                </a:lnSpc>
                <a:spcBef>
                  <a:spcPts val="105"/>
                </a:spcBef>
              </a:pPr>
              <a:r>
                <a:rPr lang="zh-CN" altLang="en-US" sz="1200" b="1" spc="35" dirty="0">
                  <a:solidFill>
                    <a:schemeClr val="bg1"/>
                  </a:solidFill>
                  <a:uFill>
                    <a:solidFill>
                      <a:srgbClr val="000000"/>
                    </a:solidFill>
                  </a:uFill>
                  <a:latin typeface="阿里巴巴普惠体 2.0 55 Regular"/>
                  <a:cs typeface="阿里巴巴普惠体 2.0 55 Regular"/>
                </a:rPr>
                <a:t>股息率优势</a:t>
              </a:r>
              <a:endParaRPr sz="1200" dirty="0">
                <a:solidFill>
                  <a:schemeClr val="bg1"/>
                </a:solidFill>
                <a:latin typeface="阿里巴巴普惠体 2.0 55 Regular"/>
                <a:cs typeface="阿里巴巴普惠体 2.0 55 Regular"/>
              </a:endParaRPr>
            </a:p>
          </p:txBody>
        </p:sp>
      </p:grpSp>
      <p:grpSp>
        <p:nvGrpSpPr>
          <p:cNvPr id="4" name="组合 3"/>
          <p:cNvGrpSpPr/>
          <p:nvPr/>
        </p:nvGrpSpPr>
        <p:grpSpPr>
          <a:xfrm>
            <a:off x="4952627" y="1625231"/>
            <a:ext cx="2107387" cy="3817620"/>
            <a:chOff x="6468976" y="1630679"/>
            <a:chExt cx="2304415" cy="3817620"/>
          </a:xfrm>
        </p:grpSpPr>
        <p:sp>
          <p:nvSpPr>
            <p:cNvPr id="18" name="object 2"/>
            <p:cNvSpPr/>
            <p:nvPr/>
          </p:nvSpPr>
          <p:spPr>
            <a:xfrm>
              <a:off x="6468976" y="1630679"/>
              <a:ext cx="2304415" cy="3817620"/>
            </a:xfrm>
            <a:custGeom>
              <a:avLst/>
              <a:gdLst/>
              <a:ahLst/>
              <a:cxnLst/>
              <a:rect l="l" t="t" r="r" b="b"/>
              <a:pathLst>
                <a:path w="2304415" h="3817620">
                  <a:moveTo>
                    <a:pt x="1920239" y="3817620"/>
                  </a:moveTo>
                  <a:lnTo>
                    <a:pt x="384047" y="3817620"/>
                  </a:lnTo>
                  <a:lnTo>
                    <a:pt x="335955" y="3814492"/>
                  </a:lnTo>
                  <a:lnTo>
                    <a:pt x="289634" y="3805642"/>
                  </a:lnTo>
                  <a:lnTo>
                    <a:pt x="245445" y="3791430"/>
                  </a:lnTo>
                  <a:lnTo>
                    <a:pt x="203749" y="3772216"/>
                  </a:lnTo>
                  <a:lnTo>
                    <a:pt x="164904" y="3748360"/>
                  </a:lnTo>
                  <a:lnTo>
                    <a:pt x="129270" y="3720221"/>
                  </a:lnTo>
                  <a:lnTo>
                    <a:pt x="97209" y="3688159"/>
                  </a:lnTo>
                  <a:lnTo>
                    <a:pt x="69079" y="3652535"/>
                  </a:lnTo>
                  <a:lnTo>
                    <a:pt x="45240" y="3613708"/>
                  </a:lnTo>
                  <a:lnTo>
                    <a:pt x="26053" y="3572038"/>
                  </a:lnTo>
                  <a:lnTo>
                    <a:pt x="11878" y="3527886"/>
                  </a:lnTo>
                  <a:lnTo>
                    <a:pt x="3073" y="3481610"/>
                  </a:lnTo>
                  <a:lnTo>
                    <a:pt x="0" y="3433572"/>
                  </a:lnTo>
                  <a:lnTo>
                    <a:pt x="0" y="384048"/>
                  </a:lnTo>
                  <a:lnTo>
                    <a:pt x="3073" y="335993"/>
                  </a:lnTo>
                  <a:lnTo>
                    <a:pt x="11878" y="289703"/>
                  </a:lnTo>
                  <a:lnTo>
                    <a:pt x="26053" y="245540"/>
                  </a:lnTo>
                  <a:lnTo>
                    <a:pt x="45240" y="203862"/>
                  </a:lnTo>
                  <a:lnTo>
                    <a:pt x="69079" y="165030"/>
                  </a:lnTo>
                  <a:lnTo>
                    <a:pt x="97209" y="129403"/>
                  </a:lnTo>
                  <a:lnTo>
                    <a:pt x="129270" y="97341"/>
                  </a:lnTo>
                  <a:lnTo>
                    <a:pt x="164904" y="69205"/>
                  </a:lnTo>
                  <a:lnTo>
                    <a:pt x="203749" y="45354"/>
                  </a:lnTo>
                  <a:lnTo>
                    <a:pt x="245445" y="26148"/>
                  </a:lnTo>
                  <a:lnTo>
                    <a:pt x="289634" y="11947"/>
                  </a:lnTo>
                  <a:lnTo>
                    <a:pt x="335955" y="3111"/>
                  </a:lnTo>
                  <a:lnTo>
                    <a:pt x="384047" y="0"/>
                  </a:lnTo>
                  <a:lnTo>
                    <a:pt x="1920239" y="0"/>
                  </a:lnTo>
                  <a:lnTo>
                    <a:pt x="1968486" y="3111"/>
                  </a:lnTo>
                  <a:lnTo>
                    <a:pt x="2014936" y="11947"/>
                  </a:lnTo>
                  <a:lnTo>
                    <a:pt x="2059227" y="26148"/>
                  </a:lnTo>
                  <a:lnTo>
                    <a:pt x="2101001" y="45354"/>
                  </a:lnTo>
                  <a:lnTo>
                    <a:pt x="2139897" y="69205"/>
                  </a:lnTo>
                  <a:lnTo>
                    <a:pt x="2175556" y="97341"/>
                  </a:lnTo>
                  <a:lnTo>
                    <a:pt x="2207618" y="129403"/>
                  </a:lnTo>
                  <a:lnTo>
                    <a:pt x="2235722" y="165030"/>
                  </a:lnTo>
                  <a:lnTo>
                    <a:pt x="2259509" y="203862"/>
                  </a:lnTo>
                  <a:lnTo>
                    <a:pt x="2278619" y="245540"/>
                  </a:lnTo>
                  <a:lnTo>
                    <a:pt x="2292692" y="289703"/>
                  </a:lnTo>
                  <a:lnTo>
                    <a:pt x="2301368" y="335993"/>
                  </a:lnTo>
                  <a:lnTo>
                    <a:pt x="2304288" y="384048"/>
                  </a:lnTo>
                  <a:lnTo>
                    <a:pt x="2304288" y="3433572"/>
                  </a:lnTo>
                  <a:lnTo>
                    <a:pt x="2301368" y="3481610"/>
                  </a:lnTo>
                  <a:lnTo>
                    <a:pt x="2292692" y="3527886"/>
                  </a:lnTo>
                  <a:lnTo>
                    <a:pt x="2278619" y="3572038"/>
                  </a:lnTo>
                  <a:lnTo>
                    <a:pt x="2259509" y="3613708"/>
                  </a:lnTo>
                  <a:lnTo>
                    <a:pt x="2235722" y="3652535"/>
                  </a:lnTo>
                  <a:lnTo>
                    <a:pt x="2207618" y="3688159"/>
                  </a:lnTo>
                  <a:lnTo>
                    <a:pt x="2175556" y="3720221"/>
                  </a:lnTo>
                  <a:lnTo>
                    <a:pt x="2139897" y="3748360"/>
                  </a:lnTo>
                  <a:lnTo>
                    <a:pt x="2101001" y="3772216"/>
                  </a:lnTo>
                  <a:lnTo>
                    <a:pt x="2059227" y="3791430"/>
                  </a:lnTo>
                  <a:lnTo>
                    <a:pt x="2014936" y="3805642"/>
                  </a:lnTo>
                  <a:lnTo>
                    <a:pt x="1968486" y="3814492"/>
                  </a:lnTo>
                  <a:lnTo>
                    <a:pt x="1920239" y="3817620"/>
                  </a:lnTo>
                  <a:close/>
                </a:path>
              </a:pathLst>
            </a:custGeom>
            <a:solidFill>
              <a:srgbClr val="0070C0"/>
            </a:solidFill>
          </p:spPr>
          <p:txBody>
            <a:bodyPr wrap="square" lIns="0" tIns="0" rIns="0" bIns="0" rtlCol="0"/>
            <a:lstStyle/>
            <a:p>
              <a:endParaRPr dirty="0"/>
            </a:p>
          </p:txBody>
        </p:sp>
        <p:sp>
          <p:nvSpPr>
            <p:cNvPr id="25" name="object 12"/>
            <p:cNvSpPr txBox="1"/>
            <p:nvPr/>
          </p:nvSpPr>
          <p:spPr>
            <a:xfrm>
              <a:off x="7033003" y="1937841"/>
              <a:ext cx="1159871" cy="321242"/>
            </a:xfrm>
            <a:prstGeom prst="rect">
              <a:avLst/>
            </a:prstGeom>
            <a:ln>
              <a:noFill/>
            </a:ln>
          </p:spPr>
          <p:txBody>
            <a:bodyPr vert="horz" wrap="square" lIns="0" tIns="13335" rIns="0" bIns="0" rtlCol="0">
              <a:spAutoFit/>
            </a:bodyPr>
            <a:lstStyle/>
            <a:p>
              <a:pPr marL="12700">
                <a:lnSpc>
                  <a:spcPct val="100000"/>
                </a:lnSpc>
                <a:spcBef>
                  <a:spcPts val="105"/>
                </a:spcBef>
              </a:pPr>
              <a:r>
                <a:rPr sz="2000" b="1" spc="35" dirty="0" err="1">
                  <a:solidFill>
                    <a:schemeClr val="bg1"/>
                  </a:solidFill>
                  <a:uFill>
                    <a:solidFill>
                      <a:srgbClr val="000000"/>
                    </a:solidFill>
                  </a:uFill>
                  <a:latin typeface="阿里巴巴普惠体 2.0 55 Regular"/>
                  <a:cs typeface="阿里巴巴普惠体 2.0 55 Regular"/>
                </a:rPr>
                <a:t>估值</a:t>
              </a:r>
              <a:r>
                <a:rPr lang="zh-CN" altLang="en-US" sz="2000" b="1" spc="35" dirty="0">
                  <a:solidFill>
                    <a:schemeClr val="bg1"/>
                  </a:solidFill>
                  <a:uFill>
                    <a:solidFill>
                      <a:srgbClr val="000000"/>
                    </a:solidFill>
                  </a:uFill>
                  <a:latin typeface="阿里巴巴普惠体 2.0 55 Regular"/>
                  <a:cs typeface="阿里巴巴普惠体 2.0 55 Regular"/>
                </a:rPr>
                <a:t>合理</a:t>
              </a:r>
              <a:endParaRPr sz="2000" dirty="0">
                <a:solidFill>
                  <a:schemeClr val="bg1"/>
                </a:solidFill>
                <a:latin typeface="阿里巴巴普惠体 2.0 55 Regular"/>
                <a:cs typeface="阿里巴巴普惠体 2.0 55 Regular"/>
              </a:endParaRPr>
            </a:p>
          </p:txBody>
        </p:sp>
        <p:sp>
          <p:nvSpPr>
            <p:cNvPr id="26" name="object 13"/>
            <p:cNvSpPr txBox="1"/>
            <p:nvPr/>
          </p:nvSpPr>
          <p:spPr>
            <a:xfrm>
              <a:off x="6796392" y="2794025"/>
              <a:ext cx="1582366" cy="1243289"/>
            </a:xfrm>
            <a:prstGeom prst="rect">
              <a:avLst/>
            </a:prstGeom>
          </p:spPr>
          <p:txBody>
            <a:bodyPr vert="horz" wrap="square" lIns="0" tIns="12065" rIns="0" bIns="0" rtlCol="0">
              <a:spAutoFit/>
            </a:bodyPr>
            <a:lstStyle/>
            <a:p>
              <a:pPr marL="12700" marR="5080" algn="just">
                <a:lnSpc>
                  <a:spcPct val="100000"/>
                </a:lnSpc>
                <a:spcBef>
                  <a:spcPts val="95"/>
                </a:spcBef>
              </a:pPr>
              <a:r>
                <a:rPr lang="zh-CN" altLang="en-US" sz="1600" dirty="0">
                  <a:solidFill>
                    <a:schemeClr val="bg1"/>
                  </a:solidFill>
                  <a:latin typeface="Arial Unicode MS"/>
                  <a:cs typeface="Arial Unicode MS"/>
                </a:rPr>
                <a:t>截至</a:t>
              </a:r>
              <a:r>
                <a:rPr lang="en-US" altLang="zh-CN" sz="1600" dirty="0">
                  <a:solidFill>
                    <a:schemeClr val="bg1"/>
                  </a:solidFill>
                  <a:latin typeface="Arial Unicode MS"/>
                  <a:cs typeface="Arial Unicode MS"/>
                </a:rPr>
                <a:t>2026</a:t>
              </a:r>
              <a:r>
                <a:rPr lang="zh-CN" altLang="en-US" sz="1600" dirty="0">
                  <a:solidFill>
                    <a:schemeClr val="bg1"/>
                  </a:solidFill>
                  <a:latin typeface="Arial Unicode MS"/>
                  <a:cs typeface="Arial Unicode MS"/>
                </a:rPr>
                <a:t>年</a:t>
              </a:r>
              <a:r>
                <a:rPr lang="en-US" altLang="zh-CN" sz="1600" dirty="0">
                  <a:solidFill>
                    <a:schemeClr val="bg1"/>
                  </a:solidFill>
                  <a:latin typeface="Arial Unicode MS"/>
                  <a:cs typeface="Arial Unicode MS"/>
                </a:rPr>
                <a:t>5</a:t>
              </a:r>
              <a:r>
                <a:rPr lang="zh-CN" altLang="en-US" sz="1600" dirty="0">
                  <a:solidFill>
                    <a:schemeClr val="bg1"/>
                  </a:solidFill>
                  <a:latin typeface="Arial Unicode MS"/>
                  <a:cs typeface="Arial Unicode MS"/>
                </a:rPr>
                <a:t>月，市净率</a:t>
              </a:r>
              <a:r>
                <a:rPr lang="en-US" altLang="zh-CN" sz="1600" dirty="0">
                  <a:solidFill>
                    <a:schemeClr val="bg1"/>
                  </a:solidFill>
                  <a:latin typeface="Arial Unicode MS"/>
                  <a:cs typeface="Arial Unicode MS"/>
                </a:rPr>
                <a:t>1.88</a:t>
              </a:r>
              <a:r>
                <a:rPr lang="zh-CN" altLang="en-US" sz="1600" dirty="0">
                  <a:solidFill>
                    <a:schemeClr val="bg1"/>
                  </a:solidFill>
                  <a:latin typeface="Arial Unicode MS"/>
                  <a:cs typeface="Arial Unicode MS"/>
                </a:rPr>
                <a:t>倍（近十年</a:t>
              </a:r>
              <a:r>
                <a:rPr lang="en-US" altLang="zh-CN" sz="1600" dirty="0">
                  <a:solidFill>
                    <a:schemeClr val="bg1"/>
                  </a:solidFill>
                  <a:latin typeface="Arial Unicode MS"/>
                  <a:cs typeface="Arial Unicode MS"/>
                </a:rPr>
                <a:t>70%</a:t>
              </a:r>
              <a:r>
                <a:rPr lang="zh-CN" altLang="en-US" sz="1600" dirty="0">
                  <a:solidFill>
                    <a:schemeClr val="bg1"/>
                  </a:solidFill>
                  <a:latin typeface="Arial Unicode MS"/>
                  <a:cs typeface="Arial Unicode MS"/>
                </a:rPr>
                <a:t>分位），处于历史估值合理区间。</a:t>
              </a:r>
              <a:endParaRPr sz="1600" dirty="0">
                <a:solidFill>
                  <a:schemeClr val="bg1"/>
                </a:solidFill>
                <a:latin typeface="Arial Unicode MS"/>
                <a:cs typeface="Arial Unicode MS"/>
              </a:endParaRPr>
            </a:p>
          </p:txBody>
        </p:sp>
        <p:sp>
          <p:nvSpPr>
            <p:cNvPr id="34" name="object 8"/>
            <p:cNvSpPr txBox="1"/>
            <p:nvPr/>
          </p:nvSpPr>
          <p:spPr>
            <a:xfrm>
              <a:off x="7033004" y="2267565"/>
              <a:ext cx="1078565" cy="198131"/>
            </a:xfrm>
            <a:prstGeom prst="rect">
              <a:avLst/>
            </a:prstGeom>
          </p:spPr>
          <p:txBody>
            <a:bodyPr vert="horz" wrap="square" lIns="0" tIns="13335" rIns="0" bIns="0" rtlCol="0">
              <a:spAutoFit/>
            </a:bodyPr>
            <a:lstStyle/>
            <a:p>
              <a:pPr marL="12700">
                <a:lnSpc>
                  <a:spcPct val="100000"/>
                </a:lnSpc>
                <a:spcBef>
                  <a:spcPts val="105"/>
                </a:spcBef>
              </a:pPr>
              <a:r>
                <a:rPr lang="zh-CN" altLang="en-US" sz="1200" b="1" spc="35" dirty="0">
                  <a:solidFill>
                    <a:schemeClr val="bg1"/>
                  </a:solidFill>
                  <a:uFill>
                    <a:solidFill>
                      <a:srgbClr val="000000"/>
                    </a:solidFill>
                  </a:uFill>
                  <a:latin typeface="阿里巴巴普惠体 2.0 55 Regular"/>
                  <a:cs typeface="阿里巴巴普惠体 2.0 55 Regular"/>
                </a:rPr>
                <a:t>当前估值较低</a:t>
              </a:r>
              <a:endParaRPr sz="1200" dirty="0">
                <a:solidFill>
                  <a:schemeClr val="bg1"/>
                </a:solidFill>
                <a:latin typeface="阿里巴巴普惠体 2.0 55 Regular"/>
                <a:cs typeface="阿里巴巴普惠体 2.0 55 Regular"/>
              </a:endParaRPr>
            </a:p>
          </p:txBody>
        </p:sp>
        <p:cxnSp>
          <p:nvCxnSpPr>
            <p:cNvPr id="36" name="直接连接符 35"/>
            <p:cNvCxnSpPr/>
            <p:nvPr/>
          </p:nvCxnSpPr>
          <p:spPr>
            <a:xfrm>
              <a:off x="7047625" y="2267565"/>
              <a:ext cx="1063944"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2729813" y="1625231"/>
            <a:ext cx="2061242" cy="3817620"/>
            <a:chOff x="6455664" y="1630679"/>
            <a:chExt cx="2188815" cy="3817620"/>
          </a:xfrm>
        </p:grpSpPr>
        <p:sp>
          <p:nvSpPr>
            <p:cNvPr id="38" name="object 2"/>
            <p:cNvSpPr/>
            <p:nvPr/>
          </p:nvSpPr>
          <p:spPr>
            <a:xfrm>
              <a:off x="6455664" y="1630679"/>
              <a:ext cx="2188815" cy="3817620"/>
            </a:xfrm>
            <a:custGeom>
              <a:avLst/>
              <a:gdLst/>
              <a:ahLst/>
              <a:cxnLst/>
              <a:rect l="l" t="t" r="r" b="b"/>
              <a:pathLst>
                <a:path w="2304415" h="3817620">
                  <a:moveTo>
                    <a:pt x="1920239" y="3817620"/>
                  </a:moveTo>
                  <a:lnTo>
                    <a:pt x="384047" y="3817620"/>
                  </a:lnTo>
                  <a:lnTo>
                    <a:pt x="335955" y="3814492"/>
                  </a:lnTo>
                  <a:lnTo>
                    <a:pt x="289634" y="3805642"/>
                  </a:lnTo>
                  <a:lnTo>
                    <a:pt x="245445" y="3791430"/>
                  </a:lnTo>
                  <a:lnTo>
                    <a:pt x="203749" y="3772216"/>
                  </a:lnTo>
                  <a:lnTo>
                    <a:pt x="164904" y="3748360"/>
                  </a:lnTo>
                  <a:lnTo>
                    <a:pt x="129270" y="3720221"/>
                  </a:lnTo>
                  <a:lnTo>
                    <a:pt x="97209" y="3688159"/>
                  </a:lnTo>
                  <a:lnTo>
                    <a:pt x="69079" y="3652535"/>
                  </a:lnTo>
                  <a:lnTo>
                    <a:pt x="45240" y="3613708"/>
                  </a:lnTo>
                  <a:lnTo>
                    <a:pt x="26053" y="3572038"/>
                  </a:lnTo>
                  <a:lnTo>
                    <a:pt x="11878" y="3527886"/>
                  </a:lnTo>
                  <a:lnTo>
                    <a:pt x="3073" y="3481610"/>
                  </a:lnTo>
                  <a:lnTo>
                    <a:pt x="0" y="3433572"/>
                  </a:lnTo>
                  <a:lnTo>
                    <a:pt x="0" y="384048"/>
                  </a:lnTo>
                  <a:lnTo>
                    <a:pt x="3073" y="335993"/>
                  </a:lnTo>
                  <a:lnTo>
                    <a:pt x="11878" y="289703"/>
                  </a:lnTo>
                  <a:lnTo>
                    <a:pt x="26053" y="245540"/>
                  </a:lnTo>
                  <a:lnTo>
                    <a:pt x="45240" y="203862"/>
                  </a:lnTo>
                  <a:lnTo>
                    <a:pt x="69079" y="165030"/>
                  </a:lnTo>
                  <a:lnTo>
                    <a:pt x="97209" y="129403"/>
                  </a:lnTo>
                  <a:lnTo>
                    <a:pt x="129270" y="97341"/>
                  </a:lnTo>
                  <a:lnTo>
                    <a:pt x="164904" y="69205"/>
                  </a:lnTo>
                  <a:lnTo>
                    <a:pt x="203749" y="45354"/>
                  </a:lnTo>
                  <a:lnTo>
                    <a:pt x="245445" y="26148"/>
                  </a:lnTo>
                  <a:lnTo>
                    <a:pt x="289634" y="11947"/>
                  </a:lnTo>
                  <a:lnTo>
                    <a:pt x="335955" y="3111"/>
                  </a:lnTo>
                  <a:lnTo>
                    <a:pt x="384047" y="0"/>
                  </a:lnTo>
                  <a:lnTo>
                    <a:pt x="1920239" y="0"/>
                  </a:lnTo>
                  <a:lnTo>
                    <a:pt x="1968486" y="3111"/>
                  </a:lnTo>
                  <a:lnTo>
                    <a:pt x="2014936" y="11947"/>
                  </a:lnTo>
                  <a:lnTo>
                    <a:pt x="2059227" y="26148"/>
                  </a:lnTo>
                  <a:lnTo>
                    <a:pt x="2101001" y="45354"/>
                  </a:lnTo>
                  <a:lnTo>
                    <a:pt x="2139897" y="69205"/>
                  </a:lnTo>
                  <a:lnTo>
                    <a:pt x="2175556" y="97341"/>
                  </a:lnTo>
                  <a:lnTo>
                    <a:pt x="2207618" y="129403"/>
                  </a:lnTo>
                  <a:lnTo>
                    <a:pt x="2235722" y="165030"/>
                  </a:lnTo>
                  <a:lnTo>
                    <a:pt x="2259509" y="203862"/>
                  </a:lnTo>
                  <a:lnTo>
                    <a:pt x="2278619" y="245540"/>
                  </a:lnTo>
                  <a:lnTo>
                    <a:pt x="2292692" y="289703"/>
                  </a:lnTo>
                  <a:lnTo>
                    <a:pt x="2301368" y="335993"/>
                  </a:lnTo>
                  <a:lnTo>
                    <a:pt x="2304288" y="384048"/>
                  </a:lnTo>
                  <a:lnTo>
                    <a:pt x="2304288" y="3433572"/>
                  </a:lnTo>
                  <a:lnTo>
                    <a:pt x="2301368" y="3481610"/>
                  </a:lnTo>
                  <a:lnTo>
                    <a:pt x="2292692" y="3527886"/>
                  </a:lnTo>
                  <a:lnTo>
                    <a:pt x="2278619" y="3572038"/>
                  </a:lnTo>
                  <a:lnTo>
                    <a:pt x="2259509" y="3613708"/>
                  </a:lnTo>
                  <a:lnTo>
                    <a:pt x="2235722" y="3652535"/>
                  </a:lnTo>
                  <a:lnTo>
                    <a:pt x="2207618" y="3688159"/>
                  </a:lnTo>
                  <a:lnTo>
                    <a:pt x="2175556" y="3720221"/>
                  </a:lnTo>
                  <a:lnTo>
                    <a:pt x="2139897" y="3748360"/>
                  </a:lnTo>
                  <a:lnTo>
                    <a:pt x="2101001" y="3772216"/>
                  </a:lnTo>
                  <a:lnTo>
                    <a:pt x="2059227" y="3791430"/>
                  </a:lnTo>
                  <a:lnTo>
                    <a:pt x="2014936" y="3805642"/>
                  </a:lnTo>
                  <a:lnTo>
                    <a:pt x="1968486" y="3814492"/>
                  </a:lnTo>
                  <a:lnTo>
                    <a:pt x="1920239" y="3817620"/>
                  </a:lnTo>
                  <a:close/>
                </a:path>
              </a:pathLst>
            </a:custGeom>
            <a:solidFill>
              <a:schemeClr val="accent1">
                <a:lumMod val="60000"/>
                <a:lumOff val="40000"/>
              </a:schemeClr>
            </a:solidFill>
          </p:spPr>
          <p:txBody>
            <a:bodyPr wrap="square" lIns="0" tIns="0" rIns="0" bIns="0" rtlCol="0"/>
            <a:lstStyle/>
            <a:p>
              <a:endParaRPr/>
            </a:p>
          </p:txBody>
        </p:sp>
        <p:sp>
          <p:nvSpPr>
            <p:cNvPr id="39" name="object 12"/>
            <p:cNvSpPr txBox="1"/>
            <p:nvPr/>
          </p:nvSpPr>
          <p:spPr>
            <a:xfrm>
              <a:off x="6982155" y="1945077"/>
              <a:ext cx="1159871" cy="321242"/>
            </a:xfrm>
            <a:prstGeom prst="rect">
              <a:avLst/>
            </a:prstGeom>
            <a:ln>
              <a:noFill/>
            </a:ln>
          </p:spPr>
          <p:txBody>
            <a:bodyPr vert="horz" wrap="square" lIns="0" tIns="13335" rIns="0" bIns="0" rtlCol="0">
              <a:spAutoFit/>
            </a:bodyPr>
            <a:lstStyle/>
            <a:p>
              <a:pPr marL="12700" algn="ctr">
                <a:lnSpc>
                  <a:spcPct val="100000"/>
                </a:lnSpc>
                <a:spcBef>
                  <a:spcPts val="105"/>
                </a:spcBef>
              </a:pPr>
              <a:r>
                <a:rPr lang="zh-CN" altLang="en-US" sz="2000" b="1" u="sng" spc="35" dirty="0">
                  <a:uFill>
                    <a:solidFill>
                      <a:srgbClr val="000000"/>
                    </a:solidFill>
                  </a:uFill>
                  <a:latin typeface="阿里巴巴普惠体 2.0 55 Regular"/>
                </a:rPr>
                <a:t>均衡性</a:t>
              </a:r>
              <a:endParaRPr sz="2000" b="1" u="sng" spc="35" dirty="0">
                <a:uFill>
                  <a:solidFill>
                    <a:srgbClr val="000000"/>
                  </a:solidFill>
                </a:uFill>
                <a:latin typeface="阿里巴巴普惠体 2.0 55 Regular"/>
              </a:endParaRPr>
            </a:p>
          </p:txBody>
        </p:sp>
        <p:sp>
          <p:nvSpPr>
            <p:cNvPr id="40" name="object 13"/>
            <p:cNvSpPr txBox="1"/>
            <p:nvPr/>
          </p:nvSpPr>
          <p:spPr>
            <a:xfrm>
              <a:off x="6732959" y="2801700"/>
              <a:ext cx="1647601" cy="1520288"/>
            </a:xfrm>
            <a:prstGeom prst="rect">
              <a:avLst/>
            </a:prstGeom>
          </p:spPr>
          <p:txBody>
            <a:bodyPr vert="horz" wrap="square" lIns="0" tIns="12065" rIns="0" bIns="0" rtlCol="0">
              <a:spAutoFit/>
            </a:bodyPr>
            <a:lstStyle/>
            <a:p>
              <a:pPr marL="12700" marR="5080" algn="just">
                <a:lnSpc>
                  <a:spcPct val="100000"/>
                </a:lnSpc>
                <a:spcBef>
                  <a:spcPts val="95"/>
                </a:spcBef>
              </a:pPr>
              <a:r>
                <a:rPr lang="zh-CN" altLang="en-US" sz="1400" dirty="0"/>
                <a:t>权重分布兼顾大、中、小盘股，超</a:t>
              </a:r>
              <a:r>
                <a:rPr lang="en-US" altLang="zh-CN" sz="1400" dirty="0"/>
                <a:t>40%</a:t>
              </a:r>
              <a:r>
                <a:rPr lang="zh-CN" altLang="en-US" sz="1400" dirty="0"/>
                <a:t>权重聚焦千亿市值龙头，约</a:t>
              </a:r>
              <a:r>
                <a:rPr lang="en-US" altLang="zh-CN" sz="1400" dirty="0"/>
                <a:t>20%</a:t>
              </a:r>
              <a:r>
                <a:rPr lang="zh-CN" altLang="en-US" sz="1400" dirty="0"/>
                <a:t>权重覆盖中小盘高弹性标的，兼具稳定性与成长潜力。</a:t>
              </a:r>
              <a:endParaRPr sz="1400" dirty="0"/>
            </a:p>
          </p:txBody>
        </p:sp>
        <p:sp>
          <p:nvSpPr>
            <p:cNvPr id="41" name="object 8"/>
            <p:cNvSpPr txBox="1"/>
            <p:nvPr/>
          </p:nvSpPr>
          <p:spPr>
            <a:xfrm>
              <a:off x="7134629" y="2259943"/>
              <a:ext cx="1007397" cy="198131"/>
            </a:xfrm>
            <a:prstGeom prst="rect">
              <a:avLst/>
            </a:prstGeom>
          </p:spPr>
          <p:txBody>
            <a:bodyPr vert="horz" wrap="square" lIns="0" tIns="13335" rIns="0" bIns="0" rtlCol="0">
              <a:spAutoFit/>
            </a:bodyPr>
            <a:lstStyle/>
            <a:p>
              <a:pPr marL="12700">
                <a:lnSpc>
                  <a:spcPct val="100000"/>
                </a:lnSpc>
                <a:spcBef>
                  <a:spcPts val="105"/>
                </a:spcBef>
              </a:pPr>
              <a:r>
                <a:rPr lang="zh-CN" altLang="en-US" sz="1200" b="1" spc="35" dirty="0">
                  <a:uFill>
                    <a:solidFill>
                      <a:srgbClr val="000000"/>
                    </a:solidFill>
                  </a:uFill>
                  <a:latin typeface="阿里巴巴普惠体 2.0 55 Regular"/>
                </a:rPr>
                <a:t>市值、行业</a:t>
              </a:r>
              <a:endParaRPr sz="1200" b="1" spc="35" dirty="0">
                <a:uFill>
                  <a:solidFill>
                    <a:srgbClr val="000000"/>
                  </a:solidFill>
                </a:uFill>
                <a:latin typeface="阿里巴巴普惠体 2.0 55 Regular"/>
              </a:endParaRPr>
            </a:p>
          </p:txBody>
        </p:sp>
      </p:grpSp>
      <p:sp>
        <p:nvSpPr>
          <p:cNvPr id="43" name="object 3"/>
          <p:cNvSpPr txBox="1"/>
          <p:nvPr/>
        </p:nvSpPr>
        <p:spPr>
          <a:xfrm>
            <a:off x="5063895" y="4126154"/>
            <a:ext cx="2107388" cy="120546"/>
          </a:xfrm>
          <a:prstGeom prst="rect">
            <a:avLst/>
          </a:prstGeom>
        </p:spPr>
        <p:txBody>
          <a:bodyPr vert="horz" wrap="square" lIns="0" tIns="12700" rIns="0" bIns="0" rtlCol="0">
            <a:spAutoFit/>
          </a:bodyPr>
          <a:lstStyle/>
          <a:p>
            <a:pPr marL="12700">
              <a:lnSpc>
                <a:spcPct val="100000"/>
              </a:lnSpc>
              <a:spcBef>
                <a:spcPts val="100"/>
              </a:spcBef>
            </a:pPr>
            <a:r>
              <a:rPr lang="zh-CN" altLang="en-US" sz="700" dirty="0">
                <a:solidFill>
                  <a:schemeClr val="bg1"/>
                </a:solidFill>
                <a:cs typeface="微软雅黑" panose="020B0503020204020204" pitchFamily="34" charset="-122"/>
              </a:rPr>
              <a:t>（数据来源：</a:t>
            </a:r>
            <a:r>
              <a:rPr lang="en-US" altLang="zh-CN" sz="700" dirty="0">
                <a:solidFill>
                  <a:schemeClr val="bg1"/>
                </a:solidFill>
                <a:cs typeface="微软雅黑" panose="020B0503020204020204" pitchFamily="34" charset="-122"/>
              </a:rPr>
              <a:t>Wind</a:t>
            </a:r>
            <a:r>
              <a:rPr lang="zh-CN" altLang="en-US" sz="700" dirty="0">
                <a:solidFill>
                  <a:schemeClr val="bg1"/>
                </a:solidFill>
                <a:cs typeface="微软雅黑" panose="020B0503020204020204" pitchFamily="34" charset="-122"/>
              </a:rPr>
              <a:t>，</a:t>
            </a:r>
            <a:r>
              <a:rPr sz="700" dirty="0" err="1">
                <a:solidFill>
                  <a:schemeClr val="bg1"/>
                </a:solidFill>
                <a:cs typeface="微软雅黑" panose="020B0503020204020204" pitchFamily="34" charset="-122"/>
              </a:rPr>
              <a:t>数据</a:t>
            </a:r>
            <a:r>
              <a:rPr lang="zh-CN" altLang="en-US" sz="700" dirty="0">
                <a:solidFill>
                  <a:schemeClr val="bg1"/>
                </a:solidFill>
                <a:cs typeface="微软雅黑" panose="020B0503020204020204" pitchFamily="34" charset="-122"/>
              </a:rPr>
              <a:t>截至</a:t>
            </a:r>
            <a:r>
              <a:rPr sz="700" dirty="0">
                <a:solidFill>
                  <a:schemeClr val="bg1"/>
                </a:solidFill>
                <a:cs typeface="微软雅黑" panose="020B0503020204020204" pitchFamily="34" charset="-122"/>
              </a:rPr>
              <a:t>至202</a:t>
            </a:r>
            <a:r>
              <a:rPr lang="en-US" sz="700" spc="-15" dirty="0">
                <a:solidFill>
                  <a:schemeClr val="bg1"/>
                </a:solidFill>
                <a:cs typeface="微软雅黑" panose="020B0503020204020204" pitchFamily="34" charset="-122"/>
              </a:rPr>
              <a:t>6</a:t>
            </a:r>
            <a:r>
              <a:rPr sz="700" spc="-5" dirty="0">
                <a:solidFill>
                  <a:schemeClr val="bg1"/>
                </a:solidFill>
                <a:cs typeface="微软雅黑" panose="020B0503020204020204" pitchFamily="34" charset="-122"/>
              </a:rPr>
              <a:t>.</a:t>
            </a:r>
            <a:r>
              <a:rPr lang="en-US" altLang="zh-CN" sz="700" spc="-5" dirty="0">
                <a:solidFill>
                  <a:schemeClr val="bg1"/>
                </a:solidFill>
                <a:cs typeface="微软雅黑" panose="020B0503020204020204" pitchFamily="34" charset="-122"/>
              </a:rPr>
              <a:t>5</a:t>
            </a:r>
            <a:r>
              <a:rPr sz="700" spc="-15" dirty="0">
                <a:solidFill>
                  <a:schemeClr val="bg1"/>
                </a:solidFill>
                <a:cs typeface="微软雅黑" panose="020B0503020204020204" pitchFamily="34" charset="-122"/>
              </a:rPr>
              <a:t>.</a:t>
            </a:r>
            <a:r>
              <a:rPr lang="en-US" altLang="zh-CN" sz="700" spc="-15" dirty="0">
                <a:solidFill>
                  <a:schemeClr val="bg1"/>
                </a:solidFill>
                <a:cs typeface="微软雅黑" panose="020B0503020204020204" pitchFamily="34" charset="-122"/>
              </a:rPr>
              <a:t>31</a:t>
            </a:r>
            <a:r>
              <a:rPr lang="zh-CN" altLang="en-US" sz="700" dirty="0">
                <a:solidFill>
                  <a:schemeClr val="bg1"/>
                </a:solidFill>
                <a:cs typeface="微软雅黑" panose="020B0503020204020204" pitchFamily="34" charset="-122"/>
              </a:rPr>
              <a:t>）</a:t>
            </a:r>
            <a:endParaRPr sz="700" dirty="0">
              <a:solidFill>
                <a:schemeClr val="bg1"/>
              </a:solidFill>
              <a:cs typeface="微软雅黑" panose="020B0503020204020204" pitchFamily="34" charset="-122"/>
            </a:endParaRPr>
          </a:p>
        </p:txBody>
      </p:sp>
      <p:sp>
        <p:nvSpPr>
          <p:cNvPr id="44" name="object 3"/>
          <p:cNvSpPr txBox="1"/>
          <p:nvPr/>
        </p:nvSpPr>
        <p:spPr>
          <a:xfrm>
            <a:off x="7207878" y="4702562"/>
            <a:ext cx="2152569" cy="135935"/>
          </a:xfrm>
          <a:prstGeom prst="rect">
            <a:avLst/>
          </a:prstGeom>
        </p:spPr>
        <p:txBody>
          <a:bodyPr vert="horz" wrap="square" lIns="0" tIns="12700" rIns="0" bIns="0" rtlCol="0">
            <a:spAutoFit/>
          </a:bodyPr>
          <a:lstStyle/>
          <a:p>
            <a:pPr marL="12700">
              <a:lnSpc>
                <a:spcPct val="100000"/>
              </a:lnSpc>
              <a:spcBef>
                <a:spcPts val="100"/>
              </a:spcBef>
            </a:pPr>
            <a:r>
              <a:rPr lang="zh-CN" altLang="en-US" sz="800" dirty="0">
                <a:solidFill>
                  <a:schemeClr val="bg1"/>
                </a:solidFill>
                <a:latin typeface="微软雅黑" panose="020B0503020204020204" pitchFamily="34" charset="-122"/>
                <a:cs typeface="微软雅黑" panose="020B0503020204020204" pitchFamily="34" charset="-122"/>
              </a:rPr>
              <a:t>（数据来源：</a:t>
            </a:r>
            <a:r>
              <a:rPr lang="en-US" altLang="zh-CN" sz="800" dirty="0">
                <a:solidFill>
                  <a:schemeClr val="bg1"/>
                </a:solidFill>
                <a:latin typeface="微软雅黑" panose="020B0503020204020204" pitchFamily="34" charset="-122"/>
                <a:cs typeface="微软雅黑" panose="020B0503020204020204" pitchFamily="34" charset="-122"/>
              </a:rPr>
              <a:t>Wind</a:t>
            </a:r>
            <a:r>
              <a:rPr lang="zh-CN" altLang="en-US" sz="800" dirty="0">
                <a:solidFill>
                  <a:schemeClr val="bg1"/>
                </a:solidFill>
                <a:latin typeface="微软雅黑" panose="020B0503020204020204" pitchFamily="34" charset="-122"/>
                <a:cs typeface="微软雅黑" panose="020B0503020204020204" pitchFamily="34" charset="-122"/>
              </a:rPr>
              <a:t>，</a:t>
            </a:r>
            <a:r>
              <a:rPr sz="800" dirty="0" err="1">
                <a:solidFill>
                  <a:schemeClr val="bg1"/>
                </a:solidFill>
                <a:latin typeface="微软雅黑" panose="020B0503020204020204" pitchFamily="34" charset="-122"/>
                <a:cs typeface="微软雅黑" panose="020B0503020204020204" pitchFamily="34" charset="-122"/>
              </a:rPr>
              <a:t>数据</a:t>
            </a:r>
            <a:r>
              <a:rPr lang="zh-CN" altLang="en-US" sz="800" dirty="0">
                <a:solidFill>
                  <a:schemeClr val="bg1"/>
                </a:solidFill>
                <a:latin typeface="微软雅黑" panose="020B0503020204020204" pitchFamily="34" charset="-122"/>
                <a:cs typeface="微软雅黑" panose="020B0503020204020204" pitchFamily="34" charset="-122"/>
              </a:rPr>
              <a:t>截至</a:t>
            </a:r>
            <a:r>
              <a:rPr sz="800" dirty="0">
                <a:solidFill>
                  <a:schemeClr val="bg1"/>
                </a:solidFill>
                <a:latin typeface="微软雅黑" panose="020B0503020204020204" pitchFamily="34" charset="-122"/>
                <a:cs typeface="微软雅黑" panose="020B0503020204020204" pitchFamily="34" charset="-122"/>
              </a:rPr>
              <a:t>至20</a:t>
            </a:r>
            <a:r>
              <a:rPr lang="en-US" sz="800" dirty="0">
                <a:solidFill>
                  <a:schemeClr val="bg1"/>
                </a:solidFill>
                <a:latin typeface="微软雅黑" panose="020B0503020204020204" pitchFamily="34" charset="-122"/>
                <a:cs typeface="微软雅黑" panose="020B0503020204020204" pitchFamily="34" charset="-122"/>
              </a:rPr>
              <a:t>25</a:t>
            </a:r>
            <a:r>
              <a:rPr sz="800" spc="-5" dirty="0">
                <a:solidFill>
                  <a:schemeClr val="bg1"/>
                </a:solidFill>
                <a:latin typeface="微软雅黑" panose="020B0503020204020204" pitchFamily="34" charset="-122"/>
                <a:cs typeface="微软雅黑" panose="020B0503020204020204" pitchFamily="34" charset="-122"/>
              </a:rPr>
              <a:t>.</a:t>
            </a:r>
            <a:r>
              <a:rPr lang="en-US" sz="800" spc="-5" dirty="0">
                <a:solidFill>
                  <a:schemeClr val="bg1"/>
                </a:solidFill>
                <a:latin typeface="微软雅黑" panose="020B0503020204020204" pitchFamily="34" charset="-122"/>
                <a:cs typeface="微软雅黑" panose="020B0503020204020204" pitchFamily="34" charset="-122"/>
              </a:rPr>
              <a:t>12</a:t>
            </a:r>
            <a:r>
              <a:rPr sz="800" spc="-15" dirty="0">
                <a:solidFill>
                  <a:schemeClr val="bg1"/>
                </a:solidFill>
                <a:latin typeface="微软雅黑" panose="020B0503020204020204" pitchFamily="34" charset="-122"/>
                <a:cs typeface="微软雅黑" panose="020B0503020204020204" pitchFamily="34" charset="-122"/>
              </a:rPr>
              <a:t>.</a:t>
            </a:r>
            <a:r>
              <a:rPr lang="en-US" sz="800" spc="-15" dirty="0">
                <a:solidFill>
                  <a:schemeClr val="bg1"/>
                </a:solidFill>
                <a:latin typeface="微软雅黑" panose="020B0503020204020204" pitchFamily="34" charset="-122"/>
                <a:cs typeface="微软雅黑" panose="020B0503020204020204" pitchFamily="34" charset="-122"/>
              </a:rPr>
              <a:t>31</a:t>
            </a:r>
            <a:r>
              <a:rPr lang="zh-CN" altLang="en-US" sz="800" dirty="0">
                <a:solidFill>
                  <a:schemeClr val="bg1"/>
                </a:solidFill>
                <a:latin typeface="微软雅黑" panose="020B0503020204020204" pitchFamily="34" charset="-122"/>
                <a:cs typeface="微软雅黑" panose="020B0503020204020204" pitchFamily="34" charset="-122"/>
              </a:rPr>
              <a:t>）</a:t>
            </a:r>
            <a:endParaRPr sz="800" dirty="0">
              <a:solidFill>
                <a:schemeClr val="bg1"/>
              </a:solidFill>
              <a:latin typeface="微软雅黑" panose="020B0503020204020204" pitchFamily="34" charset="-122"/>
              <a:cs typeface="微软雅黑" panose="020B0503020204020204" pitchFamily="34" charset="-122"/>
            </a:endParaRPr>
          </a:p>
        </p:txBody>
      </p:sp>
      <p:sp>
        <p:nvSpPr>
          <p:cNvPr id="45" name="object 3"/>
          <p:cNvSpPr txBox="1"/>
          <p:nvPr/>
        </p:nvSpPr>
        <p:spPr>
          <a:xfrm>
            <a:off x="9620926" y="5096834"/>
            <a:ext cx="2152569" cy="135935"/>
          </a:xfrm>
          <a:prstGeom prst="rect">
            <a:avLst/>
          </a:prstGeom>
        </p:spPr>
        <p:txBody>
          <a:bodyPr vert="horz" wrap="square" lIns="0" tIns="12700" rIns="0" bIns="0" rtlCol="0">
            <a:spAutoFit/>
          </a:bodyPr>
          <a:lstStyle/>
          <a:p>
            <a:pPr marL="12700">
              <a:lnSpc>
                <a:spcPct val="100000"/>
              </a:lnSpc>
              <a:spcBef>
                <a:spcPts val="100"/>
              </a:spcBef>
            </a:pPr>
            <a:r>
              <a:rPr lang="zh-CN" altLang="en-US" sz="800" dirty="0">
                <a:latin typeface="微软雅黑" panose="020B0503020204020204" pitchFamily="34" charset="-122"/>
                <a:cs typeface="微软雅黑" panose="020B0503020204020204" pitchFamily="34" charset="-122"/>
              </a:rPr>
              <a:t>（数据来源：</a:t>
            </a:r>
            <a:r>
              <a:rPr lang="en-US" altLang="zh-CN" sz="800" dirty="0">
                <a:latin typeface="微软雅黑" panose="020B0503020204020204" pitchFamily="34" charset="-122"/>
                <a:cs typeface="微软雅黑" panose="020B0503020204020204" pitchFamily="34" charset="-122"/>
              </a:rPr>
              <a:t>Wind</a:t>
            </a:r>
            <a:r>
              <a:rPr lang="zh-CN" altLang="en-US" sz="800" dirty="0">
                <a:latin typeface="微软雅黑" panose="020B0503020204020204" pitchFamily="34" charset="-122"/>
                <a:cs typeface="微软雅黑" panose="020B0503020204020204" pitchFamily="34" charset="-122"/>
              </a:rPr>
              <a:t>，</a:t>
            </a:r>
            <a:r>
              <a:rPr sz="800" dirty="0" err="1">
                <a:latin typeface="微软雅黑" panose="020B0503020204020204" pitchFamily="34" charset="-122"/>
                <a:cs typeface="微软雅黑" panose="020B0503020204020204" pitchFamily="34" charset="-122"/>
              </a:rPr>
              <a:t>数据</a:t>
            </a:r>
            <a:r>
              <a:rPr lang="zh-CN" altLang="en-US" sz="800" dirty="0">
                <a:latin typeface="微软雅黑" panose="020B0503020204020204" pitchFamily="34" charset="-122"/>
                <a:cs typeface="微软雅黑" panose="020B0503020204020204" pitchFamily="34" charset="-122"/>
              </a:rPr>
              <a:t>截至</a:t>
            </a:r>
            <a:r>
              <a:rPr sz="800" dirty="0">
                <a:latin typeface="微软雅黑" panose="020B0503020204020204" pitchFamily="34" charset="-122"/>
                <a:cs typeface="微软雅黑" panose="020B0503020204020204" pitchFamily="34" charset="-122"/>
              </a:rPr>
              <a:t>20</a:t>
            </a:r>
            <a:r>
              <a:rPr lang="en-US" sz="800" dirty="0">
                <a:latin typeface="微软雅黑" panose="020B0503020204020204" pitchFamily="34" charset="-122"/>
                <a:cs typeface="微软雅黑" panose="020B0503020204020204" pitchFamily="34" charset="-122"/>
              </a:rPr>
              <a:t>26</a:t>
            </a:r>
            <a:r>
              <a:rPr sz="800" spc="-5" dirty="0">
                <a:latin typeface="微软雅黑" panose="020B0503020204020204" pitchFamily="34" charset="-122"/>
                <a:cs typeface="微软雅黑" panose="020B0503020204020204" pitchFamily="34" charset="-122"/>
              </a:rPr>
              <a:t>.</a:t>
            </a:r>
            <a:r>
              <a:rPr lang="en-US" altLang="zh-CN" sz="800" spc="-5" dirty="0">
                <a:latin typeface="微软雅黑" panose="020B0503020204020204" pitchFamily="34" charset="-122"/>
                <a:cs typeface="微软雅黑" panose="020B0503020204020204" pitchFamily="34" charset="-122"/>
              </a:rPr>
              <a:t>5</a:t>
            </a:r>
            <a:r>
              <a:rPr sz="800" spc="-15" dirty="0">
                <a:latin typeface="微软雅黑" panose="020B0503020204020204" pitchFamily="34" charset="-122"/>
                <a:cs typeface="微软雅黑" panose="020B0503020204020204" pitchFamily="34" charset="-122"/>
              </a:rPr>
              <a:t>.</a:t>
            </a:r>
            <a:r>
              <a:rPr lang="en-US" altLang="zh-CN" sz="800" spc="-15" dirty="0">
                <a:latin typeface="微软雅黑" panose="020B0503020204020204" pitchFamily="34" charset="-122"/>
                <a:cs typeface="微软雅黑" panose="020B0503020204020204" pitchFamily="34" charset="-122"/>
              </a:rPr>
              <a:t>31</a:t>
            </a:r>
            <a:r>
              <a:rPr lang="zh-CN" altLang="en-US" sz="800" dirty="0">
                <a:latin typeface="微软雅黑" panose="020B0503020204020204" pitchFamily="34" charset="-122"/>
                <a:cs typeface="微软雅黑" panose="020B0503020204020204" pitchFamily="34" charset="-122"/>
              </a:rPr>
              <a:t>）</a:t>
            </a:r>
            <a:endParaRPr sz="800" dirty="0">
              <a:latin typeface="微软雅黑" panose="020B0503020204020204" pitchFamily="34" charset="-122"/>
              <a:cs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6974" y="242221"/>
            <a:ext cx="10515600" cy="448994"/>
          </a:xfrm>
        </p:spPr>
        <p:txBody>
          <a:bodyPr>
            <a:noAutofit/>
          </a:bodyPr>
          <a:lstStyle/>
          <a:p>
            <a:r>
              <a:rPr lang="en-US" altLang="zh-CN" dirty="0"/>
              <a:t>A</a:t>
            </a:r>
            <a:r>
              <a:rPr lang="zh-CN" altLang="en-US" dirty="0"/>
              <a:t>股最全的指数，值得更好的增强</a:t>
            </a:r>
          </a:p>
        </p:txBody>
      </p:sp>
      <p:sp>
        <p:nvSpPr>
          <p:cNvPr id="4" name="灯片编号占位符 3"/>
          <p:cNvSpPr>
            <a:spLocks noGrp="1"/>
          </p:cNvSpPr>
          <p:nvPr>
            <p:ph type="sldNum" sz="quarter" idx="11"/>
          </p:nvPr>
        </p:nvSpPr>
        <p:spPr/>
        <p:txBody>
          <a:bodyPr/>
          <a:lstStyle/>
          <a:p>
            <a:pPr>
              <a:defRPr/>
            </a:pPr>
            <a:fld id="{6E91549D-98B7-4077-996F-05BE1B29F039}" type="slidenum">
              <a:rPr lang="zh-CN" altLang="en-US" smtClean="0"/>
              <a:t>13</a:t>
            </a:fld>
            <a:endParaRPr lang="zh-CN" altLang="en-US" dirty="0"/>
          </a:p>
        </p:txBody>
      </p:sp>
      <p:sp>
        <p:nvSpPr>
          <p:cNvPr id="22" name="object 8"/>
          <p:cNvSpPr txBox="1"/>
          <p:nvPr/>
        </p:nvSpPr>
        <p:spPr>
          <a:xfrm>
            <a:off x="678094" y="1026274"/>
            <a:ext cx="11090996" cy="633891"/>
          </a:xfrm>
          <a:prstGeom prst="rect">
            <a:avLst/>
          </a:prstGeom>
        </p:spPr>
        <p:txBody>
          <a:bodyPr vert="horz" wrap="square" lIns="0" tIns="12700" rIns="0" bIns="0" rtlCol="0">
            <a:spAutoFit/>
          </a:bodyPr>
          <a:lstStyle/>
          <a:p>
            <a:pPr marL="299085" marR="5080" indent="-287020">
              <a:lnSpc>
                <a:spcPct val="150000"/>
              </a:lnSpc>
              <a:spcBef>
                <a:spcPts val="100"/>
              </a:spcBef>
              <a:buFont typeface="Wingdings" panose="05000000000000000000" pitchFamily="2" charset="2"/>
              <a:buChar char="n"/>
              <a:tabLst>
                <a:tab pos="299720" algn="l"/>
              </a:tabLst>
            </a:pPr>
            <a:r>
              <a:rPr lang="zh-CN" altLang="en-US" sz="1400" b="1" spc="10" dirty="0">
                <a:solidFill>
                  <a:srgbClr val="EA5838"/>
                </a:solidFill>
                <a:latin typeface="+mj-lt"/>
                <a:cs typeface="华文细黑" panose="02010600040101010101" charset="-122"/>
              </a:rPr>
              <a:t>给指数</a:t>
            </a:r>
            <a:r>
              <a:rPr lang="en-US" altLang="zh-CN" sz="1400" b="1" spc="10" dirty="0">
                <a:solidFill>
                  <a:srgbClr val="EA5838"/>
                </a:solidFill>
                <a:latin typeface="+mj-lt"/>
                <a:cs typeface="华文细黑" panose="02010600040101010101" charset="-122"/>
              </a:rPr>
              <a:t>+</a:t>
            </a:r>
            <a:r>
              <a:rPr lang="zh-CN" altLang="en-US" sz="1400" b="1" spc="10" dirty="0">
                <a:solidFill>
                  <a:srgbClr val="EA5838"/>
                </a:solidFill>
                <a:latin typeface="+mj-lt"/>
                <a:cs typeface="华文细黑" panose="02010600040101010101" charset="-122"/>
              </a:rPr>
              <a:t>点“量”</a:t>
            </a:r>
            <a:r>
              <a:rPr sz="1400" dirty="0">
                <a:solidFill>
                  <a:srgbClr val="EA5838"/>
                </a:solidFill>
                <a:latin typeface="+mj-lt"/>
                <a:cs typeface="华文细黑" panose="02010600040101010101" charset="-122"/>
              </a:rPr>
              <a:t>：</a:t>
            </a:r>
            <a:r>
              <a:rPr lang="zh-CN" altLang="en-US" sz="1400" spc="-15" dirty="0">
                <a:latin typeface="+mj-lt"/>
                <a:cs typeface="华文细黑" panose="02010600040101010101" charset="-122"/>
              </a:rPr>
              <a:t>指数增强策略主要是</a:t>
            </a:r>
            <a:r>
              <a:rPr sz="1400" spc="-15" dirty="0" err="1">
                <a:latin typeface="+mj-lt"/>
                <a:cs typeface="华文细黑" panose="02010600040101010101" charset="-122"/>
              </a:rPr>
              <a:t>通过量化模型</a:t>
            </a:r>
            <a:r>
              <a:rPr lang="zh-CN" altLang="en-US" sz="1400" dirty="0">
                <a:latin typeface="+mj-lt"/>
                <a:cs typeface="华文细黑" panose="02010600040101010101" charset="-122"/>
              </a:rPr>
              <a:t>筛选</a:t>
            </a:r>
            <a:r>
              <a:rPr sz="1400" dirty="0" err="1">
                <a:latin typeface="+mj-lt"/>
                <a:cs typeface="华文细黑" panose="02010600040101010101" charset="-122"/>
              </a:rPr>
              <a:t>个股</a:t>
            </a:r>
            <a:r>
              <a:rPr sz="1400" spc="-15" dirty="0" err="1">
                <a:latin typeface="+mj-lt"/>
                <a:cs typeface="华文细黑" panose="02010600040101010101" charset="-122"/>
              </a:rPr>
              <a:t>，</a:t>
            </a:r>
            <a:r>
              <a:rPr sz="1400" dirty="0" err="1">
                <a:latin typeface="+mj-lt"/>
                <a:cs typeface="华文细黑" panose="02010600040101010101" charset="-122"/>
              </a:rPr>
              <a:t>调整</a:t>
            </a:r>
            <a:r>
              <a:rPr sz="1400" spc="-15" dirty="0" err="1">
                <a:latin typeface="+mj-lt"/>
                <a:cs typeface="华文细黑" panose="02010600040101010101" charset="-122"/>
              </a:rPr>
              <a:t>权</a:t>
            </a:r>
            <a:r>
              <a:rPr sz="1400" dirty="0" err="1">
                <a:latin typeface="+mj-lt"/>
                <a:cs typeface="华文细黑" panose="02010600040101010101" charset="-122"/>
              </a:rPr>
              <a:t>重，</a:t>
            </a:r>
            <a:r>
              <a:rPr sz="1400" spc="-15" dirty="0" err="1">
                <a:latin typeface="+mj-lt"/>
                <a:cs typeface="华文细黑" panose="02010600040101010101" charset="-122"/>
              </a:rPr>
              <a:t>力</a:t>
            </a:r>
            <a:r>
              <a:rPr sz="1400" dirty="0" err="1">
                <a:latin typeface="+mj-lt"/>
                <a:cs typeface="华文细黑" panose="02010600040101010101" charset="-122"/>
              </a:rPr>
              <a:t>求在</a:t>
            </a:r>
            <a:r>
              <a:rPr sz="1400" spc="-15" dirty="0" err="1">
                <a:latin typeface="+mj-lt"/>
                <a:cs typeface="华文细黑" panose="02010600040101010101" charset="-122"/>
              </a:rPr>
              <a:t>紧</a:t>
            </a:r>
            <a:r>
              <a:rPr sz="1400" dirty="0" err="1">
                <a:latin typeface="+mj-lt"/>
                <a:cs typeface="华文细黑" panose="02010600040101010101" charset="-122"/>
              </a:rPr>
              <a:t>密跟踪基准指数的同时，</a:t>
            </a:r>
            <a:r>
              <a:rPr sz="1400" spc="-15" dirty="0" err="1">
                <a:latin typeface="+mj-lt"/>
                <a:cs typeface="华文细黑" panose="02010600040101010101" charset="-122"/>
              </a:rPr>
              <a:t>获</a:t>
            </a:r>
            <a:r>
              <a:rPr sz="1400" dirty="0" err="1">
                <a:latin typeface="+mj-lt"/>
                <a:cs typeface="华文细黑" panose="02010600040101010101" charset="-122"/>
              </a:rPr>
              <a:t>取超</a:t>
            </a:r>
            <a:r>
              <a:rPr sz="1400" spc="-15" dirty="0" err="1">
                <a:latin typeface="+mj-lt"/>
                <a:cs typeface="华文细黑" panose="02010600040101010101" charset="-122"/>
              </a:rPr>
              <a:t>额</a:t>
            </a:r>
            <a:r>
              <a:rPr sz="1400" dirty="0" err="1">
                <a:latin typeface="+mj-lt"/>
                <a:cs typeface="华文细黑" panose="02010600040101010101" charset="-122"/>
              </a:rPr>
              <a:t>收益</a:t>
            </a:r>
            <a:r>
              <a:rPr sz="1400" dirty="0">
                <a:latin typeface="+mj-lt"/>
                <a:cs typeface="华文细黑" panose="02010600040101010101" charset="-122"/>
              </a:rPr>
              <a:t>。</a:t>
            </a:r>
            <a:endParaRPr lang="en-US" sz="1400" dirty="0">
              <a:latin typeface="+mj-lt"/>
              <a:cs typeface="华文细黑" panose="02010600040101010101" charset="-122"/>
            </a:endParaRPr>
          </a:p>
          <a:p>
            <a:pPr marL="299085" marR="5080" indent="-287020">
              <a:lnSpc>
                <a:spcPct val="150000"/>
              </a:lnSpc>
              <a:spcBef>
                <a:spcPts val="100"/>
              </a:spcBef>
              <a:buFont typeface="Wingdings" panose="05000000000000000000" pitchFamily="2" charset="2"/>
              <a:buChar char="n"/>
              <a:tabLst>
                <a:tab pos="299720" algn="l"/>
              </a:tabLst>
            </a:pPr>
            <a:r>
              <a:rPr lang="zh-CN" altLang="en-US" sz="1400" b="1" spc="10" dirty="0">
                <a:solidFill>
                  <a:srgbClr val="EA5838"/>
                </a:solidFill>
                <a:latin typeface="+mj-lt"/>
                <a:cs typeface="华文细黑" panose="02010600040101010101" charset="-122"/>
              </a:rPr>
              <a:t>指数增强基金的收益来源：</a:t>
            </a:r>
            <a:r>
              <a:rPr lang="zh-CN" altLang="en-US" sz="1400" dirty="0">
                <a:latin typeface="+mj-lt"/>
                <a:cs typeface="华文细黑" panose="02010600040101010101" charset="-122"/>
              </a:rPr>
              <a:t>选股和交易力求</a:t>
            </a:r>
            <a:r>
              <a:rPr lang="zh-CN" altLang="en-US" sz="1400" spc="-15" dirty="0">
                <a:latin typeface="+mj-lt"/>
                <a:cs typeface="华文细黑" panose="02010600040101010101" charset="-122"/>
              </a:rPr>
              <a:t>的</a:t>
            </a:r>
            <a:r>
              <a:rPr lang="zh-CN" altLang="en-US" sz="1400" dirty="0">
                <a:latin typeface="+mj-lt"/>
                <a:cs typeface="华文细黑" panose="02010600040101010101" charset="-122"/>
              </a:rPr>
              <a:t>超额</a:t>
            </a:r>
            <a:r>
              <a:rPr lang="zh-CN" altLang="en-US" sz="1400" spc="-15" dirty="0">
                <a:latin typeface="+mj-lt"/>
                <a:cs typeface="华文细黑" panose="02010600040101010101" charset="-122"/>
              </a:rPr>
              <a:t>收</a:t>
            </a:r>
            <a:r>
              <a:rPr lang="zh-CN" altLang="en-US" sz="1400" dirty="0">
                <a:latin typeface="+mj-lt"/>
                <a:cs typeface="华文细黑" panose="02010600040101010101" charset="-122"/>
              </a:rPr>
              <a:t>益（</a:t>
            </a:r>
            <a:r>
              <a:rPr lang="en-US" altLang="zh-CN" sz="1400" spc="-15" dirty="0">
                <a:latin typeface="+mj-lt"/>
                <a:cs typeface="华文细黑" panose="02010600040101010101" charset="-122"/>
              </a:rPr>
              <a:t>α</a:t>
            </a:r>
            <a:r>
              <a:rPr lang="zh-CN" altLang="en-US" sz="1400" spc="-15" dirty="0">
                <a:latin typeface="+mj-lt"/>
                <a:cs typeface="华文细黑" panose="02010600040101010101" charset="-122"/>
              </a:rPr>
              <a:t>）</a:t>
            </a:r>
            <a:r>
              <a:rPr lang="en-US" altLang="zh-CN" sz="1400" dirty="0">
                <a:latin typeface="+mj-lt"/>
                <a:cs typeface="华文细黑" panose="02010600040101010101" charset="-122"/>
              </a:rPr>
              <a:t>+</a:t>
            </a:r>
            <a:r>
              <a:rPr lang="zh-CN" altLang="en-US" sz="1400" dirty="0">
                <a:latin typeface="+mj-lt"/>
                <a:cs typeface="华文细黑" panose="02010600040101010101" charset="-122"/>
              </a:rPr>
              <a:t>指</a:t>
            </a:r>
            <a:r>
              <a:rPr lang="zh-CN" altLang="en-US" sz="1400" spc="-15" dirty="0">
                <a:latin typeface="+mj-lt"/>
                <a:cs typeface="华文细黑" panose="02010600040101010101" charset="-122"/>
              </a:rPr>
              <a:t>数</a:t>
            </a:r>
            <a:r>
              <a:rPr lang="zh-CN" altLang="en-US" sz="1400" dirty="0">
                <a:latin typeface="+mj-lt"/>
                <a:cs typeface="华文细黑" panose="02010600040101010101" charset="-122"/>
              </a:rPr>
              <a:t>收益（</a:t>
            </a:r>
            <a:r>
              <a:rPr lang="en-US" altLang="zh-CN" sz="1400" spc="-10" dirty="0">
                <a:latin typeface="+mj-lt"/>
                <a:cs typeface="华文细黑" panose="02010600040101010101" charset="-122"/>
              </a:rPr>
              <a:t>β</a:t>
            </a:r>
            <a:r>
              <a:rPr lang="zh-CN" altLang="en-US" sz="1400" spc="-10" dirty="0">
                <a:latin typeface="+mj-lt"/>
                <a:cs typeface="华文细黑" panose="02010600040101010101" charset="-122"/>
              </a:rPr>
              <a:t>）</a:t>
            </a:r>
            <a:r>
              <a:rPr lang="zh-CN" altLang="en-US" sz="1400" dirty="0">
                <a:latin typeface="+mj-lt"/>
                <a:cs typeface="华文细黑" panose="02010600040101010101" charset="-122"/>
              </a:rPr>
              <a:t>。</a:t>
            </a:r>
            <a:endParaRPr sz="1400" dirty="0">
              <a:latin typeface="+mj-lt"/>
              <a:cs typeface="华文细黑" panose="02010600040101010101" charset="-122"/>
            </a:endParaRPr>
          </a:p>
        </p:txBody>
      </p:sp>
      <p:grpSp>
        <p:nvGrpSpPr>
          <p:cNvPr id="3" name="组合 2"/>
          <p:cNvGrpSpPr/>
          <p:nvPr/>
        </p:nvGrpSpPr>
        <p:grpSpPr>
          <a:xfrm>
            <a:off x="1261769" y="2409054"/>
            <a:ext cx="9629669" cy="2631341"/>
            <a:chOff x="853360" y="1807708"/>
            <a:chExt cx="11170741" cy="3052445"/>
          </a:xfrm>
        </p:grpSpPr>
        <p:grpSp>
          <p:nvGrpSpPr>
            <p:cNvPr id="31" name="组合 30"/>
            <p:cNvGrpSpPr/>
            <p:nvPr/>
          </p:nvGrpSpPr>
          <p:grpSpPr>
            <a:xfrm>
              <a:off x="853360" y="1807708"/>
              <a:ext cx="9270364" cy="3052445"/>
              <a:chOff x="1458" y="4631"/>
              <a:chExt cx="14599" cy="4807"/>
            </a:xfrm>
          </p:grpSpPr>
          <p:sp>
            <p:nvSpPr>
              <p:cNvPr id="32" name="Rounded Rectangle 91"/>
              <p:cNvSpPr>
                <a:spLocks noChangeArrowheads="1"/>
              </p:cNvSpPr>
              <p:nvPr/>
            </p:nvSpPr>
            <p:spPr bwMode="auto">
              <a:xfrm>
                <a:off x="1458" y="4631"/>
                <a:ext cx="4430" cy="1832"/>
              </a:xfrm>
              <a:prstGeom prst="roundRect">
                <a:avLst>
                  <a:gd name="adj" fmla="val 10134"/>
                </a:avLst>
              </a:prstGeom>
              <a:gradFill>
                <a:gsLst>
                  <a:gs pos="0">
                    <a:srgbClr val="D6613F"/>
                  </a:gs>
                  <a:gs pos="100000">
                    <a:srgbClr val="8E3A1D"/>
                  </a:gs>
                </a:gsLst>
                <a:lin ang="19200000" scaled="1"/>
              </a:gradFill>
              <a:ln w="19050">
                <a:noFill/>
              </a:ln>
              <a:effectLst>
                <a:outerShdw blurRad="254000" dist="190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3" name="Rounded Rectangle 94"/>
              <p:cNvSpPr>
                <a:spLocks noChangeArrowheads="1"/>
              </p:cNvSpPr>
              <p:nvPr/>
            </p:nvSpPr>
            <p:spPr bwMode="auto">
              <a:xfrm>
                <a:off x="1458" y="7605"/>
                <a:ext cx="4430" cy="1833"/>
              </a:xfrm>
              <a:prstGeom prst="roundRect">
                <a:avLst>
                  <a:gd name="adj" fmla="val 10134"/>
                </a:avLst>
              </a:prstGeom>
              <a:gradFill>
                <a:gsLst>
                  <a:gs pos="0">
                    <a:srgbClr val="D6613F"/>
                  </a:gs>
                  <a:gs pos="100000">
                    <a:srgbClr val="8E3A1D"/>
                  </a:gs>
                </a:gsLst>
                <a:lin ang="19200000" scaled="1"/>
              </a:gradFill>
              <a:ln w="19050">
                <a:noFill/>
              </a:ln>
              <a:effectLst>
                <a:outerShdw blurRad="254000" dist="190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cxnSp>
            <p:nvCxnSpPr>
              <p:cNvPr id="34" name="Straight Connector 109"/>
              <p:cNvCxnSpPr>
                <a:cxnSpLocks noChangeShapeType="1"/>
              </p:cNvCxnSpPr>
              <p:nvPr/>
            </p:nvCxnSpPr>
            <p:spPr bwMode="auto">
              <a:xfrm>
                <a:off x="6088" y="5621"/>
                <a:ext cx="7230" cy="8"/>
              </a:xfrm>
              <a:prstGeom prst="line">
                <a:avLst/>
              </a:prstGeom>
              <a:noFill/>
              <a:ln w="12700">
                <a:solidFill>
                  <a:srgbClr val="FF6636"/>
                </a:solidFill>
                <a:round/>
                <a:headEnd type="oval" w="med" len="med"/>
                <a:tailEnd type="triangle" w="med" len="med"/>
              </a:ln>
              <a:extLst>
                <a:ext uri="{909E8E84-426E-40DD-AFC4-6F175D3DCCD1}">
                  <a14:hiddenFill xmlns:a14="http://schemas.microsoft.com/office/drawing/2010/main">
                    <a:noFill/>
                  </a14:hiddenFill>
                </a:ext>
              </a:extLst>
            </p:spPr>
          </p:cxnSp>
          <p:sp>
            <p:nvSpPr>
              <p:cNvPr id="35" name="Freeform 103"/>
              <p:cNvSpPr>
                <a:spLocks noEditPoints="1"/>
              </p:cNvSpPr>
              <p:nvPr/>
            </p:nvSpPr>
            <p:spPr bwMode="auto">
              <a:xfrm>
                <a:off x="1840" y="8035"/>
                <a:ext cx="645" cy="948"/>
              </a:xfrm>
              <a:custGeom>
                <a:avLst/>
                <a:gdLst>
                  <a:gd name="T0" fmla="*/ 2147483647 w 42"/>
                  <a:gd name="T1" fmla="*/ 2147483647 h 62"/>
                  <a:gd name="T2" fmla="*/ 2147483647 w 42"/>
                  <a:gd name="T3" fmla="*/ 2147483647 h 62"/>
                  <a:gd name="T4" fmla="*/ 2147483647 w 42"/>
                  <a:gd name="T5" fmla="*/ 2147483647 h 62"/>
                  <a:gd name="T6" fmla="*/ 2147483647 w 42"/>
                  <a:gd name="T7" fmla="*/ 2147483647 h 62"/>
                  <a:gd name="T8" fmla="*/ 2147483647 w 42"/>
                  <a:gd name="T9" fmla="*/ 2147483647 h 62"/>
                  <a:gd name="T10" fmla="*/ 2147483647 w 42"/>
                  <a:gd name="T11" fmla="*/ 2147483647 h 62"/>
                  <a:gd name="T12" fmla="*/ 2147483647 w 42"/>
                  <a:gd name="T13" fmla="*/ 2147483647 h 62"/>
                  <a:gd name="T14" fmla="*/ 2147483647 w 42"/>
                  <a:gd name="T15" fmla="*/ 2147483647 h 62"/>
                  <a:gd name="T16" fmla="*/ 2147483647 w 42"/>
                  <a:gd name="T17" fmla="*/ 2147483647 h 62"/>
                  <a:gd name="T18" fmla="*/ 2147483647 w 42"/>
                  <a:gd name="T19" fmla="*/ 2147483647 h 62"/>
                  <a:gd name="T20" fmla="*/ 2147483647 w 42"/>
                  <a:gd name="T21" fmla="*/ 2147483647 h 62"/>
                  <a:gd name="T22" fmla="*/ 2147483647 w 42"/>
                  <a:gd name="T23" fmla="*/ 2147483647 h 62"/>
                  <a:gd name="T24" fmla="*/ 2147483647 w 42"/>
                  <a:gd name="T25" fmla="*/ 2147483647 h 62"/>
                  <a:gd name="T26" fmla="*/ 2147483647 w 42"/>
                  <a:gd name="T27" fmla="*/ 2147483647 h 62"/>
                  <a:gd name="T28" fmla="*/ 2147483647 w 42"/>
                  <a:gd name="T29" fmla="*/ 2147483647 h 62"/>
                  <a:gd name="T30" fmla="*/ 2147483647 w 42"/>
                  <a:gd name="T31" fmla="*/ 2147483647 h 62"/>
                  <a:gd name="T32" fmla="*/ 2147483647 w 42"/>
                  <a:gd name="T33" fmla="*/ 2147483647 h 62"/>
                  <a:gd name="T34" fmla="*/ 0 w 42"/>
                  <a:gd name="T35" fmla="*/ 2147483647 h 62"/>
                  <a:gd name="T36" fmla="*/ 2147483647 w 42"/>
                  <a:gd name="T37" fmla="*/ 0 h 62"/>
                  <a:gd name="T38" fmla="*/ 2147483647 w 42"/>
                  <a:gd name="T39" fmla="*/ 2147483647 h 62"/>
                  <a:gd name="T40" fmla="*/ 2147483647 w 42"/>
                  <a:gd name="T41" fmla="*/ 2147483647 h 62"/>
                  <a:gd name="T42" fmla="*/ 2147483647 w 42"/>
                  <a:gd name="T43" fmla="*/ 2147483647 h 62"/>
                  <a:gd name="T44" fmla="*/ 2147483647 w 42"/>
                  <a:gd name="T45" fmla="*/ 2147483647 h 62"/>
                  <a:gd name="T46" fmla="*/ 2147483647 w 42"/>
                  <a:gd name="T47" fmla="*/ 2147483647 h 62"/>
                  <a:gd name="T48" fmla="*/ 2147483647 w 42"/>
                  <a:gd name="T49" fmla="*/ 2147483647 h 62"/>
                  <a:gd name="T50" fmla="*/ 2147483647 w 42"/>
                  <a:gd name="T51" fmla="*/ 2147483647 h 62"/>
                  <a:gd name="T52" fmla="*/ 2147483647 w 42"/>
                  <a:gd name="T53" fmla="*/ 2147483647 h 62"/>
                  <a:gd name="T54" fmla="*/ 2147483647 w 42"/>
                  <a:gd name="T55" fmla="*/ 2147483647 h 62"/>
                  <a:gd name="T56" fmla="*/ 2147483647 w 42"/>
                  <a:gd name="T57" fmla="*/ 2147483647 h 62"/>
                  <a:gd name="T58" fmla="*/ 2147483647 w 42"/>
                  <a:gd name="T59" fmla="*/ 2147483647 h 62"/>
                  <a:gd name="T60" fmla="*/ 2147483647 w 42"/>
                  <a:gd name="T61" fmla="*/ 2147483647 h 62"/>
                  <a:gd name="T62" fmla="*/ 2147483647 w 42"/>
                  <a:gd name="T63" fmla="*/ 2147483647 h 62"/>
                  <a:gd name="T64" fmla="*/ 2147483647 w 42"/>
                  <a:gd name="T65" fmla="*/ 2147483647 h 62"/>
                  <a:gd name="T66" fmla="*/ 2147483647 w 42"/>
                  <a:gd name="T67" fmla="*/ 2147483647 h 62"/>
                  <a:gd name="T68" fmla="*/ 2147483647 w 42"/>
                  <a:gd name="T69" fmla="*/ 2147483647 h 62"/>
                  <a:gd name="T70" fmla="*/ 2147483647 w 42"/>
                  <a:gd name="T71" fmla="*/ 2147483647 h 62"/>
                  <a:gd name="T72" fmla="*/ 2147483647 w 42"/>
                  <a:gd name="T73" fmla="*/ 2147483647 h 62"/>
                  <a:gd name="T74" fmla="*/ 2147483647 w 42"/>
                  <a:gd name="T75" fmla="*/ 2147483647 h 6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6" name="Freeform 15"/>
              <p:cNvSpPr>
                <a:spLocks noEditPoints="1"/>
              </p:cNvSpPr>
              <p:nvPr/>
            </p:nvSpPr>
            <p:spPr bwMode="auto">
              <a:xfrm>
                <a:off x="1750" y="5209"/>
                <a:ext cx="940" cy="705"/>
              </a:xfrm>
              <a:custGeom>
                <a:avLst/>
                <a:gdLst>
                  <a:gd name="T0" fmla="*/ 2147483647 w 168"/>
                  <a:gd name="T1" fmla="*/ 2147483647 h 126"/>
                  <a:gd name="T2" fmla="*/ 0 w 168"/>
                  <a:gd name="T3" fmla="*/ 2147483647 h 126"/>
                  <a:gd name="T4" fmla="*/ 0 w 168"/>
                  <a:gd name="T5" fmla="*/ 0 h 126"/>
                  <a:gd name="T6" fmla="*/ 2147483647 w 168"/>
                  <a:gd name="T7" fmla="*/ 0 h 126"/>
                  <a:gd name="T8" fmla="*/ 2147483647 w 168"/>
                  <a:gd name="T9" fmla="*/ 2147483647 h 126"/>
                  <a:gd name="T10" fmla="*/ 2147483647 w 168"/>
                  <a:gd name="T11" fmla="*/ 2147483647 h 126"/>
                  <a:gd name="T12" fmla="*/ 2147483647 w 168"/>
                  <a:gd name="T13" fmla="*/ 2147483647 h 126"/>
                  <a:gd name="T14" fmla="*/ 2147483647 w 168"/>
                  <a:gd name="T15" fmla="*/ 2147483647 h 126"/>
                  <a:gd name="T16" fmla="*/ 2147483647 w 168"/>
                  <a:gd name="T17" fmla="*/ 2147483647 h 126"/>
                  <a:gd name="T18" fmla="*/ 2147483647 w 168"/>
                  <a:gd name="T19" fmla="*/ 2147483647 h 126"/>
                  <a:gd name="T20" fmla="*/ 2147483647 w 168"/>
                  <a:gd name="T21" fmla="*/ 2147483647 h 126"/>
                  <a:gd name="T22" fmla="*/ 2147483647 w 168"/>
                  <a:gd name="T23" fmla="*/ 2147483647 h 126"/>
                  <a:gd name="T24" fmla="*/ 2147483647 w 168"/>
                  <a:gd name="T25" fmla="*/ 2147483647 h 126"/>
                  <a:gd name="T26" fmla="*/ 2147483647 w 168"/>
                  <a:gd name="T27" fmla="*/ 2147483647 h 126"/>
                  <a:gd name="T28" fmla="*/ 2147483647 w 168"/>
                  <a:gd name="T29" fmla="*/ 2147483647 h 126"/>
                  <a:gd name="T30" fmla="*/ 2147483647 w 168"/>
                  <a:gd name="T31" fmla="*/ 2147483647 h 126"/>
                  <a:gd name="T32" fmla="*/ 2147483647 w 168"/>
                  <a:gd name="T33" fmla="*/ 2147483647 h 126"/>
                  <a:gd name="T34" fmla="*/ 2147483647 w 168"/>
                  <a:gd name="T35" fmla="*/ 2147483647 h 126"/>
                  <a:gd name="T36" fmla="*/ 2147483647 w 168"/>
                  <a:gd name="T37" fmla="*/ 2147483647 h 126"/>
                  <a:gd name="T38" fmla="*/ 2147483647 w 168"/>
                  <a:gd name="T39" fmla="*/ 2147483647 h 126"/>
                  <a:gd name="T40" fmla="*/ 2147483647 w 168"/>
                  <a:gd name="T41" fmla="*/ 2147483647 h 126"/>
                  <a:gd name="T42" fmla="*/ 2147483647 w 168"/>
                  <a:gd name="T43" fmla="*/ 2147483647 h 126"/>
                  <a:gd name="T44" fmla="*/ 2147483647 w 168"/>
                  <a:gd name="T45" fmla="*/ 2147483647 h 126"/>
                  <a:gd name="T46" fmla="*/ 2147483647 w 168"/>
                  <a:gd name="T47" fmla="*/ 2147483647 h 126"/>
                  <a:gd name="T48" fmla="*/ 2147483647 w 168"/>
                  <a:gd name="T49" fmla="*/ 2147483647 h 126"/>
                  <a:gd name="T50" fmla="*/ 2147483647 w 168"/>
                  <a:gd name="T51" fmla="*/ 2147483647 h 126"/>
                  <a:gd name="T52" fmla="*/ 2147483647 w 168"/>
                  <a:gd name="T53" fmla="*/ 2147483647 h 12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68" h="126">
                    <a:moveTo>
                      <a:pt x="168" y="126"/>
                    </a:moveTo>
                    <a:lnTo>
                      <a:pt x="0" y="126"/>
                    </a:lnTo>
                    <a:lnTo>
                      <a:pt x="0" y="0"/>
                    </a:lnTo>
                    <a:lnTo>
                      <a:pt x="10" y="0"/>
                    </a:lnTo>
                    <a:lnTo>
                      <a:pt x="10" y="115"/>
                    </a:lnTo>
                    <a:lnTo>
                      <a:pt x="168" y="115"/>
                    </a:lnTo>
                    <a:lnTo>
                      <a:pt x="168" y="126"/>
                    </a:lnTo>
                    <a:close/>
                    <a:moveTo>
                      <a:pt x="54" y="104"/>
                    </a:moveTo>
                    <a:lnTo>
                      <a:pt x="32" y="104"/>
                    </a:lnTo>
                    <a:lnTo>
                      <a:pt x="32" y="63"/>
                    </a:lnTo>
                    <a:lnTo>
                      <a:pt x="54" y="63"/>
                    </a:lnTo>
                    <a:lnTo>
                      <a:pt x="54" y="104"/>
                    </a:lnTo>
                    <a:close/>
                    <a:moveTo>
                      <a:pt x="84" y="104"/>
                    </a:moveTo>
                    <a:lnTo>
                      <a:pt x="64" y="104"/>
                    </a:lnTo>
                    <a:lnTo>
                      <a:pt x="64" y="19"/>
                    </a:lnTo>
                    <a:lnTo>
                      <a:pt x="84" y="19"/>
                    </a:lnTo>
                    <a:lnTo>
                      <a:pt x="84" y="104"/>
                    </a:lnTo>
                    <a:close/>
                    <a:moveTo>
                      <a:pt x="116" y="104"/>
                    </a:moveTo>
                    <a:lnTo>
                      <a:pt x="95" y="104"/>
                    </a:lnTo>
                    <a:lnTo>
                      <a:pt x="95" y="41"/>
                    </a:lnTo>
                    <a:lnTo>
                      <a:pt x="116" y="41"/>
                    </a:lnTo>
                    <a:lnTo>
                      <a:pt x="116" y="104"/>
                    </a:lnTo>
                    <a:close/>
                    <a:moveTo>
                      <a:pt x="147" y="104"/>
                    </a:moveTo>
                    <a:lnTo>
                      <a:pt x="127" y="104"/>
                    </a:lnTo>
                    <a:lnTo>
                      <a:pt x="127" y="9"/>
                    </a:lnTo>
                    <a:lnTo>
                      <a:pt x="147" y="9"/>
                    </a:lnTo>
                    <a:lnTo>
                      <a:pt x="147" y="104"/>
                    </a:lnTo>
                    <a:close/>
                  </a:path>
                </a:pathLst>
              </a:custGeom>
              <a:solidFill>
                <a:schemeClr val="bg1"/>
              </a:solidFill>
              <a:ln>
                <a:noFill/>
              </a:ln>
            </p:spPr>
            <p:txBody>
              <a:bodyPr lIns="121682" tIns="60841" rIns="121682" bIns="6084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7" name="Freeform 54@|5FFC:14657585|FBC:16777215|LFC:11765543|LBC:16777215"/>
              <p:cNvSpPr/>
              <p:nvPr/>
            </p:nvSpPr>
            <p:spPr bwMode="auto">
              <a:xfrm>
                <a:off x="13310" y="5733"/>
                <a:ext cx="2747" cy="2747"/>
              </a:xfrm>
              <a:custGeom>
                <a:avLst/>
                <a:gdLst>
                  <a:gd name="T0" fmla="*/ 0 w 661361"/>
                  <a:gd name="T1" fmla="*/ 16014006 h 661361"/>
                  <a:gd name="T2" fmla="*/ 4690429 w 661361"/>
                  <a:gd name="T3" fmla="*/ 4690392 h 661361"/>
                  <a:gd name="T4" fmla="*/ 16014061 w 661361"/>
                  <a:gd name="T5" fmla="*/ 0 h 661361"/>
                  <a:gd name="T6" fmla="*/ 27337691 w 661361"/>
                  <a:gd name="T7" fmla="*/ 4690429 h 661361"/>
                  <a:gd name="T8" fmla="*/ 32028069 w 661361"/>
                  <a:gd name="T9" fmla="*/ 16014061 h 661361"/>
                  <a:gd name="T10" fmla="*/ 27337691 w 661361"/>
                  <a:gd name="T11" fmla="*/ 27337691 h 661361"/>
                  <a:gd name="T12" fmla="*/ 16014061 w 661361"/>
                  <a:gd name="T13" fmla="*/ 32028069 h 661361"/>
                  <a:gd name="T14" fmla="*/ 4690429 w 661361"/>
                  <a:gd name="T15" fmla="*/ 27337691 h 661361"/>
                  <a:gd name="T16" fmla="*/ 55 w 661361"/>
                  <a:gd name="T17" fmla="*/ 16014061 h 661361"/>
                  <a:gd name="T18" fmla="*/ 0 w 661361"/>
                  <a:gd name="T19" fmla="*/ 16014006 h 6613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61361" h="661361">
                    <a:moveTo>
                      <a:pt x="0" y="330681"/>
                    </a:moveTo>
                    <a:cubicBezTo>
                      <a:pt x="0" y="242979"/>
                      <a:pt x="34840" y="158869"/>
                      <a:pt x="96855" y="96854"/>
                    </a:cubicBezTo>
                    <a:cubicBezTo>
                      <a:pt x="158870" y="34839"/>
                      <a:pt x="242980" y="0"/>
                      <a:pt x="330682" y="0"/>
                    </a:cubicBezTo>
                    <a:cubicBezTo>
                      <a:pt x="418384" y="0"/>
                      <a:pt x="502494" y="34840"/>
                      <a:pt x="564509" y="96855"/>
                    </a:cubicBezTo>
                    <a:cubicBezTo>
                      <a:pt x="626524" y="158870"/>
                      <a:pt x="661363" y="242980"/>
                      <a:pt x="661363" y="330682"/>
                    </a:cubicBezTo>
                    <a:cubicBezTo>
                      <a:pt x="661363" y="418384"/>
                      <a:pt x="626523" y="502494"/>
                      <a:pt x="564509" y="564509"/>
                    </a:cubicBezTo>
                    <a:cubicBezTo>
                      <a:pt x="502494" y="626524"/>
                      <a:pt x="418384" y="661363"/>
                      <a:pt x="330682" y="661363"/>
                    </a:cubicBezTo>
                    <a:cubicBezTo>
                      <a:pt x="242980" y="661363"/>
                      <a:pt x="158870" y="626523"/>
                      <a:pt x="96855" y="564509"/>
                    </a:cubicBezTo>
                    <a:cubicBezTo>
                      <a:pt x="34840" y="502494"/>
                      <a:pt x="1" y="418384"/>
                      <a:pt x="1" y="330682"/>
                    </a:cubicBezTo>
                    <a:lnTo>
                      <a:pt x="0" y="330681"/>
                    </a:lnTo>
                    <a:close/>
                  </a:path>
                </a:pathLst>
              </a:custGeom>
              <a:gradFill>
                <a:gsLst>
                  <a:gs pos="0">
                    <a:srgbClr val="D6613F"/>
                  </a:gs>
                  <a:gs pos="100000">
                    <a:srgbClr val="8E3A1D"/>
                  </a:gs>
                </a:gsLst>
                <a:lin ang="19200000" scaled="1"/>
              </a:gradFill>
              <a:ln w="19050">
                <a:noFill/>
              </a:ln>
              <a:effectLst>
                <a:outerShdw blurRad="254000" dist="190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Freeform 78@|5FFC:0|FBC:0|LFC:16777215|LBC:16777215"/>
              <p:cNvSpPr>
                <a:spLocks noEditPoints="1"/>
              </p:cNvSpPr>
              <p:nvPr/>
            </p:nvSpPr>
            <p:spPr bwMode="auto">
              <a:xfrm>
                <a:off x="14112" y="6276"/>
                <a:ext cx="1143" cy="1663"/>
              </a:xfrm>
              <a:custGeom>
                <a:avLst/>
                <a:gdLst>
                  <a:gd name="T0" fmla="*/ 2147483647 w 85"/>
                  <a:gd name="T1" fmla="*/ 0 h 123"/>
                  <a:gd name="T2" fmla="*/ 0 w 85"/>
                  <a:gd name="T3" fmla="*/ 2147483647 h 123"/>
                  <a:gd name="T4" fmla="*/ 2147483647 w 85"/>
                  <a:gd name="T5" fmla="*/ 2147483647 h 123"/>
                  <a:gd name="T6" fmla="*/ 2147483647 w 85"/>
                  <a:gd name="T7" fmla="*/ 2147483647 h 123"/>
                  <a:gd name="T8" fmla="*/ 2147483647 w 85"/>
                  <a:gd name="T9" fmla="*/ 2147483647 h 123"/>
                  <a:gd name="T10" fmla="*/ 2147483647 w 85"/>
                  <a:gd name="T11" fmla="*/ 2147483647 h 123"/>
                  <a:gd name="T12" fmla="*/ 2147483647 w 85"/>
                  <a:gd name="T13" fmla="*/ 0 h 123"/>
                  <a:gd name="T14" fmla="*/ 2147483647 w 85"/>
                  <a:gd name="T15" fmla="*/ 2147483647 h 123"/>
                  <a:gd name="T16" fmla="*/ 2147483647 w 85"/>
                  <a:gd name="T17" fmla="*/ 2147483647 h 123"/>
                  <a:gd name="T18" fmla="*/ 2147483647 w 85"/>
                  <a:gd name="T19" fmla="*/ 2147483647 h 123"/>
                  <a:gd name="T20" fmla="*/ 2147483647 w 85"/>
                  <a:gd name="T21" fmla="*/ 2147483647 h 123"/>
                  <a:gd name="T22" fmla="*/ 2147483647 w 85"/>
                  <a:gd name="T23" fmla="*/ 2147483647 h 123"/>
                  <a:gd name="T24" fmla="*/ 2147483647 w 85"/>
                  <a:gd name="T25" fmla="*/ 2147483647 h 123"/>
                  <a:gd name="T26" fmla="*/ 2147483647 w 85"/>
                  <a:gd name="T27" fmla="*/ 2147483647 h 123"/>
                  <a:gd name="T28" fmla="*/ 2147483647 w 85"/>
                  <a:gd name="T29" fmla="*/ 2147483647 h 123"/>
                  <a:gd name="T30" fmla="*/ 2147483647 w 85"/>
                  <a:gd name="T31" fmla="*/ 2147483647 h 123"/>
                  <a:gd name="T32" fmla="*/ 2147483647 w 85"/>
                  <a:gd name="T33" fmla="*/ 2147483647 h 123"/>
                  <a:gd name="T34" fmla="*/ 2147483647 w 85"/>
                  <a:gd name="T35" fmla="*/ 2147483647 h 123"/>
                  <a:gd name="T36" fmla="*/ 2147483647 w 85"/>
                  <a:gd name="T37" fmla="*/ 2147483647 h 123"/>
                  <a:gd name="T38" fmla="*/ 2147483647 w 85"/>
                  <a:gd name="T39" fmla="*/ 2147483647 h 123"/>
                  <a:gd name="T40" fmla="*/ 2147483647 w 85"/>
                  <a:gd name="T41" fmla="*/ 2147483647 h 123"/>
                  <a:gd name="T42" fmla="*/ 2147483647 w 85"/>
                  <a:gd name="T43" fmla="*/ 2147483647 h 123"/>
                  <a:gd name="T44" fmla="*/ 2147483647 w 85"/>
                  <a:gd name="T45" fmla="*/ 2147483647 h 123"/>
                  <a:gd name="T46" fmla="*/ 2147483647 w 85"/>
                  <a:gd name="T47" fmla="*/ 2147483647 h 123"/>
                  <a:gd name="T48" fmla="*/ 2147483647 w 85"/>
                  <a:gd name="T49" fmla="*/ 2147483647 h 123"/>
                  <a:gd name="T50" fmla="*/ 2147483647 w 85"/>
                  <a:gd name="T51" fmla="*/ 2147483647 h 123"/>
                  <a:gd name="T52" fmla="*/ 2147483647 w 85"/>
                  <a:gd name="T53" fmla="*/ 2147483647 h 123"/>
                  <a:gd name="T54" fmla="*/ 2147483647 w 85"/>
                  <a:gd name="T55" fmla="*/ 2147483647 h 123"/>
                  <a:gd name="T56" fmla="*/ 2147483647 w 85"/>
                  <a:gd name="T57" fmla="*/ 2147483647 h 123"/>
                  <a:gd name="T58" fmla="*/ 2147483647 w 85"/>
                  <a:gd name="T59" fmla="*/ 2147483647 h 123"/>
                  <a:gd name="T60" fmla="*/ 2147483647 w 85"/>
                  <a:gd name="T61" fmla="*/ 2147483647 h 123"/>
                  <a:gd name="T62" fmla="*/ 2147483647 w 85"/>
                  <a:gd name="T63" fmla="*/ 2147483647 h 123"/>
                  <a:gd name="T64" fmla="*/ 2147483647 w 85"/>
                  <a:gd name="T65" fmla="*/ 2147483647 h 12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5" h="123">
                    <a:moveTo>
                      <a:pt x="42" y="0"/>
                    </a:moveTo>
                    <a:cubicBezTo>
                      <a:pt x="19" y="0"/>
                      <a:pt x="0" y="19"/>
                      <a:pt x="0" y="42"/>
                    </a:cubicBezTo>
                    <a:cubicBezTo>
                      <a:pt x="0" y="57"/>
                      <a:pt x="14" y="74"/>
                      <a:pt x="19" y="88"/>
                    </a:cubicBezTo>
                    <a:cubicBezTo>
                      <a:pt x="27" y="110"/>
                      <a:pt x="26" y="123"/>
                      <a:pt x="42" y="123"/>
                    </a:cubicBezTo>
                    <a:cubicBezTo>
                      <a:pt x="59" y="123"/>
                      <a:pt x="58" y="110"/>
                      <a:pt x="65" y="88"/>
                    </a:cubicBezTo>
                    <a:cubicBezTo>
                      <a:pt x="70" y="74"/>
                      <a:pt x="85" y="57"/>
                      <a:pt x="85" y="42"/>
                    </a:cubicBezTo>
                    <a:cubicBezTo>
                      <a:pt x="85" y="19"/>
                      <a:pt x="66" y="0"/>
                      <a:pt x="42" y="0"/>
                    </a:cubicBezTo>
                    <a:close/>
                    <a:moveTo>
                      <a:pt x="52" y="104"/>
                    </a:moveTo>
                    <a:cubicBezTo>
                      <a:pt x="33" y="106"/>
                      <a:pt x="33" y="106"/>
                      <a:pt x="33" y="106"/>
                    </a:cubicBezTo>
                    <a:cubicBezTo>
                      <a:pt x="33" y="104"/>
                      <a:pt x="32" y="102"/>
                      <a:pt x="31" y="99"/>
                    </a:cubicBezTo>
                    <a:cubicBezTo>
                      <a:pt x="31" y="99"/>
                      <a:pt x="31" y="99"/>
                      <a:pt x="31" y="99"/>
                    </a:cubicBezTo>
                    <a:cubicBezTo>
                      <a:pt x="55" y="96"/>
                      <a:pt x="55" y="96"/>
                      <a:pt x="55" y="96"/>
                    </a:cubicBezTo>
                    <a:cubicBezTo>
                      <a:pt x="54" y="97"/>
                      <a:pt x="54" y="98"/>
                      <a:pt x="54" y="99"/>
                    </a:cubicBezTo>
                    <a:cubicBezTo>
                      <a:pt x="53" y="101"/>
                      <a:pt x="53" y="103"/>
                      <a:pt x="52" y="104"/>
                    </a:cubicBezTo>
                    <a:close/>
                    <a:moveTo>
                      <a:pt x="30" y="95"/>
                    </a:moveTo>
                    <a:cubicBezTo>
                      <a:pt x="29" y="93"/>
                      <a:pt x="28" y="91"/>
                      <a:pt x="27" y="88"/>
                    </a:cubicBezTo>
                    <a:cubicBezTo>
                      <a:pt x="57" y="88"/>
                      <a:pt x="57" y="88"/>
                      <a:pt x="57" y="88"/>
                    </a:cubicBezTo>
                    <a:cubicBezTo>
                      <a:pt x="57" y="89"/>
                      <a:pt x="56" y="91"/>
                      <a:pt x="56" y="92"/>
                    </a:cubicBezTo>
                    <a:lnTo>
                      <a:pt x="30" y="95"/>
                    </a:lnTo>
                    <a:close/>
                    <a:moveTo>
                      <a:pt x="42" y="115"/>
                    </a:moveTo>
                    <a:cubicBezTo>
                      <a:pt x="38" y="115"/>
                      <a:pt x="37" y="114"/>
                      <a:pt x="35" y="110"/>
                    </a:cubicBezTo>
                    <a:cubicBezTo>
                      <a:pt x="51" y="108"/>
                      <a:pt x="51" y="108"/>
                      <a:pt x="51" y="108"/>
                    </a:cubicBezTo>
                    <a:cubicBezTo>
                      <a:pt x="49" y="114"/>
                      <a:pt x="47" y="115"/>
                      <a:pt x="42" y="115"/>
                    </a:cubicBezTo>
                    <a:close/>
                    <a:moveTo>
                      <a:pt x="60" y="80"/>
                    </a:moveTo>
                    <a:cubicBezTo>
                      <a:pt x="24" y="80"/>
                      <a:pt x="24" y="80"/>
                      <a:pt x="24" y="80"/>
                    </a:cubicBezTo>
                    <a:cubicBezTo>
                      <a:pt x="23" y="76"/>
                      <a:pt x="20" y="72"/>
                      <a:pt x="18" y="68"/>
                    </a:cubicBezTo>
                    <a:cubicBezTo>
                      <a:pt x="13" y="59"/>
                      <a:pt x="8" y="50"/>
                      <a:pt x="8" y="42"/>
                    </a:cubicBezTo>
                    <a:cubicBezTo>
                      <a:pt x="8" y="23"/>
                      <a:pt x="23" y="8"/>
                      <a:pt x="42" y="8"/>
                    </a:cubicBezTo>
                    <a:cubicBezTo>
                      <a:pt x="61" y="8"/>
                      <a:pt x="77" y="23"/>
                      <a:pt x="77" y="42"/>
                    </a:cubicBezTo>
                    <a:cubicBezTo>
                      <a:pt x="77" y="50"/>
                      <a:pt x="72" y="59"/>
                      <a:pt x="67" y="68"/>
                    </a:cubicBezTo>
                    <a:cubicBezTo>
                      <a:pt x="64" y="72"/>
                      <a:pt x="62" y="76"/>
                      <a:pt x="60" y="80"/>
                    </a:cubicBezTo>
                    <a:close/>
                    <a:moveTo>
                      <a:pt x="60" y="80"/>
                    </a:moveTo>
                    <a:cubicBezTo>
                      <a:pt x="60" y="80"/>
                      <a:pt x="60" y="80"/>
                      <a:pt x="60" y="8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Freeform 79@|5FFC:0|FBC:0|LFC:16777215|LBC:16777215"/>
              <p:cNvSpPr>
                <a:spLocks noEditPoints="1"/>
              </p:cNvSpPr>
              <p:nvPr/>
            </p:nvSpPr>
            <p:spPr bwMode="auto">
              <a:xfrm>
                <a:off x="9268" y="5094"/>
                <a:ext cx="335" cy="338"/>
              </a:xfrm>
              <a:custGeom>
                <a:avLst/>
                <a:gdLst>
                  <a:gd name="T0" fmla="*/ 2147483647 w 25"/>
                  <a:gd name="T1" fmla="*/ 0 h 25"/>
                  <a:gd name="T2" fmla="*/ 0 w 25"/>
                  <a:gd name="T3" fmla="*/ 2147483647 h 25"/>
                  <a:gd name="T4" fmla="*/ 2147483647 w 25"/>
                  <a:gd name="T5" fmla="*/ 2147483647 h 25"/>
                  <a:gd name="T6" fmla="*/ 2147483647 w 25"/>
                  <a:gd name="T7" fmla="*/ 2147483647 h 25"/>
                  <a:gd name="T8" fmla="*/ 2147483647 w 25"/>
                  <a:gd name="T9" fmla="*/ 2147483647 h 25"/>
                  <a:gd name="T10" fmla="*/ 2147483647 w 25"/>
                  <a:gd name="T11" fmla="*/ 2147483647 h 25"/>
                  <a:gd name="T12" fmla="*/ 2147483647 w 25"/>
                  <a:gd name="T13" fmla="*/ 0 h 25"/>
                  <a:gd name="T14" fmla="*/ 2147483647 w 25"/>
                  <a:gd name="T15" fmla="*/ 0 h 25"/>
                  <a:gd name="T16" fmla="*/ 2147483647 w 25"/>
                  <a:gd name="T17" fmla="*/ 0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25">
                    <a:moveTo>
                      <a:pt x="23" y="0"/>
                    </a:moveTo>
                    <a:cubicBezTo>
                      <a:pt x="11" y="0"/>
                      <a:pt x="0" y="10"/>
                      <a:pt x="0" y="23"/>
                    </a:cubicBezTo>
                    <a:cubicBezTo>
                      <a:pt x="0" y="24"/>
                      <a:pt x="1" y="25"/>
                      <a:pt x="2" y="25"/>
                    </a:cubicBezTo>
                    <a:cubicBezTo>
                      <a:pt x="3" y="25"/>
                      <a:pt x="4" y="24"/>
                      <a:pt x="4" y="23"/>
                    </a:cubicBezTo>
                    <a:cubicBezTo>
                      <a:pt x="4" y="12"/>
                      <a:pt x="13" y="4"/>
                      <a:pt x="23" y="4"/>
                    </a:cubicBezTo>
                    <a:cubicBezTo>
                      <a:pt x="24" y="4"/>
                      <a:pt x="25" y="3"/>
                      <a:pt x="25" y="2"/>
                    </a:cubicBezTo>
                    <a:cubicBezTo>
                      <a:pt x="25" y="1"/>
                      <a:pt x="24" y="0"/>
                      <a:pt x="23" y="0"/>
                    </a:cubicBezTo>
                    <a:close/>
                    <a:moveTo>
                      <a:pt x="23" y="0"/>
                    </a:moveTo>
                    <a:cubicBezTo>
                      <a:pt x="23" y="0"/>
                      <a:pt x="23" y="0"/>
                      <a:pt x="23"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0" name="TextBox 13"/>
              <p:cNvSpPr txBox="1">
                <a:spLocks noChangeArrowheads="1"/>
              </p:cNvSpPr>
              <p:nvPr/>
            </p:nvSpPr>
            <p:spPr bwMode="auto">
              <a:xfrm>
                <a:off x="2955" y="5116"/>
                <a:ext cx="2460"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eaLnBrk="0" hangingPunct="0">
                  <a:defRPr>
                    <a:solidFill>
                      <a:schemeClr val="tx1"/>
                    </a:solidFill>
                    <a:latin typeface="Calibri" panose="020F0502020204030204" charset="0"/>
                    <a:ea typeface="宋体" panose="02010600030101010101" pitchFamily="2" charset="-122"/>
                  </a:defRPr>
                </a:lvl1pPr>
                <a:lvl2pPr marL="742950" indent="-285750" defTabSz="1216025" eaLnBrk="0" hangingPunct="0">
                  <a:defRPr>
                    <a:solidFill>
                      <a:schemeClr val="tx1"/>
                    </a:solidFill>
                    <a:latin typeface="Calibri" panose="020F0502020204030204" charset="0"/>
                    <a:ea typeface="宋体" panose="02010600030101010101" pitchFamily="2" charset="-122"/>
                  </a:defRPr>
                </a:lvl2pPr>
                <a:lvl3pPr marL="1143000" indent="-228600" defTabSz="1216025" eaLnBrk="0" hangingPunct="0">
                  <a:defRPr>
                    <a:solidFill>
                      <a:schemeClr val="tx1"/>
                    </a:solidFill>
                    <a:latin typeface="Calibri" panose="020F0502020204030204" charset="0"/>
                    <a:ea typeface="宋体" panose="02010600030101010101" pitchFamily="2" charset="-122"/>
                  </a:defRPr>
                </a:lvl3pPr>
                <a:lvl4pPr marL="1600200" indent="-228600" defTabSz="1216025" eaLnBrk="0" hangingPunct="0">
                  <a:defRPr>
                    <a:solidFill>
                      <a:schemeClr val="tx1"/>
                    </a:solidFill>
                    <a:latin typeface="Calibri" panose="020F0502020204030204" charset="0"/>
                    <a:ea typeface="宋体" panose="02010600030101010101" pitchFamily="2" charset="-122"/>
                  </a:defRPr>
                </a:lvl4pPr>
                <a:lvl5pPr marL="2057400" indent="-228600" defTabSz="1216025" eaLnBrk="0" hangingPunct="0">
                  <a:defRPr>
                    <a:solidFill>
                      <a:schemeClr val="tx1"/>
                    </a:solidFill>
                    <a:latin typeface="Calibri" panose="020F050202020403020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0" marR="0" lvl="0" indent="0" algn="l" defTabSz="1216025"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指数收益</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1" name="TextBox 13"/>
              <p:cNvSpPr txBox="1">
                <a:spLocks noChangeArrowheads="1"/>
              </p:cNvSpPr>
              <p:nvPr/>
            </p:nvSpPr>
            <p:spPr bwMode="auto">
              <a:xfrm>
                <a:off x="2955" y="5789"/>
                <a:ext cx="2662"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eaLnBrk="0" hangingPunct="0">
                  <a:defRPr>
                    <a:solidFill>
                      <a:schemeClr val="tx1"/>
                    </a:solidFill>
                    <a:latin typeface="Calibri" panose="020F0502020204030204" charset="0"/>
                    <a:ea typeface="宋体" panose="02010600030101010101" pitchFamily="2" charset="-122"/>
                  </a:defRPr>
                </a:lvl1pPr>
                <a:lvl2pPr marL="742950" indent="-285750" defTabSz="1216025" eaLnBrk="0" hangingPunct="0">
                  <a:defRPr>
                    <a:solidFill>
                      <a:schemeClr val="tx1"/>
                    </a:solidFill>
                    <a:latin typeface="Calibri" panose="020F0502020204030204" charset="0"/>
                    <a:ea typeface="宋体" panose="02010600030101010101" pitchFamily="2" charset="-122"/>
                  </a:defRPr>
                </a:lvl2pPr>
                <a:lvl3pPr marL="1143000" indent="-228600" defTabSz="1216025" eaLnBrk="0" hangingPunct="0">
                  <a:defRPr>
                    <a:solidFill>
                      <a:schemeClr val="tx1"/>
                    </a:solidFill>
                    <a:latin typeface="Calibri" panose="020F0502020204030204" charset="0"/>
                    <a:ea typeface="宋体" panose="02010600030101010101" pitchFamily="2" charset="-122"/>
                  </a:defRPr>
                </a:lvl3pPr>
                <a:lvl4pPr marL="1600200" indent="-228600" defTabSz="1216025" eaLnBrk="0" hangingPunct="0">
                  <a:defRPr>
                    <a:solidFill>
                      <a:schemeClr val="tx1"/>
                    </a:solidFill>
                    <a:latin typeface="Calibri" panose="020F0502020204030204" charset="0"/>
                    <a:ea typeface="宋体" panose="02010600030101010101" pitchFamily="2" charset="-122"/>
                  </a:defRPr>
                </a:lvl4pPr>
                <a:lvl5pPr marL="2057400" indent="-228600" defTabSz="1216025" eaLnBrk="0" hangingPunct="0">
                  <a:defRPr>
                    <a:solidFill>
                      <a:schemeClr val="tx1"/>
                    </a:solidFill>
                    <a:latin typeface="Calibri" panose="020F050202020403020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0" marR="0" lvl="0" indent="0" algn="l" defTabSz="1216025"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11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ea"/>
                  </a:rPr>
                  <a:t>选一个好指数（</a:t>
                </a:r>
                <a:r>
                  <a:rPr kumimoji="0" lang="en-US" altLang="zh-CN" sz="11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ea"/>
                  </a:rPr>
                  <a:t>β</a:t>
                </a:r>
                <a:r>
                  <a:rPr kumimoji="0" lang="zh-CN" altLang="en-US" sz="11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ea"/>
                  </a:rPr>
                  <a:t>）</a:t>
                </a:r>
                <a:endPar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42" name="TextBox 13"/>
              <p:cNvSpPr txBox="1">
                <a:spLocks noChangeArrowheads="1"/>
              </p:cNvSpPr>
              <p:nvPr/>
            </p:nvSpPr>
            <p:spPr bwMode="auto">
              <a:xfrm>
                <a:off x="2955" y="8050"/>
                <a:ext cx="2460"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eaLnBrk="0" hangingPunct="0">
                  <a:defRPr>
                    <a:solidFill>
                      <a:schemeClr val="tx1"/>
                    </a:solidFill>
                    <a:latin typeface="Calibri" panose="020F0502020204030204" charset="0"/>
                    <a:ea typeface="宋体" panose="02010600030101010101" pitchFamily="2" charset="-122"/>
                  </a:defRPr>
                </a:lvl1pPr>
                <a:lvl2pPr marL="742950" indent="-285750" defTabSz="1216025" eaLnBrk="0" hangingPunct="0">
                  <a:defRPr>
                    <a:solidFill>
                      <a:schemeClr val="tx1"/>
                    </a:solidFill>
                    <a:latin typeface="Calibri" panose="020F0502020204030204" charset="0"/>
                    <a:ea typeface="宋体" panose="02010600030101010101" pitchFamily="2" charset="-122"/>
                  </a:defRPr>
                </a:lvl2pPr>
                <a:lvl3pPr marL="1143000" indent="-228600" defTabSz="1216025" eaLnBrk="0" hangingPunct="0">
                  <a:defRPr>
                    <a:solidFill>
                      <a:schemeClr val="tx1"/>
                    </a:solidFill>
                    <a:latin typeface="Calibri" panose="020F0502020204030204" charset="0"/>
                    <a:ea typeface="宋体" panose="02010600030101010101" pitchFamily="2" charset="-122"/>
                  </a:defRPr>
                </a:lvl3pPr>
                <a:lvl4pPr marL="1600200" indent="-228600" defTabSz="1216025" eaLnBrk="0" hangingPunct="0">
                  <a:defRPr>
                    <a:solidFill>
                      <a:schemeClr val="tx1"/>
                    </a:solidFill>
                    <a:latin typeface="Calibri" panose="020F0502020204030204" charset="0"/>
                    <a:ea typeface="宋体" panose="02010600030101010101" pitchFamily="2" charset="-122"/>
                  </a:defRPr>
                </a:lvl4pPr>
                <a:lvl5pPr marL="2057400" indent="-228600" defTabSz="1216025" eaLnBrk="0" hangingPunct="0">
                  <a:defRPr>
                    <a:solidFill>
                      <a:schemeClr val="tx1"/>
                    </a:solidFill>
                    <a:latin typeface="Calibri" panose="020F050202020403020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0" marR="0" lvl="0" indent="0" algn="l" defTabSz="1216025"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超额收益</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3" name="TextBox 13"/>
              <p:cNvSpPr txBox="1">
                <a:spLocks noChangeArrowheads="1"/>
              </p:cNvSpPr>
              <p:nvPr/>
            </p:nvSpPr>
            <p:spPr bwMode="auto">
              <a:xfrm>
                <a:off x="2955" y="8723"/>
                <a:ext cx="2662"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eaLnBrk="0" hangingPunct="0">
                  <a:defRPr>
                    <a:solidFill>
                      <a:schemeClr val="tx1"/>
                    </a:solidFill>
                    <a:latin typeface="Calibri" panose="020F0502020204030204" charset="0"/>
                    <a:ea typeface="宋体" panose="02010600030101010101" pitchFamily="2" charset="-122"/>
                  </a:defRPr>
                </a:lvl1pPr>
                <a:lvl2pPr marL="742950" indent="-285750" defTabSz="1216025" eaLnBrk="0" hangingPunct="0">
                  <a:defRPr>
                    <a:solidFill>
                      <a:schemeClr val="tx1"/>
                    </a:solidFill>
                    <a:latin typeface="Calibri" panose="020F0502020204030204" charset="0"/>
                    <a:ea typeface="宋体" panose="02010600030101010101" pitchFamily="2" charset="-122"/>
                  </a:defRPr>
                </a:lvl2pPr>
                <a:lvl3pPr marL="1143000" indent="-228600" defTabSz="1216025" eaLnBrk="0" hangingPunct="0">
                  <a:defRPr>
                    <a:solidFill>
                      <a:schemeClr val="tx1"/>
                    </a:solidFill>
                    <a:latin typeface="Calibri" panose="020F0502020204030204" charset="0"/>
                    <a:ea typeface="宋体" panose="02010600030101010101" pitchFamily="2" charset="-122"/>
                  </a:defRPr>
                </a:lvl3pPr>
                <a:lvl4pPr marL="1600200" indent="-228600" defTabSz="1216025" eaLnBrk="0" hangingPunct="0">
                  <a:defRPr>
                    <a:solidFill>
                      <a:schemeClr val="tx1"/>
                    </a:solidFill>
                    <a:latin typeface="Calibri" panose="020F0502020204030204" charset="0"/>
                    <a:ea typeface="宋体" panose="02010600030101010101" pitchFamily="2" charset="-122"/>
                  </a:defRPr>
                </a:lvl4pPr>
                <a:lvl5pPr marL="2057400" indent="-228600" defTabSz="1216025" eaLnBrk="0" hangingPunct="0">
                  <a:defRPr>
                    <a:solidFill>
                      <a:schemeClr val="tx1"/>
                    </a:solidFill>
                    <a:latin typeface="Calibri" panose="020F050202020403020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0" marR="0" lvl="0" indent="0" algn="l" defTabSz="1216025"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选股</a:t>
                </a: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α+</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交易</a:t>
                </a: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α</a:t>
                </a:r>
                <a:endParaRPr kumimoji="0" lang="en-US" sz="11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cxnSp>
            <p:nvCxnSpPr>
              <p:cNvPr id="44" name="Straight Connector 109"/>
              <p:cNvCxnSpPr>
                <a:cxnSpLocks noChangeShapeType="1"/>
              </p:cNvCxnSpPr>
              <p:nvPr/>
            </p:nvCxnSpPr>
            <p:spPr bwMode="auto">
              <a:xfrm flipV="1">
                <a:off x="6088" y="8575"/>
                <a:ext cx="7120" cy="31"/>
              </a:xfrm>
              <a:prstGeom prst="line">
                <a:avLst/>
              </a:prstGeom>
              <a:noFill/>
              <a:ln w="12700">
                <a:solidFill>
                  <a:srgbClr val="FF6636"/>
                </a:solidFill>
                <a:round/>
                <a:headEnd type="oval" w="med" len="med"/>
                <a:tailEnd type="triangle" w="med" len="med"/>
              </a:ln>
              <a:extLst>
                <a:ext uri="{909E8E84-426E-40DD-AFC4-6F175D3DCCD1}">
                  <a14:hiddenFill xmlns:a14="http://schemas.microsoft.com/office/drawing/2010/main">
                    <a:noFill/>
                  </a14:hiddenFill>
                </a:ext>
              </a:extLst>
            </p:spPr>
          </p:cxnSp>
        </p:grpSp>
        <p:sp>
          <p:nvSpPr>
            <p:cNvPr id="45" name="文本框 44"/>
            <p:cNvSpPr txBox="1"/>
            <p:nvPr/>
          </p:nvSpPr>
          <p:spPr>
            <a:xfrm>
              <a:off x="10565507" y="2507478"/>
              <a:ext cx="1458594" cy="1420018"/>
            </a:xfrm>
            <a:prstGeom prst="rect">
              <a:avLst/>
            </a:prstGeom>
            <a:noFill/>
          </p:spPr>
          <p:txBody>
            <a:bodyPr wrap="square" rtlCol="0">
              <a:spAutoFit/>
            </a:bodyPr>
            <a:lstStyle/>
            <a:p>
              <a:pPr marL="0" marR="0" lvl="0" indent="0" algn="dist" defTabSz="914400" rtl="0" eaLnBrk="1" fontAlgn="auto" latinLnBrk="0" hangingPunct="1">
                <a:lnSpc>
                  <a:spcPct val="12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指数</a:t>
              </a:r>
            </a:p>
            <a:p>
              <a:pPr marL="0" marR="0" lvl="0" indent="0" algn="dist" defTabSz="914400" rtl="0" eaLnBrk="1" fontAlgn="auto" latinLnBrk="0" hangingPunct="1">
                <a:lnSpc>
                  <a:spcPct val="12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增强</a:t>
              </a:r>
            </a:p>
          </p:txBody>
        </p:sp>
        <p:grpSp>
          <p:nvGrpSpPr>
            <p:cNvPr id="46" name="组合 45"/>
            <p:cNvGrpSpPr/>
            <p:nvPr/>
          </p:nvGrpSpPr>
          <p:grpSpPr>
            <a:xfrm>
              <a:off x="5311059" y="2879043"/>
              <a:ext cx="1428750" cy="1046480"/>
              <a:chOff x="8267" y="6653"/>
              <a:chExt cx="2250" cy="1648"/>
            </a:xfrm>
          </p:grpSpPr>
          <p:sp>
            <p:nvSpPr>
              <p:cNvPr id="47" name="矩形 46"/>
              <p:cNvSpPr/>
              <p:nvPr/>
            </p:nvSpPr>
            <p:spPr>
              <a:xfrm>
                <a:off x="8267" y="7303"/>
                <a:ext cx="2251" cy="335"/>
              </a:xfrm>
              <a:prstGeom prst="rect">
                <a:avLst/>
              </a:prstGeom>
              <a:solidFill>
                <a:srgbClr val="AF4C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7D1116"/>
                  </a:solidFill>
                  <a:effectLst/>
                  <a:uLnTx/>
                  <a:uFillTx/>
                  <a:latin typeface="微软雅黑" panose="020B0503020204020204" pitchFamily="34" charset="-122"/>
                  <a:ea typeface="微软雅黑" panose="020B0503020204020204" pitchFamily="34" charset="-122"/>
                  <a:cs typeface="+mn-cs"/>
                </a:endParaRPr>
              </a:p>
            </p:txBody>
          </p:sp>
          <p:sp>
            <p:nvSpPr>
              <p:cNvPr id="48" name="矩形 47"/>
              <p:cNvSpPr/>
              <p:nvPr/>
            </p:nvSpPr>
            <p:spPr>
              <a:xfrm rot="16200000" flipV="1">
                <a:off x="8587" y="7309"/>
                <a:ext cx="1648" cy="336"/>
              </a:xfrm>
              <a:prstGeom prst="rect">
                <a:avLst/>
              </a:prstGeom>
              <a:solidFill>
                <a:srgbClr val="AF4C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7D1116"/>
                  </a:solidFill>
                  <a:effectLst/>
                  <a:uLnTx/>
                  <a:uFillTx/>
                  <a:latin typeface="微软雅黑" panose="020B0503020204020204" pitchFamily="34" charset="-122"/>
                  <a:ea typeface="微软雅黑" panose="020B0503020204020204" pitchFamily="34" charset="-122"/>
                  <a:cs typeface="+mn-cs"/>
                </a:endParaRPr>
              </a:p>
            </p:txBody>
          </p:sp>
        </p:grpSp>
      </p:grpSp>
      <p:sp>
        <p:nvSpPr>
          <p:cNvPr id="28" name="TextBox 13"/>
          <p:cNvSpPr txBox="1">
            <a:spLocks noChangeArrowheads="1"/>
          </p:cNvSpPr>
          <p:nvPr/>
        </p:nvSpPr>
        <p:spPr bwMode="auto">
          <a:xfrm>
            <a:off x="9834397" y="4298886"/>
            <a:ext cx="145717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eaLnBrk="0" hangingPunct="0">
              <a:defRPr>
                <a:solidFill>
                  <a:schemeClr val="tx1"/>
                </a:solidFill>
                <a:latin typeface="Calibri" panose="020F0502020204030204" charset="0"/>
                <a:ea typeface="宋体" panose="02010600030101010101" pitchFamily="2" charset="-122"/>
              </a:defRPr>
            </a:lvl1pPr>
            <a:lvl2pPr marL="742950" indent="-285750" defTabSz="1216025" eaLnBrk="0" hangingPunct="0">
              <a:defRPr>
                <a:solidFill>
                  <a:schemeClr val="tx1"/>
                </a:solidFill>
                <a:latin typeface="Calibri" panose="020F0502020204030204" charset="0"/>
                <a:ea typeface="宋体" panose="02010600030101010101" pitchFamily="2" charset="-122"/>
              </a:defRPr>
            </a:lvl2pPr>
            <a:lvl3pPr marL="1143000" indent="-228600" defTabSz="1216025" eaLnBrk="0" hangingPunct="0">
              <a:defRPr>
                <a:solidFill>
                  <a:schemeClr val="tx1"/>
                </a:solidFill>
                <a:latin typeface="Calibri" panose="020F0502020204030204" charset="0"/>
                <a:ea typeface="宋体" panose="02010600030101010101" pitchFamily="2" charset="-122"/>
              </a:defRPr>
            </a:lvl3pPr>
            <a:lvl4pPr marL="1600200" indent="-228600" defTabSz="1216025" eaLnBrk="0" hangingPunct="0">
              <a:defRPr>
                <a:solidFill>
                  <a:schemeClr val="tx1"/>
                </a:solidFill>
                <a:latin typeface="Calibri" panose="020F0502020204030204" charset="0"/>
                <a:ea typeface="宋体" panose="02010600030101010101" pitchFamily="2" charset="-122"/>
              </a:defRPr>
            </a:lvl4pPr>
            <a:lvl5pPr marL="2057400" indent="-228600" defTabSz="1216025" eaLnBrk="0" hangingPunct="0">
              <a:defRPr>
                <a:solidFill>
                  <a:schemeClr val="tx1"/>
                </a:solidFill>
                <a:latin typeface="Calibri" panose="020F050202020403020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0" marR="0" lvl="0" indent="0" algn="l" defTabSz="1216025" rtl="0" eaLnBrk="1" fontAlgn="base" latinLnBrk="0" hangingPunct="1">
              <a:lnSpc>
                <a:spcPct val="100000"/>
              </a:lnSpc>
              <a:spcBef>
                <a:spcPct val="20000"/>
              </a:spcBef>
              <a:spcAft>
                <a:spcPct val="0"/>
              </a:spcAft>
              <a:buClrTx/>
              <a:buSzTx/>
              <a:buFont typeface="Arial" panose="020B0604020202020204" pitchFamily="34" charset="0"/>
              <a:buNone/>
              <a:defRPr/>
            </a:pPr>
            <a:r>
              <a:rPr lang="en-US" altLang="zh-CN" sz="3200" b="1" dirty="0">
                <a:solidFill>
                  <a:srgbClr val="EA5838"/>
                </a:solidFill>
                <a:latin typeface="微软雅黑" panose="020B0503020204020204" pitchFamily="34" charset="-122"/>
                <a:ea typeface="微软雅黑" panose="020B0503020204020204" pitchFamily="34" charset="-122"/>
                <a:sym typeface="+mn-ea"/>
              </a:rPr>
              <a:t>β+α</a:t>
            </a:r>
            <a:endParaRPr lang="en-US" sz="3200" b="1" dirty="0">
              <a:solidFill>
                <a:srgbClr val="EA5838"/>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zh-CN" altLang="en-US" dirty="0">
                <a:latin typeface="+mj-ea"/>
                <a:ea typeface="+mj-ea"/>
              </a:rPr>
              <a:t>指增的</a:t>
            </a:r>
            <a:r>
              <a:rPr lang="en-US" altLang="zh-CN" dirty="0">
                <a:latin typeface="+mj-ea"/>
                <a:ea typeface="+mj-ea"/>
              </a:rPr>
              <a:t>buff</a:t>
            </a:r>
            <a:r>
              <a:rPr lang="zh-CN" altLang="en-US" dirty="0">
                <a:latin typeface="+mj-ea"/>
                <a:ea typeface="+mj-ea"/>
              </a:rPr>
              <a:t>：想比指数收益多一点</a:t>
            </a:r>
            <a:endParaRPr dirty="0">
              <a:latin typeface="+mj-ea"/>
              <a:ea typeface="+mj-ea"/>
              <a:cs typeface="华文细黑" panose="02010600040101010101" charset="-122"/>
            </a:endParaRPr>
          </a:p>
        </p:txBody>
      </p:sp>
      <p:sp>
        <p:nvSpPr>
          <p:cNvPr id="3" name="灯片编号占位符 2"/>
          <p:cNvSpPr>
            <a:spLocks noGrp="1"/>
          </p:cNvSpPr>
          <p:nvPr>
            <p:ph type="sldNum" sz="quarter" idx="11"/>
          </p:nvPr>
        </p:nvSpPr>
        <p:spPr/>
        <p:txBody>
          <a:bodyPr/>
          <a:lstStyle/>
          <a:p>
            <a:pPr>
              <a:defRPr/>
            </a:pPr>
            <a:fld id="{6E91549D-98B7-4077-996F-05BE1B29F039}" type="slidenum">
              <a:rPr lang="zh-CN" altLang="en-US" smtClean="0"/>
              <a:t>14</a:t>
            </a:fld>
            <a:endParaRPr lang="zh-CN" altLang="en-US" dirty="0"/>
          </a:p>
        </p:txBody>
      </p:sp>
      <p:pic>
        <p:nvPicPr>
          <p:cNvPr id="4" name="object 4"/>
          <p:cNvPicPr/>
          <p:nvPr/>
        </p:nvPicPr>
        <p:blipFill>
          <a:blip r:embed="rId2" cstate="print"/>
          <a:stretch>
            <a:fillRect/>
          </a:stretch>
        </p:blipFill>
        <p:spPr>
          <a:xfrm>
            <a:off x="941832" y="2567939"/>
            <a:ext cx="3091434" cy="3161538"/>
          </a:xfrm>
          <a:prstGeom prst="rect">
            <a:avLst/>
          </a:prstGeom>
        </p:spPr>
      </p:pic>
      <p:sp>
        <p:nvSpPr>
          <p:cNvPr id="5" name="object 5"/>
          <p:cNvSpPr txBox="1"/>
          <p:nvPr/>
        </p:nvSpPr>
        <p:spPr>
          <a:xfrm>
            <a:off x="987552" y="1821179"/>
            <a:ext cx="3091180" cy="525780"/>
          </a:xfrm>
          <a:prstGeom prst="rect">
            <a:avLst/>
          </a:prstGeom>
          <a:solidFill>
            <a:srgbClr val="00366C"/>
          </a:solidFill>
        </p:spPr>
        <p:txBody>
          <a:bodyPr vert="horz" wrap="square" lIns="0" tIns="117475" rIns="0" bIns="0" rtlCol="0">
            <a:spAutoFit/>
          </a:bodyPr>
          <a:lstStyle/>
          <a:p>
            <a:pPr marL="904240">
              <a:lnSpc>
                <a:spcPct val="100000"/>
              </a:lnSpc>
              <a:spcBef>
                <a:spcPts val="925"/>
              </a:spcBef>
            </a:pPr>
            <a:r>
              <a:rPr sz="1600" b="1" dirty="0">
                <a:solidFill>
                  <a:srgbClr val="FFFFFF"/>
                </a:solidFill>
                <a:latin typeface="华文细黑" panose="02010600040101010101" charset="-122"/>
                <a:cs typeface="华文细黑" panose="02010600040101010101" charset="-122"/>
              </a:rPr>
              <a:t>策略逻辑透明</a:t>
            </a:r>
            <a:endParaRPr sz="1600" dirty="0">
              <a:latin typeface="华文细黑" panose="02010600040101010101" charset="-122"/>
              <a:cs typeface="华文细黑" panose="02010600040101010101" charset="-122"/>
            </a:endParaRPr>
          </a:p>
        </p:txBody>
      </p:sp>
      <p:sp>
        <p:nvSpPr>
          <p:cNvPr id="6" name="object 6"/>
          <p:cNvSpPr txBox="1"/>
          <p:nvPr/>
        </p:nvSpPr>
        <p:spPr>
          <a:xfrm>
            <a:off x="987552" y="2525267"/>
            <a:ext cx="3091180" cy="3015569"/>
          </a:xfrm>
          <a:prstGeom prst="rect">
            <a:avLst/>
          </a:prstGeom>
          <a:solidFill>
            <a:srgbClr val="F1F1F1"/>
          </a:solidFill>
        </p:spPr>
        <p:txBody>
          <a:bodyPr vert="horz" wrap="square" lIns="0" tIns="106045" rIns="0" bIns="0" rtlCol="0">
            <a:spAutoFit/>
          </a:bodyPr>
          <a:lstStyle/>
          <a:p>
            <a:pPr marL="384175" marR="203200" indent="-287020" algn="just">
              <a:lnSpc>
                <a:spcPct val="150000"/>
              </a:lnSpc>
              <a:spcBef>
                <a:spcPts val="835"/>
              </a:spcBef>
              <a:buClr>
                <a:srgbClr val="920F0E"/>
              </a:buClr>
              <a:buSzPct val="68000"/>
              <a:buFont typeface="Wingdings" panose="05000000000000000000"/>
              <a:buChar char=""/>
              <a:tabLst>
                <a:tab pos="384810" algn="l"/>
              </a:tabLst>
            </a:pPr>
            <a:r>
              <a:rPr sz="1400" dirty="0">
                <a:latin typeface="+mn-ea"/>
                <a:ea typeface="+mn-ea"/>
                <a:cs typeface="华文细黑" panose="02010600040101010101" charset="-122"/>
              </a:rPr>
              <a:t>指数增强策略多是在跟</a:t>
            </a:r>
            <a:r>
              <a:rPr sz="1400" spc="-15" dirty="0">
                <a:latin typeface="+mn-ea"/>
                <a:ea typeface="+mn-ea"/>
                <a:cs typeface="华文细黑" panose="02010600040101010101" charset="-122"/>
              </a:rPr>
              <a:t>踪</a:t>
            </a:r>
            <a:r>
              <a:rPr sz="1400" dirty="0">
                <a:latin typeface="+mn-ea"/>
                <a:ea typeface="+mn-ea"/>
                <a:cs typeface="华文细黑" panose="02010600040101010101" charset="-122"/>
              </a:rPr>
              <a:t>指数成分股权重的基础上进行</a:t>
            </a:r>
            <a:r>
              <a:rPr sz="1400" spc="-15" dirty="0">
                <a:latin typeface="+mn-ea"/>
                <a:ea typeface="+mn-ea"/>
                <a:cs typeface="华文细黑" panose="02010600040101010101" charset="-122"/>
              </a:rPr>
              <a:t>超</a:t>
            </a:r>
            <a:r>
              <a:rPr sz="1400" dirty="0">
                <a:latin typeface="+mn-ea"/>
                <a:ea typeface="+mn-ea"/>
                <a:cs typeface="华文细黑" panose="02010600040101010101" charset="-122"/>
              </a:rPr>
              <a:t>配或低配，或适当加入成分股</a:t>
            </a:r>
            <a:r>
              <a:rPr sz="1400" spc="-15" dirty="0">
                <a:latin typeface="+mn-ea"/>
                <a:ea typeface="+mn-ea"/>
                <a:cs typeface="华文细黑" panose="02010600040101010101" charset="-122"/>
              </a:rPr>
              <a:t>以</a:t>
            </a:r>
            <a:r>
              <a:rPr sz="1400" dirty="0">
                <a:latin typeface="+mn-ea"/>
                <a:ea typeface="+mn-ea"/>
                <a:cs typeface="华文细黑" panose="02010600040101010101" charset="-122"/>
              </a:rPr>
              <a:t>外的投资标的，以追求超越跟</a:t>
            </a:r>
            <a:r>
              <a:rPr sz="1400" spc="-15" dirty="0">
                <a:latin typeface="+mn-ea"/>
                <a:ea typeface="+mn-ea"/>
                <a:cs typeface="华文细黑" panose="02010600040101010101" charset="-122"/>
              </a:rPr>
              <a:t>踪</a:t>
            </a:r>
            <a:r>
              <a:rPr sz="1400" dirty="0">
                <a:latin typeface="+mn-ea"/>
                <a:ea typeface="+mn-ea"/>
                <a:cs typeface="华文细黑" panose="02010600040101010101" charset="-122"/>
              </a:rPr>
              <a:t>指数的收益；严格控制持仓和</a:t>
            </a:r>
            <a:r>
              <a:rPr sz="1400" spc="-15" dirty="0">
                <a:latin typeface="+mn-ea"/>
                <a:ea typeface="+mn-ea"/>
                <a:cs typeface="华文细黑" panose="02010600040101010101" charset="-122"/>
              </a:rPr>
              <a:t>指</a:t>
            </a:r>
            <a:r>
              <a:rPr sz="1400" dirty="0">
                <a:latin typeface="+mn-ea"/>
                <a:ea typeface="+mn-ea"/>
                <a:cs typeface="华文细黑" panose="02010600040101010101" charset="-122"/>
              </a:rPr>
              <a:t>数风格行业偏离。相较于传统</a:t>
            </a:r>
            <a:r>
              <a:rPr sz="1400" spc="-15" dirty="0">
                <a:latin typeface="+mn-ea"/>
                <a:ea typeface="+mn-ea"/>
                <a:cs typeface="华文细黑" panose="02010600040101010101" charset="-122"/>
              </a:rPr>
              <a:t>主</a:t>
            </a:r>
            <a:r>
              <a:rPr sz="1400" dirty="0">
                <a:latin typeface="+mn-ea"/>
                <a:ea typeface="+mn-ea"/>
                <a:cs typeface="华文细黑" panose="02010600040101010101" charset="-122"/>
              </a:rPr>
              <a:t>动管理策略，</a:t>
            </a:r>
            <a:r>
              <a:rPr sz="1400" b="1" spc="10" dirty="0">
                <a:solidFill>
                  <a:srgbClr val="EA5838"/>
                </a:solidFill>
                <a:latin typeface="+mn-ea"/>
                <a:ea typeface="+mn-ea"/>
                <a:cs typeface="华文细黑" panose="02010600040101010101" charset="-122"/>
              </a:rPr>
              <a:t>指</a:t>
            </a:r>
            <a:r>
              <a:rPr sz="1400" b="1" dirty="0">
                <a:solidFill>
                  <a:srgbClr val="EA5838"/>
                </a:solidFill>
                <a:latin typeface="+mn-ea"/>
                <a:ea typeface="+mn-ea"/>
                <a:cs typeface="华文细黑" panose="02010600040101010101" charset="-122"/>
              </a:rPr>
              <a:t>数增强</a:t>
            </a:r>
            <a:r>
              <a:rPr sz="1400" b="1" spc="-15" dirty="0">
                <a:solidFill>
                  <a:srgbClr val="EA5838"/>
                </a:solidFill>
                <a:latin typeface="+mn-ea"/>
                <a:ea typeface="+mn-ea"/>
                <a:cs typeface="华文细黑" panose="02010600040101010101" charset="-122"/>
              </a:rPr>
              <a:t>策</a:t>
            </a:r>
            <a:r>
              <a:rPr sz="1400" b="1" dirty="0">
                <a:solidFill>
                  <a:srgbClr val="EA5838"/>
                </a:solidFill>
                <a:latin typeface="+mn-ea"/>
                <a:ea typeface="+mn-ea"/>
                <a:cs typeface="华文细黑" panose="02010600040101010101" charset="-122"/>
              </a:rPr>
              <a:t>略的</a:t>
            </a:r>
            <a:r>
              <a:rPr sz="1400" b="1" spc="-15" dirty="0">
                <a:solidFill>
                  <a:srgbClr val="EA5838"/>
                </a:solidFill>
                <a:latin typeface="+mn-ea"/>
                <a:ea typeface="+mn-ea"/>
                <a:cs typeface="华文细黑" panose="02010600040101010101" charset="-122"/>
              </a:rPr>
              <a:t>风</a:t>
            </a:r>
            <a:r>
              <a:rPr sz="1400" b="1" dirty="0">
                <a:solidFill>
                  <a:srgbClr val="EA5838"/>
                </a:solidFill>
                <a:latin typeface="+mn-ea"/>
                <a:ea typeface="+mn-ea"/>
                <a:cs typeface="华文细黑" panose="02010600040101010101" charset="-122"/>
              </a:rPr>
              <a:t>险敞口</a:t>
            </a:r>
            <a:r>
              <a:rPr sz="1400" b="1" spc="10" dirty="0">
                <a:solidFill>
                  <a:srgbClr val="EA5838"/>
                </a:solidFill>
                <a:latin typeface="+mn-ea"/>
                <a:ea typeface="+mn-ea"/>
                <a:cs typeface="华文细黑" panose="02010600040101010101" charset="-122"/>
              </a:rPr>
              <a:t>和权</a:t>
            </a:r>
            <a:r>
              <a:rPr sz="1400" b="1" dirty="0">
                <a:solidFill>
                  <a:srgbClr val="EA5838"/>
                </a:solidFill>
                <a:latin typeface="+mn-ea"/>
                <a:ea typeface="+mn-ea"/>
                <a:cs typeface="华文细黑" panose="02010600040101010101" charset="-122"/>
              </a:rPr>
              <a:t>重配</a:t>
            </a:r>
            <a:r>
              <a:rPr sz="1400" b="1" spc="-15" dirty="0">
                <a:solidFill>
                  <a:srgbClr val="EA5838"/>
                </a:solidFill>
                <a:latin typeface="+mn-ea"/>
                <a:ea typeface="+mn-ea"/>
                <a:cs typeface="华文细黑" panose="02010600040101010101" charset="-122"/>
              </a:rPr>
              <a:t>置</a:t>
            </a:r>
            <a:r>
              <a:rPr sz="1400" b="1" dirty="0">
                <a:solidFill>
                  <a:srgbClr val="EA5838"/>
                </a:solidFill>
                <a:latin typeface="+mn-ea"/>
                <a:ea typeface="+mn-ea"/>
                <a:cs typeface="华文细黑" panose="02010600040101010101" charset="-122"/>
              </a:rPr>
              <a:t>更为</a:t>
            </a:r>
            <a:r>
              <a:rPr sz="1400" b="1" spc="-15" dirty="0">
                <a:solidFill>
                  <a:srgbClr val="EA5838"/>
                </a:solidFill>
                <a:latin typeface="+mn-ea"/>
                <a:ea typeface="+mn-ea"/>
                <a:cs typeface="华文细黑" panose="02010600040101010101" charset="-122"/>
              </a:rPr>
              <a:t>透</a:t>
            </a:r>
            <a:r>
              <a:rPr sz="1400" b="1" spc="5" dirty="0">
                <a:solidFill>
                  <a:srgbClr val="EA5838"/>
                </a:solidFill>
                <a:latin typeface="+mn-ea"/>
                <a:ea typeface="+mn-ea"/>
                <a:cs typeface="华文细黑" panose="02010600040101010101" charset="-122"/>
              </a:rPr>
              <a:t>明</a:t>
            </a:r>
            <a:r>
              <a:rPr sz="1400" dirty="0">
                <a:latin typeface="+mn-ea"/>
                <a:ea typeface="+mn-ea"/>
                <a:cs typeface="华文细黑" panose="02010600040101010101" charset="-122"/>
              </a:rPr>
              <a:t>，</a:t>
            </a:r>
            <a:r>
              <a:rPr sz="1400" spc="-15" dirty="0">
                <a:latin typeface="+mn-ea"/>
                <a:ea typeface="+mn-ea"/>
                <a:cs typeface="华文细黑" panose="02010600040101010101" charset="-122"/>
              </a:rPr>
              <a:t>有</a:t>
            </a:r>
            <a:r>
              <a:rPr sz="1400" dirty="0">
                <a:latin typeface="+mn-ea"/>
                <a:ea typeface="+mn-ea"/>
                <a:cs typeface="华文细黑" panose="02010600040101010101" charset="-122"/>
              </a:rPr>
              <a:t>具体的对标指数。</a:t>
            </a:r>
          </a:p>
        </p:txBody>
      </p:sp>
      <p:pic>
        <p:nvPicPr>
          <p:cNvPr id="7" name="object 7"/>
          <p:cNvPicPr/>
          <p:nvPr/>
        </p:nvPicPr>
        <p:blipFill>
          <a:blip r:embed="rId3" cstate="print"/>
          <a:stretch>
            <a:fillRect/>
          </a:stretch>
        </p:blipFill>
        <p:spPr>
          <a:xfrm>
            <a:off x="4572000" y="2567939"/>
            <a:ext cx="2989326" cy="3161538"/>
          </a:xfrm>
          <a:prstGeom prst="rect">
            <a:avLst/>
          </a:prstGeom>
        </p:spPr>
      </p:pic>
      <p:sp>
        <p:nvSpPr>
          <p:cNvPr id="8" name="object 8"/>
          <p:cNvSpPr txBox="1"/>
          <p:nvPr/>
        </p:nvSpPr>
        <p:spPr>
          <a:xfrm>
            <a:off x="4617720" y="1845564"/>
            <a:ext cx="2988945" cy="501650"/>
          </a:xfrm>
          <a:prstGeom prst="rect">
            <a:avLst/>
          </a:prstGeom>
          <a:solidFill>
            <a:srgbClr val="00366C"/>
          </a:solidFill>
        </p:spPr>
        <p:txBody>
          <a:bodyPr vert="horz" wrap="square" lIns="0" tIns="116840" rIns="0" bIns="0" rtlCol="0">
            <a:spAutoFit/>
          </a:bodyPr>
          <a:lstStyle/>
          <a:p>
            <a:pPr marL="883285">
              <a:lnSpc>
                <a:spcPct val="100000"/>
              </a:lnSpc>
              <a:spcBef>
                <a:spcPts val="920"/>
              </a:spcBef>
            </a:pPr>
            <a:r>
              <a:rPr sz="1600" b="1" dirty="0">
                <a:solidFill>
                  <a:srgbClr val="FFFFFF"/>
                </a:solidFill>
                <a:latin typeface="华文细黑" panose="02010600040101010101" charset="-122"/>
                <a:cs typeface="华文细黑" panose="02010600040101010101" charset="-122"/>
              </a:rPr>
              <a:t>风格贴近指数</a:t>
            </a:r>
            <a:endParaRPr sz="1600" dirty="0">
              <a:latin typeface="华文细黑" panose="02010600040101010101" charset="-122"/>
              <a:cs typeface="华文细黑" panose="02010600040101010101" charset="-122"/>
            </a:endParaRPr>
          </a:p>
        </p:txBody>
      </p:sp>
      <p:sp>
        <p:nvSpPr>
          <p:cNvPr id="9" name="object 9"/>
          <p:cNvSpPr txBox="1"/>
          <p:nvPr/>
        </p:nvSpPr>
        <p:spPr>
          <a:xfrm>
            <a:off x="4617721" y="2525266"/>
            <a:ext cx="2988944" cy="2455159"/>
          </a:xfrm>
          <a:prstGeom prst="rect">
            <a:avLst/>
          </a:prstGeom>
          <a:solidFill>
            <a:srgbClr val="F1F1F1"/>
          </a:solidFill>
        </p:spPr>
        <p:txBody>
          <a:bodyPr vert="horz" wrap="square" lIns="0" tIns="99695" rIns="0" bIns="0" rtlCol="0">
            <a:spAutoFit/>
          </a:bodyPr>
          <a:lstStyle/>
          <a:p>
            <a:pPr marL="467360" marR="200660" indent="-287020">
              <a:lnSpc>
                <a:spcPct val="150000"/>
              </a:lnSpc>
              <a:spcBef>
                <a:spcPts val="785"/>
              </a:spcBef>
              <a:buClr>
                <a:srgbClr val="920F0E"/>
              </a:buClr>
              <a:buSzPct val="68000"/>
              <a:buFont typeface="Wingdings" panose="05000000000000000000"/>
              <a:buChar char=""/>
              <a:tabLst>
                <a:tab pos="511175" algn="l"/>
                <a:tab pos="511175" algn="l"/>
              </a:tabLst>
            </a:pPr>
            <a:r>
              <a:rPr dirty="0"/>
              <a:t>	</a:t>
            </a:r>
            <a:r>
              <a:rPr sz="1400" dirty="0" err="1">
                <a:latin typeface="+mn-ea"/>
                <a:ea typeface="+mn-ea"/>
                <a:cs typeface="华文细黑" panose="02010600040101010101" charset="-122"/>
              </a:rPr>
              <a:t>指数增强策略的持仓组合与跟踪指数成分股重合度较高</a:t>
            </a:r>
            <a:r>
              <a:rPr sz="1400" dirty="0">
                <a:latin typeface="+mn-ea"/>
                <a:ea typeface="+mn-ea"/>
                <a:cs typeface="华文细黑" panose="02010600040101010101" charset="-122"/>
              </a:rPr>
              <a:t>。</a:t>
            </a:r>
            <a:r>
              <a:rPr lang="zh-CN" altLang="en-US" sz="1400" dirty="0">
                <a:latin typeface="+mn-ea"/>
                <a:ea typeface="+mn-ea"/>
                <a:cs typeface="华文细黑" panose="02010600040101010101" charset="-122"/>
              </a:rPr>
              <a:t>基金合同约定，投资于标的指数成份股及备选成份股的比例不低于非现金基金资产的</a:t>
            </a:r>
            <a:r>
              <a:rPr lang="en-US" altLang="zh-CN" sz="1400" dirty="0">
                <a:latin typeface="+mn-ea"/>
                <a:ea typeface="+mn-ea"/>
                <a:cs typeface="华文细黑" panose="02010600040101010101" charset="-122"/>
              </a:rPr>
              <a:t>80%</a:t>
            </a:r>
            <a:r>
              <a:rPr sz="1400" dirty="0">
                <a:latin typeface="+mn-ea"/>
                <a:ea typeface="+mn-ea"/>
                <a:cs typeface="华文细黑" panose="02010600040101010101" charset="-122"/>
              </a:rPr>
              <a:t>，</a:t>
            </a:r>
            <a:r>
              <a:rPr sz="1400" b="1" dirty="0" err="1">
                <a:solidFill>
                  <a:srgbClr val="EA5838"/>
                </a:solidFill>
                <a:latin typeface="+mn-ea"/>
                <a:ea typeface="+mn-ea"/>
                <a:cs typeface="华文细黑" panose="02010600040101010101" charset="-122"/>
              </a:rPr>
              <a:t>因此策略风格贴近跟踪指数</a:t>
            </a:r>
            <a:r>
              <a:rPr sz="1400" b="1" dirty="0">
                <a:solidFill>
                  <a:srgbClr val="EA5838"/>
                </a:solidFill>
                <a:latin typeface="+mn-ea"/>
                <a:ea typeface="+mn-ea"/>
                <a:cs typeface="华文细黑" panose="02010600040101010101" charset="-122"/>
              </a:rPr>
              <a:t>。</a:t>
            </a:r>
          </a:p>
        </p:txBody>
      </p:sp>
      <p:pic>
        <p:nvPicPr>
          <p:cNvPr id="10" name="object 10"/>
          <p:cNvPicPr/>
          <p:nvPr/>
        </p:nvPicPr>
        <p:blipFill>
          <a:blip r:embed="rId3" cstate="print"/>
          <a:stretch>
            <a:fillRect/>
          </a:stretch>
        </p:blipFill>
        <p:spPr>
          <a:xfrm>
            <a:off x="8189976" y="2567939"/>
            <a:ext cx="2989326" cy="3161538"/>
          </a:xfrm>
          <a:prstGeom prst="rect">
            <a:avLst/>
          </a:prstGeom>
        </p:spPr>
      </p:pic>
      <p:sp>
        <p:nvSpPr>
          <p:cNvPr id="11" name="object 11"/>
          <p:cNvSpPr txBox="1"/>
          <p:nvPr/>
        </p:nvSpPr>
        <p:spPr>
          <a:xfrm>
            <a:off x="8235695" y="1845564"/>
            <a:ext cx="2988945" cy="501650"/>
          </a:xfrm>
          <a:prstGeom prst="rect">
            <a:avLst/>
          </a:prstGeom>
          <a:solidFill>
            <a:srgbClr val="00366C"/>
          </a:solidFill>
        </p:spPr>
        <p:txBody>
          <a:bodyPr vert="horz" wrap="square" lIns="0" tIns="116840" rIns="0" bIns="0" rtlCol="0">
            <a:spAutoFit/>
          </a:bodyPr>
          <a:lstStyle/>
          <a:p>
            <a:pPr marL="872490">
              <a:lnSpc>
                <a:spcPct val="100000"/>
              </a:lnSpc>
              <a:spcBef>
                <a:spcPts val="920"/>
              </a:spcBef>
            </a:pPr>
            <a:r>
              <a:rPr sz="1600" b="1" dirty="0">
                <a:solidFill>
                  <a:srgbClr val="FFFFFF"/>
                </a:solidFill>
                <a:latin typeface="华文细黑" panose="02010600040101010101" charset="-122"/>
                <a:cs typeface="华文细黑" panose="02010600040101010101" charset="-122"/>
              </a:rPr>
              <a:t>力争控制风险</a:t>
            </a:r>
            <a:endParaRPr sz="1600">
              <a:latin typeface="华文细黑" panose="02010600040101010101" charset="-122"/>
              <a:cs typeface="华文细黑" panose="02010600040101010101" charset="-122"/>
            </a:endParaRPr>
          </a:p>
        </p:txBody>
      </p:sp>
      <p:sp>
        <p:nvSpPr>
          <p:cNvPr id="12" name="object 12"/>
          <p:cNvSpPr txBox="1"/>
          <p:nvPr/>
        </p:nvSpPr>
        <p:spPr>
          <a:xfrm>
            <a:off x="8235695" y="2525267"/>
            <a:ext cx="2988945" cy="2640851"/>
          </a:xfrm>
          <a:prstGeom prst="rect">
            <a:avLst/>
          </a:prstGeom>
          <a:solidFill>
            <a:srgbClr val="F1F1F1"/>
          </a:solidFill>
        </p:spPr>
        <p:txBody>
          <a:bodyPr vert="horz" wrap="square" lIns="0" tIns="92710" rIns="0" bIns="0" rtlCol="0">
            <a:spAutoFit/>
          </a:bodyPr>
          <a:lstStyle/>
          <a:p>
            <a:pPr marL="445770" marR="174625" indent="-287020">
              <a:lnSpc>
                <a:spcPct val="150000"/>
              </a:lnSpc>
              <a:spcBef>
                <a:spcPts val="730"/>
              </a:spcBef>
              <a:buClr>
                <a:srgbClr val="920F0E"/>
              </a:buClr>
              <a:buSzPct val="68000"/>
              <a:buFont typeface="Wingdings" panose="05000000000000000000"/>
              <a:buChar char=""/>
              <a:tabLst>
                <a:tab pos="445770" algn="l"/>
                <a:tab pos="446405" algn="l"/>
              </a:tabLst>
            </a:pPr>
            <a:r>
              <a:rPr sz="1400" dirty="0" err="1">
                <a:latin typeface="+mn-ea"/>
                <a:ea typeface="+mn-ea"/>
                <a:cs typeface="华文细黑" panose="02010600040101010101" charset="-122"/>
              </a:rPr>
              <a:t>指数增强策略的主动管理程度因受跟踪指数的限制而较主动管理策略低，相应地</a:t>
            </a:r>
            <a:r>
              <a:rPr lang="zh-CN" altLang="en-US" sz="1400" dirty="0">
                <a:latin typeface="+mn-ea"/>
                <a:ea typeface="+mn-ea"/>
                <a:cs typeface="华文细黑" panose="02010600040101010101" charset="-122"/>
              </a:rPr>
              <a:t>超额收益</a:t>
            </a:r>
            <a:r>
              <a:rPr sz="1400" dirty="0">
                <a:latin typeface="+mn-ea"/>
                <a:ea typeface="+mn-ea"/>
                <a:cs typeface="华文细黑" panose="02010600040101010101" charset="-122"/>
              </a:rPr>
              <a:t>波动性有所降低；同时，为了Beta端能够较精准跟踪指数，避免市场突发风格异动造成跟踪偏离</a:t>
            </a:r>
            <a:r>
              <a:rPr sz="1400" dirty="0">
                <a:latin typeface="华文细黑" panose="02010600040101010101" charset="-122"/>
                <a:cs typeface="华文细黑" panose="02010600040101010101" charset="-122"/>
              </a:rPr>
              <a:t>，</a:t>
            </a:r>
            <a:r>
              <a:rPr sz="1400" b="1" dirty="0">
                <a:solidFill>
                  <a:srgbClr val="EA5838"/>
                </a:solidFill>
                <a:latin typeface="+mn-ea"/>
                <a:ea typeface="+mn-ea"/>
                <a:cs typeface="华文细黑" panose="02010600040101010101" charset="-122"/>
              </a:rPr>
              <a:t>会控制投资组合与跟踪指数的偏离（跟踪误差）。</a:t>
            </a:r>
          </a:p>
        </p:txBody>
      </p:sp>
      <p:sp>
        <p:nvSpPr>
          <p:cNvPr id="13" name="object 13"/>
          <p:cNvSpPr txBox="1"/>
          <p:nvPr/>
        </p:nvSpPr>
        <p:spPr>
          <a:xfrm>
            <a:off x="1056538" y="1266190"/>
            <a:ext cx="9244965" cy="258404"/>
          </a:xfrm>
          <a:prstGeom prst="rect">
            <a:avLst/>
          </a:prstGeom>
        </p:spPr>
        <p:txBody>
          <a:bodyPr vert="horz" wrap="square" lIns="0" tIns="12065" rIns="0" bIns="0" rtlCol="0">
            <a:spAutoFit/>
          </a:bodyPr>
          <a:lstStyle/>
          <a:p>
            <a:pPr marL="299085" indent="-287020">
              <a:lnSpc>
                <a:spcPct val="100000"/>
              </a:lnSpc>
              <a:spcBef>
                <a:spcPts val="95"/>
              </a:spcBef>
              <a:buFont typeface="Wingdings" panose="05000000000000000000" pitchFamily="2" charset="2"/>
              <a:buChar char="n"/>
              <a:tabLst>
                <a:tab pos="299085" algn="l"/>
                <a:tab pos="299720" algn="l"/>
              </a:tabLst>
            </a:pPr>
            <a:r>
              <a:rPr sz="1600" spc="-5" dirty="0">
                <a:latin typeface="+mj-lt"/>
                <a:cs typeface="华文细黑" panose="02010600040101010101" charset="-122"/>
              </a:rPr>
              <a:t>指数增强策略是一种介于传统主动</a:t>
            </a:r>
            <a:r>
              <a:rPr sz="1600" spc="5" dirty="0">
                <a:latin typeface="+mj-lt"/>
                <a:cs typeface="华文细黑" panose="02010600040101010101" charset="-122"/>
              </a:rPr>
              <a:t>管</a:t>
            </a:r>
            <a:r>
              <a:rPr sz="1600" spc="-5" dirty="0">
                <a:latin typeface="+mj-lt"/>
                <a:cs typeface="华文细黑" panose="02010600040101010101" charset="-122"/>
              </a:rPr>
              <a:t>理策</a:t>
            </a:r>
            <a:r>
              <a:rPr sz="1600" spc="5" dirty="0">
                <a:latin typeface="+mj-lt"/>
                <a:cs typeface="华文细黑" panose="02010600040101010101" charset="-122"/>
              </a:rPr>
              <a:t>略</a:t>
            </a:r>
            <a:r>
              <a:rPr sz="1600" spc="-5" dirty="0">
                <a:latin typeface="+mj-lt"/>
                <a:cs typeface="华文细黑" panose="02010600040101010101" charset="-122"/>
              </a:rPr>
              <a:t>和被</a:t>
            </a:r>
            <a:r>
              <a:rPr sz="1600" spc="5" dirty="0">
                <a:latin typeface="+mj-lt"/>
                <a:cs typeface="华文细黑" panose="02010600040101010101" charset="-122"/>
              </a:rPr>
              <a:t>动</a:t>
            </a:r>
            <a:r>
              <a:rPr sz="1600" spc="-5" dirty="0">
                <a:latin typeface="+mj-lt"/>
                <a:cs typeface="华文细黑" panose="02010600040101010101" charset="-122"/>
              </a:rPr>
              <a:t>指数</a:t>
            </a:r>
            <a:r>
              <a:rPr sz="1600" spc="5" dirty="0">
                <a:latin typeface="+mj-lt"/>
                <a:cs typeface="华文细黑" panose="02010600040101010101" charset="-122"/>
              </a:rPr>
              <a:t>投</a:t>
            </a:r>
            <a:r>
              <a:rPr sz="1600" spc="-5" dirty="0">
                <a:latin typeface="+mj-lt"/>
                <a:cs typeface="华文细黑" panose="02010600040101010101" charset="-122"/>
              </a:rPr>
              <a:t>资策</a:t>
            </a:r>
            <a:r>
              <a:rPr sz="1600" spc="5" dirty="0">
                <a:latin typeface="+mj-lt"/>
                <a:cs typeface="华文细黑" panose="02010600040101010101" charset="-122"/>
              </a:rPr>
              <a:t>略</a:t>
            </a:r>
            <a:r>
              <a:rPr sz="1600" spc="-5" dirty="0">
                <a:latin typeface="+mj-lt"/>
                <a:cs typeface="华文细黑" panose="02010600040101010101" charset="-122"/>
              </a:rPr>
              <a:t>之间</a:t>
            </a:r>
            <a:r>
              <a:rPr sz="1600" spc="5" dirty="0">
                <a:latin typeface="+mj-lt"/>
                <a:cs typeface="华文细黑" panose="02010600040101010101" charset="-122"/>
              </a:rPr>
              <a:t>的</a:t>
            </a:r>
            <a:r>
              <a:rPr sz="1600" spc="-5" dirty="0">
                <a:latin typeface="+mj-lt"/>
                <a:cs typeface="华文细黑" panose="02010600040101010101" charset="-122"/>
              </a:rPr>
              <a:t>投资</a:t>
            </a:r>
            <a:r>
              <a:rPr sz="1600" spc="5" dirty="0">
                <a:latin typeface="+mj-lt"/>
                <a:cs typeface="华文细黑" panose="02010600040101010101" charset="-122"/>
              </a:rPr>
              <a:t>策</a:t>
            </a:r>
            <a:r>
              <a:rPr sz="1600" spc="-5" dirty="0">
                <a:latin typeface="+mj-lt"/>
                <a:cs typeface="华文细黑" panose="02010600040101010101" charset="-122"/>
              </a:rPr>
              <a:t>略，</a:t>
            </a:r>
            <a:r>
              <a:rPr sz="1600" spc="5" dirty="0">
                <a:latin typeface="+mj-lt"/>
                <a:cs typeface="华文细黑" panose="02010600040101010101" charset="-122"/>
              </a:rPr>
              <a:t>主</a:t>
            </a:r>
            <a:r>
              <a:rPr sz="1600" spc="-5" dirty="0">
                <a:latin typeface="+mj-lt"/>
                <a:cs typeface="华文细黑" panose="02010600040101010101" charset="-122"/>
              </a:rPr>
              <a:t>要特</a:t>
            </a:r>
            <a:r>
              <a:rPr sz="1600" spc="5" dirty="0">
                <a:latin typeface="+mj-lt"/>
                <a:cs typeface="华文细黑" panose="02010600040101010101" charset="-122"/>
              </a:rPr>
              <a:t>征</a:t>
            </a:r>
            <a:r>
              <a:rPr sz="1600" spc="-5" dirty="0">
                <a:latin typeface="+mj-lt"/>
                <a:cs typeface="华文细黑" panose="02010600040101010101" charset="-122"/>
              </a:rPr>
              <a:t>体现</a:t>
            </a:r>
            <a:r>
              <a:rPr sz="1600" spc="5" dirty="0">
                <a:latin typeface="+mj-lt"/>
                <a:cs typeface="华文细黑" panose="02010600040101010101" charset="-122"/>
              </a:rPr>
              <a:t>在</a:t>
            </a:r>
            <a:r>
              <a:rPr sz="1600" spc="-5" dirty="0">
                <a:latin typeface="+mj-lt"/>
                <a:cs typeface="华文细黑" panose="02010600040101010101" charset="-122"/>
              </a:rPr>
              <a:t>：</a:t>
            </a:r>
            <a:endParaRPr sz="1600" dirty="0">
              <a:latin typeface="+mj-lt"/>
              <a:cs typeface="华文细黑" panose="0201060004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1024" y="234042"/>
            <a:ext cx="10328275" cy="452120"/>
          </a:xfrm>
          <a:prstGeom prst="rect">
            <a:avLst/>
          </a:prstGeom>
        </p:spPr>
        <p:txBody>
          <a:bodyPr vert="horz" wrap="square" lIns="0" tIns="12065" rIns="0" bIns="0" rtlCol="0">
            <a:spAutoFit/>
          </a:bodyPr>
          <a:lstStyle/>
          <a:p>
            <a:pPr marL="12065">
              <a:lnSpc>
                <a:spcPct val="100000"/>
              </a:lnSpc>
              <a:spcBef>
                <a:spcPts val="95"/>
              </a:spcBef>
              <a:buSzPct val="75000"/>
              <a:tabLst>
                <a:tab pos="469900" algn="l"/>
                <a:tab pos="469900" algn="l"/>
              </a:tabLst>
            </a:pPr>
            <a:r>
              <a:rPr sz="2800" b="1" spc="-5" dirty="0" err="1">
                <a:solidFill>
                  <a:srgbClr val="002060"/>
                </a:solidFill>
                <a:latin typeface="微软雅黑" panose="020B0503020204020204" pitchFamily="34" charset="-122"/>
                <a:cs typeface="微软雅黑" panose="020B0503020204020204" pitchFamily="34" charset="-122"/>
              </a:rPr>
              <a:t>A股</a:t>
            </a:r>
            <a:r>
              <a:rPr lang="zh-CN" altLang="en-US" sz="2800" b="1" spc="-5" dirty="0">
                <a:solidFill>
                  <a:srgbClr val="002060"/>
                </a:solidFill>
                <a:latin typeface="微软雅黑" panose="020B0503020204020204" pitchFamily="34" charset="-122"/>
                <a:cs typeface="微软雅黑" panose="020B0503020204020204" pitchFamily="34" charset="-122"/>
              </a:rPr>
              <a:t>实盘验证</a:t>
            </a:r>
            <a:r>
              <a:rPr sz="2800" b="1" dirty="0">
                <a:solidFill>
                  <a:srgbClr val="002060"/>
                </a:solidFill>
                <a:latin typeface="微软雅黑" panose="020B0503020204020204" pitchFamily="34" charset="-122"/>
                <a:cs typeface="微软雅黑" panose="020B0503020204020204" pitchFamily="34" charset="-122"/>
              </a:rPr>
              <a:t>，</a:t>
            </a:r>
            <a:r>
              <a:rPr lang="zh-CN" altLang="en-US" sz="2800" b="1" spc="-5" dirty="0">
                <a:solidFill>
                  <a:srgbClr val="002060"/>
                </a:solidFill>
                <a:latin typeface="微软雅黑" panose="020B0503020204020204" pitchFamily="34" charset="-122"/>
                <a:cs typeface="微软雅黑" panose="020B0503020204020204" pitchFamily="34" charset="-122"/>
              </a:rPr>
              <a:t>指增产品长期超额显著</a:t>
            </a:r>
            <a:endParaRPr sz="2800" b="1" dirty="0">
              <a:solidFill>
                <a:srgbClr val="002060"/>
              </a:solidFill>
              <a:latin typeface="微软雅黑" panose="020B0503020204020204" pitchFamily="34" charset="-122"/>
              <a:cs typeface="微软雅黑" panose="020B0503020204020204" pitchFamily="34" charset="-122"/>
            </a:endParaRPr>
          </a:p>
        </p:txBody>
      </p:sp>
      <p:sp>
        <p:nvSpPr>
          <p:cNvPr id="3" name="object 3"/>
          <p:cNvSpPr txBox="1"/>
          <p:nvPr/>
        </p:nvSpPr>
        <p:spPr>
          <a:xfrm>
            <a:off x="681024" y="1057402"/>
            <a:ext cx="10988116" cy="1136593"/>
          </a:xfrm>
          <a:prstGeom prst="rect">
            <a:avLst/>
          </a:prstGeom>
        </p:spPr>
        <p:txBody>
          <a:bodyPr vert="horz" wrap="square" lIns="0" tIns="12700" rIns="0" bIns="0" rtlCol="0">
            <a:spAutoFit/>
          </a:bodyPr>
          <a:lstStyle/>
          <a:p>
            <a:pPr marL="355600" marR="6985" indent="-343535">
              <a:lnSpc>
                <a:spcPct val="110000"/>
              </a:lnSpc>
              <a:spcBef>
                <a:spcPts val="100"/>
              </a:spcBef>
              <a:buClr>
                <a:srgbClr val="002060"/>
              </a:buClr>
              <a:buSzPct val="81000"/>
              <a:buFont typeface="Wingdings" panose="05000000000000000000" pitchFamily="2" charset="2"/>
              <a:buChar char="n"/>
              <a:tabLst>
                <a:tab pos="355600" algn="l"/>
                <a:tab pos="356235" algn="l"/>
              </a:tabLst>
            </a:pPr>
            <a:r>
              <a:rPr sz="1400" dirty="0" err="1">
                <a:latin typeface="微软雅黑" panose="020B0503020204020204" pitchFamily="34" charset="-122"/>
                <a:cs typeface="微软雅黑" panose="020B0503020204020204" pitchFamily="34" charset="-122"/>
              </a:rPr>
              <a:t>指数</a:t>
            </a:r>
            <a:r>
              <a:rPr sz="1400" spc="10" dirty="0" err="1">
                <a:latin typeface="微软雅黑" panose="020B0503020204020204" pitchFamily="34" charset="-122"/>
                <a:cs typeface="微软雅黑" panose="020B0503020204020204" pitchFamily="34" charset="-122"/>
              </a:rPr>
              <a:t>型</a:t>
            </a:r>
            <a:r>
              <a:rPr sz="1400" dirty="0" err="1">
                <a:latin typeface="微软雅黑" panose="020B0503020204020204" pitchFamily="34" charset="-122"/>
                <a:cs typeface="微软雅黑" panose="020B0503020204020204" pitchFamily="34" charset="-122"/>
              </a:rPr>
              <a:t>产品</a:t>
            </a:r>
            <a:r>
              <a:rPr sz="1400" spc="10" dirty="0" err="1">
                <a:latin typeface="微软雅黑" panose="020B0503020204020204" pitchFamily="34" charset="-122"/>
                <a:cs typeface="微软雅黑" panose="020B0503020204020204" pitchFamily="34" charset="-122"/>
              </a:rPr>
              <a:t>拥</a:t>
            </a:r>
            <a:r>
              <a:rPr sz="1400" dirty="0" err="1">
                <a:latin typeface="微软雅黑" panose="020B0503020204020204" pitchFamily="34" charset="-122"/>
                <a:cs typeface="微软雅黑" panose="020B0503020204020204" pitchFamily="34" charset="-122"/>
              </a:rPr>
              <a:t>有</a:t>
            </a:r>
            <a:r>
              <a:rPr lang="zh-CN" altLang="en-US" sz="1400" dirty="0">
                <a:latin typeface="微软雅黑" panose="020B0503020204020204" pitchFamily="34" charset="-122"/>
                <a:cs typeface="微软雅黑" panose="020B0503020204020204" pitchFamily="34" charset="-122"/>
              </a:rPr>
              <a:t>指数成分股</a:t>
            </a:r>
            <a:r>
              <a:rPr sz="1400" spc="10" dirty="0" err="1">
                <a:latin typeface="微软雅黑" panose="020B0503020204020204" pitchFamily="34" charset="-122"/>
                <a:cs typeface="微软雅黑" panose="020B0503020204020204" pitchFamily="34" charset="-122"/>
              </a:rPr>
              <a:t>公</a:t>
            </a:r>
            <a:r>
              <a:rPr sz="1400" dirty="0" err="1">
                <a:latin typeface="微软雅黑" panose="020B0503020204020204" pitchFamily="34" charset="-122"/>
                <a:cs typeface="微软雅黑" panose="020B0503020204020204" pitchFamily="34" charset="-122"/>
              </a:rPr>
              <a:t>开透</a:t>
            </a:r>
            <a:r>
              <a:rPr sz="1400" spc="15" dirty="0" err="1">
                <a:latin typeface="微软雅黑" panose="020B0503020204020204" pitchFamily="34" charset="-122"/>
                <a:cs typeface="微软雅黑" panose="020B0503020204020204" pitchFamily="34" charset="-122"/>
              </a:rPr>
              <a:t>明</a:t>
            </a:r>
            <a:r>
              <a:rPr sz="1400" dirty="0" err="1">
                <a:latin typeface="微软雅黑" panose="020B0503020204020204" pitchFamily="34" charset="-122"/>
                <a:cs typeface="微软雅黑" panose="020B0503020204020204" pitchFamily="34" charset="-122"/>
              </a:rPr>
              <a:t>、投</a:t>
            </a:r>
            <a:r>
              <a:rPr sz="1400" spc="10" dirty="0" err="1">
                <a:latin typeface="微软雅黑" panose="020B0503020204020204" pitchFamily="34" charset="-122"/>
                <a:cs typeface="微软雅黑" panose="020B0503020204020204" pitchFamily="34" charset="-122"/>
              </a:rPr>
              <a:t>资</a:t>
            </a:r>
            <a:r>
              <a:rPr sz="1400" dirty="0" err="1">
                <a:latin typeface="微软雅黑" panose="020B0503020204020204" pitchFamily="34" charset="-122"/>
                <a:cs typeface="微软雅黑" panose="020B0503020204020204" pitchFamily="34" charset="-122"/>
              </a:rPr>
              <a:t>风格</a:t>
            </a:r>
            <a:r>
              <a:rPr sz="1400" spc="10" dirty="0" err="1">
                <a:latin typeface="微软雅黑" panose="020B0503020204020204" pitchFamily="34" charset="-122"/>
                <a:cs typeface="微软雅黑" panose="020B0503020204020204" pitchFamily="34" charset="-122"/>
              </a:rPr>
              <a:t>稳</a:t>
            </a:r>
            <a:r>
              <a:rPr sz="1400" spc="5" dirty="0" err="1">
                <a:latin typeface="微软雅黑" panose="020B0503020204020204" pitchFamily="34" charset="-122"/>
                <a:cs typeface="微软雅黑" panose="020B0503020204020204" pitchFamily="34" charset="-122"/>
              </a:rPr>
              <a:t>定</a:t>
            </a:r>
            <a:r>
              <a:rPr sz="1400" dirty="0" err="1">
                <a:latin typeface="微软雅黑" panose="020B0503020204020204" pitchFamily="34" charset="-122"/>
                <a:cs typeface="微软雅黑" panose="020B0503020204020204" pitchFamily="34" charset="-122"/>
              </a:rPr>
              <a:t>、</a:t>
            </a:r>
            <a:r>
              <a:rPr sz="1400" spc="10" dirty="0" err="1">
                <a:latin typeface="微软雅黑" panose="020B0503020204020204" pitchFamily="34" charset="-122"/>
                <a:cs typeface="微软雅黑" panose="020B0503020204020204" pitchFamily="34" charset="-122"/>
              </a:rPr>
              <a:t>费</a:t>
            </a:r>
            <a:r>
              <a:rPr sz="1400" dirty="0" err="1">
                <a:latin typeface="微软雅黑" panose="020B0503020204020204" pitchFamily="34" charset="-122"/>
                <a:cs typeface="微软雅黑" panose="020B0503020204020204" pitchFamily="34" charset="-122"/>
              </a:rPr>
              <a:t>率更</a:t>
            </a:r>
            <a:r>
              <a:rPr sz="1400" spc="10" dirty="0" err="1">
                <a:latin typeface="微软雅黑" panose="020B0503020204020204" pitchFamily="34" charset="-122"/>
                <a:cs typeface="微软雅黑" panose="020B0503020204020204" pitchFamily="34" charset="-122"/>
              </a:rPr>
              <a:t>低</a:t>
            </a:r>
            <a:r>
              <a:rPr sz="1400" dirty="0" err="1">
                <a:latin typeface="微软雅黑" panose="020B0503020204020204" pitchFamily="34" charset="-122"/>
                <a:cs typeface="微软雅黑" panose="020B0503020204020204" pitchFamily="34" charset="-122"/>
              </a:rPr>
              <a:t>等优</a:t>
            </a:r>
            <a:r>
              <a:rPr sz="1400" spc="15" dirty="0" err="1">
                <a:latin typeface="微软雅黑" panose="020B0503020204020204" pitchFamily="34" charset="-122"/>
                <a:cs typeface="微软雅黑" panose="020B0503020204020204" pitchFamily="34" charset="-122"/>
              </a:rPr>
              <a:t>势</a:t>
            </a:r>
            <a:r>
              <a:rPr sz="1400" dirty="0" err="1">
                <a:latin typeface="微软雅黑" panose="020B0503020204020204" pitchFamily="34" charset="-122"/>
                <a:cs typeface="微软雅黑" panose="020B0503020204020204" pitchFamily="34" charset="-122"/>
              </a:rPr>
              <a:t>。而“</a:t>
            </a:r>
            <a:r>
              <a:rPr sz="1400" spc="10" dirty="0" err="1">
                <a:latin typeface="微软雅黑" panose="020B0503020204020204" pitchFamily="34" charset="-122"/>
                <a:cs typeface="微软雅黑" panose="020B0503020204020204" pitchFamily="34" charset="-122"/>
              </a:rPr>
              <a:t>增</a:t>
            </a:r>
            <a:r>
              <a:rPr sz="1400" dirty="0" err="1">
                <a:latin typeface="微软雅黑" panose="020B0503020204020204" pitchFamily="34" charset="-122"/>
                <a:cs typeface="微软雅黑" panose="020B0503020204020204" pitchFamily="34" charset="-122"/>
              </a:rPr>
              <a:t>强</a:t>
            </a:r>
            <a:r>
              <a:rPr sz="1400" spc="10" dirty="0" err="1">
                <a:latin typeface="微软雅黑" panose="020B0503020204020204" pitchFamily="34" charset="-122"/>
                <a:cs typeface="微软雅黑" panose="020B0503020204020204" pitchFamily="34" charset="-122"/>
              </a:rPr>
              <a:t>”</a:t>
            </a:r>
            <a:r>
              <a:rPr sz="1400" dirty="0" err="1">
                <a:latin typeface="微软雅黑" panose="020B0503020204020204" pitchFamily="34" charset="-122"/>
                <a:cs typeface="微软雅黑" panose="020B0503020204020204" pitchFamily="34" charset="-122"/>
              </a:rPr>
              <a:t>的意义</a:t>
            </a:r>
            <a:r>
              <a:rPr sz="1400" spc="10" dirty="0" err="1">
                <a:latin typeface="微软雅黑" panose="020B0503020204020204" pitchFamily="34" charset="-122"/>
                <a:cs typeface="微软雅黑" panose="020B0503020204020204" pitchFamily="34" charset="-122"/>
              </a:rPr>
              <a:t>在</a:t>
            </a:r>
            <a:r>
              <a:rPr sz="1400" dirty="0" err="1">
                <a:latin typeface="微软雅黑" panose="020B0503020204020204" pitchFamily="34" charset="-122"/>
                <a:cs typeface="微软雅黑" panose="020B0503020204020204" pitchFamily="34" charset="-122"/>
              </a:rPr>
              <a:t>于</a:t>
            </a:r>
            <a:r>
              <a:rPr sz="1400" spc="10" dirty="0" err="1">
                <a:latin typeface="微软雅黑" panose="020B0503020204020204" pitchFamily="34" charset="-122"/>
                <a:cs typeface="微软雅黑" panose="020B0503020204020204" pitchFamily="34" charset="-122"/>
              </a:rPr>
              <a:t>不完全</a:t>
            </a:r>
            <a:r>
              <a:rPr sz="1400" dirty="0" err="1">
                <a:latin typeface="微软雅黑" panose="020B0503020204020204" pitchFamily="34" charset="-122"/>
                <a:cs typeface="微软雅黑" panose="020B0503020204020204" pitchFamily="34" charset="-122"/>
              </a:rPr>
              <a:t>复制指数，而是</a:t>
            </a:r>
            <a:r>
              <a:rPr sz="1400" b="1" dirty="0" err="1">
                <a:latin typeface="微软雅黑" panose="020B0503020204020204" pitchFamily="34" charset="-122"/>
                <a:cs typeface="微软雅黑" panose="020B0503020204020204" pitchFamily="34" charset="-122"/>
              </a:rPr>
              <a:t>力求在有效跟踪指数基础上</a:t>
            </a:r>
            <a:r>
              <a:rPr sz="1400" b="1" dirty="0">
                <a:latin typeface="微软雅黑" panose="020B0503020204020204" pitchFamily="34" charset="-122"/>
                <a:cs typeface="微软雅黑" panose="020B0503020204020204" pitchFamily="34" charset="-122"/>
              </a:rPr>
              <a:t>，</a:t>
            </a:r>
            <a:r>
              <a:rPr lang="zh-CN" altLang="en-US" sz="1400" b="1" dirty="0">
                <a:latin typeface="微软雅黑" panose="020B0503020204020204" pitchFamily="34" charset="-122"/>
                <a:cs typeface="微软雅黑" panose="020B0503020204020204" pitchFamily="34" charset="-122"/>
              </a:rPr>
              <a:t>长期持续</a:t>
            </a:r>
            <a:r>
              <a:rPr sz="1400" b="1" dirty="0" err="1">
                <a:latin typeface="微软雅黑" panose="020B0503020204020204" pitchFamily="34" charset="-122"/>
                <a:cs typeface="微软雅黑" panose="020B0503020204020204" pitchFamily="34" charset="-122"/>
              </a:rPr>
              <a:t>跑赢指</a:t>
            </a:r>
            <a:r>
              <a:rPr sz="1400" b="1" spc="-20" dirty="0" err="1">
                <a:latin typeface="微软雅黑" panose="020B0503020204020204" pitchFamily="34" charset="-122"/>
                <a:cs typeface="微软雅黑" panose="020B0503020204020204" pitchFamily="34" charset="-122"/>
              </a:rPr>
              <a:t>数</a:t>
            </a:r>
            <a:r>
              <a:rPr sz="1400" dirty="0">
                <a:latin typeface="微软雅黑" panose="020B0503020204020204" pitchFamily="34" charset="-122"/>
                <a:cs typeface="微软雅黑" panose="020B0503020204020204" pitchFamily="34" charset="-122"/>
              </a:rPr>
              <a:t>。</a:t>
            </a:r>
          </a:p>
          <a:p>
            <a:pPr marL="355600" marR="5080" indent="-343535">
              <a:lnSpc>
                <a:spcPct val="110000"/>
              </a:lnSpc>
              <a:spcBef>
                <a:spcPts val="1465"/>
              </a:spcBef>
              <a:buClr>
                <a:srgbClr val="002060"/>
              </a:buClr>
              <a:buSzPct val="81000"/>
              <a:buFont typeface="Wingdings" panose="05000000000000000000" pitchFamily="2" charset="2"/>
              <a:buChar char="n"/>
              <a:tabLst>
                <a:tab pos="355600" algn="l"/>
                <a:tab pos="356235" algn="l"/>
              </a:tabLst>
            </a:pPr>
            <a:r>
              <a:rPr sz="1400" spc="20" dirty="0">
                <a:latin typeface="微软雅黑" panose="020B0503020204020204" pitchFamily="34" charset="-122"/>
                <a:cs typeface="微软雅黑" panose="020B0503020204020204" pitchFamily="34" charset="-122"/>
              </a:rPr>
              <a:t>从历史数据</a:t>
            </a:r>
            <a:r>
              <a:rPr sz="1400" spc="35" dirty="0">
                <a:latin typeface="微软雅黑" panose="020B0503020204020204" pitchFamily="34" charset="-122"/>
                <a:cs typeface="微软雅黑" panose="020B0503020204020204" pitchFamily="34" charset="-122"/>
              </a:rPr>
              <a:t>看</a:t>
            </a:r>
            <a:r>
              <a:rPr sz="1400" spc="20" dirty="0">
                <a:latin typeface="微软雅黑" panose="020B0503020204020204" pitchFamily="34" charset="-122"/>
                <a:cs typeface="微软雅黑" panose="020B0503020204020204" pitchFamily="34" charset="-122"/>
              </a:rPr>
              <a:t>，对于目前</a:t>
            </a:r>
            <a:r>
              <a:rPr sz="1400" spc="30" dirty="0">
                <a:latin typeface="微软雅黑" panose="020B0503020204020204" pitchFamily="34" charset="-122"/>
                <a:cs typeface="微软雅黑" panose="020B0503020204020204" pitchFamily="34" charset="-122"/>
              </a:rPr>
              <a:t>数</a:t>
            </a:r>
            <a:r>
              <a:rPr sz="1400" spc="20" dirty="0">
                <a:latin typeface="微软雅黑" panose="020B0503020204020204" pitchFamily="34" charset="-122"/>
                <a:cs typeface="微软雅黑" panose="020B0503020204020204" pitchFamily="34" charset="-122"/>
              </a:rPr>
              <a:t>量较多的跟</a:t>
            </a:r>
            <a:r>
              <a:rPr sz="1400" spc="30" dirty="0">
                <a:latin typeface="微软雅黑" panose="020B0503020204020204" pitchFamily="34" charset="-122"/>
                <a:cs typeface="微软雅黑" panose="020B0503020204020204" pitchFamily="34" charset="-122"/>
              </a:rPr>
              <a:t>踪</a:t>
            </a:r>
            <a:r>
              <a:rPr sz="1400" spc="20" dirty="0">
                <a:latin typeface="微软雅黑" panose="020B0503020204020204" pitchFamily="34" charset="-122"/>
                <a:cs typeface="微软雅黑" panose="020B0503020204020204" pitchFamily="34" charset="-122"/>
              </a:rPr>
              <a:t>沪</a:t>
            </a:r>
            <a:r>
              <a:rPr sz="1400" spc="55" dirty="0">
                <a:latin typeface="微软雅黑" panose="020B0503020204020204" pitchFamily="34" charset="-122"/>
                <a:cs typeface="微软雅黑" panose="020B0503020204020204" pitchFamily="34" charset="-122"/>
              </a:rPr>
              <a:t>深</a:t>
            </a:r>
            <a:r>
              <a:rPr sz="1400" spc="5" dirty="0">
                <a:latin typeface="微软雅黑" panose="020B0503020204020204" pitchFamily="34" charset="-122"/>
                <a:cs typeface="微软雅黑" panose="020B0503020204020204" pitchFamily="34" charset="-122"/>
              </a:rPr>
              <a:t>300</a:t>
            </a:r>
            <a:r>
              <a:rPr sz="1400" spc="20" dirty="0">
                <a:latin typeface="微软雅黑" panose="020B0503020204020204" pitchFamily="34" charset="-122"/>
                <a:cs typeface="微软雅黑" panose="020B0503020204020204" pitchFamily="34" charset="-122"/>
              </a:rPr>
              <a:t>、中证</a:t>
            </a:r>
            <a:r>
              <a:rPr sz="1400" spc="5" dirty="0">
                <a:latin typeface="微软雅黑" panose="020B0503020204020204" pitchFamily="34" charset="-122"/>
                <a:cs typeface="微软雅黑" panose="020B0503020204020204" pitchFamily="34" charset="-122"/>
              </a:rPr>
              <a:t>500</a:t>
            </a:r>
            <a:r>
              <a:rPr sz="1400" spc="20" dirty="0">
                <a:latin typeface="微软雅黑" panose="020B0503020204020204" pitchFamily="34" charset="-122"/>
                <a:cs typeface="微软雅黑" panose="020B0503020204020204" pitchFamily="34" charset="-122"/>
              </a:rPr>
              <a:t>的指数增强型基</a:t>
            </a:r>
            <a:r>
              <a:rPr sz="1400" spc="25" dirty="0">
                <a:latin typeface="微软雅黑" panose="020B0503020204020204" pitchFamily="34" charset="-122"/>
                <a:cs typeface="微软雅黑" panose="020B0503020204020204" pitchFamily="34" charset="-122"/>
              </a:rPr>
              <a:t>金</a:t>
            </a:r>
            <a:r>
              <a:rPr sz="1400" spc="35" dirty="0">
                <a:latin typeface="微软雅黑" panose="020B0503020204020204" pitchFamily="34" charset="-122"/>
                <a:cs typeface="微软雅黑" panose="020B0503020204020204" pitchFamily="34" charset="-122"/>
              </a:rPr>
              <a:t>，</a:t>
            </a:r>
            <a:r>
              <a:rPr sz="1400" spc="20" dirty="0">
                <a:latin typeface="微软雅黑" panose="020B0503020204020204" pitchFamily="34" charset="-122"/>
                <a:cs typeface="微软雅黑" panose="020B0503020204020204" pitchFamily="34" charset="-122"/>
              </a:rPr>
              <a:t>测算平均收</a:t>
            </a:r>
            <a:r>
              <a:rPr sz="1400" spc="30" dirty="0">
                <a:latin typeface="微软雅黑" panose="020B0503020204020204" pitchFamily="34" charset="-122"/>
                <a:cs typeface="微软雅黑" panose="020B0503020204020204" pitchFamily="34" charset="-122"/>
              </a:rPr>
              <a:t>益</a:t>
            </a:r>
            <a:r>
              <a:rPr sz="1400" spc="35" dirty="0">
                <a:latin typeface="微软雅黑" panose="020B0503020204020204" pitchFamily="34" charset="-122"/>
                <a:cs typeface="微软雅黑" panose="020B0503020204020204" pitchFamily="34" charset="-122"/>
              </a:rPr>
              <a:t>率</a:t>
            </a:r>
            <a:r>
              <a:rPr sz="1400" spc="20" dirty="0">
                <a:latin typeface="微软雅黑" panose="020B0503020204020204" pitchFamily="34" charset="-122"/>
                <a:cs typeface="微软雅黑" panose="020B0503020204020204" pitchFamily="34" charset="-122"/>
              </a:rPr>
              <a:t>，</a:t>
            </a:r>
            <a:r>
              <a:rPr sz="1400" dirty="0">
                <a:latin typeface="微软雅黑" panose="020B0503020204020204" pitchFamily="34" charset="-122"/>
                <a:cs typeface="微软雅黑" panose="020B0503020204020204" pitchFamily="34" charset="-122"/>
              </a:rPr>
              <a:t>可以看到指数增强型基金的</a:t>
            </a:r>
            <a:r>
              <a:rPr lang="zh-CN" altLang="en-US" sz="1400" dirty="0">
                <a:latin typeface="微软雅黑" panose="020B0503020204020204" pitchFamily="34" charset="-122"/>
                <a:cs typeface="微软雅黑" panose="020B0503020204020204" pitchFamily="34" charset="-122"/>
              </a:rPr>
              <a:t>每年都实现正超额收益，而且随着时间累计超额收益更加显著</a:t>
            </a:r>
            <a:r>
              <a:rPr sz="1400" dirty="0">
                <a:latin typeface="微软雅黑" panose="020B0503020204020204" pitchFamily="34" charset="-122"/>
                <a:cs typeface="微软雅黑" panose="020B0503020204020204" pitchFamily="34" charset="-122"/>
              </a:rPr>
              <a:t>。</a:t>
            </a:r>
          </a:p>
        </p:txBody>
      </p:sp>
      <p:sp>
        <p:nvSpPr>
          <p:cNvPr id="4" name="object 4"/>
          <p:cNvSpPr txBox="1"/>
          <p:nvPr/>
        </p:nvSpPr>
        <p:spPr>
          <a:xfrm>
            <a:off x="832129" y="5838057"/>
            <a:ext cx="10267314" cy="165173"/>
          </a:xfrm>
          <a:prstGeom prst="rect">
            <a:avLst/>
          </a:prstGeom>
        </p:spPr>
        <p:txBody>
          <a:bodyPr vert="horz" wrap="square" lIns="0" tIns="12700" rIns="0" bIns="0" rtlCol="0">
            <a:spAutoFit/>
          </a:bodyPr>
          <a:lstStyle/>
          <a:p>
            <a:pPr marL="12700" marR="5080">
              <a:lnSpc>
                <a:spcPct val="110000"/>
              </a:lnSpc>
              <a:spcBef>
                <a:spcPts val="100"/>
              </a:spcBef>
            </a:pPr>
            <a:r>
              <a:rPr sz="900" dirty="0" err="1">
                <a:solidFill>
                  <a:srgbClr val="585858"/>
                </a:solidFill>
                <a:latin typeface="微软雅黑" panose="020B0503020204020204" pitchFamily="34" charset="-122"/>
                <a:cs typeface="微软雅黑" panose="020B0503020204020204" pitchFamily="34" charset="-122"/>
              </a:rPr>
              <a:t>数据来源：</a:t>
            </a:r>
            <a:r>
              <a:rPr lang="en-US" altLang="zh-CN" sz="900" dirty="0" err="1">
                <a:solidFill>
                  <a:srgbClr val="585858"/>
                </a:solidFill>
                <a:latin typeface="微软雅黑" panose="020B0503020204020204" pitchFamily="34" charset="-122"/>
                <a:cs typeface="微软雅黑" panose="020B0503020204020204" pitchFamily="34" charset="-122"/>
              </a:rPr>
              <a:t>Wind</a:t>
            </a:r>
            <a:r>
              <a:rPr lang="zh-CN" altLang="en-US" sz="900" dirty="0">
                <a:solidFill>
                  <a:srgbClr val="585858"/>
                </a:solidFill>
                <a:latin typeface="微软雅黑" panose="020B0503020204020204" pitchFamily="34" charset="-122"/>
                <a:cs typeface="微软雅黑" panose="020B0503020204020204" pitchFamily="34" charset="-122"/>
              </a:rPr>
              <a:t>，同类基金</a:t>
            </a:r>
            <a:r>
              <a:rPr lang="en-US" altLang="zh-CN" sz="900" dirty="0">
                <a:solidFill>
                  <a:srgbClr val="585858"/>
                </a:solidFill>
                <a:latin typeface="微软雅黑" panose="020B0503020204020204" pitchFamily="34" charset="-122"/>
                <a:cs typeface="微软雅黑" panose="020B0503020204020204" pitchFamily="34" charset="-122"/>
              </a:rPr>
              <a:t>AC</a:t>
            </a:r>
            <a:r>
              <a:rPr lang="zh-CN" altLang="en-US" sz="900" dirty="0">
                <a:solidFill>
                  <a:srgbClr val="585858"/>
                </a:solidFill>
                <a:latin typeface="微软雅黑" panose="020B0503020204020204" pitchFamily="34" charset="-122"/>
                <a:cs typeface="微软雅黑" panose="020B0503020204020204" pitchFamily="34" charset="-122"/>
              </a:rPr>
              <a:t>份额只统计</a:t>
            </a:r>
            <a:r>
              <a:rPr lang="en-US" altLang="zh-CN" sz="900" dirty="0">
                <a:solidFill>
                  <a:srgbClr val="585858"/>
                </a:solidFill>
                <a:latin typeface="微软雅黑" panose="020B0503020204020204" pitchFamily="34" charset="-122"/>
                <a:cs typeface="微软雅黑" panose="020B0503020204020204" pitchFamily="34" charset="-122"/>
              </a:rPr>
              <a:t>A</a:t>
            </a:r>
            <a:r>
              <a:rPr lang="zh-CN" altLang="en-US" sz="900" dirty="0">
                <a:solidFill>
                  <a:srgbClr val="585858"/>
                </a:solidFill>
                <a:latin typeface="微软雅黑" panose="020B0503020204020204" pitchFamily="34" charset="-122"/>
                <a:cs typeface="微软雅黑" panose="020B0503020204020204" pitchFamily="34" charset="-122"/>
              </a:rPr>
              <a:t>类份额</a:t>
            </a:r>
            <a:r>
              <a:rPr sz="900" dirty="0">
                <a:solidFill>
                  <a:srgbClr val="585858"/>
                </a:solidFill>
                <a:latin typeface="微软雅黑" panose="020B0503020204020204" pitchFamily="34" charset="-122"/>
                <a:cs typeface="微软雅黑" panose="020B0503020204020204" pitchFamily="34" charset="-122"/>
              </a:rPr>
              <a:t>。</a:t>
            </a:r>
            <a:endParaRPr sz="900" dirty="0">
              <a:latin typeface="微软雅黑" panose="020B0503020204020204" pitchFamily="34" charset="-122"/>
              <a:cs typeface="微软雅黑" panose="020B0503020204020204" pitchFamily="34" charset="-122"/>
            </a:endParaRPr>
          </a:p>
        </p:txBody>
      </p:sp>
      <p:sp>
        <p:nvSpPr>
          <p:cNvPr id="7" name="object 6"/>
          <p:cNvSpPr txBox="1"/>
          <p:nvPr/>
        </p:nvSpPr>
        <p:spPr>
          <a:xfrm>
            <a:off x="3710940" y="4177013"/>
            <a:ext cx="5280660" cy="196849"/>
          </a:xfrm>
          <a:prstGeom prst="rect">
            <a:avLst/>
          </a:prstGeom>
        </p:spPr>
        <p:txBody>
          <a:bodyPr vert="horz" wrap="square" lIns="0" tIns="12065" rIns="0" bIns="0" rtlCol="0">
            <a:spAutoFit/>
          </a:bodyPr>
          <a:lstStyle/>
          <a:p>
            <a:pPr marL="12700" algn="ctr">
              <a:lnSpc>
                <a:spcPct val="100000"/>
              </a:lnSpc>
              <a:spcBef>
                <a:spcPts val="95"/>
              </a:spcBef>
            </a:pPr>
            <a:r>
              <a:rPr lang="zh-CN" altLang="en-US" sz="1200" b="1" dirty="0">
                <a:latin typeface="+mn-ea"/>
                <a:ea typeface="+mn-ea"/>
                <a:cs typeface="华文细黑" panose="02010600040101010101" charset="-122"/>
              </a:rPr>
              <a:t>表</a:t>
            </a:r>
            <a:r>
              <a:rPr lang="en-US" altLang="zh-CN" sz="1200" b="1" dirty="0">
                <a:latin typeface="+mn-ea"/>
                <a:ea typeface="+mn-ea"/>
                <a:cs typeface="华文细黑" panose="02010600040101010101" charset="-122"/>
              </a:rPr>
              <a:t>2</a:t>
            </a:r>
            <a:r>
              <a:rPr lang="zh-CN" altLang="en-US" sz="1200" b="1" dirty="0">
                <a:latin typeface="+mn-ea"/>
                <a:ea typeface="+mn-ea"/>
                <a:cs typeface="华文细黑" panose="02010600040101010101" charset="-122"/>
              </a:rPr>
              <a:t>：</a:t>
            </a:r>
            <a:r>
              <a:rPr lang="en-US" sz="1200" b="1" dirty="0">
                <a:latin typeface="+mn-ea"/>
                <a:ea typeface="+mn-ea"/>
                <a:cs typeface="华文细黑" panose="02010600040101010101" charset="-122"/>
              </a:rPr>
              <a:t>2015-2024</a:t>
            </a:r>
            <a:r>
              <a:rPr lang="zh-CN" altLang="en-US" sz="1200" b="1" dirty="0">
                <a:latin typeface="+mn-ea"/>
                <a:ea typeface="+mn-ea"/>
                <a:cs typeface="华文细黑" panose="02010600040101010101" charset="-122"/>
              </a:rPr>
              <a:t>年</a:t>
            </a:r>
            <a:r>
              <a:rPr sz="1200" b="1" dirty="0">
                <a:latin typeface="+mn-ea"/>
                <a:ea typeface="+mn-ea"/>
                <a:cs typeface="华文细黑" panose="02010600040101010101" charset="-122"/>
              </a:rPr>
              <a:t>中证</a:t>
            </a:r>
            <a:r>
              <a:rPr sz="1200" b="1" spc="5" dirty="0">
                <a:latin typeface="+mn-ea"/>
                <a:ea typeface="+mn-ea"/>
                <a:cs typeface="华文细黑" panose="02010600040101010101" charset="-122"/>
              </a:rPr>
              <a:t>5</a:t>
            </a:r>
            <a:r>
              <a:rPr sz="1200" b="1" spc="-5" dirty="0">
                <a:latin typeface="+mn-ea"/>
                <a:ea typeface="+mn-ea"/>
                <a:cs typeface="华文细黑" panose="02010600040101010101" charset="-122"/>
              </a:rPr>
              <a:t>0</a:t>
            </a:r>
            <a:r>
              <a:rPr sz="1200" b="1" spc="5" dirty="0">
                <a:latin typeface="+mn-ea"/>
                <a:ea typeface="+mn-ea"/>
                <a:cs typeface="华文细黑" panose="02010600040101010101" charset="-122"/>
              </a:rPr>
              <a:t>0</a:t>
            </a:r>
            <a:r>
              <a:rPr sz="1200" b="1" spc="-10" dirty="0">
                <a:latin typeface="+mn-ea"/>
                <a:ea typeface="+mn-ea"/>
                <a:cs typeface="华文细黑" panose="02010600040101010101" charset="-122"/>
              </a:rPr>
              <a:t>指</a:t>
            </a:r>
            <a:r>
              <a:rPr sz="1200" b="1" dirty="0">
                <a:latin typeface="+mn-ea"/>
                <a:ea typeface="+mn-ea"/>
                <a:cs typeface="华文细黑" panose="02010600040101010101" charset="-122"/>
              </a:rPr>
              <a:t>数</a:t>
            </a:r>
            <a:r>
              <a:rPr lang="zh-CN" altLang="en-US" sz="1200" b="1" dirty="0">
                <a:latin typeface="+mn-ea"/>
                <a:ea typeface="+mn-ea"/>
                <a:cs typeface="华文细黑" panose="02010600040101010101" charset="-122"/>
              </a:rPr>
              <a:t>增强基金历年超额收益表现一览</a:t>
            </a:r>
            <a:endParaRPr sz="1200" dirty="0">
              <a:latin typeface="+mn-ea"/>
              <a:ea typeface="+mn-ea"/>
              <a:cs typeface="华文细黑" panose="02010600040101010101" charset="-122"/>
            </a:endParaRPr>
          </a:p>
        </p:txBody>
      </p:sp>
      <p:sp>
        <p:nvSpPr>
          <p:cNvPr id="10" name="object 6"/>
          <p:cNvSpPr txBox="1"/>
          <p:nvPr/>
        </p:nvSpPr>
        <p:spPr>
          <a:xfrm>
            <a:off x="3710940" y="2420453"/>
            <a:ext cx="5280660" cy="196849"/>
          </a:xfrm>
          <a:prstGeom prst="rect">
            <a:avLst/>
          </a:prstGeom>
        </p:spPr>
        <p:txBody>
          <a:bodyPr vert="horz" wrap="square" lIns="0" tIns="12065" rIns="0" bIns="0" rtlCol="0">
            <a:spAutoFit/>
          </a:bodyPr>
          <a:lstStyle/>
          <a:p>
            <a:pPr marL="12700" algn="ctr">
              <a:lnSpc>
                <a:spcPct val="100000"/>
              </a:lnSpc>
              <a:spcBef>
                <a:spcPts val="95"/>
              </a:spcBef>
            </a:pPr>
            <a:r>
              <a:rPr lang="zh-CN" altLang="en-US" sz="1200" b="1" dirty="0">
                <a:latin typeface="+mn-ea"/>
                <a:ea typeface="+mn-ea"/>
                <a:cs typeface="华文细黑" panose="02010600040101010101" charset="-122"/>
              </a:rPr>
              <a:t>表</a:t>
            </a:r>
            <a:r>
              <a:rPr lang="en-US" altLang="zh-CN" sz="1200" b="1" dirty="0">
                <a:latin typeface="+mn-ea"/>
                <a:ea typeface="+mn-ea"/>
                <a:cs typeface="华文细黑" panose="02010600040101010101" charset="-122"/>
              </a:rPr>
              <a:t>1</a:t>
            </a:r>
            <a:r>
              <a:rPr lang="zh-CN" altLang="en-US" sz="1200" b="1" dirty="0">
                <a:latin typeface="+mn-ea"/>
                <a:ea typeface="+mn-ea"/>
                <a:cs typeface="华文细黑" panose="02010600040101010101" charset="-122"/>
              </a:rPr>
              <a:t>：</a:t>
            </a:r>
            <a:r>
              <a:rPr lang="en-US" sz="1200" b="1" dirty="0">
                <a:latin typeface="+mn-ea"/>
                <a:ea typeface="+mn-ea"/>
                <a:cs typeface="华文细黑" panose="02010600040101010101" charset="-122"/>
              </a:rPr>
              <a:t>2010-2024</a:t>
            </a:r>
            <a:r>
              <a:rPr lang="zh-CN" altLang="en-US" sz="1200" b="1" dirty="0">
                <a:latin typeface="+mn-ea"/>
                <a:ea typeface="+mn-ea"/>
                <a:cs typeface="华文细黑" panose="02010600040101010101" charset="-122"/>
              </a:rPr>
              <a:t>年沪深</a:t>
            </a:r>
            <a:r>
              <a:rPr lang="en-US" altLang="zh-CN" sz="1200" b="1" dirty="0">
                <a:latin typeface="+mn-ea"/>
                <a:ea typeface="+mn-ea"/>
                <a:cs typeface="华文细黑" panose="02010600040101010101" charset="-122"/>
              </a:rPr>
              <a:t>3</a:t>
            </a:r>
            <a:r>
              <a:rPr sz="1200" b="1" spc="-5" dirty="0">
                <a:latin typeface="+mn-ea"/>
                <a:ea typeface="+mn-ea"/>
                <a:cs typeface="华文细黑" panose="02010600040101010101" charset="-122"/>
              </a:rPr>
              <a:t>0</a:t>
            </a:r>
            <a:r>
              <a:rPr sz="1200" b="1" spc="5" dirty="0">
                <a:latin typeface="+mn-ea"/>
                <a:ea typeface="+mn-ea"/>
                <a:cs typeface="华文细黑" panose="02010600040101010101" charset="-122"/>
              </a:rPr>
              <a:t>0</a:t>
            </a:r>
            <a:r>
              <a:rPr sz="1200" b="1" spc="-10" dirty="0">
                <a:latin typeface="+mn-ea"/>
                <a:ea typeface="+mn-ea"/>
                <a:cs typeface="华文细黑" panose="02010600040101010101" charset="-122"/>
              </a:rPr>
              <a:t>指</a:t>
            </a:r>
            <a:r>
              <a:rPr sz="1200" b="1" dirty="0">
                <a:latin typeface="+mn-ea"/>
                <a:ea typeface="+mn-ea"/>
                <a:cs typeface="华文细黑" panose="02010600040101010101" charset="-122"/>
              </a:rPr>
              <a:t>数</a:t>
            </a:r>
            <a:r>
              <a:rPr lang="zh-CN" altLang="en-US" sz="1200" b="1" dirty="0">
                <a:latin typeface="+mn-ea"/>
                <a:ea typeface="+mn-ea"/>
                <a:cs typeface="华文细黑" panose="02010600040101010101" charset="-122"/>
              </a:rPr>
              <a:t>增强基金历年超额收益表现一览</a:t>
            </a:r>
            <a:endParaRPr sz="1200" dirty="0">
              <a:latin typeface="+mn-ea"/>
              <a:ea typeface="+mn-ea"/>
              <a:cs typeface="华文细黑" panose="02010600040101010101" charset="-122"/>
            </a:endParaRPr>
          </a:p>
        </p:txBody>
      </p:sp>
      <p:sp>
        <p:nvSpPr>
          <p:cNvPr id="9" name="矩形 8"/>
          <p:cNvSpPr/>
          <p:nvPr/>
        </p:nvSpPr>
        <p:spPr>
          <a:xfrm>
            <a:off x="4630110" y="6229032"/>
            <a:ext cx="4878092" cy="369332"/>
          </a:xfrm>
          <a:prstGeom prst="rect">
            <a:avLst/>
          </a:prstGeom>
        </p:spPr>
        <p:txBody>
          <a:bodyPr wrap="square">
            <a:spAutoFit/>
          </a:bodyPr>
          <a:lstStyle/>
          <a:p>
            <a:pPr algn="r" fontAlgn="base">
              <a:spcBef>
                <a:spcPct val="0"/>
              </a:spcBef>
              <a:spcAft>
                <a:spcPct val="0"/>
              </a:spcAft>
              <a:defRPr/>
            </a:pPr>
            <a:r>
              <a:rPr lang="zh-CN" altLang="en-US" sz="800" dirty="0">
                <a:solidFill>
                  <a:srgbClr val="000000"/>
                </a:solidFill>
                <a:latin typeface="微软雅黑" panose="020B0503020204020204" pitchFamily="34" charset="-122"/>
                <a:ea typeface="微软雅黑" panose="020B0503020204020204" pitchFamily="34" charset="-122"/>
                <a:sym typeface="+mn-ea"/>
              </a:rPr>
              <a:t>风险提示：历史业绩并不代表未来表现。</a:t>
            </a:r>
            <a:r>
              <a:rPr lang="zh-CN" altLang="en-US" sz="800" dirty="0">
                <a:solidFill>
                  <a:srgbClr val="000000"/>
                </a:solidFill>
                <a:latin typeface="微软雅黑" panose="020B0503020204020204" pitchFamily="34" charset="-122"/>
                <a:ea typeface="微软雅黑" panose="020B0503020204020204" pitchFamily="34" charset="-122"/>
                <a:sym typeface="Helvetica Neue" panose="02000503000000020004"/>
              </a:rPr>
              <a:t>我国股市运作时间较短，不能反映证券市场发展的所有阶段。</a:t>
            </a:r>
          </a:p>
          <a:p>
            <a:pPr algn="just" fontAlgn="base">
              <a:spcBef>
                <a:spcPct val="0"/>
              </a:spcBef>
              <a:defRPr/>
            </a:pPr>
            <a:endParaRPr lang="zh-CN" altLang="zh-CN" sz="1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Helvetica Neue" panose="02000503000000020004"/>
            </a:endParaRPr>
          </a:p>
        </p:txBody>
      </p:sp>
      <p:graphicFrame>
        <p:nvGraphicFramePr>
          <p:cNvPr id="5" name="表格 4"/>
          <p:cNvGraphicFramePr>
            <a:graphicFrameLocks noGrp="1"/>
          </p:cNvGraphicFramePr>
          <p:nvPr/>
        </p:nvGraphicFramePr>
        <p:xfrm>
          <a:off x="681024" y="2689734"/>
          <a:ext cx="10988117" cy="1332313"/>
        </p:xfrm>
        <a:graphic>
          <a:graphicData uri="http://schemas.openxmlformats.org/drawingml/2006/table">
            <a:tbl>
              <a:tblPr/>
              <a:tblGrid>
                <a:gridCol w="1478035">
                  <a:extLst>
                    <a:ext uri="{9D8B030D-6E8A-4147-A177-3AD203B41FA5}">
                      <a16:colId xmlns:a16="http://schemas.microsoft.com/office/drawing/2014/main" xmlns="" val="20000"/>
                    </a:ext>
                  </a:extLst>
                </a:gridCol>
                <a:gridCol w="518827">
                  <a:extLst>
                    <a:ext uri="{9D8B030D-6E8A-4147-A177-3AD203B41FA5}">
                      <a16:colId xmlns:a16="http://schemas.microsoft.com/office/drawing/2014/main" xmlns="" val="20001"/>
                    </a:ext>
                  </a:extLst>
                </a:gridCol>
                <a:gridCol w="606490">
                  <a:extLst>
                    <a:ext uri="{9D8B030D-6E8A-4147-A177-3AD203B41FA5}">
                      <a16:colId xmlns:a16="http://schemas.microsoft.com/office/drawing/2014/main" xmlns="" val="20002"/>
                    </a:ext>
                  </a:extLst>
                </a:gridCol>
                <a:gridCol w="569167">
                  <a:extLst>
                    <a:ext uri="{9D8B030D-6E8A-4147-A177-3AD203B41FA5}">
                      <a16:colId xmlns:a16="http://schemas.microsoft.com/office/drawing/2014/main" xmlns="" val="20003"/>
                    </a:ext>
                  </a:extLst>
                </a:gridCol>
                <a:gridCol w="576238">
                  <a:extLst>
                    <a:ext uri="{9D8B030D-6E8A-4147-A177-3AD203B41FA5}">
                      <a16:colId xmlns:a16="http://schemas.microsoft.com/office/drawing/2014/main" xmlns="" val="20004"/>
                    </a:ext>
                  </a:extLst>
                </a:gridCol>
                <a:gridCol w="597668">
                  <a:extLst>
                    <a:ext uri="{9D8B030D-6E8A-4147-A177-3AD203B41FA5}">
                      <a16:colId xmlns:a16="http://schemas.microsoft.com/office/drawing/2014/main" xmlns="" val="20005"/>
                    </a:ext>
                  </a:extLst>
                </a:gridCol>
                <a:gridCol w="597668">
                  <a:extLst>
                    <a:ext uri="{9D8B030D-6E8A-4147-A177-3AD203B41FA5}">
                      <a16:colId xmlns:a16="http://schemas.microsoft.com/office/drawing/2014/main" xmlns="" val="20006"/>
                    </a:ext>
                  </a:extLst>
                </a:gridCol>
                <a:gridCol w="597668">
                  <a:extLst>
                    <a:ext uri="{9D8B030D-6E8A-4147-A177-3AD203B41FA5}">
                      <a16:colId xmlns:a16="http://schemas.microsoft.com/office/drawing/2014/main" xmlns="" val="20007"/>
                    </a:ext>
                  </a:extLst>
                </a:gridCol>
                <a:gridCol w="597668">
                  <a:extLst>
                    <a:ext uri="{9D8B030D-6E8A-4147-A177-3AD203B41FA5}">
                      <a16:colId xmlns:a16="http://schemas.microsoft.com/office/drawing/2014/main" xmlns="" val="20008"/>
                    </a:ext>
                  </a:extLst>
                </a:gridCol>
                <a:gridCol w="597668">
                  <a:extLst>
                    <a:ext uri="{9D8B030D-6E8A-4147-A177-3AD203B41FA5}">
                      <a16:colId xmlns:a16="http://schemas.microsoft.com/office/drawing/2014/main" xmlns="" val="20009"/>
                    </a:ext>
                  </a:extLst>
                </a:gridCol>
                <a:gridCol w="597668">
                  <a:extLst>
                    <a:ext uri="{9D8B030D-6E8A-4147-A177-3AD203B41FA5}">
                      <a16:colId xmlns:a16="http://schemas.microsoft.com/office/drawing/2014/main" xmlns="" val="20010"/>
                    </a:ext>
                  </a:extLst>
                </a:gridCol>
                <a:gridCol w="597668">
                  <a:extLst>
                    <a:ext uri="{9D8B030D-6E8A-4147-A177-3AD203B41FA5}">
                      <a16:colId xmlns:a16="http://schemas.microsoft.com/office/drawing/2014/main" xmlns="" val="20011"/>
                    </a:ext>
                  </a:extLst>
                </a:gridCol>
                <a:gridCol w="597668">
                  <a:extLst>
                    <a:ext uri="{9D8B030D-6E8A-4147-A177-3AD203B41FA5}">
                      <a16:colId xmlns:a16="http://schemas.microsoft.com/office/drawing/2014/main" xmlns="" val="20012"/>
                    </a:ext>
                  </a:extLst>
                </a:gridCol>
                <a:gridCol w="597668">
                  <a:extLst>
                    <a:ext uri="{9D8B030D-6E8A-4147-A177-3AD203B41FA5}">
                      <a16:colId xmlns:a16="http://schemas.microsoft.com/office/drawing/2014/main" xmlns="" val="20013"/>
                    </a:ext>
                  </a:extLst>
                </a:gridCol>
                <a:gridCol w="665012">
                  <a:extLst>
                    <a:ext uri="{9D8B030D-6E8A-4147-A177-3AD203B41FA5}">
                      <a16:colId xmlns:a16="http://schemas.microsoft.com/office/drawing/2014/main" xmlns="" val="20014"/>
                    </a:ext>
                  </a:extLst>
                </a:gridCol>
                <a:gridCol w="597668">
                  <a:extLst>
                    <a:ext uri="{9D8B030D-6E8A-4147-A177-3AD203B41FA5}">
                      <a16:colId xmlns:a16="http://schemas.microsoft.com/office/drawing/2014/main" xmlns="" val="20015"/>
                    </a:ext>
                  </a:extLst>
                </a:gridCol>
                <a:gridCol w="597668">
                  <a:extLst>
                    <a:ext uri="{9D8B030D-6E8A-4147-A177-3AD203B41FA5}">
                      <a16:colId xmlns:a16="http://schemas.microsoft.com/office/drawing/2014/main" xmlns="" val="20016"/>
                    </a:ext>
                  </a:extLst>
                </a:gridCol>
              </a:tblGrid>
              <a:tr h="355081">
                <a:tc>
                  <a:txBody>
                    <a:bodyPr/>
                    <a:lstStyle/>
                    <a:p>
                      <a:pPr algn="ctr" fontAlgn="ctr"/>
                      <a: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t>　</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2010</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2011</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2012</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2013</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2014</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2015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2016</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2017</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2018</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2019</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2020</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2021</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2022</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2023</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2024</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t>合计</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extLst>
                  <a:ext uri="{0D108BD9-81ED-4DB2-BD59-A6C34878D82A}">
                    <a16:rowId xmlns:a16="http://schemas.microsoft.com/office/drawing/2014/main" xmlns="" val="10000"/>
                  </a:ext>
                </a:extLst>
              </a:tr>
              <a:tr h="344539">
                <a:tc>
                  <a:txBody>
                    <a:bodyPr/>
                    <a:lstStyle/>
                    <a:p>
                      <a:pPr algn="ctr" fontAlgn="ctr"/>
                      <a: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t>沪深</a:t>
                      </a: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300</a:t>
                      </a:r>
                      <a: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t>增强基金</a:t>
                      </a:r>
                      <a:b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br>
                      <a: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t>平均收益率</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-7.15%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-18.77%</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7.82%</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-2.62%</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53.25%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15.67%</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-4.15%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23.10%</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-20.55%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38.24%</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41.47%</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-0.45%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-19.32%</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-9.86%</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15.23%</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111.91%</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336380">
                <a:tc>
                  <a:txBody>
                    <a:bodyPr/>
                    <a:lstStyle/>
                    <a:p>
                      <a:pPr algn="ctr" fontAlgn="ctr"/>
                      <a: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t>沪深</a:t>
                      </a:r>
                      <a:r>
                        <a:rPr lang="en-US" altLang="zh-CN" sz="1100" b="0" i="0" u="none" strike="noStrike" dirty="0">
                          <a:solidFill>
                            <a:srgbClr val="FFFFFF"/>
                          </a:solidFill>
                          <a:effectLst/>
                          <a:latin typeface="微软雅黑" panose="020B0503020204020204" pitchFamily="34" charset="-122"/>
                          <a:ea typeface="微软雅黑" panose="020B0503020204020204" pitchFamily="34" charset="-122"/>
                        </a:rPr>
                        <a:t>300</a:t>
                      </a:r>
                      <a: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t>指数</a:t>
                      </a:r>
                      <a:b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br>
                      <a: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t>收益率</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-12.51%</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-25.01%</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7.55%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-7.65%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51.66%</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5.58%</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-11.28%</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21.78%</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-25.31%</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36.07%</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27.21%</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-5.20%</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-21.63%</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-11.38%</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14.68%</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44.56%</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0002"/>
                  </a:ext>
                </a:extLst>
              </a:tr>
              <a:tr h="289324">
                <a:tc>
                  <a:txBody>
                    <a:bodyPr/>
                    <a:lstStyle/>
                    <a:p>
                      <a:pPr algn="ctr" fontAlgn="ctr"/>
                      <a: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t>超额收益率</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5.36%</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5.71%</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1.48%</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2.51%</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1.59%</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7.42%</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7.10%</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3.79%</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3.18%</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2.17%</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14.26%</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4.75%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2.31%</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1.52%</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0.55%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67.35%</a:t>
                      </a:r>
                    </a:p>
                  </a:txBody>
                  <a:tcPr marL="8089" marR="8089" marT="80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graphicFrame>
        <p:nvGraphicFramePr>
          <p:cNvPr id="6" name="表格 5"/>
          <p:cNvGraphicFramePr>
            <a:graphicFrameLocks noGrp="1"/>
          </p:cNvGraphicFramePr>
          <p:nvPr/>
        </p:nvGraphicFramePr>
        <p:xfrm>
          <a:off x="681024" y="4446294"/>
          <a:ext cx="10988120" cy="1296117"/>
        </p:xfrm>
        <a:graphic>
          <a:graphicData uri="http://schemas.openxmlformats.org/drawingml/2006/table">
            <a:tbl>
              <a:tblPr/>
              <a:tblGrid>
                <a:gridCol w="1418364">
                  <a:extLst>
                    <a:ext uri="{9D8B030D-6E8A-4147-A177-3AD203B41FA5}">
                      <a16:colId xmlns:a16="http://schemas.microsoft.com/office/drawing/2014/main" xmlns="" val="20000"/>
                    </a:ext>
                  </a:extLst>
                </a:gridCol>
                <a:gridCol w="1145278">
                  <a:extLst>
                    <a:ext uri="{9D8B030D-6E8A-4147-A177-3AD203B41FA5}">
                      <a16:colId xmlns:a16="http://schemas.microsoft.com/office/drawing/2014/main" xmlns="" val="20001"/>
                    </a:ext>
                  </a:extLst>
                </a:gridCol>
                <a:gridCol w="896141">
                  <a:extLst>
                    <a:ext uri="{9D8B030D-6E8A-4147-A177-3AD203B41FA5}">
                      <a16:colId xmlns:a16="http://schemas.microsoft.com/office/drawing/2014/main" xmlns="" val="20002"/>
                    </a:ext>
                  </a:extLst>
                </a:gridCol>
                <a:gridCol w="805392">
                  <a:extLst>
                    <a:ext uri="{9D8B030D-6E8A-4147-A177-3AD203B41FA5}">
                      <a16:colId xmlns:a16="http://schemas.microsoft.com/office/drawing/2014/main" xmlns="" val="20003"/>
                    </a:ext>
                  </a:extLst>
                </a:gridCol>
                <a:gridCol w="896141">
                  <a:extLst>
                    <a:ext uri="{9D8B030D-6E8A-4147-A177-3AD203B41FA5}">
                      <a16:colId xmlns:a16="http://schemas.microsoft.com/office/drawing/2014/main" xmlns="" val="20004"/>
                    </a:ext>
                  </a:extLst>
                </a:gridCol>
                <a:gridCol w="805392">
                  <a:extLst>
                    <a:ext uri="{9D8B030D-6E8A-4147-A177-3AD203B41FA5}">
                      <a16:colId xmlns:a16="http://schemas.microsoft.com/office/drawing/2014/main" xmlns="" val="20005"/>
                    </a:ext>
                  </a:extLst>
                </a:gridCol>
                <a:gridCol w="892360">
                  <a:extLst>
                    <a:ext uri="{9D8B030D-6E8A-4147-A177-3AD203B41FA5}">
                      <a16:colId xmlns:a16="http://schemas.microsoft.com/office/drawing/2014/main" xmlns="" val="20006"/>
                    </a:ext>
                  </a:extLst>
                </a:gridCol>
                <a:gridCol w="805392">
                  <a:extLst>
                    <a:ext uri="{9D8B030D-6E8A-4147-A177-3AD203B41FA5}">
                      <a16:colId xmlns:a16="http://schemas.microsoft.com/office/drawing/2014/main" xmlns="" val="20007"/>
                    </a:ext>
                  </a:extLst>
                </a:gridCol>
                <a:gridCol w="907484">
                  <a:extLst>
                    <a:ext uri="{9D8B030D-6E8A-4147-A177-3AD203B41FA5}">
                      <a16:colId xmlns:a16="http://schemas.microsoft.com/office/drawing/2014/main" xmlns="" val="20008"/>
                    </a:ext>
                  </a:extLst>
                </a:gridCol>
                <a:gridCol w="805392">
                  <a:extLst>
                    <a:ext uri="{9D8B030D-6E8A-4147-A177-3AD203B41FA5}">
                      <a16:colId xmlns:a16="http://schemas.microsoft.com/office/drawing/2014/main" xmlns="" val="20009"/>
                    </a:ext>
                  </a:extLst>
                </a:gridCol>
                <a:gridCol w="805392">
                  <a:extLst>
                    <a:ext uri="{9D8B030D-6E8A-4147-A177-3AD203B41FA5}">
                      <a16:colId xmlns:a16="http://schemas.microsoft.com/office/drawing/2014/main" xmlns="" val="20010"/>
                    </a:ext>
                  </a:extLst>
                </a:gridCol>
                <a:gridCol w="805392">
                  <a:extLst>
                    <a:ext uri="{9D8B030D-6E8A-4147-A177-3AD203B41FA5}">
                      <a16:colId xmlns:a16="http://schemas.microsoft.com/office/drawing/2014/main" xmlns="" val="20011"/>
                    </a:ext>
                  </a:extLst>
                </a:gridCol>
              </a:tblGrid>
              <a:tr h="265666">
                <a:tc>
                  <a:txBody>
                    <a:bodyPr/>
                    <a:lstStyle/>
                    <a:p>
                      <a:pPr algn="l" fontAlgn="b"/>
                      <a:r>
                        <a:rPr lang="zh-CN" altLang="en-US" sz="1100" b="0" i="0" u="none" strike="noStrike" dirty="0">
                          <a:solidFill>
                            <a:srgbClr val="FFFFFF"/>
                          </a:solidFill>
                          <a:effectLst/>
                          <a:latin typeface="微软雅黑" panose="020B0503020204020204" pitchFamily="34" charset="-122"/>
                          <a:ea typeface="微软雅黑" panose="020B0503020204020204" pitchFamily="34" charset="-122"/>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FFFFFF"/>
                          </a:solidFill>
                          <a:effectLst/>
                          <a:latin typeface="微软雅黑" panose="020B0503020204020204" pitchFamily="34" charset="-122"/>
                          <a:ea typeface="微软雅黑" panose="020B0503020204020204" pitchFamily="34" charset="-122"/>
                        </a:rPr>
                        <a:t>2015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FFFFFF"/>
                          </a:solidFill>
                          <a:effectLst/>
                          <a:latin typeface="微软雅黑" panose="020B0503020204020204" pitchFamily="34" charset="-122"/>
                          <a:ea typeface="微软雅黑" panose="020B0503020204020204" pitchFamily="34" charset="-122"/>
                        </a:rPr>
                        <a:t>2016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FFFFFF"/>
                          </a:solidFill>
                          <a:effectLst/>
                          <a:latin typeface="微软雅黑" panose="020B0503020204020204" pitchFamily="34" charset="-122"/>
                          <a:ea typeface="微软雅黑" panose="020B0503020204020204" pitchFamily="34" charset="-122"/>
                        </a:rPr>
                        <a:t>2017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FFFFFF"/>
                          </a:solidFill>
                          <a:effectLst/>
                          <a:latin typeface="微软雅黑" panose="020B0503020204020204" pitchFamily="34" charset="-122"/>
                          <a:ea typeface="微软雅黑" panose="020B0503020204020204" pitchFamily="34" charset="-122"/>
                        </a:rPr>
                        <a:t>2018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FFFFFF"/>
                          </a:solidFill>
                          <a:effectLst/>
                          <a:latin typeface="微软雅黑" panose="020B0503020204020204" pitchFamily="34" charset="-122"/>
                          <a:ea typeface="微软雅黑" panose="020B0503020204020204" pitchFamily="34" charset="-122"/>
                        </a:rPr>
                        <a:t>2019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FFFFFF"/>
                          </a:solidFill>
                          <a:effectLst/>
                          <a:latin typeface="微软雅黑" panose="020B0503020204020204" pitchFamily="34" charset="-122"/>
                          <a:ea typeface="微软雅黑" panose="020B0503020204020204" pitchFamily="34" charset="-122"/>
                        </a:rPr>
                        <a:t>2020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FFFFFF"/>
                          </a:solidFill>
                          <a:effectLst/>
                          <a:latin typeface="微软雅黑" panose="020B0503020204020204" pitchFamily="34" charset="-122"/>
                          <a:ea typeface="微软雅黑" panose="020B0503020204020204" pitchFamily="34" charset="-122"/>
                        </a:rPr>
                        <a:t>2021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FFFFFF"/>
                          </a:solidFill>
                          <a:effectLst/>
                          <a:latin typeface="微软雅黑" panose="020B0503020204020204" pitchFamily="34" charset="-122"/>
                          <a:ea typeface="微软雅黑" panose="020B0503020204020204" pitchFamily="34" charset="-122"/>
                        </a:rPr>
                        <a:t>2022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FFFFFF"/>
                          </a:solidFill>
                          <a:effectLst/>
                          <a:latin typeface="微软雅黑" panose="020B0503020204020204" pitchFamily="34" charset="-122"/>
                          <a:ea typeface="微软雅黑" panose="020B0503020204020204" pitchFamily="34" charset="-122"/>
                        </a:rPr>
                        <a:t>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FFFFFF"/>
                          </a:solidFill>
                          <a:effectLst/>
                          <a:latin typeface="微软雅黑" panose="020B0503020204020204" pitchFamily="34" charset="-122"/>
                          <a:ea typeface="微软雅黑" panose="020B0503020204020204" pitchFamily="34" charset="-122"/>
                        </a:rPr>
                        <a:t>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合计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366C"/>
                    </a:solidFill>
                  </a:tcPr>
                </a:tc>
                <a:extLst>
                  <a:ext uri="{0D108BD9-81ED-4DB2-BD59-A6C34878D82A}">
                    <a16:rowId xmlns:a16="http://schemas.microsoft.com/office/drawing/2014/main" xmlns="" val="10000"/>
                  </a:ext>
                </a:extLst>
              </a:tr>
              <a:tr h="279919">
                <a:tc>
                  <a:txBody>
                    <a:bodyPr/>
                    <a:lstStyle/>
                    <a:p>
                      <a:pPr algn="ctr" fontAlgn="ctr"/>
                      <a:r>
                        <a:rPr lang="zh-CN" altLang="en-US" sz="1100" b="0" i="0" u="none" strike="noStrike" dirty="0">
                          <a:solidFill>
                            <a:schemeClr val="bg1"/>
                          </a:solidFill>
                          <a:effectLst/>
                          <a:latin typeface="微软雅黑" panose="020B0503020204020204" pitchFamily="34" charset="-122"/>
                          <a:ea typeface="微软雅黑" panose="020B0503020204020204" pitchFamily="34" charset="-122"/>
                        </a:rPr>
                        <a:t>中证</a:t>
                      </a:r>
                      <a:r>
                        <a:rPr lang="en-US" altLang="zh-CN" sz="1100" b="0" i="0" u="none" strike="noStrike" dirty="0">
                          <a:solidFill>
                            <a:schemeClr val="bg1"/>
                          </a:solidFill>
                          <a:effectLst/>
                          <a:latin typeface="微软雅黑" panose="020B0503020204020204" pitchFamily="34" charset="-122"/>
                          <a:ea typeface="微软雅黑" panose="020B0503020204020204" pitchFamily="34" charset="-122"/>
                        </a:rPr>
                        <a:t>500</a:t>
                      </a:r>
                      <a:r>
                        <a:rPr lang="zh-CN" altLang="en-US" sz="1100" b="0" i="0" u="none" strike="noStrike" dirty="0">
                          <a:solidFill>
                            <a:schemeClr val="bg1"/>
                          </a:solidFill>
                          <a:effectLst/>
                          <a:latin typeface="微软雅黑" panose="020B0503020204020204" pitchFamily="34" charset="-122"/>
                          <a:ea typeface="微软雅黑" panose="020B0503020204020204" pitchFamily="34" charset="-122"/>
                        </a:rPr>
                        <a:t>指数增强基金</a:t>
                      </a:r>
                      <a:br>
                        <a:rPr lang="zh-CN" altLang="en-US" sz="1100" b="0" i="0" u="none" strike="noStrike" dirty="0">
                          <a:solidFill>
                            <a:schemeClr val="bg1"/>
                          </a:solidFill>
                          <a:effectLst/>
                          <a:latin typeface="微软雅黑" panose="020B0503020204020204" pitchFamily="34" charset="-122"/>
                          <a:ea typeface="微软雅黑" panose="020B0503020204020204" pitchFamily="34" charset="-122"/>
                        </a:rPr>
                      </a:br>
                      <a:r>
                        <a:rPr lang="zh-CN" altLang="en-US" sz="1100" b="0" i="0" u="none" strike="noStrike" dirty="0">
                          <a:solidFill>
                            <a:schemeClr val="bg1"/>
                          </a:solidFill>
                          <a:effectLst/>
                          <a:latin typeface="微软雅黑" panose="020B0503020204020204" pitchFamily="34" charset="-122"/>
                          <a:ea typeface="微软雅黑" panose="020B0503020204020204" pitchFamily="34" charset="-122"/>
                        </a:rPr>
                        <a:t>平均收益率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43.20%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-9.49%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-27.15%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32.87%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35.08%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18.73%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-17.24%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-5.32%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7.37%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84.02%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326999">
                <a:tc>
                  <a:txBody>
                    <a:bodyPr/>
                    <a:lstStyle/>
                    <a:p>
                      <a:pPr algn="ctr" fontAlgn="ctr"/>
                      <a:r>
                        <a:rPr lang="zh-CN" altLang="en-US" sz="1100" b="0" i="0" u="none" strike="noStrike" dirty="0">
                          <a:solidFill>
                            <a:schemeClr val="bg1"/>
                          </a:solidFill>
                          <a:effectLst/>
                          <a:latin typeface="微软雅黑" panose="020B0503020204020204" pitchFamily="34" charset="-122"/>
                          <a:ea typeface="微软雅黑" panose="020B0503020204020204" pitchFamily="34" charset="-122"/>
                        </a:rPr>
                        <a:t>中证</a:t>
                      </a:r>
                      <a:r>
                        <a:rPr lang="en-US" altLang="zh-CN" sz="1100" b="0" i="0" u="none" strike="noStrike" dirty="0">
                          <a:solidFill>
                            <a:schemeClr val="bg1"/>
                          </a:solidFill>
                          <a:effectLst/>
                          <a:latin typeface="微软雅黑" panose="020B0503020204020204" pitchFamily="34" charset="-122"/>
                          <a:ea typeface="微软雅黑" panose="020B0503020204020204" pitchFamily="34" charset="-122"/>
                        </a:rPr>
                        <a:t>500</a:t>
                      </a:r>
                      <a:r>
                        <a:rPr lang="zh-CN" altLang="en-US" sz="1100" b="0" i="0" u="none" strike="noStrike" dirty="0">
                          <a:solidFill>
                            <a:schemeClr val="bg1"/>
                          </a:solidFill>
                          <a:effectLst/>
                          <a:latin typeface="微软雅黑" panose="020B0503020204020204" pitchFamily="34" charset="-122"/>
                          <a:ea typeface="微软雅黑" panose="020B0503020204020204" pitchFamily="34" charset="-122"/>
                        </a:rPr>
                        <a:t>指数</a:t>
                      </a:r>
                      <a:br>
                        <a:rPr lang="zh-CN" altLang="en-US" sz="1100" b="0" i="0" u="none" strike="noStrike" dirty="0">
                          <a:solidFill>
                            <a:schemeClr val="bg1"/>
                          </a:solidFill>
                          <a:effectLst/>
                          <a:latin typeface="微软雅黑" panose="020B0503020204020204" pitchFamily="34" charset="-122"/>
                          <a:ea typeface="微软雅黑" panose="020B0503020204020204" pitchFamily="34" charset="-122"/>
                        </a:rPr>
                      </a:br>
                      <a:r>
                        <a:rPr lang="zh-CN" altLang="en-US" sz="1100" b="0" i="0" u="none" strike="noStrike" dirty="0">
                          <a:solidFill>
                            <a:schemeClr val="bg1"/>
                          </a:solidFill>
                          <a:effectLst/>
                          <a:latin typeface="微软雅黑" panose="020B0503020204020204" pitchFamily="34" charset="-122"/>
                          <a:ea typeface="微软雅黑" panose="020B0503020204020204" pitchFamily="34" charset="-122"/>
                        </a:rPr>
                        <a:t>收益率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43.12%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-17.78%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-33.32%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26.38%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20.87%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15.58%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-20.31%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-7.42%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5.46%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32.38%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0002"/>
                  </a:ext>
                </a:extLst>
              </a:tr>
              <a:tr h="340841">
                <a:tc>
                  <a:txBody>
                    <a:bodyPr/>
                    <a:lstStyle/>
                    <a:p>
                      <a:pPr algn="ctr" fontAlgn="ct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超额收益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66C"/>
                    </a:solidFill>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8.29%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6.17%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6.17%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6.49%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14.21%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3.07%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1.91%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EA5838"/>
                          </a:solidFill>
                          <a:effectLst/>
                          <a:latin typeface="微软雅黑" panose="020B0503020204020204" pitchFamily="34" charset="-122"/>
                          <a:ea typeface="微软雅黑" panose="020B0503020204020204" pitchFamily="34" charset="-122"/>
                        </a:rPr>
                        <a:t>51.64%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8" name="灯片编号占位符 7"/>
          <p:cNvSpPr>
            <a:spLocks noGrp="1"/>
          </p:cNvSpPr>
          <p:nvPr>
            <p:ph type="sldNum" sz="quarter" idx="11"/>
          </p:nvPr>
        </p:nvSpPr>
        <p:spPr/>
        <p:txBody>
          <a:bodyPr/>
          <a:lstStyle/>
          <a:p>
            <a:pPr>
              <a:defRPr/>
            </a:pPr>
            <a:fld id="{6E91549D-98B7-4077-996F-05BE1B29F039}" type="slidenum">
              <a:rPr lang="zh-CN" altLang="en-US" smtClean="0"/>
              <a:t>15</a:t>
            </a:fld>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30" name="标题 2"/>
          <p:cNvSpPr>
            <a:spLocks noGrp="1"/>
          </p:cNvSpPr>
          <p:nvPr>
            <p:ph type="title"/>
          </p:nvPr>
        </p:nvSpPr>
        <p:spPr>
          <a:xfrm>
            <a:off x="617134" y="252381"/>
            <a:ext cx="10515600" cy="448994"/>
          </a:xfrm>
        </p:spPr>
        <p:txBody>
          <a:bodyPr rtlCol="0">
            <a:noAutofit/>
          </a:bodyPr>
          <a:lstStyle/>
          <a:p>
            <a:pPr fontAlgn="auto">
              <a:spcAft>
                <a:spcPts val="0"/>
              </a:spcAft>
              <a:defRPr/>
            </a:pPr>
            <a:r>
              <a:rPr lang="zh-CN" altLang="en-US" dirty="0">
                <a:solidFill>
                  <a:srgbClr val="203864"/>
                </a:solidFill>
              </a:rPr>
              <a:t>博道指数</a:t>
            </a:r>
            <a:r>
              <a:rPr lang="en-US" altLang="zh-CN" dirty="0">
                <a:solidFill>
                  <a:srgbClr val="203864"/>
                </a:solidFill>
              </a:rPr>
              <a:t>+</a:t>
            </a:r>
            <a:r>
              <a:rPr lang="zh-CN" altLang="en-US" dirty="0">
                <a:solidFill>
                  <a:srgbClr val="203864"/>
                </a:solidFill>
              </a:rPr>
              <a:t>实盘业绩：可持续的“超”能力</a:t>
            </a:r>
          </a:p>
        </p:txBody>
      </p:sp>
      <p:sp>
        <p:nvSpPr>
          <p:cNvPr id="1048731" name="副标题 1"/>
          <p:cNvSpPr>
            <a:spLocks noGrp="1"/>
          </p:cNvSpPr>
          <p:nvPr>
            <p:ph type="subTitle" idx="1"/>
          </p:nvPr>
        </p:nvSpPr>
        <p:spPr/>
        <p:txBody>
          <a:bodyPr rtlCol="0">
            <a:noAutofit/>
          </a:bodyPr>
          <a:lstStyle/>
          <a:p>
            <a:pPr>
              <a:lnSpc>
                <a:spcPct val="130000"/>
              </a:lnSpc>
              <a:spcBef>
                <a:spcPts val="0"/>
              </a:spcBef>
              <a:buClr>
                <a:srgbClr val="002060"/>
              </a:buClr>
              <a:defRPr/>
            </a:pPr>
            <a:r>
              <a:rPr lang="zh-CN" altLang="en-US" sz="1800" dirty="0"/>
              <a:t>目前</a:t>
            </a:r>
            <a:r>
              <a:rPr lang="zh-CN" altLang="en-US" sz="1800" b="1" dirty="0">
                <a:solidFill>
                  <a:srgbClr val="EA5838"/>
                </a:solidFill>
              </a:rPr>
              <a:t>博道指数</a:t>
            </a:r>
            <a:r>
              <a:rPr lang="en-US" altLang="zh-CN" sz="1800" b="1" dirty="0">
                <a:solidFill>
                  <a:srgbClr val="EA5838"/>
                </a:solidFill>
              </a:rPr>
              <a:t>+</a:t>
            </a:r>
            <a:r>
              <a:rPr lang="zh-CN" altLang="en-US" sz="1800" dirty="0"/>
              <a:t>已建立比较完善的涵盖主流宽基指数的量化增强产品线，成立满</a:t>
            </a:r>
            <a:r>
              <a:rPr lang="en-US" altLang="zh-CN" sz="1800" dirty="0"/>
              <a:t>5</a:t>
            </a:r>
            <a:r>
              <a:rPr lang="zh-CN" altLang="en-US" sz="1800" dirty="0"/>
              <a:t>年的产品取得了比较有竞争力的超额收益，平均年化超额收益率近</a:t>
            </a:r>
            <a:r>
              <a:rPr lang="en-US" altLang="zh-CN" sz="1800" b="1" dirty="0">
                <a:solidFill>
                  <a:srgbClr val="EA5838"/>
                </a:solidFill>
              </a:rPr>
              <a:t>10%</a:t>
            </a:r>
            <a:r>
              <a:rPr lang="zh-CN" altLang="en-US" sz="1800" dirty="0"/>
              <a:t>。</a:t>
            </a:r>
            <a:endParaRPr lang="en-US" altLang="zh-CN" sz="1800" dirty="0"/>
          </a:p>
        </p:txBody>
      </p:sp>
      <p:sp>
        <p:nvSpPr>
          <p:cNvPr id="2" name="灯片编号占位符 1"/>
          <p:cNvSpPr>
            <a:spLocks noGrp="1"/>
          </p:cNvSpPr>
          <p:nvPr>
            <p:ph type="sldNum" sz="quarter" idx="11"/>
          </p:nvPr>
        </p:nvSpPr>
        <p:spPr/>
        <p:txBody>
          <a:bodyPr/>
          <a:lstStyle/>
          <a:p>
            <a:pPr>
              <a:defRPr/>
            </a:pPr>
            <a:fld id="{49FB53F7-37AE-4152-A115-BFA7398457ED}" type="slidenum">
              <a:rPr lang="zh-CN" altLang="en-US" smtClean="0">
                <a:solidFill>
                  <a:srgbClr val="00366C"/>
                </a:solidFill>
              </a:rPr>
              <a:t>16</a:t>
            </a:fld>
            <a:endParaRPr lang="zh-CN" altLang="en-US" dirty="0">
              <a:solidFill>
                <a:srgbClr val="00366C"/>
              </a:solidFill>
            </a:endParaRPr>
          </a:p>
        </p:txBody>
      </p:sp>
      <p:sp>
        <p:nvSpPr>
          <p:cNvPr id="1048732" name="矩形 9"/>
          <p:cNvSpPr/>
          <p:nvPr/>
        </p:nvSpPr>
        <p:spPr>
          <a:xfrm>
            <a:off x="3909449" y="6218456"/>
            <a:ext cx="5838049" cy="338554"/>
          </a:xfrm>
          <a:prstGeom prst="rect">
            <a:avLst/>
          </a:prstGeom>
        </p:spPr>
        <p:txBody>
          <a:bodyPr wrap="square">
            <a:spAutoFit/>
          </a:bodyPr>
          <a:lstStyle/>
          <a:p>
            <a:pPr algn="r" defTabSz="914400" eaLnBrk="1" hangingPunct="1">
              <a:defRPr/>
            </a:pPr>
            <a:r>
              <a:rPr lang="zh-CN" altLang="en-US" sz="800" dirty="0">
                <a:solidFill>
                  <a:prstClr val="black"/>
                </a:solidFill>
                <a:sym typeface="+mn-ea"/>
              </a:rPr>
              <a:t>风险提示：基金的过往业绩并不预示其未来表现，基金管理人管理的其他基金的业绩并不构成基金业绩表现的保证。</a:t>
            </a:r>
            <a:endParaRPr lang="en-US" altLang="zh-CN" sz="800" dirty="0">
              <a:solidFill>
                <a:prstClr val="black"/>
              </a:solidFill>
              <a:sym typeface="+mn-ea"/>
            </a:endParaRPr>
          </a:p>
          <a:p>
            <a:pPr algn="r" defTabSz="914400" eaLnBrk="1" hangingPunct="1">
              <a:defRPr/>
            </a:pPr>
            <a:r>
              <a:rPr lang="zh-CN" altLang="en-US" sz="800" dirty="0">
                <a:solidFill>
                  <a:srgbClr val="000000"/>
                </a:solidFill>
                <a:sym typeface="Helvetica Neue" panose="02000503000000020004"/>
              </a:rPr>
              <a:t>我国股市运作时间较短，不能反映证券市场发展的所有阶段。</a:t>
            </a:r>
            <a:endParaRPr lang="zh-CN" altLang="zh-CN" sz="800" kern="100" dirty="0">
              <a:solidFill>
                <a:srgbClr val="000000"/>
              </a:solidFill>
              <a:cs typeface="Times New Roman" panose="02020603050405020304" pitchFamily="18" charset="0"/>
              <a:sym typeface="Helvetica Neue" panose="02000503000000020004"/>
            </a:endParaRPr>
          </a:p>
        </p:txBody>
      </p:sp>
      <p:sp>
        <p:nvSpPr>
          <p:cNvPr id="4" name="矩形 3"/>
          <p:cNvSpPr/>
          <p:nvPr/>
        </p:nvSpPr>
        <p:spPr>
          <a:xfrm>
            <a:off x="2236354" y="5951917"/>
            <a:ext cx="7010402" cy="215900"/>
          </a:xfrm>
          <a:prstGeom prst="rect">
            <a:avLst/>
          </a:prstGeom>
        </p:spPr>
        <p:txBody>
          <a:bodyPr wrap="square">
            <a:spAutoFit/>
          </a:bodyPr>
          <a:lstStyle/>
          <a:p>
            <a:pPr defTabSz="914400" eaLnBrk="1" hangingPunct="1">
              <a:defRPr/>
            </a:pPr>
            <a:r>
              <a:rPr lang="zh-CN" altLang="zh-CN" sz="800" kern="100" dirty="0">
                <a:solidFill>
                  <a:srgbClr val="000000"/>
                </a:solidFill>
                <a:cs typeface="Times New Roman" panose="02020603050405020304" pitchFamily="18" charset="0"/>
                <a:sym typeface="Helvetica Neue" panose="02000503000000020004"/>
              </a:rPr>
              <a:t>数据来源：</a:t>
            </a:r>
            <a:r>
              <a:rPr lang="en-US" altLang="zh-CN" sz="800" kern="100" dirty="0">
                <a:solidFill>
                  <a:srgbClr val="000000"/>
                </a:solidFill>
                <a:cs typeface="Times New Roman" panose="02020603050405020304" pitchFamily="18" charset="0"/>
                <a:sym typeface="Helvetica Neue" panose="02000503000000020004"/>
              </a:rPr>
              <a:t>Wind</a:t>
            </a:r>
            <a:r>
              <a:rPr lang="zh-CN" altLang="en-US" sz="800" kern="100" dirty="0">
                <a:solidFill>
                  <a:srgbClr val="000000"/>
                </a:solidFill>
                <a:cs typeface="Times New Roman" panose="02020603050405020304" pitchFamily="18" charset="0"/>
                <a:sym typeface="Helvetica Neue" panose="02000503000000020004"/>
              </a:rPr>
              <a:t>，博道基金，数据</a:t>
            </a:r>
            <a:r>
              <a:rPr lang="zh-CN" altLang="en-US" sz="800" dirty="0">
                <a:solidFill>
                  <a:prstClr val="black"/>
                </a:solidFill>
                <a:sym typeface="+mn-ea"/>
              </a:rPr>
              <a:t>截至</a:t>
            </a:r>
            <a:r>
              <a:rPr lang="en-US" altLang="zh-CN" sz="800" dirty="0">
                <a:solidFill>
                  <a:prstClr val="black"/>
                </a:solidFill>
                <a:sym typeface="+mn-ea"/>
              </a:rPr>
              <a:t>2026</a:t>
            </a:r>
            <a:r>
              <a:rPr lang="zh-CN" altLang="en-US" sz="800" dirty="0">
                <a:solidFill>
                  <a:prstClr val="black"/>
                </a:solidFill>
                <a:sym typeface="+mn-ea"/>
              </a:rPr>
              <a:t>年</a:t>
            </a:r>
            <a:r>
              <a:rPr lang="en-US" altLang="zh-CN" sz="800" dirty="0">
                <a:solidFill>
                  <a:prstClr val="black"/>
                </a:solidFill>
                <a:sym typeface="+mn-ea"/>
              </a:rPr>
              <a:t>5</a:t>
            </a:r>
            <a:r>
              <a:rPr lang="zh-CN" altLang="en-US" sz="800" dirty="0">
                <a:solidFill>
                  <a:prstClr val="black"/>
                </a:solidFill>
                <a:sym typeface="+mn-ea"/>
              </a:rPr>
              <a:t>月</a:t>
            </a:r>
            <a:r>
              <a:rPr lang="en-US" altLang="zh-CN" sz="800" dirty="0">
                <a:solidFill>
                  <a:prstClr val="black"/>
                </a:solidFill>
                <a:sym typeface="+mn-ea"/>
              </a:rPr>
              <a:t>31</a:t>
            </a:r>
            <a:r>
              <a:rPr lang="zh-CN" altLang="en-US" sz="800" dirty="0">
                <a:solidFill>
                  <a:prstClr val="black"/>
                </a:solidFill>
                <a:sym typeface="+mn-ea"/>
              </a:rPr>
              <a:t>日，</a:t>
            </a:r>
            <a:r>
              <a:rPr lang="en-US" altLang="zh-CN" sz="800" dirty="0">
                <a:solidFill>
                  <a:prstClr val="black"/>
                </a:solidFill>
                <a:sym typeface="+mn-ea"/>
              </a:rPr>
              <a:t>A/C</a:t>
            </a:r>
            <a:r>
              <a:rPr lang="zh-CN" altLang="en-US" sz="800" dirty="0">
                <a:solidFill>
                  <a:prstClr val="black"/>
                </a:solidFill>
                <a:sym typeface="+mn-ea"/>
              </a:rPr>
              <a:t>份额只展示</a:t>
            </a:r>
            <a:r>
              <a:rPr lang="en-US" altLang="zh-CN" sz="800" dirty="0">
                <a:solidFill>
                  <a:prstClr val="black"/>
                </a:solidFill>
                <a:sym typeface="+mn-ea"/>
              </a:rPr>
              <a:t>A</a:t>
            </a:r>
            <a:r>
              <a:rPr lang="zh-CN" altLang="en-US" sz="800" dirty="0">
                <a:solidFill>
                  <a:prstClr val="black"/>
                </a:solidFill>
                <a:sym typeface="+mn-ea"/>
              </a:rPr>
              <a:t>类份额。</a:t>
            </a:r>
            <a:endParaRPr lang="en-US" altLang="zh-CN" sz="800" dirty="0">
              <a:solidFill>
                <a:prstClr val="black"/>
              </a:solidFill>
              <a:sym typeface="+mn-ea"/>
            </a:endParaRPr>
          </a:p>
        </p:txBody>
      </p:sp>
      <p:sp>
        <p:nvSpPr>
          <p:cNvPr id="10" name="矩形 9"/>
          <p:cNvSpPr/>
          <p:nvPr/>
        </p:nvSpPr>
        <p:spPr>
          <a:xfrm>
            <a:off x="4411822" y="1956085"/>
            <a:ext cx="3629025" cy="277813"/>
          </a:xfrm>
          <a:prstGeom prst="rect">
            <a:avLst/>
          </a:prstGeom>
        </p:spPr>
        <p:txBody>
          <a:bodyPr wrap="none">
            <a:spAutoFit/>
          </a:bodyPr>
          <a:lstStyle/>
          <a:p>
            <a:pPr algn="ctr" eaLnBrk="1" fontAlgn="ctr" hangingPunct="1">
              <a:spcBef>
                <a:spcPts val="0"/>
              </a:spcBef>
              <a:spcAft>
                <a:spcPts val="0"/>
              </a:spcAft>
              <a:defRPr/>
            </a:pPr>
            <a:r>
              <a:rPr lang="zh-CN" altLang="en-US" sz="1200" b="1" dirty="0">
                <a:solidFill>
                  <a:srgbClr val="000000"/>
                </a:solidFill>
                <a:latin typeface="+mj-ea"/>
                <a:ea typeface="+mj-ea"/>
              </a:rPr>
              <a:t>博道“指数</a:t>
            </a:r>
            <a:r>
              <a:rPr lang="en-US" altLang="zh-CN" sz="1200" b="1" dirty="0">
                <a:solidFill>
                  <a:srgbClr val="000000"/>
                </a:solidFill>
                <a:latin typeface="+mj-ea"/>
                <a:ea typeface="+mj-ea"/>
              </a:rPr>
              <a:t>+</a:t>
            </a:r>
            <a:r>
              <a:rPr lang="zh-CN" altLang="en-US" sz="1200" b="1" dirty="0">
                <a:solidFill>
                  <a:srgbClr val="000000"/>
                </a:solidFill>
                <a:latin typeface="+mj-ea"/>
                <a:ea typeface="+mj-ea"/>
              </a:rPr>
              <a:t>”成立</a:t>
            </a:r>
            <a:r>
              <a:rPr lang="en-US" altLang="zh-CN" sz="1200" b="1" dirty="0">
                <a:solidFill>
                  <a:srgbClr val="000000"/>
                </a:solidFill>
                <a:latin typeface="+mj-ea"/>
                <a:ea typeface="+mj-ea"/>
              </a:rPr>
              <a:t>5</a:t>
            </a:r>
            <a:r>
              <a:rPr lang="zh-CN" altLang="en-US" sz="1200" b="1" dirty="0">
                <a:solidFill>
                  <a:srgbClr val="000000"/>
                </a:solidFill>
                <a:latin typeface="+mj-ea"/>
                <a:ea typeface="+mj-ea"/>
              </a:rPr>
              <a:t>年以上产品超额收益表现一览</a:t>
            </a:r>
          </a:p>
        </p:txBody>
      </p:sp>
      <p:graphicFrame>
        <p:nvGraphicFramePr>
          <p:cNvPr id="5" name="表格 4"/>
          <p:cNvGraphicFramePr>
            <a:graphicFrameLocks noGrp="1"/>
          </p:cNvGraphicFramePr>
          <p:nvPr>
            <p:extLst>
              <p:ext uri="{D42A27DB-BD31-4B8C-83A1-F6EECF244321}">
                <p14:modId xmlns:p14="http://schemas.microsoft.com/office/powerpoint/2010/main" val="485770738"/>
              </p:ext>
            </p:extLst>
          </p:nvPr>
        </p:nvGraphicFramePr>
        <p:xfrm>
          <a:off x="2341299" y="2277972"/>
          <a:ext cx="7513294" cy="3602830"/>
        </p:xfrm>
        <a:graphic>
          <a:graphicData uri="http://schemas.openxmlformats.org/drawingml/2006/table">
            <a:tbl>
              <a:tblPr/>
              <a:tblGrid>
                <a:gridCol w="973813">
                  <a:extLst>
                    <a:ext uri="{9D8B030D-6E8A-4147-A177-3AD203B41FA5}">
                      <a16:colId xmlns:a16="http://schemas.microsoft.com/office/drawing/2014/main" xmlns="" val="3641189382"/>
                    </a:ext>
                  </a:extLst>
                </a:gridCol>
                <a:gridCol w="1358199">
                  <a:extLst>
                    <a:ext uri="{9D8B030D-6E8A-4147-A177-3AD203B41FA5}">
                      <a16:colId xmlns:a16="http://schemas.microsoft.com/office/drawing/2014/main" xmlns="" val="2031583841"/>
                    </a:ext>
                  </a:extLst>
                </a:gridCol>
                <a:gridCol w="1073146">
                  <a:extLst>
                    <a:ext uri="{9D8B030D-6E8A-4147-A177-3AD203B41FA5}">
                      <a16:colId xmlns:a16="http://schemas.microsoft.com/office/drawing/2014/main" xmlns="" val="2004431133"/>
                    </a:ext>
                  </a:extLst>
                </a:gridCol>
                <a:gridCol w="1073146">
                  <a:extLst>
                    <a:ext uri="{9D8B030D-6E8A-4147-A177-3AD203B41FA5}">
                      <a16:colId xmlns:a16="http://schemas.microsoft.com/office/drawing/2014/main" xmlns="" val="491393745"/>
                    </a:ext>
                  </a:extLst>
                </a:gridCol>
                <a:gridCol w="1274360">
                  <a:extLst>
                    <a:ext uri="{9D8B030D-6E8A-4147-A177-3AD203B41FA5}">
                      <a16:colId xmlns:a16="http://schemas.microsoft.com/office/drawing/2014/main" xmlns="" val="4292122706"/>
                    </a:ext>
                  </a:extLst>
                </a:gridCol>
                <a:gridCol w="880315">
                  <a:extLst>
                    <a:ext uri="{9D8B030D-6E8A-4147-A177-3AD203B41FA5}">
                      <a16:colId xmlns:a16="http://schemas.microsoft.com/office/drawing/2014/main" xmlns="" val="2218807785"/>
                    </a:ext>
                  </a:extLst>
                </a:gridCol>
                <a:gridCol w="880315">
                  <a:extLst>
                    <a:ext uri="{9D8B030D-6E8A-4147-A177-3AD203B41FA5}">
                      <a16:colId xmlns:a16="http://schemas.microsoft.com/office/drawing/2014/main" xmlns="" val="3662177576"/>
                    </a:ext>
                  </a:extLst>
                </a:gridCol>
              </a:tblGrid>
              <a:tr h="778126">
                <a:tc>
                  <a:txBody>
                    <a:bodyPr/>
                    <a:lstStyle/>
                    <a:p>
                      <a:pPr algn="ctr" fontAlgn="ctr"/>
                      <a:r>
                        <a:rPr lang="zh-CN" altLang="en-US" sz="1400" b="1" i="0" u="none" strike="noStrike" dirty="0">
                          <a:solidFill>
                            <a:srgbClr val="FFFFFF"/>
                          </a:solidFill>
                          <a:effectLst/>
                          <a:latin typeface="+mj-lt"/>
                          <a:ea typeface="等线" panose="02010600030101010101" pitchFamily="2" charset="-122"/>
                        </a:rPr>
                        <a:t>基金代码</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002060"/>
                    </a:solidFill>
                  </a:tcPr>
                </a:tc>
                <a:tc>
                  <a:txBody>
                    <a:bodyPr/>
                    <a:lstStyle/>
                    <a:p>
                      <a:pPr algn="ctr" fontAlgn="ctr"/>
                      <a:r>
                        <a:rPr lang="zh-CN" altLang="en-US" sz="1400" b="1" i="0" u="none" strike="noStrike">
                          <a:solidFill>
                            <a:srgbClr val="FFFFFF"/>
                          </a:solidFill>
                          <a:effectLst/>
                          <a:latin typeface="+mj-lt"/>
                          <a:ea typeface="等线" panose="02010600030101010101" pitchFamily="2" charset="-122"/>
                        </a:rPr>
                        <a:t>基金名称</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002060"/>
                    </a:solidFill>
                  </a:tcPr>
                </a:tc>
                <a:tc>
                  <a:txBody>
                    <a:bodyPr/>
                    <a:lstStyle/>
                    <a:p>
                      <a:pPr algn="ctr" fontAlgn="ctr"/>
                      <a:r>
                        <a:rPr lang="zh-CN" altLang="en-US" sz="1400" b="1" i="0" u="none" strike="noStrike" dirty="0">
                          <a:solidFill>
                            <a:srgbClr val="FFFFFF"/>
                          </a:solidFill>
                          <a:effectLst/>
                          <a:latin typeface="+mj-lt"/>
                          <a:ea typeface="等线" panose="02010600030101010101" pitchFamily="2" charset="-122"/>
                        </a:rPr>
                        <a:t>基金成立日</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002060"/>
                    </a:solidFill>
                  </a:tcPr>
                </a:tc>
                <a:tc>
                  <a:txBody>
                    <a:bodyPr/>
                    <a:lstStyle/>
                    <a:p>
                      <a:pPr algn="ctr" fontAlgn="ctr"/>
                      <a:r>
                        <a:rPr lang="zh-CN" altLang="en-US" sz="1400" b="1" i="0" u="none" strike="noStrike" dirty="0">
                          <a:solidFill>
                            <a:srgbClr val="FFFFFF"/>
                          </a:solidFill>
                          <a:effectLst/>
                          <a:latin typeface="+mj-lt"/>
                          <a:ea typeface="等线" panose="02010600030101010101" pitchFamily="2" charset="-122"/>
                        </a:rPr>
                        <a:t>净值增长率</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002060"/>
                    </a:solidFill>
                  </a:tcPr>
                </a:tc>
                <a:tc>
                  <a:txBody>
                    <a:bodyPr/>
                    <a:lstStyle/>
                    <a:p>
                      <a:pPr algn="ctr" fontAlgn="ctr"/>
                      <a:r>
                        <a:rPr lang="zh-CN" altLang="en-US" sz="1400" b="1" i="0" u="none" strike="noStrike" dirty="0">
                          <a:solidFill>
                            <a:srgbClr val="FFFFFF"/>
                          </a:solidFill>
                          <a:effectLst/>
                          <a:latin typeface="+mj-lt"/>
                          <a:ea typeface="等线" panose="02010600030101010101" pitchFamily="2" charset="-122"/>
                        </a:rPr>
                        <a:t>业绩比较基准</a:t>
                      </a:r>
                      <a:br>
                        <a:rPr lang="zh-CN" altLang="en-US" sz="1400" b="1" i="0" u="none" strike="noStrike" dirty="0">
                          <a:solidFill>
                            <a:srgbClr val="FFFFFF"/>
                          </a:solidFill>
                          <a:effectLst/>
                          <a:latin typeface="+mj-lt"/>
                          <a:ea typeface="等线" panose="02010600030101010101" pitchFamily="2" charset="-122"/>
                        </a:rPr>
                      </a:br>
                      <a:r>
                        <a:rPr lang="zh-CN" altLang="en-US" sz="1400" b="1" i="0" u="none" strike="noStrike" dirty="0">
                          <a:solidFill>
                            <a:srgbClr val="FFFFFF"/>
                          </a:solidFill>
                          <a:effectLst/>
                          <a:latin typeface="+mj-lt"/>
                          <a:ea typeface="等线" panose="02010600030101010101" pitchFamily="2" charset="-122"/>
                        </a:rPr>
                        <a:t>收益率</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002060"/>
                    </a:solidFill>
                  </a:tcPr>
                </a:tc>
                <a:tc>
                  <a:txBody>
                    <a:bodyPr/>
                    <a:lstStyle/>
                    <a:p>
                      <a:pPr algn="ctr" fontAlgn="ctr"/>
                      <a:r>
                        <a:rPr lang="zh-CN" altLang="en-US" sz="1400" b="1" i="0" u="none" strike="noStrike" dirty="0">
                          <a:solidFill>
                            <a:srgbClr val="FFFFFF"/>
                          </a:solidFill>
                          <a:effectLst/>
                          <a:latin typeface="+mj-lt"/>
                          <a:ea typeface="等线" panose="02010600030101010101" pitchFamily="2" charset="-122"/>
                        </a:rPr>
                        <a:t>超额</a:t>
                      </a:r>
                      <a:br>
                        <a:rPr lang="zh-CN" altLang="en-US" sz="1400" b="1" i="0" u="none" strike="noStrike" dirty="0">
                          <a:solidFill>
                            <a:srgbClr val="FFFFFF"/>
                          </a:solidFill>
                          <a:effectLst/>
                          <a:latin typeface="+mj-lt"/>
                          <a:ea typeface="等线" panose="02010600030101010101" pitchFamily="2" charset="-122"/>
                        </a:rPr>
                      </a:br>
                      <a:r>
                        <a:rPr lang="zh-CN" altLang="en-US" sz="1400" b="1" i="0" u="none" strike="noStrike" dirty="0">
                          <a:solidFill>
                            <a:srgbClr val="FFFFFF"/>
                          </a:solidFill>
                          <a:effectLst/>
                          <a:latin typeface="+mj-lt"/>
                          <a:ea typeface="等线" panose="02010600030101010101" pitchFamily="2" charset="-122"/>
                        </a:rPr>
                        <a:t>收益</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002060"/>
                    </a:solidFill>
                  </a:tcPr>
                </a:tc>
                <a:tc>
                  <a:txBody>
                    <a:bodyPr/>
                    <a:lstStyle/>
                    <a:p>
                      <a:pPr algn="ctr" fontAlgn="ctr"/>
                      <a:r>
                        <a:rPr lang="zh-CN" altLang="en-US" sz="1400" b="1" i="0" u="none" strike="noStrike" dirty="0">
                          <a:solidFill>
                            <a:srgbClr val="FFFFFF"/>
                          </a:solidFill>
                          <a:effectLst/>
                          <a:latin typeface="+mj-lt"/>
                          <a:ea typeface="等线" panose="02010600030101010101" pitchFamily="2" charset="-122"/>
                        </a:rPr>
                        <a:t>年化</a:t>
                      </a:r>
                      <a:br>
                        <a:rPr lang="zh-CN" altLang="en-US" sz="1400" b="1" i="0" u="none" strike="noStrike" dirty="0">
                          <a:solidFill>
                            <a:srgbClr val="FFFFFF"/>
                          </a:solidFill>
                          <a:effectLst/>
                          <a:latin typeface="+mj-lt"/>
                          <a:ea typeface="等线" panose="02010600030101010101" pitchFamily="2" charset="-122"/>
                        </a:rPr>
                      </a:br>
                      <a:r>
                        <a:rPr lang="zh-CN" altLang="en-US" sz="1400" b="1" i="0" u="none" strike="noStrike" dirty="0">
                          <a:solidFill>
                            <a:srgbClr val="FFFFFF"/>
                          </a:solidFill>
                          <a:effectLst/>
                          <a:latin typeface="+mj-lt"/>
                          <a:ea typeface="等线" panose="02010600030101010101" pitchFamily="2" charset="-122"/>
                        </a:rPr>
                        <a:t>超额</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002060"/>
                    </a:solidFill>
                  </a:tcPr>
                </a:tc>
                <a:extLst>
                  <a:ext uri="{0D108BD9-81ED-4DB2-BD59-A6C34878D82A}">
                    <a16:rowId xmlns:a16="http://schemas.microsoft.com/office/drawing/2014/main" xmlns="" val="2725392665"/>
                  </a:ext>
                </a:extLst>
              </a:tr>
              <a:tr h="415711">
                <a:tc>
                  <a:txBody>
                    <a:bodyPr/>
                    <a:lstStyle/>
                    <a:p>
                      <a:pPr algn="ctr" fontAlgn="ctr"/>
                      <a:r>
                        <a:rPr lang="en-US" altLang="zh-CN" sz="1100" b="1" i="0" u="none" strike="noStrike">
                          <a:solidFill>
                            <a:srgbClr val="002060"/>
                          </a:solidFill>
                          <a:effectLst/>
                          <a:latin typeface="+mj-lt"/>
                          <a:ea typeface="等线" panose="02010600030101010101" pitchFamily="2" charset="-122"/>
                        </a:rPr>
                        <a:t>006160</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zh-CN" altLang="en-US" sz="1100" b="1" i="0" u="none" strike="noStrike" dirty="0">
                          <a:solidFill>
                            <a:srgbClr val="002060"/>
                          </a:solidFill>
                          <a:effectLst/>
                          <a:latin typeface="+mj-lt"/>
                          <a:ea typeface="等线" panose="02010600030101010101" pitchFamily="2" charset="-122"/>
                        </a:rPr>
                        <a:t>博道启航混合</a:t>
                      </a:r>
                      <a:r>
                        <a:rPr lang="en-US" altLang="zh-CN" sz="1100" b="1" i="0" u="none" strike="noStrike" dirty="0">
                          <a:solidFill>
                            <a:srgbClr val="002060"/>
                          </a:solidFill>
                          <a:effectLst/>
                          <a:latin typeface="+mj-lt"/>
                          <a:ea typeface="等线" panose="02010600030101010101" pitchFamily="2" charset="-122"/>
                        </a:rPr>
                        <a:t>A</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en-US" altLang="zh-CN" sz="1100" b="1" i="0" u="none" strike="noStrike" dirty="0">
                          <a:solidFill>
                            <a:srgbClr val="002060"/>
                          </a:solidFill>
                          <a:effectLst/>
                          <a:latin typeface="+mj-lt"/>
                          <a:ea typeface="等线" panose="02010600030101010101" pitchFamily="2" charset="-122"/>
                        </a:rPr>
                        <a:t>2018-08-10</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181.37%</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46.01%</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C00000"/>
                          </a:solidFill>
                          <a:effectLst/>
                          <a:latin typeface="+mj-lt"/>
                          <a:ea typeface="等线" panose="02010600030101010101" pitchFamily="2" charset="-122"/>
                        </a:rPr>
                        <a:t>135.36%</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a:solidFill>
                            <a:srgbClr val="C00000"/>
                          </a:solidFill>
                          <a:effectLst/>
                          <a:latin typeface="+mj-lt"/>
                          <a:ea typeface="等线" panose="02010600030101010101" pitchFamily="2" charset="-122"/>
                        </a:rPr>
                        <a:t>17.33%</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extLst>
                  <a:ext uri="{0D108BD9-81ED-4DB2-BD59-A6C34878D82A}">
                    <a16:rowId xmlns:a16="http://schemas.microsoft.com/office/drawing/2014/main" xmlns="" val="1257224523"/>
                  </a:ext>
                </a:extLst>
              </a:tr>
              <a:tr h="383733">
                <a:tc>
                  <a:txBody>
                    <a:bodyPr/>
                    <a:lstStyle/>
                    <a:p>
                      <a:pPr algn="ctr" fontAlgn="ctr"/>
                      <a:r>
                        <a:rPr lang="en-US" altLang="zh-CN" sz="1100" b="1" i="0" u="none" strike="noStrike">
                          <a:solidFill>
                            <a:srgbClr val="002060"/>
                          </a:solidFill>
                          <a:effectLst/>
                          <a:latin typeface="+mj-lt"/>
                          <a:ea typeface="等线" panose="02010600030101010101" pitchFamily="2" charset="-122"/>
                        </a:rPr>
                        <a:t>007126</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zh-CN" altLang="en-US" sz="1100" b="1" i="0" u="none" strike="noStrike" dirty="0">
                          <a:solidFill>
                            <a:srgbClr val="002060"/>
                          </a:solidFill>
                          <a:effectLst/>
                          <a:latin typeface="+mj-lt"/>
                          <a:ea typeface="等线" panose="02010600030101010101" pitchFamily="2" charset="-122"/>
                        </a:rPr>
                        <a:t>博道远航混合</a:t>
                      </a:r>
                      <a:r>
                        <a:rPr lang="en-US" altLang="zh-CN" sz="1100" b="1" i="0" u="none" strike="noStrike" dirty="0">
                          <a:solidFill>
                            <a:srgbClr val="002060"/>
                          </a:solidFill>
                          <a:effectLst/>
                          <a:latin typeface="+mj-lt"/>
                          <a:ea typeface="等线" panose="02010600030101010101" pitchFamily="2" charset="-122"/>
                        </a:rPr>
                        <a:t>A</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en-US" altLang="zh-CN" sz="1100" b="1" i="0" u="none" strike="noStrike" dirty="0">
                          <a:solidFill>
                            <a:srgbClr val="002060"/>
                          </a:solidFill>
                          <a:effectLst/>
                          <a:latin typeface="+mj-lt"/>
                          <a:ea typeface="等线" panose="02010600030101010101" pitchFamily="2" charset="-122"/>
                        </a:rPr>
                        <a:t>2019-04-30</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132.88%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34.92%</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C00000"/>
                          </a:solidFill>
                          <a:effectLst/>
                          <a:latin typeface="+mj-lt"/>
                          <a:ea typeface="等线" panose="02010600030101010101" pitchFamily="2" charset="-122"/>
                        </a:rPr>
                        <a:t>97.96%</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a:solidFill>
                            <a:srgbClr val="C00000"/>
                          </a:solidFill>
                          <a:effectLst/>
                          <a:latin typeface="+mj-lt"/>
                          <a:ea typeface="等线" panose="02010600030101010101" pitchFamily="2" charset="-122"/>
                        </a:rPr>
                        <a:t>13.82%</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extLst>
                  <a:ext uri="{0D108BD9-81ED-4DB2-BD59-A6C34878D82A}">
                    <a16:rowId xmlns:a16="http://schemas.microsoft.com/office/drawing/2014/main" xmlns="" val="1159719845"/>
                  </a:ext>
                </a:extLst>
              </a:tr>
              <a:tr h="362415">
                <a:tc>
                  <a:txBody>
                    <a:bodyPr/>
                    <a:lstStyle/>
                    <a:p>
                      <a:pPr algn="ctr" fontAlgn="ctr"/>
                      <a:r>
                        <a:rPr lang="en-US" altLang="zh-CN" sz="1100" b="1" i="0" u="none" strike="noStrike">
                          <a:solidFill>
                            <a:srgbClr val="002060"/>
                          </a:solidFill>
                          <a:effectLst/>
                          <a:latin typeface="+mj-lt"/>
                          <a:ea typeface="等线" panose="02010600030101010101" pitchFamily="2" charset="-122"/>
                        </a:rPr>
                        <a:t>008318</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zh-CN" altLang="en-US" sz="1100" b="1" i="0" u="none" strike="noStrike" dirty="0">
                          <a:solidFill>
                            <a:srgbClr val="002060"/>
                          </a:solidFill>
                          <a:effectLst/>
                          <a:latin typeface="+mj-lt"/>
                          <a:ea typeface="等线" panose="02010600030101010101" pitchFamily="2" charset="-122"/>
                        </a:rPr>
                        <a:t>博道久航混合</a:t>
                      </a:r>
                      <a:r>
                        <a:rPr lang="en-US" sz="1100" b="1" i="0" u="none" strike="noStrike" dirty="0">
                          <a:solidFill>
                            <a:srgbClr val="002060"/>
                          </a:solidFill>
                          <a:effectLst/>
                          <a:latin typeface="+mj-lt"/>
                          <a:ea typeface="等线" panose="02010600030101010101" pitchFamily="2" charset="-122"/>
                        </a:rPr>
                        <a:t>A</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en-US" altLang="zh-CN" sz="1100" b="1" i="0" u="none" strike="noStrike" dirty="0">
                          <a:solidFill>
                            <a:srgbClr val="002060"/>
                          </a:solidFill>
                          <a:effectLst/>
                          <a:latin typeface="+mj-lt"/>
                          <a:ea typeface="等线" panose="02010600030101010101" pitchFamily="2" charset="-122"/>
                        </a:rPr>
                        <a:t>2019-12-24</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108.84%</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34.17%</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a:solidFill>
                            <a:srgbClr val="C00000"/>
                          </a:solidFill>
                          <a:effectLst/>
                          <a:latin typeface="+mj-lt"/>
                          <a:ea typeface="等线" panose="02010600030101010101" pitchFamily="2" charset="-122"/>
                        </a:rPr>
                        <a:t>74.67%</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C00000"/>
                          </a:solidFill>
                          <a:effectLst/>
                          <a:latin typeface="+mj-lt"/>
                          <a:ea typeface="等线" panose="02010600030101010101" pitchFamily="2" charset="-122"/>
                        </a:rPr>
                        <a:t>11.60%</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extLst>
                  <a:ext uri="{0D108BD9-81ED-4DB2-BD59-A6C34878D82A}">
                    <a16:rowId xmlns:a16="http://schemas.microsoft.com/office/drawing/2014/main" xmlns="" val="1530680746"/>
                  </a:ext>
                </a:extLst>
              </a:tr>
              <a:tr h="383733">
                <a:tc>
                  <a:txBody>
                    <a:bodyPr/>
                    <a:lstStyle/>
                    <a:p>
                      <a:pPr algn="ctr" fontAlgn="ctr"/>
                      <a:r>
                        <a:rPr lang="en-US" altLang="zh-CN" sz="1100" b="1" i="0" u="none" strike="noStrike">
                          <a:solidFill>
                            <a:srgbClr val="002060"/>
                          </a:solidFill>
                          <a:effectLst/>
                          <a:latin typeface="+mj-lt"/>
                          <a:ea typeface="等线" panose="02010600030101010101" pitchFamily="2" charset="-122"/>
                        </a:rPr>
                        <a:t>006593</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zh-CN" altLang="en-US" sz="1100" b="1" i="0" u="none" strike="noStrike">
                          <a:solidFill>
                            <a:srgbClr val="002060"/>
                          </a:solidFill>
                          <a:effectLst/>
                          <a:latin typeface="+mj-lt"/>
                          <a:ea typeface="等线" panose="02010600030101010101" pitchFamily="2" charset="-122"/>
                        </a:rPr>
                        <a:t>博道中证</a:t>
                      </a:r>
                      <a:r>
                        <a:rPr lang="en-US" altLang="zh-CN" sz="1100" b="1" i="0" u="none" strike="noStrike">
                          <a:solidFill>
                            <a:srgbClr val="002060"/>
                          </a:solidFill>
                          <a:effectLst/>
                          <a:latin typeface="+mj-lt"/>
                          <a:ea typeface="等线" panose="02010600030101010101" pitchFamily="2" charset="-122"/>
                        </a:rPr>
                        <a:t>500</a:t>
                      </a:r>
                      <a:r>
                        <a:rPr lang="zh-CN" altLang="en-US" sz="1100" b="1" i="0" u="none" strike="noStrike">
                          <a:solidFill>
                            <a:srgbClr val="002060"/>
                          </a:solidFill>
                          <a:effectLst/>
                          <a:latin typeface="+mj-lt"/>
                          <a:ea typeface="等线" panose="02010600030101010101" pitchFamily="2" charset="-122"/>
                        </a:rPr>
                        <a:t>增强</a:t>
                      </a:r>
                      <a:r>
                        <a:rPr lang="en-US" altLang="zh-CN" sz="1100" b="1" i="0" u="none" strike="noStrike">
                          <a:solidFill>
                            <a:srgbClr val="002060"/>
                          </a:solidFill>
                          <a:effectLst/>
                          <a:latin typeface="+mj-lt"/>
                          <a:ea typeface="等线" panose="02010600030101010101" pitchFamily="2" charset="-122"/>
                        </a:rPr>
                        <a:t>A</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en-US" altLang="zh-CN" sz="1100" b="1" i="0" u="none" strike="noStrike" dirty="0">
                          <a:solidFill>
                            <a:srgbClr val="002060"/>
                          </a:solidFill>
                          <a:effectLst/>
                          <a:latin typeface="+mj-lt"/>
                          <a:ea typeface="等线" panose="02010600030101010101" pitchFamily="2" charset="-122"/>
                        </a:rPr>
                        <a:t>2019-01-03</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216.90%</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97.19%</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a:solidFill>
                            <a:srgbClr val="C00000"/>
                          </a:solidFill>
                          <a:effectLst/>
                          <a:latin typeface="+mj-lt"/>
                          <a:ea typeface="等线" panose="02010600030101010101" pitchFamily="2" charset="-122"/>
                        </a:rPr>
                        <a:t>119.71%</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C00000"/>
                          </a:solidFill>
                          <a:effectLst/>
                          <a:latin typeface="+mj-lt"/>
                          <a:ea typeface="等线" panose="02010600030101010101" pitchFamily="2" charset="-122"/>
                        </a:rPr>
                        <a:t>16.15%</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extLst>
                  <a:ext uri="{0D108BD9-81ED-4DB2-BD59-A6C34878D82A}">
                    <a16:rowId xmlns:a16="http://schemas.microsoft.com/office/drawing/2014/main" xmlns="" val="372848403"/>
                  </a:ext>
                </a:extLst>
              </a:tr>
              <a:tr h="437030">
                <a:tc>
                  <a:txBody>
                    <a:bodyPr/>
                    <a:lstStyle/>
                    <a:p>
                      <a:pPr algn="ctr" fontAlgn="ctr"/>
                      <a:r>
                        <a:rPr lang="en-US" altLang="zh-CN" sz="1100" b="1" i="0" u="none" strike="noStrike">
                          <a:solidFill>
                            <a:srgbClr val="002060"/>
                          </a:solidFill>
                          <a:effectLst/>
                          <a:latin typeface="+mj-lt"/>
                          <a:ea typeface="等线" panose="02010600030101010101" pitchFamily="2" charset="-122"/>
                        </a:rPr>
                        <a:t>007044</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zh-CN" altLang="en-US" sz="1100" b="1" i="0" u="none" strike="noStrike">
                          <a:solidFill>
                            <a:srgbClr val="002060"/>
                          </a:solidFill>
                          <a:effectLst/>
                          <a:latin typeface="+mj-lt"/>
                          <a:ea typeface="等线" panose="02010600030101010101" pitchFamily="2" charset="-122"/>
                        </a:rPr>
                        <a:t>博道沪深</a:t>
                      </a:r>
                      <a:r>
                        <a:rPr lang="en-US" altLang="zh-CN" sz="1100" b="1" i="0" u="none" strike="noStrike">
                          <a:solidFill>
                            <a:srgbClr val="002060"/>
                          </a:solidFill>
                          <a:effectLst/>
                          <a:latin typeface="+mj-lt"/>
                          <a:ea typeface="等线" panose="02010600030101010101" pitchFamily="2" charset="-122"/>
                        </a:rPr>
                        <a:t>300</a:t>
                      </a:r>
                      <a:r>
                        <a:rPr lang="zh-CN" altLang="en-US" sz="1100" b="1" i="0" u="none" strike="noStrike">
                          <a:solidFill>
                            <a:srgbClr val="002060"/>
                          </a:solidFill>
                          <a:effectLst/>
                          <a:latin typeface="+mj-lt"/>
                          <a:ea typeface="等线" panose="02010600030101010101" pitchFamily="2" charset="-122"/>
                        </a:rPr>
                        <a:t>增强</a:t>
                      </a:r>
                      <a:r>
                        <a:rPr lang="en-US" altLang="zh-CN" sz="1100" b="1" i="0" u="none" strike="noStrike">
                          <a:solidFill>
                            <a:srgbClr val="002060"/>
                          </a:solidFill>
                          <a:effectLst/>
                          <a:latin typeface="+mj-lt"/>
                          <a:ea typeface="等线" panose="02010600030101010101" pitchFamily="2" charset="-122"/>
                        </a:rPr>
                        <a:t>A</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en-US" altLang="zh-CN" sz="1100" b="1" i="0" u="none" strike="noStrike">
                          <a:solidFill>
                            <a:srgbClr val="002060"/>
                          </a:solidFill>
                          <a:effectLst/>
                          <a:latin typeface="+mj-lt"/>
                          <a:ea typeface="等线" panose="02010600030101010101" pitchFamily="2" charset="-122"/>
                        </a:rPr>
                        <a:t>2019-04-26</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94.17%</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23.62%</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C00000"/>
                          </a:solidFill>
                          <a:effectLst/>
                          <a:latin typeface="+mj-lt"/>
                          <a:ea typeface="等线" panose="02010600030101010101" pitchFamily="2" charset="-122"/>
                        </a:rPr>
                        <a:t>70.55%</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C00000"/>
                          </a:solidFill>
                          <a:effectLst/>
                          <a:latin typeface="+mj-lt"/>
                          <a:ea typeface="等线" panose="02010600030101010101" pitchFamily="2" charset="-122"/>
                        </a:rPr>
                        <a:t>9.93%</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extLst>
                  <a:ext uri="{0D108BD9-81ED-4DB2-BD59-A6C34878D82A}">
                    <a16:rowId xmlns:a16="http://schemas.microsoft.com/office/drawing/2014/main" xmlns="" val="3795891485"/>
                  </a:ext>
                </a:extLst>
              </a:tr>
              <a:tr h="394393">
                <a:tc>
                  <a:txBody>
                    <a:bodyPr/>
                    <a:lstStyle/>
                    <a:p>
                      <a:pPr algn="ctr" fontAlgn="ctr"/>
                      <a:r>
                        <a:rPr lang="en-US" altLang="zh-CN" sz="1100" b="1" i="0" u="none" strike="noStrike">
                          <a:solidFill>
                            <a:srgbClr val="002060"/>
                          </a:solidFill>
                          <a:effectLst/>
                          <a:latin typeface="+mj-lt"/>
                          <a:ea typeface="等线" panose="02010600030101010101" pitchFamily="2" charset="-122"/>
                        </a:rPr>
                        <a:t>007470</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zh-CN" altLang="en-US" sz="1100" b="1" i="0" u="none" strike="noStrike">
                          <a:solidFill>
                            <a:srgbClr val="002060"/>
                          </a:solidFill>
                          <a:effectLst/>
                          <a:latin typeface="+mj-lt"/>
                          <a:ea typeface="等线" panose="02010600030101010101" pitchFamily="2" charset="-122"/>
                        </a:rPr>
                        <a:t>博道叁佰智航</a:t>
                      </a:r>
                      <a:r>
                        <a:rPr lang="en-US" altLang="zh-CN" sz="1100" b="1" i="0" u="none" strike="noStrike">
                          <a:solidFill>
                            <a:srgbClr val="002060"/>
                          </a:solidFill>
                          <a:effectLst/>
                          <a:latin typeface="+mj-lt"/>
                          <a:ea typeface="等线" panose="02010600030101010101" pitchFamily="2" charset="-122"/>
                        </a:rPr>
                        <a:t>A</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en-US" altLang="zh-CN" sz="1100" b="1" i="0" u="none" strike="noStrike">
                          <a:solidFill>
                            <a:srgbClr val="002060"/>
                          </a:solidFill>
                          <a:effectLst/>
                          <a:latin typeface="+mj-lt"/>
                          <a:ea typeface="等线" panose="02010600030101010101" pitchFamily="2" charset="-122"/>
                        </a:rPr>
                        <a:t>2019-06-05</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110.49%</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34.78%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C00000"/>
                          </a:solidFill>
                          <a:effectLst/>
                          <a:latin typeface="+mj-lt"/>
                          <a:ea typeface="等线" panose="02010600030101010101" pitchFamily="2" charset="-122"/>
                        </a:rPr>
                        <a:t>75.72%</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C00000"/>
                          </a:solidFill>
                          <a:effectLst/>
                          <a:latin typeface="+mj-lt"/>
                          <a:ea typeface="等线" panose="02010600030101010101" pitchFamily="2" charset="-122"/>
                        </a:rPr>
                        <a:t>10.83%</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extLst>
                  <a:ext uri="{0D108BD9-81ED-4DB2-BD59-A6C34878D82A}">
                    <a16:rowId xmlns:a16="http://schemas.microsoft.com/office/drawing/2014/main" xmlns="" val="1573241059"/>
                  </a:ext>
                </a:extLst>
              </a:tr>
              <a:tr h="447689">
                <a:tc>
                  <a:txBody>
                    <a:bodyPr/>
                    <a:lstStyle/>
                    <a:p>
                      <a:pPr algn="ctr" fontAlgn="ctr"/>
                      <a:r>
                        <a:rPr lang="en-US" altLang="zh-CN" sz="1100" b="1" i="0" u="none" strike="noStrike">
                          <a:solidFill>
                            <a:srgbClr val="002060"/>
                          </a:solidFill>
                          <a:effectLst/>
                          <a:latin typeface="+mj-lt"/>
                          <a:ea typeface="等线" panose="02010600030101010101" pitchFamily="2" charset="-122"/>
                        </a:rPr>
                        <a:t>007831</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zh-CN" altLang="en-US" sz="1100" b="1" i="0" u="none" strike="noStrike">
                          <a:solidFill>
                            <a:srgbClr val="002060"/>
                          </a:solidFill>
                          <a:effectLst/>
                          <a:latin typeface="+mj-lt"/>
                          <a:ea typeface="等线" panose="02010600030101010101" pitchFamily="2" charset="-122"/>
                        </a:rPr>
                        <a:t>博道伍佰智航</a:t>
                      </a:r>
                      <a:r>
                        <a:rPr lang="en-US" sz="1100" b="1" i="0" u="none" strike="noStrike">
                          <a:solidFill>
                            <a:srgbClr val="002060"/>
                          </a:solidFill>
                          <a:effectLst/>
                          <a:latin typeface="+mj-lt"/>
                          <a:ea typeface="等线" panose="02010600030101010101" pitchFamily="2" charset="-122"/>
                        </a:rPr>
                        <a:t>A</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r>
                        <a:rPr lang="en-US" altLang="zh-CN" sz="1100" b="1" i="0" u="none" strike="noStrike" dirty="0">
                          <a:solidFill>
                            <a:srgbClr val="002060"/>
                          </a:solidFill>
                          <a:effectLst/>
                          <a:latin typeface="+mj-lt"/>
                          <a:ea typeface="等线" panose="02010600030101010101" pitchFamily="2" charset="-122"/>
                        </a:rPr>
                        <a:t>2019-09-26</a:t>
                      </a: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153.02%</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002060"/>
                          </a:solidFill>
                          <a:effectLst/>
                          <a:latin typeface="+mj-lt"/>
                          <a:ea typeface="等线" panose="02010600030101010101" pitchFamily="2" charset="-122"/>
                        </a:rPr>
                        <a:t>61.64%</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C00000"/>
                          </a:solidFill>
                          <a:effectLst/>
                          <a:latin typeface="+mj-lt"/>
                          <a:ea typeface="等线" panose="02010600030101010101" pitchFamily="2" charset="-122"/>
                        </a:rPr>
                        <a:t>91.38%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c>
                  <a:txBody>
                    <a:bodyPr/>
                    <a:lstStyle/>
                    <a:p>
                      <a:pPr algn="ctr" fontAlgn="ctr">
                        <a:buNone/>
                      </a:pPr>
                      <a:r>
                        <a:rPr lang="zh-CN" sz="1100" b="1" i="0" u="none" strike="noStrike" dirty="0">
                          <a:solidFill>
                            <a:srgbClr val="C00000"/>
                          </a:solidFill>
                          <a:effectLst/>
                          <a:latin typeface="+mj-lt"/>
                          <a:ea typeface="等线" panose="02010600030101010101" pitchFamily="2" charset="-122"/>
                        </a:rPr>
                        <a:t>13.68%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extLst>
                  <a:ext uri="{0D108BD9-81ED-4DB2-BD59-A6C34878D82A}">
                    <a16:rowId xmlns:a16="http://schemas.microsoft.com/office/drawing/2014/main" xmlns="" val="559114495"/>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lang="zh-CN" altLang="en-US" dirty="0">
                <a:solidFill>
                  <a:srgbClr val="EA5838"/>
                </a:solidFill>
                <a:cs typeface="华文细黑" panose="02010600040101010101" charset="-122"/>
              </a:rPr>
              <a:t>产品要素：</a:t>
            </a:r>
            <a:r>
              <a:rPr lang="zh-CN" altLang="en-US" dirty="0">
                <a:cs typeface="华文细黑" panose="02010600040101010101" charset="-122"/>
              </a:rPr>
              <a:t>博道中证全指指数增强基金</a:t>
            </a:r>
            <a:endParaRPr dirty="0">
              <a:latin typeface="+mj-lt"/>
              <a:cs typeface="华文细黑" panose="02010600040101010101" charset="-122"/>
            </a:endParaRPr>
          </a:p>
        </p:txBody>
      </p:sp>
      <p:sp>
        <p:nvSpPr>
          <p:cNvPr id="6" name="灯片编号占位符 5"/>
          <p:cNvSpPr>
            <a:spLocks noGrp="1"/>
          </p:cNvSpPr>
          <p:nvPr>
            <p:ph type="sldNum" sz="quarter" idx="11"/>
          </p:nvPr>
        </p:nvSpPr>
        <p:spPr/>
        <p:txBody>
          <a:bodyPr/>
          <a:lstStyle/>
          <a:p>
            <a:pPr>
              <a:defRPr/>
            </a:pPr>
            <a:fld id="{6E91549D-98B7-4077-996F-05BE1B29F039}" type="slidenum">
              <a:rPr lang="zh-CN" altLang="en-US" smtClean="0"/>
              <a:t>17</a:t>
            </a:fld>
            <a:endParaRPr lang="zh-CN" altLang="en-US" dirty="0"/>
          </a:p>
        </p:txBody>
      </p:sp>
      <p:sp>
        <p:nvSpPr>
          <p:cNvPr id="3" name="object 3"/>
          <p:cNvSpPr txBox="1"/>
          <p:nvPr/>
        </p:nvSpPr>
        <p:spPr>
          <a:xfrm>
            <a:off x="4900198" y="6250040"/>
            <a:ext cx="4123733" cy="136576"/>
          </a:xfrm>
          <a:prstGeom prst="rect">
            <a:avLst/>
          </a:prstGeom>
        </p:spPr>
        <p:txBody>
          <a:bodyPr vert="horz" wrap="square" lIns="0" tIns="13335" rIns="0" bIns="0" rtlCol="0">
            <a:spAutoFit/>
          </a:bodyPr>
          <a:lstStyle/>
          <a:p>
            <a:pPr marR="5080" algn="r">
              <a:lnSpc>
                <a:spcPct val="100000"/>
              </a:lnSpc>
              <a:spcBef>
                <a:spcPts val="105"/>
              </a:spcBef>
            </a:pPr>
            <a:r>
              <a:rPr lang="zh-CN" altLang="en-US" sz="800" dirty="0">
                <a:latin typeface="华文细黑" panose="02010600040101010101" charset="-122"/>
                <a:cs typeface="华文细黑" panose="02010600040101010101" charset="-122"/>
              </a:rPr>
              <a:t>注：</a:t>
            </a:r>
            <a:r>
              <a:rPr sz="800" dirty="0" err="1">
                <a:latin typeface="华文细黑" panose="02010600040101010101" charset="-122"/>
                <a:cs typeface="华文细黑" panose="02010600040101010101" charset="-122"/>
              </a:rPr>
              <a:t>产品基本信息仅供参考</a:t>
            </a:r>
            <a:r>
              <a:rPr sz="800" spc="-10" dirty="0" err="1">
                <a:latin typeface="华文细黑" panose="02010600040101010101" charset="-122"/>
                <a:cs typeface="华文细黑" panose="02010600040101010101" charset="-122"/>
              </a:rPr>
              <a:t>，</a:t>
            </a:r>
            <a:r>
              <a:rPr sz="800" dirty="0" err="1">
                <a:latin typeface="华文细黑" panose="02010600040101010101" charset="-122"/>
                <a:cs typeface="华文细黑" panose="02010600040101010101" charset="-122"/>
              </a:rPr>
              <a:t>最终</a:t>
            </a:r>
            <a:r>
              <a:rPr sz="800" spc="-10" dirty="0" err="1">
                <a:latin typeface="华文细黑" panose="02010600040101010101" charset="-122"/>
                <a:cs typeface="华文细黑" panose="02010600040101010101" charset="-122"/>
              </a:rPr>
              <a:t>应</a:t>
            </a:r>
            <a:r>
              <a:rPr sz="800" dirty="0" err="1">
                <a:latin typeface="华文细黑" panose="02010600040101010101" charset="-122"/>
                <a:cs typeface="华文细黑" panose="02010600040101010101" charset="-122"/>
              </a:rPr>
              <a:t>以基</a:t>
            </a:r>
            <a:r>
              <a:rPr sz="800" spc="-10" dirty="0" err="1">
                <a:latin typeface="华文细黑" panose="02010600040101010101" charset="-122"/>
                <a:cs typeface="华文细黑" panose="02010600040101010101" charset="-122"/>
              </a:rPr>
              <a:t>金</a:t>
            </a:r>
            <a:r>
              <a:rPr sz="800" dirty="0" err="1">
                <a:latin typeface="华文细黑" panose="02010600040101010101" charset="-122"/>
                <a:cs typeface="华文细黑" panose="02010600040101010101" charset="-122"/>
              </a:rPr>
              <a:t>合同</a:t>
            </a:r>
            <a:r>
              <a:rPr sz="800" spc="-10" dirty="0" err="1">
                <a:latin typeface="华文细黑" panose="02010600040101010101" charset="-122"/>
                <a:cs typeface="华文细黑" panose="02010600040101010101" charset="-122"/>
              </a:rPr>
              <a:t>等</a:t>
            </a:r>
            <a:r>
              <a:rPr sz="800" dirty="0" err="1">
                <a:latin typeface="华文细黑" panose="02010600040101010101" charset="-122"/>
                <a:cs typeface="华文细黑" panose="02010600040101010101" charset="-122"/>
              </a:rPr>
              <a:t>法律</a:t>
            </a:r>
            <a:r>
              <a:rPr sz="800" spc="-10" dirty="0" err="1">
                <a:latin typeface="华文细黑" panose="02010600040101010101" charset="-122"/>
                <a:cs typeface="华文细黑" panose="02010600040101010101" charset="-122"/>
              </a:rPr>
              <a:t>文</a:t>
            </a:r>
            <a:r>
              <a:rPr sz="800" dirty="0" err="1">
                <a:latin typeface="华文细黑" panose="02010600040101010101" charset="-122"/>
                <a:cs typeface="华文细黑" panose="02010600040101010101" charset="-122"/>
              </a:rPr>
              <a:t>件为准</a:t>
            </a:r>
            <a:endParaRPr sz="900" dirty="0">
              <a:latin typeface="华文细黑" panose="02010600040101010101" charset="-122"/>
              <a:cs typeface="华文细黑" panose="02010600040101010101" charset="-122"/>
            </a:endParaRPr>
          </a:p>
        </p:txBody>
      </p:sp>
      <p:graphicFrame>
        <p:nvGraphicFramePr>
          <p:cNvPr id="4" name="object 4"/>
          <p:cNvGraphicFramePr>
            <a:graphicFrameLocks noGrp="1"/>
          </p:cNvGraphicFramePr>
          <p:nvPr>
            <p:extLst>
              <p:ext uri="{D42A27DB-BD31-4B8C-83A1-F6EECF244321}">
                <p14:modId xmlns:p14="http://schemas.microsoft.com/office/powerpoint/2010/main" val="1599015145"/>
              </p:ext>
            </p:extLst>
          </p:nvPr>
        </p:nvGraphicFramePr>
        <p:xfrm>
          <a:off x="678093" y="974672"/>
          <a:ext cx="6784393" cy="4989709"/>
        </p:xfrm>
        <a:graphic>
          <a:graphicData uri="http://schemas.openxmlformats.org/drawingml/2006/table">
            <a:tbl>
              <a:tblPr firstRow="1" bandRow="1">
                <a:tableStyleId>{2D5ABB26-0587-4C30-8999-92F81FD0307C}</a:tableStyleId>
              </a:tblPr>
              <a:tblGrid>
                <a:gridCol w="860851">
                  <a:extLst>
                    <a:ext uri="{9D8B030D-6E8A-4147-A177-3AD203B41FA5}">
                      <a16:colId xmlns:a16="http://schemas.microsoft.com/office/drawing/2014/main" xmlns="" val="20000"/>
                    </a:ext>
                  </a:extLst>
                </a:gridCol>
                <a:gridCol w="2516864">
                  <a:extLst>
                    <a:ext uri="{9D8B030D-6E8A-4147-A177-3AD203B41FA5}">
                      <a16:colId xmlns:a16="http://schemas.microsoft.com/office/drawing/2014/main" xmlns="" val="20001"/>
                    </a:ext>
                  </a:extLst>
                </a:gridCol>
                <a:gridCol w="1153374">
                  <a:extLst>
                    <a:ext uri="{9D8B030D-6E8A-4147-A177-3AD203B41FA5}">
                      <a16:colId xmlns:a16="http://schemas.microsoft.com/office/drawing/2014/main" xmlns="" val="20002"/>
                    </a:ext>
                  </a:extLst>
                </a:gridCol>
                <a:gridCol w="2253304">
                  <a:extLst>
                    <a:ext uri="{9D8B030D-6E8A-4147-A177-3AD203B41FA5}">
                      <a16:colId xmlns:a16="http://schemas.microsoft.com/office/drawing/2014/main" xmlns="" val="20003"/>
                    </a:ext>
                  </a:extLst>
                </a:gridCol>
              </a:tblGrid>
              <a:tr h="206260">
                <a:tc>
                  <a:txBody>
                    <a:bodyPr/>
                    <a:lstStyle/>
                    <a:p>
                      <a:pPr algn="ctr">
                        <a:lnSpc>
                          <a:spcPct val="100000"/>
                        </a:lnSpc>
                        <a:spcBef>
                          <a:spcPts val="75"/>
                        </a:spcBef>
                      </a:pPr>
                      <a:r>
                        <a:rPr sz="1050" b="1" dirty="0">
                          <a:solidFill>
                            <a:schemeClr val="bg1"/>
                          </a:solidFill>
                          <a:latin typeface="+mn-ea"/>
                          <a:ea typeface="+mn-ea"/>
                          <a:cs typeface="华文细黑" panose="02010600040101010101" charset="-122"/>
                        </a:rPr>
                        <a:t>基金名称</a:t>
                      </a:r>
                    </a:p>
                  </a:txBody>
                  <a:tcPr marL="0" marR="0"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gridSpan="3">
                  <a:txBody>
                    <a:bodyPr/>
                    <a:lstStyle/>
                    <a:p>
                      <a:pPr algn="ctr">
                        <a:lnSpc>
                          <a:spcPct val="100000"/>
                        </a:lnSpc>
                        <a:spcBef>
                          <a:spcPts val="125"/>
                        </a:spcBef>
                      </a:pPr>
                      <a:r>
                        <a:rPr lang="zh-CN" altLang="en-US" sz="1050" dirty="0">
                          <a:latin typeface="+mn-ea"/>
                          <a:ea typeface="+mn-ea"/>
                          <a:cs typeface="华文细黑" panose="02010600040101010101" charset="-122"/>
                        </a:rPr>
                        <a:t>博道中证全指指数增强型证券投资基金</a:t>
                      </a:r>
                      <a:endParaRPr sz="1050" dirty="0">
                        <a:latin typeface="+mn-ea"/>
                        <a:ea typeface="+mn-ea"/>
                        <a:cs typeface="华文细黑" panose="02010600040101010101" charset="-122"/>
                      </a:endParaRPr>
                    </a:p>
                  </a:txBody>
                  <a:tcPr marL="0" marR="0" marT="158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p>
                  </a:txBody>
                  <a:tcPr marL="0" marR="0" marT="9525" marB="0">
                    <a:lnL w="12700">
                      <a:solidFill>
                        <a:srgbClr val="AEABAB"/>
                      </a:solidFill>
                      <a:prstDash val="solid"/>
                    </a:lnL>
                    <a:lnR w="12700">
                      <a:solidFill>
                        <a:srgbClr val="AEABAB"/>
                      </a:solidFill>
                      <a:prstDash val="solid"/>
                    </a:lnR>
                    <a:lnT w="12700">
                      <a:solidFill>
                        <a:srgbClr val="AEABAB"/>
                      </a:solidFill>
                      <a:prstDash val="solid"/>
                    </a:lnT>
                    <a:lnB w="12700">
                      <a:solidFill>
                        <a:srgbClr val="AEABAB"/>
                      </a:solidFill>
                      <a:prstDash val="solid"/>
                    </a:lnB>
                    <a:solidFill>
                      <a:srgbClr val="E7E6E6"/>
                    </a:solidFill>
                  </a:tcPr>
                </a:tc>
                <a:tc hMerge="1">
                  <a:txBody>
                    <a:bodyPr/>
                    <a:lstStyle/>
                    <a:p>
                      <a:endParaRPr lang="zh-CN"/>
                    </a:p>
                  </a:txBody>
                  <a:tcPr marL="0" marR="0" marT="15875" marB="0">
                    <a:lnL w="12700">
                      <a:solidFill>
                        <a:srgbClr val="AEABAB"/>
                      </a:solidFill>
                      <a:prstDash val="solid"/>
                    </a:lnL>
                    <a:lnR w="12700">
                      <a:solidFill>
                        <a:srgbClr val="AEABAB"/>
                      </a:solidFill>
                      <a:prstDash val="solid"/>
                    </a:lnR>
                    <a:lnT w="12700">
                      <a:solidFill>
                        <a:srgbClr val="AEABAB"/>
                      </a:solidFill>
                      <a:prstDash val="solid"/>
                    </a:lnT>
                    <a:lnB w="12700">
                      <a:solidFill>
                        <a:srgbClr val="AEABAB"/>
                      </a:solidFill>
                      <a:prstDash val="solid"/>
                    </a:lnB>
                    <a:solidFill>
                      <a:srgbClr val="E7E6E6"/>
                    </a:solidFill>
                  </a:tcPr>
                </a:tc>
                <a:extLst>
                  <a:ext uri="{0D108BD9-81ED-4DB2-BD59-A6C34878D82A}">
                    <a16:rowId xmlns:a16="http://schemas.microsoft.com/office/drawing/2014/main" xmlns="" val="10000"/>
                  </a:ext>
                </a:extLst>
              </a:tr>
              <a:tr h="206138">
                <a:tc>
                  <a:txBody>
                    <a:bodyPr/>
                    <a:lstStyle/>
                    <a:p>
                      <a:pPr algn="ctr">
                        <a:lnSpc>
                          <a:spcPct val="100000"/>
                        </a:lnSpc>
                        <a:spcBef>
                          <a:spcPts val="75"/>
                        </a:spcBef>
                      </a:pPr>
                      <a:r>
                        <a:rPr sz="1050" b="1" dirty="0">
                          <a:solidFill>
                            <a:schemeClr val="bg1"/>
                          </a:solidFill>
                          <a:latin typeface="+mn-ea"/>
                          <a:ea typeface="+mn-ea"/>
                          <a:cs typeface="华文细黑" panose="02010600040101010101" charset="-122"/>
                        </a:rPr>
                        <a:t>基金类型</a:t>
                      </a:r>
                    </a:p>
                  </a:txBody>
                  <a:tcPr marL="0" marR="0"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a:txBody>
                    <a:bodyPr/>
                    <a:lstStyle/>
                    <a:p>
                      <a:pPr marL="3175" algn="ctr">
                        <a:lnSpc>
                          <a:spcPct val="100000"/>
                        </a:lnSpc>
                        <a:spcBef>
                          <a:spcPts val="125"/>
                        </a:spcBef>
                      </a:pPr>
                      <a:r>
                        <a:rPr sz="1050" dirty="0">
                          <a:latin typeface="+mn-ea"/>
                          <a:ea typeface="+mn-ea"/>
                          <a:cs typeface="华文细黑" panose="02010600040101010101" charset="-122"/>
                        </a:rPr>
                        <a:t>股票型（指数增强基金）</a:t>
                      </a:r>
                    </a:p>
                  </a:txBody>
                  <a:tcPr marL="0" marR="0" marT="158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905" algn="ctr">
                        <a:lnSpc>
                          <a:spcPct val="100000"/>
                        </a:lnSpc>
                        <a:spcBef>
                          <a:spcPts val="75"/>
                        </a:spcBef>
                      </a:pPr>
                      <a:r>
                        <a:rPr lang="zh-CN" altLang="en-US" sz="1050" b="1" dirty="0">
                          <a:solidFill>
                            <a:schemeClr val="bg1"/>
                          </a:solidFill>
                          <a:latin typeface="+mn-ea"/>
                          <a:ea typeface="+mn-ea"/>
                          <a:cs typeface="华文细黑" panose="02010600040101010101" charset="-122"/>
                        </a:rPr>
                        <a:t>基金经理</a:t>
                      </a:r>
                      <a:endParaRPr sz="1050" b="1" dirty="0">
                        <a:solidFill>
                          <a:schemeClr val="bg1"/>
                        </a:solidFill>
                        <a:latin typeface="+mn-ea"/>
                        <a:ea typeface="+mn-ea"/>
                        <a:cs typeface="华文细黑" panose="02010600040101010101" charset="-122"/>
                      </a:endParaRPr>
                    </a:p>
                  </a:txBody>
                  <a:tcPr marL="0" marR="0"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a:txBody>
                    <a:bodyPr/>
                    <a:lstStyle/>
                    <a:p>
                      <a:pPr marR="39370" algn="ctr">
                        <a:lnSpc>
                          <a:spcPct val="100000"/>
                        </a:lnSpc>
                        <a:spcBef>
                          <a:spcPts val="90"/>
                        </a:spcBef>
                      </a:pPr>
                      <a:r>
                        <a:rPr lang="zh-CN" altLang="en-US" sz="1050" dirty="0">
                          <a:latin typeface="+mn-ea"/>
                          <a:ea typeface="+mn-ea"/>
                          <a:cs typeface="等线" panose="02010600030101010101" charset="-122"/>
                        </a:rPr>
                        <a:t>杨梦</a:t>
                      </a:r>
                      <a:endParaRPr sz="1050" dirty="0">
                        <a:latin typeface="+mn-ea"/>
                        <a:ea typeface="+mn-ea"/>
                        <a:cs typeface="等线" panose="02010600030101010101" charset="-122"/>
                      </a:endParaRPr>
                    </a:p>
                  </a:txBody>
                  <a:tcPr marL="0" marR="0" marT="1143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xmlns="" val="10001"/>
                  </a:ext>
                </a:extLst>
              </a:tr>
              <a:tr h="206261">
                <a:tc>
                  <a:txBody>
                    <a:bodyPr/>
                    <a:lstStyle/>
                    <a:p>
                      <a:pPr algn="ctr">
                        <a:lnSpc>
                          <a:spcPct val="100000"/>
                        </a:lnSpc>
                        <a:spcBef>
                          <a:spcPts val="80"/>
                        </a:spcBef>
                      </a:pPr>
                      <a:r>
                        <a:rPr sz="1050" b="1" dirty="0">
                          <a:solidFill>
                            <a:schemeClr val="bg1"/>
                          </a:solidFill>
                          <a:latin typeface="+mn-ea"/>
                          <a:ea typeface="+mn-ea"/>
                          <a:cs typeface="华文细黑" panose="02010600040101010101" charset="-122"/>
                        </a:rPr>
                        <a:t>管理人</a:t>
                      </a:r>
                    </a:p>
                  </a:txBody>
                  <a:tcPr marL="0" marR="0" marT="1016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gridSpan="3">
                  <a:txBody>
                    <a:bodyPr/>
                    <a:lstStyle/>
                    <a:p>
                      <a:pPr marL="635" algn="ctr">
                        <a:lnSpc>
                          <a:spcPct val="100000"/>
                        </a:lnSpc>
                        <a:spcBef>
                          <a:spcPts val="125"/>
                        </a:spcBef>
                      </a:pPr>
                      <a:r>
                        <a:rPr lang="zh-CN" altLang="en-US" sz="1050" dirty="0">
                          <a:latin typeface="+mn-ea"/>
                          <a:ea typeface="+mn-ea"/>
                          <a:cs typeface="华文细黑" panose="02010600040101010101" charset="-122"/>
                        </a:rPr>
                        <a:t>博道</a:t>
                      </a:r>
                      <a:r>
                        <a:rPr sz="1050" dirty="0" err="1">
                          <a:latin typeface="+mn-ea"/>
                          <a:ea typeface="+mn-ea"/>
                          <a:cs typeface="华文细黑" panose="02010600040101010101" charset="-122"/>
                        </a:rPr>
                        <a:t>基金管理有限公司</a:t>
                      </a:r>
                      <a:endParaRPr sz="1050" dirty="0">
                        <a:latin typeface="+mn-ea"/>
                        <a:ea typeface="+mn-ea"/>
                        <a:cs typeface="等线" panose="02010600030101010101" charset="-122"/>
                      </a:endParaRPr>
                    </a:p>
                  </a:txBody>
                  <a:tcPr marL="0" marR="0" marT="158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1905" algn="ctr">
                        <a:lnSpc>
                          <a:spcPct val="100000"/>
                        </a:lnSpc>
                        <a:spcBef>
                          <a:spcPts val="80"/>
                        </a:spcBef>
                      </a:pPr>
                      <a:endParaRPr sz="800" b="1" dirty="0">
                        <a:solidFill>
                          <a:schemeClr val="bg1"/>
                        </a:solidFill>
                        <a:latin typeface="+mn-ea"/>
                        <a:ea typeface="+mn-ea"/>
                        <a:cs typeface="华文细黑" panose="02010600040101010101" charset="-122"/>
                      </a:endParaRPr>
                    </a:p>
                  </a:txBody>
                  <a:tcPr marL="0" marR="0" marT="1016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hMerge="1">
                  <a:txBody>
                    <a:bodyPr/>
                    <a:lstStyle/>
                    <a:p>
                      <a:pPr marL="1270" marR="39370" algn="ctr">
                        <a:lnSpc>
                          <a:spcPct val="100000"/>
                        </a:lnSpc>
                        <a:spcBef>
                          <a:spcPts val="90"/>
                        </a:spcBef>
                      </a:pPr>
                      <a:endParaRPr sz="1050" dirty="0">
                        <a:latin typeface="+mn-ea"/>
                        <a:ea typeface="+mn-ea"/>
                        <a:cs typeface="等线" panose="02010600030101010101" charset="-122"/>
                      </a:endParaRPr>
                    </a:p>
                  </a:txBody>
                  <a:tcPr marL="0" marR="0" marT="1143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xmlns="" val="10002"/>
                  </a:ext>
                </a:extLst>
              </a:tr>
              <a:tr h="404401">
                <a:tc>
                  <a:txBody>
                    <a:bodyPr/>
                    <a:lstStyle/>
                    <a:p>
                      <a:pPr algn="ctr">
                        <a:lnSpc>
                          <a:spcPct val="100000"/>
                        </a:lnSpc>
                        <a:spcBef>
                          <a:spcPts val="895"/>
                        </a:spcBef>
                      </a:pPr>
                      <a:r>
                        <a:rPr sz="1050" b="1" dirty="0">
                          <a:solidFill>
                            <a:schemeClr val="bg1"/>
                          </a:solidFill>
                          <a:latin typeface="+mn-ea"/>
                          <a:ea typeface="+mn-ea"/>
                          <a:cs typeface="华文细黑" panose="02010600040101010101" charset="-122"/>
                        </a:rPr>
                        <a:t>投资目标</a:t>
                      </a:r>
                    </a:p>
                  </a:txBody>
                  <a:tcPr marL="0" marR="0" marT="1136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gridSpan="3">
                  <a:txBody>
                    <a:bodyPr/>
                    <a:lstStyle/>
                    <a:p>
                      <a:pPr marL="6985">
                        <a:lnSpc>
                          <a:spcPct val="100000"/>
                        </a:lnSpc>
                        <a:spcBef>
                          <a:spcPts val="225"/>
                        </a:spcBef>
                      </a:pPr>
                      <a:r>
                        <a:rPr lang="zh-CN" altLang="en-US" sz="1050" dirty="0">
                          <a:latin typeface="+mn-ea"/>
                          <a:ea typeface="+mn-ea"/>
                          <a:cs typeface="华文细黑" panose="02010600040101010101" charset="-122"/>
                        </a:rPr>
                        <a:t>本基金为股票指数增强型基金，通过数量化的方法进行积极的组合管理与风险控制，力争实现长期超越标的指数的业绩表现。</a:t>
                      </a:r>
                      <a:endParaRPr sz="1050" dirty="0">
                        <a:latin typeface="+mn-ea"/>
                        <a:ea typeface="+mn-ea"/>
                        <a:cs typeface="华文细黑" panose="02010600040101010101" charset="-122"/>
                      </a:endParaRPr>
                    </a:p>
                  </a:txBody>
                  <a:tcPr marL="0" marR="0" marT="285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xmlns="" val="10003"/>
                  </a:ext>
                </a:extLst>
              </a:tr>
              <a:tr h="1668808">
                <a:tc>
                  <a:txBody>
                    <a:bodyPr/>
                    <a:lstStyle/>
                    <a:p>
                      <a:pPr algn="ctr">
                        <a:lnSpc>
                          <a:spcPct val="100000"/>
                        </a:lnSpc>
                      </a:pPr>
                      <a:r>
                        <a:rPr sz="1050" b="1" dirty="0" err="1">
                          <a:solidFill>
                            <a:schemeClr val="bg1"/>
                          </a:solidFill>
                          <a:latin typeface="+mn-ea"/>
                          <a:ea typeface="+mn-ea"/>
                          <a:cs typeface="华文细黑" panose="02010600040101010101" charset="-122"/>
                        </a:rPr>
                        <a:t>投资范围</a:t>
                      </a:r>
                      <a:endParaRPr sz="1050" b="1" dirty="0">
                        <a:solidFill>
                          <a:schemeClr val="bg1"/>
                        </a:solidFill>
                        <a:latin typeface="+mn-ea"/>
                        <a:ea typeface="+mn-ea"/>
                        <a:cs typeface="华文细黑" panose="02010600040101010101" charset="-122"/>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gridSpan="3">
                  <a:txBody>
                    <a:bodyPr/>
                    <a:lstStyle/>
                    <a:p>
                      <a:pPr marL="107950" marR="145415" algn="just">
                        <a:lnSpc>
                          <a:spcPct val="100000"/>
                        </a:lnSpc>
                        <a:spcBef>
                          <a:spcPts val="615"/>
                        </a:spcBef>
                      </a:pPr>
                      <a:r>
                        <a:rPr lang="zh-CN" altLang="en-US" sz="1050" spc="10" dirty="0">
                          <a:latin typeface="+mn-ea"/>
                          <a:ea typeface="+mn-ea"/>
                          <a:cs typeface="华文细黑" panose="02010600040101010101" charset="-122"/>
                        </a:rPr>
                        <a:t>本基金的标的指数为</a:t>
                      </a:r>
                      <a:r>
                        <a:rPr lang="zh-CN" altLang="en-US" sz="1050" dirty="0">
                          <a:latin typeface="+mn-ea"/>
                          <a:ea typeface="+mn-ea"/>
                          <a:cs typeface="华文细黑" panose="02010600040101010101" charset="-122"/>
                        </a:rPr>
                        <a:t>中证全指指数</a:t>
                      </a:r>
                      <a:r>
                        <a:rPr lang="zh-CN" altLang="en-US" sz="1050" spc="10" dirty="0">
                          <a:latin typeface="+mn-ea"/>
                          <a:ea typeface="+mn-ea"/>
                          <a:cs typeface="华文细黑" panose="02010600040101010101" charset="-122"/>
                        </a:rPr>
                        <a:t>。本基金主要投资于标的指数的成份股、备选成份股。为更好地实现投资目标，本基金的投资范围还可包括国内依法发行上市的其他股票（含科创板、创业板及其他经中国证监会核准或注册上市的股票、存托凭证）、债券（包括国债、央行票据、金融债券、企业债券、公司债券、中期票据、短期融资券、超短期融资券、公 开发行的次级债券、政府机构债券、地方政府债券、可交换债券、可转换债券（含分离交易可转债的纯债部分）及其他经中国证监会允许投资的债券）、资产支持证券、债券回购、同业存单、银行存款（包括协议存款、定期存款及其他银行存款）、货币市场工具、股指期货以及法律法规或中国证监会允许基金投资的其他金融工具（但须符合中国证监会相关规定）。本基金可以根据有关法律法规的规定参与融资及转融通证券出借业务。</a:t>
                      </a:r>
                    </a:p>
                  </a:txBody>
                  <a:tcPr marL="0" marR="0" marT="7810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xmlns="" val="10004"/>
                  </a:ext>
                </a:extLst>
              </a:tr>
              <a:tr h="816775">
                <a:tc>
                  <a:txBody>
                    <a:bodyPr/>
                    <a:lstStyle/>
                    <a:p>
                      <a:pPr algn="ctr">
                        <a:lnSpc>
                          <a:spcPct val="100000"/>
                        </a:lnSpc>
                        <a:spcBef>
                          <a:spcPts val="5"/>
                        </a:spcBef>
                      </a:pPr>
                      <a:r>
                        <a:rPr sz="1050" b="1" dirty="0" err="1">
                          <a:solidFill>
                            <a:schemeClr val="bg1"/>
                          </a:solidFill>
                          <a:latin typeface="+mn-ea"/>
                          <a:ea typeface="+mn-ea"/>
                          <a:cs typeface="华文细黑" panose="02010600040101010101" charset="-122"/>
                        </a:rPr>
                        <a:t>投资组合比例</a:t>
                      </a:r>
                      <a:endParaRPr sz="1050" b="1" dirty="0">
                        <a:solidFill>
                          <a:schemeClr val="bg1"/>
                        </a:solidFill>
                        <a:latin typeface="+mn-ea"/>
                        <a:ea typeface="+mn-ea"/>
                        <a:cs typeface="华文细黑" panose="02010600040101010101" charset="-122"/>
                      </a:endParaRPr>
                    </a:p>
                  </a:txBody>
                  <a:tcPr marL="0" marR="0" marT="63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gridSpan="3">
                  <a:txBody>
                    <a:bodyPr/>
                    <a:lstStyle/>
                    <a:p>
                      <a:pPr marL="107950" marR="146685" algn="just">
                        <a:lnSpc>
                          <a:spcPct val="100000"/>
                        </a:lnSpc>
                        <a:spcBef>
                          <a:spcPts val="425"/>
                        </a:spcBef>
                      </a:pPr>
                      <a:r>
                        <a:rPr lang="zh-CN" altLang="en-US" sz="1050" spc="10" dirty="0">
                          <a:latin typeface="+mn-ea"/>
                          <a:ea typeface="+mn-ea"/>
                          <a:cs typeface="华文细黑" panose="02010600040101010101" charset="-122"/>
                        </a:rPr>
                        <a:t>本基金股票资产占基金资产的比例不低于</a:t>
                      </a:r>
                      <a:r>
                        <a:rPr lang="en-US" altLang="zh-CN" sz="1050" spc="10" dirty="0">
                          <a:latin typeface="+mn-ea"/>
                          <a:ea typeface="+mn-ea"/>
                          <a:cs typeface="华文细黑" panose="02010600040101010101" charset="-122"/>
                        </a:rPr>
                        <a:t>90%</a:t>
                      </a:r>
                      <a:r>
                        <a:rPr lang="zh-CN" altLang="en-US" sz="1050" spc="10" dirty="0">
                          <a:latin typeface="+mn-ea"/>
                          <a:ea typeface="+mn-ea"/>
                          <a:cs typeface="华文细黑" panose="02010600040101010101" charset="-122"/>
                        </a:rPr>
                        <a:t>，投资于标的指数成份股及备选成份股的比例不低于非现金基金资产的</a:t>
                      </a:r>
                      <a:r>
                        <a:rPr lang="en-US" altLang="zh-CN" sz="1050" spc="10" dirty="0">
                          <a:latin typeface="+mn-ea"/>
                          <a:ea typeface="+mn-ea"/>
                          <a:cs typeface="华文细黑" panose="02010600040101010101" charset="-122"/>
                        </a:rPr>
                        <a:t>80%</a:t>
                      </a:r>
                      <a:r>
                        <a:rPr lang="zh-CN" altLang="en-US" sz="1050" spc="10" dirty="0">
                          <a:latin typeface="+mn-ea"/>
                          <a:ea typeface="+mn-ea"/>
                          <a:cs typeface="华文细黑" panose="02010600040101010101" charset="-122"/>
                        </a:rPr>
                        <a:t>。每个交易日日终在扣除股指期货合约需缴纳的交易保证金以后，基金保留的现金或投资于到期日在一年以内的政府债券的比例合计不低于基金资产净值的</a:t>
                      </a:r>
                      <a:r>
                        <a:rPr lang="en-US" altLang="zh-CN" sz="1050" spc="10" dirty="0">
                          <a:latin typeface="+mn-ea"/>
                          <a:ea typeface="+mn-ea"/>
                          <a:cs typeface="华文细黑" panose="02010600040101010101" charset="-122"/>
                        </a:rPr>
                        <a:t>5%</a:t>
                      </a:r>
                      <a:r>
                        <a:rPr lang="zh-CN" altLang="en-US" sz="1050" spc="10" dirty="0">
                          <a:latin typeface="+mn-ea"/>
                          <a:ea typeface="+mn-ea"/>
                          <a:cs typeface="华文细黑" panose="02010600040101010101" charset="-122"/>
                        </a:rPr>
                        <a:t>，本基金所指的现金不包括结算备付金、存出保证金和应收申购款等。</a:t>
                      </a:r>
                      <a:endParaRPr sz="1050" dirty="0">
                        <a:latin typeface="+mn-ea"/>
                        <a:ea typeface="+mn-ea"/>
                        <a:cs typeface="华文细黑" panose="02010600040101010101" charset="-122"/>
                      </a:endParaRPr>
                    </a:p>
                  </a:txBody>
                  <a:tcPr marL="0" marR="0" marT="539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xmlns="" val="10005"/>
                  </a:ext>
                </a:extLst>
              </a:tr>
              <a:tr h="343228">
                <a:tc>
                  <a:txBody>
                    <a:bodyPr/>
                    <a:lstStyle/>
                    <a:p>
                      <a:pPr algn="ctr">
                        <a:lnSpc>
                          <a:spcPct val="100000"/>
                        </a:lnSpc>
                        <a:spcBef>
                          <a:spcPts val="85"/>
                        </a:spcBef>
                      </a:pPr>
                      <a:r>
                        <a:rPr sz="1050" b="1" dirty="0">
                          <a:solidFill>
                            <a:schemeClr val="bg1"/>
                          </a:solidFill>
                          <a:latin typeface="+mn-ea"/>
                          <a:ea typeface="+mn-ea"/>
                          <a:cs typeface="华文细黑" panose="02010600040101010101" charset="-122"/>
                        </a:rPr>
                        <a:t>业绩比较基准</a:t>
                      </a:r>
                    </a:p>
                  </a:txBody>
                  <a:tcPr marL="0" marR="0" marT="1079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gridSpan="3">
                  <a:txBody>
                    <a:bodyPr/>
                    <a:lstStyle/>
                    <a:p>
                      <a:pPr marL="107950" marR="39370">
                        <a:lnSpc>
                          <a:spcPct val="100000"/>
                        </a:lnSpc>
                        <a:spcBef>
                          <a:spcPts val="85"/>
                        </a:spcBef>
                      </a:pPr>
                      <a:r>
                        <a:rPr lang="zh-CN" altLang="en-US" sz="1050" dirty="0">
                          <a:latin typeface="+mn-ea"/>
                          <a:ea typeface="+mn-ea"/>
                          <a:cs typeface="华文细黑" panose="02010600040101010101" charset="-122"/>
                        </a:rPr>
                        <a:t>中证全指指数收益率</a:t>
                      </a:r>
                      <a:r>
                        <a:rPr lang="en-US" altLang="zh-CN" sz="1050" dirty="0">
                          <a:latin typeface="+mn-ea"/>
                          <a:ea typeface="+mn-ea"/>
                          <a:cs typeface="华文细黑" panose="02010600040101010101" charset="-122"/>
                        </a:rPr>
                        <a:t>×95%+</a:t>
                      </a:r>
                      <a:r>
                        <a:rPr lang="zh-CN" altLang="en-US" sz="1050" dirty="0">
                          <a:latin typeface="+mn-ea"/>
                          <a:ea typeface="+mn-ea"/>
                          <a:cs typeface="华文细黑" panose="02010600040101010101" charset="-122"/>
                        </a:rPr>
                        <a:t>同期银行活期存款利率（税后）</a:t>
                      </a:r>
                      <a:r>
                        <a:rPr lang="en-US" altLang="zh-CN" sz="1050" dirty="0">
                          <a:latin typeface="+mn-ea"/>
                          <a:ea typeface="+mn-ea"/>
                          <a:cs typeface="华文细黑" panose="02010600040101010101" charset="-122"/>
                        </a:rPr>
                        <a:t>×5%</a:t>
                      </a:r>
                      <a:endParaRPr sz="1050" dirty="0">
                        <a:latin typeface="+mn-ea"/>
                        <a:ea typeface="+mn-ea"/>
                        <a:cs typeface="华文细黑" panose="02010600040101010101" charset="-122"/>
                      </a:endParaRPr>
                    </a:p>
                  </a:txBody>
                  <a:tcPr marL="0" marR="0" marT="1079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xmlns="" val="10006"/>
                  </a:ext>
                </a:extLst>
              </a:tr>
              <a:tr h="708196">
                <a:tc>
                  <a:txBody>
                    <a:bodyPr/>
                    <a:lstStyle/>
                    <a:p>
                      <a:pPr algn="ctr">
                        <a:lnSpc>
                          <a:spcPct val="100000"/>
                        </a:lnSpc>
                      </a:pPr>
                      <a:r>
                        <a:rPr sz="1050" b="1" dirty="0" err="1">
                          <a:solidFill>
                            <a:schemeClr val="bg1"/>
                          </a:solidFill>
                          <a:latin typeface="+mn-ea"/>
                          <a:ea typeface="+mn-ea"/>
                          <a:cs typeface="华文细黑" panose="02010600040101010101" charset="-122"/>
                        </a:rPr>
                        <a:t>风险收益特征</a:t>
                      </a:r>
                      <a:endParaRPr sz="1050" b="1" dirty="0">
                        <a:solidFill>
                          <a:schemeClr val="bg1"/>
                        </a:solidFill>
                        <a:latin typeface="+mn-ea"/>
                        <a:ea typeface="+mn-ea"/>
                        <a:cs typeface="华文细黑" panose="02010600040101010101" charset="-122"/>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gridSpan="3">
                  <a:txBody>
                    <a:bodyPr/>
                    <a:lstStyle/>
                    <a:p>
                      <a:pPr marL="107950" marR="39370">
                        <a:lnSpc>
                          <a:spcPct val="100000"/>
                        </a:lnSpc>
                        <a:spcBef>
                          <a:spcPts val="425"/>
                        </a:spcBef>
                      </a:pPr>
                      <a:r>
                        <a:rPr lang="zh-CN" altLang="en-US" sz="1050" spc="10" dirty="0">
                          <a:latin typeface="+mn-ea"/>
                          <a:ea typeface="+mn-ea"/>
                          <a:cs typeface="华文细黑" panose="02010600040101010101" charset="-122"/>
                        </a:rPr>
                        <a:t>本基金属于股票型基金，理论上其预期风险与预期收益水平高于混合型基金、债券型基金及货币市场基金。同时，本基金主要投资于标的指数成份股及其备选成份股，具有与标的指数相似的风险收益特征。</a:t>
                      </a:r>
                      <a:endParaRPr sz="1050" dirty="0">
                        <a:latin typeface="+mn-ea"/>
                        <a:ea typeface="+mn-ea"/>
                        <a:cs typeface="华文细黑" panose="02010600040101010101" charset="-122"/>
                      </a:endParaRPr>
                    </a:p>
                  </a:txBody>
                  <a:tcPr marL="0" marR="0" marT="539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xmlns="" val="10007"/>
                  </a:ext>
                </a:extLst>
              </a:tr>
              <a:tr h="429642">
                <a:tc>
                  <a:txBody>
                    <a:bodyPr/>
                    <a:lstStyle/>
                    <a:p>
                      <a:pPr algn="ctr">
                        <a:lnSpc>
                          <a:spcPct val="100000"/>
                        </a:lnSpc>
                      </a:pPr>
                      <a:r>
                        <a:rPr lang="zh-CN" altLang="en-US" sz="1050" b="1" dirty="0">
                          <a:solidFill>
                            <a:schemeClr val="bg1"/>
                          </a:solidFill>
                          <a:latin typeface="+mn-ea"/>
                          <a:ea typeface="+mn-ea"/>
                          <a:cs typeface="华文细黑" panose="02010600040101010101" charset="-122"/>
                        </a:rPr>
                        <a:t>分红机制</a:t>
                      </a:r>
                      <a:endParaRPr sz="1050" b="1" dirty="0">
                        <a:solidFill>
                          <a:schemeClr val="bg1"/>
                        </a:solidFill>
                        <a:latin typeface="+mn-ea"/>
                        <a:ea typeface="+mn-ea"/>
                        <a:cs typeface="华文细黑" panose="02010600040101010101" charset="-122"/>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366C"/>
                    </a:solidFill>
                  </a:tcPr>
                </a:tc>
                <a:tc gridSpan="3">
                  <a:txBody>
                    <a:bodyPr/>
                    <a:lstStyle/>
                    <a:p>
                      <a:pPr marL="107950" marR="39370">
                        <a:lnSpc>
                          <a:spcPct val="100000"/>
                        </a:lnSpc>
                        <a:spcBef>
                          <a:spcPts val="425"/>
                        </a:spcBef>
                      </a:pPr>
                      <a:r>
                        <a:rPr lang="zh-CN" altLang="zh-CN" sz="1050" kern="1200" spc="10" dirty="0">
                          <a:solidFill>
                            <a:srgbClr val="FF0000"/>
                          </a:solidFill>
                          <a:latin typeface="+mn-ea"/>
                          <a:ea typeface="+mn-ea"/>
                          <a:cs typeface="华文细黑" panose="02010600040101010101" charset="-122"/>
                        </a:rPr>
                        <a:t>每年</a:t>
                      </a:r>
                      <a:r>
                        <a:rPr lang="en-US" altLang="zh-CN" sz="1050" kern="1200" spc="10" dirty="0">
                          <a:solidFill>
                            <a:srgbClr val="FF0000"/>
                          </a:solidFill>
                          <a:latin typeface="+mn-ea"/>
                          <a:ea typeface="+mn-ea"/>
                          <a:cs typeface="华文细黑" panose="02010600040101010101" charset="-122"/>
                        </a:rPr>
                        <a:t>10</a:t>
                      </a:r>
                      <a:r>
                        <a:rPr lang="zh-CN" altLang="en-US" sz="1050" kern="1200" spc="10" dirty="0">
                          <a:solidFill>
                            <a:srgbClr val="FF0000"/>
                          </a:solidFill>
                          <a:latin typeface="+mn-ea"/>
                          <a:ea typeface="+mn-ea"/>
                          <a:cs typeface="华文细黑" panose="02010600040101010101" charset="-122"/>
                        </a:rPr>
                        <a:t>月最后一个交易日进行</a:t>
                      </a:r>
                      <a:r>
                        <a:rPr lang="zh-CN" altLang="zh-CN" sz="1050" kern="1200" spc="10" dirty="0">
                          <a:solidFill>
                            <a:srgbClr val="FF0000"/>
                          </a:solidFill>
                          <a:latin typeface="+mn-ea"/>
                          <a:ea typeface="+mn-ea"/>
                          <a:cs typeface="华文细黑" panose="02010600040101010101" charset="-122"/>
                        </a:rPr>
                        <a:t>定期评价，力争在满足分红条件前提下年年分红</a:t>
                      </a:r>
                      <a:endParaRPr sz="1050" kern="1200" spc="10" dirty="0">
                        <a:solidFill>
                          <a:srgbClr val="FF0000"/>
                        </a:solidFill>
                        <a:latin typeface="+mn-ea"/>
                        <a:ea typeface="+mn-ea"/>
                        <a:cs typeface="华文细黑" panose="02010600040101010101" charset="-122"/>
                      </a:endParaRPr>
                    </a:p>
                  </a:txBody>
                  <a:tcPr marL="0" marR="0" marT="539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361351479"/>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150183500"/>
              </p:ext>
            </p:extLst>
          </p:nvPr>
        </p:nvGraphicFramePr>
        <p:xfrm>
          <a:off x="7626672" y="974671"/>
          <a:ext cx="4042470" cy="4989710"/>
        </p:xfrm>
        <a:graphic>
          <a:graphicData uri="http://schemas.openxmlformats.org/drawingml/2006/table">
            <a:tbl>
              <a:tblPr/>
              <a:tblGrid>
                <a:gridCol w="869106">
                  <a:extLst>
                    <a:ext uri="{9D8B030D-6E8A-4147-A177-3AD203B41FA5}">
                      <a16:colId xmlns:a16="http://schemas.microsoft.com/office/drawing/2014/main" xmlns="" val="20000"/>
                    </a:ext>
                  </a:extLst>
                </a:gridCol>
                <a:gridCol w="833161">
                  <a:extLst>
                    <a:ext uri="{9D8B030D-6E8A-4147-A177-3AD203B41FA5}">
                      <a16:colId xmlns:a16="http://schemas.microsoft.com/office/drawing/2014/main" xmlns="" val="20001"/>
                    </a:ext>
                  </a:extLst>
                </a:gridCol>
                <a:gridCol w="1448157">
                  <a:extLst>
                    <a:ext uri="{9D8B030D-6E8A-4147-A177-3AD203B41FA5}">
                      <a16:colId xmlns:a16="http://schemas.microsoft.com/office/drawing/2014/main" xmlns="" val="20002"/>
                    </a:ext>
                  </a:extLst>
                </a:gridCol>
                <a:gridCol w="892046">
                  <a:extLst>
                    <a:ext uri="{9D8B030D-6E8A-4147-A177-3AD203B41FA5}">
                      <a16:colId xmlns:a16="http://schemas.microsoft.com/office/drawing/2014/main" xmlns="" val="20004"/>
                    </a:ext>
                  </a:extLst>
                </a:gridCol>
              </a:tblGrid>
              <a:tr h="321170">
                <a:tc gridSpan="4">
                  <a:txBody>
                    <a:bodyPr/>
                    <a:lstStyle/>
                    <a:p>
                      <a:pPr algn="ctr" rtl="0" fontAlgn="ct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费率结构</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hMerge="1">
                  <a:txBody>
                    <a:bodyPr/>
                    <a:lstStyle/>
                    <a:p>
                      <a:endParaRPr lang="zh-CN"/>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hMerge="1">
                  <a:txBody>
                    <a:bodyPr/>
                    <a:lstStyle/>
                    <a:p>
                      <a:endParaRPr lang="zh-CN"/>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hMerge="1">
                  <a:txBody>
                    <a:bodyPr/>
                    <a:lstStyle/>
                    <a:p>
                      <a:endParaRPr lang="zh-CN"/>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extLst>
                  <a:ext uri="{0D108BD9-81ED-4DB2-BD59-A6C34878D82A}">
                    <a16:rowId xmlns:a16="http://schemas.microsoft.com/office/drawing/2014/main" xmlns="" val="10000"/>
                  </a:ext>
                </a:extLst>
              </a:tr>
              <a:tr h="389045">
                <a:tc rowSpan="5">
                  <a:txBody>
                    <a:bodyPr/>
                    <a:lstStyle/>
                    <a:p>
                      <a:pPr algn="ctr" rtl="0" fontAlgn="ct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申购费</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a:txBody>
                    <a:bodyPr/>
                    <a:lstStyle/>
                    <a:p>
                      <a:pPr algn="ctr" rtl="0" fontAlgn="ct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基金份额</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a:txBody>
                    <a:bodyPr/>
                    <a:lstStyle/>
                    <a:p>
                      <a:pPr algn="ctr" rtl="0"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申购金额（</a:t>
                      </a: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M</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a:txBody>
                    <a:bodyPr/>
                    <a:lstStyle/>
                    <a:p>
                      <a:pPr algn="ctr" rtl="0"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申购费率</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extLst>
                  <a:ext uri="{0D108BD9-81ED-4DB2-BD59-A6C34878D82A}">
                    <a16:rowId xmlns:a16="http://schemas.microsoft.com/office/drawing/2014/main" xmlns="" val="10001"/>
                  </a:ext>
                </a:extLst>
              </a:tr>
              <a:tr h="389045">
                <a:tc vMerge="1">
                  <a:txBody>
                    <a:bodyPr/>
                    <a:lstStyle/>
                    <a:p>
                      <a:endParaRPr lang="zh-CN"/>
                    </a:p>
                  </a:txBody>
                  <a:tcPr/>
                </a:tc>
                <a:tc rowSpan="3">
                  <a:txBody>
                    <a:bodyPr/>
                    <a:lstStyle/>
                    <a:p>
                      <a:pPr algn="ctr" rtl="0" fontAlgn="ctr"/>
                      <a:r>
                        <a:rPr lang="en-US" sz="1100" b="1" i="0" u="none" strike="noStrike" dirty="0">
                          <a:solidFill>
                            <a:schemeClr val="bg1"/>
                          </a:solidFill>
                          <a:effectLst/>
                          <a:latin typeface="微软雅黑" panose="020B0503020204020204" pitchFamily="34" charset="-122"/>
                          <a:ea typeface="微软雅黑" panose="020B0503020204020204" pitchFamily="34" charset="-122"/>
                        </a:rPr>
                        <a:t>A</a:t>
                      </a: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类</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a:txBody>
                    <a:bodyPr/>
                    <a:lstStyle/>
                    <a:p>
                      <a:pPr algn="ctr" rtl="0" fontAlgn="ctr"/>
                      <a:r>
                        <a:rPr lang="en-US" sz="1000" b="0" i="0" u="none" strike="noStrike" dirty="0">
                          <a:solidFill>
                            <a:srgbClr val="000000"/>
                          </a:solidFill>
                          <a:effectLst/>
                          <a:latin typeface="微软雅黑" panose="020B0503020204020204" pitchFamily="34" charset="-122"/>
                          <a:ea typeface="微软雅黑" panose="020B0503020204020204" pitchFamily="34" charset="-122"/>
                        </a:rPr>
                        <a:t>M&lt;100</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万元</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a:txBody>
                    <a:bodyPr/>
                    <a:lstStyle/>
                    <a:p>
                      <a:pPr algn="ctr" rtl="0"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1.20%</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extLst>
                  <a:ext uri="{0D108BD9-81ED-4DB2-BD59-A6C34878D82A}">
                    <a16:rowId xmlns:a16="http://schemas.microsoft.com/office/drawing/2014/main" xmlns="" val="10002"/>
                  </a:ext>
                </a:extLst>
              </a:tr>
              <a:tr h="389045">
                <a:tc vMerge="1">
                  <a:txBody>
                    <a:bodyPr/>
                    <a:lstStyle/>
                    <a:p>
                      <a:endParaRPr lang="zh-CN"/>
                    </a:p>
                  </a:txBody>
                  <a:tcPr/>
                </a:tc>
                <a:tc vMerge="1">
                  <a:txBody>
                    <a:bodyPr/>
                    <a:lstStyle/>
                    <a:p>
                      <a:endParaRPr lang="zh-CN"/>
                    </a:p>
                  </a:txBody>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100</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万元≤</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M&lt;500</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万元</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0.80%</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extLst>
                  <a:ext uri="{0D108BD9-81ED-4DB2-BD59-A6C34878D82A}">
                    <a16:rowId xmlns:a16="http://schemas.microsoft.com/office/drawing/2014/main" xmlns="" val="10003"/>
                  </a:ext>
                </a:extLst>
              </a:tr>
              <a:tr h="389045">
                <a:tc vMerge="1">
                  <a:txBody>
                    <a:bodyPr/>
                    <a:lstStyle/>
                    <a:p>
                      <a:endParaRPr lang="zh-CN"/>
                    </a:p>
                  </a:txBody>
                  <a:tcPr>
                    <a:lnT w="12700" cap="flat" cmpd="sng" algn="ctr">
                      <a:solidFill>
                        <a:srgbClr val="AEABAB"/>
                      </a:solidFill>
                      <a:prstDash val="solid"/>
                      <a:round/>
                      <a:headEnd type="none" w="med" len="med"/>
                      <a:tailEnd type="none" w="med" len="med"/>
                    </a:lnT>
                  </a:tcPr>
                </a:tc>
                <a:tc vMerge="1">
                  <a:txBody>
                    <a:bodyPr/>
                    <a:lstStyle/>
                    <a:p>
                      <a:endParaRPr lang="zh-CN"/>
                    </a:p>
                  </a:txBody>
                  <a:tcPr>
                    <a:lnT w="12700" cap="flat" cmpd="sng" algn="ctr">
                      <a:solidFill>
                        <a:srgbClr val="AEABAB"/>
                      </a:solidFill>
                      <a:prstDash val="solid"/>
                      <a:round/>
                      <a:headEnd type="none" w="med" len="med"/>
                      <a:tailEnd type="none" w="med" len="med"/>
                    </a:lnT>
                  </a:tcPr>
                </a:tc>
                <a:tc>
                  <a:txBody>
                    <a:bodyPr/>
                    <a:lstStyle/>
                    <a:p>
                      <a:pPr algn="ctr" rtl="0" fontAlgn="ctr"/>
                      <a:r>
                        <a:rPr lang="en-US" sz="1000" b="0" i="0" u="none" strike="noStrike" dirty="0">
                          <a:solidFill>
                            <a:srgbClr val="000000"/>
                          </a:solidFill>
                          <a:effectLst/>
                          <a:latin typeface="微软雅黑" panose="020B0503020204020204" pitchFamily="34" charset="-122"/>
                          <a:ea typeface="微软雅黑" panose="020B0503020204020204" pitchFamily="34" charset="-122"/>
                        </a:rPr>
                        <a:t>M≥500</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万元</a:t>
                      </a:r>
                    </a:p>
                  </a:txBody>
                  <a:tcPr marL="9525" marR="9525" marT="9525" marB="0" anchor="ctr">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1000</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元</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笔</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extLst>
                  <a:ext uri="{0D108BD9-81ED-4DB2-BD59-A6C34878D82A}">
                    <a16:rowId xmlns:a16="http://schemas.microsoft.com/office/drawing/2014/main" xmlns="" val="10004"/>
                  </a:ext>
                </a:extLst>
              </a:tr>
              <a:tr h="389045">
                <a:tc vMerge="1">
                  <a:txBody>
                    <a:bodyPr/>
                    <a:lstStyle/>
                    <a:p>
                      <a:endParaRPr lang="zh-CN"/>
                    </a:p>
                  </a:txBody>
                  <a:tcPr/>
                </a:tc>
                <a:tc>
                  <a:txBody>
                    <a:bodyPr/>
                    <a:lstStyle/>
                    <a:p>
                      <a:pPr algn="ctr" rtl="0" fontAlgn="ctr"/>
                      <a:r>
                        <a:rPr lang="en-US" sz="1100" b="1" i="0" u="none" strike="noStrike" dirty="0">
                          <a:solidFill>
                            <a:schemeClr val="bg1"/>
                          </a:solidFill>
                          <a:effectLst/>
                          <a:latin typeface="微软雅黑" panose="020B0503020204020204" pitchFamily="34" charset="-122"/>
                          <a:ea typeface="微软雅黑" panose="020B0503020204020204" pitchFamily="34" charset="-122"/>
                        </a:rPr>
                        <a:t>C</a:t>
                      </a: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类</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gridSpan="2">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hMerge="1">
                  <a:txBody>
                    <a:bodyPr/>
                    <a:lstStyle/>
                    <a:p>
                      <a:endParaRPr lang="zh-CN"/>
                    </a:p>
                  </a:txBody>
                  <a:tcPr/>
                </a:tc>
                <a:extLst>
                  <a:ext uri="{0D108BD9-81ED-4DB2-BD59-A6C34878D82A}">
                    <a16:rowId xmlns:a16="http://schemas.microsoft.com/office/drawing/2014/main" xmlns="" val="10005"/>
                  </a:ext>
                </a:extLst>
              </a:tr>
              <a:tr h="389045">
                <a:tc rowSpan="3">
                  <a:txBody>
                    <a:bodyPr/>
                    <a:lstStyle/>
                    <a:p>
                      <a:pPr algn="ctr" rtl="0" fontAlgn="ct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赎回费</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a:txBody>
                    <a:bodyPr/>
                    <a:lstStyle/>
                    <a:p>
                      <a:pPr algn="ctr" rtl="0" fontAlgn="ct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基金份额</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a:txBody>
                    <a:bodyPr/>
                    <a:lstStyle/>
                    <a:p>
                      <a:pPr algn="ctr" rtl="0"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持有时间（</a:t>
                      </a: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Y</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a:txBody>
                    <a:bodyPr/>
                    <a:lstStyle/>
                    <a:p>
                      <a:pPr algn="ctr" rtl="0"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赎回费率</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extLst>
                  <a:ext uri="{0D108BD9-81ED-4DB2-BD59-A6C34878D82A}">
                    <a16:rowId xmlns:a16="http://schemas.microsoft.com/office/drawing/2014/main" xmlns="" val="10006"/>
                  </a:ext>
                </a:extLst>
              </a:tr>
              <a:tr h="389045">
                <a:tc vMerge="1">
                  <a:txBody>
                    <a:bodyPr/>
                    <a:lstStyle/>
                    <a:p>
                      <a:endParaRPr lang="zh-CN"/>
                    </a:p>
                  </a:txBody>
                  <a:tcPr/>
                </a:tc>
                <a:tc rowSpan="2">
                  <a:txBody>
                    <a:bodyPr/>
                    <a:lstStyle/>
                    <a:p>
                      <a:pPr algn="ctr" rtl="0" fontAlgn="ctr"/>
                      <a:r>
                        <a:rPr lang="en-US" sz="1100" b="1" i="0" u="none" strike="noStrike" dirty="0">
                          <a:solidFill>
                            <a:schemeClr val="bg1"/>
                          </a:solidFill>
                          <a:effectLst/>
                          <a:latin typeface="微软雅黑" panose="020B0503020204020204" pitchFamily="34" charset="-122"/>
                          <a:ea typeface="微软雅黑" panose="020B0503020204020204" pitchFamily="34" charset="-122"/>
                        </a:rPr>
                        <a:t>A</a:t>
                      </a: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类</a:t>
                      </a:r>
                      <a:r>
                        <a:rPr lang="en-US" altLang="zh-CN" sz="1100" b="1" i="0" u="none" strike="noStrike" dirty="0">
                          <a:solidFill>
                            <a:schemeClr val="bg1"/>
                          </a:solidFill>
                          <a:effectLst/>
                          <a:latin typeface="微软雅黑" panose="020B0503020204020204" pitchFamily="34" charset="-122"/>
                          <a:ea typeface="微软雅黑" panose="020B0503020204020204" pitchFamily="34" charset="-122"/>
                        </a:rPr>
                        <a:t>/C</a:t>
                      </a: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类</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a:txBody>
                    <a:bodyPr/>
                    <a:lstStyle/>
                    <a:p>
                      <a:pPr algn="ctr" rtl="0" fontAlgn="ctr"/>
                      <a:r>
                        <a:rPr lang="en-US" sz="1000" b="0" i="0" u="none" strike="noStrike" dirty="0">
                          <a:solidFill>
                            <a:srgbClr val="000000"/>
                          </a:solidFill>
                          <a:effectLst/>
                          <a:latin typeface="微软雅黑" panose="020B0503020204020204" pitchFamily="34" charset="-122"/>
                          <a:ea typeface="微软雅黑" panose="020B0503020204020204" pitchFamily="34" charset="-122"/>
                        </a:rPr>
                        <a:t>Y＜7</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日</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1.50%</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extLst>
                  <a:ext uri="{0D108BD9-81ED-4DB2-BD59-A6C34878D82A}">
                    <a16:rowId xmlns:a16="http://schemas.microsoft.com/office/drawing/2014/main" xmlns="" val="10007"/>
                  </a:ext>
                </a:extLst>
              </a:tr>
              <a:tr h="389045">
                <a:tc vMerge="1">
                  <a:txBody>
                    <a:bodyPr/>
                    <a:lstStyle/>
                    <a:p>
                      <a:endParaRPr lang="zh-CN"/>
                    </a:p>
                  </a:txBody>
                  <a:tcPr/>
                </a:tc>
                <a:tc vMerge="1">
                  <a:txBody>
                    <a:bodyPr/>
                    <a:lstStyle/>
                    <a:p>
                      <a:endParaRPr lang="zh-CN"/>
                    </a:p>
                  </a:txBody>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Y≥7</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日</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extLst>
                  <a:ext uri="{0D108BD9-81ED-4DB2-BD59-A6C34878D82A}">
                    <a16:rowId xmlns:a16="http://schemas.microsoft.com/office/drawing/2014/main" xmlns="" val="10008"/>
                  </a:ext>
                </a:extLst>
              </a:tr>
              <a:tr h="389045">
                <a:tc gridSpan="2">
                  <a:txBody>
                    <a:bodyPr/>
                    <a:lstStyle/>
                    <a:p>
                      <a:pPr algn="ctr" rtl="0" fontAlgn="ct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管理费率</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hMerge="1">
                  <a:txBody>
                    <a:bodyPr/>
                    <a:lstStyle/>
                    <a:p>
                      <a:endParaRPr lang="zh-CN"/>
                    </a:p>
                  </a:txBody>
                  <a:tcPr/>
                </a:tc>
                <a:tc gridSpan="2">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0.80%/</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年</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hMerge="1">
                  <a:txBody>
                    <a:bodyPr/>
                    <a:lstStyle/>
                    <a:p>
                      <a:endParaRPr lang="zh-CN"/>
                    </a:p>
                  </a:txBody>
                  <a:tcPr/>
                </a:tc>
                <a:extLst>
                  <a:ext uri="{0D108BD9-81ED-4DB2-BD59-A6C34878D82A}">
                    <a16:rowId xmlns:a16="http://schemas.microsoft.com/office/drawing/2014/main" xmlns="" val="10009"/>
                  </a:ext>
                </a:extLst>
              </a:tr>
              <a:tr h="389045">
                <a:tc gridSpan="2">
                  <a:txBody>
                    <a:bodyPr/>
                    <a:lstStyle/>
                    <a:p>
                      <a:pPr algn="ctr" rtl="0" fontAlgn="ct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托管费率</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hMerge="1">
                  <a:txBody>
                    <a:bodyPr/>
                    <a:lstStyle/>
                    <a:p>
                      <a:endParaRPr lang="zh-CN"/>
                    </a:p>
                  </a:txBody>
                  <a:tcPr/>
                </a:tc>
                <a:tc gridSpan="2">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0.15%/</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年</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hMerge="1">
                  <a:txBody>
                    <a:bodyPr/>
                    <a:lstStyle/>
                    <a:p>
                      <a:endParaRPr lang="zh-CN"/>
                    </a:p>
                  </a:txBody>
                  <a:tcPr/>
                </a:tc>
                <a:extLst>
                  <a:ext uri="{0D108BD9-81ED-4DB2-BD59-A6C34878D82A}">
                    <a16:rowId xmlns:a16="http://schemas.microsoft.com/office/drawing/2014/main" xmlns="" val="10010"/>
                  </a:ext>
                </a:extLst>
              </a:tr>
              <a:tr h="389045">
                <a:tc rowSpan="2" gridSpan="2">
                  <a:txBody>
                    <a:bodyPr/>
                    <a:lstStyle/>
                    <a:p>
                      <a:pPr algn="ctr" rtl="0" fontAlgn="ctr"/>
                      <a:r>
                        <a:rPr lang="zh-CN" altLang="en-US" sz="1100" b="1" i="0" u="none" strike="noStrike" dirty="0">
                          <a:solidFill>
                            <a:schemeClr val="bg1"/>
                          </a:solidFill>
                          <a:effectLst/>
                          <a:latin typeface="微软雅黑" panose="020B0503020204020204" pitchFamily="34" charset="-122"/>
                          <a:ea typeface="微软雅黑" panose="020B0503020204020204" pitchFamily="34" charset="-122"/>
                        </a:rPr>
                        <a:t>销售服务费率</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00366C"/>
                    </a:solidFill>
                  </a:tcPr>
                </a:tc>
                <a:tc rowSpan="2" hMerge="1">
                  <a:txBody>
                    <a:bodyPr/>
                    <a:lstStyle/>
                    <a:p>
                      <a:endParaRPr lang="zh-CN"/>
                    </a:p>
                  </a:txBody>
                  <a:tcPr/>
                </a:tc>
                <a:tc>
                  <a:txBody>
                    <a:bodyPr/>
                    <a:lstStyle/>
                    <a:p>
                      <a:pPr algn="ctr" rtl="0" fontAlgn="ctr"/>
                      <a:r>
                        <a:rPr lang="en-US" sz="1000" b="1" i="0" u="none" strike="noStrike">
                          <a:solidFill>
                            <a:srgbClr val="000000"/>
                          </a:solidFill>
                          <a:effectLst/>
                          <a:latin typeface="微软雅黑" panose="020B0503020204020204" pitchFamily="34" charset="-122"/>
                          <a:ea typeface="微软雅黑" panose="020B0503020204020204" pitchFamily="34" charset="-122"/>
                        </a:rPr>
                        <a:t>A</a:t>
                      </a:r>
                      <a:r>
                        <a:rPr lang="zh-CN" altLang="en-US" sz="1000" b="1" i="0" u="none" strike="noStrike">
                          <a:solidFill>
                            <a:srgbClr val="000000"/>
                          </a:solidFill>
                          <a:effectLst/>
                          <a:latin typeface="微软雅黑" panose="020B0503020204020204" pitchFamily="34" charset="-122"/>
                          <a:ea typeface="微软雅黑" panose="020B0503020204020204" pitchFamily="34" charset="-122"/>
                        </a:rPr>
                        <a:t>类基金份额</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a:txBody>
                    <a:bodyPr/>
                    <a:lstStyle/>
                    <a:p>
                      <a:pPr algn="ctr" rtl="0" fontAlgn="ctr"/>
                      <a:r>
                        <a:rPr lang="en-US" sz="1000" b="1" i="0" u="none" strike="noStrike" dirty="0">
                          <a:solidFill>
                            <a:srgbClr val="000000"/>
                          </a:solidFill>
                          <a:effectLst/>
                          <a:latin typeface="微软雅黑" panose="020B0503020204020204" pitchFamily="34" charset="-122"/>
                          <a:ea typeface="微软雅黑" panose="020B0503020204020204" pitchFamily="34" charset="-122"/>
                        </a:rPr>
                        <a:t>C</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类基金份额</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extLst>
                  <a:ext uri="{0D108BD9-81ED-4DB2-BD59-A6C34878D82A}">
                    <a16:rowId xmlns:a16="http://schemas.microsoft.com/office/drawing/2014/main" xmlns="" val="10011"/>
                  </a:ext>
                </a:extLst>
              </a:tr>
              <a:tr h="389045">
                <a:tc gridSpan="2" vMerge="1">
                  <a:txBody>
                    <a:bodyPr/>
                    <a:lstStyle/>
                    <a:p>
                      <a:endParaRPr lang="zh-CN"/>
                    </a:p>
                  </a:txBody>
                  <a:tcPr/>
                </a:tc>
                <a:tc hMerge="1" vMerge="1">
                  <a:txBody>
                    <a:bodyPr/>
                    <a:lstStyle/>
                    <a:p>
                      <a:endParaRPr lang="zh-CN"/>
                    </a:p>
                  </a:txBody>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0.40%/</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年</a:t>
                      </a:r>
                    </a:p>
                  </a:txBody>
                  <a:tcPr marL="9525" marR="9525" marT="9525" marB="0" anchor="ctr">
                    <a:lnL w="12700" cap="flat" cmpd="sng" algn="ctr">
                      <a:solidFill>
                        <a:srgbClr val="AEABAB"/>
                      </a:solidFill>
                      <a:prstDash val="solid"/>
                      <a:round/>
                      <a:headEnd type="none" w="med" len="med"/>
                      <a:tailEnd type="none" w="med" len="med"/>
                    </a:lnL>
                    <a:lnR w="12700" cap="flat" cmpd="sng" algn="ctr">
                      <a:solidFill>
                        <a:srgbClr val="AEABAB"/>
                      </a:solidFill>
                      <a:prstDash val="solid"/>
                      <a:round/>
                      <a:headEnd type="none" w="med" len="med"/>
                      <a:tailEnd type="none" w="med" len="med"/>
                    </a:lnR>
                    <a:lnT w="12700" cap="flat" cmpd="sng" algn="ctr">
                      <a:solidFill>
                        <a:srgbClr val="AEABAB"/>
                      </a:solidFill>
                      <a:prstDash val="solid"/>
                      <a:round/>
                      <a:headEnd type="none" w="med" len="med"/>
                      <a:tailEnd type="none" w="med" len="med"/>
                    </a:lnT>
                    <a:lnB w="12700" cap="flat" cmpd="sng" algn="ctr">
                      <a:solidFill>
                        <a:srgbClr val="AEABAB"/>
                      </a:solidFill>
                      <a:prstDash val="solid"/>
                      <a:round/>
                      <a:headEnd type="none" w="med" len="med"/>
                      <a:tailEnd type="none" w="med" len="med"/>
                    </a:lnB>
                    <a:solidFill>
                      <a:srgbClr val="F2F2F2"/>
                    </a:solidFill>
                  </a:tcPr>
                </a:tc>
                <a:extLst>
                  <a:ext uri="{0D108BD9-81ED-4DB2-BD59-A6C34878D82A}">
                    <a16:rowId xmlns:a16="http://schemas.microsoft.com/office/drawing/2014/main" xmlns="" val="1001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248770-FC09-F37E-63FD-D2F93CE05170}"/>
            </a:ext>
          </a:extLst>
        </p:cNvPr>
        <p:cNvGrpSpPr/>
        <p:nvPr/>
      </p:nvGrpSpPr>
      <p:grpSpPr>
        <a:xfrm>
          <a:off x="0" y="0"/>
          <a:ext cx="0" cy="0"/>
          <a:chOff x="0" y="0"/>
          <a:chExt cx="0" cy="0"/>
        </a:xfrm>
      </p:grpSpPr>
      <p:sp>
        <p:nvSpPr>
          <p:cNvPr id="13314" name="标题 1">
            <a:extLst>
              <a:ext uri="{FF2B5EF4-FFF2-40B4-BE49-F238E27FC236}">
                <a16:creationId xmlns:a16="http://schemas.microsoft.com/office/drawing/2014/main" xmlns="" id="{845263D9-75B1-52FB-FBE8-3E287454F7F5}"/>
              </a:ext>
            </a:extLst>
          </p:cNvPr>
          <p:cNvSpPr>
            <a:spLocks noGrp="1"/>
          </p:cNvSpPr>
          <p:nvPr>
            <p:ph type="title"/>
          </p:nvPr>
        </p:nvSpPr>
        <p:spPr>
          <a:xfrm>
            <a:off x="1355725" y="415925"/>
            <a:ext cx="3586163" cy="534988"/>
          </a:xfrm>
        </p:spPr>
        <p:txBody>
          <a:bodyPr/>
          <a:lstStyle/>
          <a:p>
            <a:r>
              <a:rPr lang="zh-CN" altLang="en-US"/>
              <a:t>目录</a:t>
            </a:r>
          </a:p>
        </p:txBody>
      </p:sp>
      <p:sp>
        <p:nvSpPr>
          <p:cNvPr id="2" name="灯片编号占位符 1">
            <a:extLst>
              <a:ext uri="{FF2B5EF4-FFF2-40B4-BE49-F238E27FC236}">
                <a16:creationId xmlns:a16="http://schemas.microsoft.com/office/drawing/2014/main" xmlns="" id="{C8485DAD-BF9D-F953-BCF9-5F62E53DCF43}"/>
              </a:ext>
            </a:extLst>
          </p:cNvPr>
          <p:cNvSpPr>
            <a:spLocks noGrp="1"/>
          </p:cNvSpPr>
          <p:nvPr>
            <p:ph type="sldNum" sz="quarter" idx="11"/>
          </p:nvPr>
        </p:nvSpPr>
        <p:spPr/>
        <p:txBody>
          <a:bodyPr/>
          <a:lstStyle/>
          <a:p>
            <a:pPr>
              <a:defRPr/>
            </a:pPr>
            <a:fld id="{6E91549D-98B7-4077-996F-05BE1B29F039}" type="slidenum">
              <a:rPr lang="zh-CN" altLang="en-US" smtClean="0"/>
              <a:t>18</a:t>
            </a:fld>
            <a:endParaRPr lang="zh-CN" altLang="en-US" dirty="0"/>
          </a:p>
        </p:txBody>
      </p:sp>
      <p:sp>
        <p:nvSpPr>
          <p:cNvPr id="3" name="íşḷíḓe">
            <a:extLst>
              <a:ext uri="{FF2B5EF4-FFF2-40B4-BE49-F238E27FC236}">
                <a16:creationId xmlns:a16="http://schemas.microsoft.com/office/drawing/2014/main" xmlns="" id="{8C7F90FF-3E46-66DD-CDBB-A0833CDE171F}"/>
              </a:ext>
            </a:extLst>
          </p:cNvPr>
          <p:cNvSpPr txBox="1"/>
          <p:nvPr/>
        </p:nvSpPr>
        <p:spPr>
          <a:xfrm>
            <a:off x="1355727" y="2940917"/>
            <a:ext cx="973137" cy="831850"/>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en-US" altLang="zh-CN" sz="4800" dirty="0">
                <a:solidFill>
                  <a:srgbClr val="EA5838"/>
                </a:solidFill>
              </a:rPr>
              <a:t>02</a:t>
            </a:r>
            <a:endParaRPr lang="zh-CN" altLang="en-US" sz="4800" dirty="0">
              <a:solidFill>
                <a:srgbClr val="EA5838"/>
              </a:solidFill>
            </a:endParaRPr>
          </a:p>
        </p:txBody>
      </p:sp>
      <p:sp>
        <p:nvSpPr>
          <p:cNvPr id="7" name="îSḻíḑè">
            <a:extLst>
              <a:ext uri="{FF2B5EF4-FFF2-40B4-BE49-F238E27FC236}">
                <a16:creationId xmlns:a16="http://schemas.microsoft.com/office/drawing/2014/main" xmlns="" id="{D68527DF-928F-C73E-03CE-656310BDBB47}"/>
              </a:ext>
            </a:extLst>
          </p:cNvPr>
          <p:cNvSpPr txBox="1"/>
          <p:nvPr/>
        </p:nvSpPr>
        <p:spPr>
          <a:xfrm>
            <a:off x="2328861" y="3100610"/>
            <a:ext cx="7464843" cy="4616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zh-CN" altLang="en-US" sz="2400" dirty="0">
                <a:solidFill>
                  <a:srgbClr val="EA5838"/>
                </a:solidFill>
              </a:rPr>
              <a:t>量化“梦之队”：行业领先的“超”能力</a:t>
            </a:r>
          </a:p>
        </p:txBody>
      </p:sp>
      <p:cxnSp>
        <p:nvCxnSpPr>
          <p:cNvPr id="11" name="iṧḷíde">
            <a:extLst>
              <a:ext uri="{FF2B5EF4-FFF2-40B4-BE49-F238E27FC236}">
                <a16:creationId xmlns:a16="http://schemas.microsoft.com/office/drawing/2014/main" xmlns="" id="{C63DA0CA-9D9D-A44F-41A4-C64CD1101950}"/>
              </a:ext>
            </a:extLst>
          </p:cNvPr>
          <p:cNvCxnSpPr/>
          <p:nvPr/>
        </p:nvCxnSpPr>
        <p:spPr>
          <a:xfrm rot="5400000" flipV="1">
            <a:off x="3455196" y="868779"/>
            <a:ext cx="0" cy="3910013"/>
          </a:xfrm>
          <a:prstGeom prst="line">
            <a:avLst/>
          </a:prstGeom>
          <a:ln w="12700">
            <a:solidFill>
              <a:schemeClr val="tx1">
                <a:lumMod val="50000"/>
                <a:lumOff val="50000"/>
                <a:alpha val="20000"/>
              </a:schemeClr>
            </a:solidFill>
            <a:headEnd type="diamond"/>
          </a:ln>
        </p:spPr>
        <p:style>
          <a:lnRef idx="1">
            <a:schemeClr val="accent1"/>
          </a:lnRef>
          <a:fillRef idx="0">
            <a:schemeClr val="accent1"/>
          </a:fillRef>
          <a:effectRef idx="0">
            <a:schemeClr val="accent1"/>
          </a:effectRef>
          <a:fontRef idx="minor">
            <a:schemeClr val="tx1"/>
          </a:fontRef>
        </p:style>
      </p:cxnSp>
      <p:sp>
        <p:nvSpPr>
          <p:cNvPr id="19" name="îṩľïďé">
            <a:extLst>
              <a:ext uri="{FF2B5EF4-FFF2-40B4-BE49-F238E27FC236}">
                <a16:creationId xmlns:a16="http://schemas.microsoft.com/office/drawing/2014/main" xmlns="" id="{8A20A612-B5BD-8A55-D5BC-97638A163E38}"/>
              </a:ext>
            </a:extLst>
          </p:cNvPr>
          <p:cNvSpPr txBox="1"/>
          <p:nvPr/>
        </p:nvSpPr>
        <p:spPr>
          <a:xfrm>
            <a:off x="1355726" y="1896912"/>
            <a:ext cx="1079500" cy="830263"/>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en-US" altLang="zh-CN" sz="4800" dirty="0">
                <a:solidFill>
                  <a:srgbClr val="00366C"/>
                </a:solidFill>
              </a:rPr>
              <a:t>01</a:t>
            </a:r>
            <a:endParaRPr lang="zh-CN" altLang="en-US" sz="4800" dirty="0">
              <a:solidFill>
                <a:srgbClr val="00366C"/>
              </a:solidFill>
            </a:endParaRPr>
          </a:p>
        </p:txBody>
      </p:sp>
      <p:sp>
        <p:nvSpPr>
          <p:cNvPr id="20" name="ïšḷîḓé">
            <a:extLst>
              <a:ext uri="{FF2B5EF4-FFF2-40B4-BE49-F238E27FC236}">
                <a16:creationId xmlns:a16="http://schemas.microsoft.com/office/drawing/2014/main" xmlns="" id="{E68AA275-74AF-F844-A7AE-96935CBB25AD}"/>
              </a:ext>
            </a:extLst>
          </p:cNvPr>
          <p:cNvSpPr txBox="1"/>
          <p:nvPr/>
        </p:nvSpPr>
        <p:spPr>
          <a:xfrm>
            <a:off x="2373312" y="2111374"/>
            <a:ext cx="5403064" cy="4616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zh-CN" altLang="en-US" sz="2400" dirty="0">
                <a:solidFill>
                  <a:srgbClr val="00366C"/>
                </a:solidFill>
              </a:rPr>
              <a:t>中证全指指数：</a:t>
            </a:r>
            <a:r>
              <a:rPr lang="en-US" altLang="zh-CN" sz="2400" dirty="0">
                <a:solidFill>
                  <a:srgbClr val="00366C"/>
                </a:solidFill>
              </a:rPr>
              <a:t>A</a:t>
            </a:r>
            <a:r>
              <a:rPr lang="zh-CN" altLang="en-US" sz="2400" dirty="0">
                <a:solidFill>
                  <a:srgbClr val="00366C"/>
                </a:solidFill>
              </a:rPr>
              <a:t>股最“全”指数</a:t>
            </a:r>
          </a:p>
        </p:txBody>
      </p:sp>
      <p:cxnSp>
        <p:nvCxnSpPr>
          <p:cNvPr id="21" name="iṧḷíde">
            <a:extLst>
              <a:ext uri="{FF2B5EF4-FFF2-40B4-BE49-F238E27FC236}">
                <a16:creationId xmlns:a16="http://schemas.microsoft.com/office/drawing/2014/main" xmlns="" id="{CB693F43-3ADC-BCC4-62A5-C3ABDD761ED7}"/>
              </a:ext>
            </a:extLst>
          </p:cNvPr>
          <p:cNvCxnSpPr/>
          <p:nvPr/>
        </p:nvCxnSpPr>
        <p:spPr>
          <a:xfrm rot="5400000" flipV="1">
            <a:off x="3455196" y="1859035"/>
            <a:ext cx="0" cy="3910013"/>
          </a:xfrm>
          <a:prstGeom prst="line">
            <a:avLst/>
          </a:prstGeom>
          <a:ln w="12700">
            <a:solidFill>
              <a:schemeClr val="tx1">
                <a:lumMod val="50000"/>
                <a:lumOff val="50000"/>
                <a:alpha val="20000"/>
              </a:schemeClr>
            </a:solidFill>
            <a:headEnd type="diamond"/>
          </a:ln>
        </p:spPr>
        <p:style>
          <a:lnRef idx="1">
            <a:schemeClr val="accent1"/>
          </a:lnRef>
          <a:fillRef idx="0">
            <a:schemeClr val="accent1"/>
          </a:fillRef>
          <a:effectRef idx="0">
            <a:schemeClr val="accent1"/>
          </a:effectRef>
          <a:fontRef idx="minor">
            <a:schemeClr val="tx1"/>
          </a:fontRef>
        </p:style>
      </p:cxnSp>
      <p:sp>
        <p:nvSpPr>
          <p:cNvPr id="22" name="íşḷíḓe">
            <a:extLst>
              <a:ext uri="{FF2B5EF4-FFF2-40B4-BE49-F238E27FC236}">
                <a16:creationId xmlns:a16="http://schemas.microsoft.com/office/drawing/2014/main" xmlns="" id="{A79B3447-8295-2F69-ED95-84CBDC984EA3}"/>
              </a:ext>
            </a:extLst>
          </p:cNvPr>
          <p:cNvSpPr txBox="1"/>
          <p:nvPr/>
        </p:nvSpPr>
        <p:spPr>
          <a:xfrm>
            <a:off x="1355726" y="3962297"/>
            <a:ext cx="973137" cy="831850"/>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en-US" altLang="zh-CN" sz="4800" dirty="0">
                <a:solidFill>
                  <a:srgbClr val="00366C"/>
                </a:solidFill>
              </a:rPr>
              <a:t>03</a:t>
            </a:r>
            <a:endParaRPr lang="zh-CN" altLang="en-US" sz="4800" dirty="0">
              <a:solidFill>
                <a:srgbClr val="00366C"/>
              </a:solidFill>
            </a:endParaRPr>
          </a:p>
        </p:txBody>
      </p:sp>
      <p:sp>
        <p:nvSpPr>
          <p:cNvPr id="23" name="îSḻíḑè">
            <a:extLst>
              <a:ext uri="{FF2B5EF4-FFF2-40B4-BE49-F238E27FC236}">
                <a16:creationId xmlns:a16="http://schemas.microsoft.com/office/drawing/2014/main" xmlns="" id="{DDD3CFA7-3FB2-5D20-9585-66B598D74B90}"/>
              </a:ext>
            </a:extLst>
          </p:cNvPr>
          <p:cNvSpPr txBox="1"/>
          <p:nvPr/>
        </p:nvSpPr>
        <p:spPr>
          <a:xfrm>
            <a:off x="2328862" y="4121990"/>
            <a:ext cx="4518668" cy="4616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zh-CN" altLang="en-US" sz="2400" dirty="0">
                <a:solidFill>
                  <a:srgbClr val="00366C"/>
                </a:solidFill>
              </a:rPr>
              <a:t>与优秀同行：博道基金介绍</a:t>
            </a:r>
          </a:p>
        </p:txBody>
      </p:sp>
      <p:cxnSp>
        <p:nvCxnSpPr>
          <p:cNvPr id="24" name="iṧḷíde">
            <a:extLst>
              <a:ext uri="{FF2B5EF4-FFF2-40B4-BE49-F238E27FC236}">
                <a16:creationId xmlns:a16="http://schemas.microsoft.com/office/drawing/2014/main" xmlns="" id="{54AED353-79C5-B99D-71BF-648A23EBEAA3}"/>
              </a:ext>
            </a:extLst>
          </p:cNvPr>
          <p:cNvCxnSpPr/>
          <p:nvPr/>
        </p:nvCxnSpPr>
        <p:spPr>
          <a:xfrm rot="5400000" flipV="1">
            <a:off x="3455195" y="2880415"/>
            <a:ext cx="0" cy="3910013"/>
          </a:xfrm>
          <a:prstGeom prst="line">
            <a:avLst/>
          </a:prstGeom>
          <a:ln w="12700">
            <a:solidFill>
              <a:schemeClr val="tx1">
                <a:lumMod val="50000"/>
                <a:lumOff val="50000"/>
                <a:alpha val="20000"/>
              </a:schemeClr>
            </a:solidFill>
            <a:headEnd type="diamo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22900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矩形 217"/>
          <p:cNvSpPr/>
          <p:nvPr/>
        </p:nvSpPr>
        <p:spPr>
          <a:xfrm>
            <a:off x="4271800" y="2149764"/>
            <a:ext cx="3400147" cy="4021534"/>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 name="标题 1"/>
          <p:cNvSpPr>
            <a:spLocks noGrp="1"/>
          </p:cNvSpPr>
          <p:nvPr>
            <p:ph type="title"/>
          </p:nvPr>
        </p:nvSpPr>
        <p:spPr/>
        <p:txBody>
          <a:bodyPr>
            <a:noAutofit/>
          </a:bodyPr>
          <a:lstStyle/>
          <a:p>
            <a:r>
              <a:rPr lang="zh-CN" altLang="en-US" dirty="0"/>
              <a:t>博道量化精品店：完善的</a:t>
            </a:r>
            <a:r>
              <a:rPr lang="zh-CN" altLang="en-US" dirty="0">
                <a:solidFill>
                  <a:srgbClr val="EA5838"/>
                </a:solidFill>
              </a:rPr>
              <a:t>指数</a:t>
            </a:r>
            <a:r>
              <a:rPr lang="en-US" altLang="zh-CN" dirty="0">
                <a:solidFill>
                  <a:srgbClr val="EA5838"/>
                </a:solidFill>
              </a:rPr>
              <a:t>+</a:t>
            </a:r>
            <a:r>
              <a:rPr lang="zh-CN" altLang="en-US" dirty="0"/>
              <a:t>产品布局</a:t>
            </a:r>
            <a:endParaRPr lang="zh-CN" altLang="en-US" dirty="0">
              <a:solidFill>
                <a:srgbClr val="103565"/>
              </a:solidFill>
            </a:endParaRPr>
          </a:p>
        </p:txBody>
      </p:sp>
      <p:sp>
        <p:nvSpPr>
          <p:cNvPr id="66" name="副标题 2"/>
          <p:cNvSpPr>
            <a:spLocks noGrp="1"/>
          </p:cNvSpPr>
          <p:nvPr>
            <p:ph type="subTitle" idx="1"/>
          </p:nvPr>
        </p:nvSpPr>
        <p:spPr/>
        <p:txBody>
          <a:bodyPr>
            <a:noAutofit/>
          </a:bodyPr>
          <a:lstStyle/>
          <a:p>
            <a:r>
              <a:rPr lang="zh-CN" altLang="zh-CN" dirty="0"/>
              <a:t>博道基金当前已经</a:t>
            </a:r>
            <a:r>
              <a:rPr lang="zh-CN" altLang="en-US" dirty="0"/>
              <a:t>建立</a:t>
            </a:r>
            <a:r>
              <a:rPr lang="zh-CN" altLang="zh-CN" dirty="0"/>
              <a:t>完善的量化产品体系，</a:t>
            </a:r>
            <a:r>
              <a:rPr lang="zh-CN" altLang="en-US" dirty="0"/>
              <a:t>按照超额收益特征，分为</a:t>
            </a:r>
            <a:r>
              <a:rPr lang="zh-CN" altLang="en-US" b="1" dirty="0">
                <a:solidFill>
                  <a:srgbClr val="EA5838"/>
                </a:solidFill>
              </a:rPr>
              <a:t>标准指增</a:t>
            </a:r>
            <a:r>
              <a:rPr lang="zh-CN" altLang="en-US" dirty="0"/>
              <a:t>系列、</a:t>
            </a:r>
            <a:r>
              <a:rPr lang="zh-CN" altLang="en-US" b="1" dirty="0">
                <a:solidFill>
                  <a:srgbClr val="EA5838"/>
                </a:solidFill>
              </a:rPr>
              <a:t>灵活指增</a:t>
            </a:r>
            <a:r>
              <a:rPr lang="zh-CN" altLang="en-US" dirty="0"/>
              <a:t>系列、</a:t>
            </a:r>
            <a:r>
              <a:rPr lang="en-US" altLang="zh-CN" b="1" dirty="0">
                <a:solidFill>
                  <a:srgbClr val="EA5838"/>
                </a:solidFill>
              </a:rPr>
              <a:t>smart β</a:t>
            </a:r>
            <a:r>
              <a:rPr lang="zh-CN" altLang="en-US" dirty="0"/>
              <a:t>系列；此外，</a:t>
            </a:r>
            <a:r>
              <a:rPr lang="zh-CN" altLang="en-US" b="1" dirty="0">
                <a:solidFill>
                  <a:srgbClr val="EA5838"/>
                </a:solidFill>
              </a:rPr>
              <a:t>量化固收</a:t>
            </a:r>
            <a:r>
              <a:rPr lang="en-US" altLang="zh-CN" b="1" dirty="0">
                <a:solidFill>
                  <a:srgbClr val="EA5838"/>
                </a:solidFill>
              </a:rPr>
              <a:t>+</a:t>
            </a:r>
            <a:r>
              <a:rPr lang="zh-CN" altLang="en-US" dirty="0"/>
              <a:t>系列（公募及专户多资产策略）。</a:t>
            </a:r>
            <a:endParaRPr lang="zh-CN" altLang="en-US" b="1" dirty="0"/>
          </a:p>
          <a:p>
            <a:endParaRPr lang="zh-CN" altLang="en-US" dirty="0"/>
          </a:p>
        </p:txBody>
      </p:sp>
      <p:sp>
        <p:nvSpPr>
          <p:cNvPr id="209" name="文本框 208"/>
          <p:cNvSpPr txBox="1"/>
          <p:nvPr/>
        </p:nvSpPr>
        <p:spPr>
          <a:xfrm>
            <a:off x="4368159" y="4962663"/>
            <a:ext cx="1582892"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45%</a:t>
            </a:r>
            <a:r>
              <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*中证</a:t>
            </a:r>
            <a:r>
              <a:rPr kumimoji="0" lang="en-US" altLang="zh-CN"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500+45%</a:t>
            </a:r>
            <a:r>
              <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*沪深</a:t>
            </a:r>
            <a:r>
              <a:rPr kumimoji="0" lang="en-US" altLang="zh-CN"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300</a:t>
            </a:r>
            <a:endPar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211" name="文本框 210"/>
          <p:cNvSpPr txBox="1"/>
          <p:nvPr/>
        </p:nvSpPr>
        <p:spPr>
          <a:xfrm>
            <a:off x="4476903" y="5935940"/>
            <a:ext cx="1364783"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Helvetica Neue"/>
              </a:rPr>
              <a:t>885001</a:t>
            </a:r>
            <a:r>
              <a:rPr kumimoji="0" lang="zh-CN" altLang="en-US" sz="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Helvetica Neue"/>
              </a:rPr>
              <a:t>偏股混合型基金指数</a:t>
            </a:r>
          </a:p>
        </p:txBody>
      </p:sp>
      <p:sp>
        <p:nvSpPr>
          <p:cNvPr id="215" name="矩形 214"/>
          <p:cNvSpPr/>
          <p:nvPr/>
        </p:nvSpPr>
        <p:spPr>
          <a:xfrm>
            <a:off x="4271798" y="1606254"/>
            <a:ext cx="3403706" cy="618481"/>
          </a:xfrm>
          <a:prstGeom prst="rect">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16" name="标题 2"/>
          <p:cNvSpPr txBox="1"/>
          <p:nvPr/>
        </p:nvSpPr>
        <p:spPr>
          <a:xfrm>
            <a:off x="5045524" y="1448560"/>
            <a:ext cx="1818034" cy="888134"/>
          </a:xfrm>
          <a:prstGeom prst="rect">
            <a:avLst/>
          </a:prstGeom>
          <a:ln w="12700">
            <a:miter lim="400000"/>
          </a:ln>
        </p:spPr>
        <p:txBody>
          <a:bodyPr lIns="25400" tIns="25400" rIns="25400" bIns="25400" anchor="ctr">
            <a:normAutofit/>
          </a:bodyPr>
          <a:lst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a:lstStyle>
          <a:p>
            <a:pPr marL="0" marR="0" lvl="0" indent="0" algn="ctr" defTabSz="8255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Medium"/>
              </a:rPr>
              <a:t>灵活指增</a:t>
            </a:r>
          </a:p>
        </p:txBody>
      </p:sp>
      <p:sp>
        <p:nvSpPr>
          <p:cNvPr id="217" name="矩形 216"/>
          <p:cNvSpPr/>
          <p:nvPr/>
        </p:nvSpPr>
        <p:spPr>
          <a:xfrm>
            <a:off x="678095" y="2149764"/>
            <a:ext cx="3476611" cy="4021534"/>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19" name="矩形 218"/>
          <p:cNvSpPr/>
          <p:nvPr/>
        </p:nvSpPr>
        <p:spPr>
          <a:xfrm>
            <a:off x="816970" y="3394041"/>
            <a:ext cx="1526140" cy="576000"/>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中</a:t>
            </a:r>
            <a:r>
              <a:rPr kumimoji="0" lang="zh-CN" altLang="en-US"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证</a:t>
            </a:r>
            <a:r>
              <a:rPr kumimoji="0" lang="en-US" altLang="zh-CN"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500</a:t>
            </a:r>
            <a:r>
              <a:rPr kumimoji="0" lang="zh-CN" altLang="en-US" sz="12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增强</a:t>
            </a:r>
            <a:endPar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006593</a:t>
            </a:r>
          </a:p>
        </p:txBody>
      </p:sp>
      <p:sp>
        <p:nvSpPr>
          <p:cNvPr id="220" name="矩形 219"/>
          <p:cNvSpPr/>
          <p:nvPr/>
        </p:nvSpPr>
        <p:spPr>
          <a:xfrm>
            <a:off x="835933" y="2441567"/>
            <a:ext cx="1526140" cy="576000"/>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沪</a:t>
            </a:r>
            <a:r>
              <a:rPr kumimoji="0" lang="zh-CN" altLang="en-US"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深</a:t>
            </a:r>
            <a:r>
              <a:rPr kumimoji="0" lang="en-US" altLang="zh-CN"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300</a:t>
            </a:r>
            <a:r>
              <a:rPr kumimoji="0" lang="zh-CN" altLang="en-US" sz="12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增强</a:t>
            </a:r>
            <a:endPar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007044</a:t>
            </a:r>
            <a:endParaRPr kumimoji="0" lang="zh-CN" altLang="en-US" sz="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21" name="矩形 220"/>
          <p:cNvSpPr/>
          <p:nvPr/>
        </p:nvSpPr>
        <p:spPr>
          <a:xfrm>
            <a:off x="4421226" y="3383165"/>
            <a:ext cx="1476139" cy="579003"/>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伍佰</a:t>
            </a: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智航</a:t>
            </a:r>
            <a:endPar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007831</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（全市场选股</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500</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指增）</a:t>
            </a:r>
            <a:endParaRPr kumimoji="0" lang="zh-CN" altLang="en-US" sz="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22" name="矩形 221"/>
          <p:cNvSpPr/>
          <p:nvPr/>
        </p:nvSpPr>
        <p:spPr>
          <a:xfrm>
            <a:off x="4421226" y="2429691"/>
            <a:ext cx="1476139" cy="556285"/>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叁佰</a:t>
            </a: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智航</a:t>
            </a:r>
            <a:endPar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007470</a:t>
            </a:r>
          </a:p>
          <a:p>
            <a:pPr marL="0" marR="0" lvl="0" indent="0" algn="ctr" defTabSz="412750" rtl="0" eaLnBrk="1" fontAlgn="auto" latinLnBrk="0" hangingPunct="0">
              <a:lnSpc>
                <a:spcPct val="100000"/>
              </a:lnSpc>
              <a:spcBef>
                <a:spcPts val="0"/>
              </a:spcBef>
              <a:spcAft>
                <a:spcPts val="0"/>
              </a:spcAft>
              <a:buClrTx/>
              <a:buSzTx/>
              <a:buFontTx/>
              <a:buNone/>
              <a:defRPr/>
            </a:pP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全市场选股</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300</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指增）</a:t>
            </a:r>
            <a:endParaRPr kumimoji="0" lang="zh-CN" altLang="en-US" sz="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23" name="文本框 222"/>
          <p:cNvSpPr txBox="1"/>
          <p:nvPr/>
        </p:nvSpPr>
        <p:spPr>
          <a:xfrm>
            <a:off x="1071217" y="4038347"/>
            <a:ext cx="1017646"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中证</a:t>
            </a:r>
            <a:r>
              <a:rPr kumimoji="0" lang="en-US" altLang="zh-CN"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500</a:t>
            </a:r>
            <a:r>
              <a:rPr kumimoji="0" lang="zh-CN" altLang="en-US" sz="800" b="1"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指数</a:t>
            </a:r>
            <a:endPar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225" name="文本框 224"/>
          <p:cNvSpPr txBox="1"/>
          <p:nvPr/>
        </p:nvSpPr>
        <p:spPr>
          <a:xfrm>
            <a:off x="4626532" y="4030439"/>
            <a:ext cx="1017646"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中证</a:t>
            </a:r>
            <a:r>
              <a:rPr kumimoji="0" lang="en-US" altLang="zh-CN"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500</a:t>
            </a:r>
            <a:r>
              <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指数</a:t>
            </a:r>
          </a:p>
        </p:txBody>
      </p:sp>
      <p:sp>
        <p:nvSpPr>
          <p:cNvPr id="226" name="文本框 225"/>
          <p:cNvSpPr txBox="1"/>
          <p:nvPr/>
        </p:nvSpPr>
        <p:spPr>
          <a:xfrm>
            <a:off x="4547828" y="3074214"/>
            <a:ext cx="1028956"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沪深</a:t>
            </a:r>
            <a:r>
              <a:rPr kumimoji="0" lang="en-US" altLang="zh-CN"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300</a:t>
            </a: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指数</a:t>
            </a:r>
            <a:endPar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227" name="矩形 226"/>
          <p:cNvSpPr/>
          <p:nvPr/>
        </p:nvSpPr>
        <p:spPr>
          <a:xfrm>
            <a:off x="816970" y="5298990"/>
            <a:ext cx="1526140" cy="576000"/>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中</a:t>
            </a:r>
            <a:r>
              <a:rPr kumimoji="0" lang="zh-CN" altLang="en-US"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证</a:t>
            </a:r>
            <a:r>
              <a:rPr kumimoji="0" lang="en-US" altLang="zh-CN"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1000</a:t>
            </a:r>
            <a:r>
              <a:rPr kumimoji="0" lang="zh-CN" altLang="en-US" sz="12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增强</a:t>
            </a:r>
            <a:r>
              <a:rPr kumimoji="0" lang="en-US" altLang="zh-CN" sz="9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017644</a:t>
            </a:r>
          </a:p>
        </p:txBody>
      </p:sp>
      <p:sp>
        <p:nvSpPr>
          <p:cNvPr id="228" name="文本框 227"/>
          <p:cNvSpPr txBox="1"/>
          <p:nvPr/>
        </p:nvSpPr>
        <p:spPr>
          <a:xfrm>
            <a:off x="1086215" y="5935941"/>
            <a:ext cx="1017646"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中证</a:t>
            </a:r>
            <a:r>
              <a:rPr kumimoji="0" lang="en-US" altLang="zh-CN"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1000</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指数</a:t>
            </a:r>
            <a:endPar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229" name="矩形 228"/>
          <p:cNvSpPr/>
          <p:nvPr/>
        </p:nvSpPr>
        <p:spPr>
          <a:xfrm>
            <a:off x="6068747" y="3394041"/>
            <a:ext cx="1419302" cy="547561"/>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消费</a:t>
            </a: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智航</a:t>
            </a:r>
            <a:endPar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010998</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（泛消费指增）</a:t>
            </a:r>
            <a:endParaRPr kumimoji="0" lang="zh-CN" altLang="en-US" sz="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30" name="矩形 229"/>
          <p:cNvSpPr/>
          <p:nvPr/>
        </p:nvSpPr>
        <p:spPr>
          <a:xfrm>
            <a:off x="6068748" y="2438414"/>
            <a:ext cx="1419302" cy="547561"/>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成长</a:t>
            </a: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智航</a:t>
            </a:r>
            <a:endPar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013641</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（泛成长指增）</a:t>
            </a:r>
            <a:endParaRPr kumimoji="0" lang="zh-CN" altLang="en-US" sz="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31" name="文本框 230"/>
          <p:cNvSpPr txBox="1"/>
          <p:nvPr/>
        </p:nvSpPr>
        <p:spPr>
          <a:xfrm>
            <a:off x="6356189" y="4038347"/>
            <a:ext cx="925132"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中信消费风格指数</a:t>
            </a:r>
          </a:p>
        </p:txBody>
      </p:sp>
      <p:sp>
        <p:nvSpPr>
          <p:cNvPr id="232" name="文本框 231"/>
          <p:cNvSpPr txBox="1"/>
          <p:nvPr/>
        </p:nvSpPr>
        <p:spPr>
          <a:xfrm>
            <a:off x="6339785" y="3066603"/>
            <a:ext cx="925132"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中信成长风格指数</a:t>
            </a:r>
          </a:p>
        </p:txBody>
      </p:sp>
      <p:sp>
        <p:nvSpPr>
          <p:cNvPr id="233" name="文本框 232"/>
          <p:cNvSpPr txBox="1"/>
          <p:nvPr/>
        </p:nvSpPr>
        <p:spPr>
          <a:xfrm>
            <a:off x="6183981" y="4956015"/>
            <a:ext cx="1164149"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中证红利指数</a:t>
            </a:r>
            <a:endPar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235" name="标题 2"/>
          <p:cNvSpPr txBox="1"/>
          <p:nvPr/>
        </p:nvSpPr>
        <p:spPr>
          <a:xfrm>
            <a:off x="1775434" y="2207706"/>
            <a:ext cx="1318429" cy="431547"/>
          </a:xfrm>
          <a:prstGeom prst="rect">
            <a:avLst/>
          </a:prstGeom>
          <a:ln w="12700">
            <a:miter lim="400000"/>
          </a:ln>
        </p:spPr>
        <p:txBody>
          <a:bodyPr lIns="25400" tIns="25400" rIns="25400" bIns="25400" anchor="ctr">
            <a:normAutofit/>
          </a:bodyPr>
          <a:lst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a:lstStyle>
          <a:p>
            <a:pPr marL="0" marR="0" lvl="0" indent="0" algn="ctr" defTabSz="8255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rgbClr val="203864"/>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37" name="矩形 236"/>
          <p:cNvSpPr/>
          <p:nvPr/>
        </p:nvSpPr>
        <p:spPr>
          <a:xfrm>
            <a:off x="678096" y="1606254"/>
            <a:ext cx="3476610" cy="622339"/>
          </a:xfrm>
          <a:prstGeom prst="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38" name="标题 2"/>
          <p:cNvSpPr txBox="1"/>
          <p:nvPr/>
        </p:nvSpPr>
        <p:spPr>
          <a:xfrm>
            <a:off x="1723461" y="1446946"/>
            <a:ext cx="1150125" cy="888134"/>
          </a:xfrm>
          <a:prstGeom prst="rect">
            <a:avLst/>
          </a:prstGeom>
          <a:ln w="12700">
            <a:miter lim="400000"/>
          </a:ln>
        </p:spPr>
        <p:txBody>
          <a:bodyPr lIns="25400" tIns="25400" rIns="25400" bIns="25400" anchor="ctr">
            <a:normAutofit/>
          </a:bodyPr>
          <a:lst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a:lstStyle>
          <a:p>
            <a:pPr marL="0" marR="0" lvl="0" indent="0" algn="dist" defTabSz="8255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Medium"/>
              </a:rPr>
              <a:t>标准指增</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39" name="矩形 238"/>
          <p:cNvSpPr/>
          <p:nvPr/>
        </p:nvSpPr>
        <p:spPr>
          <a:xfrm>
            <a:off x="6068747" y="4349203"/>
            <a:ext cx="1419302" cy="557567"/>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红利</a:t>
            </a: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智航</a:t>
            </a:r>
            <a:endPar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019124</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（红利指增）</a:t>
            </a:r>
            <a:endParaRPr kumimoji="0" lang="zh-CN" altLang="en-US" sz="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42" name="矩形 241"/>
          <p:cNvSpPr/>
          <p:nvPr/>
        </p:nvSpPr>
        <p:spPr>
          <a:xfrm>
            <a:off x="7772105" y="2079856"/>
            <a:ext cx="1788251" cy="4091442"/>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43" name="矩形 242"/>
          <p:cNvSpPr/>
          <p:nvPr/>
        </p:nvSpPr>
        <p:spPr>
          <a:xfrm>
            <a:off x="7986230" y="4301064"/>
            <a:ext cx="1385884" cy="576000"/>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大盘价值</a:t>
            </a:r>
            <a:endParaRPr kumimoji="0" lang="en-US" altLang="zh-CN"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021915</a:t>
            </a:r>
            <a:endParaRPr kumimoji="0" lang="zh-CN" altLang="en-US" sz="10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45" name="矩形 244"/>
          <p:cNvSpPr/>
          <p:nvPr/>
        </p:nvSpPr>
        <p:spPr>
          <a:xfrm>
            <a:off x="7772103" y="1598380"/>
            <a:ext cx="1788253" cy="620129"/>
          </a:xfrm>
          <a:prstGeom prst="rect">
            <a:avLst/>
          </a:prstGeom>
          <a:solidFill>
            <a:schemeClr val="accent5">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46" name="标题 2"/>
          <p:cNvSpPr txBox="1"/>
          <p:nvPr/>
        </p:nvSpPr>
        <p:spPr>
          <a:xfrm>
            <a:off x="7737056" y="1610679"/>
            <a:ext cx="1875273" cy="605325"/>
          </a:xfrm>
          <a:prstGeom prst="rect">
            <a:avLst/>
          </a:prstGeom>
          <a:ln w="12700">
            <a:miter lim="400000"/>
          </a:ln>
        </p:spPr>
        <p:txBody>
          <a:bodyPr lIns="25400" tIns="25400" rIns="25400" bIns="25400" anchor="ctr">
            <a:normAutofit/>
          </a:bodyPr>
          <a:lst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a:lstStyle>
          <a:p>
            <a:pPr marL="0" marR="0" lvl="0" indent="0" algn="ctr" defTabSz="8255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Medium"/>
              </a:rPr>
              <a:t>Smartβ</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47" name="矩形 246"/>
          <p:cNvSpPr/>
          <p:nvPr/>
        </p:nvSpPr>
        <p:spPr>
          <a:xfrm>
            <a:off x="7986230" y="4998240"/>
            <a:ext cx="1385884" cy="576000"/>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大盘成长</a:t>
            </a:r>
            <a:endParaRPr kumimoji="0" lang="en-US" altLang="zh-CN"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022003</a:t>
            </a:r>
            <a:endParaRPr kumimoji="0" lang="zh-CN" altLang="en-US" sz="105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52" name="矩形 251"/>
          <p:cNvSpPr/>
          <p:nvPr/>
        </p:nvSpPr>
        <p:spPr>
          <a:xfrm>
            <a:off x="6493565" y="6249194"/>
            <a:ext cx="4767625" cy="215444"/>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注：上述博道风格量化系列产品（拟）为公司规划中的产品线，具体产品发售请以发售公告为准。</a:t>
            </a:r>
            <a:endParaRPr kumimoji="0" lang="zh-CN" altLang="zh-CN" sz="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Helvetica Neue"/>
            </a:endParaRPr>
          </a:p>
        </p:txBody>
      </p:sp>
      <p:sp>
        <p:nvSpPr>
          <p:cNvPr id="50" name="文本框 49"/>
          <p:cNvSpPr txBox="1"/>
          <p:nvPr/>
        </p:nvSpPr>
        <p:spPr>
          <a:xfrm>
            <a:off x="2780369" y="4036001"/>
            <a:ext cx="907219"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中证</a:t>
            </a:r>
            <a:r>
              <a:rPr kumimoji="0" lang="en-US" altLang="zh-CN"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A500</a:t>
            </a:r>
            <a:r>
              <a:rPr kumimoji="0" lang="zh-CN" altLang="en-US" sz="800" b="1"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指数</a:t>
            </a:r>
            <a:endPar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51" name="矩形 50"/>
          <p:cNvSpPr/>
          <p:nvPr/>
        </p:nvSpPr>
        <p:spPr>
          <a:xfrm>
            <a:off x="2487804" y="3379080"/>
            <a:ext cx="1526140" cy="583088"/>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博道</a:t>
            </a:r>
            <a:r>
              <a:rPr kumimoji="0" lang="zh-CN" altLang="en-US"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中证</a:t>
            </a:r>
            <a:r>
              <a:rPr kumimoji="0" lang="en-US" altLang="zh-CN" sz="1200" b="1" i="0" u="none" strike="noStrike" kern="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A500</a:t>
            </a:r>
            <a:r>
              <a:rPr kumimoji="0" lang="zh-CN" altLang="en-US" sz="1200" b="1"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增强</a:t>
            </a:r>
            <a:endParaRPr kumimoji="0" lang="en-US" altLang="zh-CN" sz="1200" b="1"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022745</a:t>
            </a:r>
            <a:endParaRPr kumimoji="0" lang="en-US" altLang="zh-CN" sz="7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68" name="矩形 67"/>
          <p:cNvSpPr/>
          <p:nvPr/>
        </p:nvSpPr>
        <p:spPr>
          <a:xfrm>
            <a:off x="9705195" y="2079856"/>
            <a:ext cx="1866196" cy="4091442"/>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71" name="矩形 70"/>
          <p:cNvSpPr/>
          <p:nvPr/>
        </p:nvSpPr>
        <p:spPr>
          <a:xfrm>
            <a:off x="9705195" y="1598379"/>
            <a:ext cx="1866196" cy="620130"/>
          </a:xfrm>
          <a:prstGeom prst="rect">
            <a:avLst/>
          </a:prstGeom>
          <a:solidFill>
            <a:srgbClr val="ED7D3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72" name="标题 2"/>
          <p:cNvSpPr txBox="1"/>
          <p:nvPr/>
        </p:nvSpPr>
        <p:spPr>
          <a:xfrm>
            <a:off x="9708377" y="1446946"/>
            <a:ext cx="1875273" cy="888134"/>
          </a:xfrm>
          <a:prstGeom prst="rect">
            <a:avLst/>
          </a:prstGeom>
          <a:ln w="12700">
            <a:miter lim="400000"/>
          </a:ln>
        </p:spPr>
        <p:txBody>
          <a:bodyPr lIns="25400" tIns="25400" rIns="25400" bIns="25400" anchor="ctr">
            <a:normAutofit/>
          </a:bodyPr>
          <a:lst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a:lstStyle>
          <a:p>
            <a:pPr marL="0" marR="0" lvl="0" indent="0" algn="ctr" defTabSz="8255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Medium"/>
              </a:rPr>
              <a:t>量化固收</a:t>
            </a: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Medium"/>
              </a:rPr>
              <a:t>+</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76" name="矩形 75"/>
          <p:cNvSpPr/>
          <p:nvPr/>
        </p:nvSpPr>
        <p:spPr>
          <a:xfrm>
            <a:off x="10015397" y="2429690"/>
            <a:ext cx="1245793" cy="556284"/>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和瑞</a:t>
            </a:r>
            <a:endParaRPr kumimoji="0" lang="en-US" altLang="zh-CN"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016637</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20%</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股</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-80%</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债</a:t>
            </a:r>
            <a:endPar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的低波红利固收</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a:t>
            </a:r>
            <a:endParaRPr kumimoji="0" lang="zh-CN" altLang="en-US" sz="9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55" name="矩形 54"/>
          <p:cNvSpPr/>
          <p:nvPr/>
        </p:nvSpPr>
        <p:spPr>
          <a:xfrm>
            <a:off x="2503715" y="2441567"/>
            <a:ext cx="1526140" cy="576000"/>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沪</a:t>
            </a:r>
            <a:r>
              <a:rPr kumimoji="0" lang="zh-CN" altLang="en-US"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深</a:t>
            </a:r>
            <a:r>
              <a:rPr kumimoji="0" lang="en-US" altLang="zh-CN" sz="1200" b="1" i="0" u="none" strike="noStrike" kern="120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300</a:t>
            </a:r>
            <a:r>
              <a:rPr kumimoji="0" lang="zh-CN" altLang="en-US" sz="1200" b="1" i="0" u="none" strike="noStrike" kern="1200" cap="none" spc="0" normalizeH="0" baseline="0" noProof="0">
                <a:ln>
                  <a:noFill/>
                </a:ln>
                <a:solidFill>
                  <a:srgbClr val="00366C"/>
                </a:solidFill>
                <a:effectLst/>
                <a:uLnTx/>
                <a:uFillTx/>
                <a:latin typeface="微软雅黑" panose="020B0503020204020204" pitchFamily="34" charset="-122"/>
                <a:ea typeface="微软雅黑" panose="020B0503020204020204" pitchFamily="34" charset="-122"/>
                <a:cs typeface="+mn-cs"/>
                <a:sym typeface="Helvetica Neue Medium"/>
              </a:rPr>
              <a:t>量化</a:t>
            </a:r>
            <a:r>
              <a:rPr kumimoji="0" lang="zh-CN" altLang="en-US" sz="12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增强</a:t>
            </a:r>
            <a:endPar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022866</a:t>
            </a:r>
            <a:endParaRPr kumimoji="0" lang="zh-CN" altLang="en-US" sz="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56" name="文本框 55"/>
          <p:cNvSpPr txBox="1"/>
          <p:nvPr/>
        </p:nvSpPr>
        <p:spPr>
          <a:xfrm>
            <a:off x="1071217" y="3078839"/>
            <a:ext cx="1017646"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沪深</a:t>
            </a:r>
            <a:r>
              <a:rPr kumimoji="0" lang="en-US" altLang="zh-CN"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300</a:t>
            </a: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指数</a:t>
            </a:r>
            <a:endPar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57" name="文本框 56"/>
          <p:cNvSpPr txBox="1"/>
          <p:nvPr/>
        </p:nvSpPr>
        <p:spPr>
          <a:xfrm>
            <a:off x="1145394" y="4966481"/>
            <a:ext cx="907219"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中证</a:t>
            </a:r>
            <a:r>
              <a:rPr kumimoji="0" lang="en-US" altLang="zh-CN"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800</a:t>
            </a: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指数</a:t>
            </a:r>
            <a:endPar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58" name="矩形 57"/>
          <p:cNvSpPr/>
          <p:nvPr/>
        </p:nvSpPr>
        <p:spPr>
          <a:xfrm>
            <a:off x="816970" y="4346515"/>
            <a:ext cx="1526140" cy="576000"/>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博道</a:t>
            </a:r>
            <a:r>
              <a:rPr kumimoji="0" lang="zh-CN" altLang="en-US" sz="1200" b="1" i="0" u="none" strike="noStrike" kern="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中证</a:t>
            </a:r>
            <a:r>
              <a:rPr kumimoji="0" lang="en-US" altLang="zh-CN" sz="1200" b="1" i="0" u="none" strike="noStrike" kern="0" cap="none" spc="0" normalizeH="0" baseline="0" noProof="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800</a:t>
            </a:r>
            <a:r>
              <a:rPr kumimoji="0" lang="zh-CN" altLang="en-US" sz="1200" b="1"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增强</a:t>
            </a:r>
            <a:endParaRPr kumimoji="0" lang="en-US" altLang="zh-CN" sz="1200" b="1"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023499</a:t>
            </a:r>
            <a:endParaRPr kumimoji="0" lang="en-US" altLang="zh-CN" sz="7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59" name="文本框 58"/>
          <p:cNvSpPr txBox="1"/>
          <p:nvPr/>
        </p:nvSpPr>
        <p:spPr>
          <a:xfrm>
            <a:off x="2768934" y="4966481"/>
            <a:ext cx="907219"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科创综合指数</a:t>
            </a:r>
            <a:endPar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60" name="矩形 59"/>
          <p:cNvSpPr/>
          <p:nvPr/>
        </p:nvSpPr>
        <p:spPr>
          <a:xfrm>
            <a:off x="2487804" y="4358391"/>
            <a:ext cx="1526140" cy="548379"/>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博道</a:t>
            </a:r>
            <a:r>
              <a:rPr kumimoji="0" lang="zh-CN" altLang="en-US" sz="1200" b="1" i="0" u="none" strike="noStrike" kern="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科创综指</a:t>
            </a:r>
            <a:r>
              <a:rPr kumimoji="0" lang="zh-CN" altLang="en-US" sz="12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增强</a:t>
            </a:r>
            <a:endParaRPr kumimoji="0" lang="en-US" altLang="zh-CN" sz="12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023901</a:t>
            </a:r>
            <a:endParaRPr kumimoji="0" lang="en-US" altLang="zh-CN" sz="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61" name="文本框 60"/>
          <p:cNvSpPr txBox="1"/>
          <p:nvPr/>
        </p:nvSpPr>
        <p:spPr>
          <a:xfrm>
            <a:off x="2663977" y="3078838"/>
            <a:ext cx="1173794"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沪深</a:t>
            </a:r>
            <a:r>
              <a:rPr kumimoji="0" lang="en-US" altLang="zh-CN"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300</a:t>
            </a: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指数</a:t>
            </a:r>
            <a:r>
              <a:rPr kumimoji="0" lang="en-US" altLang="zh-CN"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a:t>
            </a:r>
            <a:r>
              <a:rPr kumimoji="0" lang="zh-CN" altLang="en-US" sz="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行业配置</a:t>
            </a:r>
            <a:endPar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62" name="矩形 61"/>
          <p:cNvSpPr/>
          <p:nvPr/>
        </p:nvSpPr>
        <p:spPr>
          <a:xfrm>
            <a:off x="2487804" y="5312801"/>
            <a:ext cx="1526140" cy="548379"/>
          </a:xfrm>
          <a:prstGeom prst="rect">
            <a:avLst/>
          </a:prstGeom>
          <a:solidFill>
            <a:schemeClr val="bg1"/>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366C"/>
                </a:solidFill>
                <a:effectLst/>
                <a:uLnTx/>
                <a:uFillTx/>
                <a:latin typeface="微软雅黑" panose="020B0503020204020204" pitchFamily="34" charset="-122"/>
                <a:ea typeface="微软雅黑" panose="020B0503020204020204" pitchFamily="34" charset="-122"/>
                <a:cs typeface="+mn-cs"/>
                <a:sym typeface="Helvetica Neue"/>
              </a:rPr>
              <a:t>博道</a:t>
            </a:r>
            <a:r>
              <a:rPr kumimoji="0" lang="zh-CN" altLang="en-US" sz="1200" b="1" i="0" u="none" strike="noStrike" kern="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a:rPr>
              <a:t>中证全指</a:t>
            </a:r>
            <a:r>
              <a:rPr kumimoji="0" lang="zh-CN" altLang="en-US" sz="1200" b="1" i="0" u="none" strike="noStrike" kern="0" cap="none" spc="0" normalizeH="0" baseline="0" noProof="0" dirty="0">
                <a:ln>
                  <a:noFill/>
                </a:ln>
                <a:solidFill>
                  <a:srgbClr val="00366C"/>
                </a:solidFill>
                <a:effectLst/>
                <a:uLnTx/>
                <a:uFillTx/>
                <a:latin typeface="微软雅黑" panose="020B0503020204020204" pitchFamily="34" charset="-122"/>
                <a:ea typeface="微软雅黑" panose="020B0503020204020204" pitchFamily="34" charset="-122"/>
                <a:cs typeface="+mn-cs"/>
                <a:sym typeface="Helvetica Neue"/>
              </a:rPr>
              <a:t>增强</a:t>
            </a:r>
            <a:endParaRPr kumimoji="0" lang="en-US" altLang="zh-CN" sz="1200" b="1" i="0" u="none" strike="noStrike" kern="0" cap="none" spc="0" normalizeH="0" baseline="0" noProof="0" dirty="0">
              <a:ln>
                <a:noFill/>
              </a:ln>
              <a:solidFill>
                <a:srgbClr val="00366C"/>
              </a:solidFill>
              <a:effectLst/>
              <a:uLnTx/>
              <a:uFillTx/>
              <a:latin typeface="微软雅黑" panose="020B0503020204020204" pitchFamily="34" charset="-122"/>
              <a:ea typeface="微软雅黑" panose="020B0503020204020204" pitchFamily="34" charset="-122"/>
              <a:cs typeface="+mn-cs"/>
              <a:sym typeface="Helvetica Neue"/>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srgbClr val="00366C"/>
                </a:solidFill>
                <a:effectLst/>
                <a:uLnTx/>
                <a:uFillTx/>
                <a:latin typeface="微软雅黑" panose="020B0503020204020204" pitchFamily="34" charset="-122"/>
                <a:ea typeface="微软雅黑" panose="020B0503020204020204" pitchFamily="34" charset="-122"/>
                <a:cs typeface="+mn-cs"/>
                <a:sym typeface="Helvetica Neue"/>
              </a:rPr>
              <a:t>025020</a:t>
            </a:r>
            <a:endParaRPr kumimoji="0" lang="en-US" altLang="zh-CN" sz="800" b="1" i="0" u="none" strike="noStrike" kern="1200" cap="none" spc="0" normalizeH="0" baseline="0" noProof="0" dirty="0">
              <a:ln>
                <a:noFill/>
              </a:ln>
              <a:solidFill>
                <a:srgbClr val="00366C"/>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54" name="文本框 53"/>
          <p:cNvSpPr txBox="1"/>
          <p:nvPr/>
        </p:nvSpPr>
        <p:spPr>
          <a:xfrm>
            <a:off x="2725154" y="5935940"/>
            <a:ext cx="1017646"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a:rPr>
              <a:t>中证全指</a:t>
            </a:r>
          </a:p>
        </p:txBody>
      </p:sp>
      <p:sp>
        <p:nvSpPr>
          <p:cNvPr id="63" name="矩形 62"/>
          <p:cNvSpPr/>
          <p:nvPr/>
        </p:nvSpPr>
        <p:spPr>
          <a:xfrm>
            <a:off x="4444355" y="4356099"/>
            <a:ext cx="1445642" cy="550671"/>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启航</a:t>
            </a:r>
            <a:r>
              <a:rPr kumimoji="0" lang="zh-CN" altLang="en-US"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混合</a:t>
            </a:r>
            <a:endParaRPr kumimoji="0" lang="en-US" altLang="zh-CN"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006160</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(300</a:t>
            </a:r>
            <a:r>
              <a:rPr kumimoji="0" lang="zh-CN" altLang="en-US" sz="8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指增</a:t>
            </a:r>
            <a:r>
              <a:rPr kumimoji="0" lang="en-US" altLang="zh-CN" sz="8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+500</a:t>
            </a:r>
            <a:r>
              <a:rPr kumimoji="0" lang="zh-CN" altLang="en-US" sz="8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指增）</a:t>
            </a:r>
          </a:p>
        </p:txBody>
      </p:sp>
      <p:sp>
        <p:nvSpPr>
          <p:cNvPr id="65" name="矩形 64"/>
          <p:cNvSpPr/>
          <p:nvPr/>
        </p:nvSpPr>
        <p:spPr>
          <a:xfrm>
            <a:off x="4444355" y="5328704"/>
            <a:ext cx="1445642" cy="528147"/>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远航</a:t>
            </a:r>
            <a:r>
              <a:rPr kumimoji="0" lang="zh-CN" altLang="en-US"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混合</a:t>
            </a:r>
            <a:endParaRPr kumimoji="0" lang="en-US" altLang="zh-CN"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007126</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（基金指增）</a:t>
            </a:r>
          </a:p>
        </p:txBody>
      </p:sp>
      <p:sp>
        <p:nvSpPr>
          <p:cNvPr id="212" name="矩形 211"/>
          <p:cNvSpPr/>
          <p:nvPr/>
        </p:nvSpPr>
        <p:spPr>
          <a:xfrm>
            <a:off x="7993548" y="2437736"/>
            <a:ext cx="1394348" cy="548241"/>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久航</a:t>
            </a:r>
            <a:r>
              <a:rPr kumimoji="0" lang="zh-CN" altLang="en-US"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混合</a:t>
            </a:r>
            <a:endParaRPr kumimoji="0" lang="en-US" altLang="zh-CN"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008318</a:t>
            </a:r>
          </a:p>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（六大风格策略配齐）</a:t>
            </a:r>
            <a:endParaRPr kumimoji="0" lang="zh-CN" altLang="en-US" sz="10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213" name="文本框 212"/>
          <p:cNvSpPr txBox="1"/>
          <p:nvPr/>
        </p:nvSpPr>
        <p:spPr>
          <a:xfrm>
            <a:off x="7974533" y="3074214"/>
            <a:ext cx="1416881"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Helvetica Neue"/>
              </a:rPr>
              <a:t>885001</a:t>
            </a:r>
            <a:r>
              <a:rPr kumimoji="0" lang="zh-CN" altLang="en-US" sz="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Helvetica Neue"/>
              </a:rPr>
              <a:t>偏股混合型基金指数</a:t>
            </a:r>
          </a:p>
        </p:txBody>
      </p:sp>
      <p:sp>
        <p:nvSpPr>
          <p:cNvPr id="64" name="矩形 63"/>
          <p:cNvSpPr/>
          <p:nvPr/>
        </p:nvSpPr>
        <p:spPr>
          <a:xfrm>
            <a:off x="10023117" y="3090015"/>
            <a:ext cx="1245793" cy="556284"/>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Medium"/>
              </a:rPr>
              <a:t>衍晟</a:t>
            </a:r>
            <a:endParaRPr kumimoji="0" lang="en-US" altLang="zh-CN" sz="1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026351</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15%</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股</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-80%</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债</a:t>
            </a:r>
            <a:endPar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的低波红利固收</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a:t>
            </a:r>
            <a:endParaRPr kumimoji="0" lang="zh-CN" altLang="en-US" sz="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67" name="矩形 66"/>
          <p:cNvSpPr/>
          <p:nvPr/>
        </p:nvSpPr>
        <p:spPr>
          <a:xfrm>
            <a:off x="10028281" y="3745552"/>
            <a:ext cx="1245793" cy="556284"/>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Medium"/>
              </a:rPr>
              <a:t>衍和</a:t>
            </a:r>
            <a:endParaRPr kumimoji="0" lang="en-US" altLang="zh-CN" sz="12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027004</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15%</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股</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-85%</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债</a:t>
            </a:r>
            <a:endPar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的低波红利固收</a:t>
            </a:r>
            <a:r>
              <a:rPr kumimoji="0" lang="en-US" altLang="zh-CN"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a:t>
            </a:r>
            <a:r>
              <a:rPr kumimoji="0" lang="zh-CN" altLang="en-US" sz="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rPr>
              <a:t>）</a:t>
            </a:r>
            <a:endParaRPr kumimoji="0" lang="zh-CN" altLang="en-US" sz="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69" name="矩形 68"/>
          <p:cNvSpPr/>
          <p:nvPr/>
        </p:nvSpPr>
        <p:spPr>
          <a:xfrm>
            <a:off x="8004435" y="3354857"/>
            <a:ext cx="1394348" cy="548241"/>
          </a:xfrm>
          <a:prstGeom prst="rect">
            <a:avLst/>
          </a:prstGeom>
          <a:solidFill>
            <a:srgbClr val="F2F2F2"/>
          </a:solidFill>
          <a:ln>
            <a:noFill/>
          </a:ln>
          <a:effectLst>
            <a:outerShdw blurRad="403559" dist="80628"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博道</a:t>
            </a:r>
            <a:r>
              <a:rPr kumimoji="0" lang="zh-CN" altLang="en-US" sz="12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sym typeface="Helvetica Neue Medium"/>
              </a:rPr>
              <a:t>星航</a:t>
            </a:r>
            <a:r>
              <a:rPr kumimoji="0" lang="zh-CN" altLang="en-US"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混合</a:t>
            </a:r>
            <a:endParaRPr kumimoji="0" lang="en-US" altLang="zh-CN" sz="12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026791</a:t>
            </a:r>
          </a:p>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rPr>
              <a:t>（六大风格策略配齐）</a:t>
            </a:r>
            <a:endParaRPr kumimoji="0" lang="zh-CN" altLang="en-US" sz="10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sym typeface="Helvetica Neue Medium"/>
            </a:endParaRPr>
          </a:p>
        </p:txBody>
      </p:sp>
      <p:sp>
        <p:nvSpPr>
          <p:cNvPr id="70" name="文本框 69"/>
          <p:cNvSpPr txBox="1"/>
          <p:nvPr/>
        </p:nvSpPr>
        <p:spPr>
          <a:xfrm>
            <a:off x="7985420" y="3929781"/>
            <a:ext cx="1416881"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Helvetica Neue"/>
              </a:rPr>
              <a:t>932055</a:t>
            </a:r>
            <a:r>
              <a:rPr kumimoji="0" lang="zh-CN" altLang="en-US" sz="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Helvetica Neue"/>
              </a:rPr>
              <a:t>中证主动偏股型基金指数</a:t>
            </a:r>
          </a:p>
        </p:txBody>
      </p:sp>
      <p:pic>
        <p:nvPicPr>
          <p:cNvPr id="6" name="图片 5"/>
          <p:cNvPicPr>
            <a:picLocks noChangeAspect="1"/>
          </p:cNvPicPr>
          <p:nvPr/>
        </p:nvPicPr>
        <p:blipFill>
          <a:blip r:embed="rId3"/>
          <a:stretch>
            <a:fillRect/>
          </a:stretch>
        </p:blipFill>
        <p:spPr>
          <a:xfrm>
            <a:off x="9692936" y="4320951"/>
            <a:ext cx="1938588" cy="1846898"/>
          </a:xfrm>
          <a:prstGeom prst="rect">
            <a:avLst/>
          </a:prstGeom>
        </p:spPr>
      </p:pic>
      <p:sp>
        <p:nvSpPr>
          <p:cNvPr id="3" name="灯片编号占位符 2">
            <a:extLst>
              <a:ext uri="{FF2B5EF4-FFF2-40B4-BE49-F238E27FC236}">
                <a16:creationId xmlns:a16="http://schemas.microsoft.com/office/drawing/2014/main" xmlns="" id="{2087AB96-179B-0EFD-EB65-117E9D06BB6F}"/>
              </a:ext>
            </a:extLst>
          </p:cNvPr>
          <p:cNvSpPr>
            <a:spLocks noGrp="1"/>
          </p:cNvSpPr>
          <p:nvPr>
            <p:ph type="sldNum" sz="quarter" idx="11"/>
          </p:nvPr>
        </p:nvSpPr>
        <p:spPr/>
        <p:txBody>
          <a:bodyPr/>
          <a:lstStyle/>
          <a:p>
            <a:pPr>
              <a:defRPr/>
            </a:pPr>
            <a:fld id="{6E91549D-98B7-4077-996F-05BE1B29F039}" type="slidenum">
              <a:rPr lang="zh-CN" altLang="en-US" smtClean="0"/>
              <a:t>19</a:t>
            </a:fld>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6"/>
          <a:stretch>
            <a:fillRect/>
          </a:stretch>
        </p:blipFill>
        <p:spPr>
          <a:xfrm>
            <a:off x="5597855" y="2548428"/>
            <a:ext cx="6426627" cy="3644182"/>
          </a:xfrm>
          <a:prstGeom prst="rect">
            <a:avLst/>
          </a:prstGeom>
        </p:spPr>
      </p:pic>
      <p:sp>
        <p:nvSpPr>
          <p:cNvPr id="2" name="标题 1"/>
          <p:cNvSpPr>
            <a:spLocks noGrp="1"/>
          </p:cNvSpPr>
          <p:nvPr>
            <p:ph type="title"/>
          </p:nvPr>
        </p:nvSpPr>
        <p:spPr/>
        <p:txBody>
          <a:bodyPr>
            <a:noAutofit/>
          </a:bodyPr>
          <a:lstStyle/>
          <a:p>
            <a:r>
              <a:rPr lang="en-US" altLang="zh-CN" dirty="0">
                <a:solidFill>
                  <a:srgbClr val="EA5838"/>
                </a:solidFill>
              </a:rPr>
              <a:t>1</a:t>
            </a:r>
            <a:r>
              <a:rPr lang="zh-CN" altLang="en-US" dirty="0">
                <a:solidFill>
                  <a:srgbClr val="EA5838"/>
                </a:solidFill>
              </a:rPr>
              <a:t>、团队作战：</a:t>
            </a:r>
            <a:r>
              <a:rPr lang="zh-CN" altLang="en-US" dirty="0"/>
              <a:t>公私募融合，</a:t>
            </a:r>
            <a:r>
              <a:rPr lang="en-US" altLang="zh-CN" dirty="0"/>
              <a:t>AI</a:t>
            </a:r>
            <a:r>
              <a:rPr lang="zh-CN" altLang="en-US" dirty="0"/>
              <a:t>赋能先行者</a:t>
            </a:r>
          </a:p>
        </p:txBody>
      </p:sp>
      <p:sp>
        <p:nvSpPr>
          <p:cNvPr id="75" name="副标题 2"/>
          <p:cNvSpPr>
            <a:spLocks noGrp="1"/>
          </p:cNvSpPr>
          <p:nvPr>
            <p:ph type="subTitle" idx="1"/>
          </p:nvPr>
        </p:nvSpPr>
        <p:spPr/>
        <p:txBody>
          <a:bodyPr rtlCol="0">
            <a:normAutofit/>
          </a:bodyPr>
          <a:lstStyle/>
          <a:p>
            <a:pPr>
              <a:defRPr/>
            </a:pPr>
            <a:r>
              <a:rPr lang="en-US" altLang="zh-CN" b="1" dirty="0">
                <a:sym typeface="Helvetica Neue"/>
              </a:rPr>
              <a:t>13</a:t>
            </a:r>
            <a:r>
              <a:rPr lang="zh-CN" altLang="en-US" b="1" dirty="0">
                <a:sym typeface="Helvetica Neue"/>
              </a:rPr>
              <a:t>年公私募实盘淬炼。</a:t>
            </a:r>
            <a:r>
              <a:rPr lang="zh-CN" altLang="en-US" dirty="0">
                <a:sym typeface="Helvetica Neue"/>
              </a:rPr>
              <a:t>博道量化团队源自私募博道投资，拥有</a:t>
            </a:r>
            <a:r>
              <a:rPr lang="en-US" altLang="zh-CN" b="1" dirty="0">
                <a:solidFill>
                  <a:srgbClr val="EA5838"/>
                </a:solidFill>
                <a:sym typeface="Helvetica Neue"/>
              </a:rPr>
              <a:t>5</a:t>
            </a:r>
            <a:r>
              <a:rPr lang="zh-CN" altLang="en-US" b="1" dirty="0">
                <a:solidFill>
                  <a:srgbClr val="EA5838"/>
                </a:solidFill>
                <a:sym typeface="Helvetica Neue"/>
              </a:rPr>
              <a:t>年私募</a:t>
            </a:r>
            <a:r>
              <a:rPr lang="en-US" altLang="zh-CN" b="1" dirty="0">
                <a:solidFill>
                  <a:srgbClr val="EA5838"/>
                </a:solidFill>
                <a:sym typeface="Helvetica Neue"/>
              </a:rPr>
              <a:t>+8</a:t>
            </a:r>
            <a:r>
              <a:rPr lang="zh-CN" altLang="en-US" b="1" dirty="0">
                <a:solidFill>
                  <a:srgbClr val="EA5838"/>
                </a:solidFill>
                <a:sym typeface="Helvetica Neue"/>
              </a:rPr>
              <a:t>年公募</a:t>
            </a:r>
            <a:r>
              <a:rPr lang="zh-CN" altLang="en-US" dirty="0">
                <a:sym typeface="Helvetica Neue"/>
              </a:rPr>
              <a:t>实盘运作经验，历经多轮市场周期考验。</a:t>
            </a:r>
            <a:endParaRPr lang="en-US" altLang="zh-CN" dirty="0">
              <a:sym typeface="Helvetica Neue"/>
            </a:endParaRPr>
          </a:p>
          <a:p>
            <a:pPr>
              <a:defRPr/>
            </a:pPr>
            <a:r>
              <a:rPr lang="zh-CN" altLang="en-US" b="1" dirty="0">
                <a:sym typeface="Helvetica Neue"/>
              </a:rPr>
              <a:t>持续迭代领先行业</a:t>
            </a:r>
            <a:r>
              <a:rPr lang="zh-CN" altLang="en-US" dirty="0">
                <a:sym typeface="Helvetica Neue"/>
              </a:rPr>
              <a:t>。保持敏锐的市场嗅觉和对模型持续优化的工匠精神，</a:t>
            </a:r>
            <a:r>
              <a:rPr lang="zh-CN" altLang="en-US" b="1" dirty="0">
                <a:solidFill>
                  <a:srgbClr val="EA5838"/>
                </a:solidFill>
                <a:sym typeface="Helvetica Neue"/>
              </a:rPr>
              <a:t>产品策略研发和数次模型重大迭代均领先行业。</a:t>
            </a:r>
            <a:r>
              <a:rPr lang="zh-CN" altLang="en-US" dirty="0">
                <a:sym typeface="Helvetica Neue"/>
              </a:rPr>
              <a:t>如“基金增强”策略实践、</a:t>
            </a:r>
            <a:r>
              <a:rPr lang="en-US" altLang="zh-CN" dirty="0">
                <a:sym typeface="Helvetica Neue"/>
              </a:rPr>
              <a:t>AI</a:t>
            </a:r>
            <a:r>
              <a:rPr lang="zh-CN" altLang="en-US" dirty="0">
                <a:sym typeface="Helvetica Neue"/>
              </a:rPr>
              <a:t>技术在多因子模型的应用、自研组合优化系统和风控模型等。</a:t>
            </a:r>
            <a:endParaRPr lang="en-US" altLang="zh-CN" dirty="0">
              <a:sym typeface="Helvetica Neue"/>
            </a:endParaRPr>
          </a:p>
          <a:p>
            <a:pPr>
              <a:defRPr/>
            </a:pPr>
            <a:r>
              <a:rPr lang="en-US" altLang="zh-CN" b="1" dirty="0">
                <a:sym typeface="Helvetica Neue"/>
              </a:rPr>
              <a:t>AI</a:t>
            </a:r>
            <a:r>
              <a:rPr lang="zh-CN" altLang="en-US" b="1" dirty="0">
                <a:sym typeface="Helvetica Neue"/>
              </a:rPr>
              <a:t>赋能先行者。</a:t>
            </a:r>
            <a:r>
              <a:rPr lang="en-US" altLang="zh-CN" dirty="0">
                <a:sym typeface="Helvetica Neue"/>
              </a:rPr>
              <a:t>2017</a:t>
            </a:r>
            <a:r>
              <a:rPr lang="zh-CN" altLang="en-US" dirty="0">
                <a:sym typeface="Helvetica Neue"/>
              </a:rPr>
              <a:t>年即开始研究</a:t>
            </a:r>
            <a:r>
              <a:rPr lang="en-US" altLang="zh-CN" dirty="0">
                <a:sym typeface="Helvetica Neue"/>
              </a:rPr>
              <a:t>AI</a:t>
            </a:r>
            <a:r>
              <a:rPr lang="zh-CN" altLang="en-US" dirty="0">
                <a:sym typeface="Helvetica Neue"/>
              </a:rPr>
              <a:t>算法挖掘因子，</a:t>
            </a:r>
            <a:r>
              <a:rPr lang="en-US" altLang="zh-CN" dirty="0">
                <a:sym typeface="Helvetica Neue"/>
              </a:rPr>
              <a:t>2020</a:t>
            </a:r>
            <a:r>
              <a:rPr lang="zh-CN" altLang="en-US" dirty="0">
                <a:sym typeface="Helvetica Neue"/>
              </a:rPr>
              <a:t>年实盘上线，</a:t>
            </a:r>
            <a:r>
              <a:rPr lang="en-US" altLang="zh-CN" dirty="0">
                <a:sym typeface="Helvetica Neue"/>
              </a:rPr>
              <a:t>2023</a:t>
            </a:r>
            <a:r>
              <a:rPr lang="zh-CN" altLang="en-US" dirty="0">
                <a:sym typeface="Helvetica Neue"/>
              </a:rPr>
              <a:t>年拓展到</a:t>
            </a:r>
            <a:r>
              <a:rPr lang="en-US" altLang="zh-CN" dirty="0">
                <a:sym typeface="Helvetica Neue"/>
              </a:rPr>
              <a:t>AI</a:t>
            </a:r>
            <a:r>
              <a:rPr lang="zh-CN" altLang="en-US" dirty="0">
                <a:sym typeface="Helvetica Neue"/>
              </a:rPr>
              <a:t>全流程框架。</a:t>
            </a:r>
            <a:endParaRPr lang="en-US" altLang="zh-CN" dirty="0">
              <a:sym typeface="Helvetica Neue"/>
            </a:endParaRPr>
          </a:p>
        </p:txBody>
      </p:sp>
      <p:grpSp>
        <p:nvGrpSpPr>
          <p:cNvPr id="43" name="组合 42"/>
          <p:cNvGrpSpPr/>
          <p:nvPr/>
        </p:nvGrpSpPr>
        <p:grpSpPr>
          <a:xfrm>
            <a:off x="522249" y="2456222"/>
            <a:ext cx="2229618" cy="2964993"/>
            <a:chOff x="701196" y="1705681"/>
            <a:chExt cx="2632472" cy="3459578"/>
          </a:xfrm>
        </p:grpSpPr>
        <p:sp>
          <p:nvSpPr>
            <p:cNvPr id="46" name="MH_Other_14"/>
            <p:cNvSpPr/>
            <p:nvPr>
              <p:custDataLst>
                <p:tags r:id="rId2"/>
              </p:custDataLst>
            </p:nvPr>
          </p:nvSpPr>
          <p:spPr>
            <a:xfrm flipH="1" flipV="1">
              <a:off x="2809579" y="4683147"/>
              <a:ext cx="524089" cy="482112"/>
            </a:xfrm>
            <a:custGeom>
              <a:avLst/>
              <a:gdLst>
                <a:gd name="connsiteX0" fmla="*/ 0 w 380032"/>
                <a:gd name="connsiteY0" fmla="*/ 0 h 380032"/>
                <a:gd name="connsiteX1" fmla="*/ 380032 w 380032"/>
                <a:gd name="connsiteY1" fmla="*/ 0 h 380032"/>
                <a:gd name="connsiteX2" fmla="*/ 380032 w 380032"/>
                <a:gd name="connsiteY2" fmla="*/ 13993 h 380032"/>
                <a:gd name="connsiteX3" fmla="*/ 13497 w 380032"/>
                <a:gd name="connsiteY3" fmla="*/ 13993 h 380032"/>
                <a:gd name="connsiteX4" fmla="*/ 13497 w 380032"/>
                <a:gd name="connsiteY4" fmla="*/ 380032 h 380032"/>
                <a:gd name="connsiteX5" fmla="*/ 0 w 380032"/>
                <a:gd name="connsiteY5" fmla="*/ 380032 h 38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032" h="380032">
                  <a:moveTo>
                    <a:pt x="0" y="0"/>
                  </a:moveTo>
                  <a:lnTo>
                    <a:pt x="380032" y="0"/>
                  </a:lnTo>
                  <a:lnTo>
                    <a:pt x="380032" y="13993"/>
                  </a:lnTo>
                  <a:lnTo>
                    <a:pt x="13497" y="13993"/>
                  </a:lnTo>
                  <a:lnTo>
                    <a:pt x="13497" y="380032"/>
                  </a:lnTo>
                  <a:lnTo>
                    <a:pt x="0" y="380032"/>
                  </a:lnTo>
                  <a:close/>
                </a:path>
              </a:pathLst>
            </a:custGeom>
            <a:solidFill>
              <a:srgbClr val="E74C2E"/>
            </a:solidFill>
            <a:ln>
              <a:solidFill>
                <a:srgbClr val="E74C2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hangingPunct="1">
                <a:defRPr/>
              </a:pPr>
              <a:endParaRPr lang="zh-CN" altLang="en-US" sz="2400"/>
            </a:p>
          </p:txBody>
        </p:sp>
        <p:sp>
          <p:nvSpPr>
            <p:cNvPr id="47" name="MH_Other_14"/>
            <p:cNvSpPr/>
            <p:nvPr>
              <p:custDataLst>
                <p:tags r:id="rId3"/>
              </p:custDataLst>
            </p:nvPr>
          </p:nvSpPr>
          <p:spPr>
            <a:xfrm>
              <a:off x="701196" y="1705681"/>
              <a:ext cx="501067" cy="434792"/>
            </a:xfrm>
            <a:custGeom>
              <a:avLst/>
              <a:gdLst>
                <a:gd name="connsiteX0" fmla="*/ 0 w 380032"/>
                <a:gd name="connsiteY0" fmla="*/ 0 h 380032"/>
                <a:gd name="connsiteX1" fmla="*/ 380032 w 380032"/>
                <a:gd name="connsiteY1" fmla="*/ 0 h 380032"/>
                <a:gd name="connsiteX2" fmla="*/ 380032 w 380032"/>
                <a:gd name="connsiteY2" fmla="*/ 13993 h 380032"/>
                <a:gd name="connsiteX3" fmla="*/ 13497 w 380032"/>
                <a:gd name="connsiteY3" fmla="*/ 13993 h 380032"/>
                <a:gd name="connsiteX4" fmla="*/ 13497 w 380032"/>
                <a:gd name="connsiteY4" fmla="*/ 380032 h 380032"/>
                <a:gd name="connsiteX5" fmla="*/ 0 w 380032"/>
                <a:gd name="connsiteY5" fmla="*/ 380032 h 38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032" h="380032">
                  <a:moveTo>
                    <a:pt x="0" y="0"/>
                  </a:moveTo>
                  <a:lnTo>
                    <a:pt x="380032" y="0"/>
                  </a:lnTo>
                  <a:lnTo>
                    <a:pt x="380032" y="13993"/>
                  </a:lnTo>
                  <a:lnTo>
                    <a:pt x="13497" y="13993"/>
                  </a:lnTo>
                  <a:lnTo>
                    <a:pt x="13497" y="380032"/>
                  </a:lnTo>
                  <a:lnTo>
                    <a:pt x="0" y="380032"/>
                  </a:lnTo>
                  <a:close/>
                </a:path>
              </a:pathLst>
            </a:custGeom>
            <a:solidFill>
              <a:srgbClr val="E74C2E"/>
            </a:solidFill>
            <a:ln>
              <a:solidFill>
                <a:srgbClr val="E74C2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hangingPunct="1">
                <a:defRPr/>
              </a:pPr>
              <a:endParaRPr lang="zh-CN" altLang="en-US" sz="2400"/>
            </a:p>
          </p:txBody>
        </p:sp>
        <p:pic>
          <p:nvPicPr>
            <p:cNvPr id="48" name="图片 4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38127" y="1849092"/>
              <a:ext cx="2347818" cy="3130424"/>
            </a:xfrm>
            <a:prstGeom prst="rect">
              <a:avLst/>
            </a:prstGeom>
          </p:spPr>
        </p:pic>
      </p:grpSp>
      <p:sp>
        <p:nvSpPr>
          <p:cNvPr id="65" name="矩形 64"/>
          <p:cNvSpPr/>
          <p:nvPr/>
        </p:nvSpPr>
        <p:spPr>
          <a:xfrm>
            <a:off x="757847" y="5501436"/>
            <a:ext cx="4879673" cy="738664"/>
          </a:xfrm>
          <a:prstGeom prst="rect">
            <a:avLst/>
          </a:prstGeom>
        </p:spPr>
        <p:txBody>
          <a:bodyPr wrap="square">
            <a:spAutoFit/>
          </a:bodyPr>
          <a:lstStyle/>
          <a:p>
            <a:pPr marL="171450" indent="-171450">
              <a:buFont typeface="Wingdings" panose="05000000000000000000" pitchFamily="2" charset="2"/>
              <a:buChar char="n"/>
            </a:pPr>
            <a:r>
              <a:rPr lang="en-US" altLang="zh-CN" sz="1200" dirty="0"/>
              <a:t>15</a:t>
            </a:r>
            <a:r>
              <a:rPr lang="zh-CN" altLang="en-US" sz="1200" dirty="0"/>
              <a:t>年专注量化，公私募实盘淬炼。</a:t>
            </a:r>
            <a:r>
              <a:rPr lang="zh-CN" altLang="en-US" sz="1000" dirty="0"/>
              <a:t>浙江大学经济学硕士，</a:t>
            </a:r>
            <a:r>
              <a:rPr lang="en-US" altLang="zh-CN" sz="1000" dirty="0"/>
              <a:t>15</a:t>
            </a:r>
            <a:r>
              <a:rPr lang="zh-CN" altLang="en-US" sz="1000" dirty="0"/>
              <a:t>年证券、基金从业经验，其中</a:t>
            </a:r>
            <a:r>
              <a:rPr lang="en-US" altLang="zh-CN" sz="1000" dirty="0"/>
              <a:t>4</a:t>
            </a:r>
            <a:r>
              <a:rPr lang="zh-CN" altLang="en-US" sz="1000" dirty="0"/>
              <a:t>年量化研究，</a:t>
            </a:r>
            <a:r>
              <a:rPr lang="en-US" altLang="zh-CN" sz="1000" dirty="0"/>
              <a:t>11</a:t>
            </a:r>
            <a:r>
              <a:rPr lang="zh-CN" altLang="en-US" sz="1000" dirty="0"/>
              <a:t>年量化投资管理经历。</a:t>
            </a:r>
            <a:r>
              <a:rPr lang="en-US" altLang="zh-CN" sz="1000" dirty="0"/>
              <a:t>2011</a:t>
            </a:r>
            <a:r>
              <a:rPr lang="zh-CN" altLang="en-US" sz="1000" dirty="0"/>
              <a:t>年</a:t>
            </a:r>
            <a:r>
              <a:rPr lang="en-US" altLang="zh-CN" sz="1000" dirty="0"/>
              <a:t>-2014</a:t>
            </a:r>
            <a:r>
              <a:rPr lang="zh-CN" altLang="en-US" sz="1000" dirty="0"/>
              <a:t>年曾就职于农银汇理基金、华泰资管，</a:t>
            </a:r>
            <a:r>
              <a:rPr lang="en-US" altLang="zh-CN" sz="1000" dirty="0"/>
              <a:t>2014</a:t>
            </a:r>
            <a:r>
              <a:rPr lang="zh-CN" altLang="en-US" sz="1000" dirty="0"/>
              <a:t>年</a:t>
            </a:r>
            <a:r>
              <a:rPr lang="en-US" altLang="zh-CN" sz="1000" dirty="0"/>
              <a:t>11</a:t>
            </a:r>
            <a:r>
              <a:rPr lang="zh-CN" altLang="en-US" sz="1000" dirty="0"/>
              <a:t>月加入博道投资，任合伙人、量化投资经理。现任博道基金量化投资总监。 </a:t>
            </a:r>
            <a:endParaRPr lang="en-US" altLang="zh-CN" sz="1400" dirty="0"/>
          </a:p>
        </p:txBody>
      </p:sp>
      <p:sp>
        <p:nvSpPr>
          <p:cNvPr id="67" name="Rectangle 10"/>
          <p:cNvSpPr/>
          <p:nvPr/>
        </p:nvSpPr>
        <p:spPr>
          <a:xfrm>
            <a:off x="3368354" y="3463929"/>
            <a:ext cx="2019034" cy="215444"/>
          </a:xfrm>
          <a:prstGeom prst="rect">
            <a:avLst/>
          </a:prstGeom>
          <a:noFill/>
        </p:spPr>
        <p:txBody>
          <a:bodyPr wrap="square" lIns="0" tIns="0" rIns="0" bIns="0" rtlCol="0">
            <a:spAutoFit/>
          </a:bodyPr>
          <a:lstStyle/>
          <a:p>
            <a:pPr algn="ctr"/>
            <a:r>
              <a:rPr lang="zh-CN" altLang="en-US" sz="1400" dirty="0">
                <a:solidFill>
                  <a:srgbClr val="EA5838"/>
                </a:solidFill>
                <a:latin typeface="+mn-ea"/>
                <a:cs typeface="+mn-ea"/>
                <a:sym typeface="+mn-lt"/>
              </a:rPr>
              <a:t>博道基金量化投资总监</a:t>
            </a:r>
            <a:endParaRPr lang="en-US" sz="1400" dirty="0">
              <a:solidFill>
                <a:srgbClr val="EA5838"/>
              </a:solidFill>
              <a:latin typeface="+mn-ea"/>
              <a:cs typeface="+mn-ea"/>
              <a:sym typeface="+mn-lt"/>
            </a:endParaRPr>
          </a:p>
        </p:txBody>
      </p:sp>
      <p:sp>
        <p:nvSpPr>
          <p:cNvPr id="68" name="Rectangle 11"/>
          <p:cNvSpPr/>
          <p:nvPr/>
        </p:nvSpPr>
        <p:spPr>
          <a:xfrm>
            <a:off x="3836701" y="2977166"/>
            <a:ext cx="1082339" cy="430887"/>
          </a:xfrm>
          <a:prstGeom prst="rect">
            <a:avLst/>
          </a:prstGeom>
          <a:noFill/>
        </p:spPr>
        <p:txBody>
          <a:bodyPr wrap="square" lIns="0" tIns="0" rIns="0" bIns="0" rtlCol="0">
            <a:spAutoFit/>
          </a:bodyPr>
          <a:lstStyle/>
          <a:p>
            <a:pPr algn="ctr"/>
            <a:r>
              <a:rPr lang="zh-CN" altLang="en-US" sz="2800" dirty="0">
                <a:solidFill>
                  <a:srgbClr val="EA5838"/>
                </a:solidFill>
                <a:latin typeface="+mn-ea"/>
                <a:cs typeface="+mn-ea"/>
                <a:sym typeface="+mn-lt"/>
              </a:rPr>
              <a:t>杨梦</a:t>
            </a:r>
            <a:endParaRPr lang="en-US" sz="2800" dirty="0">
              <a:solidFill>
                <a:srgbClr val="EA5838"/>
              </a:solidFill>
              <a:latin typeface="+mn-ea"/>
              <a:cs typeface="+mn-ea"/>
              <a:sym typeface="+mn-lt"/>
            </a:endParaRPr>
          </a:p>
        </p:txBody>
      </p:sp>
      <p:sp>
        <p:nvSpPr>
          <p:cNvPr id="70" name="Freeform 9"/>
          <p:cNvSpPr/>
          <p:nvPr/>
        </p:nvSpPr>
        <p:spPr>
          <a:xfrm>
            <a:off x="2742727" y="3018409"/>
            <a:ext cx="625627" cy="677707"/>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rgbClr val="EA5838">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D">
              <a:cs typeface="+mn-ea"/>
              <a:sym typeface="+mn-lt"/>
            </a:endParaRPr>
          </a:p>
        </p:txBody>
      </p:sp>
      <p:sp>
        <p:nvSpPr>
          <p:cNvPr id="71" name="文本框 70"/>
          <p:cNvSpPr txBox="1"/>
          <p:nvPr/>
        </p:nvSpPr>
        <p:spPr>
          <a:xfrm>
            <a:off x="2755247" y="4148442"/>
            <a:ext cx="3405904" cy="238527"/>
          </a:xfrm>
          <a:prstGeom prst="rect">
            <a:avLst/>
          </a:prstGeom>
          <a:noFill/>
        </p:spPr>
        <p:txBody>
          <a:bodyPr wrap="square" rtlCol="0">
            <a:spAutoFit/>
          </a:bodyPr>
          <a:lstStyle/>
          <a:p>
            <a:pPr marL="171450" indent="-171450">
              <a:buFont typeface="Wingdings" panose="05000000000000000000" pitchFamily="2" charset="2"/>
              <a:buChar char="n"/>
            </a:pPr>
            <a:r>
              <a:rPr lang="en-US" altLang="zh-CN" sz="950" dirty="0">
                <a:solidFill>
                  <a:srgbClr val="EA5838"/>
                </a:solidFill>
              </a:rPr>
              <a:t>2022</a:t>
            </a:r>
            <a:r>
              <a:rPr lang="zh-CN" altLang="en-US" sz="950" dirty="0">
                <a:solidFill>
                  <a:srgbClr val="EA5838"/>
                </a:solidFill>
              </a:rPr>
              <a:t>年英华奖“三年期指数增强最佳基金经理”</a:t>
            </a:r>
          </a:p>
        </p:txBody>
      </p:sp>
      <p:sp>
        <p:nvSpPr>
          <p:cNvPr id="72" name="文本框 71"/>
          <p:cNvSpPr txBox="1"/>
          <p:nvPr/>
        </p:nvSpPr>
        <p:spPr>
          <a:xfrm>
            <a:off x="2626750" y="3954370"/>
            <a:ext cx="2964749" cy="238527"/>
          </a:xfrm>
          <a:prstGeom prst="rect">
            <a:avLst/>
          </a:prstGeom>
          <a:noFill/>
        </p:spPr>
        <p:txBody>
          <a:bodyPr wrap="square" rtlCol="0">
            <a:spAutoFit/>
          </a:bodyPr>
          <a:lstStyle/>
          <a:p>
            <a:pPr marL="171450" indent="-171450">
              <a:buFont typeface="Wingdings" panose="05000000000000000000" pitchFamily="2" charset="2"/>
              <a:buChar char="n"/>
            </a:pPr>
            <a:r>
              <a:rPr lang="en-US" altLang="zh-CN" sz="950" dirty="0">
                <a:solidFill>
                  <a:srgbClr val="EA5838"/>
                </a:solidFill>
              </a:rPr>
              <a:t>2016</a:t>
            </a:r>
            <a:r>
              <a:rPr lang="zh-CN" altLang="en-US" sz="950" dirty="0">
                <a:solidFill>
                  <a:srgbClr val="EA5838"/>
                </a:solidFill>
              </a:rPr>
              <a:t>年私募“金牛奖”</a:t>
            </a:r>
          </a:p>
        </p:txBody>
      </p:sp>
      <p:sp>
        <p:nvSpPr>
          <p:cNvPr id="73" name="文本框 72"/>
          <p:cNvSpPr txBox="1"/>
          <p:nvPr/>
        </p:nvSpPr>
        <p:spPr>
          <a:xfrm>
            <a:off x="2626750" y="4357444"/>
            <a:ext cx="3872143" cy="238527"/>
          </a:xfrm>
          <a:prstGeom prst="rect">
            <a:avLst/>
          </a:prstGeom>
          <a:noFill/>
        </p:spPr>
        <p:txBody>
          <a:bodyPr wrap="square" rtlCol="0">
            <a:spAutoFit/>
          </a:bodyPr>
          <a:lstStyle/>
          <a:p>
            <a:pPr marL="171450" indent="-171450">
              <a:buFont typeface="Wingdings" panose="05000000000000000000" pitchFamily="2" charset="2"/>
              <a:buChar char="n"/>
            </a:pPr>
            <a:r>
              <a:rPr lang="zh-CN" altLang="en-US" sz="950" dirty="0">
                <a:solidFill>
                  <a:srgbClr val="EA5838"/>
                </a:solidFill>
              </a:rPr>
              <a:t>投资时报金禧奖“</a:t>
            </a:r>
            <a:r>
              <a:rPr lang="en-US" altLang="zh-CN" sz="950" dirty="0">
                <a:solidFill>
                  <a:srgbClr val="EA5838"/>
                </a:solidFill>
              </a:rPr>
              <a:t>2023</a:t>
            </a:r>
            <a:r>
              <a:rPr lang="zh-CN" altLang="en-US" sz="950" dirty="0">
                <a:solidFill>
                  <a:srgbClr val="EA5838"/>
                </a:solidFill>
              </a:rPr>
              <a:t>年优秀量化投资团队”</a:t>
            </a:r>
          </a:p>
        </p:txBody>
      </p:sp>
      <p:sp>
        <p:nvSpPr>
          <p:cNvPr id="74" name="文本框 73"/>
          <p:cNvSpPr txBox="1"/>
          <p:nvPr/>
        </p:nvSpPr>
        <p:spPr>
          <a:xfrm>
            <a:off x="2626750" y="4558980"/>
            <a:ext cx="3662899" cy="238527"/>
          </a:xfrm>
          <a:prstGeom prst="rect">
            <a:avLst/>
          </a:prstGeom>
          <a:noFill/>
        </p:spPr>
        <p:txBody>
          <a:bodyPr wrap="square" rtlCol="0">
            <a:spAutoFit/>
          </a:bodyPr>
          <a:lstStyle/>
          <a:p>
            <a:pPr marL="171450" indent="-171450">
              <a:buFont typeface="Wingdings" panose="05000000000000000000" pitchFamily="2" charset="2"/>
              <a:buChar char="n"/>
            </a:pPr>
            <a:r>
              <a:rPr lang="en-US" altLang="zh-CN" sz="950" dirty="0">
                <a:solidFill>
                  <a:srgbClr val="EA5838"/>
                </a:solidFill>
              </a:rPr>
              <a:t>2024</a:t>
            </a:r>
            <a:r>
              <a:rPr lang="zh-CN" altLang="en-US" sz="950" dirty="0">
                <a:solidFill>
                  <a:srgbClr val="EA5838"/>
                </a:solidFill>
              </a:rPr>
              <a:t>年上海市“东方英才计划青年项目”</a:t>
            </a:r>
            <a:r>
              <a:rPr lang="en-US" altLang="zh-CN" sz="950" dirty="0">
                <a:solidFill>
                  <a:srgbClr val="EA5838"/>
                </a:solidFill>
              </a:rPr>
              <a:t>(70</a:t>
            </a:r>
            <a:r>
              <a:rPr lang="zh-CN" altLang="en-US" sz="950" dirty="0">
                <a:solidFill>
                  <a:srgbClr val="EA5838"/>
                </a:solidFill>
              </a:rPr>
              <a:t>人</a:t>
            </a:r>
            <a:r>
              <a:rPr lang="en-US" altLang="zh-CN" sz="950" dirty="0">
                <a:solidFill>
                  <a:srgbClr val="EA5838"/>
                </a:solidFill>
              </a:rPr>
              <a:t>)</a:t>
            </a:r>
            <a:endParaRPr lang="zh-CN" altLang="en-US" sz="950" dirty="0">
              <a:solidFill>
                <a:srgbClr val="EA5838"/>
              </a:solidFill>
            </a:endParaRPr>
          </a:p>
        </p:txBody>
      </p:sp>
      <p:sp>
        <p:nvSpPr>
          <p:cNvPr id="76" name="矩形 75"/>
          <p:cNvSpPr/>
          <p:nvPr>
            <p:custDataLst>
              <p:tags r:id="rId1"/>
            </p:custDataLst>
          </p:nvPr>
        </p:nvSpPr>
        <p:spPr>
          <a:xfrm>
            <a:off x="569914" y="5579141"/>
            <a:ext cx="187933" cy="719122"/>
          </a:xfrm>
          <a:prstGeom prst="rect">
            <a:avLst/>
          </a:prstGeom>
          <a:solidFill>
            <a:srgbClr val="EA5838"/>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0" tIns="0" rIns="0" bIns="0" anchor="ctr"/>
          <a:lstStyle/>
          <a:p>
            <a:pPr hangingPunct="1">
              <a:defRPr/>
            </a:pPr>
            <a:endParaRPr lang="zh-CN" altLang="en-US" sz="1400" dirty="0">
              <a:solidFill>
                <a:srgbClr val="FFFFFF"/>
              </a:solidFill>
              <a:latin typeface="Arial" panose="020B0604020202020204" pitchFamily="34" charset="0"/>
              <a:ea typeface="黑体" panose="02010609060101010101" charset="-122"/>
            </a:endParaRPr>
          </a:p>
        </p:txBody>
      </p:sp>
      <p:sp>
        <p:nvSpPr>
          <p:cNvPr id="19" name="文本框 18"/>
          <p:cNvSpPr txBox="1"/>
          <p:nvPr/>
        </p:nvSpPr>
        <p:spPr>
          <a:xfrm>
            <a:off x="2644765" y="4760451"/>
            <a:ext cx="3662899" cy="230832"/>
          </a:xfrm>
          <a:prstGeom prst="rect">
            <a:avLst/>
          </a:prstGeom>
          <a:noFill/>
        </p:spPr>
        <p:txBody>
          <a:bodyPr wrap="square" rtlCol="0">
            <a:spAutoFit/>
          </a:bodyPr>
          <a:lstStyle/>
          <a:p>
            <a:pPr marL="171450" indent="-171450">
              <a:buFont typeface="Wingdings" panose="05000000000000000000" pitchFamily="2" charset="2"/>
              <a:buChar char="n"/>
            </a:pPr>
            <a:r>
              <a:rPr lang="en-US" altLang="zh-CN" sz="900" dirty="0">
                <a:solidFill>
                  <a:srgbClr val="EA5838"/>
                </a:solidFill>
              </a:rPr>
              <a:t>2025</a:t>
            </a:r>
            <a:r>
              <a:rPr lang="zh-CN" altLang="en-US" sz="900" dirty="0">
                <a:solidFill>
                  <a:srgbClr val="EA5838"/>
                </a:solidFill>
              </a:rPr>
              <a:t>年所管产品博道伍佰智航获中证报“五年期金牛基金”</a:t>
            </a:r>
          </a:p>
        </p:txBody>
      </p:sp>
      <p:sp>
        <p:nvSpPr>
          <p:cNvPr id="3" name="灯片编号占位符 2">
            <a:extLst>
              <a:ext uri="{FF2B5EF4-FFF2-40B4-BE49-F238E27FC236}">
                <a16:creationId xmlns:a16="http://schemas.microsoft.com/office/drawing/2014/main" xmlns="" id="{BFD553E3-01E1-E244-1C28-57C2527C97DC}"/>
              </a:ext>
            </a:extLst>
          </p:cNvPr>
          <p:cNvSpPr>
            <a:spLocks noGrp="1"/>
          </p:cNvSpPr>
          <p:nvPr>
            <p:ph type="sldNum" sz="quarter" idx="11"/>
          </p:nvPr>
        </p:nvSpPr>
        <p:spPr/>
        <p:txBody>
          <a:bodyPr/>
          <a:lstStyle/>
          <a:p>
            <a:pPr>
              <a:defRPr/>
            </a:pPr>
            <a:fld id="{6E91549D-98B7-4077-996F-05BE1B29F039}" type="slidenum">
              <a:rPr lang="zh-CN" altLang="en-US" smtClean="0"/>
              <a:t>20</a:t>
            </a:fld>
            <a:endParaRPr lang="zh-CN" altLang="en-US" dirty="0"/>
          </a:p>
        </p:txBody>
      </p:sp>
    </p:spTree>
    <p:extLst>
      <p:ext uri="{BB962C8B-B14F-4D97-AF65-F5344CB8AC3E}">
        <p14:creationId xmlns:p14="http://schemas.microsoft.com/office/powerpoint/2010/main" val="1877015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dirty="0">
                <a:solidFill>
                  <a:srgbClr val="EA5838"/>
                </a:solidFill>
              </a:rPr>
              <a:t>1</a:t>
            </a:r>
            <a:r>
              <a:rPr lang="zh-CN" altLang="en-US" dirty="0">
                <a:solidFill>
                  <a:srgbClr val="EA5838"/>
                </a:solidFill>
              </a:rPr>
              <a:t>、团队作战：</a:t>
            </a:r>
            <a:r>
              <a:rPr lang="zh-CN" altLang="en-US" dirty="0"/>
              <a:t>术业专攻，协同进化</a:t>
            </a:r>
          </a:p>
        </p:txBody>
      </p:sp>
      <p:sp>
        <p:nvSpPr>
          <p:cNvPr id="75" name="副标题 2"/>
          <p:cNvSpPr>
            <a:spLocks noGrp="1"/>
          </p:cNvSpPr>
          <p:nvPr>
            <p:ph type="subTitle" idx="1"/>
          </p:nvPr>
        </p:nvSpPr>
        <p:spPr/>
        <p:txBody>
          <a:bodyPr rtlCol="0">
            <a:normAutofit/>
          </a:bodyPr>
          <a:lstStyle/>
          <a:p>
            <a:r>
              <a:rPr lang="zh-CN" altLang="en-US" b="1" dirty="0">
                <a:solidFill>
                  <a:srgbClr val="EA5838"/>
                </a:solidFill>
              </a:rPr>
              <a:t>专业团队，梯队完善。</a:t>
            </a:r>
            <a:r>
              <a:rPr lang="zh-CN" altLang="en-US" dirty="0"/>
              <a:t>博道量化团队成员均毕业于清华、北大、复旦等知名院校，具备扎实的专业素养，大部分由博道自主培养，目前已形成</a:t>
            </a:r>
            <a:r>
              <a:rPr lang="en-US" altLang="zh-CN" dirty="0"/>
              <a:t>5</a:t>
            </a:r>
            <a:r>
              <a:rPr lang="zh-CN" altLang="en-US" dirty="0"/>
              <a:t>位基金经理（投资经理）、</a:t>
            </a:r>
            <a:r>
              <a:rPr lang="en-US" altLang="zh-CN" dirty="0"/>
              <a:t>3</a:t>
            </a:r>
            <a:r>
              <a:rPr lang="zh-CN" altLang="en-US" dirty="0"/>
              <a:t>位基金经理（投资经理）助理、及</a:t>
            </a:r>
            <a:r>
              <a:rPr lang="en-US" altLang="zh-CN" dirty="0"/>
              <a:t>3</a:t>
            </a:r>
            <a:r>
              <a:rPr lang="zh-CN" altLang="en-US" dirty="0"/>
              <a:t>名研究员的完善投研梯队。</a:t>
            </a:r>
            <a:endParaRPr lang="en-US" altLang="zh-CN" dirty="0"/>
          </a:p>
          <a:p>
            <a:r>
              <a:rPr lang="zh-CN" altLang="en-US" b="1" dirty="0">
                <a:solidFill>
                  <a:srgbClr val="EA5838"/>
                </a:solidFill>
              </a:rPr>
              <a:t>分工协作，投研一体。</a:t>
            </a:r>
            <a:r>
              <a:rPr lang="zh-CN" altLang="en-US" dirty="0"/>
              <a:t>量化团队各成员分工明确，各自主攻相关研究方向，通力协作，不断丰富完善博道“指数</a:t>
            </a:r>
            <a:r>
              <a:rPr lang="en-US" altLang="zh-CN" dirty="0"/>
              <a:t>+”</a:t>
            </a:r>
            <a:r>
              <a:rPr lang="zh-CN" altLang="en-US" dirty="0"/>
              <a:t>系列的模型体系，力争更多元超额收益来源。</a:t>
            </a:r>
          </a:p>
        </p:txBody>
      </p:sp>
      <p:sp>
        <p:nvSpPr>
          <p:cNvPr id="19" name="MH_Other_14"/>
          <p:cNvSpPr/>
          <p:nvPr>
            <p:custDataLst>
              <p:tags r:id="rId1"/>
            </p:custDataLst>
          </p:nvPr>
        </p:nvSpPr>
        <p:spPr>
          <a:xfrm flipH="1" flipV="1">
            <a:off x="2984934" y="5006618"/>
            <a:ext cx="524089" cy="482112"/>
          </a:xfrm>
          <a:custGeom>
            <a:avLst/>
            <a:gdLst>
              <a:gd name="connsiteX0" fmla="*/ 0 w 380032"/>
              <a:gd name="connsiteY0" fmla="*/ 0 h 380032"/>
              <a:gd name="connsiteX1" fmla="*/ 380032 w 380032"/>
              <a:gd name="connsiteY1" fmla="*/ 0 h 380032"/>
              <a:gd name="connsiteX2" fmla="*/ 380032 w 380032"/>
              <a:gd name="connsiteY2" fmla="*/ 13993 h 380032"/>
              <a:gd name="connsiteX3" fmla="*/ 13497 w 380032"/>
              <a:gd name="connsiteY3" fmla="*/ 13993 h 380032"/>
              <a:gd name="connsiteX4" fmla="*/ 13497 w 380032"/>
              <a:gd name="connsiteY4" fmla="*/ 380032 h 380032"/>
              <a:gd name="connsiteX5" fmla="*/ 0 w 380032"/>
              <a:gd name="connsiteY5" fmla="*/ 380032 h 38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032" h="380032">
                <a:moveTo>
                  <a:pt x="0" y="0"/>
                </a:moveTo>
                <a:lnTo>
                  <a:pt x="380032" y="0"/>
                </a:lnTo>
                <a:lnTo>
                  <a:pt x="380032" y="13993"/>
                </a:lnTo>
                <a:lnTo>
                  <a:pt x="13497" y="13993"/>
                </a:lnTo>
                <a:lnTo>
                  <a:pt x="13497" y="380032"/>
                </a:lnTo>
                <a:lnTo>
                  <a:pt x="0" y="380032"/>
                </a:lnTo>
                <a:close/>
              </a:path>
            </a:pathLst>
          </a:cu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hangingPunct="1">
              <a:defRPr/>
            </a:pPr>
            <a:endParaRPr lang="zh-CN" altLang="en-US" sz="2400"/>
          </a:p>
        </p:txBody>
      </p:sp>
      <p:sp>
        <p:nvSpPr>
          <p:cNvPr id="20" name="MH_Other_14"/>
          <p:cNvSpPr/>
          <p:nvPr>
            <p:custDataLst>
              <p:tags r:id="rId2"/>
            </p:custDataLst>
          </p:nvPr>
        </p:nvSpPr>
        <p:spPr>
          <a:xfrm>
            <a:off x="1055989" y="2468018"/>
            <a:ext cx="501067" cy="434792"/>
          </a:xfrm>
          <a:custGeom>
            <a:avLst/>
            <a:gdLst>
              <a:gd name="connsiteX0" fmla="*/ 0 w 380032"/>
              <a:gd name="connsiteY0" fmla="*/ 0 h 380032"/>
              <a:gd name="connsiteX1" fmla="*/ 380032 w 380032"/>
              <a:gd name="connsiteY1" fmla="*/ 0 h 380032"/>
              <a:gd name="connsiteX2" fmla="*/ 380032 w 380032"/>
              <a:gd name="connsiteY2" fmla="*/ 13993 h 380032"/>
              <a:gd name="connsiteX3" fmla="*/ 13497 w 380032"/>
              <a:gd name="connsiteY3" fmla="*/ 13993 h 380032"/>
              <a:gd name="connsiteX4" fmla="*/ 13497 w 380032"/>
              <a:gd name="connsiteY4" fmla="*/ 380032 h 380032"/>
              <a:gd name="connsiteX5" fmla="*/ 0 w 380032"/>
              <a:gd name="connsiteY5" fmla="*/ 380032 h 38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032" h="380032">
                <a:moveTo>
                  <a:pt x="0" y="0"/>
                </a:moveTo>
                <a:lnTo>
                  <a:pt x="380032" y="0"/>
                </a:lnTo>
                <a:lnTo>
                  <a:pt x="380032" y="13993"/>
                </a:lnTo>
                <a:lnTo>
                  <a:pt x="13497" y="13993"/>
                </a:lnTo>
                <a:lnTo>
                  <a:pt x="13497" y="380032"/>
                </a:lnTo>
                <a:lnTo>
                  <a:pt x="0" y="380032"/>
                </a:lnTo>
                <a:close/>
              </a:path>
            </a:pathLst>
          </a:cu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hangingPunct="1">
              <a:defRPr/>
            </a:pPr>
            <a:endParaRPr lang="zh-CN" altLang="en-US" sz="2400"/>
          </a:p>
        </p:txBody>
      </p:sp>
      <p:pic>
        <p:nvPicPr>
          <p:cNvPr id="21" name="图片 20"/>
          <p:cNvPicPr>
            <a:picLocks noChangeAspect="1"/>
          </p:cNvPicPr>
          <p:nvPr/>
        </p:nvPicPr>
        <p:blipFill rotWithShape="1">
          <a:blip r:embed="rId15" cstate="print">
            <a:extLst>
              <a:ext uri="{28A0092B-C50C-407E-A947-70E740481C1C}">
                <a14:useLocalDpi xmlns:a14="http://schemas.microsoft.com/office/drawing/2010/main" val="0"/>
              </a:ext>
            </a:extLst>
          </a:blip>
          <a:srcRect b="10821"/>
          <a:stretch>
            <a:fillRect/>
          </a:stretch>
        </p:blipFill>
        <p:spPr>
          <a:xfrm>
            <a:off x="1271006" y="2667521"/>
            <a:ext cx="2022998" cy="2706139"/>
          </a:xfrm>
          <a:prstGeom prst="rect">
            <a:avLst/>
          </a:prstGeom>
        </p:spPr>
      </p:pic>
      <p:sp>
        <p:nvSpPr>
          <p:cNvPr id="22" name="文本框 2"/>
          <p:cNvSpPr txBox="1">
            <a:spLocks noChangeArrowheads="1"/>
          </p:cNvSpPr>
          <p:nvPr>
            <p:custDataLst>
              <p:tags r:id="rId3"/>
            </p:custDataLst>
          </p:nvPr>
        </p:nvSpPr>
        <p:spPr bwMode="auto">
          <a:xfrm>
            <a:off x="1177521" y="5364627"/>
            <a:ext cx="2219917" cy="620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zh-CN" altLang="en-US" sz="1600" dirty="0">
                <a:solidFill>
                  <a:schemeClr val="tx2">
                    <a:lumMod val="50000"/>
                  </a:schemeClr>
                </a:solidFill>
                <a:latin typeface="微软雅黑" panose="020B0503020204020204" pitchFamily="34" charset="-122"/>
                <a:ea typeface="微软雅黑" panose="020B0503020204020204" pitchFamily="34" charset="-122"/>
              </a:rPr>
              <a:t>基金经理：刘玮明</a:t>
            </a:r>
          </a:p>
        </p:txBody>
      </p:sp>
      <p:sp>
        <p:nvSpPr>
          <p:cNvPr id="24" name="矩形 23"/>
          <p:cNvSpPr/>
          <p:nvPr>
            <p:custDataLst>
              <p:tags r:id="rId4"/>
            </p:custDataLst>
          </p:nvPr>
        </p:nvSpPr>
        <p:spPr>
          <a:xfrm>
            <a:off x="986283" y="5472361"/>
            <a:ext cx="187933" cy="719122"/>
          </a:xfrm>
          <a:prstGeom prst="rect">
            <a:avLst/>
          </a:prstGeom>
          <a:solidFill>
            <a:srgbClr val="00366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0" tIns="0" rIns="0" bIns="0" anchor="ctr"/>
          <a:lstStyle/>
          <a:p>
            <a:pPr hangingPunct="1">
              <a:defRPr/>
            </a:pPr>
            <a:endParaRPr lang="zh-CN" altLang="en-US" sz="1400" dirty="0">
              <a:solidFill>
                <a:srgbClr val="FFFFFF"/>
              </a:solidFill>
              <a:latin typeface="Arial" panose="020B0604020202020204" pitchFamily="34" charset="0"/>
              <a:ea typeface="黑体" panose="02010609060101010101" charset="-122"/>
            </a:endParaRPr>
          </a:p>
        </p:txBody>
      </p:sp>
      <p:sp>
        <p:nvSpPr>
          <p:cNvPr id="25" name="MH_Other_14"/>
          <p:cNvSpPr/>
          <p:nvPr>
            <p:custDataLst>
              <p:tags r:id="rId5"/>
            </p:custDataLst>
          </p:nvPr>
        </p:nvSpPr>
        <p:spPr>
          <a:xfrm flipH="1" flipV="1">
            <a:off x="6854221" y="5006618"/>
            <a:ext cx="524089" cy="482112"/>
          </a:xfrm>
          <a:custGeom>
            <a:avLst/>
            <a:gdLst>
              <a:gd name="connsiteX0" fmla="*/ 0 w 380032"/>
              <a:gd name="connsiteY0" fmla="*/ 0 h 380032"/>
              <a:gd name="connsiteX1" fmla="*/ 380032 w 380032"/>
              <a:gd name="connsiteY1" fmla="*/ 0 h 380032"/>
              <a:gd name="connsiteX2" fmla="*/ 380032 w 380032"/>
              <a:gd name="connsiteY2" fmla="*/ 13993 h 380032"/>
              <a:gd name="connsiteX3" fmla="*/ 13497 w 380032"/>
              <a:gd name="connsiteY3" fmla="*/ 13993 h 380032"/>
              <a:gd name="connsiteX4" fmla="*/ 13497 w 380032"/>
              <a:gd name="connsiteY4" fmla="*/ 380032 h 380032"/>
              <a:gd name="connsiteX5" fmla="*/ 0 w 380032"/>
              <a:gd name="connsiteY5" fmla="*/ 380032 h 38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032" h="380032">
                <a:moveTo>
                  <a:pt x="0" y="0"/>
                </a:moveTo>
                <a:lnTo>
                  <a:pt x="380032" y="0"/>
                </a:lnTo>
                <a:lnTo>
                  <a:pt x="380032" y="13993"/>
                </a:lnTo>
                <a:lnTo>
                  <a:pt x="13497" y="13993"/>
                </a:lnTo>
                <a:lnTo>
                  <a:pt x="13497" y="380032"/>
                </a:lnTo>
                <a:lnTo>
                  <a:pt x="0" y="380032"/>
                </a:lnTo>
                <a:close/>
              </a:path>
            </a:pathLst>
          </a:cu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hangingPunct="1">
              <a:defRPr/>
            </a:pPr>
            <a:endParaRPr lang="zh-CN" altLang="en-US" sz="2400"/>
          </a:p>
        </p:txBody>
      </p:sp>
      <p:sp>
        <p:nvSpPr>
          <p:cNvPr id="26" name="MH_Other_14"/>
          <p:cNvSpPr/>
          <p:nvPr>
            <p:custDataLst>
              <p:tags r:id="rId6"/>
            </p:custDataLst>
          </p:nvPr>
        </p:nvSpPr>
        <p:spPr>
          <a:xfrm>
            <a:off x="4892002" y="2468018"/>
            <a:ext cx="501067" cy="434792"/>
          </a:xfrm>
          <a:custGeom>
            <a:avLst/>
            <a:gdLst>
              <a:gd name="connsiteX0" fmla="*/ 0 w 380032"/>
              <a:gd name="connsiteY0" fmla="*/ 0 h 380032"/>
              <a:gd name="connsiteX1" fmla="*/ 380032 w 380032"/>
              <a:gd name="connsiteY1" fmla="*/ 0 h 380032"/>
              <a:gd name="connsiteX2" fmla="*/ 380032 w 380032"/>
              <a:gd name="connsiteY2" fmla="*/ 13993 h 380032"/>
              <a:gd name="connsiteX3" fmla="*/ 13497 w 380032"/>
              <a:gd name="connsiteY3" fmla="*/ 13993 h 380032"/>
              <a:gd name="connsiteX4" fmla="*/ 13497 w 380032"/>
              <a:gd name="connsiteY4" fmla="*/ 380032 h 380032"/>
              <a:gd name="connsiteX5" fmla="*/ 0 w 380032"/>
              <a:gd name="connsiteY5" fmla="*/ 380032 h 38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032" h="380032">
                <a:moveTo>
                  <a:pt x="0" y="0"/>
                </a:moveTo>
                <a:lnTo>
                  <a:pt x="380032" y="0"/>
                </a:lnTo>
                <a:lnTo>
                  <a:pt x="380032" y="13993"/>
                </a:lnTo>
                <a:lnTo>
                  <a:pt x="13497" y="13993"/>
                </a:lnTo>
                <a:lnTo>
                  <a:pt x="13497" y="380032"/>
                </a:lnTo>
                <a:lnTo>
                  <a:pt x="0" y="380032"/>
                </a:lnTo>
                <a:close/>
              </a:path>
            </a:pathLst>
          </a:cu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hangingPunct="1">
              <a:defRPr/>
            </a:pPr>
            <a:endParaRPr lang="zh-CN" altLang="en-US" sz="2400"/>
          </a:p>
        </p:txBody>
      </p:sp>
      <p:sp>
        <p:nvSpPr>
          <p:cNvPr id="27" name="文本框 2"/>
          <p:cNvSpPr txBox="1">
            <a:spLocks noChangeArrowheads="1"/>
          </p:cNvSpPr>
          <p:nvPr>
            <p:custDataLst>
              <p:tags r:id="rId7"/>
            </p:custDataLst>
          </p:nvPr>
        </p:nvSpPr>
        <p:spPr bwMode="auto">
          <a:xfrm>
            <a:off x="5059959" y="5364626"/>
            <a:ext cx="2219917" cy="620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zh-CN" altLang="en-US" sz="1600" dirty="0">
                <a:solidFill>
                  <a:schemeClr val="tx2">
                    <a:lumMod val="50000"/>
                  </a:schemeClr>
                </a:solidFill>
                <a:latin typeface="微软雅黑" panose="020B0503020204020204" pitchFamily="34" charset="-122"/>
                <a:ea typeface="微软雅黑" panose="020B0503020204020204" pitchFamily="34" charset="-122"/>
              </a:rPr>
              <a:t>专户投资经理：李馥君</a:t>
            </a:r>
          </a:p>
        </p:txBody>
      </p:sp>
      <p:sp>
        <p:nvSpPr>
          <p:cNvPr id="29" name="矩形 28"/>
          <p:cNvSpPr/>
          <p:nvPr>
            <p:custDataLst>
              <p:tags r:id="rId8"/>
            </p:custDataLst>
          </p:nvPr>
        </p:nvSpPr>
        <p:spPr>
          <a:xfrm>
            <a:off x="4846155" y="5472361"/>
            <a:ext cx="187933" cy="719122"/>
          </a:xfrm>
          <a:prstGeom prst="rect">
            <a:avLst/>
          </a:prstGeom>
          <a:solidFill>
            <a:srgbClr val="00366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0" tIns="0" rIns="0" bIns="0" anchor="ctr"/>
          <a:lstStyle/>
          <a:p>
            <a:pPr hangingPunct="1">
              <a:defRPr/>
            </a:pPr>
            <a:endParaRPr lang="zh-CN" altLang="en-US" sz="1400" dirty="0">
              <a:solidFill>
                <a:srgbClr val="FFFFFF"/>
              </a:solidFill>
              <a:latin typeface="Arial" panose="020B0604020202020204" pitchFamily="34" charset="0"/>
              <a:ea typeface="黑体" panose="02010609060101010101" charset="-122"/>
            </a:endParaRPr>
          </a:p>
        </p:txBody>
      </p:sp>
      <p:sp>
        <p:nvSpPr>
          <p:cNvPr id="30" name="MH_Other_14"/>
          <p:cNvSpPr/>
          <p:nvPr>
            <p:custDataLst>
              <p:tags r:id="rId9"/>
            </p:custDataLst>
          </p:nvPr>
        </p:nvSpPr>
        <p:spPr>
          <a:xfrm flipH="1" flipV="1">
            <a:off x="10705266" y="5006618"/>
            <a:ext cx="524089" cy="482112"/>
          </a:xfrm>
          <a:custGeom>
            <a:avLst/>
            <a:gdLst>
              <a:gd name="connsiteX0" fmla="*/ 0 w 380032"/>
              <a:gd name="connsiteY0" fmla="*/ 0 h 380032"/>
              <a:gd name="connsiteX1" fmla="*/ 380032 w 380032"/>
              <a:gd name="connsiteY1" fmla="*/ 0 h 380032"/>
              <a:gd name="connsiteX2" fmla="*/ 380032 w 380032"/>
              <a:gd name="connsiteY2" fmla="*/ 13993 h 380032"/>
              <a:gd name="connsiteX3" fmla="*/ 13497 w 380032"/>
              <a:gd name="connsiteY3" fmla="*/ 13993 h 380032"/>
              <a:gd name="connsiteX4" fmla="*/ 13497 w 380032"/>
              <a:gd name="connsiteY4" fmla="*/ 380032 h 380032"/>
              <a:gd name="connsiteX5" fmla="*/ 0 w 380032"/>
              <a:gd name="connsiteY5" fmla="*/ 380032 h 38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032" h="380032">
                <a:moveTo>
                  <a:pt x="0" y="0"/>
                </a:moveTo>
                <a:lnTo>
                  <a:pt x="380032" y="0"/>
                </a:lnTo>
                <a:lnTo>
                  <a:pt x="380032" y="13993"/>
                </a:lnTo>
                <a:lnTo>
                  <a:pt x="13497" y="13993"/>
                </a:lnTo>
                <a:lnTo>
                  <a:pt x="13497" y="380032"/>
                </a:lnTo>
                <a:lnTo>
                  <a:pt x="0" y="380032"/>
                </a:lnTo>
                <a:close/>
              </a:path>
            </a:pathLst>
          </a:cu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hangingPunct="1">
              <a:defRPr/>
            </a:pPr>
            <a:endParaRPr lang="zh-CN" altLang="en-US" sz="2400"/>
          </a:p>
        </p:txBody>
      </p:sp>
      <p:sp>
        <p:nvSpPr>
          <p:cNvPr id="31" name="MH_Other_14"/>
          <p:cNvSpPr/>
          <p:nvPr>
            <p:custDataLst>
              <p:tags r:id="rId10"/>
            </p:custDataLst>
          </p:nvPr>
        </p:nvSpPr>
        <p:spPr>
          <a:xfrm>
            <a:off x="8736269" y="2468018"/>
            <a:ext cx="501067" cy="434792"/>
          </a:xfrm>
          <a:custGeom>
            <a:avLst/>
            <a:gdLst>
              <a:gd name="connsiteX0" fmla="*/ 0 w 380032"/>
              <a:gd name="connsiteY0" fmla="*/ 0 h 380032"/>
              <a:gd name="connsiteX1" fmla="*/ 380032 w 380032"/>
              <a:gd name="connsiteY1" fmla="*/ 0 h 380032"/>
              <a:gd name="connsiteX2" fmla="*/ 380032 w 380032"/>
              <a:gd name="connsiteY2" fmla="*/ 13993 h 380032"/>
              <a:gd name="connsiteX3" fmla="*/ 13497 w 380032"/>
              <a:gd name="connsiteY3" fmla="*/ 13993 h 380032"/>
              <a:gd name="connsiteX4" fmla="*/ 13497 w 380032"/>
              <a:gd name="connsiteY4" fmla="*/ 380032 h 380032"/>
              <a:gd name="connsiteX5" fmla="*/ 0 w 380032"/>
              <a:gd name="connsiteY5" fmla="*/ 380032 h 38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032" h="380032">
                <a:moveTo>
                  <a:pt x="0" y="0"/>
                </a:moveTo>
                <a:lnTo>
                  <a:pt x="380032" y="0"/>
                </a:lnTo>
                <a:lnTo>
                  <a:pt x="380032" y="13993"/>
                </a:lnTo>
                <a:lnTo>
                  <a:pt x="13497" y="13993"/>
                </a:lnTo>
                <a:lnTo>
                  <a:pt x="13497" y="380032"/>
                </a:lnTo>
                <a:lnTo>
                  <a:pt x="0" y="380032"/>
                </a:lnTo>
                <a:close/>
              </a:path>
            </a:pathLst>
          </a:cu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hangingPunct="1">
              <a:defRPr/>
            </a:pPr>
            <a:endParaRPr lang="zh-CN" altLang="en-US" sz="2400"/>
          </a:p>
        </p:txBody>
      </p:sp>
      <p:sp>
        <p:nvSpPr>
          <p:cNvPr id="32" name="文本框 2"/>
          <p:cNvSpPr txBox="1">
            <a:spLocks noChangeArrowheads="1"/>
          </p:cNvSpPr>
          <p:nvPr>
            <p:custDataLst>
              <p:tags r:id="rId11"/>
            </p:custDataLst>
          </p:nvPr>
        </p:nvSpPr>
        <p:spPr bwMode="auto">
          <a:xfrm>
            <a:off x="8943140" y="5364628"/>
            <a:ext cx="2219917" cy="620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zh-CN" altLang="en-US" sz="1600" dirty="0">
                <a:solidFill>
                  <a:schemeClr val="tx2">
                    <a:lumMod val="50000"/>
                  </a:schemeClr>
                </a:solidFill>
                <a:latin typeface="微软雅黑" panose="020B0503020204020204" pitchFamily="34" charset="-122"/>
                <a:ea typeface="微软雅黑" panose="020B0503020204020204" pitchFamily="34" charset="-122"/>
              </a:rPr>
              <a:t>基金经理：刘兆阳</a:t>
            </a:r>
          </a:p>
        </p:txBody>
      </p:sp>
      <p:sp>
        <p:nvSpPr>
          <p:cNvPr id="34" name="矩形 33"/>
          <p:cNvSpPr/>
          <p:nvPr>
            <p:custDataLst>
              <p:tags r:id="rId12"/>
            </p:custDataLst>
          </p:nvPr>
        </p:nvSpPr>
        <p:spPr>
          <a:xfrm>
            <a:off x="8736735" y="5472361"/>
            <a:ext cx="187933" cy="719122"/>
          </a:xfrm>
          <a:prstGeom prst="rect">
            <a:avLst/>
          </a:prstGeom>
          <a:solidFill>
            <a:srgbClr val="00366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0" tIns="0" rIns="0" bIns="0" anchor="ctr"/>
          <a:lstStyle/>
          <a:p>
            <a:pPr hangingPunct="1">
              <a:defRPr/>
            </a:pPr>
            <a:endParaRPr lang="zh-CN" altLang="en-US" sz="1400" dirty="0">
              <a:solidFill>
                <a:srgbClr val="FFFFFF"/>
              </a:solidFill>
              <a:latin typeface="Arial" panose="020B0604020202020204" pitchFamily="34" charset="0"/>
              <a:ea typeface="黑体" panose="02010609060101010101" charset="-122"/>
            </a:endParaRPr>
          </a:p>
        </p:txBody>
      </p:sp>
      <p:pic>
        <p:nvPicPr>
          <p:cNvPr id="35" name="图片 34"/>
          <p:cNvPicPr>
            <a:picLocks noChangeAspect="1"/>
          </p:cNvPicPr>
          <p:nvPr/>
        </p:nvPicPr>
        <p:blipFill rotWithShape="1">
          <a:blip r:embed="rId16" cstate="print">
            <a:extLst>
              <a:ext uri="{28A0092B-C50C-407E-A947-70E740481C1C}">
                <a14:useLocalDpi xmlns:a14="http://schemas.microsoft.com/office/drawing/2010/main" val="0"/>
              </a:ext>
            </a:extLst>
          </a:blip>
          <a:srcRect b="12546"/>
          <a:stretch>
            <a:fillRect/>
          </a:stretch>
        </p:blipFill>
        <p:spPr>
          <a:xfrm>
            <a:off x="8944562" y="2658604"/>
            <a:ext cx="2076498" cy="2723970"/>
          </a:xfrm>
          <a:prstGeom prst="rect">
            <a:avLst/>
          </a:prstGeom>
        </p:spPr>
      </p:pic>
      <p:pic>
        <p:nvPicPr>
          <p:cNvPr id="36" name="图片 35"/>
          <p:cNvPicPr>
            <a:picLocks noChangeAspect="1"/>
          </p:cNvPicPr>
          <p:nvPr/>
        </p:nvPicPr>
        <p:blipFill rotWithShape="1">
          <a:blip r:embed="rId17" cstate="print">
            <a:extLst>
              <a:ext uri="{28A0092B-C50C-407E-A947-70E740481C1C}">
                <a14:useLocalDpi xmlns:a14="http://schemas.microsoft.com/office/drawing/2010/main" val="0"/>
              </a:ext>
            </a:extLst>
          </a:blip>
          <a:srcRect t="4676" b="6813"/>
          <a:stretch>
            <a:fillRect/>
          </a:stretch>
        </p:blipFill>
        <p:spPr>
          <a:xfrm>
            <a:off x="5115074" y="2663079"/>
            <a:ext cx="2044162" cy="2715020"/>
          </a:xfrm>
          <a:prstGeom prst="rect">
            <a:avLst/>
          </a:prstGeom>
        </p:spPr>
      </p:pic>
      <p:sp>
        <p:nvSpPr>
          <p:cNvPr id="3" name="灯片编号占位符 2">
            <a:extLst>
              <a:ext uri="{FF2B5EF4-FFF2-40B4-BE49-F238E27FC236}">
                <a16:creationId xmlns:a16="http://schemas.microsoft.com/office/drawing/2014/main" xmlns="" id="{A560EE3F-F5F5-E979-4F78-7392AF5088E8}"/>
              </a:ext>
            </a:extLst>
          </p:cNvPr>
          <p:cNvSpPr>
            <a:spLocks noGrp="1"/>
          </p:cNvSpPr>
          <p:nvPr>
            <p:ph type="sldNum" sz="quarter" idx="11"/>
          </p:nvPr>
        </p:nvSpPr>
        <p:spPr/>
        <p:txBody>
          <a:bodyPr/>
          <a:lstStyle/>
          <a:p>
            <a:pPr>
              <a:defRPr/>
            </a:pPr>
            <a:fld id="{6E91549D-98B7-4077-996F-05BE1B29F039}" type="slidenum">
              <a:rPr lang="zh-CN" altLang="en-US" smtClean="0"/>
              <a:t>21</a:t>
            </a:fld>
            <a:endParaRPr lang="zh-CN" altLang="en-US" dirty="0"/>
          </a:p>
        </p:txBody>
      </p:sp>
    </p:spTree>
    <p:extLst>
      <p:ext uri="{BB962C8B-B14F-4D97-AF65-F5344CB8AC3E}">
        <p14:creationId xmlns:p14="http://schemas.microsoft.com/office/powerpoint/2010/main" val="199072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fltVal val="0"/>
                                          </p:val>
                                        </p:tav>
                                        <p:tav tm="100000">
                                          <p:val>
                                            <p:strVal val="#ppt_w"/>
                                          </p:val>
                                        </p:tav>
                                      </p:tavLst>
                                    </p:anim>
                                    <p:anim calcmode="lin" valueType="num">
                                      <p:cBhvr>
                                        <p:cTn id="20" dur="500" fill="hold"/>
                                        <p:tgtEl>
                                          <p:spTgt spid="25"/>
                                        </p:tgtEl>
                                        <p:attrNameLst>
                                          <p:attrName>ppt_h</p:attrName>
                                        </p:attrNameLst>
                                      </p:cBhvr>
                                      <p:tavLst>
                                        <p:tav tm="0">
                                          <p:val>
                                            <p:fltVal val="0"/>
                                          </p:val>
                                        </p:tav>
                                        <p:tav tm="100000">
                                          <p:val>
                                            <p:strVal val="#ppt_h"/>
                                          </p:val>
                                        </p:tav>
                                      </p:tavLst>
                                    </p:anim>
                                    <p:animEffect transition="in" filter="fade">
                                      <p:cBhvr>
                                        <p:cTn id="21" dur="500"/>
                                        <p:tgtEl>
                                          <p:spTgt spid="25"/>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p:cTn id="25" dur="500" fill="hold"/>
                                        <p:tgtEl>
                                          <p:spTgt spid="26"/>
                                        </p:tgtEl>
                                        <p:attrNameLst>
                                          <p:attrName>ppt_w</p:attrName>
                                        </p:attrNameLst>
                                      </p:cBhvr>
                                      <p:tavLst>
                                        <p:tav tm="0">
                                          <p:val>
                                            <p:fltVal val="0"/>
                                          </p:val>
                                        </p:tav>
                                        <p:tav tm="100000">
                                          <p:val>
                                            <p:strVal val="#ppt_w"/>
                                          </p:val>
                                        </p:tav>
                                      </p:tavLst>
                                    </p:anim>
                                    <p:anim calcmode="lin" valueType="num">
                                      <p:cBhvr>
                                        <p:cTn id="26" dur="500" fill="hold"/>
                                        <p:tgtEl>
                                          <p:spTgt spid="26"/>
                                        </p:tgtEl>
                                        <p:attrNameLst>
                                          <p:attrName>ppt_h</p:attrName>
                                        </p:attrNameLst>
                                      </p:cBhvr>
                                      <p:tavLst>
                                        <p:tav tm="0">
                                          <p:val>
                                            <p:fltVal val="0"/>
                                          </p:val>
                                        </p:tav>
                                        <p:tav tm="100000">
                                          <p:val>
                                            <p:strVal val="#ppt_h"/>
                                          </p:val>
                                        </p:tav>
                                      </p:tavLst>
                                    </p:anim>
                                    <p:animEffect transition="in" filter="fade">
                                      <p:cBhvr>
                                        <p:cTn id="27" dur="500"/>
                                        <p:tgtEl>
                                          <p:spTgt spid="26"/>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p:cTn id="31" dur="500" fill="hold"/>
                                        <p:tgtEl>
                                          <p:spTgt spid="30"/>
                                        </p:tgtEl>
                                        <p:attrNameLst>
                                          <p:attrName>ppt_w</p:attrName>
                                        </p:attrNameLst>
                                      </p:cBhvr>
                                      <p:tavLst>
                                        <p:tav tm="0">
                                          <p:val>
                                            <p:fltVal val="0"/>
                                          </p:val>
                                        </p:tav>
                                        <p:tav tm="100000">
                                          <p:val>
                                            <p:strVal val="#ppt_w"/>
                                          </p:val>
                                        </p:tav>
                                      </p:tavLst>
                                    </p:anim>
                                    <p:anim calcmode="lin" valueType="num">
                                      <p:cBhvr>
                                        <p:cTn id="32" dur="500" fill="hold"/>
                                        <p:tgtEl>
                                          <p:spTgt spid="30"/>
                                        </p:tgtEl>
                                        <p:attrNameLst>
                                          <p:attrName>ppt_h</p:attrName>
                                        </p:attrNameLst>
                                      </p:cBhvr>
                                      <p:tavLst>
                                        <p:tav tm="0">
                                          <p:val>
                                            <p:fltVal val="0"/>
                                          </p:val>
                                        </p:tav>
                                        <p:tav tm="100000">
                                          <p:val>
                                            <p:strVal val="#ppt_h"/>
                                          </p:val>
                                        </p:tav>
                                      </p:tavLst>
                                    </p:anim>
                                    <p:animEffect transition="in" filter="fade">
                                      <p:cBhvr>
                                        <p:cTn id="33" dur="500"/>
                                        <p:tgtEl>
                                          <p:spTgt spid="30"/>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p:cTn id="37" dur="500" fill="hold"/>
                                        <p:tgtEl>
                                          <p:spTgt spid="31"/>
                                        </p:tgtEl>
                                        <p:attrNameLst>
                                          <p:attrName>ppt_w</p:attrName>
                                        </p:attrNameLst>
                                      </p:cBhvr>
                                      <p:tavLst>
                                        <p:tav tm="0">
                                          <p:val>
                                            <p:fltVal val="0"/>
                                          </p:val>
                                        </p:tav>
                                        <p:tav tm="100000">
                                          <p:val>
                                            <p:strVal val="#ppt_w"/>
                                          </p:val>
                                        </p:tav>
                                      </p:tavLst>
                                    </p:anim>
                                    <p:anim calcmode="lin" valueType="num">
                                      <p:cBhvr>
                                        <p:cTn id="38" dur="500" fill="hold"/>
                                        <p:tgtEl>
                                          <p:spTgt spid="31"/>
                                        </p:tgtEl>
                                        <p:attrNameLst>
                                          <p:attrName>ppt_h</p:attrName>
                                        </p:attrNameLst>
                                      </p:cBhvr>
                                      <p:tavLst>
                                        <p:tav tm="0">
                                          <p:val>
                                            <p:fltVal val="0"/>
                                          </p:val>
                                        </p:tav>
                                        <p:tav tm="100000">
                                          <p:val>
                                            <p:strVal val="#ppt_h"/>
                                          </p:val>
                                        </p:tav>
                                      </p:tavLst>
                                    </p:anim>
                                    <p:animEffect transition="in" filter="fade">
                                      <p:cBhvr>
                                        <p:cTn id="3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0" grpId="0" bldLvl="0" animBg="1"/>
      <p:bldP spid="25" grpId="0" bldLvl="0" animBg="1"/>
      <p:bldP spid="26" grpId="0" bldLvl="0" animBg="1"/>
      <p:bldP spid="30" grpId="0" bldLvl="0" animBg="1"/>
      <p:bldP spid="3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dirty="0">
                <a:solidFill>
                  <a:srgbClr val="EA5838"/>
                </a:solidFill>
              </a:rPr>
              <a:t>2</a:t>
            </a:r>
            <a:r>
              <a:rPr lang="zh-CN" altLang="en-US" dirty="0">
                <a:solidFill>
                  <a:srgbClr val="EA5838"/>
                </a:solidFill>
              </a:rPr>
              <a:t>、公募量化“均衡派”：</a:t>
            </a:r>
            <a:r>
              <a:rPr lang="zh-CN" altLang="en-US" dirty="0"/>
              <a:t>双均衡多因子模型框架</a:t>
            </a:r>
          </a:p>
        </p:txBody>
      </p:sp>
      <p:sp>
        <p:nvSpPr>
          <p:cNvPr id="3" name="副标题 2"/>
          <p:cNvSpPr>
            <a:spLocks noGrp="1"/>
          </p:cNvSpPr>
          <p:nvPr>
            <p:ph type="subTitle" idx="1"/>
          </p:nvPr>
        </p:nvSpPr>
        <p:spPr/>
        <p:txBody>
          <a:bodyPr>
            <a:normAutofit/>
          </a:bodyPr>
          <a:lstStyle/>
          <a:p>
            <a:pPr>
              <a:defRPr/>
            </a:pPr>
            <a:r>
              <a:rPr lang="zh-CN" altLang="en-US" sz="1600" dirty="0"/>
              <a:t>复盘历史，因子配的太偏，或者策略理念太单一，容易出现超额较大的波动，排名也容易不稳定。</a:t>
            </a:r>
            <a:endParaRPr lang="en-US" altLang="zh-CN" sz="1600" dirty="0"/>
          </a:p>
          <a:p>
            <a:pPr>
              <a:defRPr/>
            </a:pPr>
            <a:r>
              <a:rPr lang="zh-CN" altLang="en-US" sz="1600" dirty="0"/>
              <a:t>双均衡框架的选择有利于最终超额呈现的持续性，获得穿越市场周期的超额竞争力。</a:t>
            </a:r>
            <a:endParaRPr lang="en-US" altLang="zh-CN" sz="1600" dirty="0"/>
          </a:p>
          <a:p>
            <a:pPr>
              <a:defRPr/>
            </a:pPr>
            <a:r>
              <a:rPr lang="zh-CN" altLang="en-US" sz="1600" b="1" dirty="0"/>
              <a:t>分域差异化的系统实现：</a:t>
            </a:r>
            <a:r>
              <a:rPr lang="en-US" altLang="zh-CN" sz="1600" dirty="0"/>
              <a:t>Benchmark</a:t>
            </a:r>
            <a:r>
              <a:rPr lang="zh-CN" altLang="en-US" sz="1600" dirty="0"/>
              <a:t>成为模型的输入参数，兼容框架的统一性和差异性。</a:t>
            </a:r>
            <a:endParaRPr lang="en-US" altLang="zh-CN" sz="1600" dirty="0"/>
          </a:p>
          <a:p>
            <a:endParaRPr lang="zh-CN" altLang="en-US" dirty="0"/>
          </a:p>
        </p:txBody>
      </p:sp>
      <p:grpSp>
        <p:nvGrpSpPr>
          <p:cNvPr id="28" name="组合 27"/>
          <p:cNvGrpSpPr/>
          <p:nvPr/>
        </p:nvGrpSpPr>
        <p:grpSpPr>
          <a:xfrm>
            <a:off x="1093927" y="2362162"/>
            <a:ext cx="10004147" cy="3815103"/>
            <a:chOff x="1093926" y="2134677"/>
            <a:chExt cx="10004147" cy="3815103"/>
          </a:xfrm>
        </p:grpSpPr>
        <p:grpSp>
          <p:nvGrpSpPr>
            <p:cNvPr id="5" name="组合 4"/>
            <p:cNvGrpSpPr/>
            <p:nvPr/>
          </p:nvGrpSpPr>
          <p:grpSpPr>
            <a:xfrm>
              <a:off x="1093926" y="2134677"/>
              <a:ext cx="10004147" cy="3203429"/>
              <a:chOff x="1244142" y="2595352"/>
              <a:chExt cx="9703508" cy="3107161"/>
            </a:xfrm>
          </p:grpSpPr>
          <p:grpSp>
            <p:nvGrpSpPr>
              <p:cNvPr id="6" name="组合 5"/>
              <p:cNvGrpSpPr/>
              <p:nvPr/>
            </p:nvGrpSpPr>
            <p:grpSpPr>
              <a:xfrm>
                <a:off x="7929714" y="2595352"/>
                <a:ext cx="3017936" cy="1232266"/>
                <a:chOff x="8441953" y="2325723"/>
                <a:chExt cx="3017936" cy="1232266"/>
              </a:xfrm>
            </p:grpSpPr>
            <p:sp>
              <p:nvSpPr>
                <p:cNvPr id="22" name="TextBox 54"/>
                <p:cNvSpPr txBox="1"/>
                <p:nvPr/>
              </p:nvSpPr>
              <p:spPr>
                <a:xfrm>
                  <a:off x="8445803" y="2325723"/>
                  <a:ext cx="1068736" cy="276999"/>
                </a:xfrm>
                <a:prstGeom prst="rect">
                  <a:avLst/>
                </a:prstGeom>
                <a:noFill/>
              </p:spPr>
              <p:txBody>
                <a:bodyPr wrap="none" lIns="0" tIns="0" rIns="0" bIns="0" anchor="b"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n"/>
                  </a:pPr>
                  <a:r>
                    <a:rPr lang="zh-CN" altLang="en-US" dirty="0">
                      <a:solidFill>
                        <a:srgbClr val="5B9BD5"/>
                      </a:solidFill>
                    </a:rPr>
                    <a:t>方法论均衡</a:t>
                  </a:r>
                </a:p>
              </p:txBody>
            </p:sp>
            <p:sp>
              <p:nvSpPr>
                <p:cNvPr id="23" name="TextBox 61"/>
                <p:cNvSpPr txBox="1"/>
                <p:nvPr/>
              </p:nvSpPr>
              <p:spPr>
                <a:xfrm>
                  <a:off x="8441953" y="2841523"/>
                  <a:ext cx="3017936" cy="716466"/>
                </a:xfrm>
                <a:prstGeom prst="rect">
                  <a:avLst/>
                </a:prstGeom>
              </p:spPr>
              <p:txBody>
                <a:bodyPr vert="horz" wrap="square" lIns="0" tIns="0" rIns="0" bIns="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defRPr/>
                  </a:pPr>
                  <a:r>
                    <a:rPr lang="zh-CN" altLang="en-US" sz="1200" dirty="0">
                      <a:solidFill>
                        <a:schemeClr val="tx2"/>
                      </a:solidFill>
                      <a:latin typeface="+mn-ea"/>
                    </a:rPr>
                    <a:t>目前博道量化体系中，</a:t>
                  </a:r>
                  <a:r>
                    <a:rPr lang="zh-CN" altLang="en-US" sz="1400" dirty="0">
                      <a:solidFill>
                        <a:srgbClr val="EA5838"/>
                      </a:solidFill>
                      <a:latin typeface="+mn-ea"/>
                    </a:rPr>
                    <a:t>传统多因子模型与</a:t>
                  </a:r>
                  <a:r>
                    <a:rPr lang="en-US" altLang="zh-CN" sz="1400" dirty="0">
                      <a:solidFill>
                        <a:srgbClr val="EA5838"/>
                      </a:solidFill>
                      <a:latin typeface="+mn-ea"/>
                    </a:rPr>
                    <a:t>AI</a:t>
                  </a:r>
                  <a:r>
                    <a:rPr lang="zh-CN" altLang="en-US" sz="1400" dirty="0">
                      <a:solidFill>
                        <a:srgbClr val="EA5838"/>
                      </a:solidFill>
                      <a:latin typeface="+mn-ea"/>
                    </a:rPr>
                    <a:t>多因子模型并存</a:t>
                  </a:r>
                  <a:r>
                    <a:rPr lang="zh-CN" altLang="en-US" sz="1200" dirty="0">
                      <a:solidFill>
                        <a:schemeClr val="tx2"/>
                      </a:solidFill>
                      <a:latin typeface="+mn-ea"/>
                    </a:rPr>
                    <a:t>，双轮驱动，希望在变化的市场中为投资者创造可持续的超额回报。</a:t>
                  </a:r>
                </a:p>
              </p:txBody>
            </p:sp>
          </p:grpSp>
          <p:grpSp>
            <p:nvGrpSpPr>
              <p:cNvPr id="7" name="组合 6"/>
              <p:cNvGrpSpPr/>
              <p:nvPr/>
            </p:nvGrpSpPr>
            <p:grpSpPr>
              <a:xfrm>
                <a:off x="7929714" y="4177823"/>
                <a:ext cx="3017936" cy="1494516"/>
                <a:chOff x="8441953" y="3908194"/>
                <a:chExt cx="3017936" cy="1494516"/>
              </a:xfrm>
            </p:grpSpPr>
            <p:sp>
              <p:nvSpPr>
                <p:cNvPr id="20" name="TextBox 57"/>
                <p:cNvSpPr txBox="1"/>
                <p:nvPr/>
              </p:nvSpPr>
              <p:spPr>
                <a:xfrm>
                  <a:off x="8441954" y="3908194"/>
                  <a:ext cx="1425968" cy="276999"/>
                </a:xfrm>
                <a:prstGeom prst="rect">
                  <a:avLst/>
                </a:prstGeom>
                <a:noFill/>
              </p:spPr>
              <p:txBody>
                <a:bodyPr wrap="none" lIns="0" tIns="0" rIns="0" bIns="0" anchor="b"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n"/>
                  </a:pPr>
                  <a:r>
                    <a:rPr lang="zh-CN" altLang="en-US" dirty="0">
                      <a:solidFill>
                        <a:srgbClr val="5B9BD5"/>
                      </a:solidFill>
                    </a:rPr>
                    <a:t>因子配权均衡</a:t>
                  </a:r>
                </a:p>
              </p:txBody>
            </p:sp>
            <p:sp>
              <p:nvSpPr>
                <p:cNvPr id="21" name="TextBox 61"/>
                <p:cNvSpPr txBox="1"/>
                <p:nvPr/>
              </p:nvSpPr>
              <p:spPr>
                <a:xfrm>
                  <a:off x="8441953" y="4507127"/>
                  <a:ext cx="3017936" cy="895583"/>
                </a:xfrm>
                <a:prstGeom prst="rect">
                  <a:avLst/>
                </a:prstGeom>
              </p:spPr>
              <p:txBody>
                <a:bodyPr vert="horz" wrap="square" lIns="0" tIns="0" rIns="0" bIns="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defRPr/>
                  </a:pPr>
                  <a:r>
                    <a:rPr lang="en-US" altLang="zh-CN" sz="1200" dirty="0">
                      <a:solidFill>
                        <a:schemeClr val="tx2"/>
                      </a:solidFill>
                      <a:latin typeface="+mn-ea"/>
                    </a:rPr>
                    <a:t>PRICE = EPS</a:t>
                  </a:r>
                  <a:r>
                    <a:rPr lang="zh-CN" altLang="en-US" sz="1200" dirty="0">
                      <a:solidFill>
                        <a:schemeClr val="tx2"/>
                      </a:solidFill>
                      <a:latin typeface="+mn-ea"/>
                    </a:rPr>
                    <a:t>（基本面） * </a:t>
                  </a:r>
                  <a:r>
                    <a:rPr lang="en-US" altLang="zh-CN" sz="1200" dirty="0">
                      <a:solidFill>
                        <a:schemeClr val="tx2"/>
                      </a:solidFill>
                      <a:latin typeface="+mn-ea"/>
                    </a:rPr>
                    <a:t>PE</a:t>
                  </a:r>
                  <a:r>
                    <a:rPr lang="zh-CN" altLang="en-US" sz="1200" dirty="0">
                      <a:solidFill>
                        <a:schemeClr val="tx2"/>
                      </a:solidFill>
                      <a:latin typeface="+mn-ea"/>
                    </a:rPr>
                    <a:t>（估值），基于超额来源的底层逻辑，两套模型内部的因子权重，</a:t>
                  </a:r>
                  <a:r>
                    <a:rPr lang="zh-CN" altLang="en-US" sz="1400" dirty="0">
                      <a:solidFill>
                        <a:srgbClr val="EA5838"/>
                      </a:solidFill>
                      <a:latin typeface="+mn-ea"/>
                    </a:rPr>
                    <a:t>基本保持动量反转各自约一半</a:t>
                  </a:r>
                  <a:r>
                    <a:rPr lang="zh-CN" altLang="en-US" sz="1200" dirty="0">
                      <a:solidFill>
                        <a:schemeClr val="tx2"/>
                      </a:solidFill>
                      <a:latin typeface="+mn-ea"/>
                    </a:rPr>
                    <a:t>，避免风格转换带来的不可控的超额损耗。</a:t>
                  </a:r>
                </a:p>
              </p:txBody>
            </p:sp>
          </p:grpSp>
          <p:sp>
            <p:nvSpPr>
              <p:cNvPr id="8" name="任意多边形 14"/>
              <p:cNvSpPr/>
              <p:nvPr/>
            </p:nvSpPr>
            <p:spPr>
              <a:xfrm>
                <a:off x="4343029" y="2595352"/>
                <a:ext cx="3111127" cy="1555540"/>
              </a:xfrm>
              <a:custGeom>
                <a:avLst/>
                <a:gdLst/>
                <a:ahLst/>
                <a:cxnLst/>
                <a:rect l="0" t="0" r="0" b="0"/>
                <a:pathLst>
                  <a:path w="120000" h="120000" extrusionOk="0">
                    <a:moveTo>
                      <a:pt x="60000" y="30583"/>
                    </a:moveTo>
                    <a:cubicBezTo>
                      <a:pt x="84688" y="30583"/>
                      <a:pt x="104705" y="70616"/>
                      <a:pt x="104705" y="120000"/>
                    </a:cubicBezTo>
                    <a:lnTo>
                      <a:pt x="120000" y="120000"/>
                    </a:lnTo>
                    <a:cubicBezTo>
                      <a:pt x="120000" y="53727"/>
                      <a:pt x="93138" y="0"/>
                      <a:pt x="60000" y="0"/>
                    </a:cubicBezTo>
                    <a:cubicBezTo>
                      <a:pt x="26861" y="0"/>
                      <a:pt x="0" y="53727"/>
                      <a:pt x="0" y="120000"/>
                    </a:cubicBezTo>
                    <a:lnTo>
                      <a:pt x="15294" y="120000"/>
                    </a:lnTo>
                    <a:cubicBezTo>
                      <a:pt x="15294" y="70616"/>
                      <a:pt x="35311" y="30583"/>
                      <a:pt x="60000" y="30583"/>
                    </a:cubicBezTo>
                    <a:close/>
                  </a:path>
                </a:pathLst>
              </a:custGeom>
              <a:solidFill>
                <a:srgbClr val="00366C"/>
              </a:solidFill>
              <a:ln>
                <a:noFill/>
              </a:ln>
            </p:spPr>
            <p:txBody>
              <a:bodyPr anchor="ctr"/>
              <a:lstStyle/>
              <a:p>
                <a:pPr algn="ctr"/>
                <a:endParaRPr sz="3000"/>
              </a:p>
            </p:txBody>
          </p:sp>
          <p:sp>
            <p:nvSpPr>
              <p:cNvPr id="9" name="任意多边形 17"/>
              <p:cNvSpPr/>
              <p:nvPr/>
            </p:nvSpPr>
            <p:spPr>
              <a:xfrm>
                <a:off x="1244142" y="4146975"/>
                <a:ext cx="3111127" cy="1555538"/>
              </a:xfrm>
              <a:custGeom>
                <a:avLst/>
                <a:gdLst/>
                <a:ahLst/>
                <a:cxnLst/>
                <a:rect l="0" t="0" r="0" b="0"/>
                <a:pathLst>
                  <a:path w="120000" h="120000" extrusionOk="0">
                    <a:moveTo>
                      <a:pt x="60000" y="89416"/>
                    </a:moveTo>
                    <a:cubicBezTo>
                      <a:pt x="35311" y="89416"/>
                      <a:pt x="15294" y="49383"/>
                      <a:pt x="15294" y="0"/>
                    </a:cubicBezTo>
                    <a:lnTo>
                      <a:pt x="0" y="0"/>
                    </a:lnTo>
                    <a:cubicBezTo>
                      <a:pt x="0" y="66272"/>
                      <a:pt x="26861" y="120000"/>
                      <a:pt x="60000" y="120000"/>
                    </a:cubicBezTo>
                    <a:cubicBezTo>
                      <a:pt x="93138" y="120000"/>
                      <a:pt x="120000" y="66272"/>
                      <a:pt x="120000" y="0"/>
                    </a:cubicBezTo>
                    <a:lnTo>
                      <a:pt x="104705" y="0"/>
                    </a:lnTo>
                    <a:cubicBezTo>
                      <a:pt x="104705" y="49383"/>
                      <a:pt x="84688" y="89416"/>
                      <a:pt x="60000" y="89416"/>
                    </a:cubicBezTo>
                    <a:close/>
                  </a:path>
                </a:pathLst>
              </a:custGeom>
              <a:solidFill>
                <a:srgbClr val="00366C"/>
              </a:solidFill>
              <a:ln>
                <a:noFill/>
              </a:ln>
            </p:spPr>
            <p:txBody>
              <a:bodyPr anchor="ctr"/>
              <a:lstStyle/>
              <a:p>
                <a:pPr algn="ctr"/>
                <a:endParaRPr sz="3000"/>
              </a:p>
            </p:txBody>
          </p:sp>
          <p:sp>
            <p:nvSpPr>
              <p:cNvPr id="10" name="任意多边形 18"/>
              <p:cNvSpPr/>
              <p:nvPr/>
            </p:nvSpPr>
            <p:spPr>
              <a:xfrm>
                <a:off x="1244142" y="2595352"/>
                <a:ext cx="3111127" cy="1555540"/>
              </a:xfrm>
              <a:custGeom>
                <a:avLst/>
                <a:gdLst/>
                <a:ahLst/>
                <a:cxnLst/>
                <a:rect l="0" t="0" r="0" b="0"/>
                <a:pathLst>
                  <a:path w="120000" h="120000" extrusionOk="0">
                    <a:moveTo>
                      <a:pt x="60000" y="30583"/>
                    </a:moveTo>
                    <a:cubicBezTo>
                      <a:pt x="84688" y="30583"/>
                      <a:pt x="104705" y="70616"/>
                      <a:pt x="104705" y="120000"/>
                    </a:cubicBezTo>
                    <a:lnTo>
                      <a:pt x="120000" y="120000"/>
                    </a:lnTo>
                    <a:cubicBezTo>
                      <a:pt x="120000" y="53727"/>
                      <a:pt x="93138" y="0"/>
                      <a:pt x="60000" y="0"/>
                    </a:cubicBezTo>
                    <a:cubicBezTo>
                      <a:pt x="26861" y="0"/>
                      <a:pt x="0" y="53727"/>
                      <a:pt x="0" y="120000"/>
                    </a:cubicBezTo>
                    <a:lnTo>
                      <a:pt x="15294" y="120000"/>
                    </a:lnTo>
                    <a:cubicBezTo>
                      <a:pt x="15294" y="70616"/>
                      <a:pt x="35311" y="30583"/>
                      <a:pt x="60000" y="30583"/>
                    </a:cubicBezTo>
                    <a:close/>
                  </a:path>
                </a:pathLst>
              </a:custGeom>
              <a:solidFill>
                <a:srgbClr val="EA5838"/>
              </a:solidFill>
              <a:ln>
                <a:noFill/>
              </a:ln>
            </p:spPr>
            <p:txBody>
              <a:bodyPr anchor="ctr"/>
              <a:lstStyle/>
              <a:p>
                <a:pPr algn="ctr"/>
                <a:endParaRPr sz="3000"/>
              </a:p>
            </p:txBody>
          </p:sp>
          <p:sp>
            <p:nvSpPr>
              <p:cNvPr id="11" name="任意多边形 21"/>
              <p:cNvSpPr/>
              <p:nvPr/>
            </p:nvSpPr>
            <p:spPr>
              <a:xfrm>
                <a:off x="4343028" y="4146975"/>
                <a:ext cx="3111127" cy="1555538"/>
              </a:xfrm>
              <a:custGeom>
                <a:avLst/>
                <a:gdLst/>
                <a:ahLst/>
                <a:cxnLst/>
                <a:rect l="0" t="0" r="0" b="0"/>
                <a:pathLst>
                  <a:path w="120000" h="120000" extrusionOk="0">
                    <a:moveTo>
                      <a:pt x="60000" y="89416"/>
                    </a:moveTo>
                    <a:cubicBezTo>
                      <a:pt x="35311" y="89416"/>
                      <a:pt x="15294" y="49383"/>
                      <a:pt x="15294" y="0"/>
                    </a:cubicBezTo>
                    <a:lnTo>
                      <a:pt x="0" y="0"/>
                    </a:lnTo>
                    <a:cubicBezTo>
                      <a:pt x="0" y="66272"/>
                      <a:pt x="26861" y="120000"/>
                      <a:pt x="60000" y="120000"/>
                    </a:cubicBezTo>
                    <a:cubicBezTo>
                      <a:pt x="93138" y="120000"/>
                      <a:pt x="120000" y="66272"/>
                      <a:pt x="120000" y="0"/>
                    </a:cubicBezTo>
                    <a:lnTo>
                      <a:pt x="104705" y="0"/>
                    </a:lnTo>
                    <a:cubicBezTo>
                      <a:pt x="104705" y="49383"/>
                      <a:pt x="84688" y="89416"/>
                      <a:pt x="60000" y="89416"/>
                    </a:cubicBezTo>
                    <a:close/>
                  </a:path>
                </a:pathLst>
              </a:custGeom>
              <a:solidFill>
                <a:srgbClr val="EA5838"/>
              </a:solidFill>
              <a:ln>
                <a:noFill/>
              </a:ln>
            </p:spPr>
            <p:txBody>
              <a:bodyPr anchor="ctr"/>
              <a:lstStyle/>
              <a:p>
                <a:pPr algn="ctr"/>
                <a:endParaRPr sz="3000"/>
              </a:p>
            </p:txBody>
          </p:sp>
          <p:grpSp>
            <p:nvGrpSpPr>
              <p:cNvPr id="12" name="Group 25"/>
              <p:cNvGrpSpPr/>
              <p:nvPr/>
            </p:nvGrpSpPr>
            <p:grpSpPr>
              <a:xfrm>
                <a:off x="1625951" y="3987314"/>
                <a:ext cx="2347508" cy="1237233"/>
                <a:chOff x="5157230" y="1101621"/>
                <a:chExt cx="2699991" cy="1237233"/>
              </a:xfrm>
            </p:grpSpPr>
            <p:sp>
              <p:nvSpPr>
                <p:cNvPr id="18" name="TextBox 26"/>
                <p:cNvSpPr txBox="1"/>
                <p:nvPr/>
              </p:nvSpPr>
              <p:spPr>
                <a:xfrm>
                  <a:off x="5157230" y="1101621"/>
                  <a:ext cx="2699991" cy="398468"/>
                </a:xfrm>
                <a:prstGeom prst="rect">
                  <a:avLst/>
                </a:prstGeom>
                <a:noFill/>
              </p:spPr>
              <p:txBody>
                <a:bodyPr wrap="none" lIns="216000" tIns="0" rIns="216000" bIns="0" anchor="ctr" anchorCtr="1">
                  <a:noAutofit/>
                </a:bodyPr>
                <a:lstStyle/>
                <a:p>
                  <a:pPr algn="ctr"/>
                  <a:r>
                    <a:rPr lang="zh-CN" altLang="en-US" sz="2000" dirty="0">
                      <a:solidFill>
                        <a:schemeClr val="accent1"/>
                      </a:solidFill>
                      <a:latin typeface="+mj-ea"/>
                      <a:ea typeface="+mj-ea"/>
                    </a:rPr>
                    <a:t>传统框架多因子模型</a:t>
                  </a:r>
                </a:p>
              </p:txBody>
            </p:sp>
            <p:sp>
              <p:nvSpPr>
                <p:cNvPr id="19" name="TextBox 27"/>
                <p:cNvSpPr txBox="1"/>
                <p:nvPr/>
              </p:nvSpPr>
              <p:spPr>
                <a:xfrm>
                  <a:off x="5157230" y="1630035"/>
                  <a:ext cx="2699990" cy="708819"/>
                </a:xfrm>
                <a:prstGeom prst="rect">
                  <a:avLst/>
                </a:prstGeom>
              </p:spPr>
              <p:txBody>
                <a:bodyPr vert="horz" wrap="square" lIns="216000" tIns="0" rIns="216000" bIns="0" anchor="t" anchorCtr="1">
                  <a:noAutofit/>
                </a:bodyPr>
                <a:lstStyle/>
                <a:p>
                  <a:pPr algn="ctr">
                    <a:lnSpc>
                      <a:spcPct val="130000"/>
                    </a:lnSpc>
                    <a:defRPr/>
                  </a:pPr>
                  <a:r>
                    <a:rPr lang="zh-CN" altLang="en-US" sz="1100" dirty="0">
                      <a:solidFill>
                        <a:schemeClr val="tx2"/>
                      </a:solidFill>
                      <a:latin typeface="+mn-ea"/>
                    </a:rPr>
                    <a:t>人脑挖掘为主生成因子库，完全可控的因子配权模块</a:t>
                  </a:r>
                </a:p>
              </p:txBody>
            </p:sp>
          </p:grpSp>
          <p:grpSp>
            <p:nvGrpSpPr>
              <p:cNvPr id="13" name="Group 25"/>
              <p:cNvGrpSpPr/>
              <p:nvPr/>
            </p:nvGrpSpPr>
            <p:grpSpPr>
              <a:xfrm>
                <a:off x="4737079" y="3987314"/>
                <a:ext cx="2377278" cy="1237233"/>
                <a:chOff x="5171308" y="1101621"/>
                <a:chExt cx="2734231" cy="1237233"/>
              </a:xfrm>
            </p:grpSpPr>
            <p:sp>
              <p:nvSpPr>
                <p:cNvPr id="16" name="TextBox 26"/>
                <p:cNvSpPr txBox="1"/>
                <p:nvPr/>
              </p:nvSpPr>
              <p:spPr>
                <a:xfrm>
                  <a:off x="5205547" y="1101621"/>
                  <a:ext cx="2699992" cy="398468"/>
                </a:xfrm>
                <a:prstGeom prst="rect">
                  <a:avLst/>
                </a:prstGeom>
                <a:noFill/>
              </p:spPr>
              <p:txBody>
                <a:bodyPr wrap="none" lIns="216000" tIns="0" rIns="216000" bIns="0" anchor="ctr" anchorCtr="1">
                  <a:noAutofit/>
                </a:bodyPr>
                <a:lstStyle/>
                <a:p>
                  <a:pPr algn="ctr"/>
                  <a:r>
                    <a:rPr lang="en-US" altLang="zh-CN" sz="2200" dirty="0">
                      <a:solidFill>
                        <a:schemeClr val="accent1"/>
                      </a:solidFill>
                      <a:latin typeface="+mj-ea"/>
                      <a:ea typeface="+mj-ea"/>
                    </a:rPr>
                    <a:t>AI</a:t>
                  </a:r>
                  <a:r>
                    <a:rPr lang="zh-CN" altLang="en-US" sz="2200" dirty="0">
                      <a:solidFill>
                        <a:schemeClr val="accent1"/>
                      </a:solidFill>
                      <a:latin typeface="+mj-ea"/>
                      <a:ea typeface="+mj-ea"/>
                    </a:rPr>
                    <a:t>框架多因子模型</a:t>
                  </a:r>
                </a:p>
              </p:txBody>
            </p:sp>
            <p:sp>
              <p:nvSpPr>
                <p:cNvPr id="17" name="TextBox 27"/>
                <p:cNvSpPr txBox="1"/>
                <p:nvPr/>
              </p:nvSpPr>
              <p:spPr>
                <a:xfrm>
                  <a:off x="5171308" y="1630035"/>
                  <a:ext cx="2699990" cy="708819"/>
                </a:xfrm>
                <a:prstGeom prst="rect">
                  <a:avLst/>
                </a:prstGeom>
              </p:spPr>
              <p:txBody>
                <a:bodyPr vert="horz" wrap="square" lIns="216000" tIns="0" rIns="216000" bIns="0" anchor="t" anchorCtr="1">
                  <a:noAutofit/>
                </a:bodyPr>
                <a:lstStyle/>
                <a:p>
                  <a:pPr algn="ctr">
                    <a:lnSpc>
                      <a:spcPct val="130000"/>
                    </a:lnSpc>
                    <a:defRPr/>
                  </a:pPr>
                  <a:r>
                    <a:rPr lang="zh-CN" altLang="en-US" sz="1100" dirty="0">
                      <a:solidFill>
                        <a:schemeClr val="tx2"/>
                      </a:solidFill>
                      <a:latin typeface="+mn-ea"/>
                    </a:rPr>
                    <a:t>各类适合的神经网络模型提取信息并合并预测</a:t>
                  </a:r>
                </a:p>
              </p:txBody>
            </p:sp>
          </p:grpSp>
          <p:sp>
            <p:nvSpPr>
              <p:cNvPr id="14" name="Freeform: Shape 5"/>
              <p:cNvSpPr/>
              <p:nvPr/>
            </p:nvSpPr>
            <p:spPr bwMode="auto">
              <a:xfrm>
                <a:off x="5599314" y="3499418"/>
                <a:ext cx="610796" cy="404744"/>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rgbClr val="00366C"/>
              </a:solidFill>
              <a:ln w="9525">
                <a:noFill/>
                <a:round/>
              </a:ln>
            </p:spPr>
            <p:txBody>
              <a:bodyPr anchor="ctr"/>
              <a:lstStyle/>
              <a:p>
                <a:pPr algn="ctr"/>
                <a:endParaRPr sz="3000"/>
              </a:p>
            </p:txBody>
          </p:sp>
          <p:sp>
            <p:nvSpPr>
              <p:cNvPr id="15" name="Freeform: Shape 11"/>
              <p:cNvSpPr/>
              <p:nvPr/>
            </p:nvSpPr>
            <p:spPr bwMode="auto">
              <a:xfrm>
                <a:off x="2558008" y="3448781"/>
                <a:ext cx="471155" cy="473560"/>
              </a:xfrm>
              <a:custGeom>
                <a:avLst/>
                <a:gdLst/>
                <a:ahLst/>
                <a:cxnLst>
                  <a:cxn ang="0">
                    <a:pos x="58" y="47"/>
                  </a:cxn>
                  <a:cxn ang="0">
                    <a:pos x="47" y="58"/>
                  </a:cxn>
                  <a:cxn ang="0">
                    <a:pos x="11" y="58"/>
                  </a:cxn>
                  <a:cxn ang="0">
                    <a:pos x="0" y="47"/>
                  </a:cxn>
                  <a:cxn ang="0">
                    <a:pos x="0" y="10"/>
                  </a:cxn>
                  <a:cxn ang="0">
                    <a:pos x="11" y="0"/>
                  </a:cxn>
                  <a:cxn ang="0">
                    <a:pos x="47" y="0"/>
                  </a:cxn>
                  <a:cxn ang="0">
                    <a:pos x="58" y="10"/>
                  </a:cxn>
                  <a:cxn ang="0">
                    <a:pos x="58" y="47"/>
                  </a:cxn>
                  <a:cxn ang="0">
                    <a:pos x="41" y="27"/>
                  </a:cxn>
                  <a:cxn ang="0">
                    <a:pos x="30" y="17"/>
                  </a:cxn>
                  <a:cxn ang="0">
                    <a:pos x="9" y="37"/>
                  </a:cxn>
                  <a:cxn ang="0">
                    <a:pos x="9" y="48"/>
                  </a:cxn>
                  <a:cxn ang="0">
                    <a:pos x="20" y="48"/>
                  </a:cxn>
                  <a:cxn ang="0">
                    <a:pos x="41" y="27"/>
                  </a:cxn>
                  <a:cxn ang="0">
                    <a:pos x="21" y="43"/>
                  </a:cxn>
                  <a:cxn ang="0">
                    <a:pos x="19" y="44"/>
                  </a:cxn>
                  <a:cxn ang="0">
                    <a:pos x="17" y="44"/>
                  </a:cxn>
                  <a:cxn ang="0">
                    <a:pos x="17" y="41"/>
                  </a:cxn>
                  <a:cxn ang="0">
                    <a:pos x="13" y="41"/>
                  </a:cxn>
                  <a:cxn ang="0">
                    <a:pos x="13" y="39"/>
                  </a:cxn>
                  <a:cxn ang="0">
                    <a:pos x="15" y="37"/>
                  </a:cxn>
                  <a:cxn ang="0">
                    <a:pos x="21" y="43"/>
                  </a:cxn>
                  <a:cxn ang="0">
                    <a:pos x="31" y="23"/>
                  </a:cxn>
                  <a:cxn ang="0">
                    <a:pos x="20" y="34"/>
                  </a:cxn>
                  <a:cxn ang="0">
                    <a:pos x="19" y="34"/>
                  </a:cxn>
                  <a:cxn ang="0">
                    <a:pos x="19" y="33"/>
                  </a:cxn>
                  <a:cxn ang="0">
                    <a:pos x="30" y="22"/>
                  </a:cxn>
                  <a:cxn ang="0">
                    <a:pos x="31" y="22"/>
                  </a:cxn>
                  <a:cxn ang="0">
                    <a:pos x="31" y="23"/>
                  </a:cxn>
                  <a:cxn ang="0">
                    <a:pos x="47" y="22"/>
                  </a:cxn>
                  <a:cxn ang="0">
                    <a:pos x="47" y="16"/>
                  </a:cxn>
                  <a:cxn ang="0">
                    <a:pos x="41" y="11"/>
                  </a:cxn>
                  <a:cxn ang="0">
                    <a:pos x="36" y="11"/>
                  </a:cxn>
                  <a:cxn ang="0">
                    <a:pos x="33" y="14"/>
                  </a:cxn>
                  <a:cxn ang="0">
                    <a:pos x="43" y="25"/>
                  </a:cxn>
                  <a:cxn ang="0">
                    <a:pos x="47" y="22"/>
                  </a:cxn>
                </a:cxnLst>
                <a:rect l="0" t="0" r="r" b="b"/>
                <a:pathLst>
                  <a:path w="58" h="58">
                    <a:moveTo>
                      <a:pt x="58" y="47"/>
                    </a:moveTo>
                    <a:cubicBezTo>
                      <a:pt x="58" y="53"/>
                      <a:pt x="53" y="58"/>
                      <a:pt x="47" y="58"/>
                    </a:cubicBezTo>
                    <a:cubicBezTo>
                      <a:pt x="11" y="58"/>
                      <a:pt x="11" y="58"/>
                      <a:pt x="11" y="58"/>
                    </a:cubicBezTo>
                    <a:cubicBezTo>
                      <a:pt x="5" y="58"/>
                      <a:pt x="0" y="53"/>
                      <a:pt x="0" y="47"/>
                    </a:cubicBezTo>
                    <a:cubicBezTo>
                      <a:pt x="0" y="10"/>
                      <a:pt x="0" y="10"/>
                      <a:pt x="0" y="10"/>
                    </a:cubicBezTo>
                    <a:cubicBezTo>
                      <a:pt x="0" y="4"/>
                      <a:pt x="5" y="0"/>
                      <a:pt x="11" y="0"/>
                    </a:cubicBezTo>
                    <a:cubicBezTo>
                      <a:pt x="47" y="0"/>
                      <a:pt x="47" y="0"/>
                      <a:pt x="47" y="0"/>
                    </a:cubicBezTo>
                    <a:cubicBezTo>
                      <a:pt x="53" y="0"/>
                      <a:pt x="58" y="4"/>
                      <a:pt x="58" y="10"/>
                    </a:cubicBezTo>
                    <a:lnTo>
                      <a:pt x="58" y="47"/>
                    </a:lnTo>
                    <a:close/>
                    <a:moveTo>
                      <a:pt x="41" y="27"/>
                    </a:moveTo>
                    <a:cubicBezTo>
                      <a:pt x="30" y="17"/>
                      <a:pt x="30" y="17"/>
                      <a:pt x="30" y="17"/>
                    </a:cubicBezTo>
                    <a:cubicBezTo>
                      <a:pt x="9" y="37"/>
                      <a:pt x="9" y="37"/>
                      <a:pt x="9" y="37"/>
                    </a:cubicBezTo>
                    <a:cubicBezTo>
                      <a:pt x="9" y="48"/>
                      <a:pt x="9" y="48"/>
                      <a:pt x="9" y="48"/>
                    </a:cubicBezTo>
                    <a:cubicBezTo>
                      <a:pt x="20" y="48"/>
                      <a:pt x="20" y="48"/>
                      <a:pt x="20" y="48"/>
                    </a:cubicBezTo>
                    <a:lnTo>
                      <a:pt x="41" y="27"/>
                    </a:lnTo>
                    <a:close/>
                    <a:moveTo>
                      <a:pt x="21" y="43"/>
                    </a:moveTo>
                    <a:cubicBezTo>
                      <a:pt x="19" y="44"/>
                      <a:pt x="19" y="44"/>
                      <a:pt x="19" y="44"/>
                    </a:cubicBezTo>
                    <a:cubicBezTo>
                      <a:pt x="17" y="44"/>
                      <a:pt x="17" y="44"/>
                      <a:pt x="17" y="44"/>
                    </a:cubicBezTo>
                    <a:cubicBezTo>
                      <a:pt x="17" y="41"/>
                      <a:pt x="17" y="41"/>
                      <a:pt x="17" y="41"/>
                    </a:cubicBezTo>
                    <a:cubicBezTo>
                      <a:pt x="13" y="41"/>
                      <a:pt x="13" y="41"/>
                      <a:pt x="13" y="41"/>
                    </a:cubicBezTo>
                    <a:cubicBezTo>
                      <a:pt x="13" y="39"/>
                      <a:pt x="13" y="39"/>
                      <a:pt x="13" y="39"/>
                    </a:cubicBezTo>
                    <a:cubicBezTo>
                      <a:pt x="15" y="37"/>
                      <a:pt x="15" y="37"/>
                      <a:pt x="15" y="37"/>
                    </a:cubicBezTo>
                    <a:lnTo>
                      <a:pt x="21" y="43"/>
                    </a:lnTo>
                    <a:close/>
                    <a:moveTo>
                      <a:pt x="31" y="23"/>
                    </a:moveTo>
                    <a:cubicBezTo>
                      <a:pt x="20" y="34"/>
                      <a:pt x="20" y="34"/>
                      <a:pt x="20" y="34"/>
                    </a:cubicBezTo>
                    <a:cubicBezTo>
                      <a:pt x="19" y="34"/>
                      <a:pt x="19" y="35"/>
                      <a:pt x="19" y="34"/>
                    </a:cubicBezTo>
                    <a:cubicBezTo>
                      <a:pt x="18" y="34"/>
                      <a:pt x="18" y="33"/>
                      <a:pt x="19" y="33"/>
                    </a:cubicBezTo>
                    <a:cubicBezTo>
                      <a:pt x="30" y="22"/>
                      <a:pt x="30" y="22"/>
                      <a:pt x="30" y="22"/>
                    </a:cubicBezTo>
                    <a:cubicBezTo>
                      <a:pt x="30" y="22"/>
                      <a:pt x="31" y="22"/>
                      <a:pt x="31" y="22"/>
                    </a:cubicBezTo>
                    <a:cubicBezTo>
                      <a:pt x="31" y="22"/>
                      <a:pt x="31" y="23"/>
                      <a:pt x="31" y="23"/>
                    </a:cubicBezTo>
                    <a:close/>
                    <a:moveTo>
                      <a:pt x="47" y="22"/>
                    </a:moveTo>
                    <a:cubicBezTo>
                      <a:pt x="48" y="20"/>
                      <a:pt x="48" y="18"/>
                      <a:pt x="47" y="16"/>
                    </a:cubicBezTo>
                    <a:cubicBezTo>
                      <a:pt x="41" y="11"/>
                      <a:pt x="41" y="11"/>
                      <a:pt x="41" y="11"/>
                    </a:cubicBezTo>
                    <a:cubicBezTo>
                      <a:pt x="40" y="9"/>
                      <a:pt x="37" y="9"/>
                      <a:pt x="36" y="11"/>
                    </a:cubicBezTo>
                    <a:cubicBezTo>
                      <a:pt x="33" y="14"/>
                      <a:pt x="33" y="14"/>
                      <a:pt x="33" y="14"/>
                    </a:cubicBezTo>
                    <a:cubicBezTo>
                      <a:pt x="43" y="25"/>
                      <a:pt x="43" y="25"/>
                      <a:pt x="43" y="25"/>
                    </a:cubicBezTo>
                    <a:lnTo>
                      <a:pt x="47" y="22"/>
                    </a:lnTo>
                    <a:close/>
                  </a:path>
                </a:pathLst>
              </a:custGeom>
              <a:solidFill>
                <a:srgbClr val="EA5838"/>
              </a:solidFill>
              <a:ln w="9525">
                <a:noFill/>
                <a:round/>
              </a:ln>
            </p:spPr>
            <p:txBody>
              <a:bodyPr anchor="ctr"/>
              <a:lstStyle/>
              <a:p>
                <a:pPr algn="ctr"/>
                <a:endParaRPr sz="3000"/>
              </a:p>
            </p:txBody>
          </p:sp>
        </p:grpSp>
        <p:sp>
          <p:nvSpPr>
            <p:cNvPr id="24" name="矩形: 圆角 3"/>
            <p:cNvSpPr/>
            <p:nvPr/>
          </p:nvSpPr>
          <p:spPr>
            <a:xfrm>
              <a:off x="1339960" y="5656841"/>
              <a:ext cx="188836" cy="182880"/>
            </a:xfrm>
            <a:prstGeom prst="roundRect">
              <a:avLst/>
            </a:prstGeom>
            <a:solidFill>
              <a:srgbClr val="00366C"/>
            </a:solidFill>
            <a:ln>
              <a:solidFill>
                <a:srgbClr val="0036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p>
          </p:txBody>
        </p:sp>
        <p:sp>
          <p:nvSpPr>
            <p:cNvPr id="25" name="TextBox 27"/>
            <p:cNvSpPr txBox="1"/>
            <p:nvPr/>
          </p:nvSpPr>
          <p:spPr>
            <a:xfrm>
              <a:off x="1489452" y="5555620"/>
              <a:ext cx="2644782" cy="394160"/>
            </a:xfrm>
            <a:prstGeom prst="rect">
              <a:avLst/>
            </a:prstGeom>
          </p:spPr>
          <p:txBody>
            <a:bodyPr vert="horz" wrap="square" lIns="216000" tIns="0" rIns="216000" bIns="0" anchor="t" anchorCtr="1">
              <a:noAutofit/>
            </a:bodyPr>
            <a:lstStyle/>
            <a:p>
              <a:pPr algn="ctr">
                <a:lnSpc>
                  <a:spcPct val="130000"/>
                </a:lnSpc>
                <a:defRPr/>
              </a:pPr>
              <a:r>
                <a:rPr lang="zh-CN" altLang="en-US" sz="2000" dirty="0">
                  <a:solidFill>
                    <a:srgbClr val="00366C"/>
                  </a:solidFill>
                  <a:latin typeface="+mn-ea"/>
                </a:rPr>
                <a:t>量价及估值类因子</a:t>
              </a:r>
            </a:p>
          </p:txBody>
        </p:sp>
        <p:sp>
          <p:nvSpPr>
            <p:cNvPr id="26" name="矩形: 圆角 24"/>
            <p:cNvSpPr/>
            <p:nvPr/>
          </p:nvSpPr>
          <p:spPr>
            <a:xfrm>
              <a:off x="4928093" y="5642508"/>
              <a:ext cx="188836" cy="182880"/>
            </a:xfrm>
            <a:prstGeom prst="roundRect">
              <a:avLst/>
            </a:prstGeom>
            <a:solidFill>
              <a:srgbClr val="EA5838"/>
            </a:solidFill>
            <a:ln>
              <a:solidFill>
                <a:srgbClr val="EA58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p>
          </p:txBody>
        </p:sp>
        <p:sp>
          <p:nvSpPr>
            <p:cNvPr id="27" name="TextBox 27"/>
            <p:cNvSpPr txBox="1"/>
            <p:nvPr/>
          </p:nvSpPr>
          <p:spPr>
            <a:xfrm>
              <a:off x="4928093" y="5546848"/>
              <a:ext cx="2542377" cy="390936"/>
            </a:xfrm>
            <a:prstGeom prst="rect">
              <a:avLst/>
            </a:prstGeom>
          </p:spPr>
          <p:txBody>
            <a:bodyPr vert="horz" wrap="square" lIns="216000" tIns="0" rIns="216000" bIns="0" anchor="t" anchorCtr="1">
              <a:noAutofit/>
            </a:bodyPr>
            <a:lstStyle/>
            <a:p>
              <a:pPr algn="ctr">
                <a:lnSpc>
                  <a:spcPct val="130000"/>
                </a:lnSpc>
                <a:defRPr/>
              </a:pPr>
              <a:r>
                <a:rPr lang="zh-CN" altLang="en-US" sz="2200" dirty="0">
                  <a:solidFill>
                    <a:srgbClr val="EA5838"/>
                  </a:solidFill>
                  <a:latin typeface="+mn-ea"/>
                </a:rPr>
                <a:t>基本面类因子</a:t>
              </a:r>
            </a:p>
          </p:txBody>
        </p:sp>
      </p:grpSp>
      <p:sp>
        <p:nvSpPr>
          <p:cNvPr id="29" name="灯片编号占位符 4">
            <a:extLst>
              <a:ext uri="{FF2B5EF4-FFF2-40B4-BE49-F238E27FC236}">
                <a16:creationId xmlns:a16="http://schemas.microsoft.com/office/drawing/2014/main" xmlns="" id="{1466CC4A-543E-8874-3A5E-BAE41029A8C7}"/>
              </a:ext>
            </a:extLst>
          </p:cNvPr>
          <p:cNvSpPr>
            <a:spLocks noGrp="1"/>
          </p:cNvSpPr>
          <p:nvPr>
            <p:ph type="sldNum" sz="quarter" idx="11"/>
          </p:nvPr>
        </p:nvSpPr>
        <p:spPr>
          <a:xfrm>
            <a:off x="11003280" y="6249193"/>
            <a:ext cx="665862" cy="307817"/>
          </a:xfrm>
        </p:spPr>
        <p:txBody>
          <a:bodyPr/>
          <a:lstStyle/>
          <a:p>
            <a:pPr>
              <a:defRPr/>
            </a:pPr>
            <a:fld id="{6E91549D-98B7-4077-996F-05BE1B29F039}" type="slidenum">
              <a:rPr lang="zh-CN" altLang="en-US" smtClean="0"/>
              <a:t>22</a:t>
            </a:fld>
            <a:endParaRPr lang="zh-CN" altLang="en-US" dirty="0"/>
          </a:p>
        </p:txBody>
      </p:sp>
    </p:spTree>
    <p:extLst>
      <p:ext uri="{BB962C8B-B14F-4D97-AF65-F5344CB8AC3E}">
        <p14:creationId xmlns:p14="http://schemas.microsoft.com/office/powerpoint/2010/main" val="2470084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îṩlíḋé"/>
          <p:cNvSpPr/>
          <p:nvPr/>
        </p:nvSpPr>
        <p:spPr>
          <a:xfrm>
            <a:off x="678094" y="2868563"/>
            <a:ext cx="10909733" cy="3271815"/>
          </a:xfrm>
          <a:prstGeom prst="rect">
            <a:avLst/>
          </a:prstGeom>
          <a:pattFill prst="wdDn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sz="3000"/>
          </a:p>
        </p:txBody>
      </p:sp>
      <p:sp>
        <p:nvSpPr>
          <p:cNvPr id="51" name="îṡlíḍè"/>
          <p:cNvSpPr/>
          <p:nvPr/>
        </p:nvSpPr>
        <p:spPr bwMode="auto">
          <a:xfrm>
            <a:off x="4792480" y="4576254"/>
            <a:ext cx="3482773" cy="1555127"/>
          </a:xfrm>
          <a:prstGeom prst="roundRect">
            <a:avLst/>
          </a:prstGeom>
          <a:solidFill>
            <a:schemeClr val="bg1">
              <a:lumMod val="95000"/>
            </a:schemeClr>
          </a:solidFill>
          <a:ln w="28575" algn="ctr">
            <a:noFill/>
            <a:round/>
          </a:ln>
        </p:spPr>
        <p:txBody>
          <a:bodyPr wrap="square" lIns="91440" tIns="45720" rIns="91440" bIns="45720" anchor="ctr">
            <a:noAutofit/>
          </a:bodyPr>
          <a:lstStyle/>
          <a:p>
            <a:pPr algn="ctr"/>
            <a:endParaRPr lang="en-US" altLang="zh-CN" sz="1600" dirty="0"/>
          </a:p>
        </p:txBody>
      </p:sp>
      <p:sp>
        <p:nvSpPr>
          <p:cNvPr id="45" name="îṡlíḍè"/>
          <p:cNvSpPr/>
          <p:nvPr/>
        </p:nvSpPr>
        <p:spPr bwMode="auto">
          <a:xfrm>
            <a:off x="4792480" y="2868563"/>
            <a:ext cx="3482773" cy="1620691"/>
          </a:xfrm>
          <a:prstGeom prst="roundRect">
            <a:avLst/>
          </a:prstGeom>
          <a:solidFill>
            <a:schemeClr val="bg1">
              <a:lumMod val="95000"/>
            </a:schemeClr>
          </a:solidFill>
          <a:ln w="28575" algn="ctr">
            <a:noFill/>
            <a:round/>
          </a:ln>
        </p:spPr>
        <p:txBody>
          <a:bodyPr wrap="square" lIns="91440" tIns="45720" rIns="91440" bIns="45720" anchor="ctr">
            <a:noAutofit/>
          </a:bodyPr>
          <a:lstStyle/>
          <a:p>
            <a:pPr algn="ctr"/>
            <a:endParaRPr lang="en-US" altLang="zh-CN" sz="1600" dirty="0"/>
          </a:p>
        </p:txBody>
      </p:sp>
      <p:sp>
        <p:nvSpPr>
          <p:cNvPr id="2" name="标题 1"/>
          <p:cNvSpPr>
            <a:spLocks noGrp="1"/>
          </p:cNvSpPr>
          <p:nvPr>
            <p:ph type="title"/>
          </p:nvPr>
        </p:nvSpPr>
        <p:spPr/>
        <p:txBody>
          <a:bodyPr>
            <a:noAutofit/>
          </a:bodyPr>
          <a:lstStyle/>
          <a:p>
            <a:r>
              <a:rPr lang="zh-CN" altLang="en-US" dirty="0">
                <a:solidFill>
                  <a:srgbClr val="103565"/>
                </a:solidFill>
                <a:sym typeface="Calibri" panose="020F0502020204030204" charset="0"/>
              </a:rPr>
              <a:t>博道指数</a:t>
            </a:r>
            <a:r>
              <a:rPr lang="en-US" altLang="zh-CN" dirty="0">
                <a:solidFill>
                  <a:srgbClr val="103565"/>
                </a:solidFill>
                <a:sym typeface="Calibri" panose="020F0502020204030204" charset="0"/>
              </a:rPr>
              <a:t>+</a:t>
            </a:r>
            <a:r>
              <a:rPr lang="zh-CN" altLang="en-US" dirty="0">
                <a:solidFill>
                  <a:srgbClr val="103565"/>
                </a:solidFill>
                <a:sym typeface="Calibri" panose="020F0502020204030204" charset="0"/>
              </a:rPr>
              <a:t>：</a:t>
            </a:r>
            <a:r>
              <a:rPr lang="zh-CN" altLang="en-US" dirty="0">
                <a:solidFill>
                  <a:srgbClr val="EA5838"/>
                </a:solidFill>
                <a:sym typeface="Calibri" panose="020F0502020204030204" charset="0"/>
              </a:rPr>
              <a:t>传统框架</a:t>
            </a:r>
            <a:r>
              <a:rPr lang="zh-CN" altLang="en-US" dirty="0">
                <a:solidFill>
                  <a:srgbClr val="103565"/>
                </a:solidFill>
                <a:sym typeface="Calibri" panose="020F0502020204030204" charset="0"/>
              </a:rPr>
              <a:t>多因子模型</a:t>
            </a:r>
            <a:endParaRPr lang="zh-CN" altLang="en-US" dirty="0"/>
          </a:p>
        </p:txBody>
      </p:sp>
      <p:sp>
        <p:nvSpPr>
          <p:cNvPr id="3" name="副标题 2"/>
          <p:cNvSpPr>
            <a:spLocks noGrp="1"/>
          </p:cNvSpPr>
          <p:nvPr>
            <p:ph type="subTitle" idx="1"/>
          </p:nvPr>
        </p:nvSpPr>
        <p:spPr/>
        <p:txBody>
          <a:bodyPr/>
          <a:lstStyle/>
          <a:p>
            <a:r>
              <a:rPr lang="zh-CN" altLang="en-US" sz="1200" b="1" dirty="0"/>
              <a:t>传统框架的核心特征是：以人脑对于投资的理解为主要的信息解构方式，机器学习明确的只是实现其中的某一个环节，是目前公募量化最主流的投资方法论。该方法论下的核心竞争力体现在因子库的质量和因子配权模式。</a:t>
            </a:r>
            <a:r>
              <a:rPr lang="en-US" altLang="zh-CN" sz="1200" b="1" dirty="0"/>
              <a:t>2023</a:t>
            </a:r>
            <a:r>
              <a:rPr lang="zh-CN" altLang="en-US" sz="1200" b="1" dirty="0"/>
              <a:t>年之前，博道指数</a:t>
            </a:r>
            <a:r>
              <a:rPr lang="en-US" altLang="zh-CN" sz="1200" b="1" dirty="0"/>
              <a:t>+</a:t>
            </a:r>
            <a:r>
              <a:rPr lang="zh-CN" altLang="en-US" sz="1200" b="1" dirty="0"/>
              <a:t>的业绩是在</a:t>
            </a:r>
            <a:r>
              <a:rPr lang="en-US" altLang="zh-CN" sz="1200" b="1" dirty="0"/>
              <a:t>100%</a:t>
            </a:r>
            <a:r>
              <a:rPr lang="zh-CN" altLang="en-US" sz="1200" b="1" dirty="0"/>
              <a:t>的传统框架下实现的。</a:t>
            </a:r>
            <a:endParaRPr lang="en-US" altLang="zh-CN" sz="1200" b="1" dirty="0">
              <a:solidFill>
                <a:srgbClr val="EA5838"/>
              </a:solidFill>
            </a:endParaRPr>
          </a:p>
          <a:p>
            <a:r>
              <a:rPr lang="zh-CN" altLang="en-US" sz="1200" b="1" dirty="0">
                <a:solidFill>
                  <a:srgbClr val="EA5838"/>
                </a:solidFill>
              </a:rPr>
              <a:t>因子库，坚持基本面因子与量价因子并重</a:t>
            </a:r>
            <a:r>
              <a:rPr lang="zh-CN" altLang="en-US" sz="1200" b="1" dirty="0"/>
              <a:t>。 所谓多因子模型，最终是为了完成预测股票未来收益能力的任务。</a:t>
            </a:r>
            <a:r>
              <a:rPr lang="en-US" altLang="zh-CN" sz="1200" dirty="0"/>
              <a:t>PRICE = EPS * PE</a:t>
            </a:r>
            <a:r>
              <a:rPr lang="zh-CN" altLang="en-US" sz="1200" dirty="0"/>
              <a:t>，基于股票定价的底层逻辑，寻找对股票未来收益“排序情况”有预测能力的股票标签，目前已建立涵盖</a:t>
            </a:r>
            <a:r>
              <a:rPr lang="en-US" altLang="zh-CN" sz="1200" dirty="0"/>
              <a:t>6</a:t>
            </a:r>
            <a:r>
              <a:rPr lang="zh-CN" altLang="en-US" sz="1200" dirty="0"/>
              <a:t>大类共几百个因子组成的因子库，全面适应市场特征。</a:t>
            </a:r>
            <a:endParaRPr lang="en-US" altLang="zh-CN" sz="1200" dirty="0"/>
          </a:p>
          <a:p>
            <a:r>
              <a:rPr lang="zh-CN" altLang="en-US" sz="1200" b="1" dirty="0">
                <a:solidFill>
                  <a:srgbClr val="EA5838"/>
                </a:solidFill>
              </a:rPr>
              <a:t>因子配权，动量反转均衡，内部保持轮动</a:t>
            </a:r>
            <a:r>
              <a:rPr lang="zh-CN" altLang="en-US" sz="1200" b="1" dirty="0">
                <a:solidFill>
                  <a:srgbClr val="F57913"/>
                </a:solidFill>
              </a:rPr>
              <a:t>。</a:t>
            </a:r>
            <a:r>
              <a:rPr lang="zh-CN" altLang="en-US" sz="1200" dirty="0"/>
              <a:t>基本面因子和量价因子各有适应的市场环境，周期轮回中阶段性表现存在差异，但拉长时间来看，风格此消彼长。基于减小超额收益波动、避免配权损耗的考虑，</a:t>
            </a:r>
            <a:r>
              <a:rPr lang="zh-CN" altLang="en-US" sz="1200" b="1" dirty="0">
                <a:solidFill>
                  <a:srgbClr val="EA5838"/>
                </a:solidFill>
              </a:rPr>
              <a:t>选择均衡因子权重，追求可持续的超额收益</a:t>
            </a:r>
            <a:r>
              <a:rPr lang="zh-CN" altLang="en-US" sz="1200" b="1" dirty="0"/>
              <a:t>。</a:t>
            </a:r>
            <a:endParaRPr lang="en-US" altLang="zh-CN" sz="1200" b="1" dirty="0"/>
          </a:p>
          <a:p>
            <a:endParaRPr lang="zh-CN" altLang="en-US" dirty="0"/>
          </a:p>
        </p:txBody>
      </p:sp>
      <p:pic>
        <p:nvPicPr>
          <p:cNvPr id="7" name="Picture 4" descr="Zoomabl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212" b="28728"/>
          <a:stretch>
            <a:fillRect/>
          </a:stretch>
        </p:blipFill>
        <p:spPr bwMode="auto">
          <a:xfrm>
            <a:off x="2068303" y="4683955"/>
            <a:ext cx="2119184" cy="14474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表格 12"/>
          <p:cNvGraphicFramePr>
            <a:graphicFrameLocks noGrp="1"/>
          </p:cNvGraphicFramePr>
          <p:nvPr/>
        </p:nvGraphicFramePr>
        <p:xfrm>
          <a:off x="10366677" y="2868563"/>
          <a:ext cx="1221148" cy="3262819"/>
        </p:xfrm>
        <a:graphic>
          <a:graphicData uri="http://schemas.openxmlformats.org/drawingml/2006/table">
            <a:tbl>
              <a:tblPr firstRow="1" bandRow="1">
                <a:tableStyleId>{5C22544A-7EE6-4342-B048-85BDC9FD1C3A}</a:tableStyleId>
              </a:tblPr>
              <a:tblGrid>
                <a:gridCol w="449443">
                  <a:extLst>
                    <a:ext uri="{9D8B030D-6E8A-4147-A177-3AD203B41FA5}">
                      <a16:colId xmlns:a16="http://schemas.microsoft.com/office/drawing/2014/main" xmlns="" val="20000"/>
                    </a:ext>
                  </a:extLst>
                </a:gridCol>
                <a:gridCol w="771705">
                  <a:extLst>
                    <a:ext uri="{9D8B030D-6E8A-4147-A177-3AD203B41FA5}">
                      <a16:colId xmlns:a16="http://schemas.microsoft.com/office/drawing/2014/main" xmlns="" val="20001"/>
                    </a:ext>
                  </a:extLst>
                </a:gridCol>
              </a:tblGrid>
              <a:tr h="466117">
                <a:tc>
                  <a:txBody>
                    <a:bodyPr/>
                    <a:lstStyle/>
                    <a:p>
                      <a:pPr algn="ctr"/>
                      <a:r>
                        <a:rPr lang="en-US" altLang="zh-CN" sz="800" dirty="0"/>
                        <a:t>0.53</a:t>
                      </a:r>
                      <a:endParaRPr lang="zh-CN" altLang="en-US" sz="800" dirty="0"/>
                    </a:p>
                  </a:txBody>
                  <a:tcPr anchor="ctr">
                    <a:solidFill>
                      <a:srgbClr val="002060"/>
                    </a:solidFill>
                  </a:tcPr>
                </a:tc>
                <a:tc>
                  <a:txBody>
                    <a:bodyPr/>
                    <a:lstStyle/>
                    <a:p>
                      <a:pPr algn="ctr"/>
                      <a:r>
                        <a:rPr lang="en-US" altLang="zh-CN" sz="800" dirty="0"/>
                        <a:t>000001.SZ</a:t>
                      </a:r>
                    </a:p>
                  </a:txBody>
                  <a:tcPr anchor="ctr">
                    <a:solidFill>
                      <a:srgbClr val="002060"/>
                    </a:solidFill>
                  </a:tcPr>
                </a:tc>
                <a:extLst>
                  <a:ext uri="{0D108BD9-81ED-4DB2-BD59-A6C34878D82A}">
                    <a16:rowId xmlns:a16="http://schemas.microsoft.com/office/drawing/2014/main" xmlns="" val="10000"/>
                  </a:ext>
                </a:extLst>
              </a:tr>
              <a:tr h="466117">
                <a:tc>
                  <a:txBody>
                    <a:bodyPr/>
                    <a:lstStyle/>
                    <a:p>
                      <a:pPr algn="ctr"/>
                      <a:r>
                        <a:rPr lang="en-US" altLang="zh-CN" sz="800" dirty="0"/>
                        <a:t>0.82</a:t>
                      </a:r>
                      <a:endParaRPr lang="zh-CN" altLang="en-US" sz="800" dirty="0"/>
                    </a:p>
                  </a:txBody>
                  <a:tcPr anchor="ctr">
                    <a:solidFill>
                      <a:schemeClr val="bg1">
                        <a:lumMod val="95000"/>
                      </a:schemeClr>
                    </a:solidFill>
                  </a:tcPr>
                </a:tc>
                <a:tc>
                  <a:txBody>
                    <a:bodyPr/>
                    <a:lstStyle/>
                    <a:p>
                      <a:pPr algn="ctr"/>
                      <a:r>
                        <a:rPr lang="en-US" altLang="zh-CN" sz="800" dirty="0"/>
                        <a:t>000002.sz</a:t>
                      </a:r>
                      <a:endParaRPr lang="zh-CN" altLang="en-US" sz="800" dirty="0"/>
                    </a:p>
                  </a:txBody>
                  <a:tcPr anchor="ctr">
                    <a:solidFill>
                      <a:schemeClr val="bg1">
                        <a:lumMod val="95000"/>
                      </a:schemeClr>
                    </a:solidFill>
                  </a:tcPr>
                </a:tc>
                <a:extLst>
                  <a:ext uri="{0D108BD9-81ED-4DB2-BD59-A6C34878D82A}">
                    <a16:rowId xmlns:a16="http://schemas.microsoft.com/office/drawing/2014/main" xmlns="" val="10001"/>
                  </a:ext>
                </a:extLst>
              </a:tr>
              <a:tr h="466117">
                <a:tc>
                  <a:txBody>
                    <a:bodyPr/>
                    <a:lstStyle/>
                    <a:p>
                      <a:pPr algn="ctr"/>
                      <a:r>
                        <a:rPr lang="en-US" altLang="zh-CN" sz="800" dirty="0"/>
                        <a:t>0.36</a:t>
                      </a:r>
                      <a:endParaRPr lang="zh-CN" altLang="en-US" sz="800" dirty="0"/>
                    </a:p>
                  </a:txBody>
                  <a:tcPr anchor="ctr">
                    <a:solidFill>
                      <a:schemeClr val="bg1">
                        <a:lumMod val="95000"/>
                      </a:schemeClr>
                    </a:solidFill>
                  </a:tcPr>
                </a:tc>
                <a:tc>
                  <a:txBody>
                    <a:bodyPr/>
                    <a:lstStyle/>
                    <a:p>
                      <a:pPr algn="ctr"/>
                      <a:r>
                        <a:rPr lang="en-US" altLang="zh-CN" sz="800" dirty="0"/>
                        <a:t>000004.sz</a:t>
                      </a:r>
                      <a:endParaRPr lang="zh-CN" altLang="en-US" sz="800" dirty="0"/>
                    </a:p>
                  </a:txBody>
                  <a:tcPr anchor="ctr">
                    <a:solidFill>
                      <a:schemeClr val="bg1">
                        <a:lumMod val="95000"/>
                      </a:schemeClr>
                    </a:solidFill>
                  </a:tcPr>
                </a:tc>
                <a:extLst>
                  <a:ext uri="{0D108BD9-81ED-4DB2-BD59-A6C34878D82A}">
                    <a16:rowId xmlns:a16="http://schemas.microsoft.com/office/drawing/2014/main" xmlns="" val="10002"/>
                  </a:ext>
                </a:extLst>
              </a:tr>
              <a:tr h="466117">
                <a:tc>
                  <a:txBody>
                    <a:bodyPr/>
                    <a:lstStyle/>
                    <a:p>
                      <a:pPr algn="ctr"/>
                      <a:r>
                        <a:rPr lang="en-US" altLang="zh-CN" sz="800" dirty="0"/>
                        <a:t>-0.62</a:t>
                      </a:r>
                      <a:endParaRPr lang="zh-CN" altLang="en-US" sz="800" dirty="0"/>
                    </a:p>
                  </a:txBody>
                  <a:tcPr anchor="ctr">
                    <a:solidFill>
                      <a:schemeClr val="bg1">
                        <a:lumMod val="95000"/>
                      </a:schemeClr>
                    </a:solidFill>
                  </a:tcPr>
                </a:tc>
                <a:tc>
                  <a:txBody>
                    <a:bodyPr/>
                    <a:lstStyle/>
                    <a:p>
                      <a:pPr algn="ctr"/>
                      <a:r>
                        <a:rPr lang="en-US" altLang="zh-CN" sz="800" dirty="0"/>
                        <a:t>000005.sz</a:t>
                      </a:r>
                      <a:endParaRPr lang="zh-CN" altLang="en-US" sz="800" dirty="0"/>
                    </a:p>
                  </a:txBody>
                  <a:tcPr anchor="ctr">
                    <a:solidFill>
                      <a:schemeClr val="bg1">
                        <a:lumMod val="95000"/>
                      </a:schemeClr>
                    </a:solidFill>
                  </a:tcPr>
                </a:tc>
                <a:extLst>
                  <a:ext uri="{0D108BD9-81ED-4DB2-BD59-A6C34878D82A}">
                    <a16:rowId xmlns:a16="http://schemas.microsoft.com/office/drawing/2014/main" xmlns="" val="10003"/>
                  </a:ext>
                </a:extLst>
              </a:tr>
              <a:tr h="466117">
                <a:tc>
                  <a:txBody>
                    <a:bodyPr/>
                    <a:lstStyle/>
                    <a:p>
                      <a:pPr algn="ctr"/>
                      <a:r>
                        <a:rPr lang="en-US" altLang="zh-CN" sz="800" dirty="0"/>
                        <a:t>0.13</a:t>
                      </a:r>
                      <a:endParaRPr lang="zh-CN" altLang="en-US" sz="800" dirty="0"/>
                    </a:p>
                  </a:txBody>
                  <a:tcPr anchor="ctr">
                    <a:solidFill>
                      <a:schemeClr val="bg1">
                        <a:lumMod val="95000"/>
                      </a:schemeClr>
                    </a:solidFill>
                  </a:tcPr>
                </a:tc>
                <a:tc>
                  <a:txBody>
                    <a:bodyPr/>
                    <a:lstStyle/>
                    <a:p>
                      <a:pPr algn="ctr"/>
                      <a:r>
                        <a:rPr lang="en-US" altLang="zh-CN" sz="800" dirty="0"/>
                        <a:t>000006.sz</a:t>
                      </a:r>
                      <a:endParaRPr lang="zh-CN" altLang="en-US" sz="800" dirty="0"/>
                    </a:p>
                  </a:txBody>
                  <a:tcPr anchor="ctr">
                    <a:solidFill>
                      <a:schemeClr val="bg1">
                        <a:lumMod val="95000"/>
                      </a:schemeClr>
                    </a:solidFill>
                  </a:tcPr>
                </a:tc>
                <a:extLst>
                  <a:ext uri="{0D108BD9-81ED-4DB2-BD59-A6C34878D82A}">
                    <a16:rowId xmlns:a16="http://schemas.microsoft.com/office/drawing/2014/main" xmlns="" val="10004"/>
                  </a:ext>
                </a:extLst>
              </a:tr>
              <a:tr h="466117">
                <a:tc gridSpan="2">
                  <a:txBody>
                    <a:bodyPr/>
                    <a:lstStyle/>
                    <a:p>
                      <a:pPr algn="ctr"/>
                      <a:r>
                        <a:rPr lang="en-US" altLang="zh-CN" sz="800" dirty="0"/>
                        <a:t>……</a:t>
                      </a:r>
                      <a:endParaRPr lang="zh-CN" altLang="en-US" sz="800" dirty="0"/>
                    </a:p>
                  </a:txBody>
                  <a:tcPr anchor="ctr">
                    <a:solidFill>
                      <a:schemeClr val="bg1">
                        <a:lumMod val="95000"/>
                      </a:schemeClr>
                    </a:solidFill>
                  </a:tcPr>
                </a:tc>
                <a:tc hMerge="1">
                  <a:txBody>
                    <a:bodyPr/>
                    <a:lstStyle/>
                    <a:p>
                      <a:endParaRPr lang="zh-CN"/>
                    </a:p>
                  </a:txBody>
                  <a:tcPr/>
                </a:tc>
                <a:extLst>
                  <a:ext uri="{0D108BD9-81ED-4DB2-BD59-A6C34878D82A}">
                    <a16:rowId xmlns:a16="http://schemas.microsoft.com/office/drawing/2014/main" xmlns="" val="10005"/>
                  </a:ext>
                </a:extLst>
              </a:tr>
              <a:tr h="466117">
                <a:tc>
                  <a:txBody>
                    <a:bodyPr/>
                    <a:lstStyle/>
                    <a:p>
                      <a:pPr algn="ctr"/>
                      <a:r>
                        <a:rPr lang="en-US" altLang="zh-CN" sz="800" dirty="0"/>
                        <a:t>-0.89</a:t>
                      </a:r>
                      <a:endParaRPr lang="zh-CN" altLang="en-US" sz="800" dirty="0"/>
                    </a:p>
                  </a:txBody>
                  <a:tcPr anchor="ctr">
                    <a:solidFill>
                      <a:schemeClr val="bg1">
                        <a:lumMod val="95000"/>
                      </a:schemeClr>
                    </a:solidFill>
                  </a:tcPr>
                </a:tc>
                <a:tc>
                  <a:txBody>
                    <a:bodyPr/>
                    <a:lstStyle/>
                    <a:p>
                      <a:pPr algn="ctr"/>
                      <a:r>
                        <a:rPr lang="en-US" altLang="zh-CN" sz="800" dirty="0"/>
                        <a:t>688668.sh</a:t>
                      </a:r>
                      <a:endParaRPr lang="zh-CN" altLang="en-US" sz="800" dirty="0"/>
                    </a:p>
                  </a:txBody>
                  <a:tcPr anchor="ctr">
                    <a:solidFill>
                      <a:schemeClr val="bg1">
                        <a:lumMod val="95000"/>
                      </a:schemeClr>
                    </a:solidFill>
                  </a:tcPr>
                </a:tc>
                <a:extLst>
                  <a:ext uri="{0D108BD9-81ED-4DB2-BD59-A6C34878D82A}">
                    <a16:rowId xmlns:a16="http://schemas.microsoft.com/office/drawing/2014/main" xmlns="" val="10006"/>
                  </a:ext>
                </a:extLst>
              </a:tr>
            </a:tbl>
          </a:graphicData>
        </a:graphic>
      </p:graphicFrame>
      <p:sp>
        <p:nvSpPr>
          <p:cNvPr id="24" name="íṣliďé"/>
          <p:cNvSpPr/>
          <p:nvPr/>
        </p:nvSpPr>
        <p:spPr>
          <a:xfrm>
            <a:off x="7674535" y="2892310"/>
            <a:ext cx="685779" cy="1612438"/>
          </a:xfrm>
          <a:prstGeom prst="roundRect">
            <a:avLst/>
          </a:prstGeom>
          <a:solidFill>
            <a:srgbClr val="00206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100" dirty="0"/>
              <a:t>基本</a:t>
            </a:r>
            <a:r>
              <a:rPr lang="zh-CN" altLang="en-US" sz="1100"/>
              <a:t>面趋势</a:t>
            </a:r>
            <a:endParaRPr lang="en-US" altLang="zh-CN" sz="1100"/>
          </a:p>
          <a:p>
            <a:pPr algn="ctr"/>
            <a:endParaRPr lang="en-US" altLang="zh-CN" sz="1100"/>
          </a:p>
          <a:p>
            <a:pPr algn="ctr"/>
            <a:r>
              <a:rPr lang="en-US" altLang="zh-CN" sz="1100"/>
              <a:t>50</a:t>
            </a:r>
            <a:r>
              <a:rPr lang="en-US" altLang="zh-CN" sz="1100" dirty="0"/>
              <a:t>%</a:t>
            </a:r>
          </a:p>
          <a:p>
            <a:pPr algn="ctr"/>
            <a:endParaRPr lang="en-US" altLang="zh-CN" sz="900"/>
          </a:p>
          <a:p>
            <a:pPr algn="ctr"/>
            <a:r>
              <a:rPr lang="zh-CN" altLang="en-US" sz="900"/>
              <a:t>内部</a:t>
            </a:r>
            <a:r>
              <a:rPr lang="zh-CN" altLang="en-US" sz="900" dirty="0"/>
              <a:t>动态配权</a:t>
            </a:r>
          </a:p>
        </p:txBody>
      </p:sp>
      <p:sp>
        <p:nvSpPr>
          <p:cNvPr id="25" name="ïṩḷîďé"/>
          <p:cNvSpPr/>
          <p:nvPr/>
        </p:nvSpPr>
        <p:spPr>
          <a:xfrm>
            <a:off x="7674535" y="4560758"/>
            <a:ext cx="685779" cy="1570622"/>
          </a:xfrm>
          <a:prstGeom prst="roundRect">
            <a:avLst/>
          </a:prstGeom>
          <a:solidFill>
            <a:srgbClr val="00206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100"/>
              <a:t>均值</a:t>
            </a:r>
            <a:endParaRPr lang="en-US" altLang="zh-CN" sz="1100"/>
          </a:p>
          <a:p>
            <a:pPr algn="ctr"/>
            <a:r>
              <a:rPr lang="zh-CN" altLang="en-US" sz="1100"/>
              <a:t>回归</a:t>
            </a:r>
            <a:endParaRPr lang="en-US" altLang="zh-CN" sz="1100"/>
          </a:p>
          <a:p>
            <a:pPr algn="ctr"/>
            <a:endParaRPr lang="en-US" altLang="zh-CN" sz="1100"/>
          </a:p>
          <a:p>
            <a:pPr algn="ctr"/>
            <a:r>
              <a:rPr lang="en-US" altLang="zh-CN" sz="1100"/>
              <a:t>50%</a:t>
            </a:r>
          </a:p>
          <a:p>
            <a:pPr algn="ctr"/>
            <a:endParaRPr lang="en-US" altLang="zh-CN" sz="900"/>
          </a:p>
          <a:p>
            <a:pPr algn="ctr"/>
            <a:r>
              <a:rPr lang="zh-CN" altLang="en-US" sz="900"/>
              <a:t>内部动态配权</a:t>
            </a:r>
            <a:endParaRPr lang="zh-CN" altLang="en-US" sz="900" dirty="0"/>
          </a:p>
        </p:txBody>
      </p:sp>
      <p:sp>
        <p:nvSpPr>
          <p:cNvPr id="61" name="íṣliďé"/>
          <p:cNvSpPr/>
          <p:nvPr/>
        </p:nvSpPr>
        <p:spPr>
          <a:xfrm>
            <a:off x="9098597" y="3849700"/>
            <a:ext cx="595941" cy="1520515"/>
          </a:xfrm>
          <a:prstGeom prst="roundRect">
            <a:avLst/>
          </a:prstGeom>
          <a:solidFill>
            <a:srgbClr val="EA583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200" dirty="0"/>
              <a:t>机器学习</a:t>
            </a:r>
            <a:r>
              <a:rPr lang="zh-CN" altLang="en-US" sz="1200"/>
              <a:t>算法做</a:t>
            </a:r>
            <a:endParaRPr lang="en-US" altLang="zh-CN" sz="1200"/>
          </a:p>
          <a:p>
            <a:pPr algn="ctr"/>
            <a:r>
              <a:rPr lang="zh-CN" altLang="en-US" sz="1200"/>
              <a:t>因子</a:t>
            </a:r>
            <a:r>
              <a:rPr lang="zh-CN" altLang="en-US" sz="1200" dirty="0"/>
              <a:t>合成</a:t>
            </a:r>
          </a:p>
        </p:txBody>
      </p:sp>
      <p:sp>
        <p:nvSpPr>
          <p:cNvPr id="65" name="îṧ1íḑe"/>
          <p:cNvSpPr/>
          <p:nvPr/>
        </p:nvSpPr>
        <p:spPr>
          <a:xfrm>
            <a:off x="5042740" y="3547066"/>
            <a:ext cx="137487" cy="137386"/>
          </a:xfrm>
          <a:prstGeom prst="rect">
            <a:avLst/>
          </a:prstGeom>
          <a:solidFill>
            <a:schemeClr val="accent1">
              <a:lumMod val="50000"/>
            </a:schemeClr>
          </a:solidFill>
          <a:ln w="22225">
            <a:solidFill>
              <a:schemeClr val="tx2">
                <a:lumMod val="20000"/>
                <a:lumOff val="80000"/>
              </a:schemeClr>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lIns="91440" tIns="45720" rIns="91440" bIns="45720">
            <a:normAutofit fontScale="25000" lnSpcReduction="20000"/>
          </a:bodyPr>
          <a:lstStyle/>
          <a:p>
            <a:pPr defTabSz="913765">
              <a:defRPr/>
            </a:pPr>
            <a:endParaRPr lang="en-US" dirty="0">
              <a:solidFill>
                <a:srgbClr val="000000"/>
              </a:solidFill>
            </a:endParaRPr>
          </a:p>
        </p:txBody>
      </p:sp>
      <p:sp>
        <p:nvSpPr>
          <p:cNvPr id="66" name="îṧ1íḑe"/>
          <p:cNvSpPr/>
          <p:nvPr/>
        </p:nvSpPr>
        <p:spPr>
          <a:xfrm>
            <a:off x="5036702" y="3906003"/>
            <a:ext cx="137487" cy="137386"/>
          </a:xfrm>
          <a:prstGeom prst="rect">
            <a:avLst/>
          </a:prstGeom>
          <a:solidFill>
            <a:schemeClr val="accent1">
              <a:lumMod val="50000"/>
            </a:schemeClr>
          </a:solidFill>
          <a:ln w="22225">
            <a:solidFill>
              <a:schemeClr val="tx2">
                <a:lumMod val="20000"/>
                <a:lumOff val="80000"/>
              </a:schemeClr>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lIns="91440" tIns="45720" rIns="91440" bIns="45720">
            <a:normAutofit fontScale="25000" lnSpcReduction="20000"/>
          </a:bodyPr>
          <a:lstStyle/>
          <a:p>
            <a:pPr defTabSz="913765">
              <a:defRPr/>
            </a:pPr>
            <a:endParaRPr lang="en-US" dirty="0">
              <a:solidFill>
                <a:srgbClr val="000000"/>
              </a:solidFill>
            </a:endParaRPr>
          </a:p>
        </p:txBody>
      </p:sp>
      <p:sp>
        <p:nvSpPr>
          <p:cNvPr id="67" name="îṧ1íḑe"/>
          <p:cNvSpPr/>
          <p:nvPr/>
        </p:nvSpPr>
        <p:spPr>
          <a:xfrm>
            <a:off x="5038821" y="4218152"/>
            <a:ext cx="137487" cy="137386"/>
          </a:xfrm>
          <a:prstGeom prst="rect">
            <a:avLst/>
          </a:prstGeom>
          <a:solidFill>
            <a:schemeClr val="accent1">
              <a:lumMod val="50000"/>
            </a:schemeClr>
          </a:solidFill>
          <a:ln w="22225">
            <a:solidFill>
              <a:schemeClr val="tx2">
                <a:lumMod val="20000"/>
                <a:lumOff val="80000"/>
              </a:schemeClr>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lIns="91440" tIns="45720" rIns="91440" bIns="45720">
            <a:normAutofit fontScale="25000" lnSpcReduction="20000"/>
          </a:bodyPr>
          <a:lstStyle/>
          <a:p>
            <a:pPr defTabSz="913765">
              <a:defRPr/>
            </a:pPr>
            <a:endParaRPr lang="en-US" dirty="0">
              <a:solidFill>
                <a:srgbClr val="000000"/>
              </a:solidFill>
            </a:endParaRPr>
          </a:p>
        </p:txBody>
      </p:sp>
      <p:pic>
        <p:nvPicPr>
          <p:cNvPr id="6" name="Picture 2" descr="Zoomabl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44802" y="2868563"/>
            <a:ext cx="2135749" cy="1509694"/>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组合 8"/>
          <p:cNvGrpSpPr/>
          <p:nvPr/>
        </p:nvGrpSpPr>
        <p:grpSpPr>
          <a:xfrm>
            <a:off x="5044178" y="3098820"/>
            <a:ext cx="2512661" cy="1309245"/>
            <a:chOff x="4473616" y="3100229"/>
            <a:chExt cx="2512661" cy="1309245"/>
          </a:xfrm>
        </p:grpSpPr>
        <p:grpSp>
          <p:nvGrpSpPr>
            <p:cNvPr id="27" name="íṡḻiḑê"/>
            <p:cNvGrpSpPr/>
            <p:nvPr/>
          </p:nvGrpSpPr>
          <p:grpSpPr>
            <a:xfrm>
              <a:off x="4473616" y="3100229"/>
              <a:ext cx="2404359" cy="278945"/>
              <a:chOff x="745400" y="4944707"/>
              <a:chExt cx="4916889" cy="570440"/>
            </a:xfrm>
          </p:grpSpPr>
          <p:sp>
            <p:nvSpPr>
              <p:cNvPr id="47" name="îṧ1íḑe"/>
              <p:cNvSpPr/>
              <p:nvPr/>
            </p:nvSpPr>
            <p:spPr>
              <a:xfrm>
                <a:off x="745400" y="5064989"/>
                <a:ext cx="281159" cy="280953"/>
              </a:xfrm>
              <a:prstGeom prst="rect">
                <a:avLst/>
              </a:prstGeom>
              <a:solidFill>
                <a:schemeClr val="accent1">
                  <a:lumMod val="50000"/>
                </a:schemeClr>
              </a:solidFill>
              <a:ln w="22225">
                <a:solidFill>
                  <a:schemeClr val="tx2">
                    <a:lumMod val="20000"/>
                    <a:lumOff val="80000"/>
                  </a:schemeClr>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lIns="91440" tIns="45720" rIns="91440" bIns="45720">
                <a:normAutofit fontScale="25000" lnSpcReduction="20000"/>
              </a:bodyPr>
              <a:lstStyle/>
              <a:p>
                <a:pPr defTabSz="913765">
                  <a:defRPr/>
                </a:pPr>
                <a:endParaRPr lang="en-US" dirty="0">
                  <a:solidFill>
                    <a:srgbClr val="000000"/>
                  </a:solidFill>
                </a:endParaRPr>
              </a:p>
            </p:txBody>
          </p:sp>
          <p:sp>
            <p:nvSpPr>
              <p:cNvPr id="48" name="íŝ1ïďê"/>
              <p:cNvSpPr/>
              <p:nvPr/>
            </p:nvSpPr>
            <p:spPr bwMode="auto">
              <a:xfrm>
                <a:off x="1083328" y="4944707"/>
                <a:ext cx="4578961" cy="57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914400">
                  <a:buClr>
                    <a:srgbClr val="BD374A"/>
                  </a:buClr>
                  <a:buSzPct val="150000"/>
                  <a:defRPr/>
                </a:pPr>
                <a:r>
                  <a:rPr lang="zh-CN" altLang="en-US" sz="1100" dirty="0">
                    <a:solidFill>
                      <a:srgbClr val="002060"/>
                    </a:solidFill>
                  </a:rPr>
                  <a:t>成长</a:t>
                </a:r>
                <a:r>
                  <a:rPr lang="zh-CN" altLang="en-US" sz="900" dirty="0">
                    <a:solidFill>
                      <a:srgbClr val="002060"/>
                    </a:solidFill>
                  </a:rPr>
                  <a:t>：</a:t>
                </a:r>
                <a:r>
                  <a:rPr lang="zh-CN" altLang="en-US" sz="1000" dirty="0"/>
                  <a:t>从财报等经营类数据中挖掘能够预测公司业绩增长延续性的特征</a:t>
                </a:r>
                <a:endParaRPr lang="en-US" altLang="zh-CN" sz="1000" dirty="0"/>
              </a:p>
            </p:txBody>
          </p:sp>
        </p:grpSp>
        <p:sp>
          <p:nvSpPr>
            <p:cNvPr id="42" name="îšļiďê"/>
            <p:cNvSpPr/>
            <p:nvPr/>
          </p:nvSpPr>
          <p:spPr bwMode="auto">
            <a:xfrm>
              <a:off x="4638863" y="3522240"/>
              <a:ext cx="2239112" cy="230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914400">
                <a:buClr>
                  <a:srgbClr val="BD374A"/>
                </a:buClr>
                <a:buSzPct val="150000"/>
                <a:defRPr/>
              </a:pPr>
              <a:r>
                <a:rPr lang="zh-CN" altLang="en-US" sz="1100">
                  <a:solidFill>
                    <a:srgbClr val="002060"/>
                  </a:solidFill>
                </a:rPr>
                <a:t>盈利</a:t>
              </a:r>
              <a:r>
                <a:rPr lang="zh-CN" altLang="en-US" sz="900">
                  <a:solidFill>
                    <a:srgbClr val="002060"/>
                  </a:solidFill>
                </a:rPr>
                <a:t>：</a:t>
              </a:r>
              <a:r>
                <a:rPr lang="zh-CN" altLang="en-US" sz="1000"/>
                <a:t>从财报等经营类数据中挖掘能够预测公司盈利能力延续性的特征</a:t>
              </a:r>
              <a:endParaRPr lang="en-US" altLang="zh-CN" sz="1000"/>
            </a:p>
          </p:txBody>
        </p:sp>
        <p:sp>
          <p:nvSpPr>
            <p:cNvPr id="38" name="îṧļîďê"/>
            <p:cNvSpPr/>
            <p:nvPr/>
          </p:nvSpPr>
          <p:spPr bwMode="auto">
            <a:xfrm>
              <a:off x="4638863" y="3861571"/>
              <a:ext cx="2157760" cy="231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914400">
                <a:buClr>
                  <a:srgbClr val="BD374A"/>
                </a:buClr>
                <a:buSzPct val="150000"/>
                <a:defRPr/>
              </a:pPr>
              <a:r>
                <a:rPr lang="zh-CN" altLang="en-US" sz="1100">
                  <a:solidFill>
                    <a:srgbClr val="002060"/>
                  </a:solidFill>
                </a:rPr>
                <a:t>质量</a:t>
              </a:r>
              <a:r>
                <a:rPr lang="zh-CN" altLang="en-US" sz="1100"/>
                <a:t>：</a:t>
              </a:r>
              <a:r>
                <a:rPr lang="zh-CN" altLang="en-US" sz="1000"/>
                <a:t>对成长和盈利的佐证</a:t>
              </a:r>
              <a:endParaRPr lang="en-US" altLang="zh-CN" sz="1000" dirty="0">
                <a:solidFill>
                  <a:srgbClr val="000000"/>
                </a:solidFill>
              </a:endParaRPr>
            </a:p>
          </p:txBody>
        </p:sp>
        <p:sp>
          <p:nvSpPr>
            <p:cNvPr id="52" name="îṧļîďê"/>
            <p:cNvSpPr/>
            <p:nvPr/>
          </p:nvSpPr>
          <p:spPr bwMode="auto">
            <a:xfrm>
              <a:off x="4638862" y="4180390"/>
              <a:ext cx="2347415" cy="22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914400">
                <a:buClr>
                  <a:srgbClr val="BD374A"/>
                </a:buClr>
                <a:buSzPct val="150000"/>
                <a:defRPr/>
              </a:pPr>
              <a:r>
                <a:rPr lang="zh-CN" altLang="en-US" sz="1100" dirty="0">
                  <a:solidFill>
                    <a:srgbClr val="002060"/>
                  </a:solidFill>
                </a:rPr>
                <a:t>预期：</a:t>
              </a:r>
              <a:r>
                <a:rPr lang="zh-CN" altLang="en-US" sz="1000" dirty="0"/>
                <a:t>利用主动研究群体的研究成果</a:t>
              </a:r>
              <a:endParaRPr lang="en-US" altLang="zh-CN" sz="1000" dirty="0"/>
            </a:p>
          </p:txBody>
        </p:sp>
      </p:grpSp>
      <p:grpSp>
        <p:nvGrpSpPr>
          <p:cNvPr id="10" name="组合 9"/>
          <p:cNvGrpSpPr/>
          <p:nvPr/>
        </p:nvGrpSpPr>
        <p:grpSpPr>
          <a:xfrm>
            <a:off x="5241368" y="5058651"/>
            <a:ext cx="2315470" cy="749347"/>
            <a:chOff x="4682473" y="4459773"/>
            <a:chExt cx="2315470" cy="749347"/>
          </a:xfrm>
        </p:grpSpPr>
        <p:sp>
          <p:nvSpPr>
            <p:cNvPr id="53" name="îšļîḋé"/>
            <p:cNvSpPr/>
            <p:nvPr/>
          </p:nvSpPr>
          <p:spPr bwMode="auto">
            <a:xfrm>
              <a:off x="4682473" y="4977301"/>
              <a:ext cx="2157760" cy="231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914400">
                <a:buClr>
                  <a:srgbClr val="BD374A"/>
                </a:buClr>
                <a:buSzPct val="150000"/>
                <a:defRPr/>
              </a:pPr>
              <a:r>
                <a:rPr lang="zh-CN" altLang="en-US" sz="1050" dirty="0">
                  <a:solidFill>
                    <a:srgbClr val="002060"/>
                  </a:solidFill>
                </a:rPr>
                <a:t>量价</a:t>
              </a:r>
              <a:r>
                <a:rPr lang="zh-CN" altLang="en-US" sz="900" dirty="0"/>
                <a:t>：</a:t>
              </a:r>
              <a:r>
                <a:rPr lang="zh-CN" altLang="en-US" sz="1050" dirty="0"/>
                <a:t>人工挖掘</a:t>
              </a:r>
              <a:r>
                <a:rPr lang="en-US" altLang="zh-CN" sz="1050" dirty="0"/>
                <a:t>+</a:t>
              </a:r>
              <a:r>
                <a:rPr lang="en-US" altLang="zh-CN" sz="1050" dirty="0">
                  <a:solidFill>
                    <a:srgbClr val="EA5838"/>
                  </a:solidFill>
                </a:rPr>
                <a:t>AI</a:t>
              </a:r>
              <a:r>
                <a:rPr lang="zh-CN" altLang="en-US" sz="1050" dirty="0">
                  <a:solidFill>
                    <a:srgbClr val="EA5838"/>
                  </a:solidFill>
                </a:rPr>
                <a:t>算法</a:t>
              </a:r>
              <a:r>
                <a:rPr lang="zh-CN" altLang="en-US" sz="1050" dirty="0"/>
                <a:t>挖掘</a:t>
              </a:r>
              <a:endParaRPr lang="en-US" altLang="zh-CN" sz="1050" dirty="0">
                <a:solidFill>
                  <a:srgbClr val="000000"/>
                </a:solidFill>
              </a:endParaRPr>
            </a:p>
          </p:txBody>
        </p:sp>
        <p:sp>
          <p:nvSpPr>
            <p:cNvPr id="60" name="îšļîḋé"/>
            <p:cNvSpPr/>
            <p:nvPr/>
          </p:nvSpPr>
          <p:spPr bwMode="auto">
            <a:xfrm>
              <a:off x="4682473" y="4459773"/>
              <a:ext cx="2315470" cy="260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914400">
                <a:buClr>
                  <a:srgbClr val="BD374A"/>
                </a:buClr>
                <a:buSzPct val="150000"/>
                <a:defRPr/>
              </a:pPr>
              <a:r>
                <a:rPr lang="zh-CN" altLang="en-US" sz="1050" dirty="0">
                  <a:solidFill>
                    <a:srgbClr val="002060"/>
                  </a:solidFill>
                </a:rPr>
                <a:t>估值：</a:t>
              </a:r>
              <a:r>
                <a:rPr lang="zh-CN" altLang="en-US" sz="1050" dirty="0"/>
                <a:t>低估值提供安全边际，捕捉市场无效定价</a:t>
              </a:r>
              <a:endParaRPr lang="en-US" altLang="zh-CN" sz="1050" dirty="0">
                <a:solidFill>
                  <a:srgbClr val="000000"/>
                </a:solidFill>
              </a:endParaRPr>
            </a:p>
          </p:txBody>
        </p:sp>
      </p:grpSp>
      <p:sp>
        <p:nvSpPr>
          <p:cNvPr id="68" name="îṧ1íḑe"/>
          <p:cNvSpPr/>
          <p:nvPr/>
        </p:nvSpPr>
        <p:spPr>
          <a:xfrm>
            <a:off x="5087115" y="5081658"/>
            <a:ext cx="137487" cy="137386"/>
          </a:xfrm>
          <a:prstGeom prst="rect">
            <a:avLst/>
          </a:prstGeom>
          <a:solidFill>
            <a:schemeClr val="accent1">
              <a:lumMod val="50000"/>
            </a:schemeClr>
          </a:solidFill>
          <a:ln w="22225">
            <a:solidFill>
              <a:schemeClr val="tx2">
                <a:lumMod val="20000"/>
                <a:lumOff val="80000"/>
              </a:schemeClr>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lIns="91440" tIns="45720" rIns="91440" bIns="45720">
            <a:normAutofit fontScale="25000" lnSpcReduction="20000"/>
          </a:bodyPr>
          <a:lstStyle/>
          <a:p>
            <a:pPr defTabSz="913765">
              <a:defRPr/>
            </a:pPr>
            <a:endParaRPr lang="en-US" dirty="0">
              <a:solidFill>
                <a:srgbClr val="000000"/>
              </a:solidFill>
            </a:endParaRPr>
          </a:p>
        </p:txBody>
      </p:sp>
      <p:sp>
        <p:nvSpPr>
          <p:cNvPr id="69" name="îṧ1íḑe"/>
          <p:cNvSpPr/>
          <p:nvPr/>
        </p:nvSpPr>
        <p:spPr>
          <a:xfrm>
            <a:off x="5085420" y="5640917"/>
            <a:ext cx="137487" cy="137386"/>
          </a:xfrm>
          <a:prstGeom prst="rect">
            <a:avLst/>
          </a:prstGeom>
          <a:solidFill>
            <a:schemeClr val="accent1">
              <a:lumMod val="50000"/>
            </a:schemeClr>
          </a:solidFill>
          <a:ln w="22225">
            <a:solidFill>
              <a:schemeClr val="tx2">
                <a:lumMod val="20000"/>
                <a:lumOff val="80000"/>
              </a:schemeClr>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lIns="91440" tIns="45720" rIns="91440" bIns="45720">
            <a:normAutofit fontScale="25000" lnSpcReduction="20000"/>
          </a:bodyPr>
          <a:lstStyle/>
          <a:p>
            <a:pPr defTabSz="913765">
              <a:defRPr/>
            </a:pPr>
            <a:endParaRPr lang="en-US" dirty="0">
              <a:solidFill>
                <a:srgbClr val="000000"/>
              </a:solidFill>
            </a:endParaRPr>
          </a:p>
        </p:txBody>
      </p:sp>
      <p:sp>
        <p:nvSpPr>
          <p:cNvPr id="34" name="iṥḷíḍè"/>
          <p:cNvSpPr/>
          <p:nvPr/>
        </p:nvSpPr>
        <p:spPr>
          <a:xfrm>
            <a:off x="9731479" y="4314408"/>
            <a:ext cx="443620" cy="411930"/>
          </a:xfrm>
          <a:prstGeom prst="chevron">
            <a:avLst/>
          </a:prstGeom>
          <a:solidFill>
            <a:schemeClr val="tx1">
              <a:lumMod val="50000"/>
              <a:lumOff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solidFill>
                <a:schemeClr val="tx1"/>
              </a:solidFill>
            </a:endParaRPr>
          </a:p>
        </p:txBody>
      </p:sp>
      <p:sp>
        <p:nvSpPr>
          <p:cNvPr id="35" name="iŝḻiḋè"/>
          <p:cNvSpPr/>
          <p:nvPr/>
        </p:nvSpPr>
        <p:spPr>
          <a:xfrm>
            <a:off x="9849174" y="4314408"/>
            <a:ext cx="443620" cy="411930"/>
          </a:xfrm>
          <a:prstGeom prst="chevron">
            <a:avLst/>
          </a:prstGeom>
          <a:solidFill>
            <a:schemeClr val="tx1">
              <a:lumMod val="50000"/>
              <a:lumOff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solidFill>
                <a:schemeClr val="tx1"/>
              </a:solidFill>
            </a:endParaRPr>
          </a:p>
        </p:txBody>
      </p:sp>
      <p:sp>
        <p:nvSpPr>
          <p:cNvPr id="46" name="iṥḷíḍè"/>
          <p:cNvSpPr/>
          <p:nvPr/>
        </p:nvSpPr>
        <p:spPr>
          <a:xfrm>
            <a:off x="8445350" y="4314408"/>
            <a:ext cx="443620" cy="411930"/>
          </a:xfrm>
          <a:prstGeom prst="chevron">
            <a:avLst/>
          </a:prstGeom>
          <a:solidFill>
            <a:schemeClr val="tx1">
              <a:lumMod val="50000"/>
              <a:lumOff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solidFill>
                <a:schemeClr val="tx1"/>
              </a:solidFill>
            </a:endParaRPr>
          </a:p>
        </p:txBody>
      </p:sp>
      <p:sp>
        <p:nvSpPr>
          <p:cNvPr id="49" name="iŝḻiḋè"/>
          <p:cNvSpPr/>
          <p:nvPr/>
        </p:nvSpPr>
        <p:spPr>
          <a:xfrm>
            <a:off x="8563045" y="4314408"/>
            <a:ext cx="443620" cy="411930"/>
          </a:xfrm>
          <a:prstGeom prst="chevron">
            <a:avLst/>
          </a:prstGeom>
          <a:solidFill>
            <a:schemeClr val="tx1">
              <a:lumMod val="50000"/>
              <a:lumOff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solidFill>
                <a:schemeClr val="tx1"/>
              </a:solidFill>
            </a:endParaRPr>
          </a:p>
        </p:txBody>
      </p:sp>
      <p:sp>
        <p:nvSpPr>
          <p:cNvPr id="54" name="iṥḷíḍè"/>
          <p:cNvSpPr/>
          <p:nvPr/>
        </p:nvSpPr>
        <p:spPr>
          <a:xfrm>
            <a:off x="4222569" y="4314408"/>
            <a:ext cx="443620" cy="411930"/>
          </a:xfrm>
          <a:prstGeom prst="chevron">
            <a:avLst/>
          </a:prstGeom>
          <a:solidFill>
            <a:schemeClr val="tx1">
              <a:lumMod val="50000"/>
              <a:lumOff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solidFill>
                <a:schemeClr val="tx1"/>
              </a:solidFill>
            </a:endParaRPr>
          </a:p>
        </p:txBody>
      </p:sp>
      <p:sp>
        <p:nvSpPr>
          <p:cNvPr id="55" name="iŝḻiḋè"/>
          <p:cNvSpPr/>
          <p:nvPr/>
        </p:nvSpPr>
        <p:spPr>
          <a:xfrm>
            <a:off x="4340264" y="4314408"/>
            <a:ext cx="443620" cy="411930"/>
          </a:xfrm>
          <a:prstGeom prst="chevron">
            <a:avLst/>
          </a:prstGeom>
          <a:solidFill>
            <a:schemeClr val="tx1">
              <a:lumMod val="50000"/>
              <a:lumOff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solidFill>
                <a:schemeClr val="tx1"/>
              </a:solidFill>
            </a:endParaRPr>
          </a:p>
        </p:txBody>
      </p:sp>
      <p:sp>
        <p:nvSpPr>
          <p:cNvPr id="56" name="íṣliďé"/>
          <p:cNvSpPr/>
          <p:nvPr/>
        </p:nvSpPr>
        <p:spPr>
          <a:xfrm>
            <a:off x="678094" y="2868563"/>
            <a:ext cx="782403" cy="3311731"/>
          </a:xfrm>
          <a:prstGeom prst="rect">
            <a:avLst/>
          </a:prstGeom>
          <a:solidFill>
            <a:srgbClr val="00206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100"/>
              <a:t>深度行情数据</a:t>
            </a:r>
            <a:endParaRPr lang="en-US" altLang="zh-CN" sz="1100"/>
          </a:p>
          <a:p>
            <a:pPr algn="ctr"/>
            <a:endParaRPr lang="en-US" altLang="zh-CN" sz="1100"/>
          </a:p>
          <a:p>
            <a:pPr algn="ctr"/>
            <a:endParaRPr lang="en-US" altLang="zh-CN" sz="1100"/>
          </a:p>
          <a:p>
            <a:pPr algn="ctr"/>
            <a:endParaRPr lang="en-US" altLang="zh-CN" sz="1100"/>
          </a:p>
          <a:p>
            <a:pPr algn="ctr"/>
            <a:endParaRPr lang="en-US" altLang="zh-CN" sz="1100"/>
          </a:p>
          <a:p>
            <a:pPr algn="ctr"/>
            <a:r>
              <a:rPr lang="zh-CN" altLang="en-US" sz="1100"/>
              <a:t>财报、公告、新闻等文本信息</a:t>
            </a:r>
            <a:endParaRPr lang="en-US" altLang="zh-CN" sz="1100"/>
          </a:p>
          <a:p>
            <a:pPr algn="ctr"/>
            <a:endParaRPr lang="en-US" altLang="zh-CN" sz="1100"/>
          </a:p>
          <a:p>
            <a:pPr algn="ctr"/>
            <a:endParaRPr lang="en-US" altLang="zh-CN" sz="1100"/>
          </a:p>
          <a:p>
            <a:pPr algn="ctr"/>
            <a:endParaRPr lang="en-US" altLang="zh-CN" sz="1100"/>
          </a:p>
          <a:p>
            <a:pPr algn="ctr"/>
            <a:endParaRPr lang="en-US" altLang="zh-CN" sz="900"/>
          </a:p>
          <a:p>
            <a:pPr algn="ctr"/>
            <a:r>
              <a:rPr lang="zh-CN" altLang="en-US" sz="1100"/>
              <a:t>上下游产业链、股票相关性分析</a:t>
            </a:r>
            <a:endParaRPr lang="zh-CN" altLang="en-US" sz="1100" dirty="0"/>
          </a:p>
        </p:txBody>
      </p:sp>
      <p:sp>
        <p:nvSpPr>
          <p:cNvPr id="59" name="iŝḻiḋè"/>
          <p:cNvSpPr/>
          <p:nvPr/>
        </p:nvSpPr>
        <p:spPr>
          <a:xfrm>
            <a:off x="1604551" y="4314408"/>
            <a:ext cx="443620" cy="411930"/>
          </a:xfrm>
          <a:prstGeom prst="chevron">
            <a:avLst/>
          </a:prstGeom>
          <a:solidFill>
            <a:schemeClr val="tx1">
              <a:lumMod val="50000"/>
              <a:lumOff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solidFill>
                <a:schemeClr val="tx1"/>
              </a:solidFill>
            </a:endParaRPr>
          </a:p>
        </p:txBody>
      </p:sp>
      <p:sp>
        <p:nvSpPr>
          <p:cNvPr id="70" name="iŝḻiḋè"/>
          <p:cNvSpPr/>
          <p:nvPr/>
        </p:nvSpPr>
        <p:spPr>
          <a:xfrm>
            <a:off x="1504288" y="4314408"/>
            <a:ext cx="443620" cy="411930"/>
          </a:xfrm>
          <a:prstGeom prst="chevron">
            <a:avLst/>
          </a:prstGeom>
          <a:solidFill>
            <a:schemeClr val="tx1">
              <a:lumMod val="50000"/>
              <a:lumOff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solidFill>
                <a:schemeClr val="tx1"/>
              </a:solidFill>
            </a:endParaRPr>
          </a:p>
        </p:txBody>
      </p:sp>
      <p:sp>
        <p:nvSpPr>
          <p:cNvPr id="39" name="矩形 9"/>
          <p:cNvSpPr/>
          <p:nvPr/>
        </p:nvSpPr>
        <p:spPr>
          <a:xfrm>
            <a:off x="2467293" y="6290510"/>
            <a:ext cx="8535987" cy="215444"/>
          </a:xfrm>
          <a:prstGeom prst="rect">
            <a:avLst/>
          </a:prstGeom>
        </p:spPr>
        <p:txBody>
          <a:bodyPr>
            <a:spAutoFit/>
          </a:bodyPr>
          <a:lstStyle/>
          <a:p>
            <a:pPr algn="r">
              <a:defRPr/>
            </a:pPr>
            <a:r>
              <a:rPr lang="zh-CN" altLang="en-US" sz="800" kern="100" dirty="0">
                <a:cs typeface="Times New Roman" panose="02020603050405020304" charset="0"/>
              </a:rPr>
              <a:t>以上内容仅供参考，不构成任何投资建议及承诺</a:t>
            </a:r>
            <a:endParaRPr lang="zh-CN" altLang="zh-CN" sz="800" kern="100" dirty="0">
              <a:cs typeface="Times New Roman" panose="02020603050405020304" charset="0"/>
            </a:endParaRPr>
          </a:p>
        </p:txBody>
      </p:sp>
      <p:sp>
        <p:nvSpPr>
          <p:cNvPr id="5" name="灯片编号占位符 4">
            <a:extLst>
              <a:ext uri="{FF2B5EF4-FFF2-40B4-BE49-F238E27FC236}">
                <a16:creationId xmlns:a16="http://schemas.microsoft.com/office/drawing/2014/main" xmlns="" id="{A222B952-F739-2001-F48F-8E40F45ADE0E}"/>
              </a:ext>
            </a:extLst>
          </p:cNvPr>
          <p:cNvSpPr>
            <a:spLocks noGrp="1"/>
          </p:cNvSpPr>
          <p:nvPr>
            <p:ph type="sldNum" sz="quarter" idx="11"/>
          </p:nvPr>
        </p:nvSpPr>
        <p:spPr/>
        <p:txBody>
          <a:bodyPr/>
          <a:lstStyle/>
          <a:p>
            <a:pPr>
              <a:defRPr/>
            </a:pPr>
            <a:fld id="{6E91549D-98B7-4077-996F-05BE1B29F039}" type="slidenum">
              <a:rPr lang="zh-CN" altLang="en-US" smtClean="0"/>
              <a:t>23</a:t>
            </a:fld>
            <a:endParaRPr lang="zh-CN" altLang="en-US" dirty="0"/>
          </a:p>
        </p:txBody>
      </p:sp>
    </p:spTree>
    <p:extLst>
      <p:ext uri="{BB962C8B-B14F-4D97-AF65-F5344CB8AC3E}">
        <p14:creationId xmlns:p14="http://schemas.microsoft.com/office/powerpoint/2010/main" val="4176146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dirty="0">
                <a:solidFill>
                  <a:srgbClr val="103565"/>
                </a:solidFill>
                <a:sym typeface="Calibri" panose="020F0502020204030204" charset="0"/>
              </a:rPr>
              <a:t>博道指数</a:t>
            </a:r>
            <a:r>
              <a:rPr lang="en-US" altLang="zh-CN" dirty="0">
                <a:solidFill>
                  <a:srgbClr val="103565"/>
                </a:solidFill>
                <a:sym typeface="Calibri" panose="020F0502020204030204" charset="0"/>
              </a:rPr>
              <a:t>+</a:t>
            </a:r>
            <a:r>
              <a:rPr lang="zh-CN" altLang="en-US" dirty="0">
                <a:solidFill>
                  <a:srgbClr val="103565"/>
                </a:solidFill>
                <a:sym typeface="Calibri" panose="020F0502020204030204" charset="0"/>
              </a:rPr>
              <a:t>：</a:t>
            </a:r>
            <a:r>
              <a:rPr lang="en-US" altLang="zh-CN" dirty="0">
                <a:solidFill>
                  <a:srgbClr val="EA5838"/>
                </a:solidFill>
                <a:sym typeface="Calibri" panose="020F0502020204030204" charset="0"/>
              </a:rPr>
              <a:t>AI</a:t>
            </a:r>
            <a:r>
              <a:rPr lang="zh-CN" altLang="en-US" dirty="0">
                <a:solidFill>
                  <a:srgbClr val="EA5838"/>
                </a:solidFill>
                <a:sym typeface="Calibri" panose="020F0502020204030204" charset="0"/>
              </a:rPr>
              <a:t>框架</a:t>
            </a:r>
            <a:r>
              <a:rPr lang="zh-CN" altLang="en-US" dirty="0">
                <a:solidFill>
                  <a:srgbClr val="103565"/>
                </a:solidFill>
                <a:sym typeface="Calibri" panose="020F0502020204030204" charset="0"/>
              </a:rPr>
              <a:t>多因子模型</a:t>
            </a:r>
            <a:endParaRPr lang="zh-CN" altLang="en-US" dirty="0"/>
          </a:p>
        </p:txBody>
      </p:sp>
      <p:sp>
        <p:nvSpPr>
          <p:cNvPr id="3" name="副标题 2"/>
          <p:cNvSpPr>
            <a:spLocks noGrp="1"/>
          </p:cNvSpPr>
          <p:nvPr>
            <p:ph type="subTitle" idx="1"/>
          </p:nvPr>
        </p:nvSpPr>
        <p:spPr/>
        <p:txBody>
          <a:bodyPr>
            <a:normAutofit/>
          </a:bodyPr>
          <a:lstStyle/>
          <a:p>
            <a:r>
              <a:rPr lang="en-US" altLang="zh-CN" sz="1200" b="1" dirty="0"/>
              <a:t>AI</a:t>
            </a:r>
            <a:r>
              <a:rPr lang="zh-CN" altLang="en-US" sz="1200" b="1" dirty="0"/>
              <a:t>全流程框架的核心特征是：各类原始数据经过简单的特征工程，输入庞大的各类神经网络组合而成的大模型里，统一训练，直接输出最终的预测结果。</a:t>
            </a:r>
            <a:endParaRPr lang="en-US" altLang="zh-CN" sz="1200" b="1" dirty="0"/>
          </a:p>
          <a:p>
            <a:r>
              <a:rPr lang="zh-CN" altLang="en-US" sz="1200" b="1" dirty="0">
                <a:solidFill>
                  <a:srgbClr val="EA5838"/>
                </a:solidFill>
              </a:rPr>
              <a:t>与传统框架最本质的差异是信息提取方式的不同：</a:t>
            </a:r>
            <a:r>
              <a:rPr lang="zh-CN" altLang="en-US" sz="1200" dirty="0"/>
              <a:t>全面借助神经网络算法从原始数据源解构信息，和以人脑挖掘信息为主要模式的传统框架，从底层方法论上形成互补；各有适用的环节，双框架提升整体业绩呈现的稳定性。</a:t>
            </a:r>
            <a:endParaRPr lang="en-US" altLang="zh-CN" sz="1200" b="1" dirty="0">
              <a:solidFill>
                <a:srgbClr val="EA5838"/>
              </a:solidFill>
            </a:endParaRPr>
          </a:p>
          <a:p>
            <a:r>
              <a:rPr lang="zh-CN" altLang="en-US" sz="1200" b="1" dirty="0">
                <a:solidFill>
                  <a:srgbClr val="EA5838"/>
                </a:solidFill>
              </a:rPr>
              <a:t>多路径增强稳定性，强拆解增强可追踪性：</a:t>
            </a:r>
            <a:r>
              <a:rPr lang="zh-CN" altLang="en-US" sz="1200" dirty="0"/>
              <a:t>整个框架下设置多条研究路径形成丰富的子模型策略，降低随机性；通过对大的模型网络进行中间环节拆解，做到“灰盒”跟踪</a:t>
            </a:r>
            <a:r>
              <a:rPr lang="en-US" altLang="zh-CN" sz="1200" dirty="0"/>
              <a:t>BDNET</a:t>
            </a:r>
            <a:r>
              <a:rPr lang="zh-CN" altLang="en-US" sz="1200" dirty="0"/>
              <a:t>，可解释度可追踪度比较高。</a:t>
            </a:r>
            <a:endParaRPr lang="en-US" altLang="zh-CN" sz="1200" b="1" dirty="0">
              <a:solidFill>
                <a:srgbClr val="EA5838"/>
              </a:solidFill>
            </a:endParaRPr>
          </a:p>
          <a:p>
            <a:r>
              <a:rPr lang="zh-CN" altLang="en-US" sz="1200" b="1" dirty="0">
                <a:solidFill>
                  <a:srgbClr val="EA5838"/>
                </a:solidFill>
              </a:rPr>
              <a:t>为什么</a:t>
            </a:r>
            <a:r>
              <a:rPr lang="en-US" altLang="zh-CN" sz="1200" b="1" dirty="0">
                <a:solidFill>
                  <a:srgbClr val="EA5838"/>
                </a:solidFill>
              </a:rPr>
              <a:t>AI</a:t>
            </a:r>
            <a:r>
              <a:rPr lang="zh-CN" altLang="en-US" sz="1200" b="1" dirty="0">
                <a:solidFill>
                  <a:srgbClr val="EA5838"/>
                </a:solidFill>
              </a:rPr>
              <a:t>全流程框架能够成为博道指数</a:t>
            </a:r>
            <a:r>
              <a:rPr lang="en-US" altLang="zh-CN" sz="1200" b="1" dirty="0">
                <a:solidFill>
                  <a:srgbClr val="EA5838"/>
                </a:solidFill>
              </a:rPr>
              <a:t>+</a:t>
            </a:r>
            <a:r>
              <a:rPr lang="zh-CN" altLang="en-US" sz="1200" b="1" dirty="0">
                <a:solidFill>
                  <a:srgbClr val="EA5838"/>
                </a:solidFill>
              </a:rPr>
              <a:t>的模型特色：</a:t>
            </a:r>
            <a:r>
              <a:rPr lang="zh-CN" altLang="en-US" sz="1200" dirty="0"/>
              <a:t>私募量化的基因，紧密追踪先进打法，</a:t>
            </a:r>
            <a:r>
              <a:rPr lang="en-US" altLang="zh-CN" sz="1200" dirty="0"/>
              <a:t>19</a:t>
            </a:r>
            <a:r>
              <a:rPr lang="zh-CN" altLang="en-US" sz="1200" dirty="0"/>
              <a:t>年开始研发</a:t>
            </a:r>
            <a:r>
              <a:rPr lang="en-US" altLang="zh-CN" sz="1200" dirty="0"/>
              <a:t>AI</a:t>
            </a:r>
            <a:r>
              <a:rPr lang="zh-CN" altLang="en-US" sz="1200" dirty="0"/>
              <a:t>量价，</a:t>
            </a:r>
            <a:r>
              <a:rPr lang="en-US" altLang="zh-CN" sz="1200" dirty="0"/>
              <a:t>20</a:t>
            </a:r>
            <a:r>
              <a:rPr lang="zh-CN" altLang="en-US" sz="1200" dirty="0"/>
              <a:t>年开始实盘</a:t>
            </a:r>
            <a:r>
              <a:rPr lang="en-US" altLang="zh-CN" sz="1200" dirty="0"/>
              <a:t>AI</a:t>
            </a:r>
            <a:r>
              <a:rPr lang="zh-CN" altLang="en-US" sz="1200" dirty="0"/>
              <a:t>量价，</a:t>
            </a:r>
            <a:r>
              <a:rPr lang="en-US" altLang="zh-CN" sz="1200" dirty="0"/>
              <a:t>23</a:t>
            </a:r>
            <a:r>
              <a:rPr lang="zh-CN" altLang="en-US" sz="1200" dirty="0"/>
              <a:t>年初扩展成为</a:t>
            </a:r>
            <a:r>
              <a:rPr lang="en-US" altLang="zh-CN" sz="1200" dirty="0"/>
              <a:t>AI</a:t>
            </a:r>
            <a:r>
              <a:rPr lang="zh-CN" altLang="en-US" sz="1200" dirty="0"/>
              <a:t>全流程</a:t>
            </a:r>
            <a:r>
              <a:rPr lang="en-US" altLang="zh-CN" sz="1200" dirty="0"/>
              <a:t>BDNET</a:t>
            </a:r>
            <a:r>
              <a:rPr lang="zh-CN" altLang="en-US" sz="1200" dirty="0"/>
              <a:t>。算力资源充足，经验累积丰富。</a:t>
            </a:r>
          </a:p>
          <a:p>
            <a:endParaRPr lang="zh-CN" altLang="en-US" dirty="0"/>
          </a:p>
        </p:txBody>
      </p:sp>
      <p:pic>
        <p:nvPicPr>
          <p:cNvPr id="5" name="图片 4"/>
          <p:cNvPicPr>
            <a:picLocks noChangeAspect="1"/>
          </p:cNvPicPr>
          <p:nvPr/>
        </p:nvPicPr>
        <p:blipFill>
          <a:blip r:embed="rId3"/>
          <a:stretch>
            <a:fillRect/>
          </a:stretch>
        </p:blipFill>
        <p:spPr>
          <a:xfrm>
            <a:off x="2154726" y="2967341"/>
            <a:ext cx="7702715" cy="3246708"/>
          </a:xfrm>
          <a:prstGeom prst="rect">
            <a:avLst/>
          </a:prstGeom>
        </p:spPr>
      </p:pic>
      <p:sp>
        <p:nvSpPr>
          <p:cNvPr id="7" name="灯片编号占位符 6">
            <a:extLst>
              <a:ext uri="{FF2B5EF4-FFF2-40B4-BE49-F238E27FC236}">
                <a16:creationId xmlns:a16="http://schemas.microsoft.com/office/drawing/2014/main" xmlns="" id="{EE4CE933-872A-B27A-8816-69DA6EA745A7}"/>
              </a:ext>
            </a:extLst>
          </p:cNvPr>
          <p:cNvSpPr>
            <a:spLocks noGrp="1"/>
          </p:cNvSpPr>
          <p:nvPr>
            <p:ph type="sldNum" sz="quarter" idx="11"/>
          </p:nvPr>
        </p:nvSpPr>
        <p:spPr/>
        <p:txBody>
          <a:bodyPr/>
          <a:lstStyle/>
          <a:p>
            <a:pPr>
              <a:defRPr/>
            </a:pPr>
            <a:fld id="{6E91549D-98B7-4077-996F-05BE1B29F039}" type="slidenum">
              <a:rPr lang="zh-CN" altLang="en-US" smtClean="0"/>
              <a:t>24</a:t>
            </a:fld>
            <a:endParaRPr lang="zh-CN" altLang="en-US" dirty="0"/>
          </a:p>
        </p:txBody>
      </p:sp>
      <p:sp>
        <p:nvSpPr>
          <p:cNvPr id="8" name="矩形 9">
            <a:extLst>
              <a:ext uri="{FF2B5EF4-FFF2-40B4-BE49-F238E27FC236}">
                <a16:creationId xmlns:a16="http://schemas.microsoft.com/office/drawing/2014/main" xmlns="" id="{E67F21E9-1486-84E6-FE14-A13008FAA24B}"/>
              </a:ext>
            </a:extLst>
          </p:cNvPr>
          <p:cNvSpPr/>
          <p:nvPr/>
        </p:nvSpPr>
        <p:spPr>
          <a:xfrm>
            <a:off x="2467293" y="6290510"/>
            <a:ext cx="8535987" cy="215444"/>
          </a:xfrm>
          <a:prstGeom prst="rect">
            <a:avLst/>
          </a:prstGeom>
        </p:spPr>
        <p:txBody>
          <a:bodyPr>
            <a:spAutoFit/>
          </a:bodyPr>
          <a:lstStyle/>
          <a:p>
            <a:pPr algn="r">
              <a:defRPr/>
            </a:pPr>
            <a:r>
              <a:rPr lang="zh-CN" altLang="en-US" sz="800" kern="100" dirty="0">
                <a:cs typeface="Times New Roman" panose="02020603050405020304" charset="0"/>
              </a:rPr>
              <a:t>以上内容仅供参考，不构成任何投资建议及承诺</a:t>
            </a:r>
            <a:endParaRPr lang="zh-CN" altLang="zh-CN" sz="800" kern="100" dirty="0">
              <a:cs typeface="Times New Roman" panose="02020603050405020304" charset="0"/>
            </a:endParaRPr>
          </a:p>
        </p:txBody>
      </p:sp>
    </p:spTree>
    <p:extLst>
      <p:ext uri="{BB962C8B-B14F-4D97-AF65-F5344CB8AC3E}">
        <p14:creationId xmlns:p14="http://schemas.microsoft.com/office/powerpoint/2010/main" val="564929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00" dirty="0">
                <a:solidFill>
                  <a:srgbClr val="EA5838"/>
                </a:solidFill>
              </a:rPr>
              <a:t>3</a:t>
            </a:r>
            <a:r>
              <a:rPr lang="zh-CN" altLang="en-US" sz="3100" dirty="0">
                <a:solidFill>
                  <a:srgbClr val="EA5838"/>
                </a:solidFill>
              </a:rPr>
              <a:t>、注重客户体验：</a:t>
            </a:r>
            <a:r>
              <a:rPr lang="zh-CN" altLang="en-US" sz="2650" kern="0" dirty="0">
                <a:solidFill>
                  <a:srgbClr val="103565"/>
                </a:solidFill>
              </a:rPr>
              <a:t>精细化风控，提升超额胜率和持有体验</a:t>
            </a:r>
          </a:p>
        </p:txBody>
      </p:sp>
      <p:sp>
        <p:nvSpPr>
          <p:cNvPr id="3" name="副标题 2"/>
          <p:cNvSpPr>
            <a:spLocks noGrp="1"/>
          </p:cNvSpPr>
          <p:nvPr>
            <p:ph type="subTitle" idx="1"/>
          </p:nvPr>
        </p:nvSpPr>
        <p:spPr/>
        <p:txBody>
          <a:bodyPr>
            <a:normAutofit/>
          </a:bodyPr>
          <a:lstStyle/>
          <a:p>
            <a:r>
              <a:rPr lang="zh-CN" altLang="en-US" b="1" dirty="0"/>
              <a:t>坚持适中偏紧的风控参数：</a:t>
            </a:r>
            <a:r>
              <a:rPr lang="zh-CN" altLang="en-US" dirty="0"/>
              <a:t>根据历史极端情况进行压力测试选择风控参数。</a:t>
            </a:r>
            <a:endParaRPr lang="en-US" altLang="zh-CN" dirty="0"/>
          </a:p>
          <a:p>
            <a:r>
              <a:rPr lang="zh-CN" altLang="en-US" b="1" dirty="0"/>
              <a:t>重构风控体系：</a:t>
            </a:r>
            <a:r>
              <a:rPr lang="zh-CN" altLang="zh-CN" dirty="0"/>
              <a:t>从风控模型的底层原理</a:t>
            </a:r>
            <a:r>
              <a:rPr lang="zh-CN" altLang="en-US" dirty="0"/>
              <a:t>出发</a:t>
            </a:r>
            <a:r>
              <a:rPr lang="zh-CN" altLang="zh-CN" dirty="0"/>
              <a:t>，利用</a:t>
            </a:r>
            <a:r>
              <a:rPr lang="en-US" altLang="zh-CN" dirty="0"/>
              <a:t>AI</a:t>
            </a:r>
            <a:r>
              <a:rPr lang="zh-CN" altLang="zh-CN" dirty="0"/>
              <a:t>模型重构风险因子体系，</a:t>
            </a:r>
            <a:r>
              <a:rPr lang="zh-CN" altLang="en-US" dirty="0"/>
              <a:t>输出</a:t>
            </a:r>
            <a:r>
              <a:rPr lang="zh-CN" altLang="zh-CN" dirty="0"/>
              <a:t>降维和提纯</a:t>
            </a:r>
            <a:r>
              <a:rPr lang="zh-CN" altLang="en-US" dirty="0"/>
              <a:t>后的风险因子体系。</a:t>
            </a:r>
          </a:p>
          <a:p>
            <a:pPr>
              <a:defRPr/>
            </a:pPr>
            <a:r>
              <a:rPr lang="zh-CN" altLang="en-US" b="1" dirty="0"/>
              <a:t>自研组合优化系统： </a:t>
            </a:r>
            <a:r>
              <a:rPr lang="zh-CN" altLang="en-US" dirty="0"/>
              <a:t>利用新的风险因子体系，考虑阿尔法因子和风险因子的分布情况，</a:t>
            </a:r>
            <a:r>
              <a:rPr lang="zh-CN" altLang="zh-CN" dirty="0"/>
              <a:t>再进行更精细的风险暴露的控制</a:t>
            </a:r>
            <a:r>
              <a:rPr lang="zh-CN" altLang="en-US" dirty="0"/>
              <a:t>。</a:t>
            </a:r>
            <a:endParaRPr lang="en-US" altLang="zh-CN" dirty="0"/>
          </a:p>
          <a:p>
            <a:endParaRPr lang="zh-CN" altLang="en-US" sz="1600" dirty="0"/>
          </a:p>
        </p:txBody>
      </p:sp>
      <p:pic>
        <p:nvPicPr>
          <p:cNvPr id="5" name="图片 4"/>
          <p:cNvPicPr>
            <a:picLocks noChangeAspect="1"/>
          </p:cNvPicPr>
          <p:nvPr/>
        </p:nvPicPr>
        <p:blipFill>
          <a:blip r:embed="rId3"/>
          <a:stretch>
            <a:fillRect/>
          </a:stretch>
        </p:blipFill>
        <p:spPr>
          <a:xfrm>
            <a:off x="1616228" y="2059205"/>
            <a:ext cx="6268105" cy="3782907"/>
          </a:xfrm>
          <a:prstGeom prst="rect">
            <a:avLst/>
          </a:prstGeom>
        </p:spPr>
      </p:pic>
      <p:sp>
        <p:nvSpPr>
          <p:cNvPr id="6" name="灯片编号占位符 5">
            <a:extLst>
              <a:ext uri="{FF2B5EF4-FFF2-40B4-BE49-F238E27FC236}">
                <a16:creationId xmlns:a16="http://schemas.microsoft.com/office/drawing/2014/main" xmlns="" id="{76A46078-EC92-A961-5F11-3C823CD4950D}"/>
              </a:ext>
            </a:extLst>
          </p:cNvPr>
          <p:cNvSpPr>
            <a:spLocks noGrp="1"/>
          </p:cNvSpPr>
          <p:nvPr>
            <p:ph type="sldNum" sz="quarter" idx="11"/>
          </p:nvPr>
        </p:nvSpPr>
        <p:spPr/>
        <p:txBody>
          <a:bodyPr/>
          <a:lstStyle/>
          <a:p>
            <a:pPr>
              <a:defRPr/>
            </a:pPr>
            <a:fld id="{6E91549D-98B7-4077-996F-05BE1B29F039}" type="slidenum">
              <a:rPr lang="zh-CN" altLang="en-US" smtClean="0"/>
              <a:t>25</a:t>
            </a:fld>
            <a:endParaRPr lang="zh-CN" altLang="en-US" dirty="0"/>
          </a:p>
        </p:txBody>
      </p:sp>
      <p:sp>
        <p:nvSpPr>
          <p:cNvPr id="7" name="矩形 9">
            <a:extLst>
              <a:ext uri="{FF2B5EF4-FFF2-40B4-BE49-F238E27FC236}">
                <a16:creationId xmlns:a16="http://schemas.microsoft.com/office/drawing/2014/main" xmlns="" id="{955AC92B-3C7B-089F-4CB3-F5C7BEB337EC}"/>
              </a:ext>
            </a:extLst>
          </p:cNvPr>
          <p:cNvSpPr/>
          <p:nvPr/>
        </p:nvSpPr>
        <p:spPr>
          <a:xfrm>
            <a:off x="2467293" y="6290510"/>
            <a:ext cx="8535987" cy="215444"/>
          </a:xfrm>
          <a:prstGeom prst="rect">
            <a:avLst/>
          </a:prstGeom>
        </p:spPr>
        <p:txBody>
          <a:bodyPr>
            <a:spAutoFit/>
          </a:bodyPr>
          <a:lstStyle/>
          <a:p>
            <a:pPr algn="r">
              <a:defRPr/>
            </a:pPr>
            <a:r>
              <a:rPr lang="zh-CN" altLang="en-US" sz="800" kern="100" dirty="0">
                <a:cs typeface="Times New Roman" panose="02020603050405020304" charset="0"/>
              </a:rPr>
              <a:t>以上内容仅供参考，不构成任何投资建议及承诺</a:t>
            </a:r>
            <a:endParaRPr lang="zh-CN" altLang="zh-CN" sz="800" kern="100" dirty="0">
              <a:cs typeface="Times New Roman" panose="02020603050405020304" charset="0"/>
            </a:endParaRPr>
          </a:p>
        </p:txBody>
      </p:sp>
    </p:spTree>
    <p:extLst>
      <p:ext uri="{BB962C8B-B14F-4D97-AF65-F5344CB8AC3E}">
        <p14:creationId xmlns:p14="http://schemas.microsoft.com/office/powerpoint/2010/main" val="32982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6416214" y="945140"/>
            <a:ext cx="3718141" cy="2076028"/>
          </a:xfrm>
          <a:prstGeom prst="rect">
            <a:avLst/>
          </a:prstGeom>
        </p:spPr>
      </p:pic>
      <p:sp>
        <p:nvSpPr>
          <p:cNvPr id="2" name="标题 1"/>
          <p:cNvSpPr>
            <a:spLocks noGrp="1"/>
          </p:cNvSpPr>
          <p:nvPr>
            <p:ph type="title"/>
          </p:nvPr>
        </p:nvSpPr>
        <p:spPr/>
        <p:txBody>
          <a:bodyPr>
            <a:noAutofit/>
          </a:bodyPr>
          <a:lstStyle/>
          <a:p>
            <a:r>
              <a:rPr lang="en-US" altLang="zh-CN" dirty="0">
                <a:solidFill>
                  <a:srgbClr val="EA5838"/>
                </a:solidFill>
              </a:rPr>
              <a:t>4</a:t>
            </a:r>
            <a:r>
              <a:rPr lang="zh-CN" altLang="en-US" dirty="0">
                <a:solidFill>
                  <a:srgbClr val="EA5838"/>
                </a:solidFill>
              </a:rPr>
              <a:t>、长期淬炼的超额能力</a:t>
            </a:r>
            <a:r>
              <a:rPr lang="zh-CN" altLang="en-US" dirty="0">
                <a:solidFill>
                  <a:srgbClr val="EA5737"/>
                </a:solidFill>
                <a:sym typeface="Calibri" panose="020F0502020204030204" pitchFamily="34" charset="0"/>
              </a:rPr>
              <a:t>：</a:t>
            </a:r>
            <a:r>
              <a:rPr lang="zh-CN" altLang="en-US" dirty="0">
                <a:sym typeface="Calibri" panose="020F0502020204030204" pitchFamily="34" charset="0"/>
              </a:rPr>
              <a:t>超额持续居行业前列</a:t>
            </a:r>
            <a:endParaRPr lang="zh-CN" altLang="en-US" dirty="0"/>
          </a:p>
        </p:txBody>
      </p:sp>
      <p:sp>
        <p:nvSpPr>
          <p:cNvPr id="3" name="副标题 2"/>
          <p:cNvSpPr>
            <a:spLocks noGrp="1"/>
          </p:cNvSpPr>
          <p:nvPr>
            <p:ph type="subTitle" idx="1"/>
          </p:nvPr>
        </p:nvSpPr>
        <p:spPr>
          <a:xfrm>
            <a:off x="569341" y="906083"/>
            <a:ext cx="5628259" cy="4680520"/>
          </a:xfrm>
        </p:spPr>
        <p:txBody>
          <a:bodyPr>
            <a:normAutofit/>
          </a:bodyPr>
          <a:lstStyle/>
          <a:p>
            <a:pPr algn="just">
              <a:defRPr/>
            </a:pPr>
            <a:r>
              <a:rPr lang="zh-CN" altLang="en-US" sz="1600" dirty="0"/>
              <a:t>博道量化团队</a:t>
            </a:r>
            <a:r>
              <a:rPr lang="en-US" altLang="zh-CN" sz="1600" dirty="0"/>
              <a:t>13</a:t>
            </a:r>
            <a:r>
              <a:rPr lang="zh-CN" altLang="en-US" sz="1600" dirty="0"/>
              <a:t>年精耕量化，</a:t>
            </a:r>
            <a:r>
              <a:rPr lang="en-US" altLang="zh-CN" sz="1600" b="1" dirty="0">
                <a:solidFill>
                  <a:srgbClr val="EA5838"/>
                </a:solidFill>
              </a:rPr>
              <a:t>5</a:t>
            </a:r>
            <a:r>
              <a:rPr lang="zh-CN" altLang="en-US" sz="1600" b="1" dirty="0">
                <a:solidFill>
                  <a:srgbClr val="EA5838"/>
                </a:solidFill>
              </a:rPr>
              <a:t>年私募</a:t>
            </a:r>
            <a:r>
              <a:rPr lang="en-US" altLang="zh-CN" sz="1600" b="1" dirty="0">
                <a:solidFill>
                  <a:srgbClr val="EA5838"/>
                </a:solidFill>
              </a:rPr>
              <a:t>+8</a:t>
            </a:r>
            <a:r>
              <a:rPr lang="zh-CN" altLang="en-US" sz="1600" b="1" dirty="0">
                <a:solidFill>
                  <a:srgbClr val="EA5838"/>
                </a:solidFill>
              </a:rPr>
              <a:t>年公募</a:t>
            </a:r>
            <a:r>
              <a:rPr lang="zh-CN" altLang="en-US" sz="1600" dirty="0"/>
              <a:t>实盘运作经验。基本面和量价因子并重，均配配权，并持续紧贴市场迭代升级，全力追求可持续超额。旗下“指数</a:t>
            </a:r>
            <a:r>
              <a:rPr lang="en-US" altLang="zh-CN" sz="1600" dirty="0"/>
              <a:t>+”</a:t>
            </a:r>
            <a:r>
              <a:rPr lang="zh-CN" altLang="en-US" sz="1600" dirty="0"/>
              <a:t>代表产品表现优异，产品业绩同类排名领先。</a:t>
            </a:r>
          </a:p>
        </p:txBody>
      </p:sp>
      <p:sp>
        <p:nvSpPr>
          <p:cNvPr id="7" name="矩形: 剪去单角 1"/>
          <p:cNvSpPr/>
          <p:nvPr/>
        </p:nvSpPr>
        <p:spPr>
          <a:xfrm>
            <a:off x="8123352" y="840587"/>
            <a:ext cx="2094971" cy="328074"/>
          </a:xfrm>
          <a:prstGeom prst="snip1Rect">
            <a:avLst/>
          </a:prstGeom>
          <a:solidFill>
            <a:schemeClr val="accent1">
              <a:lumMod val="5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a:rPr>
              <a:t>    博道量化总体超额</a:t>
            </a:r>
          </a:p>
        </p:txBody>
      </p:sp>
      <p:cxnSp>
        <p:nvCxnSpPr>
          <p:cNvPr id="8" name="直接箭头连接符 7"/>
          <p:cNvCxnSpPr/>
          <p:nvPr/>
        </p:nvCxnSpPr>
        <p:spPr>
          <a:xfrm flipV="1">
            <a:off x="9135799" y="1213870"/>
            <a:ext cx="0" cy="32791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剪去单角 9"/>
          <p:cNvSpPr/>
          <p:nvPr/>
        </p:nvSpPr>
        <p:spPr>
          <a:xfrm>
            <a:off x="8983521" y="2207932"/>
            <a:ext cx="2108197" cy="374650"/>
          </a:xfrm>
          <a:prstGeom prst="snip1Rect">
            <a:avLst/>
          </a:prstGeom>
          <a:solidFill>
            <a:srgbClr val="EA5838"/>
          </a:solidFill>
          <a:ln>
            <a:solidFill>
              <a:srgbClr val="EA583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a:rPr>
              <a:t>       行业平均超额</a:t>
            </a:r>
          </a:p>
        </p:txBody>
      </p:sp>
      <p:cxnSp>
        <p:nvCxnSpPr>
          <p:cNvPr id="10" name="直接箭头连接符 9"/>
          <p:cNvCxnSpPr/>
          <p:nvPr/>
        </p:nvCxnSpPr>
        <p:spPr>
          <a:xfrm>
            <a:off x="9606617" y="1929845"/>
            <a:ext cx="383208" cy="200922"/>
          </a:xfrm>
          <a:prstGeom prst="straightConnector1">
            <a:avLst/>
          </a:prstGeom>
          <a:ln w="38100">
            <a:solidFill>
              <a:srgbClr val="EA5838"/>
            </a:solidFill>
            <a:tailEnd type="triangle"/>
          </a:ln>
        </p:spPr>
        <p:style>
          <a:lnRef idx="1">
            <a:schemeClr val="accent1"/>
          </a:lnRef>
          <a:fillRef idx="0">
            <a:schemeClr val="accent1"/>
          </a:fillRef>
          <a:effectRef idx="0">
            <a:schemeClr val="accent1"/>
          </a:effectRef>
          <a:fontRef idx="minor">
            <a:schemeClr val="tx1"/>
          </a:fontRef>
        </p:style>
      </p:cxnSp>
      <p:sp>
        <p:nvSpPr>
          <p:cNvPr id="11" name="文本占位符 7"/>
          <p:cNvSpPr txBox="1"/>
          <p:nvPr/>
        </p:nvSpPr>
        <p:spPr bwMode="auto">
          <a:xfrm>
            <a:off x="1976837" y="6240284"/>
            <a:ext cx="8878754" cy="20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a:lnSpc>
                <a:spcPct val="90000"/>
              </a:lnSpc>
              <a:spcBef>
                <a:spcPts val="5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2pPr>
            <a:lvl3pPr>
              <a:lnSpc>
                <a:spcPct val="90000"/>
              </a:lnSpc>
              <a:spcBef>
                <a:spcPts val="5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数据来源：</a:t>
            </a: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Wind</a:t>
            </a:r>
            <a:r>
              <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，博道基金，数据截至</a:t>
            </a: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2026</a:t>
            </a:r>
            <a:r>
              <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年</a:t>
            </a: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5</a:t>
            </a:r>
            <a:r>
              <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月</a:t>
            </a:r>
            <a:r>
              <a:rPr lang="en-US" altLang="zh-CN" sz="800" dirty="0">
                <a:solidFill>
                  <a:srgbClr val="000000"/>
                </a:solidFill>
                <a:sym typeface="Helvetica Neue"/>
              </a:rPr>
              <a:t>31</a:t>
            </a:r>
            <a:r>
              <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日。风险提示：基金的过往业绩并不预示其未来表现，基金管理人管理的其他基金的业绩并不构成基金业绩表现的保证。</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endParaRPr>
          </a:p>
        </p:txBody>
      </p:sp>
      <p:graphicFrame>
        <p:nvGraphicFramePr>
          <p:cNvPr id="5" name="表格 4"/>
          <p:cNvGraphicFramePr>
            <a:graphicFrameLocks noGrp="1"/>
          </p:cNvGraphicFramePr>
          <p:nvPr/>
        </p:nvGraphicFramePr>
        <p:xfrm>
          <a:off x="570691" y="3151761"/>
          <a:ext cx="11089531" cy="3009628"/>
        </p:xfrm>
        <a:graphic>
          <a:graphicData uri="http://schemas.openxmlformats.org/drawingml/2006/table">
            <a:tbl>
              <a:tblPr/>
              <a:tblGrid>
                <a:gridCol w="1586567">
                  <a:extLst>
                    <a:ext uri="{9D8B030D-6E8A-4147-A177-3AD203B41FA5}">
                      <a16:colId xmlns:a16="http://schemas.microsoft.com/office/drawing/2014/main" xmlns="" val="20000"/>
                    </a:ext>
                  </a:extLst>
                </a:gridCol>
                <a:gridCol w="920702">
                  <a:extLst>
                    <a:ext uri="{9D8B030D-6E8A-4147-A177-3AD203B41FA5}">
                      <a16:colId xmlns:a16="http://schemas.microsoft.com/office/drawing/2014/main" xmlns="" val="20001"/>
                    </a:ext>
                  </a:extLst>
                </a:gridCol>
                <a:gridCol w="1040971">
                  <a:extLst>
                    <a:ext uri="{9D8B030D-6E8A-4147-A177-3AD203B41FA5}">
                      <a16:colId xmlns:a16="http://schemas.microsoft.com/office/drawing/2014/main" xmlns="" val="20002"/>
                    </a:ext>
                  </a:extLst>
                </a:gridCol>
                <a:gridCol w="1040971">
                  <a:extLst>
                    <a:ext uri="{9D8B030D-6E8A-4147-A177-3AD203B41FA5}">
                      <a16:colId xmlns:a16="http://schemas.microsoft.com/office/drawing/2014/main" xmlns="" val="20003"/>
                    </a:ext>
                  </a:extLst>
                </a:gridCol>
                <a:gridCol w="1040971">
                  <a:extLst>
                    <a:ext uri="{9D8B030D-6E8A-4147-A177-3AD203B41FA5}">
                      <a16:colId xmlns:a16="http://schemas.microsoft.com/office/drawing/2014/main" xmlns="" val="20004"/>
                    </a:ext>
                  </a:extLst>
                </a:gridCol>
                <a:gridCol w="1040971">
                  <a:extLst>
                    <a:ext uri="{9D8B030D-6E8A-4147-A177-3AD203B41FA5}">
                      <a16:colId xmlns:a16="http://schemas.microsoft.com/office/drawing/2014/main" xmlns="" val="20005"/>
                    </a:ext>
                  </a:extLst>
                </a:gridCol>
                <a:gridCol w="1532506">
                  <a:extLst>
                    <a:ext uri="{9D8B030D-6E8A-4147-A177-3AD203B41FA5}">
                      <a16:colId xmlns:a16="http://schemas.microsoft.com/office/drawing/2014/main" xmlns="" val="20006"/>
                    </a:ext>
                  </a:extLst>
                </a:gridCol>
                <a:gridCol w="2885872">
                  <a:extLst>
                    <a:ext uri="{9D8B030D-6E8A-4147-A177-3AD203B41FA5}">
                      <a16:colId xmlns:a16="http://schemas.microsoft.com/office/drawing/2014/main" xmlns="" val="20007"/>
                    </a:ext>
                  </a:extLst>
                </a:gridCol>
              </a:tblGrid>
              <a:tr h="140349">
                <a:tc>
                  <a:txBody>
                    <a:bodyPr/>
                    <a:lstStyle/>
                    <a:p>
                      <a:pPr algn="ctr" fontAlgn="ctr"/>
                      <a:r>
                        <a:rPr lang="zh-CN" altLang="en-US" sz="800" b="1" i="0" u="none" strike="noStrike">
                          <a:solidFill>
                            <a:srgbClr val="FFFFFF"/>
                          </a:solidFill>
                          <a:effectLst/>
                          <a:latin typeface="微软雅黑" panose="020B0503020204020204" pitchFamily="34" charset="-122"/>
                          <a:ea typeface="微软雅黑" panose="020B0503020204020204" pitchFamily="34" charset="-122"/>
                        </a:rPr>
                        <a:t>　</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solidFill>
                      <a:srgbClr val="2F75B5"/>
                    </a:solidFill>
                  </a:tcPr>
                </a:tc>
                <a:tc>
                  <a:txBody>
                    <a:bodyPr/>
                    <a:lstStyle/>
                    <a:p>
                      <a:pPr algn="ctr" fontAlgn="ctr"/>
                      <a:r>
                        <a:rPr lang="zh-CN" altLang="en-US" sz="800" b="1" i="0" u="none" strike="noStrike">
                          <a:solidFill>
                            <a:srgbClr val="FFFFFF"/>
                          </a:solidFill>
                          <a:effectLst/>
                          <a:latin typeface="微软雅黑" panose="020B0503020204020204" pitchFamily="34" charset="-122"/>
                          <a:ea typeface="微软雅黑" panose="020B0503020204020204" pitchFamily="34" charset="-122"/>
                        </a:rPr>
                        <a:t>成立日期</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solidFill>
                      <a:srgbClr val="2F75B5"/>
                    </a:solidFill>
                  </a:tcPr>
                </a:tc>
                <a:tc>
                  <a:txBody>
                    <a:bodyPr/>
                    <a:lstStyle/>
                    <a:p>
                      <a:pPr algn="ctr" fontAlgn="ctr"/>
                      <a:r>
                        <a:rPr lang="zh-CN" altLang="en-US" sz="800" b="1" i="0" u="none" strike="noStrike" dirty="0">
                          <a:solidFill>
                            <a:srgbClr val="FFFFFF"/>
                          </a:solidFill>
                          <a:effectLst/>
                          <a:latin typeface="微软雅黑" panose="020B0503020204020204" pitchFamily="34" charset="-122"/>
                          <a:ea typeface="微软雅黑" panose="020B0503020204020204" pitchFamily="34" charset="-122"/>
                        </a:rPr>
                        <a:t>今年以来</a:t>
                      </a:r>
                      <a:r>
                        <a:rPr lang="zh-CN" altLang="en-US" sz="500" b="1" i="0" u="none" strike="noStrike" dirty="0">
                          <a:solidFill>
                            <a:srgbClr val="FFFFFF"/>
                          </a:solidFill>
                          <a:effectLst/>
                          <a:latin typeface="微软雅黑" panose="020B0503020204020204" pitchFamily="34" charset="-122"/>
                          <a:ea typeface="微软雅黑" panose="020B0503020204020204" pitchFamily="34" charset="-122"/>
                        </a:rPr>
                        <a:t>（年初不满三个月的产品不纳入统计）</a:t>
                      </a:r>
                      <a:endParaRPr lang="zh-CN" altLang="en-US" sz="8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solidFill>
                      <a:srgbClr val="2F75B5"/>
                    </a:solidFill>
                  </a:tcPr>
                </a:tc>
                <a:tc>
                  <a:txBody>
                    <a:bodyPr/>
                    <a:lstStyle/>
                    <a:p>
                      <a:pPr algn="ctr" fontAlgn="ctr"/>
                      <a:r>
                        <a:rPr lang="zh-CN" altLang="en-US" sz="800" b="1" i="0" u="none" strike="noStrike">
                          <a:solidFill>
                            <a:srgbClr val="FFFFFF"/>
                          </a:solidFill>
                          <a:effectLst/>
                          <a:latin typeface="微软雅黑" panose="020B0503020204020204" pitchFamily="34" charset="-122"/>
                          <a:ea typeface="微软雅黑" panose="020B0503020204020204" pitchFamily="34" charset="-122"/>
                        </a:rPr>
                        <a:t>最近</a:t>
                      </a:r>
                      <a:r>
                        <a:rPr lang="en-US" altLang="zh-CN" sz="800" b="1" i="0" u="none" strike="noStrike">
                          <a:solidFill>
                            <a:srgbClr val="FFFFFF"/>
                          </a:solidFill>
                          <a:effectLst/>
                          <a:latin typeface="微软雅黑" panose="020B0503020204020204" pitchFamily="34" charset="-122"/>
                          <a:ea typeface="微软雅黑" panose="020B0503020204020204" pitchFamily="34" charset="-122"/>
                        </a:rPr>
                        <a:t>1</a:t>
                      </a:r>
                      <a:r>
                        <a:rPr lang="zh-CN" altLang="en-US" sz="800" b="1" i="0" u="none" strike="noStrike">
                          <a:solidFill>
                            <a:srgbClr val="FFFFFF"/>
                          </a:solidFill>
                          <a:effectLst/>
                          <a:latin typeface="微软雅黑" panose="020B0503020204020204" pitchFamily="34" charset="-122"/>
                          <a:ea typeface="微软雅黑" panose="020B0503020204020204" pitchFamily="34" charset="-122"/>
                        </a:rPr>
                        <a:t>年</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solidFill>
                      <a:srgbClr val="2F75B5"/>
                    </a:solidFill>
                  </a:tcPr>
                </a:tc>
                <a:tc>
                  <a:txBody>
                    <a:bodyPr/>
                    <a:lstStyle/>
                    <a:p>
                      <a:pPr algn="ctr" fontAlgn="ctr"/>
                      <a:r>
                        <a:rPr lang="zh-CN" altLang="en-US" sz="800" b="1" i="0" u="none" strike="noStrike">
                          <a:solidFill>
                            <a:srgbClr val="FFFFFF"/>
                          </a:solidFill>
                          <a:effectLst/>
                          <a:latin typeface="微软雅黑" panose="020B0503020204020204" pitchFamily="34" charset="-122"/>
                          <a:ea typeface="微软雅黑" panose="020B0503020204020204" pitchFamily="34" charset="-122"/>
                        </a:rPr>
                        <a:t>最近</a:t>
                      </a:r>
                      <a:r>
                        <a:rPr lang="en-US" altLang="zh-CN" sz="800" b="1" i="0" u="none" strike="noStrike">
                          <a:solidFill>
                            <a:srgbClr val="FFFFFF"/>
                          </a:solidFill>
                          <a:effectLst/>
                          <a:latin typeface="微软雅黑" panose="020B0503020204020204" pitchFamily="34" charset="-122"/>
                          <a:ea typeface="微软雅黑" panose="020B0503020204020204" pitchFamily="34" charset="-122"/>
                        </a:rPr>
                        <a:t>2</a:t>
                      </a:r>
                      <a:r>
                        <a:rPr lang="zh-CN" altLang="en-US" sz="800" b="1" i="0" u="none" strike="noStrike">
                          <a:solidFill>
                            <a:srgbClr val="FFFFFF"/>
                          </a:solidFill>
                          <a:effectLst/>
                          <a:latin typeface="微软雅黑" panose="020B0503020204020204" pitchFamily="34" charset="-122"/>
                          <a:ea typeface="微软雅黑" panose="020B0503020204020204" pitchFamily="34" charset="-122"/>
                        </a:rPr>
                        <a:t>年</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solidFill>
                      <a:srgbClr val="2F75B5"/>
                    </a:solidFill>
                  </a:tcPr>
                </a:tc>
                <a:tc>
                  <a:txBody>
                    <a:bodyPr/>
                    <a:lstStyle/>
                    <a:p>
                      <a:pPr algn="ctr" fontAlgn="ctr"/>
                      <a:r>
                        <a:rPr lang="zh-CN" altLang="en-US" sz="800" b="1" i="0" u="none" strike="noStrike">
                          <a:solidFill>
                            <a:srgbClr val="FFFFFF"/>
                          </a:solidFill>
                          <a:effectLst/>
                          <a:latin typeface="微软雅黑" panose="020B0503020204020204" pitchFamily="34" charset="-122"/>
                          <a:ea typeface="微软雅黑" panose="020B0503020204020204" pitchFamily="34" charset="-122"/>
                        </a:rPr>
                        <a:t>最近</a:t>
                      </a:r>
                      <a:r>
                        <a:rPr lang="en-US" altLang="zh-CN" sz="800" b="1" i="0" u="none" strike="noStrike">
                          <a:solidFill>
                            <a:srgbClr val="FFFFFF"/>
                          </a:solidFill>
                          <a:effectLst/>
                          <a:latin typeface="微软雅黑" panose="020B0503020204020204" pitchFamily="34" charset="-122"/>
                          <a:ea typeface="微软雅黑" panose="020B0503020204020204" pitchFamily="34" charset="-122"/>
                        </a:rPr>
                        <a:t>3</a:t>
                      </a:r>
                      <a:r>
                        <a:rPr lang="zh-CN" altLang="en-US" sz="800" b="1" i="0" u="none" strike="noStrike">
                          <a:solidFill>
                            <a:srgbClr val="FFFFFF"/>
                          </a:solidFill>
                          <a:effectLst/>
                          <a:latin typeface="微软雅黑" panose="020B0503020204020204" pitchFamily="34" charset="-122"/>
                          <a:ea typeface="微软雅黑" panose="020B0503020204020204" pitchFamily="34" charset="-122"/>
                        </a:rPr>
                        <a:t>年</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solidFill>
                      <a:srgbClr val="2F75B5"/>
                    </a:solidFill>
                  </a:tcPr>
                </a:tc>
                <a:tc>
                  <a:txBody>
                    <a:bodyPr/>
                    <a:lstStyle/>
                    <a:p>
                      <a:pPr algn="ctr" fontAlgn="ctr"/>
                      <a:r>
                        <a:rPr lang="zh-CN" altLang="en-US" sz="800" b="1" i="0" u="none" strike="noStrike">
                          <a:solidFill>
                            <a:srgbClr val="FFFFFF"/>
                          </a:solidFill>
                          <a:effectLst/>
                          <a:latin typeface="微软雅黑" panose="020B0503020204020204" pitchFamily="34" charset="-122"/>
                          <a:ea typeface="微软雅黑" panose="020B0503020204020204" pitchFamily="34" charset="-122"/>
                        </a:rPr>
                        <a:t>成立满</a:t>
                      </a:r>
                      <a:r>
                        <a:rPr lang="en-US" altLang="zh-CN" sz="800" b="1" i="0" u="none" strike="noStrike">
                          <a:solidFill>
                            <a:srgbClr val="FFFFFF"/>
                          </a:solidFill>
                          <a:effectLst/>
                          <a:latin typeface="微软雅黑" panose="020B0503020204020204" pitchFamily="34" charset="-122"/>
                          <a:ea typeface="微软雅黑" panose="020B0503020204020204" pitchFamily="34" charset="-122"/>
                        </a:rPr>
                        <a:t>3</a:t>
                      </a:r>
                      <a:r>
                        <a:rPr lang="zh-CN" altLang="en-US" sz="800" b="1" i="0" u="none" strike="noStrike">
                          <a:solidFill>
                            <a:srgbClr val="FFFFFF"/>
                          </a:solidFill>
                          <a:effectLst/>
                          <a:latin typeface="微软雅黑" panose="020B0503020204020204" pitchFamily="34" charset="-122"/>
                          <a:ea typeface="微软雅黑" panose="020B0503020204020204" pitchFamily="34" charset="-122"/>
                        </a:rPr>
                        <a:t>个月以来</a:t>
                      </a:r>
                      <a:r>
                        <a:rPr lang="zh-CN" altLang="en-US" sz="500" b="1" i="0" u="none" strike="noStrike">
                          <a:solidFill>
                            <a:srgbClr val="FFFFFF"/>
                          </a:solidFill>
                          <a:effectLst/>
                          <a:latin typeface="微软雅黑" panose="020B0503020204020204" pitchFamily="34" charset="-122"/>
                          <a:ea typeface="微软雅黑" panose="020B0503020204020204" pitchFamily="34" charset="-122"/>
                        </a:rPr>
                        <a:t>（不满一年不纳入统计）</a:t>
                      </a:r>
                      <a:endParaRPr lang="zh-CN" altLang="en-US" sz="800" b="1" i="0" u="none" strike="noStrike">
                        <a:solidFill>
                          <a:srgbClr val="FFFFFF"/>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solidFill>
                      <a:srgbClr val="2F75B5"/>
                    </a:solidFill>
                  </a:tcPr>
                </a:tc>
                <a:tc>
                  <a:txBody>
                    <a:bodyPr/>
                    <a:lstStyle/>
                    <a:p>
                      <a:pPr algn="ctr" fontAlgn="ctr"/>
                      <a:r>
                        <a:rPr lang="zh-CN" altLang="en-US" sz="800" b="1" i="0" u="none" strike="noStrike" dirty="0">
                          <a:solidFill>
                            <a:srgbClr val="FFFFFF"/>
                          </a:solidFill>
                          <a:effectLst/>
                          <a:latin typeface="微软雅黑" panose="020B0503020204020204" pitchFamily="34" charset="-122"/>
                          <a:ea typeface="微软雅黑" panose="020B0503020204020204" pitchFamily="34" charset="-122"/>
                        </a:rPr>
                        <a:t>同类范围</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solidFill>
                      <a:srgbClr val="2F75B5"/>
                    </a:solidFill>
                  </a:tcPr>
                </a:tc>
                <a:extLst>
                  <a:ext uri="{0D108BD9-81ED-4DB2-BD59-A6C34878D82A}">
                    <a16:rowId xmlns:a16="http://schemas.microsoft.com/office/drawing/2014/main" xmlns="" val="10000"/>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博道中证</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500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指数增强</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2019/1/4</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23/69</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20/62</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7/56</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6/53</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1/21</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中证</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500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指数增强</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0001"/>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博道沪深</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指数增强</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2019/4/26</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27/68</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23/60</a:t>
                      </a:r>
                    </a:p>
                  </a:txBody>
                  <a:tcPr marL="4528" marR="4528" marT="4528"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8/54</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4/51</a:t>
                      </a:r>
                    </a:p>
                  </a:txBody>
                  <a:tcPr marL="4528" marR="4528" marT="4528"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6/32</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沪深</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指数增强</a:t>
                      </a:r>
                    </a:p>
                  </a:txBody>
                  <a:tcPr marL="4528" marR="4528" marT="4528" marB="0" anchor="ctr">
                    <a:lnL>
                      <a:noFill/>
                    </a:lnL>
                    <a:lnR>
                      <a:noFill/>
                    </a:lnR>
                    <a:lnT>
                      <a:noFill/>
                    </a:lnT>
                    <a:lnB>
                      <a:noFill/>
                    </a:lnB>
                  </a:tcPr>
                </a:tc>
                <a:extLst>
                  <a:ext uri="{0D108BD9-81ED-4DB2-BD59-A6C34878D82A}">
                    <a16:rowId xmlns:a16="http://schemas.microsoft.com/office/drawing/2014/main" xmlns="" val="10002"/>
                  </a:ext>
                </a:extLst>
              </a:tr>
              <a:tr h="140349">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博道叁佰智航</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A</a:t>
                      </a:r>
                    </a:p>
                  </a:txBody>
                  <a:tcPr marL="4528" marR="4528" marT="4528"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2019/6/5</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22/95</a:t>
                      </a:r>
                    </a:p>
                  </a:txBody>
                  <a:tcPr marL="4528" marR="4528" marT="4528"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27/84</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10/69</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7/65</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3/42</a:t>
                      </a:r>
                    </a:p>
                  </a:txBody>
                  <a:tcPr marL="4528" marR="4528" marT="4528" marB="0" anchor="ctr">
                    <a:lnL>
                      <a:noFill/>
                    </a:lnL>
                    <a:lnR>
                      <a:noFill/>
                    </a:lnR>
                    <a:lnT>
                      <a:noFill/>
                    </a:lnT>
                    <a:lnB>
                      <a:noFill/>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沪深</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300</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指数增强</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主动量化中基准为</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90%</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以及</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95%*</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沪深</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300</a:t>
                      </a:r>
                    </a:p>
                  </a:txBody>
                  <a:tcPr marL="4528" marR="4528" marT="4528" marB="0" anchor="ctr">
                    <a:lnL>
                      <a:noFill/>
                    </a:lnL>
                    <a:lnR>
                      <a:noFill/>
                    </a:lnR>
                    <a:lnT>
                      <a:noFill/>
                    </a:lnT>
                    <a:lnB>
                      <a:noFill/>
                    </a:lnB>
                  </a:tcPr>
                </a:tc>
                <a:extLst>
                  <a:ext uri="{0D108BD9-81ED-4DB2-BD59-A6C34878D82A}">
                    <a16:rowId xmlns:a16="http://schemas.microsoft.com/office/drawing/2014/main" xmlns="" val="10003"/>
                  </a:ext>
                </a:extLst>
              </a:tr>
              <a:tr h="140349">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博道伍佰智航</a:t>
                      </a:r>
                      <a:r>
                        <a:rPr lang="en-US" sz="800" b="0" i="0" u="none" strike="noStrike" dirty="0">
                          <a:solidFill>
                            <a:srgbClr val="000000"/>
                          </a:solidFill>
                          <a:effectLst/>
                          <a:latin typeface="微软雅黑" panose="020B0503020204020204" pitchFamily="34" charset="-122"/>
                          <a:ea typeface="微软雅黑" panose="020B0503020204020204" pitchFamily="34" charset="-122"/>
                        </a:rPr>
                        <a:t>A</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2019/9/26</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37/102</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39/91</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2/77</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1/73</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4/35</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中证</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500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指数增强</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主动量化中基准为</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90%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以及</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95%*</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中证</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500</a:t>
                      </a:r>
                    </a:p>
                  </a:txBody>
                  <a:tcPr marL="4528" marR="4528" marT="4528" marB="0" anchor="ctr">
                    <a:lnL>
                      <a:noFill/>
                    </a:lnL>
                    <a:lnR>
                      <a:noFill/>
                    </a:lnR>
                    <a:lnT>
                      <a:noFill/>
                    </a:lnT>
                    <a:lnB>
                      <a:noFill/>
                    </a:lnB>
                  </a:tcPr>
                </a:tc>
                <a:extLst>
                  <a:ext uri="{0D108BD9-81ED-4DB2-BD59-A6C34878D82A}">
                    <a16:rowId xmlns:a16="http://schemas.microsoft.com/office/drawing/2014/main" xmlns="" val="10004"/>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博道中证</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1000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指数增强</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2023/9/4</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16/39</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9/38</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4/37</a:t>
                      </a: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2/32</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中证</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1000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指数增强</a:t>
                      </a:r>
                    </a:p>
                  </a:txBody>
                  <a:tcPr marL="4528" marR="4528" marT="4528" marB="0" anchor="ctr">
                    <a:lnL>
                      <a:noFill/>
                    </a:lnL>
                    <a:lnR>
                      <a:noFill/>
                    </a:lnR>
                    <a:lnT>
                      <a:noFill/>
                    </a:lnT>
                    <a:lnB>
                      <a:noFill/>
                    </a:lnB>
                  </a:tcPr>
                </a:tc>
                <a:extLst>
                  <a:ext uri="{0D108BD9-81ED-4DB2-BD59-A6C34878D82A}">
                    <a16:rowId xmlns:a16="http://schemas.microsoft.com/office/drawing/2014/main" xmlns="" val="10005"/>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博道沪深</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量化增强</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2025/1/21</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26/68</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15/60</a:t>
                      </a:r>
                    </a:p>
                  </a:txBody>
                  <a:tcPr marL="4528" marR="4528" marT="4528" marB="0" anchor="ctr">
                    <a:lnL>
                      <a:noFill/>
                    </a:lnL>
                    <a:lnR>
                      <a:noFill/>
                    </a:lnR>
                    <a:lnT>
                      <a:noFill/>
                    </a:lnT>
                    <a:lnB>
                      <a:noFill/>
                    </a:lnB>
                  </a:tcPr>
                </a:tc>
                <a:tc>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13/59</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沪深</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指数增强</a:t>
                      </a:r>
                    </a:p>
                  </a:txBody>
                  <a:tcPr marL="4528" marR="4528" marT="4528" marB="0" anchor="ctr">
                    <a:lnL>
                      <a:noFill/>
                    </a:lnL>
                    <a:lnR>
                      <a:noFill/>
                    </a:lnR>
                    <a:lnT>
                      <a:noFill/>
                    </a:lnT>
                    <a:lnB>
                      <a:noFill/>
                    </a:lnB>
                  </a:tcPr>
                </a:tc>
                <a:extLst>
                  <a:ext uri="{0D108BD9-81ED-4DB2-BD59-A6C34878D82A}">
                    <a16:rowId xmlns:a16="http://schemas.microsoft.com/office/drawing/2014/main" xmlns="" val="10006"/>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博道中证</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A500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增强</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2025/1/23</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24/62</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3/14</a:t>
                      </a: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3/13</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中证</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A500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指数增强</a:t>
                      </a:r>
                    </a:p>
                  </a:txBody>
                  <a:tcPr marL="4528" marR="4528" marT="4528" marB="0" anchor="ctr">
                    <a:lnL>
                      <a:noFill/>
                    </a:lnL>
                    <a:lnR>
                      <a:noFill/>
                    </a:lnR>
                    <a:lnT>
                      <a:noFill/>
                    </a:lnT>
                    <a:lnB>
                      <a:noFill/>
                    </a:lnB>
                  </a:tcPr>
                </a:tc>
                <a:extLst>
                  <a:ext uri="{0D108BD9-81ED-4DB2-BD59-A6C34878D82A}">
                    <a16:rowId xmlns:a16="http://schemas.microsoft.com/office/drawing/2014/main" xmlns="" val="10007"/>
                  </a:ext>
                </a:extLst>
              </a:tr>
              <a:tr h="140349">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博道中证</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800</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指数增强</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A</a:t>
                      </a:r>
                    </a:p>
                  </a:txBody>
                  <a:tcPr marL="4528" marR="4528" marT="4528"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2025/3/18</a:t>
                      </a:r>
                    </a:p>
                  </a:txBody>
                  <a:tcPr marL="4528" marR="4528" marT="4528"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1/11</a:t>
                      </a:r>
                    </a:p>
                  </a:txBody>
                  <a:tcPr marL="4528" marR="4528" marT="4528" marB="0" anchor="ctr">
                    <a:lnL>
                      <a:noFill/>
                    </a:lnL>
                    <a:lnR>
                      <a:noFill/>
                    </a:lnR>
                    <a:lnT>
                      <a:noFill/>
                    </a:lnT>
                    <a:lnB>
                      <a:noFill/>
                    </a:lnB>
                  </a:tcPr>
                </a:tc>
                <a:tc>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2/6</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中证</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800</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指数增强</a:t>
                      </a:r>
                    </a:p>
                  </a:txBody>
                  <a:tcPr marL="4528" marR="4528" marT="4528" marB="0" anchor="ctr">
                    <a:lnL>
                      <a:noFill/>
                    </a:lnL>
                    <a:lnR>
                      <a:noFill/>
                    </a:lnR>
                    <a:lnT>
                      <a:noFill/>
                    </a:lnT>
                    <a:lnB>
                      <a:noFill/>
                    </a:lnB>
                  </a:tcPr>
                </a:tc>
                <a:extLst>
                  <a:ext uri="{0D108BD9-81ED-4DB2-BD59-A6C34878D82A}">
                    <a16:rowId xmlns:a16="http://schemas.microsoft.com/office/drawing/2014/main" xmlns="" val="10008"/>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博道上证科创综指增强</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2025/4/29</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4/21</a:t>
                      </a: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2/4</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科创综指增强</a:t>
                      </a:r>
                    </a:p>
                  </a:txBody>
                  <a:tcPr marL="4528" marR="4528" marT="4528" marB="0" anchor="ctr">
                    <a:lnL>
                      <a:noFill/>
                    </a:lnL>
                    <a:lnR>
                      <a:noFill/>
                    </a:lnR>
                    <a:lnT>
                      <a:noFill/>
                    </a:lnT>
                    <a:lnB>
                      <a:noFill/>
                    </a:lnB>
                  </a:tcPr>
                </a:tc>
                <a:extLst>
                  <a:ext uri="{0D108BD9-81ED-4DB2-BD59-A6C34878D82A}">
                    <a16:rowId xmlns:a16="http://schemas.microsoft.com/office/drawing/2014/main" xmlns="" val="10009"/>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博道中证全指增强</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2025/9/9</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2/14</a:t>
                      </a: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1/11</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中证全指指数增强</a:t>
                      </a:r>
                    </a:p>
                  </a:txBody>
                  <a:tcPr marL="4528" marR="4528" marT="4528" marB="0" anchor="ctr">
                    <a:lnL>
                      <a:noFill/>
                    </a:lnL>
                    <a:lnR>
                      <a:noFill/>
                    </a:lnR>
                    <a:lnT>
                      <a:noFill/>
                    </a:lnT>
                    <a:lnB>
                      <a:noFill/>
                    </a:lnB>
                  </a:tcPr>
                </a:tc>
                <a:extLst>
                  <a:ext uri="{0D108BD9-81ED-4DB2-BD59-A6C34878D82A}">
                    <a16:rowId xmlns:a16="http://schemas.microsoft.com/office/drawing/2014/main" xmlns="" val="10010"/>
                  </a:ext>
                </a:extLst>
              </a:tr>
              <a:tr h="140349">
                <a:tc>
                  <a:txBody>
                    <a:bodyPr/>
                    <a:lstStyle/>
                    <a:p>
                      <a:pPr algn="ctr" fontAlgn="ctr"/>
                      <a:r>
                        <a:rPr lang="zh-CN" altLang="en-US" sz="800" b="1" i="0" u="none" strike="noStrike">
                          <a:solidFill>
                            <a:srgbClr val="000000"/>
                          </a:solidFill>
                          <a:effectLst/>
                          <a:latin typeface="微软雅黑" panose="020B0503020204020204" pitchFamily="34" charset="-122"/>
                          <a:ea typeface="微软雅黑" panose="020B0503020204020204" pitchFamily="34" charset="-122"/>
                        </a:rPr>
                        <a:t>指数增强平均排名</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　</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a:solidFill>
                            <a:srgbClr val="000000"/>
                          </a:solidFill>
                          <a:effectLst/>
                          <a:latin typeface="微软雅黑" panose="020B0503020204020204" pitchFamily="34" charset="-122"/>
                          <a:ea typeface="微软雅黑" panose="020B0503020204020204" pitchFamily="34" charset="-122"/>
                        </a:rPr>
                        <a:t>29.29%</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a:solidFill>
                            <a:srgbClr val="000000"/>
                          </a:solidFill>
                          <a:effectLst/>
                          <a:latin typeface="微软雅黑" panose="020B0503020204020204" pitchFamily="34" charset="-122"/>
                          <a:ea typeface="微软雅黑" panose="020B0503020204020204" pitchFamily="34" charset="-122"/>
                        </a:rPr>
                        <a:t>30.81%</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a:solidFill>
                            <a:srgbClr val="000000"/>
                          </a:solidFill>
                          <a:effectLst/>
                          <a:latin typeface="微软雅黑" panose="020B0503020204020204" pitchFamily="34" charset="-122"/>
                          <a:ea typeface="微软雅黑" panose="020B0503020204020204" pitchFamily="34" charset="-122"/>
                        </a:rPr>
                        <a:t>11.04%</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a:solidFill>
                            <a:srgbClr val="000000"/>
                          </a:solidFill>
                          <a:effectLst/>
                          <a:latin typeface="微软雅黑" panose="020B0503020204020204" pitchFamily="34" charset="-122"/>
                          <a:ea typeface="微软雅黑" panose="020B0503020204020204" pitchFamily="34" charset="-122"/>
                        </a:rPr>
                        <a:t>7.83%</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a:solidFill>
                            <a:srgbClr val="000000"/>
                          </a:solidFill>
                          <a:effectLst/>
                          <a:latin typeface="微软雅黑" panose="020B0503020204020204" pitchFamily="34" charset="-122"/>
                          <a:ea typeface="微软雅黑" panose="020B0503020204020204" pitchFamily="34" charset="-122"/>
                        </a:rPr>
                        <a:t>13.35%</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　</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1"/>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博道启航</a:t>
                      </a:r>
                      <a:r>
                        <a:rPr lang="en-US" sz="800" b="0" i="0" u="none" strike="noStrike">
                          <a:solidFill>
                            <a:srgbClr val="000000"/>
                          </a:solidFill>
                          <a:effectLst/>
                          <a:latin typeface="微软雅黑" panose="020B0503020204020204" pitchFamily="34" charset="-122"/>
                          <a:ea typeface="微软雅黑" panose="020B0503020204020204" pitchFamily="34" charset="-122"/>
                        </a:rPr>
                        <a:t>A</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2018/8/10</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99/286</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108/263</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70/216</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37/193</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29/112</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主动量化</a:t>
                      </a:r>
                    </a:p>
                  </a:txBody>
                  <a:tcPr marL="4528" marR="4528" marT="4528"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0012"/>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博道远航</a:t>
                      </a:r>
                      <a:r>
                        <a:rPr lang="en-US" sz="800" b="0" i="0" u="none" strike="noStrike">
                          <a:solidFill>
                            <a:srgbClr val="000000"/>
                          </a:solidFill>
                          <a:effectLst/>
                          <a:latin typeface="微软雅黑" panose="020B0503020204020204" pitchFamily="34" charset="-122"/>
                          <a:ea typeface="微软雅黑" panose="020B0503020204020204" pitchFamily="34" charset="-122"/>
                        </a:rPr>
                        <a:t>A</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2021/5/31</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1312/3224</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1364/3016</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1092/2772</a:t>
                      </a:r>
                    </a:p>
                  </a:txBody>
                  <a:tcPr marL="4528" marR="4528" marT="4528"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683/2471</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393/1557</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普通股票型</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偏股混合型</a:t>
                      </a:r>
                    </a:p>
                  </a:txBody>
                  <a:tcPr marL="4528" marR="4528" marT="4528" marB="0" anchor="ctr">
                    <a:lnL>
                      <a:noFill/>
                    </a:lnL>
                    <a:lnR>
                      <a:noFill/>
                    </a:lnR>
                    <a:lnT>
                      <a:noFill/>
                    </a:lnT>
                    <a:lnB>
                      <a:noFill/>
                    </a:lnB>
                  </a:tcPr>
                </a:tc>
                <a:extLst>
                  <a:ext uri="{0D108BD9-81ED-4DB2-BD59-A6C34878D82A}">
                    <a16:rowId xmlns:a16="http://schemas.microsoft.com/office/drawing/2014/main" xmlns="" val="10013"/>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博道消费智航</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2021/5/7</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2448/3224</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2404/3016</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2067/2772</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1813/2471</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922/1674</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普通股票型</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偏股混合型</a:t>
                      </a:r>
                    </a:p>
                  </a:txBody>
                  <a:tcPr marL="4528" marR="4528" marT="4528" marB="0" anchor="ctr">
                    <a:lnL>
                      <a:noFill/>
                    </a:lnL>
                    <a:lnR>
                      <a:noFill/>
                    </a:lnR>
                    <a:lnT>
                      <a:noFill/>
                    </a:lnT>
                    <a:lnB>
                      <a:noFill/>
                    </a:lnB>
                  </a:tcPr>
                </a:tc>
                <a:extLst>
                  <a:ext uri="{0D108BD9-81ED-4DB2-BD59-A6C34878D82A}">
                    <a16:rowId xmlns:a16="http://schemas.microsoft.com/office/drawing/2014/main" xmlns="" val="10014"/>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博道成长智航</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2021/10/26</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843/3224</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800/3016</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388/2772</a:t>
                      </a:r>
                    </a:p>
                  </a:txBody>
                  <a:tcPr marL="4528" marR="4528" marT="4528"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255/2471</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112/1932</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普通股票型</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偏股混合型</a:t>
                      </a:r>
                    </a:p>
                  </a:txBody>
                  <a:tcPr marL="4528" marR="4528" marT="4528" marB="0" anchor="ctr">
                    <a:lnL>
                      <a:noFill/>
                    </a:lnL>
                    <a:lnR>
                      <a:noFill/>
                    </a:lnR>
                    <a:lnT>
                      <a:noFill/>
                    </a:lnT>
                    <a:lnB>
                      <a:noFill/>
                    </a:lnB>
                  </a:tcPr>
                </a:tc>
                <a:extLst>
                  <a:ext uri="{0D108BD9-81ED-4DB2-BD59-A6C34878D82A}">
                    <a16:rowId xmlns:a16="http://schemas.microsoft.com/office/drawing/2014/main" xmlns="" val="10015"/>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博道久航</a:t>
                      </a:r>
                      <a:r>
                        <a:rPr lang="en-US" sz="800" b="0" i="0" u="none" strike="noStrike">
                          <a:solidFill>
                            <a:srgbClr val="000000"/>
                          </a:solidFill>
                          <a:effectLst/>
                          <a:latin typeface="微软雅黑" panose="020B0503020204020204" pitchFamily="34" charset="-122"/>
                          <a:ea typeface="微软雅黑" panose="020B0503020204020204" pitchFamily="34" charset="-122"/>
                        </a:rPr>
                        <a:t>A</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2023/7/1</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1231/3224</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1234/3016</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807/2772</a:t>
                      </a:r>
                    </a:p>
                  </a:txBody>
                  <a:tcPr marL="4528" marR="4528" marT="4528" marB="0" anchor="ctr">
                    <a:lnL>
                      <a:noFill/>
                    </a:lnL>
                    <a:lnR>
                      <a:noFill/>
                    </a:lnR>
                    <a:lnT>
                      <a:noFill/>
                    </a:lnT>
                    <a:lnB>
                      <a:noFill/>
                    </a:lnB>
                  </a:tcPr>
                </a:tc>
                <a:tc>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413/2502</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普通股票型</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偏股混合型</a:t>
                      </a:r>
                    </a:p>
                  </a:txBody>
                  <a:tcPr marL="4528" marR="4528" marT="4528" marB="0" anchor="ctr">
                    <a:lnL>
                      <a:noFill/>
                    </a:lnL>
                    <a:lnR>
                      <a:noFill/>
                    </a:lnR>
                    <a:lnT>
                      <a:noFill/>
                    </a:lnT>
                    <a:lnB>
                      <a:noFill/>
                    </a:lnB>
                  </a:tcPr>
                </a:tc>
                <a:extLst>
                  <a:ext uri="{0D108BD9-81ED-4DB2-BD59-A6C34878D82A}">
                    <a16:rowId xmlns:a16="http://schemas.microsoft.com/office/drawing/2014/main" xmlns="" val="10016"/>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博道红利智航</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2023/10/31</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6/33</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10/33</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10/33</a:t>
                      </a:r>
                    </a:p>
                  </a:txBody>
                  <a:tcPr marL="4528" marR="4528" marT="4528" marB="0" anchor="ctr">
                    <a:lnL>
                      <a:noFill/>
                    </a:lnL>
                    <a:lnR>
                      <a:noFill/>
                    </a:lnR>
                    <a:lnT>
                      <a:noFill/>
                    </a:lnT>
                    <a:lnB>
                      <a:noFill/>
                    </a:lnB>
                  </a:tcPr>
                </a:tc>
                <a:tc>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13/33</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红利增强类产品</a:t>
                      </a:r>
                    </a:p>
                  </a:txBody>
                  <a:tcPr marL="4528" marR="4528" marT="4528" marB="0" anchor="ctr">
                    <a:lnL>
                      <a:noFill/>
                    </a:lnL>
                    <a:lnR>
                      <a:noFill/>
                    </a:lnR>
                    <a:lnT>
                      <a:noFill/>
                    </a:lnT>
                    <a:lnB>
                      <a:noFill/>
                    </a:lnB>
                  </a:tcPr>
                </a:tc>
                <a:extLst>
                  <a:ext uri="{0D108BD9-81ED-4DB2-BD59-A6C34878D82A}">
                    <a16:rowId xmlns:a16="http://schemas.microsoft.com/office/drawing/2014/main" xmlns="" val="10017"/>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博道大盘成长</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2024/11/26</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737/3224</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633/3016</a:t>
                      </a: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384/2966</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普通股票型</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偏股混合型</a:t>
                      </a:r>
                    </a:p>
                  </a:txBody>
                  <a:tcPr marL="4528" marR="4528" marT="4528" marB="0" anchor="ctr">
                    <a:lnL>
                      <a:noFill/>
                    </a:lnL>
                    <a:lnR>
                      <a:noFill/>
                    </a:lnR>
                    <a:lnT>
                      <a:noFill/>
                    </a:lnT>
                    <a:lnB>
                      <a:noFill/>
                    </a:lnB>
                  </a:tcPr>
                </a:tc>
                <a:extLst>
                  <a:ext uri="{0D108BD9-81ED-4DB2-BD59-A6C34878D82A}">
                    <a16:rowId xmlns:a16="http://schemas.microsoft.com/office/drawing/2014/main" xmlns="" val="10018"/>
                  </a:ext>
                </a:extLst>
              </a:tr>
              <a:tr h="140349">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博道大盘价值</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2024/12/3</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1681/3224</a:t>
                      </a: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2012/3016</a:t>
                      </a:r>
                    </a:p>
                  </a:txBody>
                  <a:tcPr marL="4528" marR="4528" marT="4528" marB="0" anchor="ctr">
                    <a:lnL>
                      <a:noFill/>
                    </a:lnL>
                    <a:lnR>
                      <a:noFill/>
                    </a:lnR>
                    <a:lnT>
                      <a:noFill/>
                    </a:lnT>
                    <a:lnB>
                      <a:noFill/>
                    </a:lnB>
                  </a:tcPr>
                </a:tc>
                <a:tc>
                  <a:txBody>
                    <a:bodyPr/>
                    <a:lstStyle/>
                    <a:p>
                      <a:pPr algn="ctr" fontAlgn="ct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528" marR="4528" marT="4528"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2007/2972</a:t>
                      </a:r>
                    </a:p>
                  </a:txBody>
                  <a:tcPr marL="4528" marR="4528" marT="4528" marB="0" anchor="ctr">
                    <a:lnL>
                      <a:noFill/>
                    </a:lnL>
                    <a:lnR>
                      <a:noFill/>
                    </a:lnR>
                    <a:lnT>
                      <a:noFill/>
                    </a:lnT>
                    <a:lnB>
                      <a:noFill/>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普通股票型</a:t>
                      </a:r>
                      <a:r>
                        <a:rPr lang="en-US" altLang="zh-CN" sz="8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偏股混合型</a:t>
                      </a:r>
                    </a:p>
                  </a:txBody>
                  <a:tcPr marL="4528" marR="4528" marT="4528" marB="0" anchor="ctr">
                    <a:lnL>
                      <a:noFill/>
                    </a:lnL>
                    <a:lnR>
                      <a:noFill/>
                    </a:lnR>
                    <a:lnT>
                      <a:noFill/>
                    </a:lnT>
                    <a:lnB>
                      <a:noFill/>
                    </a:lnB>
                  </a:tcPr>
                </a:tc>
                <a:extLst>
                  <a:ext uri="{0D108BD9-81ED-4DB2-BD59-A6C34878D82A}">
                    <a16:rowId xmlns:a16="http://schemas.microsoft.com/office/drawing/2014/main" xmlns="" val="10019"/>
                  </a:ext>
                </a:extLst>
              </a:tr>
              <a:tr h="140349">
                <a:tc>
                  <a:txBody>
                    <a:bodyPr/>
                    <a:lstStyle/>
                    <a:p>
                      <a:pPr algn="ctr" fontAlgn="ctr"/>
                      <a:r>
                        <a:rPr lang="zh-CN" altLang="en-US" sz="800" b="1" i="0" u="none" strike="noStrike">
                          <a:solidFill>
                            <a:srgbClr val="000000"/>
                          </a:solidFill>
                          <a:effectLst/>
                          <a:latin typeface="微软雅黑" panose="020B0503020204020204" pitchFamily="34" charset="-122"/>
                          <a:ea typeface="微软雅黑" panose="020B0503020204020204" pitchFamily="34" charset="-122"/>
                        </a:rPr>
                        <a:t>主动量化平均排名</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a:solidFill>
                            <a:srgbClr val="000000"/>
                          </a:solidFill>
                          <a:effectLst/>
                          <a:latin typeface="微软雅黑" panose="020B0503020204020204" pitchFamily="34" charset="-122"/>
                          <a:ea typeface="微软雅黑" panose="020B0503020204020204" pitchFamily="34" charset="-122"/>
                        </a:rPr>
                        <a:t>　</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a:solidFill>
                            <a:srgbClr val="000000"/>
                          </a:solidFill>
                          <a:effectLst/>
                          <a:latin typeface="微软雅黑" panose="020B0503020204020204" pitchFamily="34" charset="-122"/>
                          <a:ea typeface="微软雅黑" panose="020B0503020204020204" pitchFamily="34" charset="-122"/>
                        </a:rPr>
                        <a:t>38.59%</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a:solidFill>
                            <a:srgbClr val="000000"/>
                          </a:solidFill>
                          <a:effectLst/>
                          <a:latin typeface="微软雅黑" panose="020B0503020204020204" pitchFamily="34" charset="-122"/>
                          <a:ea typeface="微软雅黑" panose="020B0503020204020204" pitchFamily="34" charset="-122"/>
                        </a:rPr>
                        <a:t>43.93%</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a:solidFill>
                            <a:srgbClr val="000000"/>
                          </a:solidFill>
                          <a:effectLst/>
                          <a:latin typeface="微软雅黑" panose="020B0503020204020204" pitchFamily="34" charset="-122"/>
                          <a:ea typeface="微软雅黑" panose="020B0503020204020204" pitchFamily="34" charset="-122"/>
                        </a:rPr>
                        <a:t>36.63%</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32.63%</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31.05%</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4528" marR="4528" marT="4528"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20"/>
                  </a:ext>
                </a:extLst>
              </a:tr>
            </a:tbl>
          </a:graphicData>
        </a:graphic>
      </p:graphicFrame>
      <p:sp>
        <p:nvSpPr>
          <p:cNvPr id="22" name="矩形 21"/>
          <p:cNvSpPr/>
          <p:nvPr/>
        </p:nvSpPr>
        <p:spPr>
          <a:xfrm>
            <a:off x="7513752" y="3067154"/>
            <a:ext cx="975543" cy="3140221"/>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灯片编号占位符 3">
            <a:extLst>
              <a:ext uri="{FF2B5EF4-FFF2-40B4-BE49-F238E27FC236}">
                <a16:creationId xmlns:a16="http://schemas.microsoft.com/office/drawing/2014/main" xmlns="" id="{4F8D37A2-E6E7-304C-D962-8A4220540606}"/>
              </a:ext>
            </a:extLst>
          </p:cNvPr>
          <p:cNvSpPr>
            <a:spLocks noGrp="1"/>
          </p:cNvSpPr>
          <p:nvPr>
            <p:ph type="sldNum" sz="quarter" idx="11"/>
          </p:nvPr>
        </p:nvSpPr>
        <p:spPr/>
        <p:txBody>
          <a:bodyPr/>
          <a:lstStyle/>
          <a:p>
            <a:pPr>
              <a:defRPr/>
            </a:pPr>
            <a:fld id="{6E91549D-98B7-4077-996F-05BE1B29F039}" type="slidenum">
              <a:rPr lang="zh-CN" altLang="en-US" smtClean="0"/>
              <a:t>26</a:t>
            </a:fld>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00" dirty="0">
                <a:solidFill>
                  <a:srgbClr val="EA5838"/>
                </a:solidFill>
              </a:rPr>
              <a:t>4</a:t>
            </a:r>
            <a:r>
              <a:rPr lang="zh-CN" altLang="en-US" sz="3100" dirty="0">
                <a:solidFill>
                  <a:srgbClr val="EA5838"/>
                </a:solidFill>
              </a:rPr>
              <a:t>、长期淬炼的超额能力：</a:t>
            </a:r>
            <a:r>
              <a:rPr lang="en-US" altLang="zh-CN" sz="2200" dirty="0"/>
              <a:t>500</a:t>
            </a:r>
            <a:r>
              <a:rPr lang="zh-CN" altLang="en-US" sz="2200" dirty="0"/>
              <a:t>指增、</a:t>
            </a:r>
            <a:r>
              <a:rPr lang="en-US" altLang="zh-CN" sz="2200" dirty="0"/>
              <a:t>300</a:t>
            </a:r>
            <a:r>
              <a:rPr lang="zh-CN" altLang="en-US" sz="2200" dirty="0"/>
              <a:t>指增成立以来</a:t>
            </a:r>
            <a:r>
              <a:rPr lang="zh-CN" altLang="en-US" sz="2200" dirty="0">
                <a:solidFill>
                  <a:srgbClr val="EA5838"/>
                </a:solidFill>
              </a:rPr>
              <a:t>“年年增</a:t>
            </a:r>
            <a:r>
              <a:rPr lang="en-US" altLang="zh-CN" sz="2200" dirty="0">
                <a:solidFill>
                  <a:srgbClr val="EA5838"/>
                </a:solidFill>
              </a:rPr>
              <a:t>”</a:t>
            </a:r>
            <a:endParaRPr lang="zh-CN" altLang="en-US" sz="2700" dirty="0">
              <a:solidFill>
                <a:srgbClr val="EA5838"/>
              </a:solidFill>
            </a:endParaRPr>
          </a:p>
        </p:txBody>
      </p:sp>
      <p:sp>
        <p:nvSpPr>
          <p:cNvPr id="7" name="矩形 6"/>
          <p:cNvSpPr/>
          <p:nvPr/>
        </p:nvSpPr>
        <p:spPr>
          <a:xfrm>
            <a:off x="793406" y="1120883"/>
            <a:ext cx="5279009" cy="400110"/>
          </a:xfrm>
          <a:prstGeom prst="rect">
            <a:avLst/>
          </a:prstGeom>
        </p:spPr>
        <p:txBody>
          <a:bodyPr wrap="none">
            <a:spAutoFit/>
          </a:bodyPr>
          <a:lstStyle/>
          <a:p>
            <a:pPr defTabSz="457200" fontAlgn="ctr">
              <a:defRPr/>
            </a:pPr>
            <a:r>
              <a:rPr lang="zh-CN" altLang="en-US" sz="1600" dirty="0">
                <a:latin typeface="微软雅黑" panose="020B0503020204020204" pitchFamily="34" charset="-122"/>
                <a:ea typeface="微软雅黑" panose="020B0503020204020204" pitchFamily="34" charset="-122"/>
              </a:rPr>
              <a:t>表</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：博道中证</a:t>
            </a:r>
            <a:r>
              <a:rPr lang="en-US" altLang="zh-CN" sz="1600" dirty="0">
                <a:latin typeface="微软雅黑" panose="020B0503020204020204" pitchFamily="34" charset="-122"/>
                <a:ea typeface="微软雅黑" panose="020B0503020204020204" pitchFamily="34" charset="-122"/>
              </a:rPr>
              <a:t>500</a:t>
            </a:r>
            <a:r>
              <a:rPr lang="zh-CN" altLang="en-US" sz="1600" dirty="0">
                <a:latin typeface="微软雅黑" panose="020B0503020204020204" pitchFamily="34" charset="-122"/>
                <a:ea typeface="微软雅黑" panose="020B0503020204020204" pitchFamily="34" charset="-122"/>
              </a:rPr>
              <a:t>指增成立以来</a:t>
            </a:r>
            <a:r>
              <a:rPr lang="zh-CN" altLang="en-US" sz="2000" dirty="0">
                <a:solidFill>
                  <a:srgbClr val="EA5838"/>
                </a:solidFill>
                <a:latin typeface="微软雅黑" panose="020B0503020204020204" pitchFamily="34" charset="-122"/>
                <a:ea typeface="微软雅黑" panose="020B0503020204020204" pitchFamily="34" charset="-122"/>
              </a:rPr>
              <a:t>连续</a:t>
            </a:r>
            <a:r>
              <a:rPr lang="en-US" altLang="zh-CN" sz="2000" dirty="0">
                <a:solidFill>
                  <a:srgbClr val="EA5838"/>
                </a:solidFill>
                <a:latin typeface="微软雅黑" panose="020B0503020204020204" pitchFamily="34" charset="-122"/>
                <a:ea typeface="微软雅黑" panose="020B0503020204020204" pitchFamily="34" charset="-122"/>
              </a:rPr>
              <a:t>7</a:t>
            </a:r>
            <a:r>
              <a:rPr lang="zh-CN" altLang="en-US" sz="2000" dirty="0">
                <a:solidFill>
                  <a:srgbClr val="EA5838"/>
                </a:solidFill>
                <a:latin typeface="微软雅黑" panose="020B0503020204020204" pitchFamily="34" charset="-122"/>
                <a:ea typeface="微软雅黑" panose="020B0503020204020204" pitchFamily="34" charset="-122"/>
              </a:rPr>
              <a:t>年</a:t>
            </a:r>
            <a:r>
              <a:rPr lang="zh-CN" altLang="en-US" sz="1600" dirty="0">
                <a:latin typeface="微软雅黑" panose="020B0503020204020204" pitchFamily="34" charset="-122"/>
                <a:ea typeface="微软雅黑" panose="020B0503020204020204" pitchFamily="34" charset="-122"/>
              </a:rPr>
              <a:t>跑赢对标指数</a:t>
            </a:r>
          </a:p>
        </p:txBody>
      </p:sp>
      <p:sp>
        <p:nvSpPr>
          <p:cNvPr id="8" name="矩形 7"/>
          <p:cNvSpPr/>
          <p:nvPr/>
        </p:nvSpPr>
        <p:spPr>
          <a:xfrm>
            <a:off x="6345763" y="3625083"/>
            <a:ext cx="5279009" cy="400110"/>
          </a:xfrm>
          <a:prstGeom prst="rect">
            <a:avLst/>
          </a:prstGeom>
        </p:spPr>
        <p:txBody>
          <a:bodyPr wrap="none">
            <a:spAutoFit/>
          </a:bodyPr>
          <a:lstStyle/>
          <a:p>
            <a:pPr defTabSz="457200" fontAlgn="ctr">
              <a:defRPr/>
            </a:pPr>
            <a:r>
              <a:rPr lang="zh-CN" altLang="en-US" sz="1600" dirty="0">
                <a:latin typeface="微软雅黑" panose="020B0503020204020204" pitchFamily="34" charset="-122"/>
                <a:ea typeface="微软雅黑" panose="020B0503020204020204" pitchFamily="34" charset="-122"/>
              </a:rPr>
              <a:t>表</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：博道沪深</a:t>
            </a:r>
            <a:r>
              <a:rPr lang="en-US" altLang="zh-CN" sz="1600" dirty="0">
                <a:latin typeface="微软雅黑" panose="020B0503020204020204" pitchFamily="34" charset="-122"/>
                <a:ea typeface="微软雅黑" panose="020B0503020204020204" pitchFamily="34" charset="-122"/>
              </a:rPr>
              <a:t>300</a:t>
            </a:r>
            <a:r>
              <a:rPr lang="zh-CN" altLang="en-US" sz="1600" dirty="0">
                <a:latin typeface="微软雅黑" panose="020B0503020204020204" pitchFamily="34" charset="-122"/>
                <a:ea typeface="微软雅黑" panose="020B0503020204020204" pitchFamily="34" charset="-122"/>
              </a:rPr>
              <a:t>指增成立以来</a:t>
            </a:r>
            <a:r>
              <a:rPr lang="zh-CN" altLang="en-US" sz="2000" dirty="0">
                <a:solidFill>
                  <a:srgbClr val="EA5838"/>
                </a:solidFill>
                <a:latin typeface="微软雅黑" panose="020B0503020204020204" pitchFamily="34" charset="-122"/>
                <a:ea typeface="微软雅黑" panose="020B0503020204020204" pitchFamily="34" charset="-122"/>
              </a:rPr>
              <a:t>连续</a:t>
            </a:r>
            <a:r>
              <a:rPr lang="en-US" altLang="zh-CN" sz="2000" dirty="0">
                <a:solidFill>
                  <a:srgbClr val="EA5838"/>
                </a:solidFill>
                <a:latin typeface="微软雅黑" panose="020B0503020204020204" pitchFamily="34" charset="-122"/>
                <a:ea typeface="微软雅黑" panose="020B0503020204020204" pitchFamily="34" charset="-122"/>
              </a:rPr>
              <a:t>7</a:t>
            </a:r>
            <a:r>
              <a:rPr lang="zh-CN" altLang="en-US" sz="2000" dirty="0">
                <a:solidFill>
                  <a:srgbClr val="EA5838"/>
                </a:solidFill>
                <a:latin typeface="微软雅黑" panose="020B0503020204020204" pitchFamily="34" charset="-122"/>
                <a:ea typeface="微软雅黑" panose="020B0503020204020204" pitchFamily="34" charset="-122"/>
              </a:rPr>
              <a:t>年</a:t>
            </a:r>
            <a:r>
              <a:rPr lang="zh-CN" altLang="en-US" sz="1600" dirty="0">
                <a:latin typeface="微软雅黑" panose="020B0503020204020204" pitchFamily="34" charset="-122"/>
                <a:ea typeface="微软雅黑" panose="020B0503020204020204" pitchFamily="34" charset="-122"/>
              </a:rPr>
              <a:t>跑赢对标指数</a:t>
            </a:r>
          </a:p>
        </p:txBody>
      </p:sp>
      <p:sp>
        <p:nvSpPr>
          <p:cNvPr id="9" name="矩形 9"/>
          <p:cNvSpPr/>
          <p:nvPr/>
        </p:nvSpPr>
        <p:spPr>
          <a:xfrm>
            <a:off x="2741615" y="6265520"/>
            <a:ext cx="8535987" cy="215444"/>
          </a:xfrm>
          <a:prstGeom prst="rect">
            <a:avLst/>
          </a:prstGeom>
        </p:spPr>
        <p:txBody>
          <a:bodyPr>
            <a:spAutoFit/>
          </a:bodyPr>
          <a:lstStyle/>
          <a:p>
            <a:pPr algn="r" fontAlgn="base">
              <a:spcBef>
                <a:spcPct val="0"/>
              </a:spcBef>
              <a:spcAft>
                <a:spcPct val="0"/>
              </a:spcAft>
              <a:defRPr/>
            </a:pPr>
            <a:r>
              <a:rPr lang="zh-CN" altLang="en-US" sz="800" dirty="0">
                <a:solidFill>
                  <a:prstClr val="black"/>
                </a:solidFill>
                <a:latin typeface="微软雅黑" panose="020B0503020204020204" pitchFamily="34" charset="-122"/>
                <a:ea typeface="微软雅黑" panose="020B0503020204020204" pitchFamily="34" charset="-122"/>
                <a:sym typeface="+mn-ea"/>
              </a:rPr>
              <a:t>风险提示：基金的过往业绩并不预示其未来表现，基金管理人管理的其他基金的业绩并不构成基金业绩表现的保证。</a:t>
            </a:r>
            <a:r>
              <a:rPr lang="zh-CN" altLang="en-US" sz="800" dirty="0">
                <a:latin typeface="微软雅黑" panose="020B0503020204020204" pitchFamily="34" charset="-122"/>
                <a:ea typeface="微软雅黑" panose="020B0503020204020204" pitchFamily="34" charset="-122"/>
              </a:rPr>
              <a:t>我国股市运作时间较短，不能反映证券市场发展的所有阶段。</a:t>
            </a:r>
            <a:endParaRPr lang="zh-CN" altLang="zh-CN" sz="800" kern="100" dirty="0">
              <a:latin typeface="微软雅黑" panose="020B0503020204020204" pitchFamily="34" charset="-122"/>
              <a:ea typeface="微软雅黑" panose="020B0503020204020204" pitchFamily="34" charset="-122"/>
              <a:cs typeface="Times New Roman" panose="02020603050405020304" charset="0"/>
            </a:endParaRPr>
          </a:p>
        </p:txBody>
      </p:sp>
      <p:sp>
        <p:nvSpPr>
          <p:cNvPr id="10" name="矩形 9"/>
          <p:cNvSpPr/>
          <p:nvPr/>
        </p:nvSpPr>
        <p:spPr>
          <a:xfrm>
            <a:off x="717102" y="3431282"/>
            <a:ext cx="7386702" cy="215444"/>
          </a:xfrm>
          <a:prstGeom prst="rect">
            <a:avLst/>
          </a:prstGeom>
        </p:spPr>
        <p:txBody>
          <a:bodyPr wrap="square">
            <a:spAutoFit/>
          </a:bodyPr>
          <a:lstStyle/>
          <a:p>
            <a:pPr fontAlgn="base">
              <a:spcBef>
                <a:spcPct val="0"/>
              </a:spcBef>
              <a:spcAft>
                <a:spcPct val="0"/>
              </a:spcAft>
              <a:defRPr/>
            </a:pPr>
            <a:r>
              <a:rPr lang="zh-CN" altLang="zh-CN" sz="800" kern="100" dirty="0">
                <a:latin typeface="微软雅黑" panose="020B0503020204020204" pitchFamily="34" charset="-122"/>
                <a:ea typeface="微软雅黑" panose="020B0503020204020204" pitchFamily="34" charset="-122"/>
                <a:cs typeface="Times New Roman" panose="02020603050405020304" charset="0"/>
              </a:rPr>
              <a:t>数据来源：</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Wind</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，博道基金，博道中证</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500</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指数增强成立于</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2019</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年</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1</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月</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3</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日，数据截至</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2025</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年</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12</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月</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31</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日</a:t>
            </a:r>
            <a:r>
              <a:rPr lang="zh-CN" altLang="en-US" sz="800" dirty="0">
                <a:solidFill>
                  <a:prstClr val="black"/>
                </a:solidFill>
                <a:latin typeface="微软雅黑" panose="020B0503020204020204" pitchFamily="34" charset="-122"/>
                <a:ea typeface="微软雅黑" panose="020B0503020204020204" pitchFamily="34" charset="-122"/>
                <a:sym typeface="+mn-ea"/>
              </a:rPr>
              <a:t>。</a:t>
            </a:r>
            <a:endParaRPr lang="en-US" altLang="zh-CN" sz="800" dirty="0">
              <a:solidFill>
                <a:prstClr val="black"/>
              </a:solidFill>
              <a:latin typeface="微软雅黑" panose="020B0503020204020204" pitchFamily="34" charset="-122"/>
              <a:ea typeface="微软雅黑" panose="020B0503020204020204" pitchFamily="34" charset="-122"/>
              <a:sym typeface="+mn-ea"/>
            </a:endParaRPr>
          </a:p>
        </p:txBody>
      </p:sp>
      <p:sp>
        <p:nvSpPr>
          <p:cNvPr id="11" name="矩形 10"/>
          <p:cNvSpPr/>
          <p:nvPr/>
        </p:nvSpPr>
        <p:spPr>
          <a:xfrm>
            <a:off x="6400800" y="5839794"/>
            <a:ext cx="5108384" cy="215444"/>
          </a:xfrm>
          <a:prstGeom prst="rect">
            <a:avLst/>
          </a:prstGeom>
        </p:spPr>
        <p:txBody>
          <a:bodyPr wrap="square">
            <a:spAutoFit/>
          </a:bodyPr>
          <a:lstStyle/>
          <a:p>
            <a:pPr fontAlgn="base">
              <a:spcBef>
                <a:spcPct val="0"/>
              </a:spcBef>
              <a:spcAft>
                <a:spcPct val="0"/>
              </a:spcAft>
              <a:defRPr/>
            </a:pPr>
            <a:r>
              <a:rPr lang="zh-CN" altLang="zh-CN" sz="800" kern="100" dirty="0">
                <a:latin typeface="微软雅黑" panose="020B0503020204020204" pitchFamily="34" charset="-122"/>
                <a:ea typeface="微软雅黑" panose="020B0503020204020204" pitchFamily="34" charset="-122"/>
                <a:cs typeface="Times New Roman" panose="02020603050405020304" charset="0"/>
              </a:rPr>
              <a:t>数据来源：</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Wind</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，博道基金，博道沪深</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300</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指数增强成立于</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2019</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年</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4</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月</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26</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日，数据截至</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2025</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年</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12</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月</a:t>
            </a:r>
            <a:r>
              <a:rPr lang="en-US" altLang="zh-CN" sz="800" kern="100" dirty="0">
                <a:latin typeface="微软雅黑" panose="020B0503020204020204" pitchFamily="34" charset="-122"/>
                <a:ea typeface="微软雅黑" panose="020B0503020204020204" pitchFamily="34" charset="-122"/>
                <a:cs typeface="Times New Roman" panose="02020603050405020304" charset="0"/>
              </a:rPr>
              <a:t>31</a:t>
            </a:r>
            <a:r>
              <a:rPr lang="zh-CN" altLang="en-US" sz="800" kern="100" dirty="0">
                <a:latin typeface="微软雅黑" panose="020B0503020204020204" pitchFamily="34" charset="-122"/>
                <a:ea typeface="微软雅黑" panose="020B0503020204020204" pitchFamily="34" charset="-122"/>
                <a:cs typeface="Times New Roman" panose="02020603050405020304" charset="0"/>
              </a:rPr>
              <a:t>日</a:t>
            </a:r>
            <a:r>
              <a:rPr lang="zh-CN" altLang="en-US" sz="800" dirty="0">
                <a:solidFill>
                  <a:prstClr val="black"/>
                </a:solidFill>
                <a:latin typeface="微软雅黑" panose="020B0503020204020204" pitchFamily="34" charset="-122"/>
                <a:ea typeface="微软雅黑" panose="020B0503020204020204" pitchFamily="34" charset="-122"/>
                <a:sym typeface="+mn-ea"/>
              </a:rPr>
              <a:t>。</a:t>
            </a:r>
            <a:endParaRPr lang="en-US" altLang="zh-CN" sz="800" dirty="0">
              <a:solidFill>
                <a:prstClr val="black"/>
              </a:solidFill>
              <a:latin typeface="微软雅黑" panose="020B0503020204020204" pitchFamily="34" charset="-122"/>
              <a:ea typeface="微软雅黑" panose="020B0503020204020204" pitchFamily="34" charset="-122"/>
              <a:sym typeface="+mn-ea"/>
            </a:endParaRPr>
          </a:p>
        </p:txBody>
      </p:sp>
      <p:graphicFrame>
        <p:nvGraphicFramePr>
          <p:cNvPr id="3" name="表格 2"/>
          <p:cNvGraphicFramePr>
            <a:graphicFrameLocks noGrp="1"/>
          </p:cNvGraphicFramePr>
          <p:nvPr/>
        </p:nvGraphicFramePr>
        <p:xfrm>
          <a:off x="717103" y="1494510"/>
          <a:ext cx="8274297" cy="1901784"/>
        </p:xfrm>
        <a:graphic>
          <a:graphicData uri="http://schemas.openxmlformats.org/drawingml/2006/table">
            <a:tbl>
              <a:tblPr/>
              <a:tblGrid>
                <a:gridCol w="1469199">
                  <a:extLst>
                    <a:ext uri="{9D8B030D-6E8A-4147-A177-3AD203B41FA5}">
                      <a16:colId xmlns:a16="http://schemas.microsoft.com/office/drawing/2014/main" xmlns="" val="20000"/>
                    </a:ext>
                  </a:extLst>
                </a:gridCol>
                <a:gridCol w="972157">
                  <a:extLst>
                    <a:ext uri="{9D8B030D-6E8A-4147-A177-3AD203B41FA5}">
                      <a16:colId xmlns:a16="http://schemas.microsoft.com/office/drawing/2014/main" xmlns="" val="20001"/>
                    </a:ext>
                  </a:extLst>
                </a:gridCol>
                <a:gridCol w="1045805">
                  <a:extLst>
                    <a:ext uri="{9D8B030D-6E8A-4147-A177-3AD203B41FA5}">
                      <a16:colId xmlns:a16="http://schemas.microsoft.com/office/drawing/2014/main" xmlns="" val="20002"/>
                    </a:ext>
                  </a:extLst>
                </a:gridCol>
                <a:gridCol w="972157">
                  <a:extLst>
                    <a:ext uri="{9D8B030D-6E8A-4147-A177-3AD203B41FA5}">
                      <a16:colId xmlns:a16="http://schemas.microsoft.com/office/drawing/2014/main" xmlns="" val="20003"/>
                    </a:ext>
                  </a:extLst>
                </a:gridCol>
                <a:gridCol w="972157">
                  <a:extLst>
                    <a:ext uri="{9D8B030D-6E8A-4147-A177-3AD203B41FA5}">
                      <a16:colId xmlns:a16="http://schemas.microsoft.com/office/drawing/2014/main" xmlns="" val="20004"/>
                    </a:ext>
                  </a:extLst>
                </a:gridCol>
                <a:gridCol w="927968">
                  <a:extLst>
                    <a:ext uri="{9D8B030D-6E8A-4147-A177-3AD203B41FA5}">
                      <a16:colId xmlns:a16="http://schemas.microsoft.com/office/drawing/2014/main" xmlns="" val="20005"/>
                    </a:ext>
                  </a:extLst>
                </a:gridCol>
                <a:gridCol w="957427">
                  <a:extLst>
                    <a:ext uri="{9D8B030D-6E8A-4147-A177-3AD203B41FA5}">
                      <a16:colId xmlns:a16="http://schemas.microsoft.com/office/drawing/2014/main" xmlns="" val="20006"/>
                    </a:ext>
                  </a:extLst>
                </a:gridCol>
                <a:gridCol w="957427">
                  <a:extLst>
                    <a:ext uri="{9D8B030D-6E8A-4147-A177-3AD203B41FA5}">
                      <a16:colId xmlns:a16="http://schemas.microsoft.com/office/drawing/2014/main" xmlns="" val="20007"/>
                    </a:ext>
                  </a:extLst>
                </a:gridCol>
              </a:tblGrid>
              <a:tr h="448215">
                <a:tc>
                  <a:txBody>
                    <a:bodyPr/>
                    <a:lstStyle/>
                    <a:p>
                      <a:pPr algn="ctr" fontAlgn="ctr"/>
                      <a:r>
                        <a:rPr lang="zh-CN" altLang="en-US" sz="1700" b="1" i="0" u="none" strike="noStrike">
                          <a:solidFill>
                            <a:srgbClr val="FFFFFF"/>
                          </a:solidFill>
                          <a:effectLst/>
                          <a:latin typeface="微软雅黑" panose="020B0503020204020204" pitchFamily="34" charset="-122"/>
                          <a:ea typeface="微软雅黑" panose="020B0503020204020204" pitchFamily="34" charset="-122"/>
                        </a:rPr>
                        <a:t>名称</a:t>
                      </a:r>
                    </a:p>
                  </a:txBody>
                  <a:tcPr marL="11493" marR="11493" marT="11493" marB="0" anchor="ctr">
                    <a:lnL>
                      <a:noFill/>
                    </a:lnL>
                    <a:lnR>
                      <a:noFill/>
                    </a:lnR>
                    <a:lnT>
                      <a:noFill/>
                    </a:lnT>
                    <a:lnB>
                      <a:noFill/>
                    </a:lnB>
                    <a:solidFill>
                      <a:srgbClr val="002060"/>
                    </a:solidFill>
                  </a:tcPr>
                </a:tc>
                <a:tc>
                  <a:txBody>
                    <a:bodyPr/>
                    <a:lstStyle/>
                    <a:p>
                      <a:pPr algn="ctr" fontAlgn="ctr"/>
                      <a:r>
                        <a:rPr lang="en-US" altLang="zh-CN" sz="1700" b="1" i="0" u="none" strike="noStrike">
                          <a:solidFill>
                            <a:srgbClr val="FFFFFF"/>
                          </a:solidFill>
                          <a:effectLst/>
                          <a:latin typeface="微软雅黑" panose="020B0503020204020204" pitchFamily="34" charset="-122"/>
                          <a:ea typeface="微软雅黑" panose="020B0503020204020204" pitchFamily="34" charset="-122"/>
                        </a:rPr>
                        <a:t>2019</a:t>
                      </a:r>
                      <a:r>
                        <a:rPr lang="zh-CN" altLang="en-US" sz="1700" b="1" i="0" u="none" strike="noStrike">
                          <a:solidFill>
                            <a:srgbClr val="FFFFFF"/>
                          </a:solidFill>
                          <a:effectLst/>
                          <a:latin typeface="微软雅黑" panose="020B0503020204020204" pitchFamily="34" charset="-122"/>
                          <a:ea typeface="微软雅黑" panose="020B0503020204020204" pitchFamily="34" charset="-122"/>
                        </a:rPr>
                        <a:t>年</a:t>
                      </a:r>
                    </a:p>
                  </a:txBody>
                  <a:tcPr marL="11493" marR="11493" marT="11493" marB="0" anchor="ctr">
                    <a:lnL>
                      <a:noFill/>
                    </a:lnL>
                    <a:lnR>
                      <a:noFill/>
                    </a:lnR>
                    <a:lnT>
                      <a:noFill/>
                    </a:lnT>
                    <a:lnB>
                      <a:noFill/>
                    </a:lnB>
                    <a:solidFill>
                      <a:srgbClr val="002060"/>
                    </a:solidFill>
                  </a:tcPr>
                </a:tc>
                <a:tc>
                  <a:txBody>
                    <a:bodyPr/>
                    <a:lstStyle/>
                    <a:p>
                      <a:pPr algn="ctr" fontAlgn="ctr"/>
                      <a:r>
                        <a:rPr lang="en-US" altLang="zh-CN" sz="1700" b="1" i="0" u="none" strike="noStrike" dirty="0">
                          <a:solidFill>
                            <a:srgbClr val="FFFFFF"/>
                          </a:solidFill>
                          <a:effectLst/>
                          <a:latin typeface="微软雅黑" panose="020B0503020204020204" pitchFamily="34" charset="-122"/>
                          <a:ea typeface="微软雅黑" panose="020B0503020204020204" pitchFamily="34" charset="-122"/>
                        </a:rPr>
                        <a:t>2020</a:t>
                      </a:r>
                      <a:r>
                        <a:rPr lang="zh-CN" altLang="en-US" sz="1700" b="1" i="0" u="none" strike="noStrike" dirty="0">
                          <a:solidFill>
                            <a:srgbClr val="FFFFFF"/>
                          </a:solidFill>
                          <a:effectLst/>
                          <a:latin typeface="微软雅黑" panose="020B0503020204020204" pitchFamily="34" charset="-122"/>
                          <a:ea typeface="微软雅黑" panose="020B0503020204020204" pitchFamily="34" charset="-122"/>
                        </a:rPr>
                        <a:t>年</a:t>
                      </a:r>
                    </a:p>
                  </a:txBody>
                  <a:tcPr marL="11493" marR="11493" marT="11493" marB="0" anchor="ctr">
                    <a:lnL>
                      <a:noFill/>
                    </a:lnL>
                    <a:lnR>
                      <a:noFill/>
                    </a:lnR>
                    <a:lnT>
                      <a:noFill/>
                    </a:lnT>
                    <a:lnB>
                      <a:noFill/>
                    </a:lnB>
                    <a:solidFill>
                      <a:srgbClr val="002060"/>
                    </a:solidFill>
                  </a:tcPr>
                </a:tc>
                <a:tc>
                  <a:txBody>
                    <a:bodyPr/>
                    <a:lstStyle/>
                    <a:p>
                      <a:pPr algn="ctr" fontAlgn="ctr"/>
                      <a:r>
                        <a:rPr lang="en-US" altLang="zh-CN" sz="1700" b="1" i="0" u="none" strike="noStrike">
                          <a:solidFill>
                            <a:srgbClr val="FFFFFF"/>
                          </a:solidFill>
                          <a:effectLst/>
                          <a:latin typeface="微软雅黑" panose="020B0503020204020204" pitchFamily="34" charset="-122"/>
                          <a:ea typeface="微软雅黑" panose="020B0503020204020204" pitchFamily="34" charset="-122"/>
                        </a:rPr>
                        <a:t>2021</a:t>
                      </a:r>
                      <a:r>
                        <a:rPr lang="zh-CN" altLang="en-US" sz="1700" b="1" i="0" u="none" strike="noStrike">
                          <a:solidFill>
                            <a:srgbClr val="FFFFFF"/>
                          </a:solidFill>
                          <a:effectLst/>
                          <a:latin typeface="微软雅黑" panose="020B0503020204020204" pitchFamily="34" charset="-122"/>
                          <a:ea typeface="微软雅黑" panose="020B0503020204020204" pitchFamily="34" charset="-122"/>
                        </a:rPr>
                        <a:t>年</a:t>
                      </a:r>
                    </a:p>
                  </a:txBody>
                  <a:tcPr marL="11493" marR="11493" marT="11493" marB="0" anchor="ctr">
                    <a:lnL>
                      <a:noFill/>
                    </a:lnL>
                    <a:lnR>
                      <a:noFill/>
                    </a:lnR>
                    <a:lnT>
                      <a:noFill/>
                    </a:lnT>
                    <a:lnB>
                      <a:noFill/>
                    </a:lnB>
                    <a:solidFill>
                      <a:srgbClr val="002060"/>
                    </a:solidFill>
                  </a:tcPr>
                </a:tc>
                <a:tc>
                  <a:txBody>
                    <a:bodyPr/>
                    <a:lstStyle/>
                    <a:p>
                      <a:pPr algn="ctr" fontAlgn="ctr"/>
                      <a:r>
                        <a:rPr lang="en-US" altLang="zh-CN" sz="1700" b="1" i="0" u="none" strike="noStrike">
                          <a:solidFill>
                            <a:srgbClr val="FFFFFF"/>
                          </a:solidFill>
                          <a:effectLst/>
                          <a:latin typeface="微软雅黑" panose="020B0503020204020204" pitchFamily="34" charset="-122"/>
                          <a:ea typeface="微软雅黑" panose="020B0503020204020204" pitchFamily="34" charset="-122"/>
                        </a:rPr>
                        <a:t>2022</a:t>
                      </a:r>
                      <a:r>
                        <a:rPr lang="zh-CN" altLang="en-US" sz="1700" b="1" i="0" u="none" strike="noStrike">
                          <a:solidFill>
                            <a:srgbClr val="FFFFFF"/>
                          </a:solidFill>
                          <a:effectLst/>
                          <a:latin typeface="微软雅黑" panose="020B0503020204020204" pitchFamily="34" charset="-122"/>
                          <a:ea typeface="微软雅黑" panose="020B0503020204020204" pitchFamily="34" charset="-122"/>
                        </a:rPr>
                        <a:t>年</a:t>
                      </a:r>
                    </a:p>
                  </a:txBody>
                  <a:tcPr marL="11493" marR="11493" marT="11493" marB="0" anchor="ctr">
                    <a:lnL>
                      <a:noFill/>
                    </a:lnL>
                    <a:lnR>
                      <a:noFill/>
                    </a:lnR>
                    <a:lnT>
                      <a:noFill/>
                    </a:lnT>
                    <a:lnB>
                      <a:noFill/>
                    </a:lnB>
                    <a:solidFill>
                      <a:srgbClr val="002060"/>
                    </a:solidFill>
                  </a:tcPr>
                </a:tc>
                <a:tc>
                  <a:txBody>
                    <a:bodyPr/>
                    <a:lstStyle/>
                    <a:p>
                      <a:pPr algn="ctr" fontAlgn="ctr"/>
                      <a:r>
                        <a:rPr lang="en-US" altLang="zh-CN" sz="1700" b="1" i="0" u="none" strike="noStrike">
                          <a:solidFill>
                            <a:srgbClr val="FFFFFF"/>
                          </a:solidFill>
                          <a:effectLst/>
                          <a:latin typeface="微软雅黑" panose="020B0503020204020204" pitchFamily="34" charset="-122"/>
                          <a:ea typeface="微软雅黑" panose="020B0503020204020204" pitchFamily="34" charset="-122"/>
                        </a:rPr>
                        <a:t>2023</a:t>
                      </a:r>
                      <a:r>
                        <a:rPr lang="zh-CN" altLang="en-US" sz="1700" b="1" i="0" u="none" strike="noStrike">
                          <a:solidFill>
                            <a:srgbClr val="FFFFFF"/>
                          </a:solidFill>
                          <a:effectLst/>
                          <a:latin typeface="微软雅黑" panose="020B0503020204020204" pitchFamily="34" charset="-122"/>
                          <a:ea typeface="微软雅黑" panose="020B0503020204020204" pitchFamily="34" charset="-122"/>
                        </a:rPr>
                        <a:t>年</a:t>
                      </a:r>
                    </a:p>
                  </a:txBody>
                  <a:tcPr marL="11493" marR="11493" marT="11493" marB="0" anchor="ctr">
                    <a:lnL>
                      <a:noFill/>
                    </a:lnL>
                    <a:lnR>
                      <a:noFill/>
                    </a:lnR>
                    <a:lnT>
                      <a:noFill/>
                    </a:lnT>
                    <a:lnB>
                      <a:noFill/>
                    </a:lnB>
                    <a:solidFill>
                      <a:srgbClr val="002060"/>
                    </a:solidFill>
                  </a:tcPr>
                </a:tc>
                <a:tc>
                  <a:txBody>
                    <a:bodyPr/>
                    <a:lstStyle/>
                    <a:p>
                      <a:pPr algn="ctr" fontAlgn="ctr"/>
                      <a:r>
                        <a:rPr lang="en-US" altLang="zh-CN" sz="1700" b="1" i="0" u="none" strike="noStrike" dirty="0">
                          <a:solidFill>
                            <a:srgbClr val="FFFFFF"/>
                          </a:solidFill>
                          <a:effectLst/>
                          <a:latin typeface="微软雅黑" panose="020B0503020204020204" pitchFamily="34" charset="-122"/>
                          <a:ea typeface="微软雅黑" panose="020B0503020204020204" pitchFamily="34" charset="-122"/>
                        </a:rPr>
                        <a:t>2024</a:t>
                      </a:r>
                      <a:r>
                        <a:rPr lang="zh-CN" altLang="en-US" sz="1700" b="1" i="0" u="none" strike="noStrike" dirty="0">
                          <a:solidFill>
                            <a:srgbClr val="FFFFFF"/>
                          </a:solidFill>
                          <a:effectLst/>
                          <a:latin typeface="微软雅黑" panose="020B0503020204020204" pitchFamily="34" charset="-122"/>
                          <a:ea typeface="微软雅黑" panose="020B0503020204020204" pitchFamily="34" charset="-122"/>
                        </a:rPr>
                        <a:t>年</a:t>
                      </a:r>
                    </a:p>
                  </a:txBody>
                  <a:tcPr marL="11493" marR="11493" marT="11493" marB="0" anchor="ctr">
                    <a:lnL>
                      <a:noFill/>
                    </a:lnL>
                    <a:lnR>
                      <a:noFill/>
                    </a:lnR>
                    <a:lnT>
                      <a:noFill/>
                    </a:lnT>
                    <a:lnB>
                      <a:noFill/>
                    </a:lnB>
                    <a:solidFill>
                      <a:srgbClr val="002060"/>
                    </a:solidFill>
                  </a:tcPr>
                </a:tc>
                <a:tc>
                  <a:txBody>
                    <a:bodyPr/>
                    <a:lstStyle/>
                    <a:p>
                      <a:pPr algn="ctr" fontAlgn="ctr"/>
                      <a:r>
                        <a:rPr lang="en-US" altLang="zh-CN" sz="1700" b="1" i="0" u="none" strike="noStrike" dirty="0">
                          <a:solidFill>
                            <a:srgbClr val="FFFFFF"/>
                          </a:solidFill>
                          <a:effectLst/>
                          <a:latin typeface="微软雅黑" panose="020B0503020204020204" pitchFamily="34" charset="-122"/>
                          <a:ea typeface="微软雅黑" panose="020B0503020204020204" pitchFamily="34" charset="-122"/>
                        </a:rPr>
                        <a:t>2025</a:t>
                      </a:r>
                      <a:r>
                        <a:rPr lang="zh-CN" altLang="en-US" sz="1700" b="1" i="0" u="none" strike="noStrike" dirty="0">
                          <a:solidFill>
                            <a:srgbClr val="FFFFFF"/>
                          </a:solidFill>
                          <a:effectLst/>
                          <a:latin typeface="微软雅黑" panose="020B0503020204020204" pitchFamily="34" charset="-122"/>
                          <a:ea typeface="微软雅黑" panose="020B0503020204020204" pitchFamily="34" charset="-122"/>
                        </a:rPr>
                        <a:t>年</a:t>
                      </a:r>
                    </a:p>
                  </a:txBody>
                  <a:tcPr marL="11493" marR="11493" marT="11493" marB="0" anchor="ctr">
                    <a:lnL>
                      <a:noFill/>
                    </a:lnL>
                    <a:lnR>
                      <a:noFill/>
                    </a:lnR>
                    <a:lnT>
                      <a:noFill/>
                    </a:lnT>
                    <a:lnB>
                      <a:noFill/>
                    </a:lnB>
                    <a:solidFill>
                      <a:srgbClr val="002060"/>
                    </a:solidFill>
                  </a:tcPr>
                </a:tc>
                <a:extLst>
                  <a:ext uri="{0D108BD9-81ED-4DB2-BD59-A6C34878D82A}">
                    <a16:rowId xmlns:a16="http://schemas.microsoft.com/office/drawing/2014/main" xmlns="" val="10000"/>
                  </a:ext>
                </a:extLst>
              </a:tr>
              <a:tr h="407733">
                <a:tc>
                  <a:txBody>
                    <a:bodyPr/>
                    <a:lstStyle/>
                    <a:p>
                      <a:pPr algn="ctr" fontAlgn="ctr"/>
                      <a:r>
                        <a:rPr lang="zh-CN" altLang="en-US" sz="1300" b="0" i="0" u="none" strike="noStrike" dirty="0">
                          <a:solidFill>
                            <a:srgbClr val="000000"/>
                          </a:solidFill>
                          <a:effectLst/>
                          <a:latin typeface="微软雅黑" panose="020B0503020204020204" pitchFamily="34" charset="-122"/>
                          <a:ea typeface="微软雅黑" panose="020B0503020204020204" pitchFamily="34" charset="-122"/>
                        </a:rPr>
                        <a:t>博道中证</a:t>
                      </a:r>
                      <a:r>
                        <a:rPr lang="en-US" altLang="zh-CN" sz="1300" b="0" i="0" u="none" strike="noStrike" dirty="0">
                          <a:solidFill>
                            <a:srgbClr val="000000"/>
                          </a:solidFill>
                          <a:effectLst/>
                          <a:latin typeface="微软雅黑" panose="020B0503020204020204" pitchFamily="34" charset="-122"/>
                          <a:ea typeface="微软雅黑" panose="020B0503020204020204" pitchFamily="34" charset="-122"/>
                        </a:rPr>
                        <a:t>500</a:t>
                      </a:r>
                      <a:r>
                        <a:rPr lang="zh-CN" altLang="en-US" sz="1300" b="0" i="0" u="none" strike="noStrike" dirty="0">
                          <a:solidFill>
                            <a:srgbClr val="000000"/>
                          </a:solidFill>
                          <a:effectLst/>
                          <a:latin typeface="微软雅黑" panose="020B0503020204020204" pitchFamily="34" charset="-122"/>
                          <a:ea typeface="微软雅黑" panose="020B0503020204020204" pitchFamily="34" charset="-122"/>
                        </a:rPr>
                        <a:t>增强</a:t>
                      </a:r>
                      <a:r>
                        <a:rPr lang="en-US" sz="1300" b="0" i="0" u="none" strike="noStrike" dirty="0">
                          <a:solidFill>
                            <a:srgbClr val="000000"/>
                          </a:solidFill>
                          <a:effectLst/>
                          <a:latin typeface="微软雅黑" panose="020B0503020204020204" pitchFamily="34" charset="-122"/>
                          <a:ea typeface="微软雅黑" panose="020B0503020204020204" pitchFamily="34" charset="-122"/>
                        </a:rPr>
                        <a:t>A</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FF0000"/>
                          </a:solidFill>
                          <a:effectLst/>
                          <a:latin typeface="微软雅黑" panose="020B0503020204020204" pitchFamily="34" charset="-122"/>
                          <a:ea typeface="微软雅黑" panose="020B0503020204020204" pitchFamily="34" charset="-122"/>
                        </a:rPr>
                        <a:t>29.71%</a:t>
                      </a:r>
                    </a:p>
                  </a:txBody>
                  <a:tcPr marL="11493" marR="11493" marT="11493" marB="0" anchor="ctr">
                    <a:lnL>
                      <a:noFill/>
                    </a:lnL>
                    <a:lnR>
                      <a:noFill/>
                    </a:lnR>
                    <a:lnT>
                      <a:noFill/>
                    </a:lnT>
                    <a:lnB>
                      <a:noFill/>
                    </a:lnB>
                  </a:tcPr>
                </a:tc>
                <a:tc>
                  <a:txBody>
                    <a:bodyPr/>
                    <a:lstStyle/>
                    <a:p>
                      <a:pPr algn="ctr" fontAlgn="ctr"/>
                      <a:r>
                        <a:rPr lang="en-US" altLang="zh-CN" sz="1300" b="1" i="0" u="none" strike="noStrike" dirty="0">
                          <a:solidFill>
                            <a:srgbClr val="FF0000"/>
                          </a:solidFill>
                          <a:effectLst/>
                          <a:latin typeface="微软雅黑" panose="020B0503020204020204" pitchFamily="34" charset="-122"/>
                          <a:ea typeface="微软雅黑" panose="020B0503020204020204" pitchFamily="34" charset="-122"/>
                        </a:rPr>
                        <a:t>41.37%</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FF0000"/>
                          </a:solidFill>
                          <a:effectLst/>
                          <a:latin typeface="微软雅黑" panose="020B0503020204020204" pitchFamily="34" charset="-122"/>
                          <a:ea typeface="微软雅黑" panose="020B0503020204020204" pitchFamily="34" charset="-122"/>
                        </a:rPr>
                        <a:t>32.16%</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FF0000"/>
                          </a:solidFill>
                          <a:effectLst/>
                          <a:latin typeface="微软雅黑" panose="020B0503020204020204" pitchFamily="34" charset="-122"/>
                          <a:ea typeface="微软雅黑" panose="020B0503020204020204" pitchFamily="34" charset="-122"/>
                        </a:rPr>
                        <a:t>-19.75%</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FF0000"/>
                          </a:solidFill>
                          <a:effectLst/>
                          <a:latin typeface="微软雅黑" panose="020B0503020204020204" pitchFamily="34" charset="-122"/>
                          <a:ea typeface="微软雅黑" panose="020B0503020204020204" pitchFamily="34" charset="-122"/>
                        </a:rPr>
                        <a:t>-5.63%</a:t>
                      </a:r>
                    </a:p>
                  </a:txBody>
                  <a:tcPr marL="11493" marR="11493" marT="11493" marB="0" anchor="ctr">
                    <a:lnL>
                      <a:noFill/>
                    </a:lnL>
                    <a:lnR>
                      <a:noFill/>
                    </a:lnR>
                    <a:lnT>
                      <a:noFill/>
                    </a:lnT>
                    <a:lnB>
                      <a:noFill/>
                    </a:lnB>
                  </a:tcPr>
                </a:tc>
                <a:tc>
                  <a:txBody>
                    <a:bodyPr/>
                    <a:lstStyle/>
                    <a:p>
                      <a:pPr algn="ctr" fontAlgn="ctr"/>
                      <a:r>
                        <a:rPr lang="en-US" altLang="zh-CN" sz="1300" b="1" i="0" u="none" strike="noStrike" dirty="0">
                          <a:solidFill>
                            <a:srgbClr val="FF0000"/>
                          </a:solidFill>
                          <a:effectLst/>
                          <a:latin typeface="微软雅黑" panose="020B0503020204020204" pitchFamily="34" charset="-122"/>
                          <a:ea typeface="微软雅黑" panose="020B0503020204020204" pitchFamily="34" charset="-122"/>
                        </a:rPr>
                        <a:t>11.92%</a:t>
                      </a:r>
                    </a:p>
                  </a:txBody>
                  <a:tcPr marL="11493" marR="11493" marT="11493" marB="0" anchor="ctr">
                    <a:lnL>
                      <a:noFill/>
                    </a:lnL>
                    <a:lnR>
                      <a:noFill/>
                    </a:lnR>
                    <a:lnT>
                      <a:noFill/>
                    </a:lnT>
                    <a:lnB>
                      <a:noFill/>
                    </a:lnB>
                  </a:tcPr>
                </a:tc>
                <a:tc>
                  <a:txBody>
                    <a:bodyPr/>
                    <a:lstStyle/>
                    <a:p>
                      <a:pPr algn="ctr" fontAlgn="ctr"/>
                      <a:r>
                        <a:rPr lang="en-US" altLang="zh-CN" sz="1300" b="1" i="0" u="none" strike="noStrike" dirty="0">
                          <a:solidFill>
                            <a:srgbClr val="FF0000"/>
                          </a:solidFill>
                          <a:effectLst/>
                          <a:latin typeface="微软雅黑" panose="020B0503020204020204" pitchFamily="34" charset="-122"/>
                          <a:ea typeface="微软雅黑" panose="020B0503020204020204" pitchFamily="34" charset="-122"/>
                        </a:rPr>
                        <a:t>36.45%</a:t>
                      </a:r>
                    </a:p>
                  </a:txBody>
                  <a:tcPr marL="11493" marR="11493" marT="11493" marB="0" anchor="ctr">
                    <a:lnL>
                      <a:noFill/>
                    </a:lnL>
                    <a:lnR>
                      <a:noFill/>
                    </a:lnR>
                    <a:lnT>
                      <a:noFill/>
                    </a:lnT>
                    <a:lnB>
                      <a:noFill/>
                    </a:lnB>
                  </a:tcPr>
                </a:tc>
                <a:extLst>
                  <a:ext uri="{0D108BD9-81ED-4DB2-BD59-A6C34878D82A}">
                    <a16:rowId xmlns:a16="http://schemas.microsoft.com/office/drawing/2014/main" xmlns="" val="10001"/>
                  </a:ext>
                </a:extLst>
              </a:tr>
              <a:tr h="344781">
                <a:tc>
                  <a:txBody>
                    <a:bodyPr/>
                    <a:lstStyle/>
                    <a:p>
                      <a:pPr algn="ctr" fontAlgn="ctr"/>
                      <a:r>
                        <a:rPr lang="zh-CN" altLang="en-US" sz="1300" b="0" i="0" u="none" strike="noStrike">
                          <a:solidFill>
                            <a:srgbClr val="000000"/>
                          </a:solidFill>
                          <a:effectLst/>
                          <a:latin typeface="微软雅黑" panose="020B0503020204020204" pitchFamily="34" charset="-122"/>
                          <a:ea typeface="微软雅黑" panose="020B0503020204020204" pitchFamily="34" charset="-122"/>
                        </a:rPr>
                        <a:t>业绩比较基准</a:t>
                      </a:r>
                    </a:p>
                  </a:txBody>
                  <a:tcPr marL="11493" marR="11493" marT="11493" marB="0" anchor="ctr">
                    <a:lnL>
                      <a:noFill/>
                    </a:lnL>
                    <a:lnR>
                      <a:noFill/>
                    </a:lnR>
                    <a:lnT>
                      <a:noFill/>
                    </a:lnT>
                    <a:lnB>
                      <a:noFill/>
                    </a:lnB>
                  </a:tcPr>
                </a:tc>
                <a:tc>
                  <a:txBody>
                    <a:bodyPr/>
                    <a:lstStyle/>
                    <a:p>
                      <a:pPr algn="ctr" fontAlgn="ctr"/>
                      <a:r>
                        <a:rPr lang="en-US" altLang="zh-CN" sz="1300" b="0" i="0" u="none" strike="noStrike">
                          <a:solidFill>
                            <a:srgbClr val="000000"/>
                          </a:solidFill>
                          <a:effectLst/>
                          <a:latin typeface="微软雅黑" panose="020B0503020204020204" pitchFamily="34" charset="-122"/>
                          <a:ea typeface="微软雅黑" panose="020B0503020204020204" pitchFamily="34" charset="-122"/>
                        </a:rPr>
                        <a:t>26.13%</a:t>
                      </a:r>
                    </a:p>
                  </a:txBody>
                  <a:tcPr marL="11493" marR="11493" marT="11493" marB="0" anchor="ctr">
                    <a:lnL>
                      <a:noFill/>
                    </a:lnL>
                    <a:lnR>
                      <a:noFill/>
                    </a:lnR>
                    <a:lnT>
                      <a:noFill/>
                    </a:lnT>
                    <a:lnB>
                      <a:noFill/>
                    </a:lnB>
                  </a:tcPr>
                </a:tc>
                <a:tc>
                  <a:txBody>
                    <a:bodyPr/>
                    <a:lstStyle/>
                    <a:p>
                      <a:pPr algn="ctr" fontAlgn="ctr"/>
                      <a:r>
                        <a:rPr lang="en-US" altLang="zh-CN" sz="1300" b="0" i="0" u="none" strike="noStrike">
                          <a:solidFill>
                            <a:srgbClr val="000000"/>
                          </a:solidFill>
                          <a:effectLst/>
                          <a:latin typeface="微软雅黑" panose="020B0503020204020204" pitchFamily="34" charset="-122"/>
                          <a:ea typeface="微软雅黑" panose="020B0503020204020204" pitchFamily="34" charset="-122"/>
                        </a:rPr>
                        <a:t>19.94%</a:t>
                      </a:r>
                    </a:p>
                  </a:txBody>
                  <a:tcPr marL="11493" marR="11493" marT="11493" marB="0" anchor="ctr">
                    <a:lnL>
                      <a:noFill/>
                    </a:lnL>
                    <a:lnR>
                      <a:noFill/>
                    </a:lnR>
                    <a:lnT>
                      <a:noFill/>
                    </a:lnT>
                    <a:lnB>
                      <a:noFill/>
                    </a:lnB>
                  </a:tcPr>
                </a:tc>
                <a:tc>
                  <a:txBody>
                    <a:bodyPr/>
                    <a:lstStyle/>
                    <a:p>
                      <a:pPr algn="ctr" fontAlgn="ctr"/>
                      <a:r>
                        <a:rPr lang="en-US" altLang="zh-CN" sz="1300" b="0" i="0" u="none" strike="noStrike">
                          <a:solidFill>
                            <a:srgbClr val="000000"/>
                          </a:solidFill>
                          <a:effectLst/>
                          <a:latin typeface="微软雅黑" panose="020B0503020204020204" pitchFamily="34" charset="-122"/>
                          <a:ea typeface="微软雅黑" panose="020B0503020204020204" pitchFamily="34" charset="-122"/>
                        </a:rPr>
                        <a:t>14.83%</a:t>
                      </a:r>
                    </a:p>
                  </a:txBody>
                  <a:tcPr marL="11493" marR="11493" marT="11493" marB="0" anchor="ctr">
                    <a:lnL>
                      <a:noFill/>
                    </a:lnL>
                    <a:lnR>
                      <a:noFill/>
                    </a:lnR>
                    <a:lnT>
                      <a:noFill/>
                    </a:lnT>
                    <a:lnB>
                      <a:noFill/>
                    </a:lnB>
                  </a:tcPr>
                </a:tc>
                <a:tc>
                  <a:txBody>
                    <a:bodyPr/>
                    <a:lstStyle/>
                    <a:p>
                      <a:pPr algn="ctr" fontAlgn="ctr"/>
                      <a:r>
                        <a:rPr lang="en-US" altLang="zh-CN" sz="1300" b="0" i="0" u="none" strike="noStrike">
                          <a:solidFill>
                            <a:srgbClr val="000000"/>
                          </a:solidFill>
                          <a:effectLst/>
                          <a:latin typeface="微软雅黑" panose="020B0503020204020204" pitchFamily="34" charset="-122"/>
                          <a:ea typeface="微软雅黑" panose="020B0503020204020204" pitchFamily="34" charset="-122"/>
                        </a:rPr>
                        <a:t>-19.30%</a:t>
                      </a:r>
                    </a:p>
                  </a:txBody>
                  <a:tcPr marL="11493" marR="11493" marT="11493" marB="0" anchor="ctr">
                    <a:lnL>
                      <a:noFill/>
                    </a:lnL>
                    <a:lnR>
                      <a:noFill/>
                    </a:lnR>
                    <a:lnT>
                      <a:noFill/>
                    </a:lnT>
                    <a:lnB>
                      <a:noFill/>
                    </a:lnB>
                  </a:tcPr>
                </a:tc>
                <a:tc>
                  <a:txBody>
                    <a:bodyPr/>
                    <a:lstStyle/>
                    <a:p>
                      <a:pPr algn="ctr" fontAlgn="ctr"/>
                      <a:r>
                        <a:rPr lang="en-US" altLang="zh-CN" sz="1300" b="0" i="0" u="none" strike="noStrike">
                          <a:solidFill>
                            <a:srgbClr val="000000"/>
                          </a:solidFill>
                          <a:effectLst/>
                          <a:latin typeface="微软雅黑" panose="020B0503020204020204" pitchFamily="34" charset="-122"/>
                          <a:ea typeface="微软雅黑" panose="020B0503020204020204" pitchFamily="34" charset="-122"/>
                        </a:rPr>
                        <a:t>-7.01%</a:t>
                      </a:r>
                    </a:p>
                  </a:txBody>
                  <a:tcPr marL="11493" marR="11493" marT="11493" marB="0" anchor="ctr">
                    <a:lnL>
                      <a:noFill/>
                    </a:lnL>
                    <a:lnR>
                      <a:noFill/>
                    </a:lnR>
                    <a:lnT>
                      <a:noFill/>
                    </a:lnT>
                    <a:lnB>
                      <a:noFill/>
                    </a:lnB>
                  </a:tcPr>
                </a:tc>
                <a:tc>
                  <a:txBody>
                    <a:bodyPr/>
                    <a:lstStyle/>
                    <a:p>
                      <a:pPr algn="ctr" fontAlgn="ctr"/>
                      <a:r>
                        <a:rPr lang="en-US" altLang="zh-CN" sz="1300" b="0" i="0" u="none" strike="noStrike" dirty="0">
                          <a:solidFill>
                            <a:srgbClr val="000000"/>
                          </a:solidFill>
                          <a:effectLst/>
                          <a:latin typeface="微软雅黑" panose="020B0503020204020204" pitchFamily="34" charset="-122"/>
                          <a:ea typeface="微软雅黑" panose="020B0503020204020204" pitchFamily="34" charset="-122"/>
                        </a:rPr>
                        <a:t>5.40%</a:t>
                      </a:r>
                    </a:p>
                  </a:txBody>
                  <a:tcPr marL="11493" marR="11493" marT="11493" marB="0" anchor="ctr">
                    <a:lnL>
                      <a:noFill/>
                    </a:lnL>
                    <a:lnR>
                      <a:noFill/>
                    </a:lnR>
                    <a:lnT>
                      <a:noFill/>
                    </a:lnT>
                    <a:lnB>
                      <a:noFill/>
                    </a:lnB>
                  </a:tcPr>
                </a:tc>
                <a:tc>
                  <a:txBody>
                    <a:bodyPr/>
                    <a:lstStyle/>
                    <a:p>
                      <a:pPr algn="ctr" fontAlgn="ctr"/>
                      <a:r>
                        <a:rPr lang="en-US" altLang="zh-CN" sz="1300" b="0" i="0" u="none" strike="noStrike" dirty="0">
                          <a:solidFill>
                            <a:srgbClr val="000000"/>
                          </a:solidFill>
                          <a:effectLst/>
                          <a:latin typeface="微软雅黑" panose="020B0503020204020204" pitchFamily="34" charset="-122"/>
                          <a:ea typeface="微软雅黑" panose="020B0503020204020204" pitchFamily="34" charset="-122"/>
                        </a:rPr>
                        <a:t>28.81%</a:t>
                      </a:r>
                    </a:p>
                  </a:txBody>
                  <a:tcPr marL="11493" marR="11493" marT="11493" marB="0" anchor="ctr">
                    <a:lnL>
                      <a:noFill/>
                    </a:lnL>
                    <a:lnR>
                      <a:noFill/>
                    </a:lnR>
                    <a:lnT>
                      <a:noFill/>
                    </a:lnT>
                    <a:lnB>
                      <a:noFill/>
                    </a:lnB>
                  </a:tcPr>
                </a:tc>
                <a:extLst>
                  <a:ext uri="{0D108BD9-81ED-4DB2-BD59-A6C34878D82A}">
                    <a16:rowId xmlns:a16="http://schemas.microsoft.com/office/drawing/2014/main" xmlns="" val="10002"/>
                  </a:ext>
                </a:extLst>
              </a:tr>
              <a:tr h="356274">
                <a:tc>
                  <a:txBody>
                    <a:bodyPr/>
                    <a:lstStyle/>
                    <a:p>
                      <a:pPr algn="ctr" fontAlgn="ctr"/>
                      <a:r>
                        <a:rPr lang="zh-CN" altLang="en-US" sz="1300" b="0" i="0" u="none" strike="noStrike">
                          <a:solidFill>
                            <a:srgbClr val="000000"/>
                          </a:solidFill>
                          <a:effectLst/>
                          <a:latin typeface="微软雅黑" panose="020B0503020204020204" pitchFamily="34" charset="-122"/>
                          <a:ea typeface="微软雅黑" panose="020B0503020204020204" pitchFamily="34" charset="-122"/>
                        </a:rPr>
                        <a:t>中证</a:t>
                      </a:r>
                      <a:r>
                        <a:rPr lang="en-US" altLang="zh-CN" sz="1300" b="0" i="0" u="none" strike="noStrike">
                          <a:solidFill>
                            <a:srgbClr val="000000"/>
                          </a:solidFill>
                          <a:effectLst/>
                          <a:latin typeface="微软雅黑" panose="020B0503020204020204" pitchFamily="34" charset="-122"/>
                          <a:ea typeface="微软雅黑" panose="020B0503020204020204" pitchFamily="34" charset="-122"/>
                        </a:rPr>
                        <a:t>500</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002060"/>
                          </a:solidFill>
                          <a:effectLst/>
                          <a:latin typeface="微软雅黑" panose="020B0503020204020204" pitchFamily="34" charset="-122"/>
                          <a:ea typeface="微软雅黑" panose="020B0503020204020204" pitchFamily="34" charset="-122"/>
                        </a:rPr>
                        <a:t>27.49%</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002060"/>
                          </a:solidFill>
                          <a:effectLst/>
                          <a:latin typeface="微软雅黑" panose="020B0503020204020204" pitchFamily="34" charset="-122"/>
                          <a:ea typeface="微软雅黑" panose="020B0503020204020204" pitchFamily="34" charset="-122"/>
                        </a:rPr>
                        <a:t>20.87%</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002060"/>
                          </a:solidFill>
                          <a:effectLst/>
                          <a:latin typeface="微软雅黑" panose="020B0503020204020204" pitchFamily="34" charset="-122"/>
                          <a:ea typeface="微软雅黑" panose="020B0503020204020204" pitchFamily="34" charset="-122"/>
                        </a:rPr>
                        <a:t>15.58%</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002060"/>
                          </a:solidFill>
                          <a:effectLst/>
                          <a:latin typeface="微软雅黑" panose="020B0503020204020204" pitchFamily="34" charset="-122"/>
                          <a:ea typeface="微软雅黑" panose="020B0503020204020204" pitchFamily="34" charset="-122"/>
                        </a:rPr>
                        <a:t>-20.31%</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002060"/>
                          </a:solidFill>
                          <a:effectLst/>
                          <a:latin typeface="微软雅黑" panose="020B0503020204020204" pitchFamily="34" charset="-122"/>
                          <a:ea typeface="微软雅黑" panose="020B0503020204020204" pitchFamily="34" charset="-122"/>
                        </a:rPr>
                        <a:t>-7.42%</a:t>
                      </a:r>
                    </a:p>
                  </a:txBody>
                  <a:tcPr marL="11493" marR="11493" marT="11493" marB="0" anchor="ctr">
                    <a:lnL>
                      <a:noFill/>
                    </a:lnL>
                    <a:lnR>
                      <a:noFill/>
                    </a:lnR>
                    <a:lnT>
                      <a:noFill/>
                    </a:lnT>
                    <a:lnB>
                      <a:noFill/>
                    </a:lnB>
                  </a:tcPr>
                </a:tc>
                <a:tc>
                  <a:txBody>
                    <a:bodyPr/>
                    <a:lstStyle/>
                    <a:p>
                      <a:pPr algn="ctr" fontAlgn="ctr"/>
                      <a:r>
                        <a:rPr lang="en-US" altLang="zh-CN" sz="1300" b="1" i="0" u="none" strike="noStrike" dirty="0">
                          <a:solidFill>
                            <a:srgbClr val="002060"/>
                          </a:solidFill>
                          <a:effectLst/>
                          <a:latin typeface="微软雅黑" panose="020B0503020204020204" pitchFamily="34" charset="-122"/>
                          <a:ea typeface="微软雅黑" panose="020B0503020204020204" pitchFamily="34" charset="-122"/>
                        </a:rPr>
                        <a:t>5.46%</a:t>
                      </a:r>
                    </a:p>
                  </a:txBody>
                  <a:tcPr marL="11493" marR="11493" marT="11493" marB="0" anchor="ctr">
                    <a:lnL>
                      <a:noFill/>
                    </a:lnL>
                    <a:lnR>
                      <a:noFill/>
                    </a:lnR>
                    <a:lnT>
                      <a:noFill/>
                    </a:lnT>
                    <a:lnB>
                      <a:noFill/>
                    </a:lnB>
                  </a:tcPr>
                </a:tc>
                <a:tc>
                  <a:txBody>
                    <a:bodyPr/>
                    <a:lstStyle/>
                    <a:p>
                      <a:pPr algn="ctr" fontAlgn="ctr"/>
                      <a:r>
                        <a:rPr lang="en-US" altLang="zh-CN" sz="1300" b="1" i="0" u="none" strike="noStrike" dirty="0">
                          <a:solidFill>
                            <a:srgbClr val="002060"/>
                          </a:solidFill>
                          <a:effectLst/>
                          <a:latin typeface="微软雅黑" panose="020B0503020204020204" pitchFamily="34" charset="-122"/>
                          <a:ea typeface="微软雅黑" panose="020B0503020204020204" pitchFamily="34" charset="-122"/>
                        </a:rPr>
                        <a:t>30.39%</a:t>
                      </a:r>
                    </a:p>
                  </a:txBody>
                  <a:tcPr marL="11493" marR="11493" marT="11493" marB="0" anchor="ctr">
                    <a:lnL>
                      <a:noFill/>
                    </a:lnL>
                    <a:lnR>
                      <a:noFill/>
                    </a:lnR>
                    <a:lnT>
                      <a:noFill/>
                    </a:lnT>
                    <a:lnB>
                      <a:noFill/>
                    </a:lnB>
                  </a:tcPr>
                </a:tc>
                <a:extLst>
                  <a:ext uri="{0D108BD9-81ED-4DB2-BD59-A6C34878D82A}">
                    <a16:rowId xmlns:a16="http://schemas.microsoft.com/office/drawing/2014/main" xmlns="" val="10003"/>
                  </a:ext>
                </a:extLst>
              </a:tr>
              <a:tr h="344781">
                <a:tc>
                  <a:txBody>
                    <a:bodyPr/>
                    <a:lstStyle/>
                    <a:p>
                      <a:pPr algn="ctr" fontAlgn="ctr"/>
                      <a:r>
                        <a:rPr lang="zh-CN" altLang="en-US" sz="1300" b="0" i="0" u="none" strike="noStrike" dirty="0">
                          <a:solidFill>
                            <a:srgbClr val="000000"/>
                          </a:solidFill>
                          <a:effectLst/>
                          <a:latin typeface="微软雅黑" panose="020B0503020204020204" pitchFamily="34" charset="-122"/>
                          <a:ea typeface="微软雅黑" panose="020B0503020204020204" pitchFamily="34" charset="-122"/>
                        </a:rPr>
                        <a:t>超越指数收益</a:t>
                      </a:r>
                    </a:p>
                  </a:txBody>
                  <a:tcPr marL="11493" marR="11493" marT="11493" marB="0" anchor="ctr">
                    <a:lnL>
                      <a:noFill/>
                    </a:lnL>
                    <a:lnR>
                      <a:noFill/>
                    </a:lnR>
                    <a:lnT>
                      <a:noFill/>
                    </a:lnT>
                    <a:lnB>
                      <a:noFill/>
                    </a:lnB>
                  </a:tcPr>
                </a:tc>
                <a:tc>
                  <a:txBody>
                    <a:bodyPr/>
                    <a:lstStyle/>
                    <a:p>
                      <a:pPr algn="ctr" fontAlgn="ctr"/>
                      <a:r>
                        <a:rPr lang="en-US" altLang="zh-CN" sz="1300" b="1" i="0" u="none" strike="noStrike" dirty="0">
                          <a:solidFill>
                            <a:srgbClr val="FF0000"/>
                          </a:solidFill>
                          <a:effectLst/>
                          <a:latin typeface="微软雅黑" panose="020B0503020204020204" pitchFamily="34" charset="-122"/>
                          <a:ea typeface="微软雅黑" panose="020B0503020204020204" pitchFamily="34" charset="-122"/>
                        </a:rPr>
                        <a:t>2.22%</a:t>
                      </a:r>
                    </a:p>
                  </a:txBody>
                  <a:tcPr marL="11493" marR="11493" marT="11493" marB="0" anchor="ctr">
                    <a:lnL>
                      <a:noFill/>
                    </a:lnL>
                    <a:lnR>
                      <a:noFill/>
                    </a:lnR>
                    <a:lnT>
                      <a:noFill/>
                    </a:lnT>
                    <a:lnB>
                      <a:noFill/>
                    </a:lnB>
                  </a:tcPr>
                </a:tc>
                <a:tc>
                  <a:txBody>
                    <a:bodyPr/>
                    <a:lstStyle/>
                    <a:p>
                      <a:pPr algn="ctr" fontAlgn="ctr"/>
                      <a:r>
                        <a:rPr lang="en-US" altLang="zh-CN" sz="1300" b="1" i="0" u="none" strike="noStrike" dirty="0">
                          <a:solidFill>
                            <a:srgbClr val="FF0000"/>
                          </a:solidFill>
                          <a:effectLst/>
                          <a:latin typeface="微软雅黑" panose="020B0503020204020204" pitchFamily="34" charset="-122"/>
                          <a:ea typeface="微软雅黑" panose="020B0503020204020204" pitchFamily="34" charset="-122"/>
                        </a:rPr>
                        <a:t>20.50%</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FF0000"/>
                          </a:solidFill>
                          <a:effectLst/>
                          <a:latin typeface="微软雅黑" panose="020B0503020204020204" pitchFamily="34" charset="-122"/>
                          <a:ea typeface="微软雅黑" panose="020B0503020204020204" pitchFamily="34" charset="-122"/>
                        </a:rPr>
                        <a:t>16.58%</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FF0000"/>
                          </a:solidFill>
                          <a:effectLst/>
                          <a:latin typeface="微软雅黑" panose="020B0503020204020204" pitchFamily="34" charset="-122"/>
                          <a:ea typeface="微软雅黑" panose="020B0503020204020204" pitchFamily="34" charset="-122"/>
                        </a:rPr>
                        <a:t>0.56%</a:t>
                      </a:r>
                    </a:p>
                  </a:txBody>
                  <a:tcPr marL="11493" marR="11493" marT="11493" marB="0" anchor="ctr">
                    <a:lnL>
                      <a:noFill/>
                    </a:lnL>
                    <a:lnR>
                      <a:noFill/>
                    </a:lnR>
                    <a:lnT>
                      <a:noFill/>
                    </a:lnT>
                    <a:lnB>
                      <a:noFill/>
                    </a:lnB>
                  </a:tcPr>
                </a:tc>
                <a:tc>
                  <a:txBody>
                    <a:bodyPr/>
                    <a:lstStyle/>
                    <a:p>
                      <a:pPr algn="ctr" fontAlgn="ctr"/>
                      <a:r>
                        <a:rPr lang="en-US" altLang="zh-CN" sz="1300" b="1" i="0" u="none" strike="noStrike">
                          <a:solidFill>
                            <a:srgbClr val="FF0000"/>
                          </a:solidFill>
                          <a:effectLst/>
                          <a:latin typeface="微软雅黑" panose="020B0503020204020204" pitchFamily="34" charset="-122"/>
                          <a:ea typeface="微软雅黑" panose="020B0503020204020204" pitchFamily="34" charset="-122"/>
                        </a:rPr>
                        <a:t>1.79%</a:t>
                      </a:r>
                    </a:p>
                  </a:txBody>
                  <a:tcPr marL="11493" marR="11493" marT="11493" marB="0" anchor="ctr">
                    <a:lnL>
                      <a:noFill/>
                    </a:lnL>
                    <a:lnR>
                      <a:noFill/>
                    </a:lnR>
                    <a:lnT>
                      <a:noFill/>
                    </a:lnT>
                    <a:lnB>
                      <a:noFill/>
                    </a:lnB>
                  </a:tcPr>
                </a:tc>
                <a:tc>
                  <a:txBody>
                    <a:bodyPr/>
                    <a:lstStyle/>
                    <a:p>
                      <a:pPr algn="ctr" fontAlgn="ctr"/>
                      <a:r>
                        <a:rPr lang="en-US" altLang="zh-CN" sz="1300" b="1" i="0" u="none" strike="noStrike" dirty="0">
                          <a:solidFill>
                            <a:srgbClr val="FF0000"/>
                          </a:solidFill>
                          <a:effectLst/>
                          <a:latin typeface="微软雅黑" panose="020B0503020204020204" pitchFamily="34" charset="-122"/>
                          <a:ea typeface="微软雅黑" panose="020B0503020204020204" pitchFamily="34" charset="-122"/>
                        </a:rPr>
                        <a:t>6.46%</a:t>
                      </a:r>
                    </a:p>
                  </a:txBody>
                  <a:tcPr marL="11493" marR="11493" marT="11493" marB="0" anchor="ctr">
                    <a:lnL>
                      <a:noFill/>
                    </a:lnL>
                    <a:lnR>
                      <a:noFill/>
                    </a:lnR>
                    <a:lnT>
                      <a:noFill/>
                    </a:lnT>
                    <a:lnB>
                      <a:noFill/>
                    </a:lnB>
                  </a:tcPr>
                </a:tc>
                <a:tc>
                  <a:txBody>
                    <a:bodyPr/>
                    <a:lstStyle/>
                    <a:p>
                      <a:pPr algn="ctr" fontAlgn="ctr"/>
                      <a:r>
                        <a:rPr lang="en-US" altLang="zh-CN" sz="1300" b="1" i="0" u="none" strike="noStrike" dirty="0">
                          <a:solidFill>
                            <a:srgbClr val="FF0000"/>
                          </a:solidFill>
                          <a:effectLst/>
                          <a:latin typeface="微软雅黑" panose="020B0503020204020204" pitchFamily="34" charset="-122"/>
                          <a:ea typeface="微软雅黑" panose="020B0503020204020204" pitchFamily="34" charset="-122"/>
                        </a:rPr>
                        <a:t>6.06%</a:t>
                      </a:r>
                    </a:p>
                  </a:txBody>
                  <a:tcPr marL="11493" marR="11493" marT="11493" marB="0" anchor="ctr">
                    <a:lnL>
                      <a:noFill/>
                    </a:lnL>
                    <a:lnR>
                      <a:noFill/>
                    </a:lnR>
                    <a:lnT>
                      <a:noFill/>
                    </a:lnT>
                    <a:lnB>
                      <a:noFill/>
                    </a:lnB>
                  </a:tcPr>
                </a:tc>
                <a:extLst>
                  <a:ext uri="{0D108BD9-81ED-4DB2-BD59-A6C34878D82A}">
                    <a16:rowId xmlns:a16="http://schemas.microsoft.com/office/drawing/2014/main" xmlns="" val="10004"/>
                  </a:ext>
                </a:extLst>
              </a:tr>
            </a:tbl>
          </a:graphicData>
        </a:graphic>
      </p:graphicFrame>
      <p:graphicFrame>
        <p:nvGraphicFramePr>
          <p:cNvPr id="5" name="表格 4"/>
          <p:cNvGraphicFramePr>
            <a:graphicFrameLocks noGrp="1"/>
          </p:cNvGraphicFramePr>
          <p:nvPr/>
        </p:nvGraphicFramePr>
        <p:xfrm>
          <a:off x="2833066" y="3951413"/>
          <a:ext cx="8676120" cy="1888380"/>
        </p:xfrm>
        <a:graphic>
          <a:graphicData uri="http://schemas.openxmlformats.org/drawingml/2006/table">
            <a:tbl>
              <a:tblPr/>
              <a:tblGrid>
                <a:gridCol w="1632037">
                  <a:extLst>
                    <a:ext uri="{9D8B030D-6E8A-4147-A177-3AD203B41FA5}">
                      <a16:colId xmlns:a16="http://schemas.microsoft.com/office/drawing/2014/main" xmlns="" val="20000"/>
                    </a:ext>
                  </a:extLst>
                </a:gridCol>
                <a:gridCol w="958164">
                  <a:extLst>
                    <a:ext uri="{9D8B030D-6E8A-4147-A177-3AD203B41FA5}">
                      <a16:colId xmlns:a16="http://schemas.microsoft.com/office/drawing/2014/main" xmlns="" val="20001"/>
                    </a:ext>
                  </a:extLst>
                </a:gridCol>
                <a:gridCol w="982732">
                  <a:extLst>
                    <a:ext uri="{9D8B030D-6E8A-4147-A177-3AD203B41FA5}">
                      <a16:colId xmlns:a16="http://schemas.microsoft.com/office/drawing/2014/main" xmlns="" val="20002"/>
                    </a:ext>
                  </a:extLst>
                </a:gridCol>
                <a:gridCol w="1042398">
                  <a:extLst>
                    <a:ext uri="{9D8B030D-6E8A-4147-A177-3AD203B41FA5}">
                      <a16:colId xmlns:a16="http://schemas.microsoft.com/office/drawing/2014/main" xmlns="" val="20003"/>
                    </a:ext>
                  </a:extLst>
                </a:gridCol>
                <a:gridCol w="958164">
                  <a:extLst>
                    <a:ext uri="{9D8B030D-6E8A-4147-A177-3AD203B41FA5}">
                      <a16:colId xmlns:a16="http://schemas.microsoft.com/office/drawing/2014/main" xmlns="" val="20004"/>
                    </a:ext>
                  </a:extLst>
                </a:gridCol>
                <a:gridCol w="968693">
                  <a:extLst>
                    <a:ext uri="{9D8B030D-6E8A-4147-A177-3AD203B41FA5}">
                      <a16:colId xmlns:a16="http://schemas.microsoft.com/office/drawing/2014/main" xmlns="" val="20005"/>
                    </a:ext>
                  </a:extLst>
                </a:gridCol>
                <a:gridCol w="1066966">
                  <a:extLst>
                    <a:ext uri="{9D8B030D-6E8A-4147-A177-3AD203B41FA5}">
                      <a16:colId xmlns:a16="http://schemas.microsoft.com/office/drawing/2014/main" xmlns="" val="20006"/>
                    </a:ext>
                  </a:extLst>
                </a:gridCol>
                <a:gridCol w="1066966">
                  <a:extLst>
                    <a:ext uri="{9D8B030D-6E8A-4147-A177-3AD203B41FA5}">
                      <a16:colId xmlns:a16="http://schemas.microsoft.com/office/drawing/2014/main" xmlns="" val="20007"/>
                    </a:ext>
                  </a:extLst>
                </a:gridCol>
              </a:tblGrid>
              <a:tr h="469088">
                <a:tc>
                  <a:txBody>
                    <a:bodyPr/>
                    <a:lstStyle/>
                    <a:p>
                      <a:pPr algn="ctr" fontAlgn="ctr"/>
                      <a:r>
                        <a:rPr lang="zh-CN" altLang="en-US" sz="1800" b="1" i="0" u="none" strike="noStrike">
                          <a:solidFill>
                            <a:srgbClr val="FFFFFF"/>
                          </a:solidFill>
                          <a:effectLst/>
                          <a:latin typeface="微软雅黑" panose="020B0503020204020204" pitchFamily="34" charset="-122"/>
                          <a:ea typeface="微软雅黑" panose="020B0503020204020204" pitchFamily="34" charset="-122"/>
                        </a:rPr>
                        <a:t>名称</a:t>
                      </a:r>
                    </a:p>
                  </a:txBody>
                  <a:tcPr marL="12028" marR="12028" marT="12028" marB="0" anchor="ctr">
                    <a:lnL>
                      <a:noFill/>
                    </a:lnL>
                    <a:lnR>
                      <a:noFill/>
                    </a:lnR>
                    <a:lnT>
                      <a:noFill/>
                    </a:lnT>
                    <a:lnB>
                      <a:noFill/>
                    </a:lnB>
                    <a:solidFill>
                      <a:srgbClr val="002060"/>
                    </a:solidFill>
                  </a:tcPr>
                </a:tc>
                <a:tc>
                  <a:txBody>
                    <a:bodyPr/>
                    <a:lstStyle/>
                    <a:p>
                      <a:pPr algn="ctr" fontAlgn="ctr"/>
                      <a:r>
                        <a:rPr lang="en-US" altLang="zh-CN" sz="1800" b="1" i="0" u="none" strike="noStrike">
                          <a:solidFill>
                            <a:srgbClr val="FFFFFF"/>
                          </a:solidFill>
                          <a:effectLst/>
                          <a:latin typeface="微软雅黑" panose="020B0503020204020204" pitchFamily="34" charset="-122"/>
                          <a:ea typeface="微软雅黑" panose="020B0503020204020204" pitchFamily="34" charset="-122"/>
                        </a:rPr>
                        <a:t>2019</a:t>
                      </a:r>
                      <a:r>
                        <a:rPr lang="zh-CN" altLang="en-US" sz="1800" b="1" i="0" u="none" strike="noStrike">
                          <a:solidFill>
                            <a:srgbClr val="FFFFFF"/>
                          </a:solidFill>
                          <a:effectLst/>
                          <a:latin typeface="微软雅黑" panose="020B0503020204020204" pitchFamily="34" charset="-122"/>
                          <a:ea typeface="微软雅黑" panose="020B0503020204020204" pitchFamily="34" charset="-122"/>
                        </a:rPr>
                        <a:t>年</a:t>
                      </a:r>
                    </a:p>
                  </a:txBody>
                  <a:tcPr marL="12028" marR="12028" marT="12028" marB="0" anchor="ctr">
                    <a:lnL>
                      <a:noFill/>
                    </a:lnL>
                    <a:lnR>
                      <a:noFill/>
                    </a:lnR>
                    <a:lnT>
                      <a:noFill/>
                    </a:lnT>
                    <a:lnB>
                      <a:noFill/>
                    </a:lnB>
                    <a:solidFill>
                      <a:srgbClr val="002060"/>
                    </a:solidFill>
                  </a:tcPr>
                </a:tc>
                <a:tc>
                  <a:txBody>
                    <a:bodyPr/>
                    <a:lstStyle/>
                    <a:p>
                      <a:pPr algn="ctr" fontAlgn="ctr"/>
                      <a:r>
                        <a:rPr lang="en-US" altLang="zh-CN" sz="1800" b="1" i="0" u="none" strike="noStrike">
                          <a:solidFill>
                            <a:srgbClr val="FFFFFF"/>
                          </a:solidFill>
                          <a:effectLst/>
                          <a:latin typeface="微软雅黑" panose="020B0503020204020204" pitchFamily="34" charset="-122"/>
                          <a:ea typeface="微软雅黑" panose="020B0503020204020204" pitchFamily="34" charset="-122"/>
                        </a:rPr>
                        <a:t>2020</a:t>
                      </a:r>
                      <a:r>
                        <a:rPr lang="zh-CN" altLang="en-US" sz="1800" b="1" i="0" u="none" strike="noStrike">
                          <a:solidFill>
                            <a:srgbClr val="FFFFFF"/>
                          </a:solidFill>
                          <a:effectLst/>
                          <a:latin typeface="微软雅黑" panose="020B0503020204020204" pitchFamily="34" charset="-122"/>
                          <a:ea typeface="微软雅黑" panose="020B0503020204020204" pitchFamily="34" charset="-122"/>
                        </a:rPr>
                        <a:t>年</a:t>
                      </a:r>
                    </a:p>
                  </a:txBody>
                  <a:tcPr marL="12028" marR="12028" marT="12028" marB="0" anchor="ctr">
                    <a:lnL>
                      <a:noFill/>
                    </a:lnL>
                    <a:lnR>
                      <a:noFill/>
                    </a:lnR>
                    <a:lnT>
                      <a:noFill/>
                    </a:lnT>
                    <a:lnB>
                      <a:noFill/>
                    </a:lnB>
                    <a:solidFill>
                      <a:srgbClr val="002060"/>
                    </a:solidFill>
                  </a:tcPr>
                </a:tc>
                <a:tc>
                  <a:txBody>
                    <a:bodyPr/>
                    <a:lstStyle/>
                    <a:p>
                      <a:pPr algn="ctr" fontAlgn="ctr"/>
                      <a:r>
                        <a:rPr lang="en-US" altLang="zh-CN" sz="1800" b="1" i="0" u="none" strike="noStrike">
                          <a:solidFill>
                            <a:srgbClr val="FFFFFF"/>
                          </a:solidFill>
                          <a:effectLst/>
                          <a:latin typeface="微软雅黑" panose="020B0503020204020204" pitchFamily="34" charset="-122"/>
                          <a:ea typeface="微软雅黑" panose="020B0503020204020204" pitchFamily="34" charset="-122"/>
                        </a:rPr>
                        <a:t>2021</a:t>
                      </a:r>
                      <a:r>
                        <a:rPr lang="zh-CN" altLang="en-US" sz="1800" b="1" i="0" u="none" strike="noStrike">
                          <a:solidFill>
                            <a:srgbClr val="FFFFFF"/>
                          </a:solidFill>
                          <a:effectLst/>
                          <a:latin typeface="微软雅黑" panose="020B0503020204020204" pitchFamily="34" charset="-122"/>
                          <a:ea typeface="微软雅黑" panose="020B0503020204020204" pitchFamily="34" charset="-122"/>
                        </a:rPr>
                        <a:t>年</a:t>
                      </a:r>
                    </a:p>
                  </a:txBody>
                  <a:tcPr marL="12028" marR="12028" marT="12028" marB="0" anchor="ctr">
                    <a:lnL>
                      <a:noFill/>
                    </a:lnL>
                    <a:lnR>
                      <a:noFill/>
                    </a:lnR>
                    <a:lnT>
                      <a:noFill/>
                    </a:lnT>
                    <a:lnB>
                      <a:noFill/>
                    </a:lnB>
                    <a:solidFill>
                      <a:srgbClr val="002060"/>
                    </a:solidFill>
                  </a:tcPr>
                </a:tc>
                <a:tc>
                  <a:txBody>
                    <a:bodyPr/>
                    <a:lstStyle/>
                    <a:p>
                      <a:pPr algn="ctr" fontAlgn="ctr"/>
                      <a:r>
                        <a:rPr lang="en-US" altLang="zh-CN" sz="1800" b="1" i="0" u="none" strike="noStrike">
                          <a:solidFill>
                            <a:srgbClr val="FFFFFF"/>
                          </a:solidFill>
                          <a:effectLst/>
                          <a:latin typeface="微软雅黑" panose="020B0503020204020204" pitchFamily="34" charset="-122"/>
                          <a:ea typeface="微软雅黑" panose="020B0503020204020204" pitchFamily="34" charset="-122"/>
                        </a:rPr>
                        <a:t>2022</a:t>
                      </a:r>
                      <a:r>
                        <a:rPr lang="zh-CN" altLang="en-US" sz="1800" b="1" i="0" u="none" strike="noStrike">
                          <a:solidFill>
                            <a:srgbClr val="FFFFFF"/>
                          </a:solidFill>
                          <a:effectLst/>
                          <a:latin typeface="微软雅黑" panose="020B0503020204020204" pitchFamily="34" charset="-122"/>
                          <a:ea typeface="微软雅黑" panose="020B0503020204020204" pitchFamily="34" charset="-122"/>
                        </a:rPr>
                        <a:t>年</a:t>
                      </a:r>
                    </a:p>
                  </a:txBody>
                  <a:tcPr marL="12028" marR="12028" marT="12028" marB="0" anchor="ctr">
                    <a:lnL>
                      <a:noFill/>
                    </a:lnL>
                    <a:lnR>
                      <a:noFill/>
                    </a:lnR>
                    <a:lnT>
                      <a:noFill/>
                    </a:lnT>
                    <a:lnB>
                      <a:noFill/>
                    </a:lnB>
                    <a:solidFill>
                      <a:srgbClr val="002060"/>
                    </a:solidFill>
                  </a:tcPr>
                </a:tc>
                <a:tc>
                  <a:txBody>
                    <a:bodyPr/>
                    <a:lstStyle/>
                    <a:p>
                      <a:pPr algn="ctr" fontAlgn="ctr"/>
                      <a:r>
                        <a:rPr lang="en-US" altLang="zh-CN" sz="1800" b="1" i="0" u="none" strike="noStrike">
                          <a:solidFill>
                            <a:srgbClr val="FFFFFF"/>
                          </a:solidFill>
                          <a:effectLst/>
                          <a:latin typeface="微软雅黑" panose="020B0503020204020204" pitchFamily="34" charset="-122"/>
                          <a:ea typeface="微软雅黑" panose="020B0503020204020204" pitchFamily="34" charset="-122"/>
                        </a:rPr>
                        <a:t>2023</a:t>
                      </a:r>
                      <a:r>
                        <a:rPr lang="zh-CN" altLang="en-US" sz="1800" b="1" i="0" u="none" strike="noStrike">
                          <a:solidFill>
                            <a:srgbClr val="FFFFFF"/>
                          </a:solidFill>
                          <a:effectLst/>
                          <a:latin typeface="微软雅黑" panose="020B0503020204020204" pitchFamily="34" charset="-122"/>
                          <a:ea typeface="微软雅黑" panose="020B0503020204020204" pitchFamily="34" charset="-122"/>
                        </a:rPr>
                        <a:t>年</a:t>
                      </a:r>
                    </a:p>
                  </a:txBody>
                  <a:tcPr marL="12028" marR="12028" marT="12028" marB="0" anchor="ctr">
                    <a:lnL>
                      <a:noFill/>
                    </a:lnL>
                    <a:lnR>
                      <a:noFill/>
                    </a:lnR>
                    <a:lnT>
                      <a:noFill/>
                    </a:lnT>
                    <a:lnB>
                      <a:noFill/>
                    </a:lnB>
                    <a:solidFill>
                      <a:srgbClr val="002060"/>
                    </a:solidFill>
                  </a:tcPr>
                </a:tc>
                <a:tc>
                  <a:txBody>
                    <a:bodyPr/>
                    <a:lstStyle/>
                    <a:p>
                      <a:pPr algn="ctr" fontAlgn="ctr"/>
                      <a:r>
                        <a:rPr lang="en-US" altLang="zh-CN" sz="1800" b="1" i="0" u="none" strike="noStrike" dirty="0">
                          <a:solidFill>
                            <a:srgbClr val="FFFFFF"/>
                          </a:solidFill>
                          <a:effectLst/>
                          <a:latin typeface="微软雅黑" panose="020B0503020204020204" pitchFamily="34" charset="-122"/>
                          <a:ea typeface="微软雅黑" panose="020B0503020204020204" pitchFamily="34" charset="-122"/>
                        </a:rPr>
                        <a:t>2024</a:t>
                      </a:r>
                      <a:r>
                        <a:rPr lang="zh-CN" altLang="en-US" sz="1800" b="1" i="0" u="none" strike="noStrike" dirty="0">
                          <a:solidFill>
                            <a:srgbClr val="FFFFFF"/>
                          </a:solidFill>
                          <a:effectLst/>
                          <a:latin typeface="微软雅黑" panose="020B0503020204020204" pitchFamily="34" charset="-122"/>
                          <a:ea typeface="微软雅黑" panose="020B0503020204020204" pitchFamily="34" charset="-122"/>
                        </a:rPr>
                        <a:t>年</a:t>
                      </a:r>
                    </a:p>
                  </a:txBody>
                  <a:tcPr marL="12028" marR="12028" marT="12028" marB="0" anchor="ctr">
                    <a:lnL>
                      <a:noFill/>
                    </a:lnL>
                    <a:lnR>
                      <a:noFill/>
                    </a:lnR>
                    <a:lnT>
                      <a:noFill/>
                    </a:lnT>
                    <a:lnB>
                      <a:noFill/>
                    </a:lnB>
                    <a:solidFill>
                      <a:srgbClr val="002060"/>
                    </a:solidFill>
                  </a:tcPr>
                </a:tc>
                <a:tc>
                  <a:txBody>
                    <a:bodyPr/>
                    <a:lstStyle/>
                    <a:p>
                      <a:pPr algn="ctr" fontAlgn="ctr"/>
                      <a:r>
                        <a:rPr lang="en-US" altLang="zh-CN" sz="1800" b="1" i="0" u="none" strike="noStrike" dirty="0">
                          <a:solidFill>
                            <a:srgbClr val="FFFFFF"/>
                          </a:solidFill>
                          <a:effectLst/>
                          <a:latin typeface="微软雅黑" panose="020B0503020204020204" pitchFamily="34" charset="-122"/>
                          <a:ea typeface="微软雅黑" panose="020B0503020204020204" pitchFamily="34" charset="-122"/>
                        </a:rPr>
                        <a:t>2025</a:t>
                      </a:r>
                      <a:r>
                        <a:rPr lang="zh-CN" altLang="en-US" sz="1800" b="1" i="0" u="none" strike="noStrike" dirty="0">
                          <a:solidFill>
                            <a:srgbClr val="FFFFFF"/>
                          </a:solidFill>
                          <a:effectLst/>
                          <a:latin typeface="微软雅黑" panose="020B0503020204020204" pitchFamily="34" charset="-122"/>
                          <a:ea typeface="微软雅黑" panose="020B0503020204020204" pitchFamily="34" charset="-122"/>
                        </a:rPr>
                        <a:t>年</a:t>
                      </a:r>
                    </a:p>
                  </a:txBody>
                  <a:tcPr marL="12028" marR="12028" marT="12028" marB="0" anchor="ctr">
                    <a:lnL>
                      <a:noFill/>
                    </a:lnL>
                    <a:lnR>
                      <a:noFill/>
                    </a:lnR>
                    <a:lnT>
                      <a:noFill/>
                    </a:lnT>
                    <a:lnB>
                      <a:noFill/>
                    </a:lnB>
                    <a:solidFill>
                      <a:srgbClr val="002060"/>
                    </a:solidFill>
                  </a:tcPr>
                </a:tc>
                <a:extLst>
                  <a:ext uri="{0D108BD9-81ED-4DB2-BD59-A6C34878D82A}">
                    <a16:rowId xmlns:a16="http://schemas.microsoft.com/office/drawing/2014/main" xmlns="" val="10000"/>
                  </a:ext>
                </a:extLst>
              </a:tr>
              <a:tr h="324753">
                <a:tc>
                  <a:txBody>
                    <a:bodyPr/>
                    <a:lstStyle/>
                    <a:p>
                      <a:pPr algn="ctr"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博道沪深</a:t>
                      </a: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300</a:t>
                      </a: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增强</a:t>
                      </a: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A</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FF0000"/>
                          </a:solidFill>
                          <a:effectLst/>
                          <a:latin typeface="微软雅黑" panose="020B0503020204020204" pitchFamily="34" charset="-122"/>
                          <a:ea typeface="微软雅黑" panose="020B0503020204020204" pitchFamily="34" charset="-122"/>
                        </a:rPr>
                        <a:t>15.11%</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FF0000"/>
                          </a:solidFill>
                          <a:effectLst/>
                          <a:latin typeface="微软雅黑" panose="020B0503020204020204" pitchFamily="34" charset="-122"/>
                          <a:ea typeface="微软雅黑" panose="020B0503020204020204" pitchFamily="34" charset="-122"/>
                        </a:rPr>
                        <a:t>42.53%</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FF0000"/>
                          </a:solidFill>
                          <a:effectLst/>
                          <a:latin typeface="微软雅黑" panose="020B0503020204020204" pitchFamily="34" charset="-122"/>
                          <a:ea typeface="微软雅黑" panose="020B0503020204020204" pitchFamily="34" charset="-122"/>
                        </a:rPr>
                        <a:t>-1.97%</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FF0000"/>
                          </a:solidFill>
                          <a:effectLst/>
                          <a:latin typeface="微软雅黑" panose="020B0503020204020204" pitchFamily="34" charset="-122"/>
                          <a:ea typeface="微软雅黑" panose="020B0503020204020204" pitchFamily="34" charset="-122"/>
                        </a:rPr>
                        <a:t>-20.86%</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FF0000"/>
                          </a:solidFill>
                          <a:effectLst/>
                          <a:latin typeface="微软雅黑" panose="020B0503020204020204" pitchFamily="34" charset="-122"/>
                          <a:ea typeface="微软雅黑" panose="020B0503020204020204" pitchFamily="34" charset="-122"/>
                        </a:rPr>
                        <a:t>-4.27%</a:t>
                      </a:r>
                    </a:p>
                  </a:txBody>
                  <a:tcPr marL="12028" marR="12028" marT="12028" marB="0" anchor="ctr">
                    <a:lnL>
                      <a:noFill/>
                    </a:lnL>
                    <a:lnR>
                      <a:noFill/>
                    </a:lnR>
                    <a:lnT>
                      <a:noFill/>
                    </a:lnT>
                    <a:lnB>
                      <a:noFill/>
                    </a:lnB>
                  </a:tcPr>
                </a:tc>
                <a:tc>
                  <a:txBody>
                    <a:bodyPr/>
                    <a:lstStyle/>
                    <a:p>
                      <a:pPr algn="ctr" fontAlgn="ctr"/>
                      <a:r>
                        <a:rPr lang="en-US" altLang="zh-CN" sz="1400" b="1" i="0" u="none" strike="noStrike" dirty="0">
                          <a:solidFill>
                            <a:srgbClr val="FF0000"/>
                          </a:solidFill>
                          <a:effectLst/>
                          <a:latin typeface="微软雅黑" panose="020B0503020204020204" pitchFamily="34" charset="-122"/>
                          <a:ea typeface="微软雅黑" panose="020B0503020204020204" pitchFamily="34" charset="-122"/>
                        </a:rPr>
                        <a:t>19.09%</a:t>
                      </a:r>
                    </a:p>
                  </a:txBody>
                  <a:tcPr marL="12028" marR="12028" marT="12028" marB="0" anchor="ctr">
                    <a:lnL>
                      <a:noFill/>
                    </a:lnL>
                    <a:lnR>
                      <a:noFill/>
                    </a:lnR>
                    <a:lnT>
                      <a:noFill/>
                    </a:lnT>
                    <a:lnB>
                      <a:noFill/>
                    </a:lnB>
                  </a:tcPr>
                </a:tc>
                <a:tc>
                  <a:txBody>
                    <a:bodyPr/>
                    <a:lstStyle/>
                    <a:p>
                      <a:pPr algn="ctr" fontAlgn="ctr"/>
                      <a:r>
                        <a:rPr lang="en-US" altLang="zh-CN" sz="1400" b="1" i="0" u="none" strike="noStrike" dirty="0">
                          <a:solidFill>
                            <a:srgbClr val="FF0000"/>
                          </a:solidFill>
                          <a:effectLst/>
                          <a:latin typeface="微软雅黑" panose="020B0503020204020204" pitchFamily="34" charset="-122"/>
                          <a:ea typeface="微软雅黑" panose="020B0503020204020204" pitchFamily="34" charset="-122"/>
                        </a:rPr>
                        <a:t>23.03%</a:t>
                      </a:r>
                    </a:p>
                  </a:txBody>
                  <a:tcPr marL="12028" marR="12028" marT="12028" marB="0" anchor="ctr">
                    <a:lnL>
                      <a:noFill/>
                    </a:lnL>
                    <a:lnR>
                      <a:noFill/>
                    </a:lnR>
                    <a:lnT>
                      <a:noFill/>
                    </a:lnT>
                    <a:lnB>
                      <a:noFill/>
                    </a:lnB>
                  </a:tcPr>
                </a:tc>
                <a:extLst>
                  <a:ext uri="{0D108BD9-81ED-4DB2-BD59-A6C34878D82A}">
                    <a16:rowId xmlns:a16="http://schemas.microsoft.com/office/drawing/2014/main" xmlns="" val="10001"/>
                  </a:ext>
                </a:extLst>
              </a:tr>
              <a:tr h="360837">
                <a:tc>
                  <a:txBody>
                    <a:bodyPr/>
                    <a:lstStyle/>
                    <a:p>
                      <a:pPr algn="ctr"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业绩比较基准</a:t>
                      </a:r>
                    </a:p>
                  </a:txBody>
                  <a:tcPr marL="12028" marR="12028" marT="12028" marB="0" anchor="ctr">
                    <a:lnL>
                      <a:noFill/>
                    </a:lnL>
                    <a:lnR>
                      <a:noFill/>
                    </a:lnR>
                    <a:lnT>
                      <a:noFill/>
                    </a:lnT>
                    <a:lnB>
                      <a:noFill/>
                    </a:lnB>
                  </a:tcPr>
                </a:tc>
                <a:tc>
                  <a:txBody>
                    <a:bodyPr/>
                    <a:lstStyle/>
                    <a:p>
                      <a:pPr algn="ctr"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3.79%</a:t>
                      </a:r>
                    </a:p>
                  </a:txBody>
                  <a:tcPr marL="12028" marR="12028" marT="12028" marB="0" anchor="ctr">
                    <a:lnL>
                      <a:noFill/>
                    </a:lnL>
                    <a:lnR>
                      <a:noFill/>
                    </a:lnR>
                    <a:lnT>
                      <a:noFill/>
                    </a:lnT>
                    <a:lnB>
                      <a:noFill/>
                    </a:lnB>
                  </a:tcPr>
                </a:tc>
                <a:tc>
                  <a:txBody>
                    <a:bodyPr/>
                    <a:lstStyle/>
                    <a:p>
                      <a:pPr algn="ctr"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25.86%</a:t>
                      </a:r>
                    </a:p>
                  </a:txBody>
                  <a:tcPr marL="12028" marR="12028" marT="12028" marB="0" anchor="ctr">
                    <a:lnL>
                      <a:noFill/>
                    </a:lnL>
                    <a:lnR>
                      <a:noFill/>
                    </a:lnR>
                    <a:lnT>
                      <a:noFill/>
                    </a:lnT>
                    <a:lnB>
                      <a:noFill/>
                    </a:lnB>
                  </a:tcPr>
                </a:tc>
                <a:tc>
                  <a:txBody>
                    <a:bodyPr/>
                    <a:lstStyle/>
                    <a:p>
                      <a:pPr algn="ctr"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-4.85%</a:t>
                      </a:r>
                    </a:p>
                  </a:txBody>
                  <a:tcPr marL="12028" marR="12028" marT="12028" marB="0" anchor="ctr">
                    <a:lnL>
                      <a:noFill/>
                    </a:lnL>
                    <a:lnR>
                      <a:noFill/>
                    </a:lnR>
                    <a:lnT>
                      <a:noFill/>
                    </a:lnT>
                    <a:lnB>
                      <a:noFill/>
                    </a:lnB>
                  </a:tcPr>
                </a:tc>
                <a:tc>
                  <a:txBody>
                    <a:bodyPr/>
                    <a:lstStyle/>
                    <a:p>
                      <a:pPr algn="ctr"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-20.58%</a:t>
                      </a:r>
                    </a:p>
                  </a:txBody>
                  <a:tcPr marL="12028" marR="12028" marT="12028" marB="0" anchor="ctr">
                    <a:lnL>
                      <a:noFill/>
                    </a:lnL>
                    <a:lnR>
                      <a:noFill/>
                    </a:lnR>
                    <a:lnT>
                      <a:noFill/>
                    </a:lnT>
                    <a:lnB>
                      <a:noFill/>
                    </a:lnB>
                  </a:tcPr>
                </a:tc>
                <a:tc>
                  <a:txBody>
                    <a:bodyPr/>
                    <a:lstStyle/>
                    <a:p>
                      <a:pPr algn="ctr"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-10.79%</a:t>
                      </a:r>
                    </a:p>
                  </a:txBody>
                  <a:tcPr marL="12028" marR="12028" marT="12028" marB="0" anchor="ctr">
                    <a:lnL>
                      <a:noFill/>
                    </a:lnL>
                    <a:lnR>
                      <a:noFill/>
                    </a:lnR>
                    <a:lnT>
                      <a:noFill/>
                    </a:lnT>
                    <a:lnB>
                      <a:noFill/>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14.04%</a:t>
                      </a:r>
                    </a:p>
                  </a:txBody>
                  <a:tcPr marL="12028" marR="12028" marT="12028" marB="0" anchor="ctr">
                    <a:lnL>
                      <a:noFill/>
                    </a:lnL>
                    <a:lnR>
                      <a:noFill/>
                    </a:lnR>
                    <a:lnT>
                      <a:noFill/>
                    </a:lnT>
                    <a:lnB>
                      <a:noFill/>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16.79%</a:t>
                      </a:r>
                    </a:p>
                  </a:txBody>
                  <a:tcPr marL="12028" marR="12028" marT="12028" marB="0" anchor="ctr">
                    <a:lnL>
                      <a:noFill/>
                    </a:lnL>
                    <a:lnR>
                      <a:noFill/>
                    </a:lnR>
                    <a:lnT>
                      <a:noFill/>
                    </a:lnT>
                    <a:lnB>
                      <a:noFill/>
                    </a:lnB>
                  </a:tcPr>
                </a:tc>
                <a:extLst>
                  <a:ext uri="{0D108BD9-81ED-4DB2-BD59-A6C34878D82A}">
                    <a16:rowId xmlns:a16="http://schemas.microsoft.com/office/drawing/2014/main" xmlns="" val="10002"/>
                  </a:ext>
                </a:extLst>
              </a:tr>
              <a:tr h="372865">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沪深</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300</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002060"/>
                          </a:solidFill>
                          <a:effectLst/>
                          <a:latin typeface="微软雅黑" panose="020B0503020204020204" pitchFamily="34" charset="-122"/>
                          <a:ea typeface="微软雅黑" panose="020B0503020204020204" pitchFamily="34" charset="-122"/>
                        </a:rPr>
                        <a:t>3.93%</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002060"/>
                          </a:solidFill>
                          <a:effectLst/>
                          <a:latin typeface="微软雅黑" panose="020B0503020204020204" pitchFamily="34" charset="-122"/>
                          <a:ea typeface="微软雅黑" panose="020B0503020204020204" pitchFamily="34" charset="-122"/>
                        </a:rPr>
                        <a:t>27.21%</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002060"/>
                          </a:solidFill>
                          <a:effectLst/>
                          <a:latin typeface="微软雅黑" panose="020B0503020204020204" pitchFamily="34" charset="-122"/>
                          <a:ea typeface="微软雅黑" panose="020B0503020204020204" pitchFamily="34" charset="-122"/>
                        </a:rPr>
                        <a:t>-5.20%</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002060"/>
                          </a:solidFill>
                          <a:effectLst/>
                          <a:latin typeface="微软雅黑" panose="020B0503020204020204" pitchFamily="34" charset="-122"/>
                          <a:ea typeface="微软雅黑" panose="020B0503020204020204" pitchFamily="34" charset="-122"/>
                        </a:rPr>
                        <a:t>-21.63%</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002060"/>
                          </a:solidFill>
                          <a:effectLst/>
                          <a:latin typeface="微软雅黑" panose="020B0503020204020204" pitchFamily="34" charset="-122"/>
                          <a:ea typeface="微软雅黑" panose="020B0503020204020204" pitchFamily="34" charset="-122"/>
                        </a:rPr>
                        <a:t>-11.38%</a:t>
                      </a:r>
                    </a:p>
                  </a:txBody>
                  <a:tcPr marL="12028" marR="12028" marT="12028" marB="0" anchor="ctr">
                    <a:lnL>
                      <a:noFill/>
                    </a:lnL>
                    <a:lnR>
                      <a:noFill/>
                    </a:lnR>
                    <a:lnT>
                      <a:noFill/>
                    </a:lnT>
                    <a:lnB>
                      <a:noFill/>
                    </a:lnB>
                  </a:tcPr>
                </a:tc>
                <a:tc>
                  <a:txBody>
                    <a:bodyPr/>
                    <a:lstStyle/>
                    <a:p>
                      <a:pPr algn="ctr" fontAlgn="ctr"/>
                      <a:r>
                        <a:rPr lang="en-US" altLang="zh-CN" sz="1400" b="1" i="0" u="none" strike="noStrike" dirty="0">
                          <a:solidFill>
                            <a:srgbClr val="002060"/>
                          </a:solidFill>
                          <a:effectLst/>
                          <a:latin typeface="微软雅黑" panose="020B0503020204020204" pitchFamily="34" charset="-122"/>
                          <a:ea typeface="微软雅黑" panose="020B0503020204020204" pitchFamily="34" charset="-122"/>
                        </a:rPr>
                        <a:t>14.68%</a:t>
                      </a:r>
                    </a:p>
                  </a:txBody>
                  <a:tcPr marL="12028" marR="12028" marT="12028" marB="0" anchor="ctr">
                    <a:lnL>
                      <a:noFill/>
                    </a:lnL>
                    <a:lnR>
                      <a:noFill/>
                    </a:lnR>
                    <a:lnT>
                      <a:noFill/>
                    </a:lnT>
                    <a:lnB>
                      <a:noFill/>
                    </a:lnB>
                  </a:tcPr>
                </a:tc>
                <a:tc>
                  <a:txBody>
                    <a:bodyPr/>
                    <a:lstStyle/>
                    <a:p>
                      <a:pPr algn="ctr" fontAlgn="ctr"/>
                      <a:r>
                        <a:rPr lang="en-US" altLang="zh-CN" sz="1400" b="1" i="0" u="none" strike="noStrike" dirty="0">
                          <a:solidFill>
                            <a:srgbClr val="002060"/>
                          </a:solidFill>
                          <a:effectLst/>
                          <a:latin typeface="微软雅黑" panose="020B0503020204020204" pitchFamily="34" charset="-122"/>
                          <a:ea typeface="微软雅黑" panose="020B0503020204020204" pitchFamily="34" charset="-122"/>
                        </a:rPr>
                        <a:t>17.66%</a:t>
                      </a:r>
                    </a:p>
                  </a:txBody>
                  <a:tcPr marL="12028" marR="12028" marT="12028" marB="0" anchor="ctr">
                    <a:lnL>
                      <a:noFill/>
                    </a:lnL>
                    <a:lnR>
                      <a:noFill/>
                    </a:lnR>
                    <a:lnT>
                      <a:noFill/>
                    </a:lnT>
                    <a:lnB>
                      <a:noFill/>
                    </a:lnB>
                  </a:tcPr>
                </a:tc>
                <a:extLst>
                  <a:ext uri="{0D108BD9-81ED-4DB2-BD59-A6C34878D82A}">
                    <a16:rowId xmlns:a16="http://schemas.microsoft.com/office/drawing/2014/main" xmlns="" val="10003"/>
                  </a:ext>
                </a:extLst>
              </a:tr>
              <a:tr h="360837">
                <a:tc>
                  <a:txBody>
                    <a:bodyPr/>
                    <a:lstStyle/>
                    <a:p>
                      <a:pPr algn="ctr"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超越指数收益</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FF0000"/>
                          </a:solidFill>
                          <a:effectLst/>
                          <a:latin typeface="微软雅黑" panose="020B0503020204020204" pitchFamily="34" charset="-122"/>
                          <a:ea typeface="微软雅黑" panose="020B0503020204020204" pitchFamily="34" charset="-122"/>
                        </a:rPr>
                        <a:t>11.18%</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FF0000"/>
                          </a:solidFill>
                          <a:effectLst/>
                          <a:latin typeface="微软雅黑" panose="020B0503020204020204" pitchFamily="34" charset="-122"/>
                          <a:ea typeface="微软雅黑" panose="020B0503020204020204" pitchFamily="34" charset="-122"/>
                        </a:rPr>
                        <a:t>15.32%</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FF0000"/>
                          </a:solidFill>
                          <a:effectLst/>
                          <a:latin typeface="微软雅黑" panose="020B0503020204020204" pitchFamily="34" charset="-122"/>
                          <a:ea typeface="微软雅黑" panose="020B0503020204020204" pitchFamily="34" charset="-122"/>
                        </a:rPr>
                        <a:t>3.23%</a:t>
                      </a:r>
                    </a:p>
                  </a:txBody>
                  <a:tcPr marL="12028" marR="12028" marT="12028" marB="0" anchor="ctr">
                    <a:lnL>
                      <a:noFill/>
                    </a:lnL>
                    <a:lnR>
                      <a:noFill/>
                    </a:lnR>
                    <a:lnT>
                      <a:noFill/>
                    </a:lnT>
                    <a:lnB>
                      <a:noFill/>
                    </a:lnB>
                  </a:tcPr>
                </a:tc>
                <a:tc>
                  <a:txBody>
                    <a:bodyPr/>
                    <a:lstStyle/>
                    <a:p>
                      <a:pPr algn="ctr" fontAlgn="ctr"/>
                      <a:r>
                        <a:rPr lang="en-US" altLang="zh-CN" sz="1400" b="1" i="0" u="none" strike="noStrike">
                          <a:solidFill>
                            <a:srgbClr val="FF0000"/>
                          </a:solidFill>
                          <a:effectLst/>
                          <a:latin typeface="微软雅黑" panose="020B0503020204020204" pitchFamily="34" charset="-122"/>
                          <a:ea typeface="微软雅黑" panose="020B0503020204020204" pitchFamily="34" charset="-122"/>
                        </a:rPr>
                        <a:t>0.77%</a:t>
                      </a:r>
                    </a:p>
                  </a:txBody>
                  <a:tcPr marL="12028" marR="12028" marT="12028" marB="0" anchor="ctr">
                    <a:lnL>
                      <a:noFill/>
                    </a:lnL>
                    <a:lnR>
                      <a:noFill/>
                    </a:lnR>
                    <a:lnT>
                      <a:noFill/>
                    </a:lnT>
                    <a:lnB>
                      <a:noFill/>
                    </a:lnB>
                  </a:tcPr>
                </a:tc>
                <a:tc>
                  <a:txBody>
                    <a:bodyPr/>
                    <a:lstStyle/>
                    <a:p>
                      <a:pPr algn="ctr" fontAlgn="ctr"/>
                      <a:r>
                        <a:rPr lang="en-US" altLang="zh-CN" sz="1400" b="1" i="0" u="none" strike="noStrike" dirty="0">
                          <a:solidFill>
                            <a:srgbClr val="FF0000"/>
                          </a:solidFill>
                          <a:effectLst/>
                          <a:latin typeface="微软雅黑" panose="020B0503020204020204" pitchFamily="34" charset="-122"/>
                          <a:ea typeface="微软雅黑" panose="020B0503020204020204" pitchFamily="34" charset="-122"/>
                        </a:rPr>
                        <a:t>7.11%</a:t>
                      </a:r>
                    </a:p>
                  </a:txBody>
                  <a:tcPr marL="12028" marR="12028" marT="12028" marB="0" anchor="ctr">
                    <a:lnL>
                      <a:noFill/>
                    </a:lnL>
                    <a:lnR>
                      <a:noFill/>
                    </a:lnR>
                    <a:lnT>
                      <a:noFill/>
                    </a:lnT>
                    <a:lnB>
                      <a:noFill/>
                    </a:lnB>
                  </a:tcPr>
                </a:tc>
                <a:tc>
                  <a:txBody>
                    <a:bodyPr/>
                    <a:lstStyle/>
                    <a:p>
                      <a:pPr algn="ctr" fontAlgn="ctr"/>
                      <a:r>
                        <a:rPr lang="en-US" altLang="zh-CN" sz="1400" b="1" i="0" u="none" strike="noStrike" dirty="0">
                          <a:solidFill>
                            <a:srgbClr val="FF0000"/>
                          </a:solidFill>
                          <a:effectLst/>
                          <a:latin typeface="微软雅黑" panose="020B0503020204020204" pitchFamily="34" charset="-122"/>
                          <a:ea typeface="微软雅黑" panose="020B0503020204020204" pitchFamily="34" charset="-122"/>
                        </a:rPr>
                        <a:t>4.41%</a:t>
                      </a:r>
                    </a:p>
                  </a:txBody>
                  <a:tcPr marL="12028" marR="12028" marT="12028" marB="0" anchor="ctr">
                    <a:lnL>
                      <a:noFill/>
                    </a:lnL>
                    <a:lnR>
                      <a:noFill/>
                    </a:lnR>
                    <a:lnT>
                      <a:noFill/>
                    </a:lnT>
                    <a:lnB>
                      <a:noFill/>
                    </a:lnB>
                  </a:tcPr>
                </a:tc>
                <a:tc>
                  <a:txBody>
                    <a:bodyPr/>
                    <a:lstStyle/>
                    <a:p>
                      <a:pPr algn="ctr" fontAlgn="ctr"/>
                      <a:r>
                        <a:rPr lang="en-US" altLang="zh-CN" sz="1400" b="1" i="0" u="none" strike="noStrike" dirty="0">
                          <a:solidFill>
                            <a:srgbClr val="FF0000"/>
                          </a:solidFill>
                          <a:effectLst/>
                          <a:latin typeface="微软雅黑" panose="020B0503020204020204" pitchFamily="34" charset="-122"/>
                          <a:ea typeface="微软雅黑" panose="020B0503020204020204" pitchFamily="34" charset="-122"/>
                        </a:rPr>
                        <a:t>5.37%</a:t>
                      </a:r>
                    </a:p>
                  </a:txBody>
                  <a:tcPr marL="12028" marR="12028" marT="12028" marB="0" anchor="ctr">
                    <a:lnL>
                      <a:noFill/>
                    </a:lnL>
                    <a:lnR>
                      <a:noFill/>
                    </a:lnR>
                    <a:lnT>
                      <a:noFill/>
                    </a:lnT>
                    <a:lnB>
                      <a:noFill/>
                    </a:lnB>
                  </a:tcPr>
                </a:tc>
                <a:extLst>
                  <a:ext uri="{0D108BD9-81ED-4DB2-BD59-A6C34878D82A}">
                    <a16:rowId xmlns:a16="http://schemas.microsoft.com/office/drawing/2014/main" xmlns="" val="10004"/>
                  </a:ext>
                </a:extLst>
              </a:tr>
            </a:tbl>
          </a:graphicData>
        </a:graphic>
      </p:graphicFrame>
      <p:sp>
        <p:nvSpPr>
          <p:cNvPr id="6" name="灯片编号占位符 5">
            <a:extLst>
              <a:ext uri="{FF2B5EF4-FFF2-40B4-BE49-F238E27FC236}">
                <a16:creationId xmlns:a16="http://schemas.microsoft.com/office/drawing/2014/main" xmlns="" id="{53229084-58DC-C29A-FABC-BB2529578E6B}"/>
              </a:ext>
            </a:extLst>
          </p:cNvPr>
          <p:cNvSpPr>
            <a:spLocks noGrp="1"/>
          </p:cNvSpPr>
          <p:nvPr>
            <p:ph type="sldNum" sz="quarter" idx="11"/>
          </p:nvPr>
        </p:nvSpPr>
        <p:spPr/>
        <p:txBody>
          <a:bodyPr/>
          <a:lstStyle/>
          <a:p>
            <a:pPr>
              <a:defRPr/>
            </a:pPr>
            <a:fld id="{6E91549D-98B7-4077-996F-05BE1B29F039}" type="slidenum">
              <a:rPr lang="zh-CN" altLang="en-US" smtClean="0"/>
              <a:t>27</a:t>
            </a:fld>
            <a:endParaRPr lang="zh-CN" altLang="en-US" dirty="0"/>
          </a:p>
        </p:txBody>
      </p:sp>
    </p:spTree>
    <p:extLst>
      <p:ext uri="{BB962C8B-B14F-4D97-AF65-F5344CB8AC3E}">
        <p14:creationId xmlns:p14="http://schemas.microsoft.com/office/powerpoint/2010/main" val="491443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03ADCDD-315B-BCF1-0D3C-D0791E677135}"/>
            </a:ext>
          </a:extLst>
        </p:cNvPr>
        <p:cNvGrpSpPr/>
        <p:nvPr/>
      </p:nvGrpSpPr>
      <p:grpSpPr>
        <a:xfrm>
          <a:off x="0" y="0"/>
          <a:ext cx="0" cy="0"/>
          <a:chOff x="0" y="0"/>
          <a:chExt cx="0" cy="0"/>
        </a:xfrm>
      </p:grpSpPr>
      <p:sp>
        <p:nvSpPr>
          <p:cNvPr id="13314" name="标题 1">
            <a:extLst>
              <a:ext uri="{FF2B5EF4-FFF2-40B4-BE49-F238E27FC236}">
                <a16:creationId xmlns:a16="http://schemas.microsoft.com/office/drawing/2014/main" xmlns="" id="{9AEF0D81-A973-2BAE-A8B7-41E8AB152C7A}"/>
              </a:ext>
            </a:extLst>
          </p:cNvPr>
          <p:cNvSpPr>
            <a:spLocks noGrp="1"/>
          </p:cNvSpPr>
          <p:nvPr>
            <p:ph type="title"/>
          </p:nvPr>
        </p:nvSpPr>
        <p:spPr>
          <a:xfrm>
            <a:off x="1355725" y="415925"/>
            <a:ext cx="3586163" cy="534988"/>
          </a:xfrm>
        </p:spPr>
        <p:txBody>
          <a:bodyPr/>
          <a:lstStyle/>
          <a:p>
            <a:r>
              <a:rPr lang="zh-CN" altLang="en-US"/>
              <a:t>目录</a:t>
            </a:r>
          </a:p>
        </p:txBody>
      </p:sp>
      <p:sp>
        <p:nvSpPr>
          <p:cNvPr id="2" name="灯片编号占位符 1">
            <a:extLst>
              <a:ext uri="{FF2B5EF4-FFF2-40B4-BE49-F238E27FC236}">
                <a16:creationId xmlns:a16="http://schemas.microsoft.com/office/drawing/2014/main" xmlns="" id="{A4AB4521-0A0C-D37F-C58C-CA9349D914D9}"/>
              </a:ext>
            </a:extLst>
          </p:cNvPr>
          <p:cNvSpPr>
            <a:spLocks noGrp="1"/>
          </p:cNvSpPr>
          <p:nvPr>
            <p:ph type="sldNum" sz="quarter" idx="11"/>
          </p:nvPr>
        </p:nvSpPr>
        <p:spPr/>
        <p:txBody>
          <a:bodyPr/>
          <a:lstStyle/>
          <a:p>
            <a:pPr>
              <a:defRPr/>
            </a:pPr>
            <a:fld id="{6E91549D-98B7-4077-996F-05BE1B29F039}" type="slidenum">
              <a:rPr lang="zh-CN" altLang="en-US" smtClean="0"/>
              <a:t>28</a:t>
            </a:fld>
            <a:endParaRPr lang="zh-CN" altLang="en-US" dirty="0"/>
          </a:p>
        </p:txBody>
      </p:sp>
      <p:sp>
        <p:nvSpPr>
          <p:cNvPr id="3" name="íşḷíḓe">
            <a:extLst>
              <a:ext uri="{FF2B5EF4-FFF2-40B4-BE49-F238E27FC236}">
                <a16:creationId xmlns:a16="http://schemas.microsoft.com/office/drawing/2014/main" xmlns="" id="{1DD730F1-2D6D-E3AE-6E65-5093DB2A4E30}"/>
              </a:ext>
            </a:extLst>
          </p:cNvPr>
          <p:cNvSpPr txBox="1"/>
          <p:nvPr/>
        </p:nvSpPr>
        <p:spPr>
          <a:xfrm>
            <a:off x="1355727" y="2940917"/>
            <a:ext cx="973137" cy="831850"/>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en-US" altLang="zh-CN" sz="4800" dirty="0">
                <a:solidFill>
                  <a:srgbClr val="00366C"/>
                </a:solidFill>
              </a:rPr>
              <a:t>02</a:t>
            </a:r>
            <a:endParaRPr lang="zh-CN" altLang="en-US" sz="4800" dirty="0">
              <a:solidFill>
                <a:srgbClr val="00366C"/>
              </a:solidFill>
            </a:endParaRPr>
          </a:p>
        </p:txBody>
      </p:sp>
      <p:sp>
        <p:nvSpPr>
          <p:cNvPr id="7" name="îSḻíḑè">
            <a:extLst>
              <a:ext uri="{FF2B5EF4-FFF2-40B4-BE49-F238E27FC236}">
                <a16:creationId xmlns:a16="http://schemas.microsoft.com/office/drawing/2014/main" xmlns="" id="{0E511245-3301-6249-267E-C3FBFE3147AD}"/>
              </a:ext>
            </a:extLst>
          </p:cNvPr>
          <p:cNvSpPr txBox="1"/>
          <p:nvPr/>
        </p:nvSpPr>
        <p:spPr>
          <a:xfrm>
            <a:off x="2328861" y="3100610"/>
            <a:ext cx="7464843" cy="4616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zh-CN" altLang="en-US" sz="2400" dirty="0">
                <a:solidFill>
                  <a:srgbClr val="00366C"/>
                </a:solidFill>
              </a:rPr>
              <a:t>量化“梦之队”：行业领先的“超”能力</a:t>
            </a:r>
          </a:p>
        </p:txBody>
      </p:sp>
      <p:cxnSp>
        <p:nvCxnSpPr>
          <p:cNvPr id="11" name="iṧḷíde">
            <a:extLst>
              <a:ext uri="{FF2B5EF4-FFF2-40B4-BE49-F238E27FC236}">
                <a16:creationId xmlns:a16="http://schemas.microsoft.com/office/drawing/2014/main" xmlns="" id="{E78D332D-C6A0-375D-AEAB-3601D2B45D44}"/>
              </a:ext>
            </a:extLst>
          </p:cNvPr>
          <p:cNvCxnSpPr/>
          <p:nvPr/>
        </p:nvCxnSpPr>
        <p:spPr>
          <a:xfrm rot="5400000" flipV="1">
            <a:off x="3455196" y="868779"/>
            <a:ext cx="0" cy="3910013"/>
          </a:xfrm>
          <a:prstGeom prst="line">
            <a:avLst/>
          </a:prstGeom>
          <a:ln w="12700">
            <a:solidFill>
              <a:schemeClr val="tx1">
                <a:lumMod val="50000"/>
                <a:lumOff val="50000"/>
                <a:alpha val="20000"/>
              </a:schemeClr>
            </a:solidFill>
            <a:headEnd type="diamond"/>
          </a:ln>
        </p:spPr>
        <p:style>
          <a:lnRef idx="1">
            <a:schemeClr val="accent1"/>
          </a:lnRef>
          <a:fillRef idx="0">
            <a:schemeClr val="accent1"/>
          </a:fillRef>
          <a:effectRef idx="0">
            <a:schemeClr val="accent1"/>
          </a:effectRef>
          <a:fontRef idx="minor">
            <a:schemeClr val="tx1"/>
          </a:fontRef>
        </p:style>
      </p:cxnSp>
      <p:sp>
        <p:nvSpPr>
          <p:cNvPr id="19" name="îṩľïďé">
            <a:extLst>
              <a:ext uri="{FF2B5EF4-FFF2-40B4-BE49-F238E27FC236}">
                <a16:creationId xmlns:a16="http://schemas.microsoft.com/office/drawing/2014/main" xmlns="" id="{E3B90526-81BA-7807-80EA-1830727B6201}"/>
              </a:ext>
            </a:extLst>
          </p:cNvPr>
          <p:cNvSpPr txBox="1"/>
          <p:nvPr/>
        </p:nvSpPr>
        <p:spPr>
          <a:xfrm>
            <a:off x="1355726" y="1896912"/>
            <a:ext cx="1079500" cy="830263"/>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en-US" altLang="zh-CN" sz="4800" dirty="0">
                <a:solidFill>
                  <a:srgbClr val="00366C"/>
                </a:solidFill>
              </a:rPr>
              <a:t>01</a:t>
            </a:r>
            <a:endParaRPr lang="zh-CN" altLang="en-US" sz="4800" dirty="0">
              <a:solidFill>
                <a:srgbClr val="00366C"/>
              </a:solidFill>
            </a:endParaRPr>
          </a:p>
        </p:txBody>
      </p:sp>
      <p:sp>
        <p:nvSpPr>
          <p:cNvPr id="20" name="ïšḷîḓé">
            <a:extLst>
              <a:ext uri="{FF2B5EF4-FFF2-40B4-BE49-F238E27FC236}">
                <a16:creationId xmlns:a16="http://schemas.microsoft.com/office/drawing/2014/main" xmlns="" id="{3141C793-F04F-682B-3FF7-82307D6D8607}"/>
              </a:ext>
            </a:extLst>
          </p:cNvPr>
          <p:cNvSpPr txBox="1"/>
          <p:nvPr/>
        </p:nvSpPr>
        <p:spPr>
          <a:xfrm>
            <a:off x="2373312" y="2111374"/>
            <a:ext cx="5403064" cy="4616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zh-CN" altLang="en-US" sz="2400" dirty="0">
                <a:solidFill>
                  <a:srgbClr val="00366C"/>
                </a:solidFill>
              </a:rPr>
              <a:t>中证全指指数：</a:t>
            </a:r>
            <a:r>
              <a:rPr lang="en-US" altLang="zh-CN" sz="2400" dirty="0">
                <a:solidFill>
                  <a:srgbClr val="00366C"/>
                </a:solidFill>
              </a:rPr>
              <a:t>A</a:t>
            </a:r>
            <a:r>
              <a:rPr lang="zh-CN" altLang="en-US" sz="2400" dirty="0">
                <a:solidFill>
                  <a:srgbClr val="00366C"/>
                </a:solidFill>
              </a:rPr>
              <a:t>股最“全”指数</a:t>
            </a:r>
          </a:p>
        </p:txBody>
      </p:sp>
      <p:cxnSp>
        <p:nvCxnSpPr>
          <p:cNvPr id="21" name="iṧḷíde">
            <a:extLst>
              <a:ext uri="{FF2B5EF4-FFF2-40B4-BE49-F238E27FC236}">
                <a16:creationId xmlns:a16="http://schemas.microsoft.com/office/drawing/2014/main" xmlns="" id="{3100B1CE-38B8-5BB8-3E24-344BD4CBF2A9}"/>
              </a:ext>
            </a:extLst>
          </p:cNvPr>
          <p:cNvCxnSpPr/>
          <p:nvPr/>
        </p:nvCxnSpPr>
        <p:spPr>
          <a:xfrm rot="5400000" flipV="1">
            <a:off x="3455196" y="1859035"/>
            <a:ext cx="0" cy="3910013"/>
          </a:xfrm>
          <a:prstGeom prst="line">
            <a:avLst/>
          </a:prstGeom>
          <a:ln w="12700">
            <a:solidFill>
              <a:schemeClr val="tx1">
                <a:lumMod val="50000"/>
                <a:lumOff val="50000"/>
                <a:alpha val="20000"/>
              </a:schemeClr>
            </a:solidFill>
            <a:headEnd type="diamond"/>
          </a:ln>
        </p:spPr>
        <p:style>
          <a:lnRef idx="1">
            <a:schemeClr val="accent1"/>
          </a:lnRef>
          <a:fillRef idx="0">
            <a:schemeClr val="accent1"/>
          </a:fillRef>
          <a:effectRef idx="0">
            <a:schemeClr val="accent1"/>
          </a:effectRef>
          <a:fontRef idx="minor">
            <a:schemeClr val="tx1"/>
          </a:fontRef>
        </p:style>
      </p:cxnSp>
      <p:sp>
        <p:nvSpPr>
          <p:cNvPr id="22" name="íşḷíḓe">
            <a:extLst>
              <a:ext uri="{FF2B5EF4-FFF2-40B4-BE49-F238E27FC236}">
                <a16:creationId xmlns:a16="http://schemas.microsoft.com/office/drawing/2014/main" xmlns="" id="{A20B0D0D-7124-4DE4-721C-654FA671A6BE}"/>
              </a:ext>
            </a:extLst>
          </p:cNvPr>
          <p:cNvSpPr txBox="1"/>
          <p:nvPr/>
        </p:nvSpPr>
        <p:spPr>
          <a:xfrm>
            <a:off x="1355726" y="3962297"/>
            <a:ext cx="973137" cy="831850"/>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en-US" altLang="zh-CN" sz="4800" dirty="0">
                <a:solidFill>
                  <a:srgbClr val="EA5838"/>
                </a:solidFill>
              </a:rPr>
              <a:t>03</a:t>
            </a:r>
            <a:endParaRPr lang="zh-CN" altLang="en-US" sz="4800" dirty="0">
              <a:solidFill>
                <a:srgbClr val="EA5838"/>
              </a:solidFill>
            </a:endParaRPr>
          </a:p>
        </p:txBody>
      </p:sp>
      <p:sp>
        <p:nvSpPr>
          <p:cNvPr id="23" name="îSḻíḑè">
            <a:extLst>
              <a:ext uri="{FF2B5EF4-FFF2-40B4-BE49-F238E27FC236}">
                <a16:creationId xmlns:a16="http://schemas.microsoft.com/office/drawing/2014/main" xmlns="" id="{0091D822-4008-303F-08CA-142419E59C92}"/>
              </a:ext>
            </a:extLst>
          </p:cNvPr>
          <p:cNvSpPr txBox="1"/>
          <p:nvPr/>
        </p:nvSpPr>
        <p:spPr>
          <a:xfrm>
            <a:off x="2328862" y="4121990"/>
            <a:ext cx="4518668" cy="4616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eaLnBrk="1" fontAlgn="auto" hangingPunct="1">
              <a:spcBef>
                <a:spcPts val="0"/>
              </a:spcBef>
              <a:spcAft>
                <a:spcPts val="0"/>
              </a:spcAft>
              <a:defRPr/>
            </a:pPr>
            <a:r>
              <a:rPr lang="zh-CN" altLang="en-US" sz="2400" dirty="0">
                <a:solidFill>
                  <a:srgbClr val="EA5838"/>
                </a:solidFill>
              </a:rPr>
              <a:t>与优秀同行：博道基金介绍</a:t>
            </a:r>
          </a:p>
        </p:txBody>
      </p:sp>
      <p:cxnSp>
        <p:nvCxnSpPr>
          <p:cNvPr id="24" name="iṧḷíde">
            <a:extLst>
              <a:ext uri="{FF2B5EF4-FFF2-40B4-BE49-F238E27FC236}">
                <a16:creationId xmlns:a16="http://schemas.microsoft.com/office/drawing/2014/main" xmlns="" id="{7DA46F26-2C9D-57B6-CF6A-7A9A1AFD0C10}"/>
              </a:ext>
            </a:extLst>
          </p:cNvPr>
          <p:cNvCxnSpPr/>
          <p:nvPr/>
        </p:nvCxnSpPr>
        <p:spPr>
          <a:xfrm rot="5400000" flipV="1">
            <a:off x="3455195" y="2880415"/>
            <a:ext cx="0" cy="3910013"/>
          </a:xfrm>
          <a:prstGeom prst="line">
            <a:avLst/>
          </a:prstGeom>
          <a:ln w="12700">
            <a:solidFill>
              <a:schemeClr val="tx1">
                <a:lumMod val="50000"/>
                <a:lumOff val="50000"/>
                <a:alpha val="20000"/>
              </a:schemeClr>
            </a:solidFill>
            <a:headEnd type="diamo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2556657"/>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4" name="组合 2"/>
          <p:cNvGrpSpPr/>
          <p:nvPr/>
        </p:nvGrpSpPr>
        <p:grpSpPr>
          <a:xfrm>
            <a:off x="960120" y="1494314"/>
            <a:ext cx="10031730" cy="3915572"/>
            <a:chOff x="2019300" y="2858899"/>
            <a:chExt cx="20063460" cy="7831144"/>
          </a:xfrm>
        </p:grpSpPr>
        <p:sp>
          <p:nvSpPr>
            <p:cNvPr id="1048618" name="矩形: 圆角 3"/>
            <p:cNvSpPr/>
            <p:nvPr/>
          </p:nvSpPr>
          <p:spPr bwMode="auto">
            <a:xfrm>
              <a:off x="2019300" y="3146790"/>
              <a:ext cx="3620792" cy="1080634"/>
            </a:xfrm>
            <a:prstGeom prst="roundRect">
              <a:avLst>
                <a:gd name="adj" fmla="val 50000"/>
              </a:avLst>
            </a:prstGeom>
            <a:solidFill>
              <a:srgbClr val="00366C"/>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专业团队</a:t>
              </a:r>
            </a:p>
          </p:txBody>
        </p:sp>
        <p:sp>
          <p:nvSpPr>
            <p:cNvPr id="1048619" name="矩形: 圆角 5"/>
            <p:cNvSpPr/>
            <p:nvPr/>
          </p:nvSpPr>
          <p:spPr bwMode="auto">
            <a:xfrm>
              <a:off x="2019300" y="6112631"/>
              <a:ext cx="3620792" cy="1080634"/>
            </a:xfrm>
            <a:prstGeom prst="roundRect">
              <a:avLst>
                <a:gd name="adj" fmla="val 50000"/>
              </a:avLst>
            </a:prstGeom>
            <a:solidFill>
              <a:srgbClr val="00366C"/>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着眼长期</a:t>
              </a:r>
            </a:p>
          </p:txBody>
        </p:sp>
        <p:sp>
          <p:nvSpPr>
            <p:cNvPr id="1048620" name="矩形: 圆角 6"/>
            <p:cNvSpPr/>
            <p:nvPr/>
          </p:nvSpPr>
          <p:spPr bwMode="auto">
            <a:xfrm>
              <a:off x="2019300" y="9078471"/>
              <a:ext cx="3620792" cy="1080634"/>
            </a:xfrm>
            <a:prstGeom prst="roundRect">
              <a:avLst>
                <a:gd name="adj" fmla="val 50000"/>
              </a:avLst>
            </a:prstGeom>
            <a:solidFill>
              <a:srgbClr val="00366C"/>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倡导慢富</a:t>
              </a:r>
            </a:p>
          </p:txBody>
        </p:sp>
        <p:sp>
          <p:nvSpPr>
            <p:cNvPr id="1048621" name="文本框 1"/>
            <p:cNvSpPr txBox="1"/>
            <p:nvPr/>
          </p:nvSpPr>
          <p:spPr>
            <a:xfrm>
              <a:off x="5973306" y="2858899"/>
              <a:ext cx="16109454" cy="174881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核心管理团队平均从业年限</a:t>
              </a: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超过</a:t>
              </a:r>
              <a:r>
                <a:rPr kumimoji="0" lang="en-US" altLang="zh-CN"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24</a:t>
              </a: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年</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，投资团队平均从业年限</a:t>
              </a: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超过</a:t>
              </a:r>
              <a:r>
                <a:rPr kumimoji="0" lang="en-US" altLang="zh-CN"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16</a:t>
              </a: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年</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，不乏</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年宝藏老将和实力中生代，历经多轮市场牛熊周期考验</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48622" name="文本框 7"/>
            <p:cNvSpPr txBox="1"/>
            <p:nvPr/>
          </p:nvSpPr>
          <p:spPr>
            <a:xfrm>
              <a:off x="5973306" y="5430639"/>
              <a:ext cx="16109454" cy="2579810"/>
            </a:xfrm>
            <a:prstGeom prst="rect">
              <a:avLst/>
            </a:prstGeom>
            <a:noFill/>
          </p:spPr>
          <p:txBody>
            <a:bodyPr wrap="square" rtlCol="0">
              <a:spAutoFit/>
            </a:bodyPr>
            <a:lstStyle/>
            <a:p>
              <a:pPr marL="0" marR="0" lvl="0" indent="0" algn="l" defTabSz="914400" rtl="0" eaLnBrk="1" fontAlgn="base" latinLnBrk="0" hangingPunct="1">
                <a:lnSpc>
                  <a:spcPct val="150000"/>
                </a:lnSpc>
                <a:spcBef>
                  <a:spcPts val="900"/>
                </a:spcBef>
                <a:spcAft>
                  <a:spcPct val="0"/>
                </a:spcAft>
                <a:buClr>
                  <a:srgbClr val="F0720A"/>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公司倡导</a:t>
              </a: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“长期投资，与优秀同行”</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的投资理念，致力于通过长期投资分享优秀企业</a:t>
              </a: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持续创造的价值</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；公司由员工持股，通过</a:t>
              </a: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长效的激励体系</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，匹配长期价值投资的目标</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48623" name="文本框 8"/>
            <p:cNvSpPr txBox="1"/>
            <p:nvPr/>
          </p:nvSpPr>
          <p:spPr>
            <a:xfrm>
              <a:off x="5973306" y="8941229"/>
              <a:ext cx="16109454" cy="1748814"/>
            </a:xfrm>
            <a:prstGeom prst="rect">
              <a:avLst/>
            </a:prstGeom>
            <a:noFill/>
          </p:spPr>
          <p:txBody>
            <a:bodyPr wrap="square" rtlCol="0">
              <a:spAutoFit/>
            </a:bodyPr>
            <a:lstStyle/>
            <a:p>
              <a:pPr marL="0" marR="0" lvl="0" indent="0" algn="l" defTabSz="914400" rtl="0" eaLnBrk="1" fontAlgn="base" latinLnBrk="0" hangingPunct="1">
                <a:lnSpc>
                  <a:spcPct val="150000"/>
                </a:lnSpc>
                <a:spcBef>
                  <a:spcPts val="900"/>
                </a:spcBef>
                <a:spcAft>
                  <a:spcPct val="0"/>
                </a:spcAft>
                <a:buClr>
                  <a:srgbClr val="F0720A"/>
                </a:buClr>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公司在业内首创“慢慢变富”的理财观念和</a:t>
              </a: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“慢富道”</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投资者服务品牌和客户陪伴体系，致力于提升客户长期投资基金的</a:t>
              </a: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获得感</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和</a:t>
              </a: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投资体验</a:t>
              </a:r>
              <a:endParaRPr kumimoji="0" lang="en-US" altLang="zh-CN" sz="16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endParaRPr>
            </a:p>
          </p:txBody>
        </p:sp>
      </p:grpSp>
      <p:sp>
        <p:nvSpPr>
          <p:cNvPr id="1048624" name="标题 11"/>
          <p:cNvSpPr>
            <a:spLocks noGrp="1"/>
          </p:cNvSpPr>
          <p:nvPr>
            <p:ph type="title"/>
          </p:nvPr>
        </p:nvSpPr>
        <p:spPr/>
        <p:txBody>
          <a:bodyPr>
            <a:noAutofit/>
          </a:bodyPr>
          <a:lstStyle/>
          <a:p>
            <a:pPr algn="l"/>
            <a:r>
              <a:rPr lang="zh-CN" altLang="en-US" dirty="0">
                <a:solidFill>
                  <a:srgbClr val="203864"/>
                </a:solidFill>
              </a:rPr>
              <a:t>博道基金：</a:t>
            </a:r>
            <a:r>
              <a:rPr lang="zh-CN" altLang="en-US" dirty="0">
                <a:solidFill>
                  <a:srgbClr val="EA5838"/>
                </a:solidFill>
              </a:rPr>
              <a:t>着眼长期，倡导慢富</a:t>
            </a:r>
          </a:p>
        </p:txBody>
      </p:sp>
      <p:sp>
        <p:nvSpPr>
          <p:cNvPr id="3" name="灯片编号占位符 2">
            <a:extLst>
              <a:ext uri="{FF2B5EF4-FFF2-40B4-BE49-F238E27FC236}">
                <a16:creationId xmlns:a16="http://schemas.microsoft.com/office/drawing/2014/main" xmlns="" id="{31F13ABC-FDF2-C95C-7E6F-EB3FE107ED16}"/>
              </a:ext>
            </a:extLst>
          </p:cNvPr>
          <p:cNvSpPr>
            <a:spLocks noGrp="1"/>
          </p:cNvSpPr>
          <p:nvPr>
            <p:ph type="sldNum" sz="quarter" idx="11"/>
          </p:nvPr>
        </p:nvSpPr>
        <p:spPr/>
        <p:txBody>
          <a:bodyPr/>
          <a:lstStyle/>
          <a:p>
            <a:pPr>
              <a:defRPr/>
            </a:pPr>
            <a:fld id="{6E91549D-98B7-4077-996F-05BE1B29F039}" type="slidenum">
              <a:rPr lang="zh-CN" altLang="en-US" smtClean="0"/>
              <a:t>29</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Autofit/>
          </a:bodyPr>
          <a:lstStyle/>
          <a:p>
            <a:pPr>
              <a:defRPr/>
            </a:pPr>
            <a:r>
              <a:rPr lang="zh-CN" altLang="en-US" dirty="0"/>
              <a:t>私募基因：</a:t>
            </a:r>
            <a:r>
              <a:rPr lang="en-US" altLang="zh-CN" dirty="0">
                <a:solidFill>
                  <a:srgbClr val="F0720A"/>
                </a:solidFill>
              </a:rPr>
              <a:t> </a:t>
            </a:r>
            <a:r>
              <a:rPr lang="zh-CN" altLang="en-US" dirty="0">
                <a:solidFill>
                  <a:srgbClr val="EA5838"/>
                </a:solidFill>
              </a:rPr>
              <a:t>私募阶段</a:t>
            </a:r>
            <a:r>
              <a:rPr lang="en-US" altLang="zh-CN" dirty="0">
                <a:solidFill>
                  <a:srgbClr val="EA5838"/>
                </a:solidFill>
              </a:rPr>
              <a:t>3</a:t>
            </a:r>
            <a:r>
              <a:rPr lang="zh-CN" altLang="en-US" dirty="0">
                <a:solidFill>
                  <a:srgbClr val="EA5838"/>
                </a:solidFill>
              </a:rPr>
              <a:t>年获</a:t>
            </a:r>
            <a:r>
              <a:rPr lang="en-US" altLang="zh-CN" dirty="0">
                <a:solidFill>
                  <a:srgbClr val="EA5838"/>
                </a:solidFill>
              </a:rPr>
              <a:t>4</a:t>
            </a:r>
            <a:r>
              <a:rPr lang="zh-CN" altLang="en-US" dirty="0">
                <a:solidFill>
                  <a:srgbClr val="EA5838"/>
                </a:solidFill>
              </a:rPr>
              <a:t>座“金牛”</a:t>
            </a:r>
          </a:p>
        </p:txBody>
      </p:sp>
      <p:sp>
        <p:nvSpPr>
          <p:cNvPr id="3" name="副标题 2"/>
          <p:cNvSpPr>
            <a:spLocks noGrp="1"/>
          </p:cNvSpPr>
          <p:nvPr>
            <p:ph type="subTitle" idx="1"/>
          </p:nvPr>
        </p:nvSpPr>
        <p:spPr/>
        <p:txBody>
          <a:bodyPr rtlCol="0"/>
          <a:lstStyle/>
          <a:p>
            <a:pPr marL="0" indent="0">
              <a:buNone/>
              <a:defRPr/>
            </a:pPr>
            <a:r>
              <a:rPr lang="zh-CN" altLang="en-US" dirty="0"/>
              <a:t>博道投研团队凭借其突出的投资管理能力和风险控制能力，被业界广泛认可。</a:t>
            </a:r>
          </a:p>
          <a:p>
            <a:pPr>
              <a:defRPr/>
            </a:pPr>
            <a:r>
              <a:rPr lang="zh-CN" altLang="en-US" b="1" dirty="0">
                <a:solidFill>
                  <a:srgbClr val="EA5838"/>
                </a:solidFill>
              </a:rPr>
              <a:t>私募阶段</a:t>
            </a:r>
            <a:r>
              <a:rPr lang="zh-CN" altLang="en-US" dirty="0">
                <a:solidFill>
                  <a:srgbClr val="EA5838"/>
                </a:solidFill>
              </a:rPr>
              <a:t>：</a:t>
            </a:r>
            <a:r>
              <a:rPr lang="zh-CN" altLang="en-US" dirty="0"/>
              <a:t>在</a:t>
            </a:r>
            <a:r>
              <a:rPr lang="en-US" altLang="zh-CN" dirty="0"/>
              <a:t>2014-2016</a:t>
            </a:r>
            <a:r>
              <a:rPr lang="zh-CN" altLang="en-US" dirty="0"/>
              <a:t>年私募阶段完整三个年度内，连续荣获</a:t>
            </a:r>
            <a:r>
              <a:rPr lang="en-US" altLang="zh-CN" dirty="0"/>
              <a:t>4</a:t>
            </a:r>
            <a:r>
              <a:rPr lang="zh-CN" altLang="en-US" dirty="0"/>
              <a:t>座素有基金行业奥斯卡之称的中证报“金牛奖” </a:t>
            </a:r>
          </a:p>
          <a:p>
            <a:pPr>
              <a:defRPr/>
            </a:pPr>
            <a:r>
              <a:rPr lang="zh-CN" altLang="en-US" b="1" dirty="0">
                <a:solidFill>
                  <a:srgbClr val="EA5838"/>
                </a:solidFill>
              </a:rPr>
              <a:t>公募阶段：</a:t>
            </a:r>
            <a:r>
              <a:rPr lang="en-US" altLang="zh-CN" dirty="0"/>
              <a:t>2020</a:t>
            </a:r>
            <a:r>
              <a:rPr lang="zh-CN" altLang="en-US" dirty="0"/>
              <a:t>年</a:t>
            </a:r>
            <a:r>
              <a:rPr lang="en-US" altLang="zh-CN" dirty="0"/>
              <a:t>8</a:t>
            </a:r>
            <a:r>
              <a:rPr lang="zh-CN" altLang="en-US" dirty="0"/>
              <a:t>月，博道基金荣获 “</a:t>
            </a:r>
            <a:r>
              <a:rPr lang="en-US" altLang="zh-CN" dirty="0"/>
              <a:t>2019</a:t>
            </a:r>
            <a:r>
              <a:rPr lang="zh-CN" altLang="en-US" dirty="0"/>
              <a:t>年金牛特别贡献奖”；</a:t>
            </a:r>
            <a:r>
              <a:rPr lang="en-US" altLang="zh-CN" dirty="0"/>
              <a:t>2025</a:t>
            </a:r>
            <a:r>
              <a:rPr lang="zh-CN" altLang="en-US" dirty="0"/>
              <a:t>年</a:t>
            </a:r>
            <a:r>
              <a:rPr lang="en-US" altLang="zh-CN" dirty="0"/>
              <a:t>12</a:t>
            </a:r>
            <a:r>
              <a:rPr lang="zh-CN" altLang="en-US" dirty="0"/>
              <a:t>月，博道伍佰智航获“五年期金牛基金奖”</a:t>
            </a:r>
          </a:p>
        </p:txBody>
      </p:sp>
      <p:graphicFrame>
        <p:nvGraphicFramePr>
          <p:cNvPr id="5" name="图示 4"/>
          <p:cNvGraphicFramePr/>
          <p:nvPr/>
        </p:nvGraphicFramePr>
        <p:xfrm>
          <a:off x="3873522" y="2048006"/>
          <a:ext cx="7801841" cy="41472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5302" name="组合 5"/>
          <p:cNvGrpSpPr/>
          <p:nvPr/>
        </p:nvGrpSpPr>
        <p:grpSpPr bwMode="auto">
          <a:xfrm>
            <a:off x="742950" y="2763840"/>
            <a:ext cx="3130550" cy="2973387"/>
            <a:chOff x="107504" y="3113802"/>
            <a:chExt cx="2736304" cy="2944232"/>
          </a:xfrm>
        </p:grpSpPr>
        <p:pic>
          <p:nvPicPr>
            <p:cNvPr id="55304" name="图片 6"/>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779241" y="3113802"/>
              <a:ext cx="1064567" cy="247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5" name="图片 7"/>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472331" y="3268615"/>
              <a:ext cx="1064567" cy="247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6" name="图片 8"/>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07504" y="3145300"/>
              <a:ext cx="1064567" cy="247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7" name="图片 9"/>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31255" y="3314457"/>
              <a:ext cx="1064567" cy="247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8" name="图片 10"/>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87761" y="3582596"/>
              <a:ext cx="1064567" cy="247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5303" name="TextBox 4"/>
          <p:cNvSpPr txBox="1">
            <a:spLocks noChangeArrowheads="1"/>
          </p:cNvSpPr>
          <p:nvPr/>
        </p:nvSpPr>
        <p:spPr bwMode="auto">
          <a:xfrm>
            <a:off x="8547100" y="6303965"/>
            <a:ext cx="24828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indent="-228600">
              <a:lnSpc>
                <a:spcPct val="90000"/>
              </a:lnSpc>
              <a:spcBef>
                <a:spcPts val="5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2pPr>
            <a:lvl3pPr indent="-228600">
              <a:lnSpc>
                <a:spcPct val="90000"/>
              </a:lnSpc>
              <a:spcBef>
                <a:spcPts val="5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indent="-22860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indent="-22860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indent="-22860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indent="-22860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indent="-22860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0"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风险提示：历史业绩并不代表其未来表现。</a:t>
            </a:r>
            <a:endParaRPr kumimoji="0" lang="zh-CN" altLang="en-US" sz="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灯片编号占位符 3">
            <a:extLst>
              <a:ext uri="{FF2B5EF4-FFF2-40B4-BE49-F238E27FC236}">
                <a16:creationId xmlns:a16="http://schemas.microsoft.com/office/drawing/2014/main" xmlns="" id="{848C4D43-06EF-B0F2-8296-7ADF496238BA}"/>
              </a:ext>
            </a:extLst>
          </p:cNvPr>
          <p:cNvSpPr>
            <a:spLocks noGrp="1"/>
          </p:cNvSpPr>
          <p:nvPr>
            <p:ph type="sldNum" sz="quarter" idx="11"/>
          </p:nvPr>
        </p:nvSpPr>
        <p:spPr/>
        <p:txBody>
          <a:bodyPr/>
          <a:lstStyle/>
          <a:p>
            <a:pPr>
              <a:defRPr/>
            </a:pPr>
            <a:fld id="{6E91549D-98B7-4077-996F-05BE1B29F039}" type="slidenum">
              <a:rPr lang="zh-CN" altLang="en-US" smtClean="0"/>
              <a:t>30</a:t>
            </a:fld>
            <a:endParaRPr lang="zh-CN" altLang="en-US" dirty="0"/>
          </a:p>
        </p:txBody>
      </p:sp>
    </p:spTree>
    <p:extLst>
      <p:ext uri="{BB962C8B-B14F-4D97-AF65-F5344CB8AC3E}">
        <p14:creationId xmlns:p14="http://schemas.microsoft.com/office/powerpoint/2010/main" val="638565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矩形 21"/>
          <p:cNvSpPr/>
          <p:nvPr/>
        </p:nvSpPr>
        <p:spPr>
          <a:xfrm>
            <a:off x="5495925" y="1208088"/>
            <a:ext cx="6003925" cy="1851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5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1048637" name="矩形 20"/>
          <p:cNvSpPr/>
          <p:nvPr/>
        </p:nvSpPr>
        <p:spPr>
          <a:xfrm>
            <a:off x="677863" y="1192213"/>
            <a:ext cx="4559300" cy="46910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5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1048638" name="标题 2"/>
          <p:cNvSpPr>
            <a:spLocks noGrp="1"/>
          </p:cNvSpPr>
          <p:nvPr>
            <p:ph type="title"/>
          </p:nvPr>
        </p:nvSpPr>
        <p:spPr/>
        <p:txBody>
          <a:bodyPr rtlCol="0">
            <a:noAutofit/>
          </a:bodyPr>
          <a:lstStyle/>
          <a:p>
            <a:pPr algn="l" fontAlgn="auto">
              <a:spcAft>
                <a:spcPts val="0"/>
              </a:spcAft>
              <a:defRPr/>
            </a:pPr>
            <a:r>
              <a:rPr lang="zh-CN" altLang="en-US" kern="0" dirty="0">
                <a:solidFill>
                  <a:srgbClr val="203864"/>
                </a:solidFill>
                <a:sym typeface="Helvetica Neue Medium"/>
              </a:rPr>
              <a:t>管理规模：</a:t>
            </a:r>
            <a:r>
              <a:rPr lang="zh-CN" altLang="en-US" dirty="0">
                <a:solidFill>
                  <a:srgbClr val="EA5838"/>
                </a:solidFill>
                <a:sym typeface="Helvetica Neue Medium"/>
              </a:rPr>
              <a:t>稳步增长，权益先行</a:t>
            </a:r>
            <a:endParaRPr lang="zh-CN" altLang="en-US" dirty="0">
              <a:solidFill>
                <a:srgbClr val="EA5838"/>
              </a:solidFill>
            </a:endParaRPr>
          </a:p>
        </p:txBody>
      </p:sp>
      <p:sp>
        <p:nvSpPr>
          <p:cNvPr id="1048639" name="文本框 5"/>
          <p:cNvSpPr txBox="1"/>
          <p:nvPr/>
        </p:nvSpPr>
        <p:spPr>
          <a:xfrm>
            <a:off x="1179513" y="1366838"/>
            <a:ext cx="1714500" cy="431800"/>
          </a:xfrm>
          <a:prstGeom prst="rect">
            <a:avLst/>
          </a:prstGeom>
          <a:noFill/>
        </p:spPr>
        <p:txBody>
          <a:bodyPr>
            <a:spAutoFit/>
          </a:bodyPr>
          <a:lstStyle/>
          <a:p>
            <a:pPr marL="0" marR="0" lvl="0" indent="0" algn="l" defTabSz="412750" rtl="0" eaLnBrk="1" fontAlgn="auto" latinLnBrk="0" hangingPunct="0">
              <a:lnSpc>
                <a:spcPct val="100000"/>
              </a:lnSpc>
              <a:spcBef>
                <a:spcPts val="0"/>
              </a:spcBef>
              <a:spcAft>
                <a:spcPts val="0"/>
              </a:spcAft>
              <a:buClrTx/>
              <a:buSzTx/>
              <a:buFontTx/>
              <a:buNone/>
              <a:defRPr/>
            </a:pPr>
            <a:r>
              <a:rPr kumimoji="0" lang="en-US" altLang="zh-CN" sz="2200" b="1" i="0" u="none" strike="noStrike" kern="0" cap="none" spc="0" normalizeH="0" baseline="0" noProof="0" dirty="0">
                <a:ln>
                  <a:noFill/>
                </a:ln>
                <a:solidFill>
                  <a:srgbClr val="0F3666"/>
                </a:solidFill>
                <a:effectLst/>
                <a:uLnTx/>
                <a:uFillTx/>
                <a:latin typeface="微软雅黑" panose="020B0503020204020204" pitchFamily="34" charset="-122"/>
                <a:ea typeface="微软雅黑" panose="020B0503020204020204" pitchFamily="34" charset="-122"/>
                <a:cs typeface="+mn-cs"/>
                <a:sym typeface="Helvetica Neue"/>
              </a:rPr>
              <a:t>2018</a:t>
            </a:r>
            <a:r>
              <a:rPr kumimoji="0" lang="zh-CN" altLang="en-US" sz="2200" b="1" i="0" u="none" strike="noStrike" kern="0" cap="none" spc="0" normalizeH="0" baseline="0" noProof="0" dirty="0">
                <a:ln>
                  <a:noFill/>
                </a:ln>
                <a:solidFill>
                  <a:srgbClr val="0F3666"/>
                </a:solidFill>
                <a:effectLst/>
                <a:uLnTx/>
                <a:uFillTx/>
                <a:latin typeface="微软雅黑" panose="020B0503020204020204" pitchFamily="34" charset="-122"/>
                <a:ea typeface="微软雅黑" panose="020B0503020204020204" pitchFamily="34" charset="-122"/>
                <a:cs typeface="+mn-cs"/>
                <a:sym typeface="Helvetica Neue"/>
              </a:rPr>
              <a:t>年</a:t>
            </a:r>
            <a:r>
              <a:rPr kumimoji="0" lang="en-US" altLang="zh-CN" sz="2200" b="1" i="0" u="none" strike="noStrike" kern="0" cap="none" spc="0" normalizeH="0" baseline="0" noProof="0" dirty="0">
                <a:ln>
                  <a:noFill/>
                </a:ln>
                <a:solidFill>
                  <a:srgbClr val="0F3666"/>
                </a:solidFill>
                <a:effectLst/>
                <a:uLnTx/>
                <a:uFillTx/>
                <a:latin typeface="微软雅黑" panose="020B0503020204020204" pitchFamily="34" charset="-122"/>
                <a:ea typeface="微软雅黑" panose="020B0503020204020204" pitchFamily="34" charset="-122"/>
                <a:cs typeface="+mn-cs"/>
                <a:sym typeface="Helvetica Neue"/>
              </a:rPr>
              <a:t>8</a:t>
            </a:r>
            <a:r>
              <a:rPr kumimoji="0" lang="zh-CN" altLang="en-US" sz="2200" b="1" i="0" u="none" strike="noStrike" kern="0" cap="none" spc="0" normalizeH="0" baseline="0" noProof="0" dirty="0">
                <a:ln>
                  <a:noFill/>
                </a:ln>
                <a:solidFill>
                  <a:srgbClr val="0F3666"/>
                </a:solidFill>
                <a:effectLst/>
                <a:uLnTx/>
                <a:uFillTx/>
                <a:latin typeface="微软雅黑" panose="020B0503020204020204" pitchFamily="34" charset="-122"/>
                <a:ea typeface="微软雅黑" panose="020B0503020204020204" pitchFamily="34" charset="-122"/>
                <a:cs typeface="+mn-cs"/>
                <a:sym typeface="Helvetica Neue"/>
              </a:rPr>
              <a:t>月</a:t>
            </a:r>
          </a:p>
        </p:txBody>
      </p:sp>
      <p:sp>
        <p:nvSpPr>
          <p:cNvPr id="1048640" name="文本框 6"/>
          <p:cNvSpPr txBox="1"/>
          <p:nvPr/>
        </p:nvSpPr>
        <p:spPr>
          <a:xfrm>
            <a:off x="1289050" y="1784350"/>
            <a:ext cx="1604963" cy="338138"/>
          </a:xfrm>
          <a:prstGeom prst="rect">
            <a:avLst/>
          </a:prstGeom>
          <a:noFill/>
        </p:spPr>
        <p:txBody>
          <a:bodyPr>
            <a:spAutoFit/>
          </a:bodyPr>
          <a:lstStyle/>
          <a:p>
            <a:pPr marL="0" marR="0" lvl="0" indent="0" algn="l" defTabSz="412750" rtl="0" eaLnBrk="1" fontAlgn="auto" latinLnBrk="0" hangingPunct="0">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开展公募业务</a:t>
            </a:r>
          </a:p>
        </p:txBody>
      </p:sp>
      <p:sp>
        <p:nvSpPr>
          <p:cNvPr id="1048641" name="文本框 7"/>
          <p:cNvSpPr txBox="1"/>
          <p:nvPr/>
        </p:nvSpPr>
        <p:spPr>
          <a:xfrm>
            <a:off x="3679825" y="1366838"/>
            <a:ext cx="1635125" cy="431800"/>
          </a:xfrm>
          <a:prstGeom prst="rect">
            <a:avLst/>
          </a:prstGeom>
          <a:noFill/>
        </p:spPr>
        <p:txBody>
          <a:bodyPr>
            <a:spAutoFit/>
          </a:bodyPr>
          <a:lstStyle/>
          <a:p>
            <a:pPr marL="0" marR="0" lvl="0" indent="0" algn="l" defTabSz="412750" rtl="0" eaLnBrk="1" fontAlgn="auto" latinLnBrk="0" hangingPunct="0">
              <a:lnSpc>
                <a:spcPct val="100000"/>
              </a:lnSpc>
              <a:spcBef>
                <a:spcPts val="0"/>
              </a:spcBef>
              <a:spcAft>
                <a:spcPts val="0"/>
              </a:spcAft>
              <a:buClrTx/>
              <a:buSzTx/>
              <a:buFontTx/>
              <a:buNone/>
              <a:defRPr/>
            </a:pPr>
            <a:r>
              <a:rPr kumimoji="0" lang="en-US" altLang="zh-CN" sz="2200" b="1" i="0" u="none" strike="noStrike" kern="0" cap="none" spc="0" normalizeH="0" baseline="0" noProof="0" dirty="0">
                <a:ln>
                  <a:noFill/>
                </a:ln>
                <a:solidFill>
                  <a:srgbClr val="103869"/>
                </a:solidFill>
                <a:effectLst/>
                <a:uLnTx/>
                <a:uFillTx/>
                <a:latin typeface="微软雅黑" panose="020B0503020204020204" pitchFamily="34" charset="-122"/>
                <a:ea typeface="微软雅黑" panose="020B0503020204020204" pitchFamily="34" charset="-122"/>
                <a:cs typeface="+mn-cs"/>
                <a:sym typeface="Helvetica Neue"/>
              </a:rPr>
              <a:t>43</a:t>
            </a:r>
            <a:r>
              <a:rPr kumimoji="0" lang="zh-CN" altLang="en-US" sz="2200" b="1" i="0" u="none" strike="noStrike" kern="0" cap="none" spc="0" normalizeH="0" baseline="0" noProof="0" dirty="0">
                <a:ln>
                  <a:noFill/>
                </a:ln>
                <a:solidFill>
                  <a:srgbClr val="103869"/>
                </a:solidFill>
                <a:effectLst/>
                <a:uLnTx/>
                <a:uFillTx/>
                <a:latin typeface="微软雅黑" panose="020B0503020204020204" pitchFamily="34" charset="-122"/>
                <a:ea typeface="微软雅黑" panose="020B0503020204020204" pitchFamily="34" charset="-122"/>
                <a:cs typeface="+mn-cs"/>
                <a:sym typeface="Helvetica Neue"/>
              </a:rPr>
              <a:t>只</a:t>
            </a:r>
          </a:p>
        </p:txBody>
      </p:sp>
      <p:sp>
        <p:nvSpPr>
          <p:cNvPr id="1048642" name="文本框 8"/>
          <p:cNvSpPr txBox="1"/>
          <p:nvPr/>
        </p:nvSpPr>
        <p:spPr>
          <a:xfrm>
            <a:off x="3419475" y="1784350"/>
            <a:ext cx="1895475" cy="338138"/>
          </a:xfrm>
          <a:prstGeom prst="rect">
            <a:avLst/>
          </a:prstGeom>
          <a:noFill/>
        </p:spPr>
        <p:txBody>
          <a:bodyPr>
            <a:spAutoFit/>
          </a:bodyPr>
          <a:lstStyle/>
          <a:p>
            <a:pPr marL="0" marR="0" lvl="0" indent="0" algn="l" defTabSz="412750" rtl="0" eaLnBrk="1" fontAlgn="auto" latinLnBrk="0" hangingPunct="0">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公募产品数量</a:t>
            </a:r>
          </a:p>
        </p:txBody>
      </p:sp>
      <p:sp>
        <p:nvSpPr>
          <p:cNvPr id="1048643" name="文本框 11"/>
          <p:cNvSpPr txBox="1"/>
          <p:nvPr/>
        </p:nvSpPr>
        <p:spPr>
          <a:xfrm>
            <a:off x="1117221" y="2669194"/>
            <a:ext cx="1690688" cy="430887"/>
          </a:xfrm>
          <a:prstGeom prst="rect">
            <a:avLst/>
          </a:prstGeom>
          <a:noFill/>
        </p:spPr>
        <p:txBody>
          <a:bodyPr wrap="square">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lang="en-US" altLang="zh-CN" sz="2200" b="1" kern="0" dirty="0">
                <a:solidFill>
                  <a:srgbClr val="EA5838"/>
                </a:solidFill>
                <a:latin typeface="微软雅黑" panose="020B0503020204020204" pitchFamily="34" charset="-122"/>
                <a:ea typeface="微软雅黑" panose="020B0503020204020204" pitchFamily="34" charset="-122"/>
                <a:sym typeface="Helvetica Neue"/>
              </a:rPr>
              <a:t>662</a:t>
            </a:r>
            <a:r>
              <a:rPr kumimoji="0" lang="zh-CN" altLang="en-US" sz="2200" b="1" i="0" u="none" strike="noStrike" kern="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a:rPr>
              <a:t>亿元</a:t>
            </a:r>
          </a:p>
        </p:txBody>
      </p:sp>
      <p:sp>
        <p:nvSpPr>
          <p:cNvPr id="1048644" name="文本框 12"/>
          <p:cNvSpPr txBox="1"/>
          <p:nvPr/>
        </p:nvSpPr>
        <p:spPr>
          <a:xfrm>
            <a:off x="944291" y="3075786"/>
            <a:ext cx="1987821" cy="507831"/>
          </a:xfrm>
          <a:prstGeom prst="rect">
            <a:avLst/>
          </a:prstGeom>
          <a:noFill/>
        </p:spPr>
        <p:txBody>
          <a:bodyPr wrap="square">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总规模（含专户）</a:t>
            </a:r>
            <a:endPar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endParaRPr>
          </a:p>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 （截至</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2026</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年</a:t>
            </a:r>
            <a:r>
              <a:rPr lang="en-US" altLang="zh-CN" sz="1100" kern="0" dirty="0">
                <a:solidFill>
                  <a:srgbClr val="000000"/>
                </a:solidFill>
                <a:sym typeface="Helvetica Neue"/>
              </a:rPr>
              <a:t>5</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月</a:t>
            </a:r>
            <a:r>
              <a:rPr lang="en-US" altLang="zh-CN" sz="1100" kern="0" dirty="0">
                <a:solidFill>
                  <a:srgbClr val="000000"/>
                </a:solidFill>
                <a:latin typeface="微软雅黑" panose="020B0503020204020204" pitchFamily="34" charset="-122"/>
                <a:ea typeface="微软雅黑" panose="020B0503020204020204" pitchFamily="34" charset="-122"/>
                <a:sym typeface="Helvetica Neue"/>
              </a:rPr>
              <a:t>31</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日）</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1048645" name="文本框 13"/>
          <p:cNvSpPr txBox="1"/>
          <p:nvPr/>
        </p:nvSpPr>
        <p:spPr>
          <a:xfrm>
            <a:off x="3372895" y="2668737"/>
            <a:ext cx="1549400" cy="431800"/>
          </a:xfrm>
          <a:prstGeom prst="rect">
            <a:avLst/>
          </a:prstGeom>
          <a:noFill/>
        </p:spPr>
        <p:txBody>
          <a:bodyP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en-US" altLang="zh-CN" sz="2200" b="1" i="0" u="none" strike="noStrike" kern="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a:rPr>
              <a:t>32/158</a:t>
            </a:r>
            <a:endParaRPr kumimoji="0" lang="zh-CN" altLang="en-US" sz="2200" b="1" i="0" u="none" strike="noStrike" kern="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1048646" name="文本框 14"/>
          <p:cNvSpPr txBox="1"/>
          <p:nvPr/>
        </p:nvSpPr>
        <p:spPr>
          <a:xfrm>
            <a:off x="3127375" y="3086707"/>
            <a:ext cx="1895475" cy="523220"/>
          </a:xfrm>
          <a:prstGeom prst="rect">
            <a:avLst/>
          </a:prstGeom>
          <a:noFill/>
        </p:spPr>
        <p:txBody>
          <a:bodyPr>
            <a:spAutoFit/>
          </a:bodyPr>
          <a:lstStyle/>
          <a:p>
            <a:pPr marL="0" marR="0" lvl="0" indent="0" algn="ctr" defTabSz="412750" rtl="0" eaLnBrk="1" fontAlgn="auto" latinLnBrk="0" hangingPunct="0">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偏股基金规模排名</a:t>
            </a:r>
            <a:endPar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endParaRPr>
          </a:p>
          <a:p>
            <a:pPr marL="0" marR="0" lvl="0" indent="0" algn="ctr" defTabSz="412750" rtl="0" eaLnBrk="1" fontAlgn="auto" latinLnBrk="0" hangingPunct="0">
              <a:lnSpc>
                <a:spcPct val="100000"/>
              </a:lnSpc>
              <a:spcBef>
                <a:spcPts val="0"/>
              </a:spcBef>
              <a:spcAft>
                <a:spcPts val="0"/>
              </a:spcAft>
              <a:buClrTx/>
              <a:buSzTx/>
              <a:buFontTx/>
              <a:buNone/>
              <a:defRPr/>
            </a:pP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截至</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2026</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年</a:t>
            </a:r>
            <a:r>
              <a:rPr lang="en-US" altLang="zh-CN" sz="1100" kern="0" dirty="0">
                <a:solidFill>
                  <a:srgbClr val="000000"/>
                </a:solidFill>
                <a:latin typeface="微软雅黑" panose="020B0503020204020204" pitchFamily="34" charset="-122"/>
                <a:ea typeface="微软雅黑" panose="020B0503020204020204" pitchFamily="34" charset="-122"/>
                <a:sym typeface="Helvetica Neue"/>
              </a:rPr>
              <a:t>3</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月</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31</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日）</a:t>
            </a:r>
          </a:p>
        </p:txBody>
      </p:sp>
      <p:sp>
        <p:nvSpPr>
          <p:cNvPr id="1048649" name="副标题 1"/>
          <p:cNvSpPr txBox="1"/>
          <p:nvPr/>
        </p:nvSpPr>
        <p:spPr>
          <a:xfrm>
            <a:off x="5694363" y="1300163"/>
            <a:ext cx="5656262" cy="1539875"/>
          </a:xfrm>
          <a:prstGeom prst="rect">
            <a:avLst/>
          </a:prstGeom>
          <a:ln w="12700">
            <a:miter lim="400000"/>
          </a:ln>
        </p:spPr>
        <p:txBody>
          <a:bodyPr lIns="25400" tIns="25400" rIns="25400" bIns="25400"/>
          <a:lstStyle>
            <a:lvl1pPr defTabSz="412750">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1270000" indent="-635000" defTabSz="412750">
              <a:lnSpc>
                <a:spcPct val="90000"/>
              </a:lnSpc>
              <a:spcBef>
                <a:spcPts val="5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2pPr>
            <a:lvl3pPr marL="1905000" indent="-635000" defTabSz="412750">
              <a:lnSpc>
                <a:spcPct val="90000"/>
              </a:lnSpc>
              <a:spcBef>
                <a:spcPts val="5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2540000" indent="-635000" defTabSz="41275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3175000" indent="-635000" defTabSz="41275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3632200" indent="-635000" defTabSz="41275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4089400" indent="-635000" defTabSz="41275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4546600" indent="-635000" defTabSz="41275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5003800" indent="-635000" defTabSz="41275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marL="0" marR="0" lvl="0" indent="0" algn="l" defTabSz="412750" rtl="0" eaLnBrk="1" fontAlgn="base" latinLnBrk="0" hangingPunct="0">
              <a:lnSpc>
                <a:spcPct val="150000"/>
              </a:lnSpc>
              <a:spcBef>
                <a:spcPts val="2950"/>
              </a:spcBef>
              <a:spcAft>
                <a:spcPct val="0"/>
              </a:spcAft>
              <a:buClr>
                <a:srgbClr val="F0720A"/>
              </a:buClr>
              <a:buSzTx/>
              <a:buFontTx/>
              <a:buNone/>
              <a:defRPr/>
            </a:pPr>
            <a:r>
              <a:rPr kumimoji="0" lang="zh-CN" altLang="en-US" sz="1800" b="1" i="0" u="none" strike="noStrike" kern="1200" cap="none" spc="0" normalizeH="0" baseline="0" noProof="0" dirty="0">
                <a:ln>
                  <a:noFill/>
                </a:ln>
                <a:solidFill>
                  <a:srgbClr val="0F3666"/>
                </a:solidFill>
                <a:effectLst/>
                <a:uLnTx/>
                <a:uFillTx/>
                <a:latin typeface="微软雅黑" panose="020B0503020204020204" pitchFamily="34" charset="-122"/>
                <a:ea typeface="微软雅黑" panose="020B0503020204020204" pitchFamily="34" charset="-122"/>
                <a:cs typeface="Helvetica Neue"/>
                <a:sym typeface="Helvetica Neue"/>
              </a:rPr>
              <a:t>业务布局坚持长期主义</a:t>
            </a:r>
            <a:endParaRPr kumimoji="0" lang="en-US" altLang="zh-CN" sz="1800" b="1" i="0" u="none" strike="noStrike" kern="1200" cap="none" spc="0" normalizeH="0" baseline="0" noProof="0" dirty="0">
              <a:ln>
                <a:noFill/>
              </a:ln>
              <a:solidFill>
                <a:srgbClr val="0F3666"/>
              </a:solidFill>
              <a:effectLst/>
              <a:uLnTx/>
              <a:uFillTx/>
              <a:latin typeface="微软雅黑" panose="020B0503020204020204" pitchFamily="34" charset="-122"/>
              <a:ea typeface="微软雅黑" panose="020B0503020204020204" pitchFamily="34" charset="-122"/>
              <a:cs typeface="Helvetica Neue"/>
              <a:sym typeface="Helvetica Neue"/>
            </a:endParaRPr>
          </a:p>
          <a:p>
            <a:pPr marL="0" marR="0" lvl="0" indent="0" algn="l" defTabSz="412750" rtl="0" eaLnBrk="1" fontAlgn="base" latinLnBrk="0" hangingPunct="0">
              <a:lnSpc>
                <a:spcPct val="150000"/>
              </a:lnSpc>
              <a:spcBef>
                <a:spcPct val="0"/>
              </a:spcBef>
              <a:spcAft>
                <a:spcPct val="0"/>
              </a:spcAft>
              <a:buClr>
                <a:srgbClr val="F0720A"/>
              </a:buClr>
              <a:buSzTx/>
              <a:buFontTx/>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2018</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年展业初期适逢市场低迷，公司坚持低位布局权益类产品。</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截至</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a:t>
            </a:r>
            <a:r>
              <a:rPr lang="en-US" altLang="zh-CN" sz="1600" dirty="0">
                <a:solidFill>
                  <a:srgbClr val="000000"/>
                </a:solidFill>
              </a:rPr>
              <a:t>31</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日，</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2018-2019</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年布局的</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只权益基金成立以来平均回报</a:t>
            </a:r>
            <a:r>
              <a:rPr kumimoji="0" lang="en-US" altLang="zh-CN" sz="16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134.35%</a:t>
            </a:r>
            <a:r>
              <a:rPr kumimoji="0" lang="zh-CN" altLang="en-US" sz="16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Helvetica Neue"/>
              <a:sym typeface="Helvetica Neue"/>
            </a:endParaRPr>
          </a:p>
        </p:txBody>
      </p:sp>
      <p:sp>
        <p:nvSpPr>
          <p:cNvPr id="1048650" name="矩形 22"/>
          <p:cNvSpPr/>
          <p:nvPr/>
        </p:nvSpPr>
        <p:spPr>
          <a:xfrm>
            <a:off x="5495925" y="3187700"/>
            <a:ext cx="6003925" cy="26955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zh-CN" altLang="en-US" sz="15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1048651" name="副标题 1"/>
          <p:cNvSpPr txBox="1"/>
          <p:nvPr/>
        </p:nvSpPr>
        <p:spPr>
          <a:xfrm>
            <a:off x="5495925" y="3302000"/>
            <a:ext cx="5808662" cy="2755900"/>
          </a:xfrm>
          <a:prstGeom prst="rect">
            <a:avLst/>
          </a:prstGeom>
          <a:ln w="12700">
            <a:miter lim="400000"/>
          </a:ln>
        </p:spPr>
        <p:txBody>
          <a:bodyPr lIns="25400" tIns="25400" rIns="25400" bIns="25400"/>
          <a:lstStyle>
            <a:lvl1pPr marL="196850" defTabSz="412750">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marL="1270000" indent="-635000" defTabSz="412750">
              <a:lnSpc>
                <a:spcPct val="90000"/>
              </a:lnSpc>
              <a:spcBef>
                <a:spcPts val="5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2pPr>
            <a:lvl3pPr marL="1905000" indent="-635000" defTabSz="412750">
              <a:lnSpc>
                <a:spcPct val="90000"/>
              </a:lnSpc>
              <a:spcBef>
                <a:spcPts val="5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marL="2540000" indent="-635000" defTabSz="41275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marL="3175000" indent="-635000" defTabSz="412750">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marL="3632200" indent="-635000" defTabSz="41275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marL="4089400" indent="-635000" defTabSz="41275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marL="4546600" indent="-635000" defTabSz="41275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marL="5003800" indent="-635000" defTabSz="412750"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marL="196850" marR="0" lvl="0" indent="0" algn="l" defTabSz="412750" rtl="0" eaLnBrk="1" fontAlgn="base" latinLnBrk="0" hangingPunct="1">
              <a:lnSpc>
                <a:spcPct val="150000"/>
              </a:lnSpc>
              <a:spcBef>
                <a:spcPct val="0"/>
              </a:spcBef>
              <a:spcAft>
                <a:spcPct val="0"/>
              </a:spcAft>
              <a:buClr>
                <a:srgbClr val="F0720A"/>
              </a:buClr>
              <a:buSzPct val="125000"/>
              <a:buFontTx/>
              <a:buNone/>
              <a:defRPr/>
            </a:pPr>
            <a:r>
              <a:rPr kumimoji="0" lang="zh-CN" altLang="en-US" sz="1800" b="1" i="0" u="none" strike="noStrike" kern="1200" cap="none" spc="0" normalizeH="0" baseline="0" noProof="0" dirty="0">
                <a:ln>
                  <a:noFill/>
                </a:ln>
                <a:solidFill>
                  <a:srgbClr val="0F3767"/>
                </a:solidFill>
                <a:effectLst/>
                <a:uLnTx/>
                <a:uFillTx/>
                <a:latin typeface="微软雅黑" panose="020B0503020204020204" pitchFamily="34" charset="-122"/>
                <a:ea typeface="微软雅黑" panose="020B0503020204020204" pitchFamily="34" charset="-122"/>
                <a:cs typeface="Helvetica Neue"/>
                <a:sym typeface="Helvetica Neue"/>
              </a:rPr>
              <a:t>产品线布局聚焦两大类产品</a:t>
            </a:r>
            <a:endParaRPr kumimoji="0" lang="en-US" altLang="zh-CN" sz="1800" b="1" i="0" u="none" strike="noStrike" kern="1200" cap="none" spc="0" normalizeH="0" baseline="0" noProof="0" dirty="0">
              <a:ln>
                <a:noFill/>
              </a:ln>
              <a:solidFill>
                <a:srgbClr val="0F3767"/>
              </a:solidFill>
              <a:effectLst/>
              <a:uLnTx/>
              <a:uFillTx/>
              <a:latin typeface="微软雅黑" panose="020B0503020204020204" pitchFamily="34" charset="-122"/>
              <a:ea typeface="微软雅黑" panose="020B0503020204020204" pitchFamily="34" charset="-122"/>
              <a:cs typeface="Helvetica Neue"/>
              <a:sym typeface="Helvetica Neue"/>
            </a:endParaRPr>
          </a:p>
          <a:p>
            <a:pPr marL="482600" marR="0" lvl="0" indent="-285750" algn="l" defTabSz="412750" rtl="0" eaLnBrk="1" fontAlgn="base" latinLnBrk="0" hangingPunct="1">
              <a:lnSpc>
                <a:spcPct val="150000"/>
              </a:lnSpc>
              <a:spcBef>
                <a:spcPct val="0"/>
              </a:spcBef>
              <a:spcAft>
                <a:spcPct val="0"/>
              </a:spcAft>
              <a:buClrTx/>
              <a:buSzPct val="125000"/>
              <a:buFont typeface="Wingdings" panose="05000000000000000000" pitchFamily="2" charset="2"/>
              <a:buChar char="n"/>
              <a:defRPr/>
            </a:pP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Helvetica Neue"/>
                <a:sym typeface="Helvetica Neue"/>
              </a:rPr>
              <a:t>容忍波动追求长期有竞争力回报的产品</a:t>
            </a:r>
            <a:endParaRPr kumimoji="0" lang="en-US" altLang="zh-CN"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Helvetica Neue"/>
              <a:sym typeface="Helvetica Neue"/>
            </a:endParaRPr>
          </a:p>
          <a:p>
            <a:pPr marL="196850" marR="0" lvl="0" indent="0" algn="l" defTabSz="412750" rtl="0" eaLnBrk="1" fontAlgn="base" latinLnBrk="0" hangingPunct="1">
              <a:lnSpc>
                <a:spcPct val="150000"/>
              </a:lnSpc>
              <a:spcBef>
                <a:spcPct val="0"/>
              </a:spcBef>
              <a:spcAft>
                <a:spcPct val="0"/>
              </a:spcAft>
              <a:buClr>
                <a:srgbClr val="F0720A"/>
              </a:buClr>
              <a:buSzPct val="125000"/>
              <a:buFont typeface="Wingdings" panose="05000000000000000000" pitchFamily="2" charset="2"/>
              <a:buChar char="ü"/>
              <a:defRPr/>
            </a:pP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博道指数</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系列</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19</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只，主动选股的权益类产品</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15</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只</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endParaRPr>
          </a:p>
          <a:p>
            <a:pPr marL="196850" marR="0" lvl="0" indent="0" algn="l" defTabSz="412750" rtl="0" eaLnBrk="1" fontAlgn="base" latinLnBrk="0" hangingPunct="1">
              <a:lnSpc>
                <a:spcPct val="150000"/>
              </a:lnSpc>
              <a:spcBef>
                <a:spcPct val="0"/>
              </a:spcBef>
              <a:spcAft>
                <a:spcPct val="0"/>
              </a:spcAft>
              <a:buClrTx/>
              <a:buSzPct val="125000"/>
              <a:buFont typeface="Wingdings" panose="05000000000000000000" pitchFamily="2" charset="2"/>
              <a:buChar char="n"/>
              <a:defRPr/>
            </a:pPr>
            <a:r>
              <a:rPr kumimoji="0" lang="zh-CN" altLang="en-US"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Helvetica Neue"/>
                <a:sym typeface="Helvetica Neue"/>
              </a:rPr>
              <a:t> 追求绝对收益、“闭着眼睛可以买”的产品</a:t>
            </a:r>
            <a:endParaRPr kumimoji="0" lang="en-US" altLang="zh-CN" sz="1800" b="1"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Helvetica Neue"/>
              <a:sym typeface="Helvetica Neue"/>
            </a:endParaRPr>
          </a:p>
          <a:p>
            <a:pPr marL="196850" marR="0" lvl="0" indent="0" algn="l" defTabSz="412750" rtl="0" eaLnBrk="1" fontAlgn="base" latinLnBrk="0" hangingPunct="1">
              <a:lnSpc>
                <a:spcPct val="150000"/>
              </a:lnSpc>
              <a:spcBef>
                <a:spcPct val="0"/>
              </a:spcBef>
              <a:spcAft>
                <a:spcPct val="0"/>
              </a:spcAft>
              <a:buClr>
                <a:srgbClr val="F0720A"/>
              </a:buClr>
              <a:buSzPct val="125000"/>
              <a:buFont typeface="Wingdings" panose="05000000000000000000" pitchFamily="2" charset="2"/>
              <a:buChar char="ü"/>
              <a:defRPr/>
            </a:pP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已布局偏债混合基金</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4</a:t>
            </a:r>
            <a:r>
              <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只</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，债券基金</a:t>
            </a:r>
            <a:r>
              <a:rPr lang="en-US" altLang="zh-CN" sz="1600" dirty="0">
                <a:solidFill>
                  <a:srgbClr val="000000"/>
                </a:solidFill>
                <a:cs typeface="Helvetica Neue"/>
                <a:sym typeface="Helvetica Neue"/>
              </a:rPr>
              <a:t>4</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只，同业存单指数基金</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1</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a:rPr>
              <a:t>只</a:t>
            </a:r>
          </a:p>
        </p:txBody>
      </p:sp>
      <p:sp>
        <p:nvSpPr>
          <p:cNvPr id="62481" name="TextBox 5"/>
          <p:cNvSpPr>
            <a:spLocks noChangeArrowheads="1"/>
          </p:cNvSpPr>
          <p:nvPr/>
        </p:nvSpPr>
        <p:spPr bwMode="auto">
          <a:xfrm>
            <a:off x="2386149" y="6307846"/>
            <a:ext cx="803945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7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数据来源：</a:t>
            </a:r>
            <a:r>
              <a:rPr kumimoji="0" lang="en-US" altLang="zh-CN" sz="7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Wind</a:t>
            </a:r>
            <a:r>
              <a:rPr kumimoji="0" lang="zh-CN" altLang="en-US" sz="7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、中国银河证券基金研究中心、博道基金。</a:t>
            </a:r>
            <a:endParaRPr kumimoji="0" lang="en-US" altLang="zh-CN" sz="7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7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总规模包含公募基金和专户（含投顾），偏股基金规模排名数据来自中国银河证券基金研究中心。</a:t>
            </a:r>
            <a:endParaRPr kumimoji="0" lang="en-US" altLang="zh-CN" sz="7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zh-CN" sz="7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sym typeface="Helvetica Neue"/>
              </a:rPr>
              <a:t>风险提示：产品的过往业绩并不预示其未来表现，管理人管理的其他产品的业绩并不构成产品业绩表现的保证。我国股市运作时间较短，不能反映证券市场发展的所有阶段。</a:t>
            </a:r>
            <a:endParaRPr kumimoji="0" lang="zh-CN" altLang="en-US" sz="7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8" name="文本框 23"/>
          <p:cNvSpPr txBox="1"/>
          <p:nvPr/>
        </p:nvSpPr>
        <p:spPr>
          <a:xfrm>
            <a:off x="2340390" y="4735513"/>
            <a:ext cx="1181100" cy="430212"/>
          </a:xfrm>
          <a:prstGeom prst="rect">
            <a:avLst/>
          </a:prstGeom>
          <a:noFill/>
        </p:spPr>
        <p:txBody>
          <a:bodyPr>
            <a:spAutoFit/>
          </a:bodyPr>
          <a:lstStyle/>
          <a:p>
            <a:pPr marL="0" marR="0" lvl="0" indent="0" algn="ctr" defTabSz="412750" rtl="0" eaLnBrk="1" fontAlgn="auto" latinLnBrk="0" hangingPunct="1">
              <a:lnSpc>
                <a:spcPct val="100000"/>
              </a:lnSpc>
              <a:spcBef>
                <a:spcPts val="0"/>
              </a:spcBef>
              <a:spcAft>
                <a:spcPts val="0"/>
              </a:spcAft>
              <a:buClrTx/>
              <a:buSzTx/>
              <a:buFontTx/>
              <a:buNone/>
              <a:defRPr/>
            </a:pPr>
            <a:r>
              <a:rPr kumimoji="0" lang="en-US" altLang="zh-CN" sz="2200" b="1" i="0" u="none" strike="noStrike" kern="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a:rPr>
              <a:t>94%</a:t>
            </a:r>
            <a:endParaRPr kumimoji="0" lang="zh-CN" altLang="en-US" sz="2200" b="1" i="0" u="none" strike="noStrike" kern="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29" name="文本框 25"/>
          <p:cNvSpPr txBox="1"/>
          <p:nvPr/>
        </p:nvSpPr>
        <p:spPr>
          <a:xfrm>
            <a:off x="2270540" y="5114925"/>
            <a:ext cx="1417638" cy="338554"/>
          </a:xfrm>
          <a:prstGeom prst="rect">
            <a:avLst/>
          </a:prstGeom>
          <a:noFill/>
        </p:spPr>
        <p:txBody>
          <a:bodyPr wrap="square">
            <a:spAutoFit/>
          </a:bodyPr>
          <a:lstStyle/>
          <a:p>
            <a:pPr marL="0" marR="0" lvl="0" indent="0" algn="l" defTabSz="41275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公募规模占比</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30" name="文本框 26"/>
          <p:cNvSpPr txBox="1"/>
          <p:nvPr/>
        </p:nvSpPr>
        <p:spPr>
          <a:xfrm>
            <a:off x="3754438" y="4725988"/>
            <a:ext cx="1181100" cy="430212"/>
          </a:xfrm>
          <a:prstGeom prst="rect">
            <a:avLst/>
          </a:prstGeom>
          <a:noFill/>
        </p:spPr>
        <p:txBody>
          <a:bodyPr>
            <a:spAutoFit/>
          </a:bodyPr>
          <a:lstStyle/>
          <a:p>
            <a:pPr marL="0" marR="0" lvl="0" indent="0" algn="ctr" defTabSz="412750" rtl="0" eaLnBrk="1" fontAlgn="auto" latinLnBrk="0" hangingPunct="1">
              <a:lnSpc>
                <a:spcPct val="100000"/>
              </a:lnSpc>
              <a:spcBef>
                <a:spcPts val="0"/>
              </a:spcBef>
              <a:spcAft>
                <a:spcPts val="0"/>
              </a:spcAft>
              <a:buClrTx/>
              <a:buSzTx/>
              <a:buFontTx/>
              <a:buNone/>
              <a:defRPr/>
            </a:pPr>
            <a:r>
              <a:rPr lang="en-US" altLang="zh-CN" sz="2200" b="1" kern="0" dirty="0">
                <a:solidFill>
                  <a:srgbClr val="EA5838"/>
                </a:solidFill>
                <a:latin typeface="微软雅黑" panose="020B0503020204020204" pitchFamily="34" charset="-122"/>
                <a:ea typeface="微软雅黑" panose="020B0503020204020204" pitchFamily="34" charset="-122"/>
                <a:sym typeface="Helvetica Neue"/>
              </a:rPr>
              <a:t>42</a:t>
            </a:r>
            <a:r>
              <a:rPr kumimoji="0" lang="en-US" altLang="zh-CN" sz="2200" b="1" i="0" u="none" strike="noStrike" kern="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a:rPr>
              <a:t>%</a:t>
            </a:r>
            <a:endParaRPr kumimoji="0" lang="zh-CN" altLang="en-US" sz="2200" b="1" i="0" u="none" strike="noStrike" kern="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31" name="文本框 27"/>
          <p:cNvSpPr txBox="1"/>
          <p:nvPr/>
        </p:nvSpPr>
        <p:spPr>
          <a:xfrm>
            <a:off x="3679825" y="5105400"/>
            <a:ext cx="1501775" cy="338554"/>
          </a:xfrm>
          <a:prstGeom prst="rect">
            <a:avLst/>
          </a:prstGeom>
          <a:noFill/>
        </p:spPr>
        <p:txBody>
          <a:bodyPr wrap="square">
            <a:spAutoFit/>
          </a:bodyPr>
          <a:lstStyle/>
          <a:p>
            <a:pPr marL="0" marR="0" lvl="0" indent="0" algn="l" defTabSz="41275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专户规模占比</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32" name="文本框 31"/>
          <p:cNvSpPr txBox="1"/>
          <p:nvPr/>
        </p:nvSpPr>
        <p:spPr>
          <a:xfrm>
            <a:off x="979488" y="4725988"/>
            <a:ext cx="1181100" cy="430212"/>
          </a:xfrm>
          <a:prstGeom prst="rect">
            <a:avLst/>
          </a:prstGeom>
          <a:noFill/>
        </p:spPr>
        <p:txBody>
          <a:bodyPr>
            <a:spAutoFit/>
          </a:bodyPr>
          <a:lstStyle/>
          <a:p>
            <a:pPr marL="0" marR="0" lvl="0" indent="0" algn="ctr" defTabSz="412750" rtl="0" eaLnBrk="1" fontAlgn="auto" latinLnBrk="0" hangingPunct="1">
              <a:lnSpc>
                <a:spcPct val="100000"/>
              </a:lnSpc>
              <a:spcBef>
                <a:spcPts val="0"/>
              </a:spcBef>
              <a:spcAft>
                <a:spcPts val="0"/>
              </a:spcAft>
              <a:buClrTx/>
              <a:buSzTx/>
              <a:buFontTx/>
              <a:buNone/>
              <a:defRPr/>
            </a:pPr>
            <a:r>
              <a:rPr lang="en-US" altLang="zh-CN" sz="2200" b="1" kern="0" dirty="0">
                <a:solidFill>
                  <a:srgbClr val="EA5838"/>
                </a:solidFill>
                <a:latin typeface="微软雅黑" panose="020B0503020204020204" pitchFamily="34" charset="-122"/>
                <a:ea typeface="微软雅黑" panose="020B0503020204020204" pitchFamily="34" charset="-122"/>
                <a:sym typeface="Helvetica Neue"/>
              </a:rPr>
              <a:t>85</a:t>
            </a:r>
            <a:r>
              <a:rPr kumimoji="0" lang="en-US" altLang="zh-CN" sz="2200" b="1" i="0" u="none" strike="noStrike" kern="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a:rPr>
              <a:t>%</a:t>
            </a:r>
            <a:endParaRPr kumimoji="0" lang="zh-CN" altLang="en-US" sz="2200" b="1" i="0" u="none" strike="noStrike" kern="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33" name="文本框 25"/>
          <p:cNvSpPr txBox="1"/>
          <p:nvPr/>
        </p:nvSpPr>
        <p:spPr>
          <a:xfrm>
            <a:off x="887413" y="5105400"/>
            <a:ext cx="1217613" cy="338554"/>
          </a:xfrm>
          <a:prstGeom prst="rect">
            <a:avLst/>
          </a:prstGeom>
          <a:noFill/>
        </p:spPr>
        <p:txBody>
          <a:bodyPr wrap="square">
            <a:spAutoFit/>
          </a:bodyPr>
          <a:lstStyle/>
          <a:p>
            <a:pPr marL="0" marR="0" lvl="0" indent="0" algn="l" defTabSz="41275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rPr>
              <a:t>总规模占比</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a:endParaRPr>
          </a:p>
        </p:txBody>
      </p:sp>
      <p:sp>
        <p:nvSpPr>
          <p:cNvPr id="34" name="文本框 33"/>
          <p:cNvSpPr txBox="1"/>
          <p:nvPr/>
        </p:nvSpPr>
        <p:spPr>
          <a:xfrm>
            <a:off x="1382713" y="3878263"/>
            <a:ext cx="3114675" cy="569387"/>
          </a:xfrm>
          <a:prstGeom prst="rect">
            <a:avLst/>
          </a:prstGeom>
          <a:noFill/>
        </p:spPr>
        <p:txBody>
          <a:bodyPr>
            <a:spAutoFit/>
          </a:bodyPr>
          <a:lstStyle/>
          <a:p>
            <a:pPr marL="0" marR="0" lvl="0" indent="0" algn="ctr" defTabSz="41275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0F3666"/>
                </a:solidFill>
                <a:effectLst/>
                <a:uLnTx/>
                <a:uFillTx/>
                <a:latin typeface="Helvetica Neue"/>
                <a:ea typeface="微软雅黑" panose="020B0503020204020204" pitchFamily="34" charset="-122"/>
                <a:cs typeface="+mn-cs"/>
                <a:sym typeface="Helvetica Neue"/>
              </a:rPr>
              <a:t>权益规模占比</a:t>
            </a:r>
            <a:endParaRPr kumimoji="0" lang="en-US" altLang="zh-CN" sz="2000" b="1" i="0" u="none" strike="noStrike" kern="0" cap="none" spc="0" normalizeH="0" baseline="0" noProof="0" dirty="0">
              <a:ln>
                <a:noFill/>
              </a:ln>
              <a:solidFill>
                <a:srgbClr val="0F3666"/>
              </a:solidFill>
              <a:effectLst/>
              <a:uLnTx/>
              <a:uFillTx/>
              <a:latin typeface="Helvetica Neue"/>
              <a:ea typeface="微软雅黑" panose="020B0503020204020204" pitchFamily="34" charset="-122"/>
              <a:cs typeface="+mn-cs"/>
              <a:sym typeface="Helvetica Neue"/>
            </a:endParaRPr>
          </a:p>
          <a:p>
            <a:pPr marL="0" marR="0" lvl="0" indent="0" algn="ctr" defTabSz="412750" rtl="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F3666"/>
                </a:solidFill>
                <a:effectLst/>
                <a:uLnTx/>
                <a:uFillTx/>
                <a:latin typeface="Helvetica Neue"/>
                <a:ea typeface="微软雅黑" panose="020B0503020204020204" pitchFamily="34" charset="-122"/>
                <a:cs typeface="+mn-cs"/>
                <a:sym typeface="Helvetica Neue"/>
              </a:rPr>
              <a:t>（截至</a:t>
            </a:r>
            <a:r>
              <a:rPr kumimoji="0" lang="en-US" altLang="zh-CN" sz="1100" b="1" i="0" u="none" strike="noStrike" kern="0" cap="none" spc="0" normalizeH="0" baseline="0" noProof="0" dirty="0">
                <a:ln>
                  <a:noFill/>
                </a:ln>
                <a:solidFill>
                  <a:srgbClr val="0F3666"/>
                </a:solidFill>
                <a:effectLst/>
                <a:uLnTx/>
                <a:uFillTx/>
                <a:latin typeface="Helvetica Neue"/>
                <a:ea typeface="微软雅黑" panose="020B0503020204020204" pitchFamily="34" charset="-122"/>
                <a:cs typeface="+mn-cs"/>
                <a:sym typeface="Helvetica Neue"/>
              </a:rPr>
              <a:t>2026</a:t>
            </a:r>
            <a:r>
              <a:rPr kumimoji="0" lang="zh-CN" altLang="en-US" sz="1100" b="1" i="0" u="none" strike="noStrike" kern="0" cap="none" spc="0" normalizeH="0" baseline="0" noProof="0" dirty="0">
                <a:ln>
                  <a:noFill/>
                </a:ln>
                <a:solidFill>
                  <a:srgbClr val="0F3666"/>
                </a:solidFill>
                <a:effectLst/>
                <a:uLnTx/>
                <a:uFillTx/>
                <a:latin typeface="Helvetica Neue"/>
                <a:ea typeface="微软雅黑" panose="020B0503020204020204" pitchFamily="34" charset="-122"/>
                <a:cs typeface="+mn-cs"/>
                <a:sym typeface="Helvetica Neue"/>
              </a:rPr>
              <a:t>年</a:t>
            </a:r>
            <a:r>
              <a:rPr lang="en-US" altLang="zh-CN" sz="1100" b="1" kern="0" dirty="0">
                <a:solidFill>
                  <a:srgbClr val="0F3666"/>
                </a:solidFill>
                <a:latin typeface="Helvetica Neue"/>
                <a:sym typeface="Helvetica Neue"/>
              </a:rPr>
              <a:t>5</a:t>
            </a:r>
            <a:r>
              <a:rPr kumimoji="0" lang="zh-CN" altLang="en-US" sz="1100" b="1" i="0" u="none" strike="noStrike" kern="0" cap="none" spc="0" normalizeH="0" baseline="0" noProof="0" dirty="0">
                <a:ln>
                  <a:noFill/>
                </a:ln>
                <a:solidFill>
                  <a:srgbClr val="0F3666"/>
                </a:solidFill>
                <a:effectLst/>
                <a:uLnTx/>
                <a:uFillTx/>
                <a:latin typeface="Helvetica Neue"/>
                <a:ea typeface="微软雅黑" panose="020B0503020204020204" pitchFamily="34" charset="-122"/>
                <a:cs typeface="+mn-cs"/>
                <a:sym typeface="Helvetica Neue"/>
              </a:rPr>
              <a:t>月</a:t>
            </a:r>
            <a:r>
              <a:rPr lang="en-US" altLang="zh-CN" sz="1100" b="1" kern="0" dirty="0">
                <a:solidFill>
                  <a:srgbClr val="0F3666"/>
                </a:solidFill>
                <a:latin typeface="Helvetica Neue"/>
                <a:ea typeface="微软雅黑" panose="020B0503020204020204" pitchFamily="34" charset="-122"/>
                <a:sym typeface="Helvetica Neue"/>
              </a:rPr>
              <a:t>31</a:t>
            </a:r>
            <a:r>
              <a:rPr kumimoji="0" lang="zh-CN" altLang="en-US" sz="1100" b="1" i="0" u="none" strike="noStrike" kern="0" cap="none" spc="0" normalizeH="0" baseline="0" noProof="0" dirty="0">
                <a:ln>
                  <a:noFill/>
                </a:ln>
                <a:solidFill>
                  <a:srgbClr val="0F3666"/>
                </a:solidFill>
                <a:effectLst/>
                <a:uLnTx/>
                <a:uFillTx/>
                <a:latin typeface="Helvetica Neue"/>
                <a:ea typeface="微软雅黑" panose="020B0503020204020204" pitchFamily="34" charset="-122"/>
                <a:cs typeface="+mn-cs"/>
                <a:sym typeface="Helvetica Neue"/>
              </a:rPr>
              <a:t>日）</a:t>
            </a:r>
          </a:p>
        </p:txBody>
      </p:sp>
      <p:sp>
        <p:nvSpPr>
          <p:cNvPr id="3" name="灯片编号占位符 2">
            <a:extLst>
              <a:ext uri="{FF2B5EF4-FFF2-40B4-BE49-F238E27FC236}">
                <a16:creationId xmlns:a16="http://schemas.microsoft.com/office/drawing/2014/main" xmlns="" id="{79F4B0E1-A229-06E8-6515-61F48D84AAF0}"/>
              </a:ext>
            </a:extLst>
          </p:cNvPr>
          <p:cNvSpPr>
            <a:spLocks noGrp="1"/>
          </p:cNvSpPr>
          <p:nvPr>
            <p:ph type="sldNum" sz="quarter" idx="11"/>
          </p:nvPr>
        </p:nvSpPr>
        <p:spPr/>
        <p:txBody>
          <a:bodyPr/>
          <a:lstStyle/>
          <a:p>
            <a:pPr>
              <a:defRPr/>
            </a:pPr>
            <a:fld id="{6E91549D-98B7-4077-996F-05BE1B29F039}" type="slidenum">
              <a:rPr lang="zh-CN" altLang="en-US" smtClean="0"/>
              <a:t>31</a:t>
            </a:fld>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23365" y="1109844"/>
            <a:ext cx="4348635" cy="5005728"/>
          </a:xfrm>
          <a:prstGeom prst="rect">
            <a:avLst/>
          </a:prstGeom>
          <a:solidFill>
            <a:schemeClr val="bg1">
              <a:lumMod val="95000"/>
            </a:schemeClr>
          </a:solidFill>
        </p:spPr>
        <p:txBody>
          <a:bodyPr wrap="square" rtlCol="0">
            <a:spAutoFit/>
          </a:bodyPr>
          <a:lstStyle/>
          <a:p>
            <a:pPr marL="0" marR="0" lvl="0" indent="0" algn="l" defTabSz="4572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3493" name="副标题 1"/>
          <p:cNvSpPr txBox="1">
            <a:spLocks noChangeArrowheads="1"/>
          </p:cNvSpPr>
          <p:nvPr/>
        </p:nvSpPr>
        <p:spPr bwMode="auto">
          <a:xfrm>
            <a:off x="4640825" y="1109844"/>
            <a:ext cx="7020951" cy="911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a:lnSpc>
                <a:spcPct val="90000"/>
              </a:lnSpc>
              <a:spcBef>
                <a:spcPts val="5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2pPr>
            <a:lvl3pPr>
              <a:lnSpc>
                <a:spcPct val="90000"/>
              </a:lnSpc>
              <a:spcBef>
                <a:spcPts val="5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marL="285750" marR="0" lvl="0" indent="-285750" algn="l" defTabSz="914400" rtl="0" eaLnBrk="1" fontAlgn="base" latinLnBrk="0" hangingPunct="1">
              <a:lnSpc>
                <a:spcPct val="150000"/>
              </a:lnSpc>
              <a:spcBef>
                <a:spcPts val="200"/>
              </a:spcBef>
              <a:spcAft>
                <a:spcPct val="0"/>
              </a:spcAft>
              <a:buClrTx/>
              <a:buSzTx/>
              <a:buFont typeface="Wingdings" panose="05000000000000000000" pitchFamily="2" charset="2"/>
              <a:buChar char="n"/>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截至</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2025</a:t>
            </a:r>
            <a:r>
              <a:rPr kumimoji="0" lang="zh-CN"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12</a:t>
            </a:r>
            <a:r>
              <a:rPr kumimoji="0" lang="zh-CN"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31</a:t>
            </a:r>
            <a:r>
              <a:rPr kumimoji="0" lang="zh-CN"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日</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，博道基金成立满</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年的权益基金成立以来均创造了显著的绝对收益和超额收益。</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48746" name="标题 2"/>
          <p:cNvSpPr>
            <a:spLocks noGrp="1"/>
          </p:cNvSpPr>
          <p:nvPr>
            <p:ph type="title"/>
          </p:nvPr>
        </p:nvSpPr>
        <p:spPr/>
        <p:txBody>
          <a:bodyPr rtlCol="0">
            <a:noAutofit/>
          </a:bodyPr>
          <a:lstStyle/>
          <a:p>
            <a:pPr>
              <a:defRPr/>
            </a:pPr>
            <a:r>
              <a:rPr lang="zh-CN" altLang="en-US" dirty="0"/>
              <a:t>有锐度的业绩：</a:t>
            </a:r>
            <a:r>
              <a:rPr lang="zh-CN" altLang="en-US" dirty="0">
                <a:solidFill>
                  <a:srgbClr val="EA5838"/>
                </a:solidFill>
              </a:rPr>
              <a:t>权益管理能力</a:t>
            </a:r>
            <a:r>
              <a:rPr lang="zh-CN" altLang="en-US" dirty="0"/>
              <a:t>位居行业前列</a:t>
            </a:r>
            <a:endParaRPr lang="zh-CN" altLang="en-US" dirty="0">
              <a:solidFill>
                <a:srgbClr val="F0720A"/>
              </a:solidFill>
              <a:sym typeface="Calibri" panose="020F0502020204030204" pitchFamily="34" charset="0"/>
            </a:endParaRPr>
          </a:p>
        </p:txBody>
      </p:sp>
      <p:grpSp>
        <p:nvGrpSpPr>
          <p:cNvPr id="63496" name="组合 14"/>
          <p:cNvGrpSpPr/>
          <p:nvPr/>
        </p:nvGrpSpPr>
        <p:grpSpPr bwMode="auto">
          <a:xfrm>
            <a:off x="606509" y="4226899"/>
            <a:ext cx="1604962" cy="1039690"/>
            <a:chOff x="-439969" y="4627484"/>
            <a:chExt cx="1603617" cy="1039953"/>
          </a:xfrm>
        </p:grpSpPr>
        <p:sp>
          <p:nvSpPr>
            <p:cNvPr id="63505" name="文本框 15"/>
            <p:cNvSpPr txBox="1">
              <a:spLocks noChangeArrowheads="1"/>
            </p:cNvSpPr>
            <p:nvPr/>
          </p:nvSpPr>
          <p:spPr bwMode="auto">
            <a:xfrm>
              <a:off x="-310437" y="4627484"/>
              <a:ext cx="1404976" cy="769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1200" cap="none" spc="0" normalizeH="0" baseline="0" noProof="0" dirty="0">
                  <a:ln>
                    <a:noFill/>
                  </a:ln>
                  <a:solidFill>
                    <a:srgbClr val="EA5838"/>
                  </a:solidFill>
                  <a:effectLst/>
                  <a:uLnTx/>
                  <a:uFillTx/>
                  <a:latin typeface="微软雅黑" panose="020B0503020204020204" pitchFamily="34" charset="-122"/>
                  <a:ea typeface="OPPOSans R" panose="00020600040101010101" pitchFamily="18" charset="-122"/>
                  <a:cs typeface="+mn-cs"/>
                </a:rPr>
                <a:t>16</a:t>
              </a:r>
              <a:r>
                <a:rPr kumimoji="0" lang="en-US" altLang="zh-CN" sz="2000" b="0" i="0" u="none" strike="noStrike" kern="1200" cap="none" spc="0" normalizeH="0" baseline="0" noProof="0" dirty="0">
                  <a:ln>
                    <a:noFill/>
                  </a:ln>
                  <a:solidFill>
                    <a:srgbClr val="103565"/>
                  </a:solidFill>
                  <a:effectLst/>
                  <a:uLnTx/>
                  <a:uFillTx/>
                  <a:latin typeface="微软雅黑" panose="020B0503020204020204" pitchFamily="34" charset="-122"/>
                  <a:ea typeface="OPPOSans R" panose="00020600040101010101" pitchFamily="18" charset="-122"/>
                  <a:cs typeface="+mn-cs"/>
                </a:rPr>
                <a:t>/113</a:t>
              </a:r>
              <a:endParaRPr kumimoji="0" lang="zh-CN" altLang="en-US" sz="2000" b="0" i="0" u="none" strike="noStrike" kern="1200" cap="none" spc="0" normalizeH="0" baseline="0" noProof="0" dirty="0">
                <a:ln>
                  <a:noFill/>
                </a:ln>
                <a:solidFill>
                  <a:srgbClr val="103565"/>
                </a:solidFill>
                <a:effectLst/>
                <a:uLnTx/>
                <a:uFillTx/>
                <a:latin typeface="微软雅黑" panose="020B0503020204020204" pitchFamily="34" charset="-122"/>
                <a:ea typeface="OPPOSans R" panose="00020600040101010101" pitchFamily="18" charset="-122"/>
                <a:cs typeface="+mn-cs"/>
              </a:endParaRPr>
            </a:p>
          </p:txBody>
        </p:sp>
        <p:sp>
          <p:nvSpPr>
            <p:cNvPr id="17" name="矩形 16"/>
            <p:cNvSpPr/>
            <p:nvPr/>
          </p:nvSpPr>
          <p:spPr>
            <a:xfrm>
              <a:off x="-439969" y="5260934"/>
              <a:ext cx="1603617" cy="406503"/>
            </a:xfrm>
            <a:prstGeom prst="rect">
              <a:avLst/>
            </a:prstGeom>
            <a:solidFill>
              <a:srgbClr val="103565"/>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mn-cs"/>
              </a:endParaRPr>
            </a:p>
          </p:txBody>
        </p:sp>
        <p:sp>
          <p:nvSpPr>
            <p:cNvPr id="63507" name="文本框 17"/>
            <p:cNvSpPr txBox="1">
              <a:spLocks noChangeArrowheads="1"/>
            </p:cNvSpPr>
            <p:nvPr/>
          </p:nvSpPr>
          <p:spPr bwMode="auto">
            <a:xfrm>
              <a:off x="-177141" y="5295208"/>
              <a:ext cx="1338828"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OPPOSans R" panose="00020600040101010101" pitchFamily="18" charset="-122"/>
                  <a:cs typeface="+mn-cs"/>
                </a:rPr>
                <a:t>过去四年</a:t>
              </a:r>
            </a:p>
          </p:txBody>
        </p:sp>
      </p:grpSp>
      <p:grpSp>
        <p:nvGrpSpPr>
          <p:cNvPr id="63497" name="组合 18"/>
          <p:cNvGrpSpPr/>
          <p:nvPr/>
        </p:nvGrpSpPr>
        <p:grpSpPr bwMode="auto">
          <a:xfrm>
            <a:off x="2655089" y="4198503"/>
            <a:ext cx="1604962" cy="1076200"/>
            <a:chOff x="1776772" y="3228867"/>
            <a:chExt cx="1603617" cy="1076473"/>
          </a:xfrm>
        </p:grpSpPr>
        <p:sp>
          <p:nvSpPr>
            <p:cNvPr id="63502" name="文本框 19"/>
            <p:cNvSpPr txBox="1">
              <a:spLocks noChangeArrowheads="1"/>
            </p:cNvSpPr>
            <p:nvPr/>
          </p:nvSpPr>
          <p:spPr bwMode="auto">
            <a:xfrm>
              <a:off x="1876093" y="3228867"/>
              <a:ext cx="1404975" cy="769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1200" cap="none" spc="0" normalizeH="0" baseline="0" noProof="0" dirty="0">
                  <a:ln>
                    <a:noFill/>
                  </a:ln>
                  <a:solidFill>
                    <a:srgbClr val="EA5838"/>
                  </a:solidFill>
                  <a:effectLst/>
                  <a:uLnTx/>
                  <a:uFillTx/>
                  <a:latin typeface="微软雅黑" panose="020B0503020204020204" pitchFamily="34" charset="-122"/>
                  <a:ea typeface="OPPOSans R" panose="00020600040101010101" pitchFamily="18" charset="-122"/>
                  <a:cs typeface="+mn-cs"/>
                </a:rPr>
                <a:t>18</a:t>
              </a:r>
              <a:r>
                <a:rPr kumimoji="0" lang="en-US" altLang="zh-CN" sz="2000" b="0" i="0" u="none" strike="noStrike" kern="1200" cap="none" spc="0" normalizeH="0" baseline="0" noProof="0" dirty="0">
                  <a:ln>
                    <a:noFill/>
                  </a:ln>
                  <a:solidFill>
                    <a:srgbClr val="103565"/>
                  </a:solidFill>
                  <a:effectLst/>
                  <a:uLnTx/>
                  <a:uFillTx/>
                  <a:latin typeface="微软雅黑" panose="020B0503020204020204" pitchFamily="34" charset="-122"/>
                  <a:ea typeface="OPPOSans R" panose="00020600040101010101" pitchFamily="18" charset="-122"/>
                  <a:cs typeface="+mn-cs"/>
                </a:rPr>
                <a:t>/106</a:t>
              </a:r>
              <a:endParaRPr kumimoji="0" lang="zh-CN" altLang="en-US" sz="2000" b="0" i="0" u="none" strike="noStrike" kern="1200" cap="none" spc="0" normalizeH="0" baseline="0" noProof="0" dirty="0">
                <a:ln>
                  <a:noFill/>
                </a:ln>
                <a:solidFill>
                  <a:srgbClr val="103565"/>
                </a:solidFill>
                <a:effectLst/>
                <a:uLnTx/>
                <a:uFillTx/>
                <a:latin typeface="微软雅黑" panose="020B0503020204020204" pitchFamily="34" charset="-122"/>
                <a:ea typeface="OPPOSans R" panose="00020600040101010101" pitchFamily="18" charset="-122"/>
                <a:cs typeface="+mn-cs"/>
              </a:endParaRPr>
            </a:p>
          </p:txBody>
        </p:sp>
        <p:sp>
          <p:nvSpPr>
            <p:cNvPr id="21" name="矩形 20"/>
            <p:cNvSpPr/>
            <p:nvPr/>
          </p:nvSpPr>
          <p:spPr>
            <a:xfrm>
              <a:off x="1776772" y="3898837"/>
              <a:ext cx="1603617" cy="406503"/>
            </a:xfrm>
            <a:prstGeom prst="rect">
              <a:avLst/>
            </a:prstGeom>
            <a:solidFill>
              <a:srgbClr val="103565"/>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mn-cs"/>
              </a:endParaRPr>
            </a:p>
          </p:txBody>
        </p:sp>
        <p:sp>
          <p:nvSpPr>
            <p:cNvPr id="63504" name="文本框 21"/>
            <p:cNvSpPr txBox="1">
              <a:spLocks noChangeArrowheads="1"/>
            </p:cNvSpPr>
            <p:nvPr/>
          </p:nvSpPr>
          <p:spPr bwMode="auto">
            <a:xfrm>
              <a:off x="2039600" y="3933112"/>
              <a:ext cx="13388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OPPOSans R" panose="00020600040101010101" pitchFamily="18" charset="-122"/>
                  <a:cs typeface="+mn-cs"/>
                </a:rPr>
                <a:t>过去五年</a:t>
              </a:r>
            </a:p>
          </p:txBody>
        </p:sp>
      </p:grpSp>
      <p:sp>
        <p:nvSpPr>
          <p:cNvPr id="63498" name="文本框 22"/>
          <p:cNvSpPr txBox="1">
            <a:spLocks noChangeArrowheads="1"/>
          </p:cNvSpPr>
          <p:nvPr/>
        </p:nvSpPr>
        <p:spPr bwMode="auto">
          <a:xfrm>
            <a:off x="628217" y="2317585"/>
            <a:ext cx="38036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ctr" defTabSz="914400" rtl="0" eaLnBrk="1" fontAlgn="base" latinLnBrk="0" hangingPunct="1">
              <a:lnSpc>
                <a:spcPct val="13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103565"/>
                </a:solidFill>
                <a:effectLst/>
                <a:uLnTx/>
                <a:uFillTx/>
                <a:latin typeface="微软雅黑" panose="020B0503020204020204" pitchFamily="34" charset="-122"/>
                <a:ea typeface="微软雅黑" panose="020B0503020204020204" pitchFamily="34" charset="-122"/>
                <a:cs typeface="+mn-cs"/>
              </a:rPr>
              <a:t>股票投资能力长期榜单</a:t>
            </a:r>
          </a:p>
        </p:txBody>
      </p:sp>
      <p:sp>
        <p:nvSpPr>
          <p:cNvPr id="26" name="矩形: 圆角 117"/>
          <p:cNvSpPr/>
          <p:nvPr/>
        </p:nvSpPr>
        <p:spPr>
          <a:xfrm>
            <a:off x="10547635" y="1906036"/>
            <a:ext cx="1114141" cy="4209536"/>
          </a:xfrm>
          <a:prstGeom prst="roundRect">
            <a:avLst>
              <a:gd name="adj" fmla="val 0"/>
            </a:avLst>
          </a:prstGeom>
          <a:solidFill>
            <a:srgbClr val="EA5838"/>
          </a:solidFill>
          <a:ln w="12700" cap="flat" cmpd="sng" algn="ctr">
            <a:solidFill>
              <a:srgbClr val="EA5838"/>
            </a:solidFill>
            <a:prstDash val="solid"/>
            <a:miter lim="800000"/>
          </a:ln>
          <a:effectLst>
            <a:outerShdw blurRad="457200" dist="127000" dir="5400000" sx="90000" sy="90000" algn="t" rotWithShape="0">
              <a:schemeClr val="accent1">
                <a:alpha val="60000"/>
              </a:schemeClr>
            </a:outerShdw>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57913"/>
              </a:solidFill>
              <a:effectLst/>
              <a:uLnTx/>
              <a:uFillTx/>
              <a:latin typeface="思源黑体 CN Normal" panose="020B0400000000000000" charset="-122"/>
              <a:ea typeface="思源黑体 CN Normal" panose="020B0400000000000000" charset="-122"/>
              <a:cs typeface="+mn-cs"/>
            </a:endParaRPr>
          </a:p>
        </p:txBody>
      </p:sp>
      <p:graphicFrame>
        <p:nvGraphicFramePr>
          <p:cNvPr id="27" name="表格 26"/>
          <p:cNvGraphicFramePr>
            <a:graphicFrameLocks noGrp="1"/>
          </p:cNvGraphicFramePr>
          <p:nvPr/>
        </p:nvGraphicFramePr>
        <p:xfrm>
          <a:off x="4914019" y="2069383"/>
          <a:ext cx="6751392" cy="3977112"/>
        </p:xfrm>
        <a:graphic>
          <a:graphicData uri="http://schemas.openxmlformats.org/drawingml/2006/table">
            <a:tbl>
              <a:tblPr firstRow="1" bandRow="1">
                <a:effectLst>
                  <a:outerShdw blurRad="254000" dist="38100" dir="5400000" algn="t" rotWithShape="0">
                    <a:prstClr val="black">
                      <a:alpha val="20000"/>
                    </a:prstClr>
                  </a:outerShdw>
                </a:effectLst>
                <a:tableStyleId>{5C22544A-7EE6-4342-B048-85BDC9FD1C3A}</a:tableStyleId>
              </a:tblPr>
              <a:tblGrid>
                <a:gridCol w="900498">
                  <a:extLst>
                    <a:ext uri="{9D8B030D-6E8A-4147-A177-3AD203B41FA5}">
                      <a16:colId xmlns:a16="http://schemas.microsoft.com/office/drawing/2014/main" xmlns="" val="20000"/>
                    </a:ext>
                  </a:extLst>
                </a:gridCol>
                <a:gridCol w="1349966">
                  <a:extLst>
                    <a:ext uri="{9D8B030D-6E8A-4147-A177-3AD203B41FA5}">
                      <a16:colId xmlns:a16="http://schemas.microsoft.com/office/drawing/2014/main" xmlns="" val="20001"/>
                    </a:ext>
                  </a:extLst>
                </a:gridCol>
                <a:gridCol w="1125232">
                  <a:extLst>
                    <a:ext uri="{9D8B030D-6E8A-4147-A177-3AD203B41FA5}">
                      <a16:colId xmlns:a16="http://schemas.microsoft.com/office/drawing/2014/main" xmlns="" val="20002"/>
                    </a:ext>
                  </a:extLst>
                </a:gridCol>
                <a:gridCol w="1125232">
                  <a:extLst>
                    <a:ext uri="{9D8B030D-6E8A-4147-A177-3AD203B41FA5}">
                      <a16:colId xmlns:a16="http://schemas.microsoft.com/office/drawing/2014/main" xmlns="" val="20003"/>
                    </a:ext>
                  </a:extLst>
                </a:gridCol>
                <a:gridCol w="1125232">
                  <a:extLst>
                    <a:ext uri="{9D8B030D-6E8A-4147-A177-3AD203B41FA5}">
                      <a16:colId xmlns:a16="http://schemas.microsoft.com/office/drawing/2014/main" xmlns="" val="20004"/>
                    </a:ext>
                  </a:extLst>
                </a:gridCol>
                <a:gridCol w="1125232">
                  <a:extLst>
                    <a:ext uri="{9D8B030D-6E8A-4147-A177-3AD203B41FA5}">
                      <a16:colId xmlns:a16="http://schemas.microsoft.com/office/drawing/2014/main" xmlns="" val="20005"/>
                    </a:ext>
                  </a:extLst>
                </a:gridCol>
              </a:tblGrid>
              <a:tr h="489204">
                <a:tc>
                  <a:txBody>
                    <a:bodyPr/>
                    <a:lstStyle/>
                    <a:p>
                      <a:pPr algn="ctr"/>
                      <a:endParaRPr lang="zh-CN" altLang="en-US" sz="2000" b="0" dirty="0">
                        <a:solidFill>
                          <a:schemeClr val="tx2">
                            <a:lumMod val="50000"/>
                          </a:schemeClr>
                        </a:solidFill>
                        <a:latin typeface="+mn-ea"/>
                        <a:ea typeface="+mn-ea"/>
                        <a:cs typeface="+mn-ea"/>
                        <a:sym typeface="+mn-lt"/>
                      </a:endParaRPr>
                    </a:p>
                  </a:txBody>
                  <a:tcPr marL="123444" marR="123444" marT="61722" marB="61722"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0" dirty="0">
                        <a:solidFill>
                          <a:schemeClr val="tx2">
                            <a:lumMod val="50000"/>
                          </a:schemeClr>
                        </a:solidFill>
                        <a:latin typeface="+mn-ea"/>
                        <a:ea typeface="+mn-ea"/>
                        <a:cs typeface="+mn-ea"/>
                        <a:sym typeface="+mn-lt"/>
                      </a:endParaRPr>
                    </a:p>
                  </a:txBody>
                  <a:tcPr marL="123444" marR="123444" marT="61722" marB="6172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spcAft>
                          <a:spcPts val="0"/>
                        </a:spcAft>
                      </a:pPr>
                      <a:r>
                        <a:rPr lang="zh-CN" altLang="en-US" sz="1200" b="1" kern="100" noProof="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成立日期</a:t>
                      </a:r>
                      <a:endParaRPr lang="zh-CN" altLang="en-US" sz="1200" b="1"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sym typeface="+mn-lt"/>
                      </a:endParaRPr>
                    </a:p>
                  </a:txBody>
                  <a:tcPr marL="123444" marR="123444" marT="61722" marB="6172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成立以来</a:t>
                      </a:r>
                      <a:endParaRPr lang="en-US" altLang="zh-CN" sz="12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gn="ctr">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收益率</a:t>
                      </a:r>
                      <a:endParaRPr lang="zh-CN" altLang="zh-CN" sz="12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3444" marR="123444" marT="61722" marB="6172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zh-CN" altLang="en-US" sz="12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同期业绩比较基准</a:t>
                      </a:r>
                      <a:endParaRPr lang="zh-CN" sz="12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defRPr/>
                      </a:pPr>
                      <a:r>
                        <a:rPr lang="zh-CN" altLang="en-US" sz="1200" b="1" kern="100" noProof="0" dirty="0">
                          <a:solidFill>
                            <a:schemeClr val="bg1"/>
                          </a:solidFill>
                          <a:effectLst/>
                          <a:latin typeface="微软雅黑" panose="020B0503020204020204" pitchFamily="34" charset="-122"/>
                          <a:ea typeface="微软雅黑" panose="020B0503020204020204" pitchFamily="34" charset="-122"/>
                          <a:cs typeface="+mn-cs"/>
                          <a:sym typeface="+mn-lt"/>
                        </a:rPr>
                        <a:t>超额收益</a:t>
                      </a:r>
                    </a:p>
                  </a:txBody>
                  <a:tcPr marL="57275" marR="57275" marT="0"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00"/>
                  </a:ext>
                </a:extLst>
              </a:tr>
              <a:tr h="290659">
                <a:tc rowSpan="3">
                  <a:txBody>
                    <a:bodyPr/>
                    <a:lstStyle/>
                    <a:p>
                      <a:pPr algn="ctr">
                        <a:spcAft>
                          <a:spcPts val="0"/>
                        </a:spcAft>
                      </a:pPr>
                      <a:r>
                        <a:rPr lang="zh-CN" altLang="en-US" sz="1200" b="1" kern="0" dirty="0">
                          <a:effectLst/>
                          <a:latin typeface="微软雅黑" panose="020B0503020204020204" pitchFamily="34" charset="-122"/>
                          <a:ea typeface="微软雅黑" panose="020B0503020204020204" pitchFamily="34" charset="-122"/>
                        </a:rPr>
                        <a:t>主动量化</a:t>
                      </a:r>
                      <a:endParaRPr lang="en-US" sz="1200" b="1" kern="0" dirty="0">
                        <a:effectLst/>
                        <a:latin typeface="微软雅黑" panose="020B0503020204020204" pitchFamily="34" charset="-122"/>
                        <a:ea typeface="微软雅黑" panose="020B0503020204020204" pitchFamily="34" charset="-122"/>
                      </a:endParaRPr>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1" kern="0" dirty="0">
                          <a:solidFill>
                            <a:schemeClr val="dk1"/>
                          </a:solidFill>
                          <a:effectLst/>
                          <a:latin typeface="微软雅黑" panose="020B0503020204020204" pitchFamily="34" charset="-122"/>
                          <a:ea typeface="微软雅黑" panose="020B0503020204020204" pitchFamily="34" charset="-122"/>
                          <a:cs typeface="+mn-cs"/>
                        </a:rPr>
                        <a:t>博道启航</a:t>
                      </a:r>
                      <a:r>
                        <a:rPr lang="en-US" altLang="zh-CN" sz="1200" b="1" kern="0" dirty="0">
                          <a:solidFill>
                            <a:schemeClr val="dk1"/>
                          </a:solidFill>
                          <a:effectLst/>
                          <a:latin typeface="微软雅黑" panose="020B0503020204020204" pitchFamily="34" charset="-122"/>
                          <a:ea typeface="微软雅黑" panose="020B0503020204020204" pitchFamily="34" charset="-122"/>
                          <a:cs typeface="+mn-cs"/>
                        </a:rPr>
                        <a:t>A</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kern="100" dirty="0">
                          <a:solidFill>
                            <a:schemeClr val="dk1"/>
                          </a:solidFill>
                          <a:effectLst/>
                          <a:latin typeface="微软雅黑" panose="020B0503020204020204" pitchFamily="34" charset="-122"/>
                          <a:ea typeface="微软雅黑" panose="020B0503020204020204" pitchFamily="34" charset="-122"/>
                          <a:cs typeface="+mn-cs"/>
                        </a:rPr>
                        <a:t>2018-08-10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151.01%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39.77%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111.24%</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01"/>
                  </a:ext>
                </a:extLst>
              </a:tr>
              <a:tr h="290659">
                <a:tc vMerge="1">
                  <a:txBody>
                    <a:bodyPr/>
                    <a:lstStyle/>
                    <a:p>
                      <a:endParaRPr lang="zh-CN"/>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1" kern="0" dirty="0">
                          <a:solidFill>
                            <a:schemeClr val="dk1"/>
                          </a:solidFill>
                          <a:effectLst/>
                          <a:latin typeface="微软雅黑" panose="020B0503020204020204" pitchFamily="34" charset="-122"/>
                          <a:ea typeface="微软雅黑" panose="020B0503020204020204" pitchFamily="34" charset="-122"/>
                          <a:cs typeface="+mn-cs"/>
                        </a:rPr>
                        <a:t>博道远航</a:t>
                      </a:r>
                      <a:r>
                        <a:rPr lang="en-US" altLang="zh-CN" sz="1200" b="1" kern="0" dirty="0">
                          <a:solidFill>
                            <a:schemeClr val="dk1"/>
                          </a:solidFill>
                          <a:effectLst/>
                          <a:latin typeface="微软雅黑" panose="020B0503020204020204" pitchFamily="34" charset="-122"/>
                          <a:ea typeface="微软雅黑" panose="020B0503020204020204" pitchFamily="34" charset="-122"/>
                          <a:cs typeface="+mn-cs"/>
                        </a:rPr>
                        <a:t>A</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kern="100" dirty="0">
                          <a:solidFill>
                            <a:schemeClr val="dk1"/>
                          </a:solidFill>
                          <a:effectLst/>
                          <a:latin typeface="微软雅黑" panose="020B0503020204020204" pitchFamily="34" charset="-122"/>
                          <a:ea typeface="微软雅黑" panose="020B0503020204020204" pitchFamily="34" charset="-122"/>
                          <a:cs typeface="+mn-cs"/>
                        </a:rPr>
                        <a:t>2019-04-30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106.75%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dirty="0">
                          <a:solidFill>
                            <a:srgbClr val="000000"/>
                          </a:solidFill>
                          <a:effectLst/>
                          <a:latin typeface="等线" panose="02010600030101010101" charset="-122"/>
                          <a:ea typeface="等线" panose="02010600030101010101" charset="-122"/>
                        </a:rPr>
                        <a:t>27.43%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79.32%</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02"/>
                  </a:ext>
                </a:extLst>
              </a:tr>
              <a:tr h="290659">
                <a:tc vMerge="1">
                  <a:txBody>
                    <a:bodyPr/>
                    <a:lstStyle/>
                    <a:p>
                      <a:endParaRPr lang="zh-CN"/>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1" kern="0" dirty="0">
                          <a:solidFill>
                            <a:schemeClr val="dk1"/>
                          </a:solidFill>
                          <a:effectLst/>
                          <a:latin typeface="微软雅黑" panose="020B0503020204020204" pitchFamily="34" charset="-122"/>
                          <a:ea typeface="微软雅黑" panose="020B0503020204020204" pitchFamily="34" charset="-122"/>
                          <a:cs typeface="+mn-cs"/>
                        </a:rPr>
                        <a:t>博道久航</a:t>
                      </a:r>
                      <a:r>
                        <a:rPr lang="en-US" sz="1200" b="1" kern="0" dirty="0">
                          <a:solidFill>
                            <a:schemeClr val="dk1"/>
                          </a:solidFill>
                          <a:effectLst/>
                          <a:latin typeface="微软雅黑" panose="020B0503020204020204" pitchFamily="34" charset="-122"/>
                          <a:ea typeface="微软雅黑" panose="020B0503020204020204" pitchFamily="34" charset="-122"/>
                          <a:cs typeface="+mn-cs"/>
                        </a:rPr>
                        <a:t>A</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kern="100" dirty="0">
                          <a:solidFill>
                            <a:schemeClr val="dk1"/>
                          </a:solidFill>
                          <a:effectLst/>
                          <a:latin typeface="微软雅黑" panose="020B0503020204020204" pitchFamily="34" charset="-122"/>
                          <a:ea typeface="微软雅黑" panose="020B0503020204020204" pitchFamily="34" charset="-122"/>
                          <a:cs typeface="+mn-cs"/>
                        </a:rPr>
                        <a:t>2019-12-24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83.41%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26.28%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57.13%</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03"/>
                  </a:ext>
                </a:extLst>
              </a:tr>
              <a:tr h="290659">
                <a:tc rowSpan="4">
                  <a:txBody>
                    <a:bodyPr/>
                    <a:lstStyle/>
                    <a:p>
                      <a:pPr algn="ctr">
                        <a:spcAft>
                          <a:spcPts val="0"/>
                        </a:spcAft>
                      </a:pPr>
                      <a:r>
                        <a:rPr lang="zh-CN" altLang="en-US" sz="1200" b="1" kern="0" dirty="0">
                          <a:effectLst/>
                          <a:latin typeface="微软雅黑" panose="020B0503020204020204" pitchFamily="34" charset="-122"/>
                          <a:ea typeface="微软雅黑" panose="020B0503020204020204" pitchFamily="34" charset="-122"/>
                        </a:rPr>
                        <a:t>指数增强</a:t>
                      </a:r>
                      <a:endParaRPr lang="en-US" sz="1200" b="1" kern="0" dirty="0">
                        <a:effectLst/>
                        <a:latin typeface="微软雅黑" panose="020B0503020204020204" pitchFamily="34" charset="-122"/>
                        <a:ea typeface="微软雅黑" panose="020B0503020204020204" pitchFamily="34" charset="-122"/>
                      </a:endParaRPr>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1" kern="0" dirty="0">
                          <a:solidFill>
                            <a:schemeClr val="dk1"/>
                          </a:solidFill>
                          <a:effectLst/>
                          <a:latin typeface="微软雅黑" panose="020B0503020204020204" pitchFamily="34" charset="-122"/>
                          <a:ea typeface="微软雅黑" panose="020B0503020204020204" pitchFamily="34" charset="-122"/>
                          <a:cs typeface="+mn-cs"/>
                        </a:rPr>
                        <a:t>博道中证</a:t>
                      </a:r>
                      <a:r>
                        <a:rPr lang="en-US" altLang="zh-CN" sz="1200" b="1" kern="0" dirty="0">
                          <a:solidFill>
                            <a:schemeClr val="dk1"/>
                          </a:solidFill>
                          <a:effectLst/>
                          <a:latin typeface="微软雅黑" panose="020B0503020204020204" pitchFamily="34" charset="-122"/>
                          <a:ea typeface="微软雅黑" panose="020B0503020204020204" pitchFamily="34" charset="-122"/>
                          <a:cs typeface="+mn-cs"/>
                        </a:rPr>
                        <a:t>500</a:t>
                      </a:r>
                      <a:r>
                        <a:rPr lang="zh-CN" altLang="en-US" sz="1200" b="1" kern="0" dirty="0">
                          <a:solidFill>
                            <a:schemeClr val="dk1"/>
                          </a:solidFill>
                          <a:effectLst/>
                          <a:latin typeface="微软雅黑" panose="020B0503020204020204" pitchFamily="34" charset="-122"/>
                          <a:ea typeface="微软雅黑" panose="020B0503020204020204" pitchFamily="34" charset="-122"/>
                          <a:cs typeface="+mn-cs"/>
                        </a:rPr>
                        <a:t>增强</a:t>
                      </a:r>
                      <a:r>
                        <a:rPr lang="en-US" altLang="zh-CN" sz="1200" b="1" kern="0" dirty="0">
                          <a:solidFill>
                            <a:schemeClr val="dk1"/>
                          </a:solidFill>
                          <a:effectLst/>
                          <a:latin typeface="微软雅黑" panose="020B0503020204020204" pitchFamily="34" charset="-122"/>
                          <a:ea typeface="微软雅黑" panose="020B0503020204020204" pitchFamily="34" charset="-122"/>
                          <a:cs typeface="+mn-cs"/>
                        </a:rPr>
                        <a:t>A</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kern="100" dirty="0">
                          <a:solidFill>
                            <a:schemeClr val="dk1"/>
                          </a:solidFill>
                          <a:effectLst/>
                          <a:latin typeface="微软雅黑" panose="020B0503020204020204" pitchFamily="34" charset="-122"/>
                          <a:ea typeface="微软雅黑" panose="020B0503020204020204" pitchFamily="34" charset="-122"/>
                          <a:cs typeface="+mn-cs"/>
                        </a:rPr>
                        <a:t>2019-01-03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180.30%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76.98%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103.31%</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04"/>
                  </a:ext>
                </a:extLst>
              </a:tr>
              <a:tr h="290659">
                <a:tc vMerge="1">
                  <a:txBody>
                    <a:bodyPr/>
                    <a:lstStyle/>
                    <a:p>
                      <a:endParaRPr lang="zh-CN"/>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1" kern="0" dirty="0">
                          <a:solidFill>
                            <a:schemeClr val="dk1"/>
                          </a:solidFill>
                          <a:effectLst/>
                          <a:latin typeface="微软雅黑" panose="020B0503020204020204" pitchFamily="34" charset="-122"/>
                          <a:ea typeface="微软雅黑" panose="020B0503020204020204" pitchFamily="34" charset="-122"/>
                          <a:cs typeface="+mn-cs"/>
                        </a:rPr>
                        <a:t>博道沪深</a:t>
                      </a:r>
                      <a:r>
                        <a:rPr lang="en-US" altLang="zh-CN" sz="1200" b="1" kern="0" dirty="0">
                          <a:solidFill>
                            <a:schemeClr val="dk1"/>
                          </a:solidFill>
                          <a:effectLst/>
                          <a:latin typeface="微软雅黑" panose="020B0503020204020204" pitchFamily="34" charset="-122"/>
                          <a:ea typeface="微软雅黑" panose="020B0503020204020204" pitchFamily="34" charset="-122"/>
                          <a:cs typeface="+mn-cs"/>
                        </a:rPr>
                        <a:t>300</a:t>
                      </a:r>
                      <a:r>
                        <a:rPr lang="zh-CN" altLang="en-US" sz="1200" b="1" kern="0" dirty="0">
                          <a:solidFill>
                            <a:schemeClr val="dk1"/>
                          </a:solidFill>
                          <a:effectLst/>
                          <a:latin typeface="微软雅黑" panose="020B0503020204020204" pitchFamily="34" charset="-122"/>
                          <a:ea typeface="微软雅黑" panose="020B0503020204020204" pitchFamily="34" charset="-122"/>
                          <a:cs typeface="+mn-cs"/>
                        </a:rPr>
                        <a:t>增强</a:t>
                      </a:r>
                      <a:r>
                        <a:rPr lang="en-US" altLang="zh-CN" sz="1200" b="1" kern="0" dirty="0">
                          <a:solidFill>
                            <a:schemeClr val="dk1"/>
                          </a:solidFill>
                          <a:effectLst/>
                          <a:latin typeface="微软雅黑" panose="020B0503020204020204" pitchFamily="34" charset="-122"/>
                          <a:ea typeface="微软雅黑" panose="020B0503020204020204" pitchFamily="34" charset="-122"/>
                          <a:cs typeface="+mn-cs"/>
                        </a:rPr>
                        <a:t>A</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kern="100" dirty="0">
                          <a:solidFill>
                            <a:schemeClr val="dk1"/>
                          </a:solidFill>
                          <a:effectLst/>
                          <a:latin typeface="微软雅黑" panose="020B0503020204020204" pitchFamily="34" charset="-122"/>
                          <a:ea typeface="微软雅黑" panose="020B0503020204020204" pitchFamily="34" charset="-122"/>
                          <a:cs typeface="+mn-cs"/>
                        </a:rPr>
                        <a:t>2019-04-26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78.53%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17.29%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61.24%</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05"/>
                  </a:ext>
                </a:extLst>
              </a:tr>
              <a:tr h="290659">
                <a:tc vMerge="1">
                  <a:txBody>
                    <a:bodyPr/>
                    <a:lstStyle/>
                    <a:p>
                      <a:endParaRPr lang="zh-CN"/>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1" kern="0" dirty="0">
                          <a:solidFill>
                            <a:schemeClr val="dk1"/>
                          </a:solidFill>
                          <a:effectLst/>
                          <a:latin typeface="微软雅黑" panose="020B0503020204020204" pitchFamily="34" charset="-122"/>
                          <a:ea typeface="微软雅黑" panose="020B0503020204020204" pitchFamily="34" charset="-122"/>
                          <a:cs typeface="+mn-cs"/>
                        </a:rPr>
                        <a:t>博道叁佰智航</a:t>
                      </a:r>
                      <a:r>
                        <a:rPr lang="en-US" altLang="zh-CN" sz="1200" b="1" kern="0" dirty="0">
                          <a:solidFill>
                            <a:schemeClr val="dk1"/>
                          </a:solidFill>
                          <a:effectLst/>
                          <a:latin typeface="微软雅黑" panose="020B0503020204020204" pitchFamily="34" charset="-122"/>
                          <a:ea typeface="微软雅黑" panose="020B0503020204020204" pitchFamily="34" charset="-122"/>
                          <a:cs typeface="+mn-cs"/>
                        </a:rPr>
                        <a:t>A</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kern="100" dirty="0">
                          <a:solidFill>
                            <a:schemeClr val="dk1"/>
                          </a:solidFill>
                          <a:effectLst/>
                          <a:latin typeface="微软雅黑" panose="020B0503020204020204" pitchFamily="34" charset="-122"/>
                          <a:ea typeface="微软雅黑" panose="020B0503020204020204" pitchFamily="34" charset="-122"/>
                          <a:cs typeface="+mn-cs"/>
                        </a:rPr>
                        <a:t>2019-06-05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91.40%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27.87%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63.54%</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06"/>
                  </a:ext>
                </a:extLst>
              </a:tr>
              <a:tr h="290659">
                <a:tc vMerge="1">
                  <a:txBody>
                    <a:bodyPr/>
                    <a:lstStyle/>
                    <a:p>
                      <a:endParaRPr lang="zh-CN"/>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1" kern="0" dirty="0">
                          <a:solidFill>
                            <a:schemeClr val="dk1"/>
                          </a:solidFill>
                          <a:effectLst/>
                          <a:latin typeface="微软雅黑" panose="020B0503020204020204" pitchFamily="34" charset="-122"/>
                          <a:ea typeface="微软雅黑" panose="020B0503020204020204" pitchFamily="34" charset="-122"/>
                          <a:cs typeface="+mn-cs"/>
                        </a:rPr>
                        <a:t>博道伍佰智航</a:t>
                      </a:r>
                      <a:r>
                        <a:rPr lang="en-US" sz="1200" b="1" kern="0" dirty="0">
                          <a:solidFill>
                            <a:schemeClr val="dk1"/>
                          </a:solidFill>
                          <a:effectLst/>
                          <a:latin typeface="微软雅黑" panose="020B0503020204020204" pitchFamily="34" charset="-122"/>
                          <a:ea typeface="微软雅黑" panose="020B0503020204020204" pitchFamily="34" charset="-122"/>
                          <a:cs typeface="+mn-cs"/>
                        </a:rPr>
                        <a:t>A</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kern="100" dirty="0">
                          <a:solidFill>
                            <a:schemeClr val="dk1"/>
                          </a:solidFill>
                          <a:effectLst/>
                          <a:latin typeface="微软雅黑" panose="020B0503020204020204" pitchFamily="34" charset="-122"/>
                          <a:ea typeface="微软雅黑" panose="020B0503020204020204" pitchFamily="34" charset="-122"/>
                          <a:cs typeface="+mn-cs"/>
                        </a:rPr>
                        <a:t>2019-09-26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124.22%</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45.08%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79.14%</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07"/>
                  </a:ext>
                </a:extLst>
              </a:tr>
              <a:tr h="290659">
                <a:tc rowSpan="5">
                  <a:txBody>
                    <a:bodyPr/>
                    <a:lstStyle/>
                    <a:p>
                      <a:pPr algn="ctr">
                        <a:spcAft>
                          <a:spcPts val="0"/>
                        </a:spcAft>
                      </a:pPr>
                      <a:r>
                        <a:rPr lang="zh-CN" altLang="en-US" sz="1200" b="1" kern="0" dirty="0">
                          <a:effectLst/>
                          <a:latin typeface="微软雅黑" panose="020B0503020204020204" pitchFamily="34" charset="-122"/>
                          <a:ea typeface="微软雅黑" panose="020B0503020204020204" pitchFamily="34" charset="-122"/>
                        </a:rPr>
                        <a:t>主动选股</a:t>
                      </a:r>
                      <a:endParaRPr lang="en-US" sz="1200" b="1" kern="0" dirty="0">
                        <a:effectLst/>
                        <a:latin typeface="微软雅黑" panose="020B0503020204020204" pitchFamily="34" charset="-122"/>
                        <a:ea typeface="微软雅黑" panose="020B0503020204020204" pitchFamily="34" charset="-122"/>
                      </a:endParaRPr>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zh-CN" sz="1200" b="1" kern="0" dirty="0">
                          <a:effectLst/>
                          <a:latin typeface="微软雅黑" panose="020B0503020204020204" pitchFamily="34" charset="-122"/>
                          <a:ea typeface="微软雅黑" panose="020B0503020204020204" pitchFamily="34" charset="-122"/>
                        </a:rPr>
                        <a:t>博道卓远</a:t>
                      </a:r>
                      <a:r>
                        <a:rPr lang="en-US" sz="1200" b="1" kern="0" dirty="0">
                          <a:effectLst/>
                          <a:latin typeface="微软雅黑" panose="020B0503020204020204" pitchFamily="34" charset="-122"/>
                          <a:ea typeface="微软雅黑" panose="020B0503020204020204" pitchFamily="34" charset="-122"/>
                        </a:rPr>
                        <a:t>A</a:t>
                      </a: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2018-11-07</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96.84%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38.81%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58.03%</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08"/>
                  </a:ext>
                </a:extLst>
              </a:tr>
              <a:tr h="290659">
                <a:tc vMerge="1">
                  <a:txBody>
                    <a:bodyPr/>
                    <a:lstStyle/>
                    <a:p>
                      <a:endParaRPr lang="zh-CN"/>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zh-CN" sz="1200" b="1" kern="0" dirty="0">
                          <a:effectLst/>
                          <a:latin typeface="微软雅黑" panose="020B0503020204020204" pitchFamily="34" charset="-122"/>
                          <a:ea typeface="微软雅黑" panose="020B0503020204020204" pitchFamily="34" charset="-122"/>
                        </a:rPr>
                        <a:t>博道志远</a:t>
                      </a:r>
                      <a:r>
                        <a:rPr lang="en-US" sz="1200" b="1" kern="0" dirty="0">
                          <a:effectLst/>
                          <a:latin typeface="微软雅黑" panose="020B0503020204020204" pitchFamily="34" charset="-122"/>
                          <a:ea typeface="微软雅黑" panose="020B0503020204020204" pitchFamily="34" charset="-122"/>
                        </a:rPr>
                        <a:t>A</a:t>
                      </a: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2019-09-17</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60.41%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24.08%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36.33%</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09"/>
                  </a:ext>
                </a:extLst>
              </a:tr>
              <a:tr h="290659">
                <a:tc vMerge="1">
                  <a:txBody>
                    <a:bodyPr/>
                    <a:lstStyle/>
                    <a:p>
                      <a:endParaRPr lang="zh-CN"/>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zh-CN" sz="1200" b="1" kern="0" dirty="0">
                          <a:effectLst/>
                          <a:latin typeface="微软雅黑" panose="020B0503020204020204" pitchFamily="34" charset="-122"/>
                          <a:ea typeface="微软雅黑" panose="020B0503020204020204" pitchFamily="34" charset="-122"/>
                        </a:rPr>
                        <a:t>博道嘉泰回报</a:t>
                      </a:r>
                      <a:endParaRPr lang="en-US" altLang="zh-CN" sz="1200" b="1" kern="0" dirty="0">
                        <a:effectLst/>
                        <a:latin typeface="微软雅黑" panose="020B0503020204020204" pitchFamily="34" charset="-122"/>
                        <a:ea typeface="微软雅黑" panose="020B0503020204020204" pitchFamily="34" charset="-122"/>
                      </a:endParaRP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2019-12-19</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98.76%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21.62%</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77.14%</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10"/>
                  </a:ext>
                </a:extLst>
              </a:tr>
              <a:tr h="290659">
                <a:tc vMerge="1">
                  <a:txBody>
                    <a:bodyPr/>
                    <a:lstStyle/>
                    <a:p>
                      <a:endParaRPr lang="zh-CN"/>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zh-CN" sz="1200" b="1" kern="0" dirty="0">
                          <a:effectLst/>
                          <a:latin typeface="微软雅黑" panose="020B0503020204020204" pitchFamily="34" charset="-122"/>
                          <a:ea typeface="微软雅黑" panose="020B0503020204020204" pitchFamily="34" charset="-122"/>
                        </a:rPr>
                        <a:t>博道嘉瑞</a:t>
                      </a:r>
                      <a:r>
                        <a:rPr lang="en-US" sz="1200" b="1" kern="0" dirty="0">
                          <a:effectLst/>
                          <a:latin typeface="微软雅黑" panose="020B0503020204020204" pitchFamily="34" charset="-122"/>
                          <a:ea typeface="微软雅黑" panose="020B0503020204020204" pitchFamily="34" charset="-122"/>
                        </a:rPr>
                        <a:t>A</a:t>
                      </a: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2019-12-30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74.23%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16.26%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57.97%</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11"/>
                  </a:ext>
                </a:extLst>
              </a:tr>
              <a:tr h="290659">
                <a:tc vMerge="1">
                  <a:txBody>
                    <a:bodyPr/>
                    <a:lstStyle/>
                    <a:p>
                      <a:endParaRPr lang="zh-CN"/>
                    </a:p>
                  </a:txBody>
                  <a:tcPr marL="57275" marR="57275" marT="0" marB="0" anchor="ctr">
                    <a:lnL w="12700" cmpd="sng">
                      <a:noFill/>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zh-CN" sz="1200" b="1" kern="0" dirty="0">
                          <a:effectLst/>
                          <a:latin typeface="微软雅黑" panose="020B0503020204020204" pitchFamily="34" charset="-122"/>
                          <a:ea typeface="微软雅黑" panose="020B0503020204020204" pitchFamily="34" charset="-122"/>
                        </a:rPr>
                        <a:t>博道嘉元</a:t>
                      </a:r>
                      <a:r>
                        <a:rPr lang="en-US" sz="1200" b="1" kern="0" dirty="0">
                          <a:effectLst/>
                          <a:latin typeface="微软雅黑" panose="020B0503020204020204" pitchFamily="34" charset="-122"/>
                          <a:ea typeface="微软雅黑" panose="020B0503020204020204" pitchFamily="34" charset="-122"/>
                        </a:rPr>
                        <a:t>A</a:t>
                      </a: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2020-03-04</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7275" marR="57275"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rgbClr val="EA5838"/>
                          </a:solidFill>
                          <a:effectLst/>
                          <a:latin typeface="等线" panose="02010600030101010101" charset="-122"/>
                          <a:ea typeface="等线" panose="02010600030101010101" charset="-122"/>
                        </a:rPr>
                        <a:t>82.62%</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a:solidFill>
                            <a:srgbClr val="000000"/>
                          </a:solidFill>
                          <a:effectLst/>
                          <a:latin typeface="等线" panose="02010600030101010101" charset="-122"/>
                          <a:ea typeface="等线" panose="02010600030101010101" charset="-122"/>
                        </a:rPr>
                        <a:t>13.21%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b="1" i="0" u="none" strike="noStrike" dirty="0">
                          <a:solidFill>
                            <a:schemeClr val="bg1"/>
                          </a:solidFill>
                          <a:effectLst/>
                          <a:latin typeface="等线" panose="02010600030101010101" charset="-122"/>
                          <a:ea typeface="等线" panose="02010600030101010101" charset="-122"/>
                        </a:rPr>
                        <a:t>69.41%</a:t>
                      </a:r>
                    </a:p>
                  </a:txBody>
                  <a:tcPr marL="9525" marR="9525" marT="9525" marB="0" anchor="ctr">
                    <a:lnL w="635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366C"/>
                    </a:solidFill>
                  </a:tcPr>
                </a:tc>
                <a:extLst>
                  <a:ext uri="{0D108BD9-81ED-4DB2-BD59-A6C34878D82A}">
                    <a16:rowId xmlns:a16="http://schemas.microsoft.com/office/drawing/2014/main" xmlns="" val="10012"/>
                  </a:ext>
                </a:extLst>
              </a:tr>
            </a:tbl>
          </a:graphicData>
        </a:graphic>
      </p:graphicFrame>
      <p:sp>
        <p:nvSpPr>
          <p:cNvPr id="63501" name="矩形 2"/>
          <p:cNvSpPr>
            <a:spLocks noChangeArrowheads="1"/>
          </p:cNvSpPr>
          <p:nvPr/>
        </p:nvSpPr>
        <p:spPr bwMode="auto">
          <a:xfrm>
            <a:off x="530226" y="5656724"/>
            <a:ext cx="39401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defTabSz="4572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defTabSz="4572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defTabSz="4572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defTabSz="4572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主动管理能力排名数据来源：中国银河证券基金研究中心，基金管理人股票投资主动管理能力长期评价榜单（指数法），截至</a:t>
            </a: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2025</a:t>
            </a:r>
            <a:r>
              <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年</a:t>
            </a: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12</a:t>
            </a:r>
            <a:r>
              <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月</a:t>
            </a: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31</a:t>
            </a:r>
            <a:r>
              <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日。</a:t>
            </a:r>
            <a:endPar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矩形 1"/>
          <p:cNvSpPr/>
          <p:nvPr/>
        </p:nvSpPr>
        <p:spPr>
          <a:xfrm>
            <a:off x="3966754" y="6242066"/>
            <a:ext cx="6399511" cy="461665"/>
          </a:xfrm>
          <a:prstGeom prst="rect">
            <a:avLst/>
          </a:prstGeom>
        </p:spPr>
        <p:txBody>
          <a:bodyPr wrap="square">
            <a:spAutoFit/>
          </a:bodyPr>
          <a:lstStyle/>
          <a:p>
            <a:pPr marL="0" marR="0" lvl="0" indent="0" algn="r" defTabSz="457200" rtl="0" eaLnBrk="0" fontAlgn="base" latinLnBrk="0" hangingPunct="1">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数据来源：</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Wind</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、中国银河证券基金研究中心、博道基金</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，截至</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12</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31</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日，</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A/C</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份额只展示</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A</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类份额</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r" defTabSz="457200" rtl="0" eaLnBrk="0" fontAlgn="base" latinLnBrk="0" hangingPunct="1">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风险提示：</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基金的过往业绩并不预示其未来表现，基金管理人管理的其他基金的业绩并不构成基金业绩表现的保证。</a:t>
            </a:r>
            <a:endPar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r" defTabSz="457200" rtl="0" eaLnBrk="0" fontAlgn="base" latinLnBrk="0" hangingPunct="1">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我国股市运作时间较短，不能反映证券市场发展的所有阶段。</a:t>
            </a:r>
          </a:p>
        </p:txBody>
      </p:sp>
      <p:grpSp>
        <p:nvGrpSpPr>
          <p:cNvPr id="24" name="组合 14"/>
          <p:cNvGrpSpPr/>
          <p:nvPr/>
        </p:nvGrpSpPr>
        <p:grpSpPr bwMode="auto">
          <a:xfrm>
            <a:off x="1539533" y="2843105"/>
            <a:ext cx="1604963" cy="1057835"/>
            <a:chOff x="-439969" y="4609335"/>
            <a:chExt cx="1603617" cy="1058102"/>
          </a:xfrm>
        </p:grpSpPr>
        <p:sp>
          <p:nvSpPr>
            <p:cNvPr id="25" name="文本框 15"/>
            <p:cNvSpPr txBox="1">
              <a:spLocks noChangeArrowheads="1"/>
            </p:cNvSpPr>
            <p:nvPr/>
          </p:nvSpPr>
          <p:spPr bwMode="auto">
            <a:xfrm>
              <a:off x="-325556" y="4609335"/>
              <a:ext cx="1395415" cy="769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1200" cap="none" spc="0" normalizeH="0" baseline="0" noProof="0" dirty="0">
                  <a:ln>
                    <a:noFill/>
                  </a:ln>
                  <a:solidFill>
                    <a:srgbClr val="EA5838"/>
                  </a:solidFill>
                  <a:effectLst/>
                  <a:uLnTx/>
                  <a:uFillTx/>
                  <a:latin typeface="微软雅黑" panose="020B0503020204020204" pitchFamily="34" charset="-122"/>
                  <a:ea typeface="OPPOSans R" panose="00020600040101010101" pitchFamily="18" charset="-122"/>
                  <a:cs typeface="+mn-cs"/>
                </a:rPr>
                <a:t>19</a:t>
              </a:r>
              <a:r>
                <a:rPr kumimoji="0" lang="en-US" altLang="zh-CN" sz="2000" b="0" i="0" u="none" strike="noStrike" kern="1200" cap="none" spc="0" normalizeH="0" baseline="0" noProof="0" dirty="0">
                  <a:ln>
                    <a:noFill/>
                  </a:ln>
                  <a:solidFill>
                    <a:srgbClr val="103565"/>
                  </a:solidFill>
                  <a:effectLst/>
                  <a:uLnTx/>
                  <a:uFillTx/>
                  <a:latin typeface="微软雅黑" panose="020B0503020204020204" pitchFamily="34" charset="-122"/>
                  <a:ea typeface="OPPOSans R" panose="00020600040101010101" pitchFamily="18" charset="-122"/>
                  <a:cs typeface="+mn-cs"/>
                </a:rPr>
                <a:t>/124</a:t>
              </a:r>
              <a:endParaRPr kumimoji="0" lang="zh-CN" altLang="en-US" sz="2000" b="0" i="0" u="none" strike="noStrike" kern="1200" cap="none" spc="0" normalizeH="0" baseline="0" noProof="0" dirty="0">
                <a:ln>
                  <a:noFill/>
                </a:ln>
                <a:solidFill>
                  <a:srgbClr val="103565"/>
                </a:solidFill>
                <a:effectLst/>
                <a:uLnTx/>
                <a:uFillTx/>
                <a:latin typeface="微软雅黑" panose="020B0503020204020204" pitchFamily="34" charset="-122"/>
                <a:ea typeface="OPPOSans R" panose="00020600040101010101" pitchFamily="18" charset="-122"/>
                <a:cs typeface="+mn-cs"/>
              </a:endParaRPr>
            </a:p>
          </p:txBody>
        </p:sp>
        <p:sp>
          <p:nvSpPr>
            <p:cNvPr id="28" name="矩形 27"/>
            <p:cNvSpPr/>
            <p:nvPr/>
          </p:nvSpPr>
          <p:spPr>
            <a:xfrm>
              <a:off x="-439969" y="5260934"/>
              <a:ext cx="1603617" cy="406503"/>
            </a:xfrm>
            <a:prstGeom prst="rect">
              <a:avLst/>
            </a:prstGeom>
            <a:solidFill>
              <a:srgbClr val="103565"/>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mn-cs"/>
              </a:endParaRPr>
            </a:p>
          </p:txBody>
        </p:sp>
        <p:sp>
          <p:nvSpPr>
            <p:cNvPr id="29" name="文本框 17"/>
            <p:cNvSpPr txBox="1">
              <a:spLocks noChangeArrowheads="1"/>
            </p:cNvSpPr>
            <p:nvPr/>
          </p:nvSpPr>
          <p:spPr bwMode="auto">
            <a:xfrm>
              <a:off x="-177141" y="5295208"/>
              <a:ext cx="1338828"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OPPOSans R" panose="00020600040101010101" pitchFamily="18" charset="-122"/>
                  <a:cs typeface="+mn-cs"/>
                </a:rPr>
                <a:t>过去三年</a:t>
              </a:r>
            </a:p>
          </p:txBody>
        </p:sp>
      </p:grpSp>
      <p:sp>
        <p:nvSpPr>
          <p:cNvPr id="22" name="副标题 1"/>
          <p:cNvSpPr txBox="1">
            <a:spLocks noChangeArrowheads="1"/>
          </p:cNvSpPr>
          <p:nvPr/>
        </p:nvSpPr>
        <p:spPr bwMode="auto">
          <a:xfrm>
            <a:off x="369549" y="1209173"/>
            <a:ext cx="4103800" cy="911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ts val="1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1pPr>
            <a:lvl2pPr>
              <a:lnSpc>
                <a:spcPct val="90000"/>
              </a:lnSpc>
              <a:spcBef>
                <a:spcPts val="5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2pPr>
            <a:lvl3pPr>
              <a:lnSpc>
                <a:spcPct val="90000"/>
              </a:lnSpc>
              <a:spcBef>
                <a:spcPts val="5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3pPr>
            <a:lvl4pPr>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4pPr>
            <a:lvl5pPr>
              <a:lnSpc>
                <a:spcPct val="90000"/>
              </a:lnSpc>
              <a:spcBef>
                <a:spcPts val="500"/>
              </a:spcBef>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5pPr>
            <a:lvl6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6pPr>
            <a:lvl7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7pPr>
            <a:lvl8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8pPr>
            <a:lvl9pPr fontAlgn="base">
              <a:lnSpc>
                <a:spcPct val="90000"/>
              </a:lnSpc>
              <a:spcBef>
                <a:spcPts val="500"/>
              </a:spcBef>
              <a:spcAft>
                <a:spcPct val="0"/>
              </a:spcAft>
              <a:buFont typeface="Arial" panose="020B0604020202020204" pitchFamily="34" charset="0"/>
              <a:buChar char="•"/>
              <a:defRPr>
                <a:solidFill>
                  <a:schemeClr val="tx1"/>
                </a:solidFill>
                <a:latin typeface="微软雅黑" panose="020B0503020204020204" pitchFamily="34" charset="-122"/>
                <a:ea typeface="微软雅黑" panose="020B0503020204020204" pitchFamily="34" charset="-122"/>
              </a:defRPr>
            </a:lvl9pPr>
          </a:lstStyle>
          <a:p>
            <a:pPr marL="285750" marR="0" lvl="0" indent="-285750" algn="l" defTabSz="914400" rtl="0" eaLnBrk="0" fontAlgn="base" latinLnBrk="0" hangingPunct="1">
              <a:lnSpc>
                <a:spcPct val="150000"/>
              </a:lnSpc>
              <a:spcBef>
                <a:spcPts val="200"/>
              </a:spcBef>
              <a:spcAft>
                <a:spcPct val="0"/>
              </a:spcAft>
              <a:buClrTx/>
              <a:buSzTx/>
              <a:buFont typeface="Wingdings" panose="05000000000000000000" pitchFamily="2" charset="2"/>
              <a:buChar char="n"/>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截至</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2025</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12</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31</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日，根据银河证券排名，博道基金股票投资主动管理能力各阶段均排名行业前列。</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灯片编号占位符 3">
            <a:extLst>
              <a:ext uri="{FF2B5EF4-FFF2-40B4-BE49-F238E27FC236}">
                <a16:creationId xmlns:a16="http://schemas.microsoft.com/office/drawing/2014/main" xmlns="" id="{4E36025F-838B-EADF-1A20-3CEAE52E1CCD}"/>
              </a:ext>
            </a:extLst>
          </p:cNvPr>
          <p:cNvSpPr>
            <a:spLocks noGrp="1"/>
          </p:cNvSpPr>
          <p:nvPr>
            <p:ph type="sldNum" sz="quarter" idx="11"/>
          </p:nvPr>
        </p:nvSpPr>
        <p:spPr/>
        <p:txBody>
          <a:bodyPr/>
          <a:lstStyle/>
          <a:p>
            <a:pPr>
              <a:defRPr/>
            </a:pPr>
            <a:fld id="{6E91549D-98B7-4077-996F-05BE1B29F039}" type="slidenum">
              <a:rPr lang="zh-CN" altLang="en-US" smtClean="0"/>
              <a:t>32</a:t>
            </a:fld>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圆角 38"/>
          <p:cNvSpPr/>
          <p:nvPr/>
        </p:nvSpPr>
        <p:spPr>
          <a:xfrm>
            <a:off x="1021490" y="3140100"/>
            <a:ext cx="1276540" cy="294201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5" name="矩形: 圆角 38"/>
          <p:cNvSpPr/>
          <p:nvPr/>
        </p:nvSpPr>
        <p:spPr>
          <a:xfrm>
            <a:off x="2467981" y="3140100"/>
            <a:ext cx="1276540" cy="294201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6" name="矩形: 圆角 38"/>
          <p:cNvSpPr/>
          <p:nvPr/>
        </p:nvSpPr>
        <p:spPr>
          <a:xfrm>
            <a:off x="3935282" y="3140102"/>
            <a:ext cx="1277605" cy="294201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7" name="矩形: 圆角 38"/>
          <p:cNvSpPr/>
          <p:nvPr/>
        </p:nvSpPr>
        <p:spPr>
          <a:xfrm>
            <a:off x="5383940" y="3140099"/>
            <a:ext cx="1295464" cy="294201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8" name="矩形: 圆角 38"/>
          <p:cNvSpPr/>
          <p:nvPr/>
        </p:nvSpPr>
        <p:spPr>
          <a:xfrm>
            <a:off x="6866184" y="3140101"/>
            <a:ext cx="1238586" cy="295343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9" name="矩形: 圆角 38"/>
          <p:cNvSpPr/>
          <p:nvPr/>
        </p:nvSpPr>
        <p:spPr>
          <a:xfrm>
            <a:off x="9890522" y="3135365"/>
            <a:ext cx="1324866" cy="294674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标题 1"/>
          <p:cNvSpPr>
            <a:spLocks noGrp="1"/>
          </p:cNvSpPr>
          <p:nvPr>
            <p:ph type="title"/>
          </p:nvPr>
        </p:nvSpPr>
        <p:spPr/>
        <p:txBody>
          <a:bodyPr>
            <a:noAutofit/>
          </a:bodyPr>
          <a:lstStyle/>
          <a:p>
            <a:r>
              <a:rPr lang="zh-CN" altLang="en-US" dirty="0"/>
              <a:t>主动权益团队：</a:t>
            </a:r>
            <a:r>
              <a:rPr lang="zh-CN" altLang="en-US" dirty="0">
                <a:solidFill>
                  <a:srgbClr val="EA5838"/>
                </a:solidFill>
              </a:rPr>
              <a:t>经验丰富，风格多样</a:t>
            </a:r>
          </a:p>
        </p:txBody>
      </p:sp>
      <p:sp>
        <p:nvSpPr>
          <p:cNvPr id="46" name="矩形 45"/>
          <p:cNvSpPr/>
          <p:nvPr/>
        </p:nvSpPr>
        <p:spPr>
          <a:xfrm>
            <a:off x="1007826" y="916338"/>
            <a:ext cx="10208723" cy="339349"/>
          </a:xfrm>
          <a:prstGeom prst="rect">
            <a:avLst/>
          </a:prstGeom>
          <a:solidFill>
            <a:srgbClr val="00366C"/>
          </a:solidFill>
        </p:spPr>
        <p:style>
          <a:lnRef idx="3">
            <a:schemeClr val="lt1"/>
          </a:lnRef>
          <a:fillRef idx="1">
            <a:schemeClr val="accent5"/>
          </a:fillRef>
          <a:effectRef idx="1">
            <a:schemeClr val="accent5"/>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博道主动权益核心投资团队</a:t>
            </a:r>
          </a:p>
        </p:txBody>
      </p:sp>
      <p:sp>
        <p:nvSpPr>
          <p:cNvPr id="48" name="矩形: 圆角 38"/>
          <p:cNvSpPr/>
          <p:nvPr/>
        </p:nvSpPr>
        <p:spPr>
          <a:xfrm>
            <a:off x="1020469" y="1277629"/>
            <a:ext cx="10196078" cy="78387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0" name="矩形: 圆角 27"/>
          <p:cNvSpPr/>
          <p:nvPr/>
        </p:nvSpPr>
        <p:spPr>
          <a:xfrm>
            <a:off x="1008835" y="2681208"/>
            <a:ext cx="1286530" cy="367883"/>
          </a:xfrm>
          <a:prstGeom prst="roundRect">
            <a:avLst/>
          </a:prstGeom>
          <a:solidFill>
            <a:srgbClr val="EA5838"/>
          </a:solidFill>
          <a:ln>
            <a:solidFill>
              <a:srgbClr val="EA58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Content Placeholder 2"/>
          <p:cNvSpPr txBox="1"/>
          <p:nvPr/>
        </p:nvSpPr>
        <p:spPr>
          <a:xfrm>
            <a:off x="1608319" y="2145343"/>
            <a:ext cx="2602606" cy="42445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2000" b="0"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自上而下</a:t>
            </a:r>
            <a:endParaRPr kumimoji="0" lang="en-US" altLang="zh-CN" sz="2000" b="0"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endParaRPr>
          </a:p>
        </p:txBody>
      </p:sp>
      <p:sp>
        <p:nvSpPr>
          <p:cNvPr id="65" name="Content Placeholder 2"/>
          <p:cNvSpPr txBox="1"/>
          <p:nvPr/>
        </p:nvSpPr>
        <p:spPr>
          <a:xfrm>
            <a:off x="5654314" y="2147478"/>
            <a:ext cx="2602606" cy="42445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2000" b="0"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自下而上</a:t>
            </a:r>
            <a:endParaRPr kumimoji="0" lang="en-US" altLang="zh-CN" sz="2000" b="0"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endParaRPr>
          </a:p>
        </p:txBody>
      </p:sp>
      <p:sp>
        <p:nvSpPr>
          <p:cNvPr id="67" name="Content Placeholder 2"/>
          <p:cNvSpPr txBox="1"/>
          <p:nvPr/>
        </p:nvSpPr>
        <p:spPr>
          <a:xfrm>
            <a:off x="1154621" y="3490270"/>
            <a:ext cx="984985" cy="42445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张迎军</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8" name="Content Placeholder 2"/>
          <p:cNvSpPr txBox="1"/>
          <p:nvPr/>
        </p:nvSpPr>
        <p:spPr>
          <a:xfrm>
            <a:off x="2510010" y="3496431"/>
            <a:ext cx="1182975" cy="42445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刘俊</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9" name="Content Placeholder 2"/>
          <p:cNvSpPr txBox="1"/>
          <p:nvPr/>
        </p:nvSpPr>
        <p:spPr>
          <a:xfrm>
            <a:off x="3951532" y="3521069"/>
            <a:ext cx="1265050" cy="42445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袁争光</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0" name="Content Placeholder 2"/>
          <p:cNvSpPr txBox="1"/>
          <p:nvPr/>
        </p:nvSpPr>
        <p:spPr>
          <a:xfrm>
            <a:off x="5529016" y="3497796"/>
            <a:ext cx="1015829" cy="42445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孙文龙</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1" name="Content Placeholder 2"/>
          <p:cNvSpPr txBox="1"/>
          <p:nvPr/>
        </p:nvSpPr>
        <p:spPr>
          <a:xfrm>
            <a:off x="6866185" y="3488318"/>
            <a:ext cx="1238587" cy="42445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张建胜</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9" name="矩形 88"/>
          <p:cNvSpPr/>
          <p:nvPr/>
        </p:nvSpPr>
        <p:spPr>
          <a:xfrm>
            <a:off x="1222385" y="1300234"/>
            <a:ext cx="6054861" cy="984885"/>
          </a:xfrm>
          <a:prstGeom prst="rect">
            <a:avLst/>
          </a:prstGeom>
        </p:spPr>
        <p:txBody>
          <a:bodyPr wrap="square">
            <a:spAutoFit/>
          </a:bodyPr>
          <a:lstStyle/>
          <a:p>
            <a:pPr marL="285750" marR="0" lvl="0" indent="-285750" algn="l" defTabSz="914400" rtl="0" eaLnBrk="0"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平均</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20</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年证券、基金从业经验</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基金经理风格多样化，注重基本面分析，重视组合风险管理</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基金经理负责制，中长期业绩考核</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93" name="矩形 92"/>
          <p:cNvSpPr/>
          <p:nvPr/>
        </p:nvSpPr>
        <p:spPr>
          <a:xfrm>
            <a:off x="1009003" y="5426314"/>
            <a:ext cx="1324866" cy="461665"/>
          </a:xfrm>
          <a:prstGeom prst="rect">
            <a:avLst/>
          </a:prstGeom>
        </p:spPr>
        <p:txBody>
          <a:bodyPr wrap="square">
            <a:spAutoFit/>
          </a:bodyPr>
          <a:lstStyle/>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26</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年从业</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22</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年投资经验</a:t>
            </a:r>
          </a:p>
        </p:txBody>
      </p:sp>
      <p:sp>
        <p:nvSpPr>
          <p:cNvPr id="3" name="矩形 2"/>
          <p:cNvSpPr/>
          <p:nvPr/>
        </p:nvSpPr>
        <p:spPr>
          <a:xfrm>
            <a:off x="1051085" y="4200741"/>
            <a:ext cx="1223697" cy="830997"/>
          </a:xfrm>
          <a:prstGeom prst="rect">
            <a:avLst/>
          </a:prstGeom>
        </p:spPr>
        <p:txBody>
          <a:bodyPr wrap="square">
            <a:spAutoFit/>
          </a:bodyPr>
          <a:lstStyle/>
          <a:p>
            <a:pPr marL="0" marR="0" lvl="0" indent="0" algn="l" defTabSz="457200" rtl="0" eaLnBrk="0" fontAlgn="ctr"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研究总监兼基金投资部总经理，“嘉”系列基金经理</a:t>
            </a:r>
          </a:p>
        </p:txBody>
      </p:sp>
      <p:sp>
        <p:nvSpPr>
          <p:cNvPr id="95" name="矩形 94"/>
          <p:cNvSpPr/>
          <p:nvPr/>
        </p:nvSpPr>
        <p:spPr>
          <a:xfrm>
            <a:off x="2466690" y="4200071"/>
            <a:ext cx="1277833" cy="646331"/>
          </a:xfrm>
          <a:prstGeom prst="rect">
            <a:avLst/>
          </a:prstGeom>
        </p:spPr>
        <p:txBody>
          <a:bodyPr wrap="square">
            <a:spAutoFit/>
          </a:bodyPr>
          <a:lstStyle/>
          <a:p>
            <a:pPr marL="0" marR="0" lvl="0" indent="0" algn="l" defTabSz="914400" rtl="0" eaLnBrk="0" fontAlgn="ctr"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博道睿见基金经理、私募资产管理计划投资经理</a:t>
            </a:r>
          </a:p>
        </p:txBody>
      </p:sp>
      <p:sp>
        <p:nvSpPr>
          <p:cNvPr id="102" name="矩形 101"/>
          <p:cNvSpPr/>
          <p:nvPr/>
        </p:nvSpPr>
        <p:spPr>
          <a:xfrm>
            <a:off x="3941678" y="4215542"/>
            <a:ext cx="1276540" cy="461665"/>
          </a:xfrm>
          <a:prstGeom prst="rect">
            <a:avLst/>
          </a:prstGeom>
        </p:spPr>
        <p:txBody>
          <a:bodyPr wrap="square">
            <a:spAutoFit/>
          </a:bodyPr>
          <a:lstStyle/>
          <a:p>
            <a:pPr marL="0" marR="0" lvl="0" indent="0" algn="l" defTabSz="457200" rtl="0" eaLnBrk="0" fontAlgn="ctr"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“远”系列基金经理</a:t>
            </a:r>
          </a:p>
        </p:txBody>
      </p:sp>
      <p:sp>
        <p:nvSpPr>
          <p:cNvPr id="104" name="矩形 103"/>
          <p:cNvSpPr/>
          <p:nvPr/>
        </p:nvSpPr>
        <p:spPr>
          <a:xfrm>
            <a:off x="6866184" y="4230309"/>
            <a:ext cx="1238586" cy="1015663"/>
          </a:xfrm>
          <a:prstGeom prst="rect">
            <a:avLst/>
          </a:prstGeom>
        </p:spPr>
        <p:txBody>
          <a:bodyPr wrap="square">
            <a:spAutoFit/>
          </a:bodyPr>
          <a:lstStyle/>
          <a:p>
            <a:pPr marL="0" marR="0" lvl="0" indent="0" algn="l" defTabSz="457200" rtl="0" eaLnBrk="0" fontAlgn="ctr"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博道盛兴一年持有期、博道盛彦、博道盛享品质成长的基金经理</a:t>
            </a:r>
          </a:p>
        </p:txBody>
      </p:sp>
      <p:sp>
        <p:nvSpPr>
          <p:cNvPr id="105" name="矩形 104"/>
          <p:cNvSpPr/>
          <p:nvPr/>
        </p:nvSpPr>
        <p:spPr>
          <a:xfrm>
            <a:off x="5391755" y="4217455"/>
            <a:ext cx="1274532" cy="830997"/>
          </a:xfrm>
          <a:prstGeom prst="rect">
            <a:avLst/>
          </a:prstGeom>
        </p:spPr>
        <p:txBody>
          <a:bodyPr wrap="square">
            <a:spAutoFit/>
          </a:bodyPr>
          <a:lstStyle/>
          <a:p>
            <a:pPr marL="0" marR="0" lvl="0" indent="0" algn="l" defTabSz="914400" rtl="0" eaLnBrk="0" fontAlgn="ctr"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权益投资副总监、博道惠泰优选、博道惠泓价值成长的基金经理</a:t>
            </a:r>
          </a:p>
        </p:txBody>
      </p:sp>
      <p:sp>
        <p:nvSpPr>
          <p:cNvPr id="106" name="矩形 105"/>
          <p:cNvSpPr/>
          <p:nvPr/>
        </p:nvSpPr>
        <p:spPr>
          <a:xfrm>
            <a:off x="2524629" y="5430652"/>
            <a:ext cx="1163467" cy="461665"/>
          </a:xfrm>
          <a:prstGeom prst="rect">
            <a:avLst/>
          </a:prstGeom>
        </p:spPr>
        <p:txBody>
          <a:bodyPr wrap="square">
            <a:spAutoFit/>
          </a:bodyPr>
          <a:lstStyle/>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23</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年从业</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14</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年投资经验</a:t>
            </a:r>
          </a:p>
        </p:txBody>
      </p:sp>
      <p:sp>
        <p:nvSpPr>
          <p:cNvPr id="107" name="矩形 106"/>
          <p:cNvSpPr/>
          <p:nvPr/>
        </p:nvSpPr>
        <p:spPr>
          <a:xfrm>
            <a:off x="3911185" y="5430650"/>
            <a:ext cx="1324866" cy="461665"/>
          </a:xfrm>
          <a:prstGeom prst="rect">
            <a:avLst/>
          </a:prstGeom>
        </p:spPr>
        <p:txBody>
          <a:bodyPr wrap="square">
            <a:spAutoFit/>
          </a:bodyPr>
          <a:lstStyle/>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20</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年从业</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14</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年投资经验</a:t>
            </a:r>
          </a:p>
        </p:txBody>
      </p:sp>
      <p:sp>
        <p:nvSpPr>
          <p:cNvPr id="108" name="矩形 107"/>
          <p:cNvSpPr/>
          <p:nvPr/>
        </p:nvSpPr>
        <p:spPr>
          <a:xfrm>
            <a:off x="5354538" y="5403527"/>
            <a:ext cx="1324866" cy="461665"/>
          </a:xfrm>
          <a:prstGeom prst="rect">
            <a:avLst/>
          </a:prstGeom>
        </p:spPr>
        <p:txBody>
          <a:bodyPr wrap="square">
            <a:spAutoFit/>
          </a:bodyPr>
          <a:lstStyle/>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16</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年从业</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11</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年投资经验</a:t>
            </a:r>
          </a:p>
        </p:txBody>
      </p:sp>
      <p:sp>
        <p:nvSpPr>
          <p:cNvPr id="109" name="矩形 108"/>
          <p:cNvSpPr/>
          <p:nvPr/>
        </p:nvSpPr>
        <p:spPr>
          <a:xfrm>
            <a:off x="6846763" y="5404793"/>
            <a:ext cx="1258008" cy="461665"/>
          </a:xfrm>
          <a:prstGeom prst="rect">
            <a:avLst/>
          </a:prstGeom>
        </p:spPr>
        <p:txBody>
          <a:bodyPr wrap="square">
            <a:spAutoFit/>
          </a:bodyPr>
          <a:lstStyle/>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16</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年从业</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11</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年投资经验</a:t>
            </a:r>
          </a:p>
        </p:txBody>
      </p:sp>
      <p:sp>
        <p:nvSpPr>
          <p:cNvPr id="111" name="Content Placeholder 2"/>
          <p:cNvSpPr txBox="1"/>
          <p:nvPr/>
        </p:nvSpPr>
        <p:spPr>
          <a:xfrm>
            <a:off x="9875381" y="2129740"/>
            <a:ext cx="1291708" cy="442188"/>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2000" b="0"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主动量化</a:t>
            </a:r>
            <a:endParaRPr kumimoji="0" lang="en-US" altLang="zh-CN" sz="2000" b="0"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endParaRPr>
          </a:p>
        </p:txBody>
      </p:sp>
      <p:sp>
        <p:nvSpPr>
          <p:cNvPr id="113" name="Content Placeholder 2"/>
          <p:cNvSpPr txBox="1"/>
          <p:nvPr/>
        </p:nvSpPr>
        <p:spPr>
          <a:xfrm>
            <a:off x="9890523" y="3497796"/>
            <a:ext cx="1331959" cy="42445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何晓彬</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4" name="矩形 113"/>
          <p:cNvSpPr/>
          <p:nvPr/>
        </p:nvSpPr>
        <p:spPr>
          <a:xfrm>
            <a:off x="9888043" y="4225880"/>
            <a:ext cx="1331959" cy="1015663"/>
          </a:xfrm>
          <a:prstGeom prst="rect">
            <a:avLst/>
          </a:prstGeom>
        </p:spPr>
        <p:txBody>
          <a:bodyPr wrap="square">
            <a:spAutoFit/>
          </a:bodyPr>
          <a:lstStyle/>
          <a:p>
            <a:pPr marL="0" marR="0" lvl="0" indent="0" algn="l" defTabSz="914400" rtl="0" eaLnBrk="0" fontAlgn="ctr"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研究副总监兼研究部总经理</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ctr"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专户投资二部总经理、博道研究恒选基金经理</a:t>
            </a:r>
          </a:p>
        </p:txBody>
      </p:sp>
      <p:sp>
        <p:nvSpPr>
          <p:cNvPr id="115" name="矩形 114"/>
          <p:cNvSpPr/>
          <p:nvPr/>
        </p:nvSpPr>
        <p:spPr>
          <a:xfrm>
            <a:off x="9888043" y="5407254"/>
            <a:ext cx="1324867" cy="461665"/>
          </a:xfrm>
          <a:prstGeom prst="rect">
            <a:avLst/>
          </a:prstGeom>
        </p:spPr>
        <p:txBody>
          <a:bodyPr wrap="square">
            <a:spAutoFit/>
          </a:bodyPr>
          <a:lstStyle/>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22</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年从业</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13</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年投资经验</a:t>
            </a:r>
          </a:p>
        </p:txBody>
      </p:sp>
      <p:sp>
        <p:nvSpPr>
          <p:cNvPr id="119" name="等腰三角形 118"/>
          <p:cNvSpPr/>
          <p:nvPr/>
        </p:nvSpPr>
        <p:spPr>
          <a:xfrm rot="10800000">
            <a:off x="3586149" y="2250751"/>
            <a:ext cx="220717" cy="213639"/>
          </a:xfrm>
          <a:prstGeom prst="triangle">
            <a:avLst/>
          </a:prstGeom>
          <a:solidFill>
            <a:srgbClr val="EA5838"/>
          </a:solidFill>
          <a:ln>
            <a:solidFill>
              <a:srgbClr val="EA58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0" name="等腰三角形 119"/>
          <p:cNvSpPr/>
          <p:nvPr/>
        </p:nvSpPr>
        <p:spPr>
          <a:xfrm>
            <a:off x="6075254" y="2264812"/>
            <a:ext cx="220717" cy="213639"/>
          </a:xfrm>
          <a:prstGeom prst="triangle">
            <a:avLst/>
          </a:prstGeom>
          <a:solidFill>
            <a:srgbClr val="EA5838"/>
          </a:solidFill>
          <a:ln>
            <a:solidFill>
              <a:srgbClr val="EA58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5" name="Content Placeholder 2"/>
          <p:cNvSpPr txBox="1"/>
          <p:nvPr/>
        </p:nvSpPr>
        <p:spPr>
          <a:xfrm>
            <a:off x="1219473" y="2664746"/>
            <a:ext cx="1182975" cy="42445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endPar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86" name="直接连接符 85"/>
          <p:cNvCxnSpPr/>
          <p:nvPr/>
        </p:nvCxnSpPr>
        <p:spPr>
          <a:xfrm>
            <a:off x="1021492" y="2518434"/>
            <a:ext cx="4175667" cy="0"/>
          </a:xfrm>
          <a:prstGeom prst="line">
            <a:avLst/>
          </a:prstGeom>
          <a:ln>
            <a:solidFill>
              <a:srgbClr val="EA5838"/>
            </a:solidFill>
          </a:ln>
        </p:spPr>
        <p:style>
          <a:lnRef idx="1">
            <a:schemeClr val="accent2"/>
          </a:lnRef>
          <a:fillRef idx="0">
            <a:schemeClr val="accent2"/>
          </a:fillRef>
          <a:effectRef idx="0">
            <a:schemeClr val="accent2"/>
          </a:effectRef>
          <a:fontRef idx="minor">
            <a:schemeClr val="tx1"/>
          </a:fontRef>
        </p:style>
      </p:cxnSp>
      <p:cxnSp>
        <p:nvCxnSpPr>
          <p:cNvPr id="87" name="直接连接符 86"/>
          <p:cNvCxnSpPr/>
          <p:nvPr/>
        </p:nvCxnSpPr>
        <p:spPr>
          <a:xfrm>
            <a:off x="5393994" y="2518434"/>
            <a:ext cx="2709995" cy="0"/>
          </a:xfrm>
          <a:prstGeom prst="line">
            <a:avLst/>
          </a:prstGeom>
          <a:ln>
            <a:solidFill>
              <a:srgbClr val="EA5838"/>
            </a:solidFill>
          </a:ln>
        </p:spPr>
        <p:style>
          <a:lnRef idx="1">
            <a:schemeClr val="accent2"/>
          </a:lnRef>
          <a:fillRef idx="0">
            <a:schemeClr val="accent2"/>
          </a:fillRef>
          <a:effectRef idx="0">
            <a:schemeClr val="accent2"/>
          </a:effectRef>
          <a:fontRef idx="minor">
            <a:schemeClr val="tx1"/>
          </a:fontRef>
        </p:style>
      </p:cxnSp>
      <p:cxnSp>
        <p:nvCxnSpPr>
          <p:cNvPr id="88" name="直接连接符 87"/>
          <p:cNvCxnSpPr/>
          <p:nvPr/>
        </p:nvCxnSpPr>
        <p:spPr>
          <a:xfrm>
            <a:off x="9875382" y="2527963"/>
            <a:ext cx="1295791" cy="0"/>
          </a:xfrm>
          <a:prstGeom prst="line">
            <a:avLst/>
          </a:prstGeom>
          <a:ln>
            <a:solidFill>
              <a:srgbClr val="EA5838"/>
            </a:solidFill>
          </a:ln>
        </p:spPr>
        <p:style>
          <a:lnRef idx="1">
            <a:schemeClr val="accent2"/>
          </a:lnRef>
          <a:fillRef idx="0">
            <a:schemeClr val="accent2"/>
          </a:fillRef>
          <a:effectRef idx="0">
            <a:schemeClr val="accent2"/>
          </a:effectRef>
          <a:fontRef idx="minor">
            <a:schemeClr val="tx1"/>
          </a:fontRef>
        </p:style>
      </p:cxnSp>
      <p:sp>
        <p:nvSpPr>
          <p:cNvPr id="98" name="矩形: 圆角 27"/>
          <p:cNvSpPr/>
          <p:nvPr/>
        </p:nvSpPr>
        <p:spPr>
          <a:xfrm>
            <a:off x="2473415" y="2678052"/>
            <a:ext cx="1271106" cy="383326"/>
          </a:xfrm>
          <a:prstGeom prst="roundRect">
            <a:avLst/>
          </a:prstGeom>
          <a:solidFill>
            <a:srgbClr val="EA5838"/>
          </a:solidFill>
          <a:ln>
            <a:solidFill>
              <a:srgbClr val="EA58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9" name="矩形: 圆角 27"/>
          <p:cNvSpPr/>
          <p:nvPr/>
        </p:nvSpPr>
        <p:spPr>
          <a:xfrm>
            <a:off x="3941782" y="2685310"/>
            <a:ext cx="1271105" cy="372359"/>
          </a:xfrm>
          <a:prstGeom prst="roundRect">
            <a:avLst/>
          </a:prstGeom>
          <a:solidFill>
            <a:srgbClr val="EA5838"/>
          </a:solidFill>
          <a:ln>
            <a:solidFill>
              <a:srgbClr val="EA58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0" name="矩形: 圆角 27"/>
          <p:cNvSpPr/>
          <p:nvPr/>
        </p:nvSpPr>
        <p:spPr>
          <a:xfrm>
            <a:off x="5384725" y="2676133"/>
            <a:ext cx="1294679" cy="383327"/>
          </a:xfrm>
          <a:prstGeom prst="roundRect">
            <a:avLst/>
          </a:prstGeom>
          <a:solidFill>
            <a:srgbClr val="EA5838"/>
          </a:solidFill>
          <a:ln>
            <a:solidFill>
              <a:srgbClr val="EA58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1" name="矩形: 圆角 27"/>
          <p:cNvSpPr/>
          <p:nvPr/>
        </p:nvSpPr>
        <p:spPr>
          <a:xfrm>
            <a:off x="6866184" y="2674602"/>
            <a:ext cx="1238586" cy="383067"/>
          </a:xfrm>
          <a:prstGeom prst="roundRect">
            <a:avLst/>
          </a:prstGeom>
          <a:solidFill>
            <a:srgbClr val="EA5838"/>
          </a:solidFill>
          <a:ln>
            <a:solidFill>
              <a:srgbClr val="EA58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1" name="Content Placeholder 2"/>
          <p:cNvSpPr txBox="1"/>
          <p:nvPr/>
        </p:nvSpPr>
        <p:spPr>
          <a:xfrm>
            <a:off x="3933862" y="2694384"/>
            <a:ext cx="1278238" cy="363284"/>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均衡风格</a:t>
            </a:r>
            <a:endParaRPr kumimoji="0" lang="en-US" altLang="zh-CN"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2" name="Content Placeholder 2"/>
          <p:cNvSpPr txBox="1"/>
          <p:nvPr/>
        </p:nvSpPr>
        <p:spPr>
          <a:xfrm>
            <a:off x="6865401" y="2680246"/>
            <a:ext cx="1238586" cy="35718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科技成长</a:t>
            </a:r>
            <a:endParaRPr kumimoji="0" lang="en-US" altLang="zh-CN"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3" name="Content Placeholder 2"/>
          <p:cNvSpPr txBox="1"/>
          <p:nvPr/>
        </p:nvSpPr>
        <p:spPr>
          <a:xfrm>
            <a:off x="5383941" y="2691632"/>
            <a:ext cx="1294679" cy="368232"/>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价值成长</a:t>
            </a:r>
            <a:endParaRPr kumimoji="0" lang="en-US" altLang="zh-CN"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24" name="直接连接符 123"/>
          <p:cNvCxnSpPr/>
          <p:nvPr/>
        </p:nvCxnSpPr>
        <p:spPr>
          <a:xfrm>
            <a:off x="1020469" y="2522206"/>
            <a:ext cx="0" cy="160958"/>
          </a:xfrm>
          <a:prstGeom prst="line">
            <a:avLst/>
          </a:prstGeom>
        </p:spPr>
        <p:style>
          <a:lnRef idx="1">
            <a:schemeClr val="accent2"/>
          </a:lnRef>
          <a:fillRef idx="0">
            <a:schemeClr val="accent2"/>
          </a:fillRef>
          <a:effectRef idx="0">
            <a:schemeClr val="accent2"/>
          </a:effectRef>
          <a:fontRef idx="minor">
            <a:schemeClr val="tx1"/>
          </a:fontRef>
        </p:style>
      </p:cxnSp>
      <p:cxnSp>
        <p:nvCxnSpPr>
          <p:cNvPr id="126" name="直接连接符 125"/>
          <p:cNvCxnSpPr/>
          <p:nvPr/>
        </p:nvCxnSpPr>
        <p:spPr>
          <a:xfrm>
            <a:off x="5197157" y="2521435"/>
            <a:ext cx="0" cy="160958"/>
          </a:xfrm>
          <a:prstGeom prst="line">
            <a:avLst/>
          </a:prstGeom>
        </p:spPr>
        <p:style>
          <a:lnRef idx="1">
            <a:schemeClr val="accent2"/>
          </a:lnRef>
          <a:fillRef idx="0">
            <a:schemeClr val="accent2"/>
          </a:fillRef>
          <a:effectRef idx="0">
            <a:schemeClr val="accent2"/>
          </a:effectRef>
          <a:fontRef idx="minor">
            <a:schemeClr val="tx1"/>
          </a:fontRef>
        </p:style>
      </p:cxnSp>
      <p:cxnSp>
        <p:nvCxnSpPr>
          <p:cNvPr id="127" name="直接连接符 126"/>
          <p:cNvCxnSpPr/>
          <p:nvPr/>
        </p:nvCxnSpPr>
        <p:spPr>
          <a:xfrm>
            <a:off x="5393992" y="2524088"/>
            <a:ext cx="0" cy="160958"/>
          </a:xfrm>
          <a:prstGeom prst="line">
            <a:avLst/>
          </a:prstGeom>
        </p:spPr>
        <p:style>
          <a:lnRef idx="1">
            <a:schemeClr val="accent2"/>
          </a:lnRef>
          <a:fillRef idx="0">
            <a:schemeClr val="accent2"/>
          </a:fillRef>
          <a:effectRef idx="0">
            <a:schemeClr val="accent2"/>
          </a:effectRef>
          <a:fontRef idx="minor">
            <a:schemeClr val="tx1"/>
          </a:fontRef>
        </p:style>
      </p:cxnSp>
      <p:cxnSp>
        <p:nvCxnSpPr>
          <p:cNvPr id="128" name="直接连接符 127"/>
          <p:cNvCxnSpPr/>
          <p:nvPr/>
        </p:nvCxnSpPr>
        <p:spPr>
          <a:xfrm>
            <a:off x="8100925" y="2524088"/>
            <a:ext cx="0" cy="160958"/>
          </a:xfrm>
          <a:prstGeom prst="line">
            <a:avLst/>
          </a:prstGeom>
        </p:spPr>
        <p:style>
          <a:lnRef idx="1">
            <a:schemeClr val="accent2"/>
          </a:lnRef>
          <a:fillRef idx="0">
            <a:schemeClr val="accent2"/>
          </a:fillRef>
          <a:effectRef idx="0">
            <a:schemeClr val="accent2"/>
          </a:effectRef>
          <a:fontRef idx="minor">
            <a:schemeClr val="tx1"/>
          </a:fontRef>
        </p:style>
      </p:cxnSp>
      <p:cxnSp>
        <p:nvCxnSpPr>
          <p:cNvPr id="129" name="直接连接符 128"/>
          <p:cNvCxnSpPr/>
          <p:nvPr/>
        </p:nvCxnSpPr>
        <p:spPr>
          <a:xfrm>
            <a:off x="9875380" y="2528444"/>
            <a:ext cx="0" cy="160958"/>
          </a:xfrm>
          <a:prstGeom prst="line">
            <a:avLst/>
          </a:prstGeom>
        </p:spPr>
        <p:style>
          <a:lnRef idx="1">
            <a:schemeClr val="accent2"/>
          </a:lnRef>
          <a:fillRef idx="0">
            <a:schemeClr val="accent2"/>
          </a:fillRef>
          <a:effectRef idx="0">
            <a:schemeClr val="accent2"/>
          </a:effectRef>
          <a:fontRef idx="minor">
            <a:schemeClr val="tx1"/>
          </a:fontRef>
        </p:style>
      </p:cxnSp>
      <p:cxnSp>
        <p:nvCxnSpPr>
          <p:cNvPr id="130" name="直接连接符 129"/>
          <p:cNvCxnSpPr/>
          <p:nvPr/>
        </p:nvCxnSpPr>
        <p:spPr>
          <a:xfrm>
            <a:off x="11169522" y="2529551"/>
            <a:ext cx="0" cy="160958"/>
          </a:xfrm>
          <a:prstGeom prst="line">
            <a:avLst/>
          </a:prstGeom>
        </p:spPr>
        <p:style>
          <a:lnRef idx="1">
            <a:schemeClr val="accent2"/>
          </a:lnRef>
          <a:fillRef idx="0">
            <a:schemeClr val="accent2"/>
          </a:fillRef>
          <a:effectRef idx="0">
            <a:schemeClr val="accent2"/>
          </a:effectRef>
          <a:fontRef idx="minor">
            <a:schemeClr val="tx1"/>
          </a:fontRef>
        </p:style>
      </p:cxnSp>
      <p:sp>
        <p:nvSpPr>
          <p:cNvPr id="57" name="Content Placeholder 2"/>
          <p:cNvSpPr txBox="1"/>
          <p:nvPr/>
        </p:nvSpPr>
        <p:spPr>
          <a:xfrm>
            <a:off x="2473418" y="2689677"/>
            <a:ext cx="1271105" cy="383326"/>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策略驱动</a:t>
            </a:r>
            <a:endParaRPr kumimoji="0" lang="en-US" altLang="zh-CN"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8" name="Content Placeholder 2"/>
          <p:cNvSpPr txBox="1"/>
          <p:nvPr/>
        </p:nvSpPr>
        <p:spPr>
          <a:xfrm>
            <a:off x="1007826" y="2685308"/>
            <a:ext cx="1278581" cy="35518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基本面趋势</a:t>
            </a:r>
            <a:endParaRPr kumimoji="0" lang="en-US" altLang="zh-CN"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9" name="矩形: 圆角 27"/>
          <p:cNvSpPr/>
          <p:nvPr/>
        </p:nvSpPr>
        <p:spPr>
          <a:xfrm>
            <a:off x="9877277" y="2674601"/>
            <a:ext cx="1294680" cy="383067"/>
          </a:xfrm>
          <a:prstGeom prst="roundRect">
            <a:avLst/>
          </a:prstGeom>
          <a:solidFill>
            <a:srgbClr val="EA5838"/>
          </a:solidFill>
          <a:ln>
            <a:solidFill>
              <a:srgbClr val="EA58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0" name="Content Placeholder 2"/>
          <p:cNvSpPr txBox="1"/>
          <p:nvPr/>
        </p:nvSpPr>
        <p:spPr>
          <a:xfrm>
            <a:off x="9876494" y="2688923"/>
            <a:ext cx="1294679" cy="352553"/>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质量</a:t>
            </a:r>
            <a:r>
              <a:rPr kumimoji="0" lang="en-US" altLang="zh-CN"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景气</a:t>
            </a:r>
            <a:endParaRPr kumimoji="0" lang="en-US" altLang="zh-CN"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6" name="矩形: 圆角 38"/>
          <p:cNvSpPr/>
          <p:nvPr/>
        </p:nvSpPr>
        <p:spPr>
          <a:xfrm>
            <a:off x="8338538" y="3143583"/>
            <a:ext cx="1324866" cy="294674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Content Placeholder 2"/>
          <p:cNvSpPr txBox="1"/>
          <p:nvPr/>
        </p:nvSpPr>
        <p:spPr>
          <a:xfrm>
            <a:off x="8323397" y="2137958"/>
            <a:ext cx="1291708" cy="442188"/>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2000" b="0"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rPr>
              <a:t>绝对收益</a:t>
            </a:r>
            <a:endParaRPr kumimoji="0" lang="en-US" altLang="zh-CN" sz="2000" b="0" i="0" u="none" strike="noStrike" kern="1200" cap="none" spc="0" normalizeH="0" baseline="0" noProof="0" dirty="0">
              <a:ln>
                <a:noFill/>
              </a:ln>
              <a:solidFill>
                <a:srgbClr val="EA5838"/>
              </a:solidFill>
              <a:effectLst/>
              <a:uLnTx/>
              <a:uFillTx/>
              <a:latin typeface="微软雅黑" panose="020B0503020204020204" pitchFamily="34" charset="-122"/>
              <a:ea typeface="微软雅黑" panose="020B0503020204020204" pitchFamily="34" charset="-122"/>
              <a:cs typeface="+mn-cs"/>
            </a:endParaRPr>
          </a:p>
        </p:txBody>
      </p:sp>
      <p:sp>
        <p:nvSpPr>
          <p:cNvPr id="73" name="Content Placeholder 2"/>
          <p:cNvSpPr txBox="1"/>
          <p:nvPr/>
        </p:nvSpPr>
        <p:spPr>
          <a:xfrm>
            <a:off x="8338539" y="3506014"/>
            <a:ext cx="1331959" cy="42445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王旭冉</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4" name="矩形 73"/>
          <p:cNvSpPr/>
          <p:nvPr/>
        </p:nvSpPr>
        <p:spPr>
          <a:xfrm>
            <a:off x="8336059" y="4265359"/>
            <a:ext cx="1331959" cy="276999"/>
          </a:xfrm>
          <a:prstGeom prst="rect">
            <a:avLst/>
          </a:prstGeom>
        </p:spPr>
        <p:txBody>
          <a:bodyPr wrap="square">
            <a:spAutoFit/>
          </a:bodyPr>
          <a:lstStyle/>
          <a:p>
            <a:pPr marL="0" marR="0" lvl="0" indent="0" algn="l" defTabSz="914400" rtl="0" eaLnBrk="0" fontAlgn="ctr"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专户投资总监</a:t>
            </a:r>
          </a:p>
        </p:txBody>
      </p:sp>
      <p:sp>
        <p:nvSpPr>
          <p:cNvPr id="80" name="矩形 79"/>
          <p:cNvSpPr/>
          <p:nvPr/>
        </p:nvSpPr>
        <p:spPr>
          <a:xfrm>
            <a:off x="8336059" y="5415472"/>
            <a:ext cx="1324867" cy="461665"/>
          </a:xfrm>
          <a:prstGeom prst="rect">
            <a:avLst/>
          </a:prstGeom>
        </p:spPr>
        <p:txBody>
          <a:bodyPr wrap="square">
            <a:spAutoFit/>
          </a:bodyPr>
          <a:lstStyle/>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16</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年从业</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11</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年投资经验</a:t>
            </a:r>
          </a:p>
        </p:txBody>
      </p:sp>
      <p:cxnSp>
        <p:nvCxnSpPr>
          <p:cNvPr id="81" name="直接连接符 80"/>
          <p:cNvCxnSpPr/>
          <p:nvPr/>
        </p:nvCxnSpPr>
        <p:spPr>
          <a:xfrm>
            <a:off x="8323398" y="2536181"/>
            <a:ext cx="1321767" cy="0"/>
          </a:xfrm>
          <a:prstGeom prst="line">
            <a:avLst/>
          </a:prstGeom>
          <a:ln>
            <a:solidFill>
              <a:srgbClr val="EA5838"/>
            </a:solidFill>
          </a:ln>
        </p:spPr>
        <p:style>
          <a:lnRef idx="1">
            <a:schemeClr val="accent2"/>
          </a:lnRef>
          <a:fillRef idx="0">
            <a:schemeClr val="accent2"/>
          </a:fillRef>
          <a:effectRef idx="0">
            <a:schemeClr val="accent2"/>
          </a:effectRef>
          <a:fontRef idx="minor">
            <a:schemeClr val="tx1"/>
          </a:fontRef>
        </p:style>
      </p:cxnSp>
      <p:cxnSp>
        <p:nvCxnSpPr>
          <p:cNvPr id="82" name="直接连接符 81"/>
          <p:cNvCxnSpPr/>
          <p:nvPr/>
        </p:nvCxnSpPr>
        <p:spPr>
          <a:xfrm>
            <a:off x="8323396" y="2536662"/>
            <a:ext cx="0" cy="160958"/>
          </a:xfrm>
          <a:prstGeom prst="line">
            <a:avLst/>
          </a:prstGeom>
        </p:spPr>
        <p:style>
          <a:lnRef idx="1">
            <a:schemeClr val="accent2"/>
          </a:lnRef>
          <a:fillRef idx="0">
            <a:schemeClr val="accent2"/>
          </a:fillRef>
          <a:effectRef idx="0">
            <a:schemeClr val="accent2"/>
          </a:effectRef>
          <a:fontRef idx="minor">
            <a:schemeClr val="tx1"/>
          </a:fontRef>
        </p:style>
      </p:cxnSp>
      <p:cxnSp>
        <p:nvCxnSpPr>
          <p:cNvPr id="90" name="直接连接符 89"/>
          <p:cNvCxnSpPr/>
          <p:nvPr/>
        </p:nvCxnSpPr>
        <p:spPr>
          <a:xfrm>
            <a:off x="9633168" y="2537769"/>
            <a:ext cx="0" cy="160958"/>
          </a:xfrm>
          <a:prstGeom prst="line">
            <a:avLst/>
          </a:prstGeom>
        </p:spPr>
        <p:style>
          <a:lnRef idx="1">
            <a:schemeClr val="accent2"/>
          </a:lnRef>
          <a:fillRef idx="0">
            <a:schemeClr val="accent2"/>
          </a:fillRef>
          <a:effectRef idx="0">
            <a:schemeClr val="accent2"/>
          </a:effectRef>
          <a:fontRef idx="minor">
            <a:schemeClr val="tx1"/>
          </a:fontRef>
        </p:style>
      </p:cxnSp>
      <p:sp>
        <p:nvSpPr>
          <p:cNvPr id="91" name="矩形: 圆角 27"/>
          <p:cNvSpPr/>
          <p:nvPr/>
        </p:nvSpPr>
        <p:spPr>
          <a:xfrm>
            <a:off x="8333108" y="2675003"/>
            <a:ext cx="1294680" cy="379862"/>
          </a:xfrm>
          <a:prstGeom prst="roundRect">
            <a:avLst/>
          </a:prstGeom>
          <a:solidFill>
            <a:srgbClr val="F579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1">
              <a:lnSpc>
                <a:spcPct val="100000"/>
              </a:lnSpc>
              <a:spcBef>
                <a:spcPct val="0"/>
              </a:spcBef>
              <a:spcAft>
                <a:spcPct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灵活聚焦</a:t>
            </a:r>
          </a:p>
        </p:txBody>
      </p:sp>
      <p:sp>
        <p:nvSpPr>
          <p:cNvPr id="92" name="Content Placeholder 2"/>
          <p:cNvSpPr txBox="1"/>
          <p:nvPr/>
        </p:nvSpPr>
        <p:spPr>
          <a:xfrm>
            <a:off x="8324510" y="2697141"/>
            <a:ext cx="1294679" cy="352553"/>
          </a:xfrm>
          <a:prstGeom prst="rect">
            <a:avLst/>
          </a:prstGeom>
          <a:solidFill>
            <a:srgbClr val="EA5838"/>
          </a:solidFill>
          <a:ln>
            <a:solidFill>
              <a:srgbClr val="EA5838"/>
            </a:solid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泛消费</a:t>
            </a:r>
            <a:endParaRPr kumimoji="0" lang="en-US" altLang="zh-CN"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灯片编号占位符 4">
            <a:extLst>
              <a:ext uri="{FF2B5EF4-FFF2-40B4-BE49-F238E27FC236}">
                <a16:creationId xmlns:a16="http://schemas.microsoft.com/office/drawing/2014/main" xmlns="" id="{9FA71E72-E107-9F0D-7580-073F525841A4}"/>
              </a:ext>
            </a:extLst>
          </p:cNvPr>
          <p:cNvSpPr>
            <a:spLocks noGrp="1"/>
          </p:cNvSpPr>
          <p:nvPr>
            <p:ph type="sldNum" sz="quarter" idx="11"/>
          </p:nvPr>
        </p:nvSpPr>
        <p:spPr/>
        <p:txBody>
          <a:bodyPr/>
          <a:lstStyle/>
          <a:p>
            <a:pPr>
              <a:defRPr/>
            </a:pPr>
            <a:fld id="{6E91549D-98B7-4077-996F-05BE1B29F039}" type="slidenum">
              <a:rPr lang="zh-CN" altLang="en-US" smtClean="0"/>
              <a:t>33</a:t>
            </a:fld>
            <a:endParaRPr lang="zh-CN" altLang="en-US" dirty="0"/>
          </a:p>
        </p:txBody>
      </p:sp>
    </p:spTree>
    <p:extLst>
      <p:ext uri="{BB962C8B-B14F-4D97-AF65-F5344CB8AC3E}">
        <p14:creationId xmlns:p14="http://schemas.microsoft.com/office/powerpoint/2010/main" val="29133321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ph type="title"/>
          </p:nvPr>
        </p:nvSpPr>
        <p:spPr/>
        <p:txBody>
          <a:bodyPr>
            <a:noAutofit/>
          </a:bodyPr>
          <a:lstStyle/>
          <a:p>
            <a:pPr algn="l"/>
            <a:r>
              <a:rPr lang="zh-CN" altLang="en-US" dirty="0">
                <a:latin typeface="Times New Roman" panose="02020603050405020304" charset="0"/>
                <a:cs typeface="Times New Roman" panose="02020603050405020304" charset="0"/>
              </a:rPr>
              <a:t>博道专户：</a:t>
            </a:r>
            <a:r>
              <a:rPr lang="zh-CN" altLang="en-US" dirty="0">
                <a:solidFill>
                  <a:srgbClr val="EA5838"/>
                </a:solidFill>
                <a:latin typeface="Times New Roman" panose="02020603050405020304" charset="0"/>
                <a:cs typeface="Times New Roman" panose="02020603050405020304" charset="0"/>
              </a:rPr>
              <a:t>策略多元，厚积薄发</a:t>
            </a:r>
          </a:p>
        </p:txBody>
      </p:sp>
      <p:sp>
        <p:nvSpPr>
          <p:cNvPr id="5" name="副标题 4"/>
          <p:cNvSpPr>
            <a:spLocks noGrp="1"/>
          </p:cNvSpPr>
          <p:nvPr>
            <p:ph type="subTitle" idx="1"/>
          </p:nvPr>
        </p:nvSpPr>
        <p:spPr/>
        <p:txBody>
          <a:bodyPr>
            <a:normAutofit/>
          </a:bodyPr>
          <a:lstStyle/>
          <a:p>
            <a:pPr algn="just">
              <a:lnSpc>
                <a:spcPts val="2125"/>
              </a:lnSpc>
              <a:spcBef>
                <a:spcPct val="50000"/>
              </a:spcBef>
              <a:buSzPct val="80000"/>
              <a:defRPr/>
            </a:pPr>
            <a:r>
              <a:rPr lang="en-US" altLang="zh-CN" dirty="0">
                <a:cs typeface="Times New Roman" panose="02020603050405020304" charset="0"/>
              </a:rPr>
              <a:t>2018</a:t>
            </a:r>
            <a:r>
              <a:rPr lang="zh-CN" altLang="en-US" dirty="0">
                <a:cs typeface="Times New Roman" panose="02020603050405020304" charset="0"/>
              </a:rPr>
              <a:t>年博道基金获得公募业务许可后，原私募产品迁移至公募基金旗下专户业务。截至</a:t>
            </a:r>
            <a:r>
              <a:rPr lang="en-US" altLang="zh-CN" dirty="0">
                <a:cs typeface="Times New Roman" panose="02020603050405020304" charset="0"/>
              </a:rPr>
              <a:t>2025</a:t>
            </a:r>
            <a:r>
              <a:rPr lang="zh-CN" altLang="en-US" dirty="0">
                <a:cs typeface="Times New Roman" panose="02020603050405020304" charset="0"/>
              </a:rPr>
              <a:t>年</a:t>
            </a:r>
            <a:r>
              <a:rPr lang="en-US" altLang="zh-CN" dirty="0">
                <a:cs typeface="Times New Roman" panose="02020603050405020304" charset="0"/>
              </a:rPr>
              <a:t>12</a:t>
            </a:r>
            <a:r>
              <a:rPr lang="zh-CN" altLang="en-US" dirty="0">
                <a:cs typeface="Times New Roman" panose="02020603050405020304" charset="0"/>
              </a:rPr>
              <a:t>月底，博道基金旗下专户（含投顾）管理规模超过</a:t>
            </a:r>
            <a:r>
              <a:rPr lang="en-US" altLang="zh-CN" dirty="0">
                <a:cs typeface="Times New Roman" panose="02020603050405020304" charset="0"/>
              </a:rPr>
              <a:t>80</a:t>
            </a:r>
            <a:r>
              <a:rPr lang="zh-CN" altLang="en-US" dirty="0">
                <a:cs typeface="Times New Roman" panose="02020603050405020304" charset="0"/>
              </a:rPr>
              <a:t>亿元。</a:t>
            </a:r>
            <a:endParaRPr lang="en-US" altLang="zh-CN" dirty="0">
              <a:cs typeface="Times New Roman" panose="02020603050405020304" charset="0"/>
            </a:endParaRPr>
          </a:p>
          <a:p>
            <a:pPr algn="just">
              <a:lnSpc>
                <a:spcPts val="2125"/>
              </a:lnSpc>
              <a:spcBef>
                <a:spcPct val="50000"/>
              </a:spcBef>
              <a:buSzPct val="80000"/>
              <a:defRPr/>
            </a:pPr>
            <a:r>
              <a:rPr lang="zh-CN" altLang="en-US" dirty="0">
                <a:cs typeface="Times New Roman" panose="02020603050405020304" charset="0"/>
              </a:rPr>
              <a:t>专户业务构建了完善的策略谱系，涵盖主动权益、固收、量化对冲、商品</a:t>
            </a:r>
            <a:r>
              <a:rPr lang="en-US" altLang="zh-CN" dirty="0">
                <a:cs typeface="Times New Roman" panose="02020603050405020304" charset="0"/>
              </a:rPr>
              <a:t>CTA</a:t>
            </a:r>
            <a:r>
              <a:rPr lang="zh-CN" altLang="en-US" dirty="0">
                <a:cs typeface="Times New Roman" panose="02020603050405020304" charset="0"/>
              </a:rPr>
              <a:t>等多类策略，产品类型覆盖高中低各类风险收益特征，为高净值用户提供多元化的资产配置选择。</a:t>
            </a:r>
            <a:endParaRPr lang="zh-CN" altLang="en-US" dirty="0"/>
          </a:p>
        </p:txBody>
      </p:sp>
      <p:grpSp>
        <p:nvGrpSpPr>
          <p:cNvPr id="25" name="组合 24"/>
          <p:cNvGrpSpPr/>
          <p:nvPr/>
        </p:nvGrpSpPr>
        <p:grpSpPr>
          <a:xfrm>
            <a:off x="596348" y="2471926"/>
            <a:ext cx="6293197" cy="3665861"/>
            <a:chOff x="6281317" y="4409729"/>
            <a:chExt cx="10914518" cy="6850722"/>
          </a:xfrm>
        </p:grpSpPr>
        <p:pic>
          <p:nvPicPr>
            <p:cNvPr id="26" name="图片 25"/>
            <p:cNvPicPr>
              <a:picLocks noChangeAspect="1"/>
            </p:cNvPicPr>
            <p:nvPr/>
          </p:nvPicPr>
          <p:blipFill>
            <a:blip r:embed="rId3" cstate="email"/>
            <a:stretch>
              <a:fillRect/>
            </a:stretch>
          </p:blipFill>
          <p:spPr>
            <a:xfrm>
              <a:off x="8325212" y="4409729"/>
              <a:ext cx="6684000" cy="6850722"/>
            </a:xfrm>
            <a:prstGeom prst="rect">
              <a:avLst/>
            </a:prstGeom>
          </p:spPr>
        </p:pic>
        <p:sp>
          <p:nvSpPr>
            <p:cNvPr id="27" name="标题 2"/>
            <p:cNvSpPr txBox="1"/>
            <p:nvPr/>
          </p:nvSpPr>
          <p:spPr bwMode="auto">
            <a:xfrm>
              <a:off x="8987347" y="6562177"/>
              <a:ext cx="2698782" cy="1266214"/>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1828800" indent="-1828800" defTabSz="1828800">
                <a:defRPr/>
              </a:pPr>
              <a:r>
                <a:rPr lang="zh-CN" altLang="en-US" sz="1000">
                  <a:solidFill>
                    <a:srgbClr val="FFFFFF"/>
                  </a:solidFill>
                </a:rPr>
                <a:t>市场中性</a:t>
              </a:r>
              <a:endParaRPr lang="en-US" altLang="zh-CN" sz="1000">
                <a:solidFill>
                  <a:srgbClr val="FFFFFF"/>
                </a:solidFill>
              </a:endParaRPr>
            </a:p>
            <a:p>
              <a:pPr marL="1828800" indent="-1828800" defTabSz="1828800">
                <a:defRPr/>
              </a:pPr>
              <a:r>
                <a:rPr lang="zh-CN" altLang="en-US" sz="1000">
                  <a:solidFill>
                    <a:srgbClr val="FFFFFF"/>
                  </a:solidFill>
                </a:rPr>
                <a:t>策略</a:t>
              </a:r>
            </a:p>
          </p:txBody>
        </p:sp>
        <p:sp>
          <p:nvSpPr>
            <p:cNvPr id="28" name="标题 2"/>
            <p:cNvSpPr txBox="1"/>
            <p:nvPr/>
          </p:nvSpPr>
          <p:spPr bwMode="auto">
            <a:xfrm>
              <a:off x="9606803" y="8657487"/>
              <a:ext cx="2079326" cy="1266214"/>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1828800" indent="-1828800" defTabSz="1828800">
                <a:defRPr/>
              </a:pPr>
              <a:r>
                <a:rPr lang="zh-CN" altLang="en-US" sz="1000">
                  <a:solidFill>
                    <a:srgbClr val="FFFFFF"/>
                  </a:solidFill>
                </a:rPr>
                <a:t>债券</a:t>
              </a:r>
              <a:endParaRPr lang="en-US" altLang="zh-CN" sz="1000">
                <a:solidFill>
                  <a:srgbClr val="FFFFFF"/>
                </a:solidFill>
              </a:endParaRPr>
            </a:p>
            <a:p>
              <a:pPr marL="1828800" indent="-1828800" defTabSz="1828800">
                <a:defRPr/>
              </a:pPr>
              <a:r>
                <a:rPr lang="zh-CN" altLang="en-US" sz="1000">
                  <a:solidFill>
                    <a:srgbClr val="FFFFFF"/>
                  </a:solidFill>
                </a:rPr>
                <a:t>投资</a:t>
              </a:r>
            </a:p>
          </p:txBody>
        </p:sp>
        <p:sp>
          <p:nvSpPr>
            <p:cNvPr id="29" name="标题 2"/>
            <p:cNvSpPr txBox="1"/>
            <p:nvPr/>
          </p:nvSpPr>
          <p:spPr bwMode="auto">
            <a:xfrm>
              <a:off x="11539291" y="9492393"/>
              <a:ext cx="3362754" cy="1266214"/>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1828800" indent="-1828800" defTabSz="1828800">
                <a:defRPr/>
              </a:pPr>
              <a:r>
                <a:rPr lang="zh-CN" altLang="en-US" sz="1000">
                  <a:solidFill>
                    <a:srgbClr val="FFFFFF"/>
                  </a:solidFill>
                </a:rPr>
                <a:t>商品期货</a:t>
              </a:r>
            </a:p>
          </p:txBody>
        </p:sp>
        <p:sp>
          <p:nvSpPr>
            <p:cNvPr id="30" name="标题 2"/>
            <p:cNvSpPr txBox="1"/>
            <p:nvPr/>
          </p:nvSpPr>
          <p:spPr bwMode="auto">
            <a:xfrm>
              <a:off x="13405765" y="7251608"/>
              <a:ext cx="1258719" cy="575170"/>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1828800" indent="-1828800" defTabSz="1828800">
                <a:defRPr/>
              </a:pPr>
              <a:r>
                <a:rPr lang="zh-CN" altLang="en-US" sz="1000" dirty="0">
                  <a:solidFill>
                    <a:srgbClr val="FFFFFF"/>
                  </a:solidFill>
                </a:rPr>
                <a:t>股票</a:t>
              </a:r>
              <a:endParaRPr lang="en-US" altLang="zh-CN" sz="1000" dirty="0">
                <a:solidFill>
                  <a:srgbClr val="FFFFFF"/>
                </a:solidFill>
              </a:endParaRPr>
            </a:p>
            <a:p>
              <a:pPr marL="1828800" indent="-1828800" defTabSz="1828800">
                <a:defRPr/>
              </a:pPr>
              <a:r>
                <a:rPr lang="zh-CN" altLang="en-US" sz="1000" dirty="0">
                  <a:solidFill>
                    <a:srgbClr val="FFFFFF"/>
                  </a:solidFill>
                </a:rPr>
                <a:t>多头</a:t>
              </a:r>
            </a:p>
          </p:txBody>
        </p:sp>
        <p:sp>
          <p:nvSpPr>
            <p:cNvPr id="31" name="标题 2"/>
            <p:cNvSpPr txBox="1"/>
            <p:nvPr/>
          </p:nvSpPr>
          <p:spPr bwMode="auto">
            <a:xfrm>
              <a:off x="6281317" y="5863841"/>
              <a:ext cx="2617652" cy="1387769"/>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0" indent="0" defTabSz="1828800">
                <a:defRPr/>
              </a:pPr>
              <a:r>
                <a:rPr lang="zh-CN" altLang="en-US" sz="1000" dirty="0">
                  <a:solidFill>
                    <a:srgbClr val="000000"/>
                  </a:solidFill>
                </a:rPr>
                <a:t>利用股指期货对冲，剥离市场系统风险，力争赚取投资组合的阿尔法收益。</a:t>
              </a:r>
            </a:p>
          </p:txBody>
        </p:sp>
        <p:sp>
          <p:nvSpPr>
            <p:cNvPr id="32" name="标题 2"/>
            <p:cNvSpPr txBox="1"/>
            <p:nvPr/>
          </p:nvSpPr>
          <p:spPr bwMode="auto">
            <a:xfrm>
              <a:off x="11465810" y="5033437"/>
              <a:ext cx="3119120" cy="1266214"/>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1828800" indent="-1828800" defTabSz="1828800">
                <a:defRPr/>
              </a:pPr>
              <a:r>
                <a:rPr lang="zh-CN" altLang="en-US" sz="1000" dirty="0">
                  <a:solidFill>
                    <a:srgbClr val="FFFFFF"/>
                  </a:solidFill>
                </a:rPr>
                <a:t>量化</a:t>
              </a:r>
            </a:p>
            <a:p>
              <a:pPr marL="1828800" indent="-1828800" defTabSz="1828800">
                <a:defRPr/>
              </a:pPr>
              <a:r>
                <a:rPr lang="zh-CN" altLang="en-US" sz="1000" dirty="0">
                  <a:solidFill>
                    <a:srgbClr val="FFFFFF"/>
                  </a:solidFill>
                </a:rPr>
                <a:t>增强</a:t>
              </a:r>
            </a:p>
          </p:txBody>
        </p:sp>
        <p:sp>
          <p:nvSpPr>
            <p:cNvPr id="33" name="标题 2"/>
            <p:cNvSpPr txBox="1"/>
            <p:nvPr/>
          </p:nvSpPr>
          <p:spPr bwMode="auto">
            <a:xfrm>
              <a:off x="7170456" y="8970259"/>
              <a:ext cx="2032104" cy="999414"/>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0" indent="0" defTabSz="1828800">
                <a:defRPr/>
              </a:pPr>
              <a:r>
                <a:rPr lang="zh-CN" altLang="en-US" sz="1000" dirty="0">
                  <a:solidFill>
                    <a:srgbClr val="000000"/>
                  </a:solidFill>
                </a:rPr>
                <a:t>固定收益一般在资产配置中担当稳定器角色。</a:t>
              </a:r>
            </a:p>
          </p:txBody>
        </p:sp>
        <p:sp>
          <p:nvSpPr>
            <p:cNvPr id="34" name="标题 2"/>
            <p:cNvSpPr txBox="1"/>
            <p:nvPr/>
          </p:nvSpPr>
          <p:spPr bwMode="auto">
            <a:xfrm>
              <a:off x="14122475" y="9391925"/>
              <a:ext cx="3073359" cy="1266213"/>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0" indent="0" defTabSz="1828800">
                <a:defRPr/>
              </a:pPr>
              <a:r>
                <a:rPr lang="zh-CN" altLang="en-US" sz="1000" dirty="0">
                  <a:solidFill>
                    <a:srgbClr val="000000"/>
                  </a:solidFill>
                </a:rPr>
                <a:t>不论市场处于上涨市还是下跌市，</a:t>
              </a:r>
              <a:r>
                <a:rPr lang="en-US" altLang="zh-CN" sz="1000" dirty="0">
                  <a:solidFill>
                    <a:srgbClr val="000000"/>
                  </a:solidFill>
                </a:rPr>
                <a:t>CTA</a:t>
              </a:r>
              <a:r>
                <a:rPr lang="zh-CN" altLang="en-US" sz="1000" dirty="0">
                  <a:solidFill>
                    <a:srgbClr val="000000"/>
                  </a:solidFill>
                </a:rPr>
                <a:t>策略通过多空头操作，均有机会获得正收益。</a:t>
              </a:r>
            </a:p>
          </p:txBody>
        </p:sp>
        <p:sp>
          <p:nvSpPr>
            <p:cNvPr id="35" name="标题 2"/>
            <p:cNvSpPr txBox="1"/>
            <p:nvPr/>
          </p:nvSpPr>
          <p:spPr bwMode="auto">
            <a:xfrm>
              <a:off x="14644819" y="6706933"/>
              <a:ext cx="2551016" cy="1441130"/>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0" indent="0" defTabSz="1828800">
                <a:defRPr/>
              </a:pPr>
              <a:r>
                <a:rPr lang="zh-CN" altLang="en-US" sz="1000" dirty="0">
                  <a:solidFill>
                    <a:srgbClr val="000000"/>
                  </a:solidFill>
                </a:rPr>
                <a:t>基于长期投资的概念，通过主动管理，选择优质的投资标的，以期获得长期持续回报。</a:t>
              </a:r>
            </a:p>
          </p:txBody>
        </p:sp>
        <p:sp>
          <p:nvSpPr>
            <p:cNvPr id="36" name="标题 2"/>
            <p:cNvSpPr txBox="1"/>
            <p:nvPr/>
          </p:nvSpPr>
          <p:spPr bwMode="auto">
            <a:xfrm>
              <a:off x="12580908" y="4764227"/>
              <a:ext cx="4614925" cy="995056"/>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0" indent="0" defTabSz="1828800">
                <a:defRPr/>
              </a:pPr>
              <a:r>
                <a:rPr lang="zh-CN" altLang="en-US" sz="1000" dirty="0">
                  <a:solidFill>
                    <a:srgbClr val="000000"/>
                  </a:solidFill>
                </a:rPr>
                <a:t>通过多因子选股模型，旨在超越指数，获得比指数多一点的超额收益。</a:t>
              </a:r>
            </a:p>
          </p:txBody>
        </p:sp>
        <p:sp>
          <p:nvSpPr>
            <p:cNvPr id="37" name="标题 2"/>
            <p:cNvSpPr txBox="1"/>
            <p:nvPr/>
          </p:nvSpPr>
          <p:spPr bwMode="auto">
            <a:xfrm>
              <a:off x="10706981" y="7195283"/>
              <a:ext cx="1958294" cy="1288450"/>
            </a:xfrm>
            <a:prstGeom prst="rect">
              <a:avLst/>
            </a:prstGeom>
            <a:noFill/>
            <a:ln>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lstStyle>
              <a:lvl1pPr marL="914400" indent="-914400" algn="l" rtl="0" fontAlgn="base">
                <a:spcBef>
                  <a:spcPct val="0"/>
                </a:spcBef>
                <a:spcAft>
                  <a:spcPct val="0"/>
                </a:spcAft>
                <a:defRPr lang="zh-CN" altLang="en-US" sz="2800" b="1" kern="1200" dirty="0" smtClean="0">
                  <a:solidFill>
                    <a:srgbClr val="003565"/>
                  </a:solidFill>
                  <a:latin typeface="微软雅黑" panose="020B0503020204020204" pitchFamily="34" charset="-122"/>
                  <a:ea typeface="微软雅黑" panose="020B0503020204020204" pitchFamily="34" charset="-122"/>
                  <a:cs typeface="+mj-cs"/>
                  <a:sym typeface="Calibri" panose="020F0502020204030204" charset="0"/>
                </a:defRPr>
              </a:lvl1pPr>
              <a:lvl2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2pPr>
              <a:lvl3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3pPr>
              <a:lvl4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4pPr>
              <a:lvl5pPr marL="9144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5pPr>
              <a:lvl6pPr marL="13716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6pPr>
              <a:lvl7pPr marL="18288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7pPr>
              <a:lvl8pPr marL="22860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8pPr>
              <a:lvl9pPr marL="2743200" indent="-914400" algn="ctr" rtl="0" fontAlgn="base">
                <a:spcBef>
                  <a:spcPct val="0"/>
                </a:spcBef>
                <a:spcAft>
                  <a:spcPct val="0"/>
                </a:spcAft>
                <a:defRPr sz="4400">
                  <a:solidFill>
                    <a:schemeClr val="tx1"/>
                  </a:solidFill>
                  <a:latin typeface="Calibri" panose="020F0502020204030204" charset="0"/>
                  <a:ea typeface="宋体" panose="02010600030101010101" pitchFamily="2" charset="-122"/>
                  <a:sym typeface="Calibri" panose="020F0502020204030204" charset="0"/>
                </a:defRPr>
              </a:lvl9pPr>
            </a:lstStyle>
            <a:p>
              <a:pPr marL="0" indent="0" defTabSz="1828800">
                <a:lnSpc>
                  <a:spcPct val="150000"/>
                </a:lnSpc>
                <a:defRPr/>
              </a:pPr>
              <a:r>
                <a:rPr lang="zh-CN" altLang="en-US" sz="1000" dirty="0">
                  <a:solidFill>
                    <a:srgbClr val="F57913"/>
                  </a:solidFill>
                </a:rPr>
                <a:t>博道基金多资产专户策略</a:t>
              </a:r>
              <a:endParaRPr lang="en-US" altLang="zh-CN" sz="1000" dirty="0">
                <a:solidFill>
                  <a:srgbClr val="F57913"/>
                </a:solidFill>
              </a:endParaRPr>
            </a:p>
          </p:txBody>
        </p:sp>
      </p:grpSp>
      <p:sp>
        <p:nvSpPr>
          <p:cNvPr id="18" name="矩形 1"/>
          <p:cNvSpPr>
            <a:spLocks noChangeArrowheads="1"/>
          </p:cNvSpPr>
          <p:nvPr/>
        </p:nvSpPr>
        <p:spPr bwMode="auto">
          <a:xfrm>
            <a:off x="7424453" y="6030064"/>
            <a:ext cx="435275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r" fontAlgn="base">
              <a:spcBef>
                <a:spcPct val="0"/>
              </a:spcBef>
              <a:spcAft>
                <a:spcPct val="0"/>
              </a:spcAft>
              <a:defRPr/>
            </a:pPr>
            <a:r>
              <a:rPr lang="zh-CN" altLang="en-US" sz="800" dirty="0">
                <a:solidFill>
                  <a:srgbClr val="000000"/>
                </a:solidFill>
              </a:rPr>
              <a:t>数据来源：博道基金，截至</a:t>
            </a:r>
            <a:r>
              <a:rPr lang="en-US" altLang="zh-CN" sz="800" dirty="0">
                <a:solidFill>
                  <a:srgbClr val="000000"/>
                </a:solidFill>
              </a:rPr>
              <a:t>2025</a:t>
            </a:r>
            <a:r>
              <a:rPr lang="zh-CN" altLang="en-US" sz="800" dirty="0">
                <a:solidFill>
                  <a:srgbClr val="000000"/>
                </a:solidFill>
              </a:rPr>
              <a:t>年</a:t>
            </a:r>
            <a:r>
              <a:rPr lang="en-US" altLang="zh-CN" sz="800" dirty="0">
                <a:solidFill>
                  <a:srgbClr val="000000"/>
                </a:solidFill>
              </a:rPr>
              <a:t>12</a:t>
            </a:r>
            <a:r>
              <a:rPr lang="zh-CN" altLang="en-US" sz="800" dirty="0">
                <a:solidFill>
                  <a:srgbClr val="000000"/>
                </a:solidFill>
              </a:rPr>
              <a:t>月</a:t>
            </a:r>
            <a:r>
              <a:rPr lang="en-US" altLang="zh-CN" sz="800" dirty="0">
                <a:solidFill>
                  <a:srgbClr val="000000"/>
                </a:solidFill>
              </a:rPr>
              <a:t>31</a:t>
            </a:r>
            <a:r>
              <a:rPr lang="zh-CN" altLang="en-US" sz="800" dirty="0">
                <a:solidFill>
                  <a:srgbClr val="000000"/>
                </a:solidFill>
              </a:rPr>
              <a:t>日。</a:t>
            </a:r>
          </a:p>
        </p:txBody>
      </p:sp>
      <p:pic>
        <p:nvPicPr>
          <p:cNvPr id="4" name="图片 3"/>
          <p:cNvPicPr>
            <a:picLocks noChangeAspect="1"/>
          </p:cNvPicPr>
          <p:nvPr/>
        </p:nvPicPr>
        <p:blipFill>
          <a:blip r:embed="rId4"/>
          <a:stretch>
            <a:fillRect/>
          </a:stretch>
        </p:blipFill>
        <p:spPr>
          <a:xfrm>
            <a:off x="7056407" y="2346405"/>
            <a:ext cx="4678591" cy="3633531"/>
          </a:xfrm>
          <a:prstGeom prst="rect">
            <a:avLst/>
          </a:prstGeom>
        </p:spPr>
      </p:pic>
      <p:sp>
        <p:nvSpPr>
          <p:cNvPr id="3" name="灯片编号占位符 2">
            <a:extLst>
              <a:ext uri="{FF2B5EF4-FFF2-40B4-BE49-F238E27FC236}">
                <a16:creationId xmlns:a16="http://schemas.microsoft.com/office/drawing/2014/main" xmlns="" id="{4BFFDF67-3DDB-BB57-9050-F1A6CDEA9FF2}"/>
              </a:ext>
            </a:extLst>
          </p:cNvPr>
          <p:cNvSpPr>
            <a:spLocks noGrp="1"/>
          </p:cNvSpPr>
          <p:nvPr>
            <p:ph type="sldNum" sz="quarter" idx="11"/>
          </p:nvPr>
        </p:nvSpPr>
        <p:spPr/>
        <p:txBody>
          <a:bodyPr/>
          <a:lstStyle/>
          <a:p>
            <a:pPr>
              <a:defRPr/>
            </a:pPr>
            <a:fld id="{6E91549D-98B7-4077-996F-05BE1B29F039}" type="slidenum">
              <a:rPr lang="zh-CN" altLang="en-US" smtClean="0"/>
              <a:t>34</a:t>
            </a:fld>
            <a:endParaRPr lang="zh-CN" altLang="en-US" dirty="0"/>
          </a:p>
        </p:txBody>
      </p:sp>
    </p:spTree>
    <p:extLst>
      <p:ext uri="{BB962C8B-B14F-4D97-AF65-F5344CB8AC3E}">
        <p14:creationId xmlns:p14="http://schemas.microsoft.com/office/powerpoint/2010/main" val="1292712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Autofit/>
          </a:bodyPr>
          <a:lstStyle/>
          <a:p>
            <a:pPr>
              <a:defRPr/>
            </a:pPr>
            <a:r>
              <a:rPr lang="zh-CN" altLang="en-US" dirty="0"/>
              <a:t>博道特色客户服务品牌：</a:t>
            </a:r>
            <a:r>
              <a:rPr lang="zh-CN" altLang="en-US" dirty="0">
                <a:solidFill>
                  <a:srgbClr val="EA5838"/>
                </a:solidFill>
              </a:rPr>
              <a:t>有温度的慢富道</a:t>
            </a:r>
          </a:p>
        </p:txBody>
      </p:sp>
      <p:sp>
        <p:nvSpPr>
          <p:cNvPr id="3" name="副标题 2"/>
          <p:cNvSpPr>
            <a:spLocks noGrp="1"/>
          </p:cNvSpPr>
          <p:nvPr>
            <p:ph type="subTitle" idx="1"/>
          </p:nvPr>
        </p:nvSpPr>
        <p:spPr>
          <a:xfrm>
            <a:off x="569342" y="906083"/>
            <a:ext cx="6751996" cy="4680520"/>
          </a:xfrm>
        </p:spPr>
        <p:txBody>
          <a:bodyPr rtlCol="0"/>
          <a:lstStyle/>
          <a:p>
            <a:pPr>
              <a:defRPr/>
            </a:pPr>
            <a:r>
              <a:rPr lang="zh-CN" altLang="en-US" dirty="0"/>
              <a:t>投资是一场马拉松，而不是百米赛跑，在这条道路上，恰恰慢就是快，行稳才能致远。从长期投资的视角来看，</a:t>
            </a:r>
            <a:r>
              <a:rPr lang="zh-CN" altLang="en-US" b="1" dirty="0">
                <a:solidFill>
                  <a:srgbClr val="EA5838"/>
                </a:solidFill>
              </a:rPr>
              <a:t>接受慢慢变富才是适合大多数投资者的最佳实践</a:t>
            </a:r>
            <a:r>
              <a:rPr lang="zh-CN" altLang="en-US" dirty="0">
                <a:solidFill>
                  <a:srgbClr val="EA5838"/>
                </a:solidFill>
              </a:rPr>
              <a:t>。</a:t>
            </a:r>
            <a:endParaRPr lang="en-US" altLang="zh-CN" dirty="0">
              <a:solidFill>
                <a:srgbClr val="EA5838"/>
              </a:solidFill>
            </a:endParaRPr>
          </a:p>
          <a:p>
            <a:pPr>
              <a:defRPr/>
            </a:pPr>
            <a:endParaRPr lang="zh-CN" altLang="en-US" dirty="0"/>
          </a:p>
          <a:p>
            <a:pPr>
              <a:defRPr/>
            </a:pPr>
            <a:r>
              <a:rPr lang="zh-CN" altLang="en-US" dirty="0"/>
              <a:t>博道基金在业内首创“慢慢变富”的理财观念和</a:t>
            </a:r>
            <a:r>
              <a:rPr lang="zh-CN" altLang="en-US" b="1" dirty="0">
                <a:solidFill>
                  <a:srgbClr val="EA5838"/>
                </a:solidFill>
              </a:rPr>
              <a:t>“慢富道”</a:t>
            </a:r>
            <a:r>
              <a:rPr lang="zh-CN" altLang="en-US" dirty="0"/>
              <a:t>投资者服务品牌和客户陪伴体系，致力于提升客户长期投资基金的获得感和投资体验。</a:t>
            </a:r>
          </a:p>
          <a:p>
            <a:pPr>
              <a:defRPr/>
            </a:pPr>
            <a:endParaRPr lang="zh-CN" altLang="en-US" dirty="0"/>
          </a:p>
          <a:p>
            <a:pPr>
              <a:defRPr/>
            </a:pPr>
            <a:r>
              <a:rPr lang="zh-CN" altLang="en-US" dirty="0"/>
              <a:t>“慢富道”希望通过日常的服务和陪伴，与大家进行细水长流的沟通交流，</a:t>
            </a:r>
            <a:r>
              <a:rPr lang="zh-CN" altLang="en-US" b="1" dirty="0">
                <a:solidFill>
                  <a:srgbClr val="EA5838"/>
                </a:solidFill>
              </a:rPr>
              <a:t>相伴长期投资，淡化投资过程中的短期起伏</a:t>
            </a:r>
            <a:r>
              <a:rPr lang="zh-CN" altLang="en-US" dirty="0"/>
              <a:t>，开启“慢富”旅程。</a:t>
            </a:r>
          </a:p>
          <a:p>
            <a:pPr marL="0" indent="0">
              <a:buNone/>
              <a:defRPr/>
            </a:pPr>
            <a:endParaRPr lang="zh-CN" altLang="en-US" dirty="0"/>
          </a:p>
          <a:p>
            <a:pPr>
              <a:defRPr/>
            </a:pPr>
            <a:r>
              <a:rPr lang="zh-CN" altLang="en-US" dirty="0"/>
              <a:t>从</a:t>
            </a:r>
            <a:r>
              <a:rPr lang="en-US" altLang="zh-CN" dirty="0"/>
              <a:t>2020</a:t>
            </a:r>
            <a:r>
              <a:rPr lang="zh-CN" altLang="en-US" dirty="0"/>
              <a:t>年开始，博道基金“慢富道” 投教服务系列活动正式启动，我们将通过线上或线下的形式，向客户普及基金投资知识，传播“慢富”理念，践行长期投资。</a:t>
            </a:r>
          </a:p>
          <a:p>
            <a:pPr>
              <a:defRPr/>
            </a:pPr>
            <a:endParaRPr lang="zh-CN" altLang="en-US" dirty="0"/>
          </a:p>
        </p:txBody>
      </p:sp>
      <p:pic>
        <p:nvPicPr>
          <p:cNvPr id="67589"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64438" y="906463"/>
            <a:ext cx="4025900" cy="524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xmlns="" id="{93AD0799-2547-2144-2FC6-B107FDBE2595}"/>
              </a:ext>
            </a:extLst>
          </p:cNvPr>
          <p:cNvSpPr>
            <a:spLocks noGrp="1"/>
          </p:cNvSpPr>
          <p:nvPr>
            <p:ph type="sldNum" sz="quarter" idx="11"/>
          </p:nvPr>
        </p:nvSpPr>
        <p:spPr/>
        <p:txBody>
          <a:bodyPr/>
          <a:lstStyle/>
          <a:p>
            <a:pPr>
              <a:defRPr/>
            </a:pPr>
            <a:fld id="{6E91549D-98B7-4077-996F-05BE1B29F039}" type="slidenum">
              <a:rPr lang="zh-CN" altLang="en-US" smtClean="0"/>
              <a:t>35</a:t>
            </a:fld>
            <a:endParaRPr lang="zh-CN" altLang="en-US" dirty="0"/>
          </a:p>
        </p:txBody>
      </p:sp>
    </p:spTree>
    <p:extLst>
      <p:ext uri="{BB962C8B-B14F-4D97-AF65-F5344CB8AC3E}">
        <p14:creationId xmlns:p14="http://schemas.microsoft.com/office/powerpoint/2010/main" val="651618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51205211530"/>
  <p:tag name="MH_LIBRARY" val="GRAPHIC"/>
  <p:tag name="MH_ORDER" val="Rectangle 4"/>
</p:tagLst>
</file>

<file path=ppt/tags/tag2.xml><?xml version="1.0" encoding="utf-8"?>
<p:tagLst xmlns:a="http://schemas.openxmlformats.org/drawingml/2006/main" xmlns:r="http://schemas.openxmlformats.org/officeDocument/2006/relationships" xmlns:p="http://schemas.openxmlformats.org/presentationml/2006/main">
  <p:tag name="MH" val="20151205162727"/>
  <p:tag name="MH_LIBRARY" val="GRAPHIC"/>
  <p:tag name="MH_TYPE" val="Other"/>
  <p:tag name="MH_ORDER" val="14"/>
</p:tagLst>
</file>

<file path=ppt/tags/tag3.xml><?xml version="1.0" encoding="utf-8"?>
<p:tagLst xmlns:a="http://schemas.openxmlformats.org/drawingml/2006/main" xmlns:r="http://schemas.openxmlformats.org/officeDocument/2006/relationships" xmlns:p="http://schemas.openxmlformats.org/presentationml/2006/main">
  <p:tag name="MH" val="20151205162727"/>
  <p:tag name="MH_LIBRARY" val="GRAPHIC"/>
  <p:tag name="MH_TYPE" val="Other"/>
  <p:tag name="MH_ORDER" val="14"/>
</p:tagLst>
</file>

<file path=ppt/tags/tag4.xml><?xml version="1.0" encoding="utf-8"?>
<p:tagLst xmlns:a="http://schemas.openxmlformats.org/drawingml/2006/main" xmlns:r="http://schemas.openxmlformats.org/officeDocument/2006/relationships" xmlns:p="http://schemas.openxmlformats.org/presentationml/2006/main">
  <p:tag name="MH" val="20151205162727"/>
  <p:tag name="MH_LIBRARY" val="GRAPHIC"/>
  <p:tag name="MH_TYPE" val="Other"/>
  <p:tag name="MH_ORDER" val="14"/>
</p:tagLst>
</file>

<file path=ppt/tags/tag5.xml><?xml version="1.0" encoding="utf-8"?>
<p:tagLst xmlns:a="http://schemas.openxmlformats.org/drawingml/2006/main" xmlns:r="http://schemas.openxmlformats.org/officeDocument/2006/relationships" xmlns:p="http://schemas.openxmlformats.org/presentationml/2006/main">
  <p:tag name="MH" val="20151205162727"/>
  <p:tag name="MH_LIBRARY" val="GRAPHIC"/>
  <p:tag name="MH_TYPE" val="Other"/>
  <p:tag name="MH_ORDER" val="14"/>
</p:tagLst>
</file>

<file path=ppt/tags/tag6.xml><?xml version="1.0" encoding="utf-8"?>
<p:tagLst xmlns:a="http://schemas.openxmlformats.org/drawingml/2006/main" xmlns:r="http://schemas.openxmlformats.org/officeDocument/2006/relationships" xmlns:p="http://schemas.openxmlformats.org/presentationml/2006/main">
  <p:tag name="MH" val="20151205211530"/>
  <p:tag name="MH_LIBRARY" val="GRAPHIC"/>
  <p:tag name="MH_ORDER" val="文本框 2"/>
</p:tagLst>
</file>

<file path=ppt/tags/tag7.xml><?xml version="1.0" encoding="utf-8"?>
<p:tagLst xmlns:a="http://schemas.openxmlformats.org/drawingml/2006/main" xmlns:r="http://schemas.openxmlformats.org/officeDocument/2006/relationships" xmlns:p="http://schemas.openxmlformats.org/presentationml/2006/main">
  <p:tag name="MH" val="20151205211530"/>
  <p:tag name="MH_LIBRARY" val="GRAPHIC"/>
  <p:tag name="MH_ORDER" val="Rectangle 4"/>
</p:tagLst>
</file>

<file path=ppt/tags/tag8.xml><?xml version="1.0" encoding="utf-8"?>
<p:tagLst xmlns:a="http://schemas.openxmlformats.org/drawingml/2006/main" xmlns:r="http://schemas.openxmlformats.org/officeDocument/2006/relationships" xmlns:p="http://schemas.openxmlformats.org/presentationml/2006/main">
  <p:tag name="MH" val="20151205162727"/>
  <p:tag name="MH_LIBRARY" val="GRAPHIC"/>
  <p:tag name="MH_TYPE" val="Other"/>
  <p:tag name="MH_ORDER" val="14"/>
</p:tagLst>
</file>

<file path=ppt/tags/tag9.xml><?xml version="1.0" encoding="utf-8"?>
<p:tagLst xmlns:a="http://schemas.openxmlformats.org/drawingml/2006/main" xmlns:r="http://schemas.openxmlformats.org/officeDocument/2006/relationships" xmlns:p="http://schemas.openxmlformats.org/presentationml/2006/main">
  <p:tag name="MH" val="20151205162727"/>
  <p:tag name="MH_LIBRARY" val="GRAPHIC"/>
  <p:tag name="MH_TYPE" val="Other"/>
  <p:tag name="MH_ORDER" val="14"/>
</p:tagLst>
</file>

<file path=ppt/tags/tag10.xml><?xml version="1.0" encoding="utf-8"?>
<p:tagLst xmlns:a="http://schemas.openxmlformats.org/drawingml/2006/main" xmlns:r="http://schemas.openxmlformats.org/officeDocument/2006/relationships" xmlns:p="http://schemas.openxmlformats.org/presentationml/2006/main">
  <p:tag name="MH" val="20151205211530"/>
  <p:tag name="MH_LIBRARY" val="GRAPHIC"/>
  <p:tag name="MH_ORDER" val="文本框 2"/>
</p:tagLst>
</file>

<file path=ppt/tags/tag11.xml><?xml version="1.0" encoding="utf-8"?>
<p:tagLst xmlns:a="http://schemas.openxmlformats.org/drawingml/2006/main" xmlns:r="http://schemas.openxmlformats.org/officeDocument/2006/relationships" xmlns:p="http://schemas.openxmlformats.org/presentationml/2006/main">
  <p:tag name="MH" val="20151205211530"/>
  <p:tag name="MH_LIBRARY" val="GRAPHIC"/>
  <p:tag name="MH_ORDER" val="Rectangle 4"/>
</p:tagLst>
</file>

<file path=ppt/tags/tag12.xml><?xml version="1.0" encoding="utf-8"?>
<p:tagLst xmlns:a="http://schemas.openxmlformats.org/drawingml/2006/main" xmlns:r="http://schemas.openxmlformats.org/officeDocument/2006/relationships" xmlns:p="http://schemas.openxmlformats.org/presentationml/2006/main">
  <p:tag name="MH" val="20151205162727"/>
  <p:tag name="MH_LIBRARY" val="GRAPHIC"/>
  <p:tag name="MH_TYPE" val="Other"/>
  <p:tag name="MH_ORDER" val="14"/>
</p:tagLst>
</file>

<file path=ppt/tags/tag13.xml><?xml version="1.0" encoding="utf-8"?>
<p:tagLst xmlns:a="http://schemas.openxmlformats.org/drawingml/2006/main" xmlns:r="http://schemas.openxmlformats.org/officeDocument/2006/relationships" xmlns:p="http://schemas.openxmlformats.org/presentationml/2006/main">
  <p:tag name="MH" val="20151205162727"/>
  <p:tag name="MH_LIBRARY" val="GRAPHIC"/>
  <p:tag name="MH_TYPE" val="Other"/>
  <p:tag name="MH_ORDER" val="14"/>
</p:tagLst>
</file>

<file path=ppt/tags/tag14.xml><?xml version="1.0" encoding="utf-8"?>
<p:tagLst xmlns:a="http://schemas.openxmlformats.org/drawingml/2006/main" xmlns:r="http://schemas.openxmlformats.org/officeDocument/2006/relationships" xmlns:p="http://schemas.openxmlformats.org/presentationml/2006/main">
  <p:tag name="MH" val="20151205211530"/>
  <p:tag name="MH_LIBRARY" val="GRAPHIC"/>
  <p:tag name="MH_ORDER" val="文本框 2"/>
</p:tagLst>
</file>

<file path=ppt/tags/tag15.xml><?xml version="1.0" encoding="utf-8"?>
<p:tagLst xmlns:a="http://schemas.openxmlformats.org/drawingml/2006/main" xmlns:r="http://schemas.openxmlformats.org/officeDocument/2006/relationships" xmlns:p="http://schemas.openxmlformats.org/presentationml/2006/main">
  <p:tag name="MH" val="20151205211530"/>
  <p:tag name="MH_LIBRARY" val="GRAPHIC"/>
  <p:tag name="MH_ORDER" val="Rectangle 4"/>
</p:tagLst>
</file>

<file path=ppt/theme/theme1.xml><?xml version="1.0" encoding="utf-8"?>
<a:theme xmlns:a="http://schemas.openxmlformats.org/drawingml/2006/main" name="7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2151</TotalTime>
  <Words>8175</Words>
  <Application>Microsoft Office PowerPoint</Application>
  <PresentationFormat>宽屏</PresentationFormat>
  <Paragraphs>1381</Paragraphs>
  <Slides>37</Slides>
  <Notes>14</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37</vt:i4>
      </vt:variant>
    </vt:vector>
  </HeadingPairs>
  <TitlesOfParts>
    <vt:vector size="56" baseType="lpstr">
      <vt:lpstr>Arial Unicode MS</vt:lpstr>
      <vt:lpstr>Heiti SC Light</vt:lpstr>
      <vt:lpstr>Helvetica Neue</vt:lpstr>
      <vt:lpstr>Helvetica Neue Medium</vt:lpstr>
      <vt:lpstr>Microsoft Yahei</vt:lpstr>
      <vt:lpstr>OPPOSans R</vt:lpstr>
      <vt:lpstr>PingFang SC Light</vt:lpstr>
      <vt:lpstr>阿里巴巴普惠体 2.0 55 Regular</vt:lpstr>
      <vt:lpstr>等线</vt:lpstr>
      <vt:lpstr>黑体</vt:lpstr>
      <vt:lpstr>华文细黑</vt:lpstr>
      <vt:lpstr>思源黑体 CN Normal</vt:lpstr>
      <vt:lpstr>宋体</vt:lpstr>
      <vt:lpstr>微软雅黑</vt:lpstr>
      <vt:lpstr>Arial</vt:lpstr>
      <vt:lpstr>Calibri</vt:lpstr>
      <vt:lpstr>Times New Roman</vt:lpstr>
      <vt:lpstr>Wingdings</vt:lpstr>
      <vt:lpstr>7_Office 主题​​</vt:lpstr>
      <vt:lpstr> 最全A股指数，值得更好的增强 博道中证全指指数增强型证券投资基金 【基金代码：A类025020 / C类025021】</vt:lpstr>
      <vt:lpstr>博道中证全指指数增强（A类025020/C类025021）</vt:lpstr>
      <vt:lpstr>目录</vt:lpstr>
      <vt:lpstr>无惧风格轮动、一键配置全市场：中证全指指数</vt:lpstr>
      <vt:lpstr>中证全指指数：历史业绩均衡、大小盘风格均衡</vt:lpstr>
      <vt:lpstr>中证全指风险溢价率仍在中位数附近</vt:lpstr>
      <vt:lpstr>中证全指指数概况</vt:lpstr>
      <vt:lpstr>1、最“全”指数：行业分布全覆盖，成长潜力大</vt:lpstr>
      <vt:lpstr>2、均衡不偏科：成分股权重分散、均衡</vt:lpstr>
      <vt:lpstr>3、收益空间：弹性较大，配置价值高</vt:lpstr>
      <vt:lpstr>4、投资体验佳：股息率稳定，分红能力更强</vt:lpstr>
      <vt:lpstr>小结：中证全指指数的投资价值</vt:lpstr>
      <vt:lpstr>A股最全的指数，值得更好的增强</vt:lpstr>
      <vt:lpstr>指增的buff：想比指数收益多一点</vt:lpstr>
      <vt:lpstr>PowerPoint 演示文稿</vt:lpstr>
      <vt:lpstr>博道指数+实盘业绩：可持续的“超”能力</vt:lpstr>
      <vt:lpstr>产品要素：博道中证全指指数增强基金</vt:lpstr>
      <vt:lpstr>目录</vt:lpstr>
      <vt:lpstr>博道量化精品店：完善的指数+产品布局</vt:lpstr>
      <vt:lpstr>1、团队作战：公私募融合，AI赋能先行者</vt:lpstr>
      <vt:lpstr>1、团队作战：术业专攻，协同进化</vt:lpstr>
      <vt:lpstr>2、公募量化“均衡派”：双均衡多因子模型框架</vt:lpstr>
      <vt:lpstr>博道指数+：传统框架多因子模型</vt:lpstr>
      <vt:lpstr>博道指数+：AI框架多因子模型</vt:lpstr>
      <vt:lpstr>3、注重客户体验：精细化风控，提升超额胜率和持有体验</vt:lpstr>
      <vt:lpstr>4、长期淬炼的超额能力：超额持续居行业前列</vt:lpstr>
      <vt:lpstr>4、长期淬炼的超额能力：500指增、300指增成立以来“年年增”</vt:lpstr>
      <vt:lpstr>目录</vt:lpstr>
      <vt:lpstr>博道基金：着眼长期，倡导慢富</vt:lpstr>
      <vt:lpstr>私募基因： 私募阶段3年获4座“金牛”</vt:lpstr>
      <vt:lpstr>管理规模：稳步增长，权益先行</vt:lpstr>
      <vt:lpstr>有锐度的业绩：权益管理能力位居行业前列</vt:lpstr>
      <vt:lpstr>主动权益团队：经验丰富，风格多样</vt:lpstr>
      <vt:lpstr>博道专户：策略多元，厚积薄发</vt:lpstr>
      <vt:lpstr>博道特色客户服务品牌：有温度的慢富道</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主动权益基金业绩</dc:title>
  <dc:creator>李志军</dc:creator>
  <cp:lastModifiedBy>白昕</cp:lastModifiedBy>
  <cp:revision>928</cp:revision>
  <dcterms:created xsi:type="dcterms:W3CDTF">2024-01-08T01:18:00Z</dcterms:created>
  <dcterms:modified xsi:type="dcterms:W3CDTF">2026-10-16T06:02:27Z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EA3292E121394D43941448BC9AC981FE_12</vt:lpwstr>
  </property>
  <property fmtid="{D5CDD505-2E9C-101B-9397-08002B2CF9AE}" pid="3" name="KSOProductBuildVer">
    <vt:lpwstr>2052-12.1.0.21915</vt:lpwstr>
  </property>
</Properties>
</file>