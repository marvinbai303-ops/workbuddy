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3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585216" y="1143000"/>
            <a:ext cx="11210544" cy="0"/>
          </a:xfrm>
          <a:prstGeom prst="line">
            <a:avLst/>
          </a:prstGeom>
          <a:ln w="19050">
            <a:solidFill>
              <a:srgbClr val="0137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69374"/>
              </p:ext>
            </p:extLst>
          </p:nvPr>
        </p:nvGraphicFramePr>
        <p:xfrm>
          <a:off x="1128752" y="2434691"/>
          <a:ext cx="9164425" cy="3767612"/>
        </p:xfrm>
        <a:graphic>
          <a:graphicData uri="http://schemas.openxmlformats.org/drawingml/2006/table">
            <a:tbl>
              <a:tblPr/>
              <a:tblGrid>
                <a:gridCol w="1486123"/>
                <a:gridCol w="3715307"/>
                <a:gridCol w="1238436"/>
                <a:gridCol w="1238436"/>
                <a:gridCol w="1486123"/>
              </a:tblGrid>
              <a:tr h="36248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基金名称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配置比例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成立日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007044.OF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博道沪深300增强A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300+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2019-04-26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163407.OF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兴全沪深300增强A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300+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2010-11-02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004190.OF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招商沪深300增强A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300+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2017-02-10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006593.OF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博道中证500增强A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500+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2019-01-03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009608.OF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广发中证500增强A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500+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2020-10-15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017644.OF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博道中证1000增强A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1000+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2023-08-25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015466.OF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太平中证1000增强A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1000+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2022-04-29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019923.OF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华泰柏瑞中证2000增强A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2000+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2024-01-12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019918.OF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招商中证2000增强A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2000+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2024-01-02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5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000917.OF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嘉实快线货币A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货币基金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2015-06-25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514495"/>
              </p:ext>
            </p:extLst>
          </p:nvPr>
        </p:nvGraphicFramePr>
        <p:xfrm>
          <a:off x="1959533" y="1346886"/>
          <a:ext cx="7104147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049"/>
                <a:gridCol w="4736098"/>
              </a:tblGrid>
              <a:tr h="212124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微软雅黑"/>
                        </a:rPr>
                        <a:t>守正组合</a:t>
                      </a:r>
                      <a:endParaRPr sz="110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</a:tr>
              <a:tr h="2121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solidFill>
                            <a:srgbClr val="2C2C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基金规则</a:t>
                      </a:r>
                      <a:endParaRPr sz="1100" dirty="0">
                        <a:solidFill>
                          <a:srgbClr val="2C2C2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solidFill>
                            <a:srgbClr val="2C2C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成立时间不足的，使用指数涨跌代替，成立后接续为基金净值</a:t>
                      </a:r>
                      <a:endParaRPr sz="1100" dirty="0">
                        <a:solidFill>
                          <a:srgbClr val="2C2C2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2124"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solidFill>
                            <a:srgbClr val="2C2C2A"/>
                          </a:solidFill>
                          <a:latin typeface="微软雅黑"/>
                        </a:rPr>
                        <a:t>动平衡规则</a:t>
                      </a:r>
                      <a:endParaRPr sz="1100" dirty="0">
                        <a:solidFill>
                          <a:srgbClr val="2C2C2A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C2C2A"/>
                          </a:solidFill>
                          <a:latin typeface="微软雅黑"/>
                        </a:rPr>
                        <a:t>定期动平衡：频率1季度；定幅动平衡：无</a:t>
                      </a:r>
                    </a:p>
                  </a:txBody>
                  <a:tcPr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3"/>
          <p:cNvSpPr txBox="1"/>
          <p:nvPr/>
        </p:nvSpPr>
        <p:spPr>
          <a:xfrm>
            <a:off x="585216" y="491096"/>
            <a:ext cx="26468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守正组合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模拟持仓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10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585216" y="1143000"/>
            <a:ext cx="11210544" cy="0"/>
          </a:xfrm>
          <a:prstGeom prst="line">
            <a:avLst/>
          </a:prstGeom>
          <a:ln w="19050">
            <a:solidFill>
              <a:srgbClr val="0137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5216" y="491096"/>
            <a:ext cx="26468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守正组合模拟回测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149301"/>
              </p:ext>
            </p:extLst>
          </p:nvPr>
        </p:nvGraphicFramePr>
        <p:xfrm>
          <a:off x="7637334" y="1310331"/>
          <a:ext cx="4051300" cy="1587500"/>
        </p:xfrm>
        <a:graphic>
          <a:graphicData uri="http://schemas.openxmlformats.org/drawingml/2006/table">
            <a:tbl>
              <a:tblPr/>
              <a:tblGrid>
                <a:gridCol w="698500"/>
                <a:gridCol w="1117600"/>
                <a:gridCol w="1117600"/>
                <a:gridCol w="111760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组合年度收益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基准年度收益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超额收益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26.18%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 dirty="0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24.89%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1.29%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7.64%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7.70%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-0.06%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 dirty="0">
                          <a:solidFill>
                            <a:srgbClr val="1E844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-18.52%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 kern="1200" dirty="0">
                          <a:solidFill>
                            <a:srgbClr val="1E844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-18.93%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solidFill>
                            <a:srgbClr val="1E844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-4.04%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solidFill>
                            <a:srgbClr val="1E844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-5.34%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12.65%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9.98%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2.68%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27.13%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 dirty="0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27.03%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2026YTD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 dirty="0">
                          <a:solidFill>
                            <a:srgbClr val="1E844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-3.31%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 dirty="0">
                          <a:solidFill>
                            <a:srgbClr val="C0392B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5.88%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658631"/>
              </p:ext>
            </p:extLst>
          </p:nvPr>
        </p:nvGraphicFramePr>
        <p:xfrm>
          <a:off x="7637334" y="3280846"/>
          <a:ext cx="4051300" cy="2304405"/>
        </p:xfrm>
        <a:graphic>
          <a:graphicData uri="http://schemas.openxmlformats.org/drawingml/2006/table">
            <a:tbl>
              <a:tblPr/>
              <a:tblGrid>
                <a:gridCol w="1429871"/>
                <a:gridCol w="1072403"/>
                <a:gridCol w="1549026"/>
              </a:tblGrid>
              <a:tr h="29768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守正组合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中证全指全收益</a:t>
                      </a:r>
                      <a:endParaRPr lang="en-US" altLang="zh-CN" sz="11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75D"/>
                    </a:solidFill>
                  </a:tcPr>
                </a:tc>
              </a:tr>
              <a:tr h="27964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回测区间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2020-01-02 ~ 2026-09-30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7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7964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累计收益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55.98%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39.43%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964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年化收益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5.25%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964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年化波动率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18.08%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20.33%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964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区间最大回撤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-33.67%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-37.14%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887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夏普比率(无风险0%)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0.39</a:t>
                      </a:r>
                      <a:endParaRPr lang="en-US" altLang="zh-CN" sz="105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964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动平衡次数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566928" y="6248808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注：统计区间为2020年1月2日-2026年9月30日（日频）。计算夏普比例时，无风险收益按0%计。组合收益按年化1%费率逐日计提扣除。基金成立前用跟踪指数（价格指数）涨跌代替，成立后接续基金净值。季度末再平衡，未计交易费用。基准为中证全指全收益指数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65" y="1523479"/>
            <a:ext cx="7223760" cy="39437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585216" y="1143000"/>
            <a:ext cx="11210544" cy="0"/>
          </a:xfrm>
          <a:prstGeom prst="line">
            <a:avLst/>
          </a:prstGeom>
          <a:ln w="19050">
            <a:solidFill>
              <a:srgbClr val="0137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13232" y="1325880"/>
            <a:ext cx="10607040" cy="7315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dirty="0"/>
              <a:t>6个完整年度有4年为正收益。最高年度收益27.13%，最低年度收益-18.52%，年化收益率7.09%。</a:t>
            </a:r>
          </a:p>
          <a:p>
            <a:r>
              <a:rPr dirty="0"/>
              <a:t>81个完整月度录得45个月(55.6%)正收益。最高月度收益18.36%，最低月度收益-9.89%，平均月度收益0.67%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076064"/>
              </p:ext>
            </p:extLst>
          </p:nvPr>
        </p:nvGraphicFramePr>
        <p:xfrm>
          <a:off x="320040" y="2351736"/>
          <a:ext cx="11740896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822960"/>
                <a:gridCol w="713232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  <a:endParaRPr sz="105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1月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2月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3月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4月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5月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6月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7月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8月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微软雅黑"/>
                        </a:rPr>
                        <a:t>9月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10月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11月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微软雅黑"/>
                        </a:rPr>
                        <a:t>12月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年收益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月胜率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最大回撤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0.53%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-5.95%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4.98%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8.61%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13.73%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3.09%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-5.45%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26.18%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75.00%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-13.59%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-0.27%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-0.37%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-1.83%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1.41%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4.18%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1.49%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-2.98%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4.50%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-1.43%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-0.53%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2.79%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0.71%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7.64%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50.00%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-9.62%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-8.66%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-6.84%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-8.98%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4.27%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9.26%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-6.53%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-2.82%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6.49%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-2.26%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449"/>
                          </a:solidFill>
                          <a:latin typeface="微软雅黑"/>
                        </a:rPr>
                        <a:t>-18.52%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33.33%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-24.71%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6.45%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0.38%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-1.05%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-1.03%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-2.89%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1.63%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2.04%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-4.79%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-0.69%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-2.95%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0.78%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-1.53%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449"/>
                          </a:solidFill>
                          <a:latin typeface="微软雅黑"/>
                        </a:rPr>
                        <a:t>-4.04%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41.67%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-13.87%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-8.50%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8.12%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1.01%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1.68%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-0.54%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-3.91%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18.36%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12.65%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-13.46%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-1.18%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2.50%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1.30%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-2.33%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2.70%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4.28%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4.61%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8.43%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2.06%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0.70%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-1.91%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3.57%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27.13%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75.00%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-11.37%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5.92%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1.89%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-8.10%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8.01%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-9.89%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7.36%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-4.30%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2.57%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66.67%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-12.96%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成立以来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55.98%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55.56%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2C2C2A"/>
                          </a:solidFill>
                          <a:latin typeface="微软雅黑"/>
                        </a:rPr>
                        <a:t>-33.67%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248808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注：统计区间为2020年1月2日-2026年9月30日（日频）。计算夏普比例时，无风险收益按0%计。组合收益按年化1%费率逐日计提扣除。基金成立前用跟踪指数（价格指数）涨跌代替，成立后接续基金净值。季度末再平衡，未计交易费用。基准为中证全指全收益指数。</a:t>
            </a:r>
          </a:p>
        </p:txBody>
      </p:sp>
      <p:sp>
        <p:nvSpPr>
          <p:cNvPr id="7" name="TextBox 3"/>
          <p:cNvSpPr txBox="1"/>
          <p:nvPr/>
        </p:nvSpPr>
        <p:spPr>
          <a:xfrm>
            <a:off x="585216" y="491096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守正组合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月度绝对胜率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Connector 2"/>
          <p:cNvCxnSpPr/>
          <p:nvPr/>
        </p:nvCxnSpPr>
        <p:spPr>
          <a:xfrm>
            <a:off x="585216" y="1143000"/>
            <a:ext cx="11210544" cy="0"/>
          </a:xfrm>
          <a:prstGeom prst="line">
            <a:avLst/>
          </a:prstGeom>
          <a:ln w="19050">
            <a:solidFill>
              <a:srgbClr val="0137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4"/>
          <p:cNvSpPr/>
          <p:nvPr/>
        </p:nvSpPr>
        <p:spPr>
          <a:xfrm>
            <a:off x="713232" y="1325880"/>
            <a:ext cx="10607040" cy="7315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81个完整月度录得47个月(58.0%)超额为正（vs 中证全指全收益）。最高月度超额3.88%，最低月度超额-3.86%，平均月度超额0.10%。</a:t>
            </a:r>
          </a:p>
          <a:p>
            <a:r>
              <a:t>7个年度中6个年度为正超额。累计超额11.87pct，年化超额1.74pct，月度超额胜率58.0%。</a:t>
            </a:r>
          </a:p>
        </p:txBody>
      </p:sp>
      <p:graphicFrame>
        <p:nvGraphicFramePr>
          <p:cNvPr id="1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076064"/>
              </p:ext>
            </p:extLst>
          </p:nvPr>
        </p:nvGraphicFramePr>
        <p:xfrm>
          <a:off x="320040" y="2351736"/>
          <a:ext cx="11740896" cy="3630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713232"/>
                <a:gridCol w="822960"/>
                <a:gridCol w="713232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  <a:endParaRPr sz="105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1月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2月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3月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4月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5月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6月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7月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8月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微软雅黑"/>
                        </a:rPr>
                        <a:t>9月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10月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11月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微软雅黑"/>
                        </a:rPr>
                        <a:t>12月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年超额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超额月胜率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超额最大回撤</a:t>
                      </a:r>
                    </a:p>
                  </a:txBody>
                  <a:tcPr anchor="ctr">
                    <a:solidFill>
                      <a:srgbClr val="0137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0.42%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0.44%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0.05%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0.03%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0.32%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0.59%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-0.03%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-1.05%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1.29%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66.67%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-1.89%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-0.16%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-0.41%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1.44%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-0.71%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-0.77%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0.58%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0.46%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1.66%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-0.82%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-0.87%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0.14%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-0.62%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-0.06%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41.67%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-3.10%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0.78%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0.72%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-1.49%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-0.56%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0.55%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0.06%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1.12%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-0.02%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-1.47%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449"/>
                          </a:solidFill>
                          <a:latin typeface="微软雅黑"/>
                        </a:rPr>
                        <a:t>0.40%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58.33%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-2.83%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-1.03%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0.31%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-0.25%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0.41%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0.55%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-0.03%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-0.54%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0.90%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0.37%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-0.70%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0.60%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0.63%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449"/>
                          </a:solidFill>
                          <a:latin typeface="微软雅黑"/>
                        </a:rPr>
                        <a:t>1.30%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58.33%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-1.58%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3.88%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-1.61%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0.59%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1.21%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-1.12%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1.05%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-3.86%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-2.47%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0.69%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2.41%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2.68%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58.33%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-7.35%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1.18%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-2.13%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1.72%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0.91%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0.38%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-0.34%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-0.17%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-2.42%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-0.69%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0.74%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0.33%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0.22%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0.10%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58.33%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-3.72%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0.11%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0.59%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-0.61%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0.07%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-0.55%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3.12%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C0392B"/>
                          </a:solidFill>
                          <a:latin typeface="微软雅黑"/>
                        </a:rPr>
                        <a:t>2.17%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8449"/>
                          </a:solidFill>
                          <a:latin typeface="微软雅黑"/>
                        </a:rPr>
                        <a:t>0.95%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  <a:latin typeface="微软雅黑"/>
                        </a:rPr>
                        <a:t>5.88%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66.67%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-1.50%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成立以来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11.87%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C2C2A"/>
                          </a:solidFill>
                          <a:latin typeface="微软雅黑"/>
                        </a:rPr>
                        <a:t>58.02%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2C2C2A"/>
                          </a:solidFill>
                          <a:latin typeface="微软雅黑"/>
                        </a:rPr>
                        <a:t>-7.35%</a:t>
                      </a:r>
                    </a:p>
                  </a:txBody>
                  <a:tcPr anchor="ctr"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3"/>
          <p:cNvSpPr txBox="1"/>
          <p:nvPr/>
        </p:nvSpPr>
        <p:spPr>
          <a:xfrm>
            <a:off x="585216" y="491096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守正组合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月度超额胜率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66928" y="6248808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注：统计区间为2020年1月2日-2026年9月30日（日频）。计算夏普比例时，无风险收益按0%计。组合收益按年化1%费率逐日计提扣除。基金成立前用跟踪指数（价格指数）涨跌代替，成立后接续基金净值。季度末再平衡，未计交易费用。基准为中证全指全收益指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1082</Words>
  <Application>Microsoft Office PowerPoint</Application>
  <PresentationFormat>宽屏</PresentationFormat>
  <Paragraphs>382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白昕</dc:creator>
  <cp:keywords/>
  <dc:description>generated using python-pptx</dc:description>
  <cp:lastModifiedBy>白昕</cp:lastModifiedBy>
  <cp:revision>5</cp:revision>
  <dcterms:created xsi:type="dcterms:W3CDTF">2013-01-27T09:14:16Z</dcterms:created>
  <dcterms:modified xsi:type="dcterms:W3CDTF">2026-10-16T05:05:54Z</dcterms:modified>
  <cp:category/>
</cp:coreProperties>
</file>