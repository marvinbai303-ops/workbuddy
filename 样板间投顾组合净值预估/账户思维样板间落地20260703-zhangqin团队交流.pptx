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 id="2147483740" r:id="rId2"/>
    <p:sldMasterId id="2147483748" r:id="rId3"/>
  </p:sldMasterIdLst>
  <p:notesMasterIdLst>
    <p:notesMasterId r:id="rId35"/>
  </p:notesMasterIdLst>
  <p:sldIdLst>
    <p:sldId id="256" r:id="rId4"/>
    <p:sldId id="260" r:id="rId5"/>
    <p:sldId id="261" r:id="rId6"/>
    <p:sldId id="2147376497" r:id="rId7"/>
    <p:sldId id="2147376585" r:id="rId8"/>
    <p:sldId id="2147376565" r:id="rId9"/>
    <p:sldId id="2147376523" r:id="rId10"/>
    <p:sldId id="2147376577" r:id="rId11"/>
    <p:sldId id="2147376368" r:id="rId12"/>
    <p:sldId id="2147376369" r:id="rId13"/>
    <p:sldId id="2147376586" r:id="rId14"/>
    <p:sldId id="7373" r:id="rId15"/>
    <p:sldId id="2147376522" r:id="rId16"/>
    <p:sldId id="2147376507" r:id="rId17"/>
    <p:sldId id="2147376515" r:id="rId18"/>
    <p:sldId id="2147376578" r:id="rId19"/>
    <p:sldId id="294" r:id="rId20"/>
    <p:sldId id="2147376581" r:id="rId21"/>
    <p:sldId id="2147376571" r:id="rId22"/>
    <p:sldId id="2147376572" r:id="rId23"/>
    <p:sldId id="2147376495" r:id="rId24"/>
    <p:sldId id="2147376370" r:id="rId25"/>
    <p:sldId id="2147376582" r:id="rId26"/>
    <p:sldId id="2147376583" r:id="rId27"/>
    <p:sldId id="2147376584" r:id="rId28"/>
    <p:sldId id="2147376593" r:id="rId29"/>
    <p:sldId id="2147376594" r:id="rId30"/>
    <p:sldId id="2147376587" r:id="rId31"/>
    <p:sldId id="2147376591" r:id="rId32"/>
    <p:sldId id="2147376589" r:id="rId33"/>
    <p:sldId id="2147376590"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429" autoAdjust="0"/>
  </p:normalViewPr>
  <p:slideViewPr>
    <p:cSldViewPr snapToGrid="0">
      <p:cViewPr varScale="1">
        <p:scale>
          <a:sx n="103" d="100"/>
          <a:sy n="103" d="100"/>
        </p:scale>
        <p:origin x="29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liuxx02\Desktop\&#26679;&#26495;&#38388;version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liuxx02\Desktop\&#26679;&#26495;&#38388;version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结果页!$B$1</c:f>
              <c:strCache>
                <c:ptCount val="1"/>
                <c:pt idx="0">
                  <c:v>10-90组合净值（费后）</c:v>
                </c:pt>
              </c:strCache>
            </c:strRef>
          </c:tx>
          <c:spPr>
            <a:ln w="28575" cap="rnd">
              <a:solidFill>
                <a:schemeClr val="accent1"/>
              </a:solidFill>
              <a:round/>
            </a:ln>
            <a:effectLst/>
          </c:spPr>
          <c:marker>
            <c:symbol val="none"/>
          </c:marker>
          <c:dLbls>
            <c:dLbl>
              <c:idx val="1531"/>
              <c:layout>
                <c:manualLayout>
                  <c:x val="-6.7803769697395511E-3"/>
                  <c:y val="-6.0803158804619471E-2"/>
                </c:manualLayout>
              </c:layout>
              <c:tx>
                <c:rich>
                  <a:bodyPr rot="0" spcFirstLastPara="1" vertOverflow="ellipsis" vert="horz" wrap="square" lIns="38100" tIns="19050" rIns="38100" bIns="19050" anchor="ctr" anchorCtr="1">
                    <a:spAutoFit/>
                  </a:bodyPr>
                  <a:lstStyle/>
                  <a:p>
                    <a:pPr>
                      <a:defRPr sz="1600" b="1" i="0" u="none" strike="noStrike" kern="1200" baseline="0">
                        <a:solidFill>
                          <a:srgbClr val="C00000"/>
                        </a:solidFill>
                        <a:latin typeface="+mn-lt"/>
                        <a:ea typeface="+mn-ea"/>
                        <a:cs typeface="+mn-cs"/>
                      </a:defRPr>
                    </a:pPr>
                    <a:r>
                      <a:rPr lang="en-US" altLang="zh-CN" dirty="0"/>
                      <a:t>1.42</a:t>
                    </a:r>
                  </a:p>
                </c:rich>
              </c:tx>
              <c:numFmt formatCode="#,##0.00_);[Red]\(#,##0.00\)" sourceLinked="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C00000"/>
                      </a:solidFill>
                      <a:latin typeface="+mn-lt"/>
                      <a:ea typeface="+mn-ea"/>
                      <a:cs typeface="+mn-cs"/>
                    </a:defRPr>
                  </a:pPr>
                  <a:endParaRPr lang="zh-CN"/>
                </a:p>
              </c:txP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2054-4B39-97C0-5D10C2833171}"/>
                </c:ext>
                <c:ext xmlns:c15="http://schemas.microsoft.com/office/drawing/2012/chart" uri="{CE6537A1-D6FC-4f65-9D91-7224C49458BB}"/>
              </c:extLst>
            </c:dLbl>
            <c:numFmt formatCode="#,##0.00_);[Red]\(#,##0.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C00000"/>
                    </a:solidFill>
                    <a:latin typeface="+mn-lt"/>
                    <a:ea typeface="+mn-ea"/>
                    <a:cs typeface="+mn-cs"/>
                  </a:defRPr>
                </a:pPr>
                <a:endParaRPr lang="zh-CN"/>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结果页!$A$2:$A$1533</c:f>
              <c:strCache>
                <c:ptCount val="1532"/>
                <c:pt idx="0">
                  <c:v>2020-01-02</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2020-02-03</c:v>
                </c:pt>
                <c:pt idx="17">
                  <c:v>2020-02-04</c:v>
                </c:pt>
                <c:pt idx="18">
                  <c:v>2020-02-05</c:v>
                </c:pt>
                <c:pt idx="19">
                  <c:v>2020-02-06</c:v>
                </c:pt>
                <c:pt idx="20">
                  <c:v>2020-02-07</c:v>
                </c:pt>
                <c:pt idx="21">
                  <c:v>2020-02-10</c:v>
                </c:pt>
                <c:pt idx="22">
                  <c:v>2020-02-11</c:v>
                </c:pt>
                <c:pt idx="23">
                  <c:v>2020-02-12</c:v>
                </c:pt>
                <c:pt idx="24">
                  <c:v>2020-02-13</c:v>
                </c:pt>
                <c:pt idx="25">
                  <c:v>2020-02-14</c:v>
                </c:pt>
                <c:pt idx="26">
                  <c:v>2020-02-17</c:v>
                </c:pt>
                <c:pt idx="27">
                  <c:v>2020-02-18</c:v>
                </c:pt>
                <c:pt idx="28">
                  <c:v>2020-02-19</c:v>
                </c:pt>
                <c:pt idx="29">
                  <c:v>2020-02-20</c:v>
                </c:pt>
                <c:pt idx="30">
                  <c:v>2020-02-21</c:v>
                </c:pt>
                <c:pt idx="31">
                  <c:v>2020-02-24</c:v>
                </c:pt>
                <c:pt idx="32">
                  <c:v>2020-02-25</c:v>
                </c:pt>
                <c:pt idx="33">
                  <c:v>2020-02-26</c:v>
                </c:pt>
                <c:pt idx="34">
                  <c:v>2020-02-27</c:v>
                </c:pt>
                <c:pt idx="35">
                  <c:v>2020-02-28</c:v>
                </c:pt>
                <c:pt idx="36">
                  <c:v>2020-03-02</c:v>
                </c:pt>
                <c:pt idx="37">
                  <c:v>2020-03-03</c:v>
                </c:pt>
                <c:pt idx="38">
                  <c:v>2020-03-04</c:v>
                </c:pt>
                <c:pt idx="39">
                  <c:v>2020-03-05</c:v>
                </c:pt>
                <c:pt idx="40">
                  <c:v>2020-03-06</c:v>
                </c:pt>
                <c:pt idx="41">
                  <c:v>2020-03-09</c:v>
                </c:pt>
                <c:pt idx="42">
                  <c:v>2020-03-10</c:v>
                </c:pt>
                <c:pt idx="43">
                  <c:v>2020-03-11</c:v>
                </c:pt>
                <c:pt idx="44">
                  <c:v>2020-03-12</c:v>
                </c:pt>
                <c:pt idx="45">
                  <c:v>2020-03-13</c:v>
                </c:pt>
                <c:pt idx="46">
                  <c:v>2020-03-16</c:v>
                </c:pt>
                <c:pt idx="47">
                  <c:v>2020-03-17</c:v>
                </c:pt>
                <c:pt idx="48">
                  <c:v>2020-03-18</c:v>
                </c:pt>
                <c:pt idx="49">
                  <c:v>2020-03-19</c:v>
                </c:pt>
                <c:pt idx="50">
                  <c:v>2020-03-20</c:v>
                </c:pt>
                <c:pt idx="51">
                  <c:v>2020-03-23</c:v>
                </c:pt>
                <c:pt idx="52">
                  <c:v>2020-03-24</c:v>
                </c:pt>
                <c:pt idx="53">
                  <c:v>2020-03-25</c:v>
                </c:pt>
                <c:pt idx="54">
                  <c:v>2020-03-26</c:v>
                </c:pt>
                <c:pt idx="55">
                  <c:v>2020-03-27</c:v>
                </c:pt>
                <c:pt idx="56">
                  <c:v>2020-03-30</c:v>
                </c:pt>
                <c:pt idx="57">
                  <c:v>2020-03-31</c:v>
                </c:pt>
                <c:pt idx="58">
                  <c:v>2020-04-01</c:v>
                </c:pt>
                <c:pt idx="59">
                  <c:v>2020-04-02</c:v>
                </c:pt>
                <c:pt idx="60">
                  <c:v>2020-04-03</c:v>
                </c:pt>
                <c:pt idx="61">
                  <c:v>2020-04-07</c:v>
                </c:pt>
                <c:pt idx="62">
                  <c:v>2020-04-08</c:v>
                </c:pt>
                <c:pt idx="63">
                  <c:v>2020-04-09</c:v>
                </c:pt>
                <c:pt idx="64">
                  <c:v>2020-04-10</c:v>
                </c:pt>
                <c:pt idx="65">
                  <c:v>2020-04-13</c:v>
                </c:pt>
                <c:pt idx="66">
                  <c:v>2020-04-14</c:v>
                </c:pt>
                <c:pt idx="67">
                  <c:v>2020-04-15</c:v>
                </c:pt>
                <c:pt idx="68">
                  <c:v>2020-04-16</c:v>
                </c:pt>
                <c:pt idx="69">
                  <c:v>2020-04-17</c:v>
                </c:pt>
                <c:pt idx="70">
                  <c:v>2020-04-20</c:v>
                </c:pt>
                <c:pt idx="71">
                  <c:v>2020-04-21</c:v>
                </c:pt>
                <c:pt idx="72">
                  <c:v>2020-04-22</c:v>
                </c:pt>
                <c:pt idx="73">
                  <c:v>2020-04-23</c:v>
                </c:pt>
                <c:pt idx="74">
                  <c:v>2020-04-24</c:v>
                </c:pt>
                <c:pt idx="75">
                  <c:v>2020-04-27</c:v>
                </c:pt>
                <c:pt idx="76">
                  <c:v>2020-04-28</c:v>
                </c:pt>
                <c:pt idx="77">
                  <c:v>2020-04-29</c:v>
                </c:pt>
                <c:pt idx="78">
                  <c:v>2020-04-30</c:v>
                </c:pt>
                <c:pt idx="79">
                  <c:v>2020-05-06</c:v>
                </c:pt>
                <c:pt idx="80">
                  <c:v>2020-05-07</c:v>
                </c:pt>
                <c:pt idx="81">
                  <c:v>2020-05-08</c:v>
                </c:pt>
                <c:pt idx="82">
                  <c:v>2020-05-11</c:v>
                </c:pt>
                <c:pt idx="83">
                  <c:v>2020-05-12</c:v>
                </c:pt>
                <c:pt idx="84">
                  <c:v>2020-05-13</c:v>
                </c:pt>
                <c:pt idx="85">
                  <c:v>2020-05-14</c:v>
                </c:pt>
                <c:pt idx="86">
                  <c:v>2020-05-15</c:v>
                </c:pt>
                <c:pt idx="87">
                  <c:v>2020-05-18</c:v>
                </c:pt>
                <c:pt idx="88">
                  <c:v>2020-05-19</c:v>
                </c:pt>
                <c:pt idx="89">
                  <c:v>2020-05-20</c:v>
                </c:pt>
                <c:pt idx="90">
                  <c:v>2020-05-21</c:v>
                </c:pt>
                <c:pt idx="91">
                  <c:v>2020-05-22</c:v>
                </c:pt>
                <c:pt idx="92">
                  <c:v>2020-05-25</c:v>
                </c:pt>
                <c:pt idx="93">
                  <c:v>2020-05-26</c:v>
                </c:pt>
                <c:pt idx="94">
                  <c:v>2020-05-27</c:v>
                </c:pt>
                <c:pt idx="95">
                  <c:v>2020-05-28</c:v>
                </c:pt>
                <c:pt idx="96">
                  <c:v>2020-05-29</c:v>
                </c:pt>
                <c:pt idx="97">
                  <c:v>2020-06-01</c:v>
                </c:pt>
                <c:pt idx="98">
                  <c:v>2020-06-02</c:v>
                </c:pt>
                <c:pt idx="99">
                  <c:v>2020-06-03</c:v>
                </c:pt>
                <c:pt idx="100">
                  <c:v>2020-06-04</c:v>
                </c:pt>
                <c:pt idx="101">
                  <c:v>2020-06-05</c:v>
                </c:pt>
                <c:pt idx="102">
                  <c:v>2020-06-08</c:v>
                </c:pt>
                <c:pt idx="103">
                  <c:v>2020-06-09</c:v>
                </c:pt>
                <c:pt idx="104">
                  <c:v>2020-06-10</c:v>
                </c:pt>
                <c:pt idx="105">
                  <c:v>2020-06-11</c:v>
                </c:pt>
                <c:pt idx="106">
                  <c:v>2020-06-12</c:v>
                </c:pt>
                <c:pt idx="107">
                  <c:v>2020-06-15</c:v>
                </c:pt>
                <c:pt idx="108">
                  <c:v>2020-06-16</c:v>
                </c:pt>
                <c:pt idx="109">
                  <c:v>2020-06-17</c:v>
                </c:pt>
                <c:pt idx="110">
                  <c:v>2020-06-18</c:v>
                </c:pt>
                <c:pt idx="111">
                  <c:v>2020-06-19</c:v>
                </c:pt>
                <c:pt idx="112">
                  <c:v>2020-06-22</c:v>
                </c:pt>
                <c:pt idx="113">
                  <c:v>2020-06-23</c:v>
                </c:pt>
                <c:pt idx="114">
                  <c:v>2020-06-24</c:v>
                </c:pt>
                <c:pt idx="115">
                  <c:v>2020-06-29</c:v>
                </c:pt>
                <c:pt idx="116">
                  <c:v>2020-06-30</c:v>
                </c:pt>
                <c:pt idx="117">
                  <c:v>2020-07-01</c:v>
                </c:pt>
                <c:pt idx="118">
                  <c:v>2020-07-02</c:v>
                </c:pt>
                <c:pt idx="119">
                  <c:v>2020-07-03</c:v>
                </c:pt>
                <c:pt idx="120">
                  <c:v>2020-07-06</c:v>
                </c:pt>
                <c:pt idx="121">
                  <c:v>2020-07-07</c:v>
                </c:pt>
                <c:pt idx="122">
                  <c:v>2020-07-08</c:v>
                </c:pt>
                <c:pt idx="123">
                  <c:v>2020-07-09</c:v>
                </c:pt>
                <c:pt idx="124">
                  <c:v>2020-07-10</c:v>
                </c:pt>
                <c:pt idx="125">
                  <c:v>2020-07-13</c:v>
                </c:pt>
                <c:pt idx="126">
                  <c:v>2020-07-14</c:v>
                </c:pt>
                <c:pt idx="127">
                  <c:v>2020-07-15</c:v>
                </c:pt>
                <c:pt idx="128">
                  <c:v>2020-07-16</c:v>
                </c:pt>
                <c:pt idx="129">
                  <c:v>2020-07-17</c:v>
                </c:pt>
                <c:pt idx="130">
                  <c:v>2020-07-20</c:v>
                </c:pt>
                <c:pt idx="131">
                  <c:v>2020-07-21</c:v>
                </c:pt>
                <c:pt idx="132">
                  <c:v>2020-07-22</c:v>
                </c:pt>
                <c:pt idx="133">
                  <c:v>2020-07-23</c:v>
                </c:pt>
                <c:pt idx="134">
                  <c:v>2020-07-24</c:v>
                </c:pt>
                <c:pt idx="135">
                  <c:v>2020-07-27</c:v>
                </c:pt>
                <c:pt idx="136">
                  <c:v>2020-07-28</c:v>
                </c:pt>
                <c:pt idx="137">
                  <c:v>2020-07-29</c:v>
                </c:pt>
                <c:pt idx="138">
                  <c:v>2020-07-30</c:v>
                </c:pt>
                <c:pt idx="139">
                  <c:v>2020-07-31</c:v>
                </c:pt>
                <c:pt idx="140">
                  <c:v>2020-08-03</c:v>
                </c:pt>
                <c:pt idx="141">
                  <c:v>2020-08-04</c:v>
                </c:pt>
                <c:pt idx="142">
                  <c:v>2020-08-05</c:v>
                </c:pt>
                <c:pt idx="143">
                  <c:v>2020-08-06</c:v>
                </c:pt>
                <c:pt idx="144">
                  <c:v>2020-08-07</c:v>
                </c:pt>
                <c:pt idx="145">
                  <c:v>2020-08-10</c:v>
                </c:pt>
                <c:pt idx="146">
                  <c:v>2020-08-11</c:v>
                </c:pt>
                <c:pt idx="147">
                  <c:v>2020-08-12</c:v>
                </c:pt>
                <c:pt idx="148">
                  <c:v>2020-08-13</c:v>
                </c:pt>
                <c:pt idx="149">
                  <c:v>2020-08-14</c:v>
                </c:pt>
                <c:pt idx="150">
                  <c:v>2020-08-17</c:v>
                </c:pt>
                <c:pt idx="151">
                  <c:v>2020-08-18</c:v>
                </c:pt>
                <c:pt idx="152">
                  <c:v>2020-08-19</c:v>
                </c:pt>
                <c:pt idx="153">
                  <c:v>2020-08-20</c:v>
                </c:pt>
                <c:pt idx="154">
                  <c:v>2020-08-21</c:v>
                </c:pt>
                <c:pt idx="155">
                  <c:v>2020-08-24</c:v>
                </c:pt>
                <c:pt idx="156">
                  <c:v>2020-08-25</c:v>
                </c:pt>
                <c:pt idx="157">
                  <c:v>2020-08-26</c:v>
                </c:pt>
                <c:pt idx="158">
                  <c:v>2020-08-27</c:v>
                </c:pt>
                <c:pt idx="159">
                  <c:v>2020-08-28</c:v>
                </c:pt>
                <c:pt idx="160">
                  <c:v>2020-08-31</c:v>
                </c:pt>
                <c:pt idx="161">
                  <c:v>2020-09-01</c:v>
                </c:pt>
                <c:pt idx="162">
                  <c:v>2020-09-02</c:v>
                </c:pt>
                <c:pt idx="163">
                  <c:v>2020-09-03</c:v>
                </c:pt>
                <c:pt idx="164">
                  <c:v>2020-09-04</c:v>
                </c:pt>
                <c:pt idx="165">
                  <c:v>2020-09-07</c:v>
                </c:pt>
                <c:pt idx="166">
                  <c:v>2020-09-08</c:v>
                </c:pt>
                <c:pt idx="167">
                  <c:v>2020-09-09</c:v>
                </c:pt>
                <c:pt idx="168">
                  <c:v>2020-09-10</c:v>
                </c:pt>
                <c:pt idx="169">
                  <c:v>2020-09-11</c:v>
                </c:pt>
                <c:pt idx="170">
                  <c:v>2020-09-14</c:v>
                </c:pt>
                <c:pt idx="171">
                  <c:v>2020-09-15</c:v>
                </c:pt>
                <c:pt idx="172">
                  <c:v>2020-09-16</c:v>
                </c:pt>
                <c:pt idx="173">
                  <c:v>2020-09-17</c:v>
                </c:pt>
                <c:pt idx="174">
                  <c:v>2020-09-18</c:v>
                </c:pt>
                <c:pt idx="175">
                  <c:v>2020-09-21</c:v>
                </c:pt>
                <c:pt idx="176">
                  <c:v>2020-09-22</c:v>
                </c:pt>
                <c:pt idx="177">
                  <c:v>2020-09-23</c:v>
                </c:pt>
                <c:pt idx="178">
                  <c:v>2020-09-24</c:v>
                </c:pt>
                <c:pt idx="179">
                  <c:v>2020-09-25</c:v>
                </c:pt>
                <c:pt idx="180">
                  <c:v>2020-09-28</c:v>
                </c:pt>
                <c:pt idx="181">
                  <c:v>2020-09-29</c:v>
                </c:pt>
                <c:pt idx="182">
                  <c:v>2020-09-30</c:v>
                </c:pt>
                <c:pt idx="183">
                  <c:v>2020-10-09</c:v>
                </c:pt>
                <c:pt idx="184">
                  <c:v>2020-10-12</c:v>
                </c:pt>
                <c:pt idx="185">
                  <c:v>2020-10-13</c:v>
                </c:pt>
                <c:pt idx="186">
                  <c:v>2020-10-14</c:v>
                </c:pt>
                <c:pt idx="187">
                  <c:v>2020-10-15</c:v>
                </c:pt>
                <c:pt idx="188">
                  <c:v>2020-10-16</c:v>
                </c:pt>
                <c:pt idx="189">
                  <c:v>2020-10-19</c:v>
                </c:pt>
                <c:pt idx="190">
                  <c:v>2020-10-20</c:v>
                </c:pt>
                <c:pt idx="191">
                  <c:v>2020-10-21</c:v>
                </c:pt>
                <c:pt idx="192">
                  <c:v>2020-10-22</c:v>
                </c:pt>
                <c:pt idx="193">
                  <c:v>2020-10-23</c:v>
                </c:pt>
                <c:pt idx="194">
                  <c:v>2020-10-26</c:v>
                </c:pt>
                <c:pt idx="195">
                  <c:v>2020-10-27</c:v>
                </c:pt>
                <c:pt idx="196">
                  <c:v>2020-10-28</c:v>
                </c:pt>
                <c:pt idx="197">
                  <c:v>2020-10-29</c:v>
                </c:pt>
                <c:pt idx="198">
                  <c:v>2020-10-30</c:v>
                </c:pt>
                <c:pt idx="199">
                  <c:v>2020-11-02</c:v>
                </c:pt>
                <c:pt idx="200">
                  <c:v>2020-11-03</c:v>
                </c:pt>
                <c:pt idx="201">
                  <c:v>2020-11-04</c:v>
                </c:pt>
                <c:pt idx="202">
                  <c:v>2020-11-05</c:v>
                </c:pt>
                <c:pt idx="203">
                  <c:v>2020-11-06</c:v>
                </c:pt>
                <c:pt idx="204">
                  <c:v>2020-11-09</c:v>
                </c:pt>
                <c:pt idx="205">
                  <c:v>2020-11-10</c:v>
                </c:pt>
                <c:pt idx="206">
                  <c:v>2020-11-11</c:v>
                </c:pt>
                <c:pt idx="207">
                  <c:v>2020-11-12</c:v>
                </c:pt>
                <c:pt idx="208">
                  <c:v>2020-11-13</c:v>
                </c:pt>
                <c:pt idx="209">
                  <c:v>2020-11-16</c:v>
                </c:pt>
                <c:pt idx="210">
                  <c:v>2020-11-17</c:v>
                </c:pt>
                <c:pt idx="211">
                  <c:v>2020-11-18</c:v>
                </c:pt>
                <c:pt idx="212">
                  <c:v>2020-11-19</c:v>
                </c:pt>
                <c:pt idx="213">
                  <c:v>2020-11-20</c:v>
                </c:pt>
                <c:pt idx="214">
                  <c:v>2020-11-23</c:v>
                </c:pt>
                <c:pt idx="215">
                  <c:v>2020-11-24</c:v>
                </c:pt>
                <c:pt idx="216">
                  <c:v>2020-11-25</c:v>
                </c:pt>
                <c:pt idx="217">
                  <c:v>2020-11-26</c:v>
                </c:pt>
                <c:pt idx="218">
                  <c:v>2020-11-27</c:v>
                </c:pt>
                <c:pt idx="219">
                  <c:v>2020-11-30</c:v>
                </c:pt>
                <c:pt idx="220">
                  <c:v>2020-12-01</c:v>
                </c:pt>
                <c:pt idx="221">
                  <c:v>2020-12-02</c:v>
                </c:pt>
                <c:pt idx="222">
                  <c:v>2020-12-03</c:v>
                </c:pt>
                <c:pt idx="223">
                  <c:v>2020-12-04</c:v>
                </c:pt>
                <c:pt idx="224">
                  <c:v>2020-12-07</c:v>
                </c:pt>
                <c:pt idx="225">
                  <c:v>2020-12-08</c:v>
                </c:pt>
                <c:pt idx="226">
                  <c:v>2020-12-09</c:v>
                </c:pt>
                <c:pt idx="227">
                  <c:v>2020-12-10</c:v>
                </c:pt>
                <c:pt idx="228">
                  <c:v>2020-12-11</c:v>
                </c:pt>
                <c:pt idx="229">
                  <c:v>2020-12-14</c:v>
                </c:pt>
                <c:pt idx="230">
                  <c:v>2020-12-15</c:v>
                </c:pt>
                <c:pt idx="231">
                  <c:v>2020-12-16</c:v>
                </c:pt>
                <c:pt idx="232">
                  <c:v>2020-12-17</c:v>
                </c:pt>
                <c:pt idx="233">
                  <c:v>2020-12-18</c:v>
                </c:pt>
                <c:pt idx="234">
                  <c:v>2020-12-21</c:v>
                </c:pt>
                <c:pt idx="235">
                  <c:v>2020-12-22</c:v>
                </c:pt>
                <c:pt idx="236">
                  <c:v>2020-12-23</c:v>
                </c:pt>
                <c:pt idx="237">
                  <c:v>2020-12-24</c:v>
                </c:pt>
                <c:pt idx="238">
                  <c:v>2020-12-25</c:v>
                </c:pt>
                <c:pt idx="239">
                  <c:v>2020-12-28</c:v>
                </c:pt>
                <c:pt idx="240">
                  <c:v>2020-12-29</c:v>
                </c:pt>
                <c:pt idx="241">
                  <c:v>2020-12-30</c:v>
                </c:pt>
                <c:pt idx="242">
                  <c:v>2020-12-31</c:v>
                </c:pt>
                <c:pt idx="243">
                  <c:v>2021-01-04</c:v>
                </c:pt>
                <c:pt idx="244">
                  <c:v>2021-01-05</c:v>
                </c:pt>
                <c:pt idx="245">
                  <c:v>2021-01-06</c:v>
                </c:pt>
                <c:pt idx="246">
                  <c:v>2021-01-07</c:v>
                </c:pt>
                <c:pt idx="247">
                  <c:v>2021-01-08</c:v>
                </c:pt>
                <c:pt idx="248">
                  <c:v>2021-01-11</c:v>
                </c:pt>
                <c:pt idx="249">
                  <c:v>2021-01-12</c:v>
                </c:pt>
                <c:pt idx="250">
                  <c:v>2021-01-13</c:v>
                </c:pt>
                <c:pt idx="251">
                  <c:v>2021-01-14</c:v>
                </c:pt>
                <c:pt idx="252">
                  <c:v>2021-01-15</c:v>
                </c:pt>
                <c:pt idx="253">
                  <c:v>2021-01-18</c:v>
                </c:pt>
                <c:pt idx="254">
                  <c:v>2021-01-19</c:v>
                </c:pt>
                <c:pt idx="255">
                  <c:v>2021-01-20</c:v>
                </c:pt>
                <c:pt idx="256">
                  <c:v>2021-01-21</c:v>
                </c:pt>
                <c:pt idx="257">
                  <c:v>2021-01-22</c:v>
                </c:pt>
                <c:pt idx="258">
                  <c:v>2021-01-25</c:v>
                </c:pt>
                <c:pt idx="259">
                  <c:v>2021-01-26</c:v>
                </c:pt>
                <c:pt idx="260">
                  <c:v>2021-01-27</c:v>
                </c:pt>
                <c:pt idx="261">
                  <c:v>2021-01-28</c:v>
                </c:pt>
                <c:pt idx="262">
                  <c:v>2021-01-29</c:v>
                </c:pt>
                <c:pt idx="263">
                  <c:v>2021-02-01</c:v>
                </c:pt>
                <c:pt idx="264">
                  <c:v>2021-02-02</c:v>
                </c:pt>
                <c:pt idx="265">
                  <c:v>2021-02-03</c:v>
                </c:pt>
                <c:pt idx="266">
                  <c:v>2021-02-04</c:v>
                </c:pt>
                <c:pt idx="267">
                  <c:v>2021-02-05</c:v>
                </c:pt>
                <c:pt idx="268">
                  <c:v>2021-02-08</c:v>
                </c:pt>
                <c:pt idx="269">
                  <c:v>2021-02-09</c:v>
                </c:pt>
                <c:pt idx="270">
                  <c:v>2021-02-10</c:v>
                </c:pt>
                <c:pt idx="271">
                  <c:v>2021-02-18</c:v>
                </c:pt>
                <c:pt idx="272">
                  <c:v>2021-02-19</c:v>
                </c:pt>
                <c:pt idx="273">
                  <c:v>2021-02-22</c:v>
                </c:pt>
                <c:pt idx="274">
                  <c:v>2021-02-23</c:v>
                </c:pt>
                <c:pt idx="275">
                  <c:v>2021-02-24</c:v>
                </c:pt>
                <c:pt idx="276">
                  <c:v>2021-02-25</c:v>
                </c:pt>
                <c:pt idx="277">
                  <c:v>2021-02-26</c:v>
                </c:pt>
                <c:pt idx="278">
                  <c:v>2021-03-01</c:v>
                </c:pt>
                <c:pt idx="279">
                  <c:v>2021-03-02</c:v>
                </c:pt>
                <c:pt idx="280">
                  <c:v>2021-03-03</c:v>
                </c:pt>
                <c:pt idx="281">
                  <c:v>2021-03-04</c:v>
                </c:pt>
                <c:pt idx="282">
                  <c:v>2021-03-05</c:v>
                </c:pt>
                <c:pt idx="283">
                  <c:v>2021-03-08</c:v>
                </c:pt>
                <c:pt idx="284">
                  <c:v>2021-03-09</c:v>
                </c:pt>
                <c:pt idx="285">
                  <c:v>2021-03-10</c:v>
                </c:pt>
                <c:pt idx="286">
                  <c:v>2021-03-11</c:v>
                </c:pt>
                <c:pt idx="287">
                  <c:v>2021-03-12</c:v>
                </c:pt>
                <c:pt idx="288">
                  <c:v>2021-03-15</c:v>
                </c:pt>
                <c:pt idx="289">
                  <c:v>2021-03-16</c:v>
                </c:pt>
                <c:pt idx="290">
                  <c:v>2021-03-17</c:v>
                </c:pt>
                <c:pt idx="291">
                  <c:v>2021-03-18</c:v>
                </c:pt>
                <c:pt idx="292">
                  <c:v>2021-03-19</c:v>
                </c:pt>
                <c:pt idx="293">
                  <c:v>2021-03-22</c:v>
                </c:pt>
                <c:pt idx="294">
                  <c:v>2021-03-23</c:v>
                </c:pt>
                <c:pt idx="295">
                  <c:v>2021-03-24</c:v>
                </c:pt>
                <c:pt idx="296">
                  <c:v>2021-03-25</c:v>
                </c:pt>
                <c:pt idx="297">
                  <c:v>2021-03-26</c:v>
                </c:pt>
                <c:pt idx="298">
                  <c:v>2021-03-29</c:v>
                </c:pt>
                <c:pt idx="299">
                  <c:v>2021-03-30</c:v>
                </c:pt>
                <c:pt idx="300">
                  <c:v>2021-03-31</c:v>
                </c:pt>
                <c:pt idx="301">
                  <c:v>2021-04-01</c:v>
                </c:pt>
                <c:pt idx="302">
                  <c:v>2021-04-02</c:v>
                </c:pt>
                <c:pt idx="303">
                  <c:v>2021-04-06</c:v>
                </c:pt>
                <c:pt idx="304">
                  <c:v>2021-04-07</c:v>
                </c:pt>
                <c:pt idx="305">
                  <c:v>2021-04-08</c:v>
                </c:pt>
                <c:pt idx="306">
                  <c:v>2021-04-09</c:v>
                </c:pt>
                <c:pt idx="307">
                  <c:v>2021-04-12</c:v>
                </c:pt>
                <c:pt idx="308">
                  <c:v>2021-04-13</c:v>
                </c:pt>
                <c:pt idx="309">
                  <c:v>2021-04-14</c:v>
                </c:pt>
                <c:pt idx="310">
                  <c:v>2021-04-15</c:v>
                </c:pt>
                <c:pt idx="311">
                  <c:v>2021-04-16</c:v>
                </c:pt>
                <c:pt idx="312">
                  <c:v>2021-04-19</c:v>
                </c:pt>
                <c:pt idx="313">
                  <c:v>2021-04-20</c:v>
                </c:pt>
                <c:pt idx="314">
                  <c:v>2021-04-21</c:v>
                </c:pt>
                <c:pt idx="315">
                  <c:v>2021-04-22</c:v>
                </c:pt>
                <c:pt idx="316">
                  <c:v>2021-04-23</c:v>
                </c:pt>
                <c:pt idx="317">
                  <c:v>2021-04-26</c:v>
                </c:pt>
                <c:pt idx="318">
                  <c:v>2021-04-27</c:v>
                </c:pt>
                <c:pt idx="319">
                  <c:v>2021-04-28</c:v>
                </c:pt>
                <c:pt idx="320">
                  <c:v>2021-04-29</c:v>
                </c:pt>
                <c:pt idx="321">
                  <c:v>2021-04-30</c:v>
                </c:pt>
                <c:pt idx="322">
                  <c:v>2021-05-06</c:v>
                </c:pt>
                <c:pt idx="323">
                  <c:v>2021-05-07</c:v>
                </c:pt>
                <c:pt idx="324">
                  <c:v>2021-05-10</c:v>
                </c:pt>
                <c:pt idx="325">
                  <c:v>2021-05-11</c:v>
                </c:pt>
                <c:pt idx="326">
                  <c:v>2021-05-12</c:v>
                </c:pt>
                <c:pt idx="327">
                  <c:v>2021-05-13</c:v>
                </c:pt>
                <c:pt idx="328">
                  <c:v>2021-05-14</c:v>
                </c:pt>
                <c:pt idx="329">
                  <c:v>2021-05-17</c:v>
                </c:pt>
                <c:pt idx="330">
                  <c:v>2021-05-18</c:v>
                </c:pt>
                <c:pt idx="331">
                  <c:v>2021-05-19</c:v>
                </c:pt>
                <c:pt idx="332">
                  <c:v>2021-05-20</c:v>
                </c:pt>
                <c:pt idx="333">
                  <c:v>2021-05-21</c:v>
                </c:pt>
                <c:pt idx="334">
                  <c:v>2021-05-24</c:v>
                </c:pt>
                <c:pt idx="335">
                  <c:v>2021-05-25</c:v>
                </c:pt>
                <c:pt idx="336">
                  <c:v>2021-05-26</c:v>
                </c:pt>
                <c:pt idx="337">
                  <c:v>2021-05-27</c:v>
                </c:pt>
                <c:pt idx="338">
                  <c:v>2021-05-28</c:v>
                </c:pt>
                <c:pt idx="339">
                  <c:v>2021-05-31</c:v>
                </c:pt>
                <c:pt idx="340">
                  <c:v>2021-06-01</c:v>
                </c:pt>
                <c:pt idx="341">
                  <c:v>2021-06-02</c:v>
                </c:pt>
                <c:pt idx="342">
                  <c:v>2021-06-03</c:v>
                </c:pt>
                <c:pt idx="343">
                  <c:v>2021-06-04</c:v>
                </c:pt>
                <c:pt idx="344">
                  <c:v>2021-06-07</c:v>
                </c:pt>
                <c:pt idx="345">
                  <c:v>2021-06-08</c:v>
                </c:pt>
                <c:pt idx="346">
                  <c:v>2021-06-09</c:v>
                </c:pt>
                <c:pt idx="347">
                  <c:v>2021-06-10</c:v>
                </c:pt>
                <c:pt idx="348">
                  <c:v>2021-06-11</c:v>
                </c:pt>
                <c:pt idx="349">
                  <c:v>2021-06-15</c:v>
                </c:pt>
                <c:pt idx="350">
                  <c:v>2021-06-16</c:v>
                </c:pt>
                <c:pt idx="351">
                  <c:v>2021-06-17</c:v>
                </c:pt>
                <c:pt idx="352">
                  <c:v>2021-06-18</c:v>
                </c:pt>
                <c:pt idx="353">
                  <c:v>2021-06-21</c:v>
                </c:pt>
                <c:pt idx="354">
                  <c:v>2021-06-22</c:v>
                </c:pt>
                <c:pt idx="355">
                  <c:v>2021-06-23</c:v>
                </c:pt>
                <c:pt idx="356">
                  <c:v>2021-06-24</c:v>
                </c:pt>
                <c:pt idx="357">
                  <c:v>2021-06-25</c:v>
                </c:pt>
                <c:pt idx="358">
                  <c:v>2021-06-28</c:v>
                </c:pt>
                <c:pt idx="359">
                  <c:v>2021-06-29</c:v>
                </c:pt>
                <c:pt idx="360">
                  <c:v>2021-06-30</c:v>
                </c:pt>
                <c:pt idx="361">
                  <c:v>2021-07-01</c:v>
                </c:pt>
                <c:pt idx="362">
                  <c:v>2021-07-02</c:v>
                </c:pt>
                <c:pt idx="363">
                  <c:v>2021-07-05</c:v>
                </c:pt>
                <c:pt idx="364">
                  <c:v>2021-07-06</c:v>
                </c:pt>
                <c:pt idx="365">
                  <c:v>2021-07-07</c:v>
                </c:pt>
                <c:pt idx="366">
                  <c:v>2021-07-08</c:v>
                </c:pt>
                <c:pt idx="367">
                  <c:v>2021-07-09</c:v>
                </c:pt>
                <c:pt idx="368">
                  <c:v>2021-07-12</c:v>
                </c:pt>
                <c:pt idx="369">
                  <c:v>2021-07-13</c:v>
                </c:pt>
                <c:pt idx="370">
                  <c:v>2021-07-14</c:v>
                </c:pt>
                <c:pt idx="371">
                  <c:v>2021-07-15</c:v>
                </c:pt>
                <c:pt idx="372">
                  <c:v>2021-07-16</c:v>
                </c:pt>
                <c:pt idx="373">
                  <c:v>2021-07-19</c:v>
                </c:pt>
                <c:pt idx="374">
                  <c:v>2021-07-20</c:v>
                </c:pt>
                <c:pt idx="375">
                  <c:v>2021-07-21</c:v>
                </c:pt>
                <c:pt idx="376">
                  <c:v>2021-07-22</c:v>
                </c:pt>
                <c:pt idx="377">
                  <c:v>2021-07-23</c:v>
                </c:pt>
                <c:pt idx="378">
                  <c:v>2021-07-26</c:v>
                </c:pt>
                <c:pt idx="379">
                  <c:v>2021-07-27</c:v>
                </c:pt>
                <c:pt idx="380">
                  <c:v>2021-07-28</c:v>
                </c:pt>
                <c:pt idx="381">
                  <c:v>2021-07-29</c:v>
                </c:pt>
                <c:pt idx="382">
                  <c:v>2021-07-30</c:v>
                </c:pt>
                <c:pt idx="383">
                  <c:v>2021-08-02</c:v>
                </c:pt>
                <c:pt idx="384">
                  <c:v>2021-08-03</c:v>
                </c:pt>
                <c:pt idx="385">
                  <c:v>2021-08-04</c:v>
                </c:pt>
                <c:pt idx="386">
                  <c:v>2021-08-05</c:v>
                </c:pt>
                <c:pt idx="387">
                  <c:v>2021-08-06</c:v>
                </c:pt>
                <c:pt idx="388">
                  <c:v>2021-08-09</c:v>
                </c:pt>
                <c:pt idx="389">
                  <c:v>2021-08-10</c:v>
                </c:pt>
                <c:pt idx="390">
                  <c:v>2021-08-11</c:v>
                </c:pt>
                <c:pt idx="391">
                  <c:v>2021-08-12</c:v>
                </c:pt>
                <c:pt idx="392">
                  <c:v>2021-08-13</c:v>
                </c:pt>
                <c:pt idx="393">
                  <c:v>2021-08-16</c:v>
                </c:pt>
                <c:pt idx="394">
                  <c:v>2021-08-17</c:v>
                </c:pt>
                <c:pt idx="395">
                  <c:v>2021-08-18</c:v>
                </c:pt>
                <c:pt idx="396">
                  <c:v>2021-08-19</c:v>
                </c:pt>
                <c:pt idx="397">
                  <c:v>2021-08-20</c:v>
                </c:pt>
                <c:pt idx="398">
                  <c:v>2021-08-23</c:v>
                </c:pt>
                <c:pt idx="399">
                  <c:v>2021-08-24</c:v>
                </c:pt>
                <c:pt idx="400">
                  <c:v>2021-08-25</c:v>
                </c:pt>
                <c:pt idx="401">
                  <c:v>2021-08-26</c:v>
                </c:pt>
                <c:pt idx="402">
                  <c:v>2021-08-27</c:v>
                </c:pt>
                <c:pt idx="403">
                  <c:v>2021-08-30</c:v>
                </c:pt>
                <c:pt idx="404">
                  <c:v>2021-08-31</c:v>
                </c:pt>
                <c:pt idx="405">
                  <c:v>2021-09-01</c:v>
                </c:pt>
                <c:pt idx="406">
                  <c:v>2021-09-02</c:v>
                </c:pt>
                <c:pt idx="407">
                  <c:v>2021-09-03</c:v>
                </c:pt>
                <c:pt idx="408">
                  <c:v>2021-09-06</c:v>
                </c:pt>
                <c:pt idx="409">
                  <c:v>2021-09-07</c:v>
                </c:pt>
                <c:pt idx="410">
                  <c:v>2021-09-08</c:v>
                </c:pt>
                <c:pt idx="411">
                  <c:v>2021-09-09</c:v>
                </c:pt>
                <c:pt idx="412">
                  <c:v>2021-09-10</c:v>
                </c:pt>
                <c:pt idx="413">
                  <c:v>2021-09-13</c:v>
                </c:pt>
                <c:pt idx="414">
                  <c:v>2021-09-14</c:v>
                </c:pt>
                <c:pt idx="415">
                  <c:v>2021-09-15</c:v>
                </c:pt>
                <c:pt idx="416">
                  <c:v>2021-09-16</c:v>
                </c:pt>
                <c:pt idx="417">
                  <c:v>2021-09-17</c:v>
                </c:pt>
                <c:pt idx="418">
                  <c:v>2021-09-22</c:v>
                </c:pt>
                <c:pt idx="419">
                  <c:v>2021-09-23</c:v>
                </c:pt>
                <c:pt idx="420">
                  <c:v>2021-09-24</c:v>
                </c:pt>
                <c:pt idx="421">
                  <c:v>2021-09-27</c:v>
                </c:pt>
                <c:pt idx="422">
                  <c:v>2021-09-28</c:v>
                </c:pt>
                <c:pt idx="423">
                  <c:v>2021-09-29</c:v>
                </c:pt>
                <c:pt idx="424">
                  <c:v>2021-09-30</c:v>
                </c:pt>
                <c:pt idx="425">
                  <c:v>2021-10-08</c:v>
                </c:pt>
                <c:pt idx="426">
                  <c:v>2021-10-11</c:v>
                </c:pt>
                <c:pt idx="427">
                  <c:v>2021-10-12</c:v>
                </c:pt>
                <c:pt idx="428">
                  <c:v>2021-10-13</c:v>
                </c:pt>
                <c:pt idx="429">
                  <c:v>2021-10-14</c:v>
                </c:pt>
                <c:pt idx="430">
                  <c:v>2021-10-15</c:v>
                </c:pt>
                <c:pt idx="431">
                  <c:v>2021-10-18</c:v>
                </c:pt>
                <c:pt idx="432">
                  <c:v>2021-10-19</c:v>
                </c:pt>
                <c:pt idx="433">
                  <c:v>2021-10-20</c:v>
                </c:pt>
                <c:pt idx="434">
                  <c:v>2021-10-21</c:v>
                </c:pt>
                <c:pt idx="435">
                  <c:v>2021-10-22</c:v>
                </c:pt>
                <c:pt idx="436">
                  <c:v>2021-10-25</c:v>
                </c:pt>
                <c:pt idx="437">
                  <c:v>2021-10-26</c:v>
                </c:pt>
                <c:pt idx="438">
                  <c:v>2021-10-27</c:v>
                </c:pt>
                <c:pt idx="439">
                  <c:v>2021-10-28</c:v>
                </c:pt>
                <c:pt idx="440">
                  <c:v>2021-10-29</c:v>
                </c:pt>
                <c:pt idx="441">
                  <c:v>2021-11-01</c:v>
                </c:pt>
                <c:pt idx="442">
                  <c:v>2021-11-02</c:v>
                </c:pt>
                <c:pt idx="443">
                  <c:v>2021-11-03</c:v>
                </c:pt>
                <c:pt idx="444">
                  <c:v>2021-11-04</c:v>
                </c:pt>
                <c:pt idx="445">
                  <c:v>2021-11-05</c:v>
                </c:pt>
                <c:pt idx="446">
                  <c:v>2021-11-08</c:v>
                </c:pt>
                <c:pt idx="447">
                  <c:v>2021-11-09</c:v>
                </c:pt>
                <c:pt idx="448">
                  <c:v>2021-11-10</c:v>
                </c:pt>
                <c:pt idx="449">
                  <c:v>2021-11-11</c:v>
                </c:pt>
                <c:pt idx="450">
                  <c:v>2021-11-12</c:v>
                </c:pt>
                <c:pt idx="451">
                  <c:v>2021-11-15</c:v>
                </c:pt>
                <c:pt idx="452">
                  <c:v>2021-11-16</c:v>
                </c:pt>
                <c:pt idx="453">
                  <c:v>2021-11-17</c:v>
                </c:pt>
                <c:pt idx="454">
                  <c:v>2021-11-18</c:v>
                </c:pt>
                <c:pt idx="455">
                  <c:v>2021-11-19</c:v>
                </c:pt>
                <c:pt idx="456">
                  <c:v>2021-11-22</c:v>
                </c:pt>
                <c:pt idx="457">
                  <c:v>2021-11-23</c:v>
                </c:pt>
                <c:pt idx="458">
                  <c:v>2021-11-24</c:v>
                </c:pt>
                <c:pt idx="459">
                  <c:v>2021-11-25</c:v>
                </c:pt>
                <c:pt idx="460">
                  <c:v>2021-11-26</c:v>
                </c:pt>
                <c:pt idx="461">
                  <c:v>2021-11-29</c:v>
                </c:pt>
                <c:pt idx="462">
                  <c:v>2021-11-30</c:v>
                </c:pt>
                <c:pt idx="463">
                  <c:v>2021-12-01</c:v>
                </c:pt>
                <c:pt idx="464">
                  <c:v>2021-12-02</c:v>
                </c:pt>
                <c:pt idx="465">
                  <c:v>2021-12-03</c:v>
                </c:pt>
                <c:pt idx="466">
                  <c:v>2021-12-06</c:v>
                </c:pt>
                <c:pt idx="467">
                  <c:v>2021-12-07</c:v>
                </c:pt>
                <c:pt idx="468">
                  <c:v>2021-12-08</c:v>
                </c:pt>
                <c:pt idx="469">
                  <c:v>2021-12-09</c:v>
                </c:pt>
                <c:pt idx="470">
                  <c:v>2021-12-10</c:v>
                </c:pt>
                <c:pt idx="471">
                  <c:v>2021-12-13</c:v>
                </c:pt>
                <c:pt idx="472">
                  <c:v>2021-12-14</c:v>
                </c:pt>
                <c:pt idx="473">
                  <c:v>2021-12-15</c:v>
                </c:pt>
                <c:pt idx="474">
                  <c:v>2021-12-16</c:v>
                </c:pt>
                <c:pt idx="475">
                  <c:v>2021-12-17</c:v>
                </c:pt>
                <c:pt idx="476">
                  <c:v>2021-12-20</c:v>
                </c:pt>
                <c:pt idx="477">
                  <c:v>2021-12-21</c:v>
                </c:pt>
                <c:pt idx="478">
                  <c:v>2021-12-22</c:v>
                </c:pt>
                <c:pt idx="479">
                  <c:v>2021-12-23</c:v>
                </c:pt>
                <c:pt idx="480">
                  <c:v>2021-12-24</c:v>
                </c:pt>
                <c:pt idx="481">
                  <c:v>2021-12-27</c:v>
                </c:pt>
                <c:pt idx="482">
                  <c:v>2021-12-28</c:v>
                </c:pt>
                <c:pt idx="483">
                  <c:v>2021-12-29</c:v>
                </c:pt>
                <c:pt idx="484">
                  <c:v>2021-12-30</c:v>
                </c:pt>
                <c:pt idx="485">
                  <c:v>2021-12-31</c:v>
                </c:pt>
                <c:pt idx="486">
                  <c:v>2022-01-04</c:v>
                </c:pt>
                <c:pt idx="487">
                  <c:v>2022-01-05</c:v>
                </c:pt>
                <c:pt idx="488">
                  <c:v>2022-01-06</c:v>
                </c:pt>
                <c:pt idx="489">
                  <c:v>2022-01-07</c:v>
                </c:pt>
                <c:pt idx="490">
                  <c:v>2022-01-10</c:v>
                </c:pt>
                <c:pt idx="491">
                  <c:v>2022-01-11</c:v>
                </c:pt>
                <c:pt idx="492">
                  <c:v>2022-01-12</c:v>
                </c:pt>
                <c:pt idx="493">
                  <c:v>2022-01-13</c:v>
                </c:pt>
                <c:pt idx="494">
                  <c:v>2022-01-14</c:v>
                </c:pt>
                <c:pt idx="495">
                  <c:v>2022-01-17</c:v>
                </c:pt>
                <c:pt idx="496">
                  <c:v>2022-01-18</c:v>
                </c:pt>
                <c:pt idx="497">
                  <c:v>2022-01-19</c:v>
                </c:pt>
                <c:pt idx="498">
                  <c:v>2022-01-20</c:v>
                </c:pt>
                <c:pt idx="499">
                  <c:v>2022-01-21</c:v>
                </c:pt>
                <c:pt idx="500">
                  <c:v>2022-01-24</c:v>
                </c:pt>
                <c:pt idx="501">
                  <c:v>2022-01-25</c:v>
                </c:pt>
                <c:pt idx="502">
                  <c:v>2022-01-26</c:v>
                </c:pt>
                <c:pt idx="503">
                  <c:v>2022-01-27</c:v>
                </c:pt>
                <c:pt idx="504">
                  <c:v>2022-01-28</c:v>
                </c:pt>
                <c:pt idx="505">
                  <c:v>2022-02-07</c:v>
                </c:pt>
                <c:pt idx="506">
                  <c:v>2022-02-08</c:v>
                </c:pt>
                <c:pt idx="507">
                  <c:v>2022-02-09</c:v>
                </c:pt>
                <c:pt idx="508">
                  <c:v>2022-02-10</c:v>
                </c:pt>
                <c:pt idx="509">
                  <c:v>2022-02-11</c:v>
                </c:pt>
                <c:pt idx="510">
                  <c:v>2022-02-14</c:v>
                </c:pt>
                <c:pt idx="511">
                  <c:v>2022-02-15</c:v>
                </c:pt>
                <c:pt idx="512">
                  <c:v>2022-02-16</c:v>
                </c:pt>
                <c:pt idx="513">
                  <c:v>2022-02-17</c:v>
                </c:pt>
                <c:pt idx="514">
                  <c:v>2022-02-18</c:v>
                </c:pt>
                <c:pt idx="515">
                  <c:v>2022-02-21</c:v>
                </c:pt>
                <c:pt idx="516">
                  <c:v>2022-02-22</c:v>
                </c:pt>
                <c:pt idx="517">
                  <c:v>2022-02-23</c:v>
                </c:pt>
                <c:pt idx="518">
                  <c:v>2022-02-24</c:v>
                </c:pt>
                <c:pt idx="519">
                  <c:v>2022-02-25</c:v>
                </c:pt>
                <c:pt idx="520">
                  <c:v>2022-02-28</c:v>
                </c:pt>
                <c:pt idx="521">
                  <c:v>2022-03-01</c:v>
                </c:pt>
                <c:pt idx="522">
                  <c:v>2022-03-02</c:v>
                </c:pt>
                <c:pt idx="523">
                  <c:v>2022-03-03</c:v>
                </c:pt>
                <c:pt idx="524">
                  <c:v>2022-03-04</c:v>
                </c:pt>
                <c:pt idx="525">
                  <c:v>2022-03-07</c:v>
                </c:pt>
                <c:pt idx="526">
                  <c:v>2022-03-08</c:v>
                </c:pt>
                <c:pt idx="527">
                  <c:v>2022-03-09</c:v>
                </c:pt>
                <c:pt idx="528">
                  <c:v>2022-03-10</c:v>
                </c:pt>
                <c:pt idx="529">
                  <c:v>2022-03-11</c:v>
                </c:pt>
                <c:pt idx="530">
                  <c:v>2022-03-14</c:v>
                </c:pt>
                <c:pt idx="531">
                  <c:v>2022-03-15</c:v>
                </c:pt>
                <c:pt idx="532">
                  <c:v>2022-03-16</c:v>
                </c:pt>
                <c:pt idx="533">
                  <c:v>2022-03-17</c:v>
                </c:pt>
                <c:pt idx="534">
                  <c:v>2022-03-18</c:v>
                </c:pt>
                <c:pt idx="535">
                  <c:v>2022-03-21</c:v>
                </c:pt>
                <c:pt idx="536">
                  <c:v>2022-03-22</c:v>
                </c:pt>
                <c:pt idx="537">
                  <c:v>2022-03-23</c:v>
                </c:pt>
                <c:pt idx="538">
                  <c:v>2022-03-24</c:v>
                </c:pt>
                <c:pt idx="539">
                  <c:v>2022-03-25</c:v>
                </c:pt>
                <c:pt idx="540">
                  <c:v>2022-03-28</c:v>
                </c:pt>
                <c:pt idx="541">
                  <c:v>2022-03-29</c:v>
                </c:pt>
                <c:pt idx="542">
                  <c:v>2022-03-30</c:v>
                </c:pt>
                <c:pt idx="543">
                  <c:v>2022-03-31</c:v>
                </c:pt>
                <c:pt idx="544">
                  <c:v>2022-04-01</c:v>
                </c:pt>
                <c:pt idx="545">
                  <c:v>2022-04-06</c:v>
                </c:pt>
                <c:pt idx="546">
                  <c:v>2022-04-07</c:v>
                </c:pt>
                <c:pt idx="547">
                  <c:v>2022-04-08</c:v>
                </c:pt>
                <c:pt idx="548">
                  <c:v>2022-04-11</c:v>
                </c:pt>
                <c:pt idx="549">
                  <c:v>2022-04-12</c:v>
                </c:pt>
                <c:pt idx="550">
                  <c:v>2022-04-13</c:v>
                </c:pt>
                <c:pt idx="551">
                  <c:v>2022-04-14</c:v>
                </c:pt>
                <c:pt idx="552">
                  <c:v>2022-04-15</c:v>
                </c:pt>
                <c:pt idx="553">
                  <c:v>2022-04-18</c:v>
                </c:pt>
                <c:pt idx="554">
                  <c:v>2022-04-19</c:v>
                </c:pt>
                <c:pt idx="555">
                  <c:v>2022-04-20</c:v>
                </c:pt>
                <c:pt idx="556">
                  <c:v>2022-04-21</c:v>
                </c:pt>
                <c:pt idx="557">
                  <c:v>2022-04-22</c:v>
                </c:pt>
                <c:pt idx="558">
                  <c:v>2022-04-25</c:v>
                </c:pt>
                <c:pt idx="559">
                  <c:v>2022-04-26</c:v>
                </c:pt>
                <c:pt idx="560">
                  <c:v>2022-04-27</c:v>
                </c:pt>
                <c:pt idx="561">
                  <c:v>2022-04-28</c:v>
                </c:pt>
                <c:pt idx="562">
                  <c:v>2022-04-29</c:v>
                </c:pt>
                <c:pt idx="563">
                  <c:v>2022-05-05</c:v>
                </c:pt>
                <c:pt idx="564">
                  <c:v>2022-05-06</c:v>
                </c:pt>
                <c:pt idx="565">
                  <c:v>2022-05-09</c:v>
                </c:pt>
                <c:pt idx="566">
                  <c:v>2022-05-10</c:v>
                </c:pt>
                <c:pt idx="567">
                  <c:v>2022-05-11</c:v>
                </c:pt>
                <c:pt idx="568">
                  <c:v>2022-05-12</c:v>
                </c:pt>
                <c:pt idx="569">
                  <c:v>2022-05-13</c:v>
                </c:pt>
                <c:pt idx="570">
                  <c:v>2022-05-16</c:v>
                </c:pt>
                <c:pt idx="571">
                  <c:v>2022-05-17</c:v>
                </c:pt>
                <c:pt idx="572">
                  <c:v>2022-05-18</c:v>
                </c:pt>
                <c:pt idx="573">
                  <c:v>2022-05-19</c:v>
                </c:pt>
                <c:pt idx="574">
                  <c:v>2022-05-20</c:v>
                </c:pt>
                <c:pt idx="575">
                  <c:v>2022-05-23</c:v>
                </c:pt>
                <c:pt idx="576">
                  <c:v>2022-05-24</c:v>
                </c:pt>
                <c:pt idx="577">
                  <c:v>2022-05-25</c:v>
                </c:pt>
                <c:pt idx="578">
                  <c:v>2022-05-26</c:v>
                </c:pt>
                <c:pt idx="579">
                  <c:v>2022-05-27</c:v>
                </c:pt>
                <c:pt idx="580">
                  <c:v>2022-05-30</c:v>
                </c:pt>
                <c:pt idx="581">
                  <c:v>2022-05-31</c:v>
                </c:pt>
                <c:pt idx="582">
                  <c:v>2022-06-01</c:v>
                </c:pt>
                <c:pt idx="583">
                  <c:v>2022-06-02</c:v>
                </c:pt>
                <c:pt idx="584">
                  <c:v>2022-06-06</c:v>
                </c:pt>
                <c:pt idx="585">
                  <c:v>2022-06-07</c:v>
                </c:pt>
                <c:pt idx="586">
                  <c:v>2022-06-08</c:v>
                </c:pt>
                <c:pt idx="587">
                  <c:v>2022-06-09</c:v>
                </c:pt>
                <c:pt idx="588">
                  <c:v>2022-06-10</c:v>
                </c:pt>
                <c:pt idx="589">
                  <c:v>2022-06-13</c:v>
                </c:pt>
                <c:pt idx="590">
                  <c:v>2022-06-14</c:v>
                </c:pt>
                <c:pt idx="591">
                  <c:v>2022-06-15</c:v>
                </c:pt>
                <c:pt idx="592">
                  <c:v>2022-06-16</c:v>
                </c:pt>
                <c:pt idx="593">
                  <c:v>2022-06-17</c:v>
                </c:pt>
                <c:pt idx="594">
                  <c:v>2022-06-20</c:v>
                </c:pt>
                <c:pt idx="595">
                  <c:v>2022-06-21</c:v>
                </c:pt>
                <c:pt idx="596">
                  <c:v>2022-06-22</c:v>
                </c:pt>
                <c:pt idx="597">
                  <c:v>2022-06-23</c:v>
                </c:pt>
                <c:pt idx="598">
                  <c:v>2022-06-24</c:v>
                </c:pt>
                <c:pt idx="599">
                  <c:v>2022-06-27</c:v>
                </c:pt>
                <c:pt idx="600">
                  <c:v>2022-06-28</c:v>
                </c:pt>
                <c:pt idx="601">
                  <c:v>2022-06-29</c:v>
                </c:pt>
                <c:pt idx="602">
                  <c:v>2022-06-30</c:v>
                </c:pt>
                <c:pt idx="603">
                  <c:v>2022-07-01</c:v>
                </c:pt>
                <c:pt idx="604">
                  <c:v>2022-07-04</c:v>
                </c:pt>
                <c:pt idx="605">
                  <c:v>2022-07-05</c:v>
                </c:pt>
                <c:pt idx="606">
                  <c:v>2022-07-06</c:v>
                </c:pt>
                <c:pt idx="607">
                  <c:v>2022-07-07</c:v>
                </c:pt>
                <c:pt idx="608">
                  <c:v>2022-07-08</c:v>
                </c:pt>
                <c:pt idx="609">
                  <c:v>2022-07-11</c:v>
                </c:pt>
                <c:pt idx="610">
                  <c:v>2022-07-12</c:v>
                </c:pt>
                <c:pt idx="611">
                  <c:v>2022-07-13</c:v>
                </c:pt>
                <c:pt idx="612">
                  <c:v>2022-07-14</c:v>
                </c:pt>
                <c:pt idx="613">
                  <c:v>2022-07-15</c:v>
                </c:pt>
                <c:pt idx="614">
                  <c:v>2022-07-18</c:v>
                </c:pt>
                <c:pt idx="615">
                  <c:v>2022-07-19</c:v>
                </c:pt>
                <c:pt idx="616">
                  <c:v>2022-07-20</c:v>
                </c:pt>
                <c:pt idx="617">
                  <c:v>2022-07-21</c:v>
                </c:pt>
                <c:pt idx="618">
                  <c:v>2022-07-22</c:v>
                </c:pt>
                <c:pt idx="619">
                  <c:v>2022-07-25</c:v>
                </c:pt>
                <c:pt idx="620">
                  <c:v>2022-07-26</c:v>
                </c:pt>
                <c:pt idx="621">
                  <c:v>2022-07-27</c:v>
                </c:pt>
                <c:pt idx="622">
                  <c:v>2022-07-28</c:v>
                </c:pt>
                <c:pt idx="623">
                  <c:v>2022-07-29</c:v>
                </c:pt>
                <c:pt idx="624">
                  <c:v>2022-08-01</c:v>
                </c:pt>
                <c:pt idx="625">
                  <c:v>2022-08-02</c:v>
                </c:pt>
                <c:pt idx="626">
                  <c:v>2022-08-03</c:v>
                </c:pt>
                <c:pt idx="627">
                  <c:v>2022-08-04</c:v>
                </c:pt>
                <c:pt idx="628">
                  <c:v>2022-08-05</c:v>
                </c:pt>
                <c:pt idx="629">
                  <c:v>2022-08-08</c:v>
                </c:pt>
                <c:pt idx="630">
                  <c:v>2022-08-09</c:v>
                </c:pt>
                <c:pt idx="631">
                  <c:v>2022-08-10</c:v>
                </c:pt>
                <c:pt idx="632">
                  <c:v>2022-08-11</c:v>
                </c:pt>
                <c:pt idx="633">
                  <c:v>2022-08-12</c:v>
                </c:pt>
                <c:pt idx="634">
                  <c:v>2022-08-15</c:v>
                </c:pt>
                <c:pt idx="635">
                  <c:v>2022-08-16</c:v>
                </c:pt>
                <c:pt idx="636">
                  <c:v>2022-08-17</c:v>
                </c:pt>
                <c:pt idx="637">
                  <c:v>2022-08-18</c:v>
                </c:pt>
                <c:pt idx="638">
                  <c:v>2022-08-19</c:v>
                </c:pt>
                <c:pt idx="639">
                  <c:v>2022-08-22</c:v>
                </c:pt>
                <c:pt idx="640">
                  <c:v>2022-08-23</c:v>
                </c:pt>
                <c:pt idx="641">
                  <c:v>2022-08-24</c:v>
                </c:pt>
                <c:pt idx="642">
                  <c:v>2022-08-25</c:v>
                </c:pt>
                <c:pt idx="643">
                  <c:v>2022-08-26</c:v>
                </c:pt>
                <c:pt idx="644">
                  <c:v>2022-08-29</c:v>
                </c:pt>
                <c:pt idx="645">
                  <c:v>2022-08-30</c:v>
                </c:pt>
                <c:pt idx="646">
                  <c:v>2022-08-31</c:v>
                </c:pt>
                <c:pt idx="647">
                  <c:v>2022-09-01</c:v>
                </c:pt>
                <c:pt idx="648">
                  <c:v>2022-09-02</c:v>
                </c:pt>
                <c:pt idx="649">
                  <c:v>2022-09-05</c:v>
                </c:pt>
                <c:pt idx="650">
                  <c:v>2022-09-06</c:v>
                </c:pt>
                <c:pt idx="651">
                  <c:v>2022-09-07</c:v>
                </c:pt>
                <c:pt idx="652">
                  <c:v>2022-09-08</c:v>
                </c:pt>
                <c:pt idx="653">
                  <c:v>2022-09-09</c:v>
                </c:pt>
                <c:pt idx="654">
                  <c:v>2022-09-13</c:v>
                </c:pt>
                <c:pt idx="655">
                  <c:v>2022-09-14</c:v>
                </c:pt>
                <c:pt idx="656">
                  <c:v>2022-09-15</c:v>
                </c:pt>
                <c:pt idx="657">
                  <c:v>2022-09-16</c:v>
                </c:pt>
                <c:pt idx="658">
                  <c:v>2022-09-19</c:v>
                </c:pt>
                <c:pt idx="659">
                  <c:v>2022-09-20</c:v>
                </c:pt>
                <c:pt idx="660">
                  <c:v>2022-09-21</c:v>
                </c:pt>
                <c:pt idx="661">
                  <c:v>2022-09-22</c:v>
                </c:pt>
                <c:pt idx="662">
                  <c:v>2022-09-23</c:v>
                </c:pt>
                <c:pt idx="663">
                  <c:v>2022-09-26</c:v>
                </c:pt>
                <c:pt idx="664">
                  <c:v>2022-09-27</c:v>
                </c:pt>
                <c:pt idx="665">
                  <c:v>2022-09-28</c:v>
                </c:pt>
                <c:pt idx="666">
                  <c:v>2022-09-29</c:v>
                </c:pt>
                <c:pt idx="667">
                  <c:v>2022-09-30</c:v>
                </c:pt>
                <c:pt idx="668">
                  <c:v>2022-10-10</c:v>
                </c:pt>
                <c:pt idx="669">
                  <c:v>2022-10-11</c:v>
                </c:pt>
                <c:pt idx="670">
                  <c:v>2022-10-12</c:v>
                </c:pt>
                <c:pt idx="671">
                  <c:v>2022-10-13</c:v>
                </c:pt>
                <c:pt idx="672">
                  <c:v>2022-10-14</c:v>
                </c:pt>
                <c:pt idx="673">
                  <c:v>2022-10-17</c:v>
                </c:pt>
                <c:pt idx="674">
                  <c:v>2022-10-18</c:v>
                </c:pt>
                <c:pt idx="675">
                  <c:v>2022-10-19</c:v>
                </c:pt>
                <c:pt idx="676">
                  <c:v>2022-10-20</c:v>
                </c:pt>
                <c:pt idx="677">
                  <c:v>2022-10-21</c:v>
                </c:pt>
                <c:pt idx="678">
                  <c:v>2022-10-24</c:v>
                </c:pt>
                <c:pt idx="679">
                  <c:v>2022-10-25</c:v>
                </c:pt>
                <c:pt idx="680">
                  <c:v>2022-10-26</c:v>
                </c:pt>
                <c:pt idx="681">
                  <c:v>2022-10-27</c:v>
                </c:pt>
                <c:pt idx="682">
                  <c:v>2022-10-28</c:v>
                </c:pt>
                <c:pt idx="683">
                  <c:v>2022-10-31</c:v>
                </c:pt>
                <c:pt idx="684">
                  <c:v>2022-11-01</c:v>
                </c:pt>
                <c:pt idx="685">
                  <c:v>2022-11-02</c:v>
                </c:pt>
                <c:pt idx="686">
                  <c:v>2022-11-03</c:v>
                </c:pt>
                <c:pt idx="687">
                  <c:v>2022-11-04</c:v>
                </c:pt>
                <c:pt idx="688">
                  <c:v>2022-11-07</c:v>
                </c:pt>
                <c:pt idx="689">
                  <c:v>2022-11-08</c:v>
                </c:pt>
                <c:pt idx="690">
                  <c:v>2022-11-09</c:v>
                </c:pt>
                <c:pt idx="691">
                  <c:v>2022-11-10</c:v>
                </c:pt>
                <c:pt idx="692">
                  <c:v>2022-11-11</c:v>
                </c:pt>
                <c:pt idx="693">
                  <c:v>2022-11-14</c:v>
                </c:pt>
                <c:pt idx="694">
                  <c:v>2022-11-15</c:v>
                </c:pt>
                <c:pt idx="695">
                  <c:v>2022-11-16</c:v>
                </c:pt>
                <c:pt idx="696">
                  <c:v>2022-11-17</c:v>
                </c:pt>
                <c:pt idx="697">
                  <c:v>2022-11-18</c:v>
                </c:pt>
                <c:pt idx="698">
                  <c:v>2022-11-21</c:v>
                </c:pt>
                <c:pt idx="699">
                  <c:v>2022-11-22</c:v>
                </c:pt>
                <c:pt idx="700">
                  <c:v>2022-11-23</c:v>
                </c:pt>
                <c:pt idx="701">
                  <c:v>2022-11-24</c:v>
                </c:pt>
                <c:pt idx="702">
                  <c:v>2022-11-25</c:v>
                </c:pt>
                <c:pt idx="703">
                  <c:v>2022-11-28</c:v>
                </c:pt>
                <c:pt idx="704">
                  <c:v>2022-11-29</c:v>
                </c:pt>
                <c:pt idx="705">
                  <c:v>2022-11-30</c:v>
                </c:pt>
                <c:pt idx="706">
                  <c:v>2022-12-01</c:v>
                </c:pt>
                <c:pt idx="707">
                  <c:v>2022-12-02</c:v>
                </c:pt>
                <c:pt idx="708">
                  <c:v>2022-12-05</c:v>
                </c:pt>
                <c:pt idx="709">
                  <c:v>2022-12-06</c:v>
                </c:pt>
                <c:pt idx="710">
                  <c:v>2022-12-07</c:v>
                </c:pt>
                <c:pt idx="711">
                  <c:v>2022-12-08</c:v>
                </c:pt>
                <c:pt idx="712">
                  <c:v>2022-12-09</c:v>
                </c:pt>
                <c:pt idx="713">
                  <c:v>2022-12-12</c:v>
                </c:pt>
                <c:pt idx="714">
                  <c:v>2022-12-13</c:v>
                </c:pt>
                <c:pt idx="715">
                  <c:v>2022-12-14</c:v>
                </c:pt>
                <c:pt idx="716">
                  <c:v>2022-12-15</c:v>
                </c:pt>
                <c:pt idx="717">
                  <c:v>2022-12-16</c:v>
                </c:pt>
                <c:pt idx="718">
                  <c:v>2022-12-19</c:v>
                </c:pt>
                <c:pt idx="719">
                  <c:v>2022-12-20</c:v>
                </c:pt>
                <c:pt idx="720">
                  <c:v>2022-12-21</c:v>
                </c:pt>
                <c:pt idx="721">
                  <c:v>2022-12-22</c:v>
                </c:pt>
                <c:pt idx="722">
                  <c:v>2022-12-23</c:v>
                </c:pt>
                <c:pt idx="723">
                  <c:v>2022-12-26</c:v>
                </c:pt>
                <c:pt idx="724">
                  <c:v>2022-12-27</c:v>
                </c:pt>
                <c:pt idx="725">
                  <c:v>2022-12-28</c:v>
                </c:pt>
                <c:pt idx="726">
                  <c:v>2022-12-29</c:v>
                </c:pt>
                <c:pt idx="727">
                  <c:v>2022-12-30</c:v>
                </c:pt>
                <c:pt idx="728">
                  <c:v>2023-01-03</c:v>
                </c:pt>
                <c:pt idx="729">
                  <c:v>2023-01-04</c:v>
                </c:pt>
                <c:pt idx="730">
                  <c:v>2023-01-05</c:v>
                </c:pt>
                <c:pt idx="731">
                  <c:v>2023-01-06</c:v>
                </c:pt>
                <c:pt idx="732">
                  <c:v>2023-01-09</c:v>
                </c:pt>
                <c:pt idx="733">
                  <c:v>2023-01-10</c:v>
                </c:pt>
                <c:pt idx="734">
                  <c:v>2023-01-11</c:v>
                </c:pt>
                <c:pt idx="735">
                  <c:v>2023-01-12</c:v>
                </c:pt>
                <c:pt idx="736">
                  <c:v>2023-01-13</c:v>
                </c:pt>
                <c:pt idx="737">
                  <c:v>2023-01-16</c:v>
                </c:pt>
                <c:pt idx="738">
                  <c:v>2023-01-17</c:v>
                </c:pt>
                <c:pt idx="739">
                  <c:v>2023-01-18</c:v>
                </c:pt>
                <c:pt idx="740">
                  <c:v>2023-01-19</c:v>
                </c:pt>
                <c:pt idx="741">
                  <c:v>2023-01-20</c:v>
                </c:pt>
                <c:pt idx="742">
                  <c:v>2023-01-30</c:v>
                </c:pt>
                <c:pt idx="743">
                  <c:v>2023-01-31</c:v>
                </c:pt>
                <c:pt idx="744">
                  <c:v>2023-02-01</c:v>
                </c:pt>
                <c:pt idx="745">
                  <c:v>2023-02-02</c:v>
                </c:pt>
                <c:pt idx="746">
                  <c:v>2023-02-03</c:v>
                </c:pt>
                <c:pt idx="747">
                  <c:v>2023-02-06</c:v>
                </c:pt>
                <c:pt idx="748">
                  <c:v>2023-02-07</c:v>
                </c:pt>
                <c:pt idx="749">
                  <c:v>2023-02-08</c:v>
                </c:pt>
                <c:pt idx="750">
                  <c:v>2023-02-09</c:v>
                </c:pt>
                <c:pt idx="751">
                  <c:v>2023-02-10</c:v>
                </c:pt>
                <c:pt idx="752">
                  <c:v>2023-02-13</c:v>
                </c:pt>
                <c:pt idx="753">
                  <c:v>2023-02-14</c:v>
                </c:pt>
                <c:pt idx="754">
                  <c:v>2023-02-15</c:v>
                </c:pt>
                <c:pt idx="755">
                  <c:v>2023-02-16</c:v>
                </c:pt>
                <c:pt idx="756">
                  <c:v>2023-02-17</c:v>
                </c:pt>
                <c:pt idx="757">
                  <c:v>2023-02-20</c:v>
                </c:pt>
                <c:pt idx="758">
                  <c:v>2023-02-21</c:v>
                </c:pt>
                <c:pt idx="759">
                  <c:v>2023-02-22</c:v>
                </c:pt>
                <c:pt idx="760">
                  <c:v>2023-02-23</c:v>
                </c:pt>
                <c:pt idx="761">
                  <c:v>2023-02-24</c:v>
                </c:pt>
                <c:pt idx="762">
                  <c:v>2023-02-27</c:v>
                </c:pt>
                <c:pt idx="763">
                  <c:v>2023-02-28</c:v>
                </c:pt>
                <c:pt idx="764">
                  <c:v>2023-03-01</c:v>
                </c:pt>
                <c:pt idx="765">
                  <c:v>2023-03-02</c:v>
                </c:pt>
                <c:pt idx="766">
                  <c:v>2023-03-03</c:v>
                </c:pt>
                <c:pt idx="767">
                  <c:v>2023-03-06</c:v>
                </c:pt>
                <c:pt idx="768">
                  <c:v>2023-03-07</c:v>
                </c:pt>
                <c:pt idx="769">
                  <c:v>2023-03-08</c:v>
                </c:pt>
                <c:pt idx="770">
                  <c:v>2023-03-09</c:v>
                </c:pt>
                <c:pt idx="771">
                  <c:v>2023-03-10</c:v>
                </c:pt>
                <c:pt idx="772">
                  <c:v>2023-03-13</c:v>
                </c:pt>
                <c:pt idx="773">
                  <c:v>2023-03-14</c:v>
                </c:pt>
                <c:pt idx="774">
                  <c:v>2023-03-15</c:v>
                </c:pt>
                <c:pt idx="775">
                  <c:v>2023-03-16</c:v>
                </c:pt>
                <c:pt idx="776">
                  <c:v>2023-03-17</c:v>
                </c:pt>
                <c:pt idx="777">
                  <c:v>2023-03-20</c:v>
                </c:pt>
                <c:pt idx="778">
                  <c:v>2023-03-21</c:v>
                </c:pt>
                <c:pt idx="779">
                  <c:v>2023-03-22</c:v>
                </c:pt>
                <c:pt idx="780">
                  <c:v>2023-03-23</c:v>
                </c:pt>
                <c:pt idx="781">
                  <c:v>2023-03-24</c:v>
                </c:pt>
                <c:pt idx="782">
                  <c:v>2023-03-27</c:v>
                </c:pt>
                <c:pt idx="783">
                  <c:v>2023-03-28</c:v>
                </c:pt>
                <c:pt idx="784">
                  <c:v>2023-03-29</c:v>
                </c:pt>
                <c:pt idx="785">
                  <c:v>2023-03-30</c:v>
                </c:pt>
                <c:pt idx="786">
                  <c:v>2023-03-31</c:v>
                </c:pt>
                <c:pt idx="787">
                  <c:v>2023-04-03</c:v>
                </c:pt>
                <c:pt idx="788">
                  <c:v>2023-04-04</c:v>
                </c:pt>
                <c:pt idx="789">
                  <c:v>2023-04-06</c:v>
                </c:pt>
                <c:pt idx="790">
                  <c:v>2023-04-07</c:v>
                </c:pt>
                <c:pt idx="791">
                  <c:v>2023-04-10</c:v>
                </c:pt>
                <c:pt idx="792">
                  <c:v>2023-04-11</c:v>
                </c:pt>
                <c:pt idx="793">
                  <c:v>2023-04-12</c:v>
                </c:pt>
                <c:pt idx="794">
                  <c:v>2023-04-13</c:v>
                </c:pt>
                <c:pt idx="795">
                  <c:v>2023-04-14</c:v>
                </c:pt>
                <c:pt idx="796">
                  <c:v>2023-04-17</c:v>
                </c:pt>
                <c:pt idx="797">
                  <c:v>2023-04-18</c:v>
                </c:pt>
                <c:pt idx="798">
                  <c:v>2023-04-19</c:v>
                </c:pt>
                <c:pt idx="799">
                  <c:v>2023-04-20</c:v>
                </c:pt>
                <c:pt idx="800">
                  <c:v>2023-04-21</c:v>
                </c:pt>
                <c:pt idx="801">
                  <c:v>2023-04-24</c:v>
                </c:pt>
                <c:pt idx="802">
                  <c:v>2023-04-25</c:v>
                </c:pt>
                <c:pt idx="803">
                  <c:v>2023-04-26</c:v>
                </c:pt>
                <c:pt idx="804">
                  <c:v>2023-04-27</c:v>
                </c:pt>
                <c:pt idx="805">
                  <c:v>2023-04-28</c:v>
                </c:pt>
                <c:pt idx="806">
                  <c:v>2023-05-04</c:v>
                </c:pt>
                <c:pt idx="807">
                  <c:v>2023-05-05</c:v>
                </c:pt>
                <c:pt idx="808">
                  <c:v>2023-05-08</c:v>
                </c:pt>
                <c:pt idx="809">
                  <c:v>2023-05-09</c:v>
                </c:pt>
                <c:pt idx="810">
                  <c:v>2023-05-10</c:v>
                </c:pt>
                <c:pt idx="811">
                  <c:v>2023-05-11</c:v>
                </c:pt>
                <c:pt idx="812">
                  <c:v>2023-05-12</c:v>
                </c:pt>
                <c:pt idx="813">
                  <c:v>2023-05-15</c:v>
                </c:pt>
                <c:pt idx="814">
                  <c:v>2023-05-16</c:v>
                </c:pt>
                <c:pt idx="815">
                  <c:v>2023-05-17</c:v>
                </c:pt>
                <c:pt idx="816">
                  <c:v>2023-05-18</c:v>
                </c:pt>
                <c:pt idx="817">
                  <c:v>2023-05-19</c:v>
                </c:pt>
                <c:pt idx="818">
                  <c:v>2023-05-22</c:v>
                </c:pt>
                <c:pt idx="819">
                  <c:v>2023-05-23</c:v>
                </c:pt>
                <c:pt idx="820">
                  <c:v>2023-05-24</c:v>
                </c:pt>
                <c:pt idx="821">
                  <c:v>2023-05-25</c:v>
                </c:pt>
                <c:pt idx="822">
                  <c:v>2023-05-26</c:v>
                </c:pt>
                <c:pt idx="823">
                  <c:v>2023-05-29</c:v>
                </c:pt>
                <c:pt idx="824">
                  <c:v>2023-05-30</c:v>
                </c:pt>
                <c:pt idx="825">
                  <c:v>2023-05-31</c:v>
                </c:pt>
                <c:pt idx="826">
                  <c:v>2023-06-01</c:v>
                </c:pt>
                <c:pt idx="827">
                  <c:v>2023-06-02</c:v>
                </c:pt>
                <c:pt idx="828">
                  <c:v>2023-06-05</c:v>
                </c:pt>
                <c:pt idx="829">
                  <c:v>2023-06-06</c:v>
                </c:pt>
                <c:pt idx="830">
                  <c:v>2023-06-07</c:v>
                </c:pt>
                <c:pt idx="831">
                  <c:v>2023-06-08</c:v>
                </c:pt>
                <c:pt idx="832">
                  <c:v>2023-06-09</c:v>
                </c:pt>
                <c:pt idx="833">
                  <c:v>2023-06-12</c:v>
                </c:pt>
                <c:pt idx="834">
                  <c:v>2023-06-13</c:v>
                </c:pt>
                <c:pt idx="835">
                  <c:v>2023-06-14</c:v>
                </c:pt>
                <c:pt idx="836">
                  <c:v>2023-06-15</c:v>
                </c:pt>
                <c:pt idx="837">
                  <c:v>2023-06-16</c:v>
                </c:pt>
                <c:pt idx="838">
                  <c:v>2023-06-19</c:v>
                </c:pt>
                <c:pt idx="839">
                  <c:v>2023-06-20</c:v>
                </c:pt>
                <c:pt idx="840">
                  <c:v>2023-06-21</c:v>
                </c:pt>
                <c:pt idx="841">
                  <c:v>2023-06-26</c:v>
                </c:pt>
                <c:pt idx="842">
                  <c:v>2023-06-27</c:v>
                </c:pt>
                <c:pt idx="843">
                  <c:v>2023-06-28</c:v>
                </c:pt>
                <c:pt idx="844">
                  <c:v>2023-06-29</c:v>
                </c:pt>
                <c:pt idx="845">
                  <c:v>2023-06-30</c:v>
                </c:pt>
                <c:pt idx="846">
                  <c:v>2023-07-03</c:v>
                </c:pt>
                <c:pt idx="847">
                  <c:v>2023-07-04</c:v>
                </c:pt>
                <c:pt idx="848">
                  <c:v>2023-07-05</c:v>
                </c:pt>
                <c:pt idx="849">
                  <c:v>2023-07-06</c:v>
                </c:pt>
                <c:pt idx="850">
                  <c:v>2023-07-07</c:v>
                </c:pt>
                <c:pt idx="851">
                  <c:v>2023-07-10</c:v>
                </c:pt>
                <c:pt idx="852">
                  <c:v>2023-07-11</c:v>
                </c:pt>
                <c:pt idx="853">
                  <c:v>2023-07-12</c:v>
                </c:pt>
                <c:pt idx="854">
                  <c:v>2023-07-13</c:v>
                </c:pt>
                <c:pt idx="855">
                  <c:v>2023-07-14</c:v>
                </c:pt>
                <c:pt idx="856">
                  <c:v>2023-07-17</c:v>
                </c:pt>
                <c:pt idx="857">
                  <c:v>2023-07-18</c:v>
                </c:pt>
                <c:pt idx="858">
                  <c:v>2023-07-19</c:v>
                </c:pt>
                <c:pt idx="859">
                  <c:v>2023-07-20</c:v>
                </c:pt>
                <c:pt idx="860">
                  <c:v>2023-07-21</c:v>
                </c:pt>
                <c:pt idx="861">
                  <c:v>2023-07-24</c:v>
                </c:pt>
                <c:pt idx="862">
                  <c:v>2023-07-25</c:v>
                </c:pt>
                <c:pt idx="863">
                  <c:v>2023-07-26</c:v>
                </c:pt>
                <c:pt idx="864">
                  <c:v>2023-07-27</c:v>
                </c:pt>
                <c:pt idx="865">
                  <c:v>2023-07-28</c:v>
                </c:pt>
                <c:pt idx="866">
                  <c:v>2023-07-31</c:v>
                </c:pt>
                <c:pt idx="867">
                  <c:v>2023-08-01</c:v>
                </c:pt>
                <c:pt idx="868">
                  <c:v>2023-08-02</c:v>
                </c:pt>
                <c:pt idx="869">
                  <c:v>2023-08-03</c:v>
                </c:pt>
                <c:pt idx="870">
                  <c:v>2023-08-04</c:v>
                </c:pt>
                <c:pt idx="871">
                  <c:v>2023-08-07</c:v>
                </c:pt>
                <c:pt idx="872">
                  <c:v>2023-08-08</c:v>
                </c:pt>
                <c:pt idx="873">
                  <c:v>2023-08-09</c:v>
                </c:pt>
                <c:pt idx="874">
                  <c:v>2023-08-10</c:v>
                </c:pt>
                <c:pt idx="875">
                  <c:v>2023-08-11</c:v>
                </c:pt>
                <c:pt idx="876">
                  <c:v>2023-08-14</c:v>
                </c:pt>
                <c:pt idx="877">
                  <c:v>2023-08-15</c:v>
                </c:pt>
                <c:pt idx="878">
                  <c:v>2023-08-16</c:v>
                </c:pt>
                <c:pt idx="879">
                  <c:v>2023-08-17</c:v>
                </c:pt>
                <c:pt idx="880">
                  <c:v>2023-08-18</c:v>
                </c:pt>
                <c:pt idx="881">
                  <c:v>2023-08-21</c:v>
                </c:pt>
                <c:pt idx="882">
                  <c:v>2023-08-22</c:v>
                </c:pt>
                <c:pt idx="883">
                  <c:v>2023-08-23</c:v>
                </c:pt>
                <c:pt idx="884">
                  <c:v>2023-08-24</c:v>
                </c:pt>
                <c:pt idx="885">
                  <c:v>2023-08-25</c:v>
                </c:pt>
                <c:pt idx="886">
                  <c:v>2023-08-28</c:v>
                </c:pt>
                <c:pt idx="887">
                  <c:v>2023-08-29</c:v>
                </c:pt>
                <c:pt idx="888">
                  <c:v>2023-08-30</c:v>
                </c:pt>
                <c:pt idx="889">
                  <c:v>2023-08-31</c:v>
                </c:pt>
                <c:pt idx="890">
                  <c:v>2023-09-01</c:v>
                </c:pt>
                <c:pt idx="891">
                  <c:v>2023-09-04</c:v>
                </c:pt>
                <c:pt idx="892">
                  <c:v>2023-09-05</c:v>
                </c:pt>
                <c:pt idx="893">
                  <c:v>2023-09-06</c:v>
                </c:pt>
                <c:pt idx="894">
                  <c:v>2023-09-07</c:v>
                </c:pt>
                <c:pt idx="895">
                  <c:v>2023-09-08</c:v>
                </c:pt>
                <c:pt idx="896">
                  <c:v>2023-09-11</c:v>
                </c:pt>
                <c:pt idx="897">
                  <c:v>2023-09-12</c:v>
                </c:pt>
                <c:pt idx="898">
                  <c:v>2023-09-13</c:v>
                </c:pt>
                <c:pt idx="899">
                  <c:v>2023-09-14</c:v>
                </c:pt>
                <c:pt idx="900">
                  <c:v>2023-09-15</c:v>
                </c:pt>
                <c:pt idx="901">
                  <c:v>2023-09-18</c:v>
                </c:pt>
                <c:pt idx="902">
                  <c:v>2023-09-19</c:v>
                </c:pt>
                <c:pt idx="903">
                  <c:v>2023-09-20</c:v>
                </c:pt>
                <c:pt idx="904">
                  <c:v>2023-09-21</c:v>
                </c:pt>
                <c:pt idx="905">
                  <c:v>2023-09-22</c:v>
                </c:pt>
                <c:pt idx="906">
                  <c:v>2023-09-25</c:v>
                </c:pt>
                <c:pt idx="907">
                  <c:v>2023-09-26</c:v>
                </c:pt>
                <c:pt idx="908">
                  <c:v>2023-09-27</c:v>
                </c:pt>
                <c:pt idx="909">
                  <c:v>2023-09-28</c:v>
                </c:pt>
                <c:pt idx="910">
                  <c:v>2023-10-09</c:v>
                </c:pt>
                <c:pt idx="911">
                  <c:v>2023-10-10</c:v>
                </c:pt>
                <c:pt idx="912">
                  <c:v>2023-10-11</c:v>
                </c:pt>
                <c:pt idx="913">
                  <c:v>2023-10-12</c:v>
                </c:pt>
                <c:pt idx="914">
                  <c:v>2023-10-13</c:v>
                </c:pt>
                <c:pt idx="915">
                  <c:v>2023-10-16</c:v>
                </c:pt>
                <c:pt idx="916">
                  <c:v>2023-10-17</c:v>
                </c:pt>
                <c:pt idx="917">
                  <c:v>2023-10-18</c:v>
                </c:pt>
                <c:pt idx="918">
                  <c:v>2023-10-19</c:v>
                </c:pt>
                <c:pt idx="919">
                  <c:v>2023-10-20</c:v>
                </c:pt>
                <c:pt idx="920">
                  <c:v>2023-10-23</c:v>
                </c:pt>
                <c:pt idx="921">
                  <c:v>2023-10-24</c:v>
                </c:pt>
                <c:pt idx="922">
                  <c:v>2023-10-25</c:v>
                </c:pt>
                <c:pt idx="923">
                  <c:v>2023-10-26</c:v>
                </c:pt>
                <c:pt idx="924">
                  <c:v>2023-10-27</c:v>
                </c:pt>
                <c:pt idx="925">
                  <c:v>2023-10-30</c:v>
                </c:pt>
                <c:pt idx="926">
                  <c:v>2023-10-31</c:v>
                </c:pt>
                <c:pt idx="927">
                  <c:v>2023-11-01</c:v>
                </c:pt>
                <c:pt idx="928">
                  <c:v>2023-11-02</c:v>
                </c:pt>
                <c:pt idx="929">
                  <c:v>2023-11-03</c:v>
                </c:pt>
                <c:pt idx="930">
                  <c:v>2023-11-06</c:v>
                </c:pt>
                <c:pt idx="931">
                  <c:v>2023-11-07</c:v>
                </c:pt>
                <c:pt idx="932">
                  <c:v>2023-11-08</c:v>
                </c:pt>
                <c:pt idx="933">
                  <c:v>2023-11-09</c:v>
                </c:pt>
                <c:pt idx="934">
                  <c:v>2023-11-10</c:v>
                </c:pt>
                <c:pt idx="935">
                  <c:v>2023-11-13</c:v>
                </c:pt>
                <c:pt idx="936">
                  <c:v>2023-11-14</c:v>
                </c:pt>
                <c:pt idx="937">
                  <c:v>2023-11-15</c:v>
                </c:pt>
                <c:pt idx="938">
                  <c:v>2023-11-16</c:v>
                </c:pt>
                <c:pt idx="939">
                  <c:v>2023-11-17</c:v>
                </c:pt>
                <c:pt idx="940">
                  <c:v>2023-11-20</c:v>
                </c:pt>
                <c:pt idx="941">
                  <c:v>2023-11-21</c:v>
                </c:pt>
                <c:pt idx="942">
                  <c:v>2023-11-22</c:v>
                </c:pt>
                <c:pt idx="943">
                  <c:v>2023-11-23</c:v>
                </c:pt>
                <c:pt idx="944">
                  <c:v>2023-11-24</c:v>
                </c:pt>
                <c:pt idx="945">
                  <c:v>2023-11-27</c:v>
                </c:pt>
                <c:pt idx="946">
                  <c:v>2023-11-28</c:v>
                </c:pt>
                <c:pt idx="947">
                  <c:v>2023-11-29</c:v>
                </c:pt>
                <c:pt idx="948">
                  <c:v>2023-11-30</c:v>
                </c:pt>
                <c:pt idx="949">
                  <c:v>2023-12-01</c:v>
                </c:pt>
                <c:pt idx="950">
                  <c:v>2023-12-04</c:v>
                </c:pt>
                <c:pt idx="951">
                  <c:v>2023-12-05</c:v>
                </c:pt>
                <c:pt idx="952">
                  <c:v>2023-12-06</c:v>
                </c:pt>
                <c:pt idx="953">
                  <c:v>2023-12-07</c:v>
                </c:pt>
                <c:pt idx="954">
                  <c:v>2023-12-08</c:v>
                </c:pt>
                <c:pt idx="955">
                  <c:v>2023-12-11</c:v>
                </c:pt>
                <c:pt idx="956">
                  <c:v>2023-12-12</c:v>
                </c:pt>
                <c:pt idx="957">
                  <c:v>2023-12-13</c:v>
                </c:pt>
                <c:pt idx="958">
                  <c:v>2023-12-14</c:v>
                </c:pt>
                <c:pt idx="959">
                  <c:v>2023-12-15</c:v>
                </c:pt>
                <c:pt idx="960">
                  <c:v>2023-12-18</c:v>
                </c:pt>
                <c:pt idx="961">
                  <c:v>2023-12-19</c:v>
                </c:pt>
                <c:pt idx="962">
                  <c:v>2023-12-20</c:v>
                </c:pt>
                <c:pt idx="963">
                  <c:v>2023-12-21</c:v>
                </c:pt>
                <c:pt idx="964">
                  <c:v>2023-12-22</c:v>
                </c:pt>
                <c:pt idx="965">
                  <c:v>2023-12-25</c:v>
                </c:pt>
                <c:pt idx="966">
                  <c:v>2023-12-26</c:v>
                </c:pt>
                <c:pt idx="967">
                  <c:v>2023-12-27</c:v>
                </c:pt>
                <c:pt idx="968">
                  <c:v>2023-12-28</c:v>
                </c:pt>
                <c:pt idx="969">
                  <c:v>2023-12-29</c:v>
                </c:pt>
                <c:pt idx="970">
                  <c:v>2024-01-02</c:v>
                </c:pt>
                <c:pt idx="971">
                  <c:v>2024-01-03</c:v>
                </c:pt>
                <c:pt idx="972">
                  <c:v>2024-01-04</c:v>
                </c:pt>
                <c:pt idx="973">
                  <c:v>2024-01-05</c:v>
                </c:pt>
                <c:pt idx="974">
                  <c:v>2024-01-08</c:v>
                </c:pt>
                <c:pt idx="975">
                  <c:v>2024-01-09</c:v>
                </c:pt>
                <c:pt idx="976">
                  <c:v>2024-01-10</c:v>
                </c:pt>
                <c:pt idx="977">
                  <c:v>2024-01-11</c:v>
                </c:pt>
                <c:pt idx="978">
                  <c:v>2024-01-12</c:v>
                </c:pt>
                <c:pt idx="979">
                  <c:v>2024-01-15</c:v>
                </c:pt>
                <c:pt idx="980">
                  <c:v>2024-01-16</c:v>
                </c:pt>
                <c:pt idx="981">
                  <c:v>2024-01-17</c:v>
                </c:pt>
                <c:pt idx="982">
                  <c:v>2024-01-18</c:v>
                </c:pt>
                <c:pt idx="983">
                  <c:v>2024-01-19</c:v>
                </c:pt>
                <c:pt idx="984">
                  <c:v>2024-01-22</c:v>
                </c:pt>
                <c:pt idx="985">
                  <c:v>2024-01-23</c:v>
                </c:pt>
                <c:pt idx="986">
                  <c:v>2024-01-24</c:v>
                </c:pt>
                <c:pt idx="987">
                  <c:v>2024-01-25</c:v>
                </c:pt>
                <c:pt idx="988">
                  <c:v>2024-01-26</c:v>
                </c:pt>
                <c:pt idx="989">
                  <c:v>2024-01-29</c:v>
                </c:pt>
                <c:pt idx="990">
                  <c:v>2024-01-30</c:v>
                </c:pt>
                <c:pt idx="991">
                  <c:v>2024-01-31</c:v>
                </c:pt>
                <c:pt idx="992">
                  <c:v>2024-02-01</c:v>
                </c:pt>
                <c:pt idx="993">
                  <c:v>2024-02-02</c:v>
                </c:pt>
                <c:pt idx="994">
                  <c:v>2024-02-05</c:v>
                </c:pt>
                <c:pt idx="995">
                  <c:v>2024-02-06</c:v>
                </c:pt>
                <c:pt idx="996">
                  <c:v>2024-02-07</c:v>
                </c:pt>
                <c:pt idx="997">
                  <c:v>2024-02-08</c:v>
                </c:pt>
                <c:pt idx="998">
                  <c:v>2024-02-19</c:v>
                </c:pt>
                <c:pt idx="999">
                  <c:v>2024-02-20</c:v>
                </c:pt>
                <c:pt idx="1000">
                  <c:v>2024-02-21</c:v>
                </c:pt>
                <c:pt idx="1001">
                  <c:v>2024-02-22</c:v>
                </c:pt>
                <c:pt idx="1002">
                  <c:v>2024-02-23</c:v>
                </c:pt>
                <c:pt idx="1003">
                  <c:v>2024-02-26</c:v>
                </c:pt>
                <c:pt idx="1004">
                  <c:v>2024-02-27</c:v>
                </c:pt>
                <c:pt idx="1005">
                  <c:v>2024-02-28</c:v>
                </c:pt>
                <c:pt idx="1006">
                  <c:v>2024-02-29</c:v>
                </c:pt>
                <c:pt idx="1007">
                  <c:v>2024-03-01</c:v>
                </c:pt>
                <c:pt idx="1008">
                  <c:v>2024-03-04</c:v>
                </c:pt>
                <c:pt idx="1009">
                  <c:v>2024-03-05</c:v>
                </c:pt>
                <c:pt idx="1010">
                  <c:v>2024-03-06</c:v>
                </c:pt>
                <c:pt idx="1011">
                  <c:v>2024-03-07</c:v>
                </c:pt>
                <c:pt idx="1012">
                  <c:v>2024-03-08</c:v>
                </c:pt>
                <c:pt idx="1013">
                  <c:v>2024-03-11</c:v>
                </c:pt>
                <c:pt idx="1014">
                  <c:v>2024-03-12</c:v>
                </c:pt>
                <c:pt idx="1015">
                  <c:v>2024-03-13</c:v>
                </c:pt>
                <c:pt idx="1016">
                  <c:v>2024-03-14</c:v>
                </c:pt>
                <c:pt idx="1017">
                  <c:v>2024-03-15</c:v>
                </c:pt>
                <c:pt idx="1018">
                  <c:v>2024-03-18</c:v>
                </c:pt>
                <c:pt idx="1019">
                  <c:v>2024-03-19</c:v>
                </c:pt>
                <c:pt idx="1020">
                  <c:v>2024-03-20</c:v>
                </c:pt>
                <c:pt idx="1021">
                  <c:v>2024-03-21</c:v>
                </c:pt>
                <c:pt idx="1022">
                  <c:v>2024-03-22</c:v>
                </c:pt>
                <c:pt idx="1023">
                  <c:v>2024-03-25</c:v>
                </c:pt>
                <c:pt idx="1024">
                  <c:v>2024-03-26</c:v>
                </c:pt>
                <c:pt idx="1025">
                  <c:v>2024-03-27</c:v>
                </c:pt>
                <c:pt idx="1026">
                  <c:v>2024-03-28</c:v>
                </c:pt>
                <c:pt idx="1027">
                  <c:v>2024-03-29</c:v>
                </c:pt>
                <c:pt idx="1028">
                  <c:v>2024-04-01</c:v>
                </c:pt>
                <c:pt idx="1029">
                  <c:v>2024-04-02</c:v>
                </c:pt>
                <c:pt idx="1030">
                  <c:v>2024-04-03</c:v>
                </c:pt>
                <c:pt idx="1031">
                  <c:v>2024-04-08</c:v>
                </c:pt>
                <c:pt idx="1032">
                  <c:v>2024-04-09</c:v>
                </c:pt>
                <c:pt idx="1033">
                  <c:v>2024-04-10</c:v>
                </c:pt>
                <c:pt idx="1034">
                  <c:v>2024-04-11</c:v>
                </c:pt>
                <c:pt idx="1035">
                  <c:v>2024-04-12</c:v>
                </c:pt>
                <c:pt idx="1036">
                  <c:v>2024-04-15</c:v>
                </c:pt>
                <c:pt idx="1037">
                  <c:v>2024-04-16</c:v>
                </c:pt>
                <c:pt idx="1038">
                  <c:v>2024-04-17</c:v>
                </c:pt>
                <c:pt idx="1039">
                  <c:v>2024-04-18</c:v>
                </c:pt>
                <c:pt idx="1040">
                  <c:v>2024-04-19</c:v>
                </c:pt>
                <c:pt idx="1041">
                  <c:v>2024-04-22</c:v>
                </c:pt>
                <c:pt idx="1042">
                  <c:v>2024-04-23</c:v>
                </c:pt>
                <c:pt idx="1043">
                  <c:v>2024-04-24</c:v>
                </c:pt>
                <c:pt idx="1044">
                  <c:v>2024-04-25</c:v>
                </c:pt>
                <c:pt idx="1045">
                  <c:v>2024-04-26</c:v>
                </c:pt>
                <c:pt idx="1046">
                  <c:v>2024-04-29</c:v>
                </c:pt>
                <c:pt idx="1047">
                  <c:v>2024-04-30</c:v>
                </c:pt>
                <c:pt idx="1048">
                  <c:v>2024-05-06</c:v>
                </c:pt>
                <c:pt idx="1049">
                  <c:v>2024-05-07</c:v>
                </c:pt>
                <c:pt idx="1050">
                  <c:v>2024-05-08</c:v>
                </c:pt>
                <c:pt idx="1051">
                  <c:v>2024-05-09</c:v>
                </c:pt>
                <c:pt idx="1052">
                  <c:v>2024-05-10</c:v>
                </c:pt>
                <c:pt idx="1053">
                  <c:v>2024-05-13</c:v>
                </c:pt>
                <c:pt idx="1054">
                  <c:v>2024-05-14</c:v>
                </c:pt>
                <c:pt idx="1055">
                  <c:v>2024-05-15</c:v>
                </c:pt>
                <c:pt idx="1056">
                  <c:v>2024-05-16</c:v>
                </c:pt>
                <c:pt idx="1057">
                  <c:v>2024-05-17</c:v>
                </c:pt>
                <c:pt idx="1058">
                  <c:v>2024-05-20</c:v>
                </c:pt>
                <c:pt idx="1059">
                  <c:v>2024-05-21</c:v>
                </c:pt>
                <c:pt idx="1060">
                  <c:v>2024-05-22</c:v>
                </c:pt>
                <c:pt idx="1061">
                  <c:v>2024-05-23</c:v>
                </c:pt>
                <c:pt idx="1062">
                  <c:v>2024-05-24</c:v>
                </c:pt>
                <c:pt idx="1063">
                  <c:v>2024-05-27</c:v>
                </c:pt>
                <c:pt idx="1064">
                  <c:v>2024-05-28</c:v>
                </c:pt>
                <c:pt idx="1065">
                  <c:v>2024-05-29</c:v>
                </c:pt>
                <c:pt idx="1066">
                  <c:v>2024-05-30</c:v>
                </c:pt>
                <c:pt idx="1067">
                  <c:v>2024-05-31</c:v>
                </c:pt>
                <c:pt idx="1068">
                  <c:v>2024-06-03</c:v>
                </c:pt>
                <c:pt idx="1069">
                  <c:v>2024-06-04</c:v>
                </c:pt>
                <c:pt idx="1070">
                  <c:v>2024-06-05</c:v>
                </c:pt>
                <c:pt idx="1071">
                  <c:v>2024-06-06</c:v>
                </c:pt>
                <c:pt idx="1072">
                  <c:v>2024-06-07</c:v>
                </c:pt>
                <c:pt idx="1073">
                  <c:v>2024-06-11</c:v>
                </c:pt>
                <c:pt idx="1074">
                  <c:v>2024-06-12</c:v>
                </c:pt>
                <c:pt idx="1075">
                  <c:v>2024-06-13</c:v>
                </c:pt>
                <c:pt idx="1076">
                  <c:v>2024-06-14</c:v>
                </c:pt>
                <c:pt idx="1077">
                  <c:v>2024-06-17</c:v>
                </c:pt>
                <c:pt idx="1078">
                  <c:v>2024-06-18</c:v>
                </c:pt>
                <c:pt idx="1079">
                  <c:v>2024-06-19</c:v>
                </c:pt>
                <c:pt idx="1080">
                  <c:v>2024-06-20</c:v>
                </c:pt>
                <c:pt idx="1081">
                  <c:v>2024-06-21</c:v>
                </c:pt>
                <c:pt idx="1082">
                  <c:v>2024-06-24</c:v>
                </c:pt>
                <c:pt idx="1083">
                  <c:v>2024-06-25</c:v>
                </c:pt>
                <c:pt idx="1084">
                  <c:v>2024-06-26</c:v>
                </c:pt>
                <c:pt idx="1085">
                  <c:v>2024-06-27</c:v>
                </c:pt>
                <c:pt idx="1086">
                  <c:v>2024-06-28</c:v>
                </c:pt>
                <c:pt idx="1087">
                  <c:v>2024-07-01</c:v>
                </c:pt>
                <c:pt idx="1088">
                  <c:v>2024-07-02</c:v>
                </c:pt>
                <c:pt idx="1089">
                  <c:v>2024-07-03</c:v>
                </c:pt>
                <c:pt idx="1090">
                  <c:v>2024-07-04</c:v>
                </c:pt>
                <c:pt idx="1091">
                  <c:v>2024-07-05</c:v>
                </c:pt>
                <c:pt idx="1092">
                  <c:v>2024-07-08</c:v>
                </c:pt>
                <c:pt idx="1093">
                  <c:v>2024-07-09</c:v>
                </c:pt>
                <c:pt idx="1094">
                  <c:v>2024-07-10</c:v>
                </c:pt>
                <c:pt idx="1095">
                  <c:v>2024-07-11</c:v>
                </c:pt>
                <c:pt idx="1096">
                  <c:v>2024-07-12</c:v>
                </c:pt>
                <c:pt idx="1097">
                  <c:v>2024-07-15</c:v>
                </c:pt>
                <c:pt idx="1098">
                  <c:v>2024-07-16</c:v>
                </c:pt>
                <c:pt idx="1099">
                  <c:v>2024-07-17</c:v>
                </c:pt>
                <c:pt idx="1100">
                  <c:v>2024-07-18</c:v>
                </c:pt>
                <c:pt idx="1101">
                  <c:v>2024-07-19</c:v>
                </c:pt>
                <c:pt idx="1102">
                  <c:v>2024-07-22</c:v>
                </c:pt>
                <c:pt idx="1103">
                  <c:v>2024-07-23</c:v>
                </c:pt>
                <c:pt idx="1104">
                  <c:v>2024-07-24</c:v>
                </c:pt>
                <c:pt idx="1105">
                  <c:v>2024-07-25</c:v>
                </c:pt>
                <c:pt idx="1106">
                  <c:v>2024-07-26</c:v>
                </c:pt>
                <c:pt idx="1107">
                  <c:v>2024-07-29</c:v>
                </c:pt>
                <c:pt idx="1108">
                  <c:v>2024-07-30</c:v>
                </c:pt>
                <c:pt idx="1109">
                  <c:v>2024-07-31</c:v>
                </c:pt>
                <c:pt idx="1110">
                  <c:v>2024-08-01</c:v>
                </c:pt>
                <c:pt idx="1111">
                  <c:v>2024-08-02</c:v>
                </c:pt>
                <c:pt idx="1112">
                  <c:v>2024-08-05</c:v>
                </c:pt>
                <c:pt idx="1113">
                  <c:v>2024-08-06</c:v>
                </c:pt>
                <c:pt idx="1114">
                  <c:v>2024-08-07</c:v>
                </c:pt>
                <c:pt idx="1115">
                  <c:v>2024-08-08</c:v>
                </c:pt>
                <c:pt idx="1116">
                  <c:v>2024-08-09</c:v>
                </c:pt>
                <c:pt idx="1117">
                  <c:v>2024-08-12</c:v>
                </c:pt>
                <c:pt idx="1118">
                  <c:v>2024-08-13</c:v>
                </c:pt>
                <c:pt idx="1119">
                  <c:v>2024-08-14</c:v>
                </c:pt>
                <c:pt idx="1120">
                  <c:v>2024-08-15</c:v>
                </c:pt>
                <c:pt idx="1121">
                  <c:v>2024-08-16</c:v>
                </c:pt>
                <c:pt idx="1122">
                  <c:v>2024-08-19</c:v>
                </c:pt>
                <c:pt idx="1123">
                  <c:v>2024-08-20</c:v>
                </c:pt>
                <c:pt idx="1124">
                  <c:v>2024-08-21</c:v>
                </c:pt>
                <c:pt idx="1125">
                  <c:v>2024-08-22</c:v>
                </c:pt>
                <c:pt idx="1126">
                  <c:v>2024-08-23</c:v>
                </c:pt>
                <c:pt idx="1127">
                  <c:v>2024-08-26</c:v>
                </c:pt>
                <c:pt idx="1128">
                  <c:v>2024-08-27</c:v>
                </c:pt>
                <c:pt idx="1129">
                  <c:v>2024-08-28</c:v>
                </c:pt>
                <c:pt idx="1130">
                  <c:v>2024-08-29</c:v>
                </c:pt>
                <c:pt idx="1131">
                  <c:v>2024-08-30</c:v>
                </c:pt>
                <c:pt idx="1132">
                  <c:v>2024-09-02</c:v>
                </c:pt>
                <c:pt idx="1133">
                  <c:v>2024-09-03</c:v>
                </c:pt>
                <c:pt idx="1134">
                  <c:v>2024-09-04</c:v>
                </c:pt>
                <c:pt idx="1135">
                  <c:v>2024-09-05</c:v>
                </c:pt>
                <c:pt idx="1136">
                  <c:v>2024-09-06</c:v>
                </c:pt>
                <c:pt idx="1137">
                  <c:v>2024-09-09</c:v>
                </c:pt>
                <c:pt idx="1138">
                  <c:v>2024-09-10</c:v>
                </c:pt>
                <c:pt idx="1139">
                  <c:v>2024-09-11</c:v>
                </c:pt>
                <c:pt idx="1140">
                  <c:v>2024-09-12</c:v>
                </c:pt>
                <c:pt idx="1141">
                  <c:v>2024-09-13</c:v>
                </c:pt>
                <c:pt idx="1142">
                  <c:v>2024-09-18</c:v>
                </c:pt>
                <c:pt idx="1143">
                  <c:v>2024-09-19</c:v>
                </c:pt>
                <c:pt idx="1144">
                  <c:v>2024-09-20</c:v>
                </c:pt>
                <c:pt idx="1145">
                  <c:v>2024-09-23</c:v>
                </c:pt>
                <c:pt idx="1146">
                  <c:v>2024-09-24</c:v>
                </c:pt>
                <c:pt idx="1147">
                  <c:v>2024-09-25</c:v>
                </c:pt>
                <c:pt idx="1148">
                  <c:v>2024-09-26</c:v>
                </c:pt>
                <c:pt idx="1149">
                  <c:v>2024-09-27</c:v>
                </c:pt>
                <c:pt idx="1150">
                  <c:v>2024-09-30</c:v>
                </c:pt>
                <c:pt idx="1151">
                  <c:v>2024-10-08</c:v>
                </c:pt>
                <c:pt idx="1152">
                  <c:v>2024-10-09</c:v>
                </c:pt>
                <c:pt idx="1153">
                  <c:v>2024-10-10</c:v>
                </c:pt>
                <c:pt idx="1154">
                  <c:v>2024-10-11</c:v>
                </c:pt>
                <c:pt idx="1155">
                  <c:v>2024-10-14</c:v>
                </c:pt>
                <c:pt idx="1156">
                  <c:v>2024-10-15</c:v>
                </c:pt>
                <c:pt idx="1157">
                  <c:v>2024-10-16</c:v>
                </c:pt>
                <c:pt idx="1158">
                  <c:v>2024-10-17</c:v>
                </c:pt>
                <c:pt idx="1159">
                  <c:v>2024-10-18</c:v>
                </c:pt>
                <c:pt idx="1160">
                  <c:v>2024-10-21</c:v>
                </c:pt>
                <c:pt idx="1161">
                  <c:v>2024-10-22</c:v>
                </c:pt>
                <c:pt idx="1162">
                  <c:v>2024-10-23</c:v>
                </c:pt>
                <c:pt idx="1163">
                  <c:v>2024-10-24</c:v>
                </c:pt>
                <c:pt idx="1164">
                  <c:v>2024-10-25</c:v>
                </c:pt>
                <c:pt idx="1165">
                  <c:v>2024-10-28</c:v>
                </c:pt>
                <c:pt idx="1166">
                  <c:v>2024-10-29</c:v>
                </c:pt>
                <c:pt idx="1167">
                  <c:v>2024-10-30</c:v>
                </c:pt>
                <c:pt idx="1168">
                  <c:v>2024-10-31</c:v>
                </c:pt>
                <c:pt idx="1169">
                  <c:v>2024-11-01</c:v>
                </c:pt>
                <c:pt idx="1170">
                  <c:v>2024-11-04</c:v>
                </c:pt>
                <c:pt idx="1171">
                  <c:v>2024-11-05</c:v>
                </c:pt>
                <c:pt idx="1172">
                  <c:v>2024-11-06</c:v>
                </c:pt>
                <c:pt idx="1173">
                  <c:v>2024-11-07</c:v>
                </c:pt>
                <c:pt idx="1174">
                  <c:v>2024-11-08</c:v>
                </c:pt>
                <c:pt idx="1175">
                  <c:v>2024-11-11</c:v>
                </c:pt>
                <c:pt idx="1176">
                  <c:v>2024-11-12</c:v>
                </c:pt>
                <c:pt idx="1177">
                  <c:v>2024-11-13</c:v>
                </c:pt>
                <c:pt idx="1178">
                  <c:v>2024-11-14</c:v>
                </c:pt>
                <c:pt idx="1179">
                  <c:v>2024-11-15</c:v>
                </c:pt>
                <c:pt idx="1180">
                  <c:v>2024-11-18</c:v>
                </c:pt>
                <c:pt idx="1181">
                  <c:v>2024-11-19</c:v>
                </c:pt>
                <c:pt idx="1182">
                  <c:v>2024-11-20</c:v>
                </c:pt>
                <c:pt idx="1183">
                  <c:v>2024-11-21</c:v>
                </c:pt>
                <c:pt idx="1184">
                  <c:v>2024-11-22</c:v>
                </c:pt>
                <c:pt idx="1185">
                  <c:v>2024-11-25</c:v>
                </c:pt>
                <c:pt idx="1186">
                  <c:v>2024-11-26</c:v>
                </c:pt>
                <c:pt idx="1187">
                  <c:v>2024-11-27</c:v>
                </c:pt>
                <c:pt idx="1188">
                  <c:v>2024-11-28</c:v>
                </c:pt>
                <c:pt idx="1189">
                  <c:v>2024-11-29</c:v>
                </c:pt>
                <c:pt idx="1190">
                  <c:v>2024-12-02</c:v>
                </c:pt>
                <c:pt idx="1191">
                  <c:v>2024-12-03</c:v>
                </c:pt>
                <c:pt idx="1192">
                  <c:v>2024-12-04</c:v>
                </c:pt>
                <c:pt idx="1193">
                  <c:v>2024-12-05</c:v>
                </c:pt>
                <c:pt idx="1194">
                  <c:v>2024-12-06</c:v>
                </c:pt>
                <c:pt idx="1195">
                  <c:v>2024-12-09</c:v>
                </c:pt>
                <c:pt idx="1196">
                  <c:v>2024-12-10</c:v>
                </c:pt>
                <c:pt idx="1197">
                  <c:v>2024-12-11</c:v>
                </c:pt>
                <c:pt idx="1198">
                  <c:v>2024-12-12</c:v>
                </c:pt>
                <c:pt idx="1199">
                  <c:v>2024-12-13</c:v>
                </c:pt>
                <c:pt idx="1200">
                  <c:v>2024-12-16</c:v>
                </c:pt>
                <c:pt idx="1201">
                  <c:v>2024-12-17</c:v>
                </c:pt>
                <c:pt idx="1202">
                  <c:v>2024-12-18</c:v>
                </c:pt>
                <c:pt idx="1203">
                  <c:v>2024-12-19</c:v>
                </c:pt>
                <c:pt idx="1204">
                  <c:v>2024-12-20</c:v>
                </c:pt>
                <c:pt idx="1205">
                  <c:v>2024-12-23</c:v>
                </c:pt>
                <c:pt idx="1206">
                  <c:v>2024-12-24</c:v>
                </c:pt>
                <c:pt idx="1207">
                  <c:v>2024-12-25</c:v>
                </c:pt>
                <c:pt idx="1208">
                  <c:v>2024-12-26</c:v>
                </c:pt>
                <c:pt idx="1209">
                  <c:v>2024-12-27</c:v>
                </c:pt>
                <c:pt idx="1210">
                  <c:v>2024-12-30</c:v>
                </c:pt>
                <c:pt idx="1211">
                  <c:v>2024-12-31</c:v>
                </c:pt>
                <c:pt idx="1212">
                  <c:v>2025-01-02</c:v>
                </c:pt>
                <c:pt idx="1213">
                  <c:v>2025-01-03</c:v>
                </c:pt>
                <c:pt idx="1214">
                  <c:v>2025-01-06</c:v>
                </c:pt>
                <c:pt idx="1215">
                  <c:v>2025-01-07</c:v>
                </c:pt>
                <c:pt idx="1216">
                  <c:v>2025-01-08</c:v>
                </c:pt>
                <c:pt idx="1217">
                  <c:v>2025-01-09</c:v>
                </c:pt>
                <c:pt idx="1218">
                  <c:v>2025-01-10</c:v>
                </c:pt>
                <c:pt idx="1219">
                  <c:v>2025-01-13</c:v>
                </c:pt>
                <c:pt idx="1220">
                  <c:v>2025-01-14</c:v>
                </c:pt>
                <c:pt idx="1221">
                  <c:v>2025-01-15</c:v>
                </c:pt>
                <c:pt idx="1222">
                  <c:v>2025-01-16</c:v>
                </c:pt>
                <c:pt idx="1223">
                  <c:v>2025-01-17</c:v>
                </c:pt>
                <c:pt idx="1224">
                  <c:v>2025-01-20</c:v>
                </c:pt>
                <c:pt idx="1225">
                  <c:v>2025-01-21</c:v>
                </c:pt>
                <c:pt idx="1226">
                  <c:v>2025-01-22</c:v>
                </c:pt>
                <c:pt idx="1227">
                  <c:v>2025-01-23</c:v>
                </c:pt>
                <c:pt idx="1228">
                  <c:v>2025-01-24</c:v>
                </c:pt>
                <c:pt idx="1229">
                  <c:v>2025-01-27</c:v>
                </c:pt>
                <c:pt idx="1230">
                  <c:v>2025-02-05</c:v>
                </c:pt>
                <c:pt idx="1231">
                  <c:v>2025-02-06</c:v>
                </c:pt>
                <c:pt idx="1232">
                  <c:v>2025-02-07</c:v>
                </c:pt>
                <c:pt idx="1233">
                  <c:v>2025-02-10</c:v>
                </c:pt>
                <c:pt idx="1234">
                  <c:v>2025-02-11</c:v>
                </c:pt>
                <c:pt idx="1235">
                  <c:v>2025-02-12</c:v>
                </c:pt>
                <c:pt idx="1236">
                  <c:v>2025-02-13</c:v>
                </c:pt>
                <c:pt idx="1237">
                  <c:v>2025-02-14</c:v>
                </c:pt>
                <c:pt idx="1238">
                  <c:v>2025-02-17</c:v>
                </c:pt>
                <c:pt idx="1239">
                  <c:v>2025-02-18</c:v>
                </c:pt>
                <c:pt idx="1240">
                  <c:v>2025-02-19</c:v>
                </c:pt>
                <c:pt idx="1241">
                  <c:v>2025-02-20</c:v>
                </c:pt>
                <c:pt idx="1242">
                  <c:v>2025-02-21</c:v>
                </c:pt>
                <c:pt idx="1243">
                  <c:v>2025-02-24</c:v>
                </c:pt>
                <c:pt idx="1244">
                  <c:v>2025-02-25</c:v>
                </c:pt>
                <c:pt idx="1245">
                  <c:v>2025-02-26</c:v>
                </c:pt>
                <c:pt idx="1246">
                  <c:v>2025-02-27</c:v>
                </c:pt>
                <c:pt idx="1247">
                  <c:v>2025-02-28</c:v>
                </c:pt>
                <c:pt idx="1248">
                  <c:v>2025-03-03</c:v>
                </c:pt>
                <c:pt idx="1249">
                  <c:v>2025-03-04</c:v>
                </c:pt>
                <c:pt idx="1250">
                  <c:v>2025-03-05</c:v>
                </c:pt>
                <c:pt idx="1251">
                  <c:v>2025-03-06</c:v>
                </c:pt>
                <c:pt idx="1252">
                  <c:v>2025-03-07</c:v>
                </c:pt>
                <c:pt idx="1253">
                  <c:v>2025-03-10</c:v>
                </c:pt>
                <c:pt idx="1254">
                  <c:v>2025-03-11</c:v>
                </c:pt>
                <c:pt idx="1255">
                  <c:v>2025-03-12</c:v>
                </c:pt>
                <c:pt idx="1256">
                  <c:v>2025-03-13</c:v>
                </c:pt>
                <c:pt idx="1257">
                  <c:v>2025-03-14</c:v>
                </c:pt>
                <c:pt idx="1258">
                  <c:v>2025-03-17</c:v>
                </c:pt>
                <c:pt idx="1259">
                  <c:v>2025-03-18</c:v>
                </c:pt>
                <c:pt idx="1260">
                  <c:v>2025-03-19</c:v>
                </c:pt>
                <c:pt idx="1261">
                  <c:v>2025-03-20</c:v>
                </c:pt>
                <c:pt idx="1262">
                  <c:v>2025-03-21</c:v>
                </c:pt>
                <c:pt idx="1263">
                  <c:v>2025-03-24</c:v>
                </c:pt>
                <c:pt idx="1264">
                  <c:v>2025-03-25</c:v>
                </c:pt>
                <c:pt idx="1265">
                  <c:v>2025-03-26</c:v>
                </c:pt>
                <c:pt idx="1266">
                  <c:v>2025-03-27</c:v>
                </c:pt>
                <c:pt idx="1267">
                  <c:v>2025-03-28</c:v>
                </c:pt>
                <c:pt idx="1268">
                  <c:v>2025-03-31</c:v>
                </c:pt>
                <c:pt idx="1269">
                  <c:v>2025-04-01</c:v>
                </c:pt>
                <c:pt idx="1270">
                  <c:v>2025-04-02</c:v>
                </c:pt>
                <c:pt idx="1271">
                  <c:v>2025-04-03</c:v>
                </c:pt>
                <c:pt idx="1272">
                  <c:v>2025-04-07</c:v>
                </c:pt>
                <c:pt idx="1273">
                  <c:v>2025-04-08</c:v>
                </c:pt>
                <c:pt idx="1274">
                  <c:v>2025-04-09</c:v>
                </c:pt>
                <c:pt idx="1275">
                  <c:v>2025-04-10</c:v>
                </c:pt>
                <c:pt idx="1276">
                  <c:v>2025-04-11</c:v>
                </c:pt>
                <c:pt idx="1277">
                  <c:v>2025-04-14</c:v>
                </c:pt>
                <c:pt idx="1278">
                  <c:v>2025-04-15</c:v>
                </c:pt>
                <c:pt idx="1279">
                  <c:v>2025-04-16</c:v>
                </c:pt>
                <c:pt idx="1280">
                  <c:v>2025-04-17</c:v>
                </c:pt>
                <c:pt idx="1281">
                  <c:v>2025-04-18</c:v>
                </c:pt>
                <c:pt idx="1282">
                  <c:v>2025-04-21</c:v>
                </c:pt>
                <c:pt idx="1283">
                  <c:v>2025-04-22</c:v>
                </c:pt>
                <c:pt idx="1284">
                  <c:v>2025-04-23</c:v>
                </c:pt>
                <c:pt idx="1285">
                  <c:v>2025-04-24</c:v>
                </c:pt>
                <c:pt idx="1286">
                  <c:v>2025-04-25</c:v>
                </c:pt>
                <c:pt idx="1287">
                  <c:v>2025-04-28</c:v>
                </c:pt>
                <c:pt idx="1288">
                  <c:v>2025-04-29</c:v>
                </c:pt>
                <c:pt idx="1289">
                  <c:v>2025-04-30</c:v>
                </c:pt>
                <c:pt idx="1290">
                  <c:v>2025-05-06</c:v>
                </c:pt>
                <c:pt idx="1291">
                  <c:v>2025-05-07</c:v>
                </c:pt>
                <c:pt idx="1292">
                  <c:v>2025-05-08</c:v>
                </c:pt>
                <c:pt idx="1293">
                  <c:v>2025-05-09</c:v>
                </c:pt>
                <c:pt idx="1294">
                  <c:v>2025-05-12</c:v>
                </c:pt>
                <c:pt idx="1295">
                  <c:v>2025-05-13</c:v>
                </c:pt>
                <c:pt idx="1296">
                  <c:v>2025-05-14</c:v>
                </c:pt>
                <c:pt idx="1297">
                  <c:v>2025-05-15</c:v>
                </c:pt>
                <c:pt idx="1298">
                  <c:v>2025-05-16</c:v>
                </c:pt>
                <c:pt idx="1299">
                  <c:v>2025-05-19</c:v>
                </c:pt>
                <c:pt idx="1300">
                  <c:v>2025-05-20</c:v>
                </c:pt>
                <c:pt idx="1301">
                  <c:v>2025-05-21</c:v>
                </c:pt>
                <c:pt idx="1302">
                  <c:v>2025-05-22</c:v>
                </c:pt>
                <c:pt idx="1303">
                  <c:v>2025-05-23</c:v>
                </c:pt>
                <c:pt idx="1304">
                  <c:v>2025-05-26</c:v>
                </c:pt>
                <c:pt idx="1305">
                  <c:v>2025-05-27</c:v>
                </c:pt>
                <c:pt idx="1306">
                  <c:v>2025-05-28</c:v>
                </c:pt>
                <c:pt idx="1307">
                  <c:v>2025-05-29</c:v>
                </c:pt>
                <c:pt idx="1308">
                  <c:v>2025-05-30</c:v>
                </c:pt>
                <c:pt idx="1309">
                  <c:v>2025-06-03</c:v>
                </c:pt>
                <c:pt idx="1310">
                  <c:v>2025-06-04</c:v>
                </c:pt>
                <c:pt idx="1311">
                  <c:v>2025-06-05</c:v>
                </c:pt>
                <c:pt idx="1312">
                  <c:v>2025-06-06</c:v>
                </c:pt>
                <c:pt idx="1313">
                  <c:v>2025-06-09</c:v>
                </c:pt>
                <c:pt idx="1314">
                  <c:v>2025-06-10</c:v>
                </c:pt>
                <c:pt idx="1315">
                  <c:v>2025-06-11</c:v>
                </c:pt>
                <c:pt idx="1316">
                  <c:v>2025-06-12</c:v>
                </c:pt>
                <c:pt idx="1317">
                  <c:v>2025-06-13</c:v>
                </c:pt>
                <c:pt idx="1318">
                  <c:v>2025-06-16</c:v>
                </c:pt>
                <c:pt idx="1319">
                  <c:v>2025-06-17</c:v>
                </c:pt>
                <c:pt idx="1320">
                  <c:v>2025-06-18</c:v>
                </c:pt>
                <c:pt idx="1321">
                  <c:v>2025-06-19</c:v>
                </c:pt>
                <c:pt idx="1322">
                  <c:v>2025-06-20</c:v>
                </c:pt>
                <c:pt idx="1323">
                  <c:v>2025-06-23</c:v>
                </c:pt>
                <c:pt idx="1324">
                  <c:v>2025-06-24</c:v>
                </c:pt>
                <c:pt idx="1325">
                  <c:v>2025-06-25</c:v>
                </c:pt>
                <c:pt idx="1326">
                  <c:v>2025-06-26</c:v>
                </c:pt>
                <c:pt idx="1327">
                  <c:v>2025-06-27</c:v>
                </c:pt>
                <c:pt idx="1328">
                  <c:v>2025-06-30</c:v>
                </c:pt>
                <c:pt idx="1329">
                  <c:v>2025-07-01</c:v>
                </c:pt>
                <c:pt idx="1330">
                  <c:v>2025-07-02</c:v>
                </c:pt>
                <c:pt idx="1331">
                  <c:v>2025-07-03</c:v>
                </c:pt>
                <c:pt idx="1332">
                  <c:v>2025-07-04</c:v>
                </c:pt>
                <c:pt idx="1333">
                  <c:v>2025-07-07</c:v>
                </c:pt>
                <c:pt idx="1334">
                  <c:v>2025-07-08</c:v>
                </c:pt>
                <c:pt idx="1335">
                  <c:v>2025-07-09</c:v>
                </c:pt>
                <c:pt idx="1336">
                  <c:v>2025-07-10</c:v>
                </c:pt>
                <c:pt idx="1337">
                  <c:v>2025-07-11</c:v>
                </c:pt>
                <c:pt idx="1338">
                  <c:v>2025-07-14</c:v>
                </c:pt>
                <c:pt idx="1339">
                  <c:v>2025-07-15</c:v>
                </c:pt>
                <c:pt idx="1340">
                  <c:v>2025-07-16</c:v>
                </c:pt>
                <c:pt idx="1341">
                  <c:v>2025-07-17</c:v>
                </c:pt>
                <c:pt idx="1342">
                  <c:v>2025-07-18</c:v>
                </c:pt>
                <c:pt idx="1343">
                  <c:v>2025-07-21</c:v>
                </c:pt>
                <c:pt idx="1344">
                  <c:v>2025-07-22</c:v>
                </c:pt>
                <c:pt idx="1345">
                  <c:v>2025-07-23</c:v>
                </c:pt>
                <c:pt idx="1346">
                  <c:v>2025-07-24</c:v>
                </c:pt>
                <c:pt idx="1347">
                  <c:v>2025-07-25</c:v>
                </c:pt>
                <c:pt idx="1348">
                  <c:v>2025-07-28</c:v>
                </c:pt>
                <c:pt idx="1349">
                  <c:v>2025-07-29</c:v>
                </c:pt>
                <c:pt idx="1350">
                  <c:v>2025-07-30</c:v>
                </c:pt>
                <c:pt idx="1351">
                  <c:v>2025-07-31</c:v>
                </c:pt>
                <c:pt idx="1352">
                  <c:v>2025-08-01</c:v>
                </c:pt>
                <c:pt idx="1353">
                  <c:v>2025-08-04</c:v>
                </c:pt>
                <c:pt idx="1354">
                  <c:v>2025-08-05</c:v>
                </c:pt>
                <c:pt idx="1355">
                  <c:v>2025-08-06</c:v>
                </c:pt>
                <c:pt idx="1356">
                  <c:v>2025-08-07</c:v>
                </c:pt>
                <c:pt idx="1357">
                  <c:v>2025-08-08</c:v>
                </c:pt>
                <c:pt idx="1358">
                  <c:v>2025-08-11</c:v>
                </c:pt>
                <c:pt idx="1359">
                  <c:v>2025-08-12</c:v>
                </c:pt>
                <c:pt idx="1360">
                  <c:v>2025-08-13</c:v>
                </c:pt>
                <c:pt idx="1361">
                  <c:v>2025-08-14</c:v>
                </c:pt>
                <c:pt idx="1362">
                  <c:v>2025-08-15</c:v>
                </c:pt>
                <c:pt idx="1363">
                  <c:v>2025-08-18</c:v>
                </c:pt>
                <c:pt idx="1364">
                  <c:v>2025-08-19</c:v>
                </c:pt>
                <c:pt idx="1365">
                  <c:v>2025-08-20</c:v>
                </c:pt>
                <c:pt idx="1366">
                  <c:v>2025-08-21</c:v>
                </c:pt>
                <c:pt idx="1367">
                  <c:v>2025-08-22</c:v>
                </c:pt>
                <c:pt idx="1368">
                  <c:v>2025-08-25</c:v>
                </c:pt>
                <c:pt idx="1369">
                  <c:v>2025-08-26</c:v>
                </c:pt>
                <c:pt idx="1370">
                  <c:v>2025-08-27</c:v>
                </c:pt>
                <c:pt idx="1371">
                  <c:v>2025-08-28</c:v>
                </c:pt>
                <c:pt idx="1372">
                  <c:v>2025-08-29</c:v>
                </c:pt>
                <c:pt idx="1373">
                  <c:v>2025-09-01</c:v>
                </c:pt>
                <c:pt idx="1374">
                  <c:v>2025-09-02</c:v>
                </c:pt>
                <c:pt idx="1375">
                  <c:v>2025-09-03</c:v>
                </c:pt>
                <c:pt idx="1376">
                  <c:v>2025-09-04</c:v>
                </c:pt>
                <c:pt idx="1377">
                  <c:v>2025-09-05</c:v>
                </c:pt>
                <c:pt idx="1378">
                  <c:v>2025-09-08</c:v>
                </c:pt>
                <c:pt idx="1379">
                  <c:v>2025-09-09</c:v>
                </c:pt>
                <c:pt idx="1380">
                  <c:v>2025-09-10</c:v>
                </c:pt>
                <c:pt idx="1381">
                  <c:v>2025-09-11</c:v>
                </c:pt>
                <c:pt idx="1382">
                  <c:v>2025-09-12</c:v>
                </c:pt>
                <c:pt idx="1383">
                  <c:v>2025-09-15</c:v>
                </c:pt>
                <c:pt idx="1384">
                  <c:v>2025-09-16</c:v>
                </c:pt>
                <c:pt idx="1385">
                  <c:v>2025-09-17</c:v>
                </c:pt>
                <c:pt idx="1386">
                  <c:v>2025-09-18</c:v>
                </c:pt>
                <c:pt idx="1387">
                  <c:v>2025-09-19</c:v>
                </c:pt>
                <c:pt idx="1388">
                  <c:v>2025-09-22</c:v>
                </c:pt>
                <c:pt idx="1389">
                  <c:v>2025-09-23</c:v>
                </c:pt>
                <c:pt idx="1390">
                  <c:v>2025-09-24</c:v>
                </c:pt>
                <c:pt idx="1391">
                  <c:v>2025-09-25</c:v>
                </c:pt>
                <c:pt idx="1392">
                  <c:v>2025-09-26</c:v>
                </c:pt>
                <c:pt idx="1393">
                  <c:v>2025-09-29</c:v>
                </c:pt>
                <c:pt idx="1394">
                  <c:v>2025-09-30</c:v>
                </c:pt>
                <c:pt idx="1395">
                  <c:v>2025-10-09</c:v>
                </c:pt>
                <c:pt idx="1396">
                  <c:v>2025-10-10</c:v>
                </c:pt>
                <c:pt idx="1397">
                  <c:v>2025-10-13</c:v>
                </c:pt>
                <c:pt idx="1398">
                  <c:v>2025-10-14</c:v>
                </c:pt>
                <c:pt idx="1399">
                  <c:v>2025-10-15</c:v>
                </c:pt>
                <c:pt idx="1400">
                  <c:v>2025-10-16</c:v>
                </c:pt>
                <c:pt idx="1401">
                  <c:v>2025-10-17</c:v>
                </c:pt>
                <c:pt idx="1402">
                  <c:v>2025-10-20</c:v>
                </c:pt>
                <c:pt idx="1403">
                  <c:v>2025-10-21</c:v>
                </c:pt>
                <c:pt idx="1404">
                  <c:v>2025-10-22</c:v>
                </c:pt>
                <c:pt idx="1405">
                  <c:v>2025-10-23</c:v>
                </c:pt>
                <c:pt idx="1406">
                  <c:v>2025-10-24</c:v>
                </c:pt>
                <c:pt idx="1407">
                  <c:v>2025-10-27</c:v>
                </c:pt>
                <c:pt idx="1408">
                  <c:v>2025-10-28</c:v>
                </c:pt>
                <c:pt idx="1409">
                  <c:v>2025-10-29</c:v>
                </c:pt>
                <c:pt idx="1410">
                  <c:v>2025-10-30</c:v>
                </c:pt>
                <c:pt idx="1411">
                  <c:v>2025-10-31</c:v>
                </c:pt>
                <c:pt idx="1412">
                  <c:v>2025-11-03</c:v>
                </c:pt>
                <c:pt idx="1413">
                  <c:v>2025-11-04</c:v>
                </c:pt>
                <c:pt idx="1414">
                  <c:v>2025-11-05</c:v>
                </c:pt>
                <c:pt idx="1415">
                  <c:v>2025-11-06</c:v>
                </c:pt>
                <c:pt idx="1416">
                  <c:v>2025-11-07</c:v>
                </c:pt>
                <c:pt idx="1417">
                  <c:v>2025-11-10</c:v>
                </c:pt>
                <c:pt idx="1418">
                  <c:v>2025-11-11</c:v>
                </c:pt>
                <c:pt idx="1419">
                  <c:v>2025-11-12</c:v>
                </c:pt>
                <c:pt idx="1420">
                  <c:v>2025-11-13</c:v>
                </c:pt>
                <c:pt idx="1421">
                  <c:v>2025-11-14</c:v>
                </c:pt>
                <c:pt idx="1422">
                  <c:v>2025-11-17</c:v>
                </c:pt>
                <c:pt idx="1423">
                  <c:v>2025-11-18</c:v>
                </c:pt>
                <c:pt idx="1424">
                  <c:v>2025-11-19</c:v>
                </c:pt>
                <c:pt idx="1425">
                  <c:v>2025-11-20</c:v>
                </c:pt>
                <c:pt idx="1426">
                  <c:v>2025-11-21</c:v>
                </c:pt>
                <c:pt idx="1427">
                  <c:v>2025-11-24</c:v>
                </c:pt>
                <c:pt idx="1428">
                  <c:v>2025-11-25</c:v>
                </c:pt>
                <c:pt idx="1429">
                  <c:v>2025-11-26</c:v>
                </c:pt>
                <c:pt idx="1430">
                  <c:v>2025-11-27</c:v>
                </c:pt>
                <c:pt idx="1431">
                  <c:v>2025-11-28</c:v>
                </c:pt>
                <c:pt idx="1432">
                  <c:v>2025-12-01</c:v>
                </c:pt>
                <c:pt idx="1433">
                  <c:v>2025-12-02</c:v>
                </c:pt>
                <c:pt idx="1434">
                  <c:v>2025-12-03</c:v>
                </c:pt>
                <c:pt idx="1435">
                  <c:v>2025-12-04</c:v>
                </c:pt>
                <c:pt idx="1436">
                  <c:v>2025-12-05</c:v>
                </c:pt>
                <c:pt idx="1437">
                  <c:v>2025-12-08</c:v>
                </c:pt>
                <c:pt idx="1438">
                  <c:v>2025-12-09</c:v>
                </c:pt>
                <c:pt idx="1439">
                  <c:v>2025-12-10</c:v>
                </c:pt>
                <c:pt idx="1440">
                  <c:v>2025-12-11</c:v>
                </c:pt>
                <c:pt idx="1441">
                  <c:v>2025-12-12</c:v>
                </c:pt>
                <c:pt idx="1442">
                  <c:v>2025-12-15</c:v>
                </c:pt>
                <c:pt idx="1443">
                  <c:v>2025-12-16</c:v>
                </c:pt>
                <c:pt idx="1444">
                  <c:v>2025-12-17</c:v>
                </c:pt>
                <c:pt idx="1445">
                  <c:v>2025-12-18</c:v>
                </c:pt>
                <c:pt idx="1446">
                  <c:v>2025-12-19</c:v>
                </c:pt>
                <c:pt idx="1447">
                  <c:v>2025-12-22</c:v>
                </c:pt>
                <c:pt idx="1448">
                  <c:v>2025-12-23</c:v>
                </c:pt>
                <c:pt idx="1449">
                  <c:v>2025-12-24</c:v>
                </c:pt>
                <c:pt idx="1450">
                  <c:v>2025-12-25</c:v>
                </c:pt>
                <c:pt idx="1451">
                  <c:v>2025-12-26</c:v>
                </c:pt>
                <c:pt idx="1452">
                  <c:v>2025-12-29</c:v>
                </c:pt>
                <c:pt idx="1453">
                  <c:v>2025-12-30</c:v>
                </c:pt>
                <c:pt idx="1454">
                  <c:v>2025-12-31</c:v>
                </c:pt>
                <c:pt idx="1455">
                  <c:v>2026-01-05</c:v>
                </c:pt>
                <c:pt idx="1456">
                  <c:v>2026-01-06</c:v>
                </c:pt>
                <c:pt idx="1457">
                  <c:v>2026-01-07</c:v>
                </c:pt>
                <c:pt idx="1458">
                  <c:v>2026-01-08</c:v>
                </c:pt>
                <c:pt idx="1459">
                  <c:v>2026-01-09</c:v>
                </c:pt>
                <c:pt idx="1460">
                  <c:v>2026-01-12</c:v>
                </c:pt>
                <c:pt idx="1461">
                  <c:v>2026-01-13</c:v>
                </c:pt>
                <c:pt idx="1462">
                  <c:v>2026-01-14</c:v>
                </c:pt>
                <c:pt idx="1463">
                  <c:v>2026-01-15</c:v>
                </c:pt>
                <c:pt idx="1464">
                  <c:v>2026-01-16</c:v>
                </c:pt>
                <c:pt idx="1465">
                  <c:v>2026-01-19</c:v>
                </c:pt>
                <c:pt idx="1466">
                  <c:v>2026-01-20</c:v>
                </c:pt>
                <c:pt idx="1467">
                  <c:v>2026-01-21</c:v>
                </c:pt>
                <c:pt idx="1468">
                  <c:v>2026-01-22</c:v>
                </c:pt>
                <c:pt idx="1469">
                  <c:v>2026-01-23</c:v>
                </c:pt>
                <c:pt idx="1470">
                  <c:v>2026-01-26</c:v>
                </c:pt>
                <c:pt idx="1471">
                  <c:v>2026-01-27</c:v>
                </c:pt>
                <c:pt idx="1472">
                  <c:v>2026-01-28</c:v>
                </c:pt>
                <c:pt idx="1473">
                  <c:v>2026-01-29</c:v>
                </c:pt>
                <c:pt idx="1474">
                  <c:v>2026-01-30</c:v>
                </c:pt>
                <c:pt idx="1475">
                  <c:v>2026-02-02</c:v>
                </c:pt>
                <c:pt idx="1476">
                  <c:v>2026-02-03</c:v>
                </c:pt>
                <c:pt idx="1477">
                  <c:v>2026-02-04</c:v>
                </c:pt>
                <c:pt idx="1478">
                  <c:v>2026-02-05</c:v>
                </c:pt>
                <c:pt idx="1479">
                  <c:v>2026-02-06</c:v>
                </c:pt>
                <c:pt idx="1480">
                  <c:v>2026-02-09</c:v>
                </c:pt>
                <c:pt idx="1481">
                  <c:v>2026-02-10</c:v>
                </c:pt>
                <c:pt idx="1482">
                  <c:v>2026-02-11</c:v>
                </c:pt>
                <c:pt idx="1483">
                  <c:v>2026-02-12</c:v>
                </c:pt>
                <c:pt idx="1484">
                  <c:v>2026-02-13</c:v>
                </c:pt>
                <c:pt idx="1485">
                  <c:v>2026-02-24</c:v>
                </c:pt>
                <c:pt idx="1486">
                  <c:v>2026-02-25</c:v>
                </c:pt>
                <c:pt idx="1487">
                  <c:v>2026-02-26</c:v>
                </c:pt>
                <c:pt idx="1488">
                  <c:v>2026-02-27</c:v>
                </c:pt>
                <c:pt idx="1489">
                  <c:v>2026-03-02</c:v>
                </c:pt>
                <c:pt idx="1490">
                  <c:v>2026-03-03</c:v>
                </c:pt>
                <c:pt idx="1491">
                  <c:v>2026-03-04</c:v>
                </c:pt>
                <c:pt idx="1492">
                  <c:v>2026-03-05</c:v>
                </c:pt>
                <c:pt idx="1493">
                  <c:v>2026-03-06</c:v>
                </c:pt>
                <c:pt idx="1494">
                  <c:v>2026-03-09</c:v>
                </c:pt>
                <c:pt idx="1495">
                  <c:v>2026-03-10</c:v>
                </c:pt>
                <c:pt idx="1496">
                  <c:v>2026-03-11</c:v>
                </c:pt>
                <c:pt idx="1497">
                  <c:v>2026-03-12</c:v>
                </c:pt>
                <c:pt idx="1498">
                  <c:v>2026-03-13</c:v>
                </c:pt>
                <c:pt idx="1499">
                  <c:v>2026-03-16</c:v>
                </c:pt>
                <c:pt idx="1500">
                  <c:v>2026-03-17</c:v>
                </c:pt>
                <c:pt idx="1501">
                  <c:v>2026-03-18</c:v>
                </c:pt>
                <c:pt idx="1502">
                  <c:v>2026-03-19</c:v>
                </c:pt>
                <c:pt idx="1503">
                  <c:v>2026-03-20</c:v>
                </c:pt>
                <c:pt idx="1504">
                  <c:v>2026-03-23</c:v>
                </c:pt>
                <c:pt idx="1505">
                  <c:v>2026-03-24</c:v>
                </c:pt>
                <c:pt idx="1506">
                  <c:v>2026-03-25</c:v>
                </c:pt>
                <c:pt idx="1507">
                  <c:v>2026-03-26</c:v>
                </c:pt>
                <c:pt idx="1508">
                  <c:v>2026-03-27</c:v>
                </c:pt>
                <c:pt idx="1509">
                  <c:v>2026-03-30</c:v>
                </c:pt>
                <c:pt idx="1510">
                  <c:v>2026-03-31</c:v>
                </c:pt>
                <c:pt idx="1511">
                  <c:v>2026-04-01</c:v>
                </c:pt>
                <c:pt idx="1512">
                  <c:v>2026-04-02</c:v>
                </c:pt>
                <c:pt idx="1513">
                  <c:v>2026-04-03</c:v>
                </c:pt>
                <c:pt idx="1514">
                  <c:v>2026-04-07</c:v>
                </c:pt>
                <c:pt idx="1515">
                  <c:v>2026-04-08</c:v>
                </c:pt>
                <c:pt idx="1516">
                  <c:v>2026-04-09</c:v>
                </c:pt>
                <c:pt idx="1517">
                  <c:v>2026-04-10</c:v>
                </c:pt>
                <c:pt idx="1518">
                  <c:v>2026-04-13</c:v>
                </c:pt>
                <c:pt idx="1519">
                  <c:v>2026-04-14</c:v>
                </c:pt>
                <c:pt idx="1520">
                  <c:v>2026-04-15</c:v>
                </c:pt>
                <c:pt idx="1521">
                  <c:v>2026-04-16</c:v>
                </c:pt>
                <c:pt idx="1522">
                  <c:v>2026-04-17</c:v>
                </c:pt>
                <c:pt idx="1523">
                  <c:v>2026-04-20</c:v>
                </c:pt>
                <c:pt idx="1524">
                  <c:v>2026-04-21</c:v>
                </c:pt>
                <c:pt idx="1525">
                  <c:v>2026-04-22</c:v>
                </c:pt>
                <c:pt idx="1526">
                  <c:v>2026-04-23</c:v>
                </c:pt>
                <c:pt idx="1527">
                  <c:v>2026-04-24</c:v>
                </c:pt>
                <c:pt idx="1528">
                  <c:v>2026-04-27</c:v>
                </c:pt>
                <c:pt idx="1529">
                  <c:v>2026-04-28</c:v>
                </c:pt>
                <c:pt idx="1530">
                  <c:v>2026-04-29</c:v>
                </c:pt>
                <c:pt idx="1531">
                  <c:v>2026-04-30</c:v>
                </c:pt>
              </c:strCache>
            </c:strRef>
          </c:cat>
          <c:val>
            <c:numRef>
              <c:f>结果页!$B$2:$B$1533</c:f>
              <c:numCache>
                <c:formatCode>General</c:formatCode>
                <c:ptCount val="1532"/>
                <c:pt idx="0">
                  <c:v>1</c:v>
                </c:pt>
                <c:pt idx="1">
                  <c:v>1.001282101855739</c:v>
                </c:pt>
                <c:pt idx="2">
                  <c:v>1.0037099832222049</c:v>
                </c:pt>
                <c:pt idx="3">
                  <c:v>1.004258659622141</c:v>
                </c:pt>
                <c:pt idx="4">
                  <c:v>1.004019713382472</c:v>
                </c:pt>
                <c:pt idx="5">
                  <c:v>1.004945562503393</c:v>
                </c:pt>
                <c:pt idx="6">
                  <c:v>1.005956108309493</c:v>
                </c:pt>
                <c:pt idx="7">
                  <c:v>1.008300064803362</c:v>
                </c:pt>
                <c:pt idx="8">
                  <c:v>1.0078036453938699</c:v>
                </c:pt>
                <c:pt idx="9">
                  <c:v>1.0083741656548491</c:v>
                </c:pt>
                <c:pt idx="10">
                  <c:v>1.0089292698534089</c:v>
                </c:pt>
                <c:pt idx="11">
                  <c:v>1.009441416059019</c:v>
                </c:pt>
                <c:pt idx="12">
                  <c:v>1.0124615310753</c:v>
                </c:pt>
                <c:pt idx="13">
                  <c:v>1.0123085449890901</c:v>
                </c:pt>
                <c:pt idx="14">
                  <c:v>1.0144587381269561</c:v>
                </c:pt>
                <c:pt idx="15">
                  <c:v>1.0118473625860041</c:v>
                </c:pt>
                <c:pt idx="16">
                  <c:v>1.0088889678950079</c:v>
                </c:pt>
                <c:pt idx="17">
                  <c:v>1.010950486427008</c:v>
                </c:pt>
                <c:pt idx="18">
                  <c:v>1.012678305902408</c:v>
                </c:pt>
                <c:pt idx="19">
                  <c:v>1.0155322667295199</c:v>
                </c:pt>
                <c:pt idx="20">
                  <c:v>1.0183648210730869</c:v>
                </c:pt>
                <c:pt idx="21">
                  <c:v>1.019868699366457</c:v>
                </c:pt>
                <c:pt idx="22">
                  <c:v>1.0191798908596379</c:v>
                </c:pt>
                <c:pt idx="23">
                  <c:v>1.0215982346686689</c:v>
                </c:pt>
                <c:pt idx="24">
                  <c:v>1.0219795870500481</c:v>
                </c:pt>
                <c:pt idx="25">
                  <c:v>1.0220336284987259</c:v>
                </c:pt>
                <c:pt idx="26">
                  <c:v>1.025984226821099</c:v>
                </c:pt>
                <c:pt idx="27">
                  <c:v>1.028408633977945</c:v>
                </c:pt>
                <c:pt idx="28">
                  <c:v>1.028098020897976</c:v>
                </c:pt>
                <c:pt idx="29">
                  <c:v>1.030407506079005</c:v>
                </c:pt>
                <c:pt idx="30">
                  <c:v>1.03381646123149</c:v>
                </c:pt>
                <c:pt idx="31">
                  <c:v>1.0386592471234539</c:v>
                </c:pt>
                <c:pt idx="32">
                  <c:v>1.03898277345882</c:v>
                </c:pt>
                <c:pt idx="33">
                  <c:v>1.0344886125850881</c:v>
                </c:pt>
                <c:pt idx="34">
                  <c:v>1.0347681529227071</c:v>
                </c:pt>
                <c:pt idx="35">
                  <c:v>1.02884857680863</c:v>
                </c:pt>
                <c:pt idx="36">
                  <c:v>1.0319441044532811</c:v>
                </c:pt>
                <c:pt idx="37">
                  <c:v>1.0329357756482811</c:v>
                </c:pt>
                <c:pt idx="38">
                  <c:v>1.034305960070959</c:v>
                </c:pt>
                <c:pt idx="39">
                  <c:v>1.0359192958349701</c:v>
                </c:pt>
                <c:pt idx="40">
                  <c:v>1.0368929441276029</c:v>
                </c:pt>
                <c:pt idx="41">
                  <c:v>1.034789200366778</c:v>
                </c:pt>
                <c:pt idx="42">
                  <c:v>1.0358254971606671</c:v>
                </c:pt>
                <c:pt idx="43">
                  <c:v>1.0339982232425691</c:v>
                </c:pt>
                <c:pt idx="44">
                  <c:v>1.0313073419419261</c:v>
                </c:pt>
                <c:pt idx="45">
                  <c:v>1.0278458391047549</c:v>
                </c:pt>
                <c:pt idx="46">
                  <c:v>1.0204540167066021</c:v>
                </c:pt>
                <c:pt idx="47">
                  <c:v>1.0175108726604789</c:v>
                </c:pt>
                <c:pt idx="48">
                  <c:v>1.016655441604184</c:v>
                </c:pt>
                <c:pt idx="49">
                  <c:v>1.01704523826664</c:v>
                </c:pt>
                <c:pt idx="50">
                  <c:v>1.0189668631323281</c:v>
                </c:pt>
                <c:pt idx="51">
                  <c:v>1.0154512937901761</c:v>
                </c:pt>
                <c:pt idx="52">
                  <c:v>1.020213277471405</c:v>
                </c:pt>
                <c:pt idx="53">
                  <c:v>1.024446681213528</c:v>
                </c:pt>
                <c:pt idx="54">
                  <c:v>1.024068376271182</c:v>
                </c:pt>
                <c:pt idx="55">
                  <c:v>1.0239320325342081</c:v>
                </c:pt>
                <c:pt idx="56">
                  <c:v>1.021266206178874</c:v>
                </c:pt>
                <c:pt idx="57">
                  <c:v>1.0223692280680261</c:v>
                </c:pt>
                <c:pt idx="58">
                  <c:v>1.023144022838983</c:v>
                </c:pt>
                <c:pt idx="59">
                  <c:v>1.0264295275873461</c:v>
                </c:pt>
                <c:pt idx="60">
                  <c:v>1.025689833122011</c:v>
                </c:pt>
                <c:pt idx="61">
                  <c:v>1.035231504263413</c:v>
                </c:pt>
                <c:pt idx="62">
                  <c:v>1.0379044512802591</c:v>
                </c:pt>
                <c:pt idx="63">
                  <c:v>1.0390126484152891</c:v>
                </c:pt>
                <c:pt idx="64">
                  <c:v>1.036266359748423</c:v>
                </c:pt>
                <c:pt idx="65">
                  <c:v>1.0346848838284459</c:v>
                </c:pt>
                <c:pt idx="66">
                  <c:v>1.0382657111272271</c:v>
                </c:pt>
                <c:pt idx="67">
                  <c:v>1.038456402661964</c:v>
                </c:pt>
                <c:pt idx="68">
                  <c:v>1.0408342889679749</c:v>
                </c:pt>
                <c:pt idx="69">
                  <c:v>1.04015961001707</c:v>
                </c:pt>
                <c:pt idx="70">
                  <c:v>1.040776542697653</c:v>
                </c:pt>
                <c:pt idx="71">
                  <c:v>1.041219138254394</c:v>
                </c:pt>
                <c:pt idx="72">
                  <c:v>1.0428487669746009</c:v>
                </c:pt>
                <c:pt idx="73">
                  <c:v>1.0444485991733079</c:v>
                </c:pt>
                <c:pt idx="74">
                  <c:v>1.043993823881163</c:v>
                </c:pt>
                <c:pt idx="75">
                  <c:v>1.043803034151779</c:v>
                </c:pt>
                <c:pt idx="76">
                  <c:v>1.043874336181825</c:v>
                </c:pt>
                <c:pt idx="77">
                  <c:v>1.0445291173736131</c:v>
                </c:pt>
                <c:pt idx="78">
                  <c:v>1.047725463999768</c:v>
                </c:pt>
                <c:pt idx="79">
                  <c:v>1.0495755361632391</c:v>
                </c:pt>
                <c:pt idx="80">
                  <c:v>1.046752242538155</c:v>
                </c:pt>
                <c:pt idx="81">
                  <c:v>1.0472407685915439</c:v>
                </c:pt>
                <c:pt idx="82">
                  <c:v>1.044377714996811</c:v>
                </c:pt>
                <c:pt idx="83">
                  <c:v>1.04402421755149</c:v>
                </c:pt>
                <c:pt idx="84">
                  <c:v>1.044466220946308</c:v>
                </c:pt>
                <c:pt idx="85">
                  <c:v>1.043989140731759</c:v>
                </c:pt>
                <c:pt idx="86">
                  <c:v>1.0460685656522291</c:v>
                </c:pt>
                <c:pt idx="87">
                  <c:v>1.0453285774915131</c:v>
                </c:pt>
                <c:pt idx="88">
                  <c:v>1.046260827735074</c:v>
                </c:pt>
                <c:pt idx="89">
                  <c:v>1.045612088975812</c:v>
                </c:pt>
                <c:pt idx="90">
                  <c:v>1.043053266917348</c:v>
                </c:pt>
                <c:pt idx="91">
                  <c:v>1.042717632267673</c:v>
                </c:pt>
                <c:pt idx="92">
                  <c:v>1.0412951708116129</c:v>
                </c:pt>
                <c:pt idx="93">
                  <c:v>1.0425036326813231</c:v>
                </c:pt>
                <c:pt idx="94">
                  <c:v>1.039671700853823</c:v>
                </c:pt>
                <c:pt idx="95">
                  <c:v>1.039213268718828</c:v>
                </c:pt>
                <c:pt idx="96">
                  <c:v>1.0397315546677961</c:v>
                </c:pt>
                <c:pt idx="97">
                  <c:v>1.0437696530305669</c:v>
                </c:pt>
                <c:pt idx="98">
                  <c:v>1.040167771304243</c:v>
                </c:pt>
                <c:pt idx="99">
                  <c:v>1.036992781266789</c:v>
                </c:pt>
                <c:pt idx="100">
                  <c:v>1.0348438074611319</c:v>
                </c:pt>
                <c:pt idx="101">
                  <c:v>1.03334128232686</c:v>
                </c:pt>
                <c:pt idx="102">
                  <c:v>1.03230068486388</c:v>
                </c:pt>
                <c:pt idx="103">
                  <c:v>1.033822649517294</c:v>
                </c:pt>
                <c:pt idx="104">
                  <c:v>1.03479060688409</c:v>
                </c:pt>
                <c:pt idx="105">
                  <c:v>1.035964467895188</c:v>
                </c:pt>
                <c:pt idx="106">
                  <c:v>1.0371469324679849</c:v>
                </c:pt>
                <c:pt idx="107">
                  <c:v>1.036972613718175</c:v>
                </c:pt>
                <c:pt idx="108">
                  <c:v>1.0384487206818951</c:v>
                </c:pt>
                <c:pt idx="109">
                  <c:v>1.037728096007843</c:v>
                </c:pt>
                <c:pt idx="110">
                  <c:v>1.0389418019687271</c:v>
                </c:pt>
                <c:pt idx="111">
                  <c:v>1.0398926947386671</c:v>
                </c:pt>
                <c:pt idx="112">
                  <c:v>1.040863894992514</c:v>
                </c:pt>
                <c:pt idx="113">
                  <c:v>1.039963207907568</c:v>
                </c:pt>
                <c:pt idx="114">
                  <c:v>1.041298892095045</c:v>
                </c:pt>
                <c:pt idx="115">
                  <c:v>1.041177835194212</c:v>
                </c:pt>
                <c:pt idx="116">
                  <c:v>1.044338148261607</c:v>
                </c:pt>
                <c:pt idx="117">
                  <c:v>1.0452656034902239</c:v>
                </c:pt>
                <c:pt idx="118">
                  <c:v>1.046212759280635</c:v>
                </c:pt>
                <c:pt idx="119">
                  <c:v>1.047529703258766</c:v>
                </c:pt>
                <c:pt idx="120">
                  <c:v>1.050945498277992</c:v>
                </c:pt>
                <c:pt idx="121">
                  <c:v>1.050837395620819</c:v>
                </c:pt>
                <c:pt idx="122">
                  <c:v>1.053396870754711</c:v>
                </c:pt>
                <c:pt idx="123">
                  <c:v>1.0545658342193489</c:v>
                </c:pt>
                <c:pt idx="124">
                  <c:v>1.052945428458582</c:v>
                </c:pt>
                <c:pt idx="125">
                  <c:v>1.0564344555147109</c:v>
                </c:pt>
                <c:pt idx="126">
                  <c:v>1.0540579804253529</c:v>
                </c:pt>
                <c:pt idx="127">
                  <c:v>1.049557306507916</c:v>
                </c:pt>
                <c:pt idx="128">
                  <c:v>1.042698228846785</c:v>
                </c:pt>
                <c:pt idx="129">
                  <c:v>1.0433403159355199</c:v>
                </c:pt>
                <c:pt idx="130">
                  <c:v>1.0477748239193581</c:v>
                </c:pt>
                <c:pt idx="131">
                  <c:v>1.050868940777119</c:v>
                </c:pt>
                <c:pt idx="132">
                  <c:v>1.055041813825494</c:v>
                </c:pt>
                <c:pt idx="133">
                  <c:v>1.056397155359595</c:v>
                </c:pt>
                <c:pt idx="134">
                  <c:v>1.051292053194046</c:v>
                </c:pt>
                <c:pt idx="135">
                  <c:v>1.0533247097148479</c:v>
                </c:pt>
                <c:pt idx="136">
                  <c:v>1.05468016236441</c:v>
                </c:pt>
                <c:pt idx="137">
                  <c:v>1.0586982511339049</c:v>
                </c:pt>
                <c:pt idx="138">
                  <c:v>1.056880083846589</c:v>
                </c:pt>
                <c:pt idx="139">
                  <c:v>1.0598753888912</c:v>
                </c:pt>
                <c:pt idx="140">
                  <c:v>1.063796105046154</c:v>
                </c:pt>
                <c:pt idx="141">
                  <c:v>1.062044826998952</c:v>
                </c:pt>
                <c:pt idx="142">
                  <c:v>1.0651141187565889</c:v>
                </c:pt>
                <c:pt idx="143">
                  <c:v>1.064927483049215</c:v>
                </c:pt>
                <c:pt idx="144">
                  <c:v>1.0628999820064009</c:v>
                </c:pt>
                <c:pt idx="145">
                  <c:v>1.0629221027726981</c:v>
                </c:pt>
                <c:pt idx="146">
                  <c:v>1.0594204523588651</c:v>
                </c:pt>
                <c:pt idx="147">
                  <c:v>1.0543030071126811</c:v>
                </c:pt>
                <c:pt idx="148">
                  <c:v>1.055363073298845</c:v>
                </c:pt>
                <c:pt idx="149">
                  <c:v>1.0582004480448179</c:v>
                </c:pt>
                <c:pt idx="150">
                  <c:v>1.061848960469379</c:v>
                </c:pt>
                <c:pt idx="151">
                  <c:v>1.063762079207393</c:v>
                </c:pt>
                <c:pt idx="152">
                  <c:v>1.0595225395795871</c:v>
                </c:pt>
                <c:pt idx="153">
                  <c:v>1.05660347114062</c:v>
                </c:pt>
                <c:pt idx="154">
                  <c:v>1.0575609525109471</c:v>
                </c:pt>
                <c:pt idx="155">
                  <c:v>1.0593996050366621</c:v>
                </c:pt>
                <c:pt idx="156">
                  <c:v>1.0577107342639669</c:v>
                </c:pt>
                <c:pt idx="157">
                  <c:v>1.053426393580337</c:v>
                </c:pt>
                <c:pt idx="158">
                  <c:v>1.0553058309648451</c:v>
                </c:pt>
                <c:pt idx="159">
                  <c:v>1.0564586453617979</c:v>
                </c:pt>
                <c:pt idx="160">
                  <c:v>1.0561255362304951</c:v>
                </c:pt>
                <c:pt idx="161">
                  <c:v>1.0578677548023541</c:v>
                </c:pt>
                <c:pt idx="162">
                  <c:v>1.056765384299807</c:v>
                </c:pt>
                <c:pt idx="163">
                  <c:v>1.054463271393361</c:v>
                </c:pt>
                <c:pt idx="164">
                  <c:v>1.053536170146774</c:v>
                </c:pt>
                <c:pt idx="165">
                  <c:v>1.0496202824453771</c:v>
                </c:pt>
                <c:pt idx="166">
                  <c:v>1.050012132608773</c:v>
                </c:pt>
                <c:pt idx="167">
                  <c:v>1.046007916958221</c:v>
                </c:pt>
                <c:pt idx="168">
                  <c:v>1.0443156131854541</c:v>
                </c:pt>
                <c:pt idx="169">
                  <c:v>1.0467150658757951</c:v>
                </c:pt>
                <c:pt idx="170">
                  <c:v>1.048722155605925</c:v>
                </c:pt>
                <c:pt idx="171">
                  <c:v>1.0503804096997571</c:v>
                </c:pt>
                <c:pt idx="172">
                  <c:v>1.0491711348640469</c:v>
                </c:pt>
                <c:pt idx="173">
                  <c:v>1.049724541831339</c:v>
                </c:pt>
                <c:pt idx="174">
                  <c:v>1.052124542844004</c:v>
                </c:pt>
                <c:pt idx="175">
                  <c:v>1.0516722755805319</c:v>
                </c:pt>
                <c:pt idx="176">
                  <c:v>1.0489863426121311</c:v>
                </c:pt>
                <c:pt idx="177">
                  <c:v>1.0497060059785159</c:v>
                </c:pt>
                <c:pt idx="178">
                  <c:v>1.0458281760373369</c:v>
                </c:pt>
                <c:pt idx="179">
                  <c:v>1.0459355447048579</c:v>
                </c:pt>
                <c:pt idx="180">
                  <c:v>1.044992450987674</c:v>
                </c:pt>
                <c:pt idx="181">
                  <c:v>1.047326134683553</c:v>
                </c:pt>
                <c:pt idx="182">
                  <c:v>1.047583933795603</c:v>
                </c:pt>
                <c:pt idx="183">
                  <c:v>1.0520436663021879</c:v>
                </c:pt>
                <c:pt idx="184">
                  <c:v>1.0566807866416781</c:v>
                </c:pt>
                <c:pt idx="185">
                  <c:v>1.0571858414421169</c:v>
                </c:pt>
                <c:pt idx="186">
                  <c:v>1.0557239502091</c:v>
                </c:pt>
                <c:pt idx="187">
                  <c:v>1.054599159529046</c:v>
                </c:pt>
                <c:pt idx="188">
                  <c:v>1.054334172189388</c:v>
                </c:pt>
                <c:pt idx="189">
                  <c:v>1.053583192792293</c:v>
                </c:pt>
                <c:pt idx="190">
                  <c:v>1.0550692038966329</c:v>
                </c:pt>
                <c:pt idx="191">
                  <c:v>1.053697423019577</c:v>
                </c:pt>
                <c:pt idx="192">
                  <c:v>1.053260378573317</c:v>
                </c:pt>
                <c:pt idx="193">
                  <c:v>1.050542321827735</c:v>
                </c:pt>
                <c:pt idx="194">
                  <c:v>1.0511893195004181</c:v>
                </c:pt>
                <c:pt idx="195">
                  <c:v>1.0534553366557851</c:v>
                </c:pt>
                <c:pt idx="196">
                  <c:v>1.0546072730153839</c:v>
                </c:pt>
                <c:pt idx="197">
                  <c:v>1.0538563934774321</c:v>
                </c:pt>
                <c:pt idx="198">
                  <c:v>1.0510861649144809</c:v>
                </c:pt>
                <c:pt idx="199">
                  <c:v>1.05279547077975</c:v>
                </c:pt>
                <c:pt idx="200">
                  <c:v>1.0554117787540309</c:v>
                </c:pt>
                <c:pt idx="201">
                  <c:v>1.0559679138857161</c:v>
                </c:pt>
                <c:pt idx="202">
                  <c:v>1.058686748310212</c:v>
                </c:pt>
                <c:pt idx="203">
                  <c:v>1.0582760378786711</c:v>
                </c:pt>
                <c:pt idx="204">
                  <c:v>1.0619024493111711</c:v>
                </c:pt>
                <c:pt idx="205">
                  <c:v>1.058167996391828</c:v>
                </c:pt>
                <c:pt idx="206">
                  <c:v>1.0544124582187651</c:v>
                </c:pt>
                <c:pt idx="207">
                  <c:v>1.0539856946870101</c:v>
                </c:pt>
                <c:pt idx="208">
                  <c:v>1.052885493164218</c:v>
                </c:pt>
                <c:pt idx="209">
                  <c:v>1.0527315538959361</c:v>
                </c:pt>
                <c:pt idx="210">
                  <c:v>1.050798231426697</c:v>
                </c:pt>
                <c:pt idx="211">
                  <c:v>1.049149832897309</c:v>
                </c:pt>
                <c:pt idx="212">
                  <c:v>1.0484303598250611</c:v>
                </c:pt>
                <c:pt idx="213">
                  <c:v>1.0481042889834511</c:v>
                </c:pt>
                <c:pt idx="214">
                  <c:v>1.0491015622480171</c:v>
                </c:pt>
                <c:pt idx="215">
                  <c:v>1.0476582418658771</c:v>
                </c:pt>
                <c:pt idx="216">
                  <c:v>1.045301138531439</c:v>
                </c:pt>
                <c:pt idx="217">
                  <c:v>1.044967073315566</c:v>
                </c:pt>
                <c:pt idx="218">
                  <c:v>1.045432164496678</c:v>
                </c:pt>
                <c:pt idx="219">
                  <c:v>1.045856674876948</c:v>
                </c:pt>
                <c:pt idx="220">
                  <c:v>1.048732267037614</c:v>
                </c:pt>
                <c:pt idx="221">
                  <c:v>1.0496513234891089</c:v>
                </c:pt>
                <c:pt idx="222">
                  <c:v>1.050358514365346</c:v>
                </c:pt>
                <c:pt idx="223">
                  <c:v>1.0514315215602961</c:v>
                </c:pt>
                <c:pt idx="224">
                  <c:v>1.051555327062289</c:v>
                </c:pt>
                <c:pt idx="225">
                  <c:v>1.052862243778613</c:v>
                </c:pt>
                <c:pt idx="226">
                  <c:v>1.0504473869088331</c:v>
                </c:pt>
                <c:pt idx="227">
                  <c:v>1.0507532881932919</c:v>
                </c:pt>
                <c:pt idx="228">
                  <c:v>1.048601580939317</c:v>
                </c:pt>
                <c:pt idx="229">
                  <c:v>1.049769904335591</c:v>
                </c:pt>
                <c:pt idx="230">
                  <c:v>1.0508805331072339</c:v>
                </c:pt>
                <c:pt idx="231">
                  <c:v>1.0506869838998969</c:v>
                </c:pt>
                <c:pt idx="232">
                  <c:v>1.052219636426188</c:v>
                </c:pt>
                <c:pt idx="233">
                  <c:v>1.052535655225687</c:v>
                </c:pt>
                <c:pt idx="234">
                  <c:v>1.056786873852319</c:v>
                </c:pt>
                <c:pt idx="235">
                  <c:v>1.054082045124286</c:v>
                </c:pt>
                <c:pt idx="236">
                  <c:v>1.056193611358812</c:v>
                </c:pt>
                <c:pt idx="237">
                  <c:v>1.0547660733908739</c:v>
                </c:pt>
                <c:pt idx="238">
                  <c:v>1.056635526436857</c:v>
                </c:pt>
                <c:pt idx="239">
                  <c:v>1.0564910640366481</c:v>
                </c:pt>
                <c:pt idx="240">
                  <c:v>1.0560445687647431</c:v>
                </c:pt>
                <c:pt idx="241">
                  <c:v>1.0586468190205369</c:v>
                </c:pt>
                <c:pt idx="242">
                  <c:v>1.061070352692431</c:v>
                </c:pt>
                <c:pt idx="243">
                  <c:v>1.064198623915581</c:v>
                </c:pt>
                <c:pt idx="244">
                  <c:v>1.0663630592449049</c:v>
                </c:pt>
                <c:pt idx="245">
                  <c:v>1.0662755188472139</c:v>
                </c:pt>
                <c:pt idx="246">
                  <c:v>1.0666487500987969</c:v>
                </c:pt>
                <c:pt idx="247">
                  <c:v>1.0661480771492</c:v>
                </c:pt>
                <c:pt idx="248">
                  <c:v>1.0637314747645661</c:v>
                </c:pt>
                <c:pt idx="249">
                  <c:v>1.0667372660617229</c:v>
                </c:pt>
                <c:pt idx="250">
                  <c:v>1.066800688711901</c:v>
                </c:pt>
                <c:pt idx="251">
                  <c:v>1.0665131649085251</c:v>
                </c:pt>
                <c:pt idx="252">
                  <c:v>1.0658539693788409</c:v>
                </c:pt>
                <c:pt idx="253">
                  <c:v>1.068077295005768</c:v>
                </c:pt>
                <c:pt idx="254">
                  <c:v>1.066698489906178</c:v>
                </c:pt>
                <c:pt idx="255">
                  <c:v>1.068778420175629</c:v>
                </c:pt>
                <c:pt idx="256">
                  <c:v>1.071321813882548</c:v>
                </c:pt>
                <c:pt idx="257">
                  <c:v>1.071715830003263</c:v>
                </c:pt>
                <c:pt idx="258">
                  <c:v>1.071477738891256</c:v>
                </c:pt>
                <c:pt idx="259">
                  <c:v>1.0682308143928749</c:v>
                </c:pt>
                <c:pt idx="260">
                  <c:v>1.0680710990198501</c:v>
                </c:pt>
                <c:pt idx="261">
                  <c:v>1.063020280512432</c:v>
                </c:pt>
                <c:pt idx="262">
                  <c:v>1.0620636005107009</c:v>
                </c:pt>
                <c:pt idx="263">
                  <c:v>1.0641644621811299</c:v>
                </c:pt>
                <c:pt idx="264">
                  <c:v>1.0654995112594099</c:v>
                </c:pt>
                <c:pt idx="265">
                  <c:v>1.0633156833810939</c:v>
                </c:pt>
                <c:pt idx="266">
                  <c:v>1.061098367961161</c:v>
                </c:pt>
                <c:pt idx="267">
                  <c:v>1.05903690341975</c:v>
                </c:pt>
                <c:pt idx="268">
                  <c:v>1.060879193204568</c:v>
                </c:pt>
                <c:pt idx="269">
                  <c:v>1.0642945190058719</c:v>
                </c:pt>
                <c:pt idx="270">
                  <c:v>1.0656275405936151</c:v>
                </c:pt>
                <c:pt idx="271">
                  <c:v>1.064245217898762</c:v>
                </c:pt>
                <c:pt idx="272">
                  <c:v>1.0648370504256539</c:v>
                </c:pt>
                <c:pt idx="273">
                  <c:v>1.0635432028241101</c:v>
                </c:pt>
                <c:pt idx="274">
                  <c:v>1.063683463905456</c:v>
                </c:pt>
                <c:pt idx="275">
                  <c:v>1.061955768732983</c:v>
                </c:pt>
                <c:pt idx="276">
                  <c:v>1.0609472926586661</c:v>
                </c:pt>
                <c:pt idx="277">
                  <c:v>1.058184732009972</c:v>
                </c:pt>
                <c:pt idx="278">
                  <c:v>1.0616341066603789</c:v>
                </c:pt>
                <c:pt idx="279">
                  <c:v>1.0602695505178841</c:v>
                </c:pt>
                <c:pt idx="280">
                  <c:v>1.0618200959772659</c:v>
                </c:pt>
                <c:pt idx="281">
                  <c:v>1.0584511819479641</c:v>
                </c:pt>
                <c:pt idx="282">
                  <c:v>1.0586026844082841</c:v>
                </c:pt>
                <c:pt idx="283">
                  <c:v>1.0562717945135569</c:v>
                </c:pt>
                <c:pt idx="284">
                  <c:v>1.053040292524577</c:v>
                </c:pt>
                <c:pt idx="285">
                  <c:v>1.0537844639532561</c:v>
                </c:pt>
                <c:pt idx="286">
                  <c:v>1.056525540641621</c:v>
                </c:pt>
                <c:pt idx="287">
                  <c:v>1.0556327283694</c:v>
                </c:pt>
                <c:pt idx="288">
                  <c:v>1.054068185590523</c:v>
                </c:pt>
                <c:pt idx="289">
                  <c:v>1.0552003102990171</c:v>
                </c:pt>
                <c:pt idx="290">
                  <c:v>1.0565746150355011</c:v>
                </c:pt>
                <c:pt idx="291">
                  <c:v>1.0575278823398471</c:v>
                </c:pt>
                <c:pt idx="292">
                  <c:v>1.0560496079030031</c:v>
                </c:pt>
                <c:pt idx="293">
                  <c:v>1.05729111065203</c:v>
                </c:pt>
                <c:pt idx="294">
                  <c:v>1.056653054837424</c:v>
                </c:pt>
                <c:pt idx="295">
                  <c:v>1.055364886945622</c:v>
                </c:pt>
                <c:pt idx="296">
                  <c:v>1.0557682556972401</c:v>
                </c:pt>
                <c:pt idx="297">
                  <c:v>1.057740411444468</c:v>
                </c:pt>
                <c:pt idx="298">
                  <c:v>1.058252384739073</c:v>
                </c:pt>
                <c:pt idx="299">
                  <c:v>1.0578509228175079</c:v>
                </c:pt>
                <c:pt idx="300">
                  <c:v>1.0573914706811101</c:v>
                </c:pt>
                <c:pt idx="301">
                  <c:v>1.059658144639823</c:v>
                </c:pt>
                <c:pt idx="302">
                  <c:v>1.0612529185850781</c:v>
                </c:pt>
                <c:pt idx="303">
                  <c:v>1.061322883827085</c:v>
                </c:pt>
                <c:pt idx="304">
                  <c:v>1.061270668591705</c:v>
                </c:pt>
                <c:pt idx="305">
                  <c:v>1.0613228094979621</c:v>
                </c:pt>
                <c:pt idx="306">
                  <c:v>1.0611890725569739</c:v>
                </c:pt>
                <c:pt idx="307">
                  <c:v>1.0594243403879879</c:v>
                </c:pt>
                <c:pt idx="308">
                  <c:v>1.059739279918545</c:v>
                </c:pt>
                <c:pt idx="309">
                  <c:v>1.0616363827463999</c:v>
                </c:pt>
                <c:pt idx="310">
                  <c:v>1.0615108677059379</c:v>
                </c:pt>
                <c:pt idx="311">
                  <c:v>1.0627627389964229</c:v>
                </c:pt>
                <c:pt idx="312">
                  <c:v>1.0658518963441941</c:v>
                </c:pt>
                <c:pt idx="313">
                  <c:v>1.06578748527976</c:v>
                </c:pt>
                <c:pt idx="314">
                  <c:v>1.0665481785206361</c:v>
                </c:pt>
                <c:pt idx="315">
                  <c:v>1.0673499576708649</c:v>
                </c:pt>
                <c:pt idx="316">
                  <c:v>1.0672461086348439</c:v>
                </c:pt>
                <c:pt idx="317">
                  <c:v>1.0659468286164679</c:v>
                </c:pt>
                <c:pt idx="318">
                  <c:v>1.065769059253534</c:v>
                </c:pt>
                <c:pt idx="319">
                  <c:v>1.066821177848986</c:v>
                </c:pt>
                <c:pt idx="320">
                  <c:v>1.0678489860638869</c:v>
                </c:pt>
                <c:pt idx="321">
                  <c:v>1.068139837229416</c:v>
                </c:pt>
                <c:pt idx="322">
                  <c:v>1.068935838512084</c:v>
                </c:pt>
                <c:pt idx="323">
                  <c:v>1.067470748430247</c:v>
                </c:pt>
                <c:pt idx="324">
                  <c:v>1.0684442015558091</c:v>
                </c:pt>
                <c:pt idx="325">
                  <c:v>1.068698744286013</c:v>
                </c:pt>
                <c:pt idx="326">
                  <c:v>1.070008114375403</c:v>
                </c:pt>
                <c:pt idx="327">
                  <c:v>1.0687828113671589</c:v>
                </c:pt>
                <c:pt idx="328">
                  <c:v>1.0708725821652021</c:v>
                </c:pt>
                <c:pt idx="329">
                  <c:v>1.072578409078135</c:v>
                </c:pt>
                <c:pt idx="330">
                  <c:v>1.0733248644044111</c:v>
                </c:pt>
                <c:pt idx="331">
                  <c:v>1.0743220097723649</c:v>
                </c:pt>
                <c:pt idx="332">
                  <c:v>1.074875446912541</c:v>
                </c:pt>
                <c:pt idx="333">
                  <c:v>1.075061033860981</c:v>
                </c:pt>
                <c:pt idx="334">
                  <c:v>1.076221632754824</c:v>
                </c:pt>
                <c:pt idx="335">
                  <c:v>1.078102868231452</c:v>
                </c:pt>
                <c:pt idx="336">
                  <c:v>1.0787128733269109</c:v>
                </c:pt>
                <c:pt idx="337">
                  <c:v>1.079775774268956</c:v>
                </c:pt>
                <c:pt idx="338">
                  <c:v>1.079398190355785</c:v>
                </c:pt>
                <c:pt idx="339">
                  <c:v>1.0819687725463141</c:v>
                </c:pt>
                <c:pt idx="340">
                  <c:v>1.083086289805836</c:v>
                </c:pt>
                <c:pt idx="341">
                  <c:v>1.080683148266512</c:v>
                </c:pt>
                <c:pt idx="342">
                  <c:v>1.080141002491086</c:v>
                </c:pt>
                <c:pt idx="343">
                  <c:v>1.0795990111117131</c:v>
                </c:pt>
                <c:pt idx="344">
                  <c:v>1.0799185121287009</c:v>
                </c:pt>
                <c:pt idx="345">
                  <c:v>1.078945001405061</c:v>
                </c:pt>
                <c:pt idx="346">
                  <c:v>1.0797458396931261</c:v>
                </c:pt>
                <c:pt idx="347">
                  <c:v>1.081200263348427</c:v>
                </c:pt>
                <c:pt idx="348">
                  <c:v>1.080497301083827</c:v>
                </c:pt>
                <c:pt idx="349">
                  <c:v>1.079547639834362</c:v>
                </c:pt>
                <c:pt idx="350">
                  <c:v>1.076297412329118</c:v>
                </c:pt>
                <c:pt idx="351">
                  <c:v>1.0775859558511089</c:v>
                </c:pt>
                <c:pt idx="352">
                  <c:v>1.0785311013236769</c:v>
                </c:pt>
                <c:pt idx="353">
                  <c:v>1.0803989555276441</c:v>
                </c:pt>
                <c:pt idx="354">
                  <c:v>1.0809331641139199</c:v>
                </c:pt>
                <c:pt idx="355">
                  <c:v>1.0830632300313039</c:v>
                </c:pt>
                <c:pt idx="356">
                  <c:v>1.082116061534921</c:v>
                </c:pt>
                <c:pt idx="357">
                  <c:v>1.0838756058677921</c:v>
                </c:pt>
                <c:pt idx="358">
                  <c:v>1.085057146490422</c:v>
                </c:pt>
                <c:pt idx="359">
                  <c:v>1.084487679780135</c:v>
                </c:pt>
                <c:pt idx="360">
                  <c:v>1.086315606889861</c:v>
                </c:pt>
                <c:pt idx="361">
                  <c:v>1.085564348512525</c:v>
                </c:pt>
                <c:pt idx="362">
                  <c:v>1.0843637381704221</c:v>
                </c:pt>
                <c:pt idx="363">
                  <c:v>1.087088928595473</c:v>
                </c:pt>
                <c:pt idx="364">
                  <c:v>1.086814428391069</c:v>
                </c:pt>
                <c:pt idx="365">
                  <c:v>1.089874275844336</c:v>
                </c:pt>
                <c:pt idx="366">
                  <c:v>1.093242938327508</c:v>
                </c:pt>
                <c:pt idx="367">
                  <c:v>1.0933899409258701</c:v>
                </c:pt>
                <c:pt idx="368">
                  <c:v>1.098117886523726</c:v>
                </c:pt>
                <c:pt idx="369">
                  <c:v>1.0989145344077691</c:v>
                </c:pt>
                <c:pt idx="370">
                  <c:v>1.0978945449973161</c:v>
                </c:pt>
                <c:pt idx="371">
                  <c:v>1.098686171671482</c:v>
                </c:pt>
                <c:pt idx="372">
                  <c:v>1.0980669057910331</c:v>
                </c:pt>
                <c:pt idx="373">
                  <c:v>1.0975706904678939</c:v>
                </c:pt>
                <c:pt idx="374">
                  <c:v>1.099260600756975</c:v>
                </c:pt>
                <c:pt idx="375">
                  <c:v>1.1027713708038609</c:v>
                </c:pt>
                <c:pt idx="376">
                  <c:v>1.104118155461502</c:v>
                </c:pt>
                <c:pt idx="377">
                  <c:v>1.104170861860573</c:v>
                </c:pt>
                <c:pt idx="378">
                  <c:v>1.1046492615653549</c:v>
                </c:pt>
                <c:pt idx="379">
                  <c:v>1.1004277180899029</c:v>
                </c:pt>
                <c:pt idx="380">
                  <c:v>1.098505296992019</c:v>
                </c:pt>
                <c:pt idx="381">
                  <c:v>1.104625075537917</c:v>
                </c:pt>
                <c:pt idx="382">
                  <c:v>1.106857015119989</c:v>
                </c:pt>
                <c:pt idx="383">
                  <c:v>1.10815465910724</c:v>
                </c:pt>
                <c:pt idx="384">
                  <c:v>1.104617836732195</c:v>
                </c:pt>
                <c:pt idx="385">
                  <c:v>1.10828222243362</c:v>
                </c:pt>
                <c:pt idx="386">
                  <c:v>1.1084834911301711</c:v>
                </c:pt>
                <c:pt idx="387">
                  <c:v>1.1085779906044839</c:v>
                </c:pt>
                <c:pt idx="388">
                  <c:v>1.105457550846946</c:v>
                </c:pt>
                <c:pt idx="389">
                  <c:v>1.105207879170085</c:v>
                </c:pt>
                <c:pt idx="390">
                  <c:v>1.10549452178674</c:v>
                </c:pt>
                <c:pt idx="391">
                  <c:v>1.107374873517623</c:v>
                </c:pt>
                <c:pt idx="392">
                  <c:v>1.1060102880667051</c:v>
                </c:pt>
                <c:pt idx="393">
                  <c:v>1.1054543955571881</c:v>
                </c:pt>
                <c:pt idx="394">
                  <c:v>1.1028235345005011</c:v>
                </c:pt>
                <c:pt idx="395">
                  <c:v>1.1044560470629901</c:v>
                </c:pt>
                <c:pt idx="396">
                  <c:v>1.105811196807043</c:v>
                </c:pt>
                <c:pt idx="397">
                  <c:v>1.10544996619435</c:v>
                </c:pt>
                <c:pt idx="398">
                  <c:v>1.108029936556332</c:v>
                </c:pt>
                <c:pt idx="399">
                  <c:v>1.1099456248447721</c:v>
                </c:pt>
                <c:pt idx="400">
                  <c:v>1.1103788961651671</c:v>
                </c:pt>
                <c:pt idx="401">
                  <c:v>1.107456600157223</c:v>
                </c:pt>
                <c:pt idx="402">
                  <c:v>1.109273395707101</c:v>
                </c:pt>
                <c:pt idx="403">
                  <c:v>1.1103692707367649</c:v>
                </c:pt>
                <c:pt idx="404">
                  <c:v>1.1098667357844321</c:v>
                </c:pt>
                <c:pt idx="405">
                  <c:v>1.1086773012881019</c:v>
                </c:pt>
                <c:pt idx="406">
                  <c:v>1.1091844185258799</c:v>
                </c:pt>
                <c:pt idx="407">
                  <c:v>1.1079814795430141</c:v>
                </c:pt>
                <c:pt idx="408">
                  <c:v>1.1100667127588071</c:v>
                </c:pt>
                <c:pt idx="409">
                  <c:v>1.111499105901397</c:v>
                </c:pt>
                <c:pt idx="410">
                  <c:v>1.110767345495173</c:v>
                </c:pt>
                <c:pt idx="411">
                  <c:v>1.110289100499626</c:v>
                </c:pt>
                <c:pt idx="412">
                  <c:v>1.1116732624156569</c:v>
                </c:pt>
                <c:pt idx="413">
                  <c:v>1.110365585574659</c:v>
                </c:pt>
                <c:pt idx="414">
                  <c:v>1.110086782141033</c:v>
                </c:pt>
                <c:pt idx="415">
                  <c:v>1.1104557080604871</c:v>
                </c:pt>
                <c:pt idx="416">
                  <c:v>1.1069044134593</c:v>
                </c:pt>
                <c:pt idx="417">
                  <c:v>1.106612283256005</c:v>
                </c:pt>
                <c:pt idx="418">
                  <c:v>1.1082928472206619</c:v>
                </c:pt>
                <c:pt idx="419">
                  <c:v>1.1078098809900629</c:v>
                </c:pt>
                <c:pt idx="420">
                  <c:v>1.105902822012752</c:v>
                </c:pt>
                <c:pt idx="421">
                  <c:v>1.103219902547246</c:v>
                </c:pt>
                <c:pt idx="422">
                  <c:v>1.102265655500394</c:v>
                </c:pt>
                <c:pt idx="423">
                  <c:v>1.0990472027747009</c:v>
                </c:pt>
                <c:pt idx="424">
                  <c:v>1.1015871144589719</c:v>
                </c:pt>
                <c:pt idx="425">
                  <c:v>1.101110446446663</c:v>
                </c:pt>
                <c:pt idx="426">
                  <c:v>1.099211993358421</c:v>
                </c:pt>
                <c:pt idx="427">
                  <c:v>1.0963970299343131</c:v>
                </c:pt>
                <c:pt idx="428">
                  <c:v>1.0977200881602569</c:v>
                </c:pt>
                <c:pt idx="429">
                  <c:v>1.0989119412313439</c:v>
                </c:pt>
                <c:pt idx="430">
                  <c:v>1.1000588351395799</c:v>
                </c:pt>
                <c:pt idx="431">
                  <c:v>1.0979200848586761</c:v>
                </c:pt>
                <c:pt idx="432">
                  <c:v>1.09920098787163</c:v>
                </c:pt>
                <c:pt idx="433">
                  <c:v>1.099628929386091</c:v>
                </c:pt>
                <c:pt idx="434">
                  <c:v>1.100226584128033</c:v>
                </c:pt>
                <c:pt idx="435">
                  <c:v>1.1001554460477201</c:v>
                </c:pt>
                <c:pt idx="436">
                  <c:v>1.1021567062969599</c:v>
                </c:pt>
                <c:pt idx="437">
                  <c:v>1.1025608233807509</c:v>
                </c:pt>
                <c:pt idx="438">
                  <c:v>1.102030240384513</c:v>
                </c:pt>
                <c:pt idx="439">
                  <c:v>1.101301614046746</c:v>
                </c:pt>
                <c:pt idx="440">
                  <c:v>1.103228585484991</c:v>
                </c:pt>
                <c:pt idx="441">
                  <c:v>1.104528346933767</c:v>
                </c:pt>
                <c:pt idx="442">
                  <c:v>1.1051450332345041</c:v>
                </c:pt>
                <c:pt idx="443">
                  <c:v>1.1045426357872741</c:v>
                </c:pt>
                <c:pt idx="444">
                  <c:v>1.106510895195425</c:v>
                </c:pt>
                <c:pt idx="445">
                  <c:v>1.107187238166236</c:v>
                </c:pt>
                <c:pt idx="446">
                  <c:v>1.108451384201693</c:v>
                </c:pt>
                <c:pt idx="447">
                  <c:v>1.1099450548447309</c:v>
                </c:pt>
                <c:pt idx="448">
                  <c:v>1.1098199828770301</c:v>
                </c:pt>
                <c:pt idx="449">
                  <c:v>1.111785935568592</c:v>
                </c:pt>
                <c:pt idx="450">
                  <c:v>1.1123631960027269</c:v>
                </c:pt>
                <c:pt idx="451">
                  <c:v>1.1115350986854331</c:v>
                </c:pt>
                <c:pt idx="452">
                  <c:v>1.110731513387297</c:v>
                </c:pt>
                <c:pt idx="453">
                  <c:v>1.1120605474551679</c:v>
                </c:pt>
                <c:pt idx="454">
                  <c:v>1.1118799810611679</c:v>
                </c:pt>
                <c:pt idx="455">
                  <c:v>1.1128491159607601</c:v>
                </c:pt>
                <c:pt idx="456">
                  <c:v>1.115837086320467</c:v>
                </c:pt>
                <c:pt idx="457">
                  <c:v>1.1146961689240911</c:v>
                </c:pt>
                <c:pt idx="458">
                  <c:v>1.114588683459276</c:v>
                </c:pt>
                <c:pt idx="459">
                  <c:v>1.11450750973651</c:v>
                </c:pt>
                <c:pt idx="460">
                  <c:v>1.115289231857336</c:v>
                </c:pt>
                <c:pt idx="461">
                  <c:v>1.1161528639356451</c:v>
                </c:pt>
                <c:pt idx="462">
                  <c:v>1.1162169305666041</c:v>
                </c:pt>
                <c:pt idx="463">
                  <c:v>1.115477462852223</c:v>
                </c:pt>
                <c:pt idx="464">
                  <c:v>1.1141529103179519</c:v>
                </c:pt>
                <c:pt idx="465">
                  <c:v>1.1149024818652651</c:v>
                </c:pt>
                <c:pt idx="466">
                  <c:v>1.114864591930143</c:v>
                </c:pt>
                <c:pt idx="467">
                  <c:v>1.1123480803889509</c:v>
                </c:pt>
                <c:pt idx="468">
                  <c:v>1.114592121440132</c:v>
                </c:pt>
                <c:pt idx="469">
                  <c:v>1.1150387880510559</c:v>
                </c:pt>
                <c:pt idx="470">
                  <c:v>1.115523134550209</c:v>
                </c:pt>
                <c:pt idx="471">
                  <c:v>1.116423591116305</c:v>
                </c:pt>
                <c:pt idx="472">
                  <c:v>1.116694844522153</c:v>
                </c:pt>
                <c:pt idx="473">
                  <c:v>1.1156374714869439</c:v>
                </c:pt>
                <c:pt idx="474">
                  <c:v>1.1166249372503001</c:v>
                </c:pt>
                <c:pt idx="475">
                  <c:v>1.1152345139177711</c:v>
                </c:pt>
                <c:pt idx="476">
                  <c:v>1.112337532374265</c:v>
                </c:pt>
                <c:pt idx="477">
                  <c:v>1.1132905028603151</c:v>
                </c:pt>
                <c:pt idx="478">
                  <c:v>1.114599448867142</c:v>
                </c:pt>
                <c:pt idx="479">
                  <c:v>1.1161487156112859</c:v>
                </c:pt>
                <c:pt idx="480">
                  <c:v>1.1146189542894629</c:v>
                </c:pt>
                <c:pt idx="481">
                  <c:v>1.114935785898193</c:v>
                </c:pt>
                <c:pt idx="482">
                  <c:v>1.116574623427657</c:v>
                </c:pt>
                <c:pt idx="483">
                  <c:v>1.116163758757156</c:v>
                </c:pt>
                <c:pt idx="484">
                  <c:v>1.118162087493825</c:v>
                </c:pt>
                <c:pt idx="485">
                  <c:v>1.119581758578881</c:v>
                </c:pt>
                <c:pt idx="486">
                  <c:v>1.1184297699512149</c:v>
                </c:pt>
                <c:pt idx="487">
                  <c:v>1.115738401343308</c:v>
                </c:pt>
                <c:pt idx="488">
                  <c:v>1.114933640956624</c:v>
                </c:pt>
                <c:pt idx="489">
                  <c:v>1.113102171691291</c:v>
                </c:pt>
                <c:pt idx="490">
                  <c:v>1.1145017159601049</c:v>
                </c:pt>
                <c:pt idx="491">
                  <c:v>1.1140554872904509</c:v>
                </c:pt>
                <c:pt idx="492">
                  <c:v>1.1163425108592691</c:v>
                </c:pt>
                <c:pt idx="493">
                  <c:v>1.114986555311982</c:v>
                </c:pt>
                <c:pt idx="494">
                  <c:v>1.1154870090563569</c:v>
                </c:pt>
                <c:pt idx="495">
                  <c:v>1.117543504518357</c:v>
                </c:pt>
                <c:pt idx="496">
                  <c:v>1.118663269855193</c:v>
                </c:pt>
                <c:pt idx="497">
                  <c:v>1.1183660489222049</c:v>
                </c:pt>
                <c:pt idx="498">
                  <c:v>1.1184184120687011</c:v>
                </c:pt>
                <c:pt idx="499">
                  <c:v>1.118036916126085</c:v>
                </c:pt>
                <c:pt idx="500">
                  <c:v>1.119956122232096</c:v>
                </c:pt>
                <c:pt idx="501">
                  <c:v>1.116520313017076</c:v>
                </c:pt>
                <c:pt idx="502">
                  <c:v>1.116622317006297</c:v>
                </c:pt>
                <c:pt idx="503">
                  <c:v>1.1125978538842041</c:v>
                </c:pt>
                <c:pt idx="504">
                  <c:v>1.113061703624866</c:v>
                </c:pt>
                <c:pt idx="505">
                  <c:v>1.1142020552793079</c:v>
                </c:pt>
                <c:pt idx="506">
                  <c:v>1.11373141273475</c:v>
                </c:pt>
                <c:pt idx="507">
                  <c:v>1.115207455432401</c:v>
                </c:pt>
                <c:pt idx="508">
                  <c:v>1.115036413529273</c:v>
                </c:pt>
                <c:pt idx="509">
                  <c:v>1.110774144059351</c:v>
                </c:pt>
                <c:pt idx="510">
                  <c:v>1.110770768267924</c:v>
                </c:pt>
                <c:pt idx="511">
                  <c:v>1.113228545171755</c:v>
                </c:pt>
                <c:pt idx="512">
                  <c:v>1.112829787638022</c:v>
                </c:pt>
                <c:pt idx="513">
                  <c:v>1.1144473603365861</c:v>
                </c:pt>
                <c:pt idx="514">
                  <c:v>1.114665332001882</c:v>
                </c:pt>
                <c:pt idx="515">
                  <c:v>1.1133430537425799</c:v>
                </c:pt>
                <c:pt idx="516">
                  <c:v>1.112542988824907</c:v>
                </c:pt>
                <c:pt idx="517">
                  <c:v>1.114922163228028</c:v>
                </c:pt>
                <c:pt idx="518">
                  <c:v>1.114324067783226</c:v>
                </c:pt>
                <c:pt idx="519">
                  <c:v>1.11521768025115</c:v>
                </c:pt>
                <c:pt idx="520">
                  <c:v>1.11554257485123</c:v>
                </c:pt>
                <c:pt idx="521">
                  <c:v>1.1153745180757899</c:v>
                </c:pt>
                <c:pt idx="522">
                  <c:v>1.115063003796424</c:v>
                </c:pt>
                <c:pt idx="523">
                  <c:v>1.112499032565083</c:v>
                </c:pt>
                <c:pt idx="524">
                  <c:v>1.1119315509350189</c:v>
                </c:pt>
                <c:pt idx="525">
                  <c:v>1.11032177489199</c:v>
                </c:pt>
                <c:pt idx="526">
                  <c:v>1.1091095585033171</c:v>
                </c:pt>
                <c:pt idx="527">
                  <c:v>1.1086916776354609</c:v>
                </c:pt>
                <c:pt idx="528">
                  <c:v>1.1079849668113999</c:v>
                </c:pt>
                <c:pt idx="529">
                  <c:v>1.109685588789183</c:v>
                </c:pt>
                <c:pt idx="530">
                  <c:v>1.10787435716557</c:v>
                </c:pt>
                <c:pt idx="531">
                  <c:v>1.101774864838768</c:v>
                </c:pt>
                <c:pt idx="532">
                  <c:v>1.1050492835845991</c:v>
                </c:pt>
                <c:pt idx="533">
                  <c:v>1.1071625176932649</c:v>
                </c:pt>
                <c:pt idx="534">
                  <c:v>1.108127128138503</c:v>
                </c:pt>
                <c:pt idx="535">
                  <c:v>1.108510519925987</c:v>
                </c:pt>
                <c:pt idx="536">
                  <c:v>1.107843534634255</c:v>
                </c:pt>
                <c:pt idx="537">
                  <c:v>1.107989310452542</c:v>
                </c:pt>
                <c:pt idx="538">
                  <c:v>1.1081170012856461</c:v>
                </c:pt>
                <c:pt idx="539">
                  <c:v>1.107419665074397</c:v>
                </c:pt>
                <c:pt idx="540">
                  <c:v>1.1062408364585889</c:v>
                </c:pt>
                <c:pt idx="541">
                  <c:v>1.1056416770018149</c:v>
                </c:pt>
                <c:pt idx="542">
                  <c:v>1.1083550606918371</c:v>
                </c:pt>
                <c:pt idx="543">
                  <c:v>1.1070803987620419</c:v>
                </c:pt>
                <c:pt idx="544">
                  <c:v>1.108515223786589</c:v>
                </c:pt>
                <c:pt idx="545">
                  <c:v>1.108126933036905</c:v>
                </c:pt>
                <c:pt idx="546">
                  <c:v>1.107313711832512</c:v>
                </c:pt>
                <c:pt idx="547">
                  <c:v>1.1073403008028491</c:v>
                </c:pt>
                <c:pt idx="548">
                  <c:v>1.10448889843925</c:v>
                </c:pt>
                <c:pt idx="549">
                  <c:v>1.1061884974795759</c:v>
                </c:pt>
                <c:pt idx="550">
                  <c:v>1.105111366796399</c:v>
                </c:pt>
                <c:pt idx="551">
                  <c:v>1.1068852262134721</c:v>
                </c:pt>
                <c:pt idx="552">
                  <c:v>1.106556324667838</c:v>
                </c:pt>
                <c:pt idx="553">
                  <c:v>1.1073198117902741</c:v>
                </c:pt>
                <c:pt idx="554">
                  <c:v>1.1062801325178739</c:v>
                </c:pt>
                <c:pt idx="555">
                  <c:v>1.1037891224260969</c:v>
                </c:pt>
                <c:pt idx="556">
                  <c:v>1.1021036196180609</c:v>
                </c:pt>
                <c:pt idx="557">
                  <c:v>1.101509140689215</c:v>
                </c:pt>
                <c:pt idx="558">
                  <c:v>1.096640582562427</c:v>
                </c:pt>
                <c:pt idx="559">
                  <c:v>1.094253762609616</c:v>
                </c:pt>
                <c:pt idx="560">
                  <c:v>1.09783554886002</c:v>
                </c:pt>
                <c:pt idx="561">
                  <c:v>1.097054085795963</c:v>
                </c:pt>
                <c:pt idx="562">
                  <c:v>1.10121712676462</c:v>
                </c:pt>
                <c:pt idx="563">
                  <c:v>1.1018067819824611</c:v>
                </c:pt>
                <c:pt idx="564">
                  <c:v>1.1003808618902</c:v>
                </c:pt>
                <c:pt idx="565">
                  <c:v>1.101297536267023</c:v>
                </c:pt>
                <c:pt idx="566">
                  <c:v>1.103294276893162</c:v>
                </c:pt>
                <c:pt idx="567">
                  <c:v>1.1042664736430521</c:v>
                </c:pt>
                <c:pt idx="568">
                  <c:v>1.1053851074578811</c:v>
                </c:pt>
                <c:pt idx="569">
                  <c:v>1.105517063088111</c:v>
                </c:pt>
                <c:pt idx="570">
                  <c:v>1.1051603179113649</c:v>
                </c:pt>
                <c:pt idx="571">
                  <c:v>1.1069217791205781</c:v>
                </c:pt>
                <c:pt idx="572">
                  <c:v>1.1070808799098371</c:v>
                </c:pt>
                <c:pt idx="573">
                  <c:v>1.1080775554286271</c:v>
                </c:pt>
                <c:pt idx="574">
                  <c:v>1.1091358329309291</c:v>
                </c:pt>
                <c:pt idx="575">
                  <c:v>1.110769225221754</c:v>
                </c:pt>
                <c:pt idx="576">
                  <c:v>1.1080804996381519</c:v>
                </c:pt>
                <c:pt idx="577">
                  <c:v>1.1092442966324549</c:v>
                </c:pt>
                <c:pt idx="578">
                  <c:v>1.111014398603722</c:v>
                </c:pt>
                <c:pt idx="579">
                  <c:v>1.1112744029062991</c:v>
                </c:pt>
                <c:pt idx="580">
                  <c:v>1.111111112675472</c:v>
                </c:pt>
                <c:pt idx="581">
                  <c:v>1.111417769772284</c:v>
                </c:pt>
                <c:pt idx="582">
                  <c:v>1.110801051945872</c:v>
                </c:pt>
                <c:pt idx="583">
                  <c:v>1.1118367790050521</c:v>
                </c:pt>
                <c:pt idx="584">
                  <c:v>1.1130329840587949</c:v>
                </c:pt>
                <c:pt idx="585">
                  <c:v>1.112522060581798</c:v>
                </c:pt>
                <c:pt idx="586">
                  <c:v>1.1130006015071381</c:v>
                </c:pt>
                <c:pt idx="587">
                  <c:v>1.1120684369081759</c:v>
                </c:pt>
                <c:pt idx="588">
                  <c:v>1.113840652123848</c:v>
                </c:pt>
                <c:pt idx="589">
                  <c:v>1.114805409706092</c:v>
                </c:pt>
                <c:pt idx="590">
                  <c:v>1.1136785328078751</c:v>
                </c:pt>
                <c:pt idx="591">
                  <c:v>1.1131309880923539</c:v>
                </c:pt>
                <c:pt idx="592">
                  <c:v>1.1143019779230421</c:v>
                </c:pt>
                <c:pt idx="593">
                  <c:v>1.116019976389258</c:v>
                </c:pt>
                <c:pt idx="594">
                  <c:v>1.1166159668666991</c:v>
                </c:pt>
                <c:pt idx="595">
                  <c:v>1.115586707075795</c:v>
                </c:pt>
                <c:pt idx="596">
                  <c:v>1.1149466714176191</c:v>
                </c:pt>
                <c:pt idx="597">
                  <c:v>1.117355995668424</c:v>
                </c:pt>
                <c:pt idx="598">
                  <c:v>1.1180174603195741</c:v>
                </c:pt>
                <c:pt idx="599">
                  <c:v>1.11828467358197</c:v>
                </c:pt>
                <c:pt idx="600">
                  <c:v>1.1189021010576421</c:v>
                </c:pt>
                <c:pt idx="601">
                  <c:v>1.116463781159112</c:v>
                </c:pt>
                <c:pt idx="602">
                  <c:v>1.118430892574622</c:v>
                </c:pt>
                <c:pt idx="603">
                  <c:v>1.1181295280511621</c:v>
                </c:pt>
                <c:pt idx="604">
                  <c:v>1.118850791483776</c:v>
                </c:pt>
                <c:pt idx="605">
                  <c:v>1.118362000314034</c:v>
                </c:pt>
                <c:pt idx="606">
                  <c:v>1.117026227107758</c:v>
                </c:pt>
                <c:pt idx="607">
                  <c:v>1.1177147432959269</c:v>
                </c:pt>
                <c:pt idx="608">
                  <c:v>1.1172470202313241</c:v>
                </c:pt>
                <c:pt idx="609">
                  <c:v>1.1166099960416971</c:v>
                </c:pt>
                <c:pt idx="610">
                  <c:v>1.1155091605810019</c:v>
                </c:pt>
                <c:pt idx="611">
                  <c:v>1.1162182184567091</c:v>
                </c:pt>
                <c:pt idx="612">
                  <c:v>1.1179173611507709</c:v>
                </c:pt>
                <c:pt idx="613">
                  <c:v>1.1170994157071441</c:v>
                </c:pt>
                <c:pt idx="614">
                  <c:v>1.118954568075065</c:v>
                </c:pt>
                <c:pt idx="615">
                  <c:v>1.1190365058395531</c:v>
                </c:pt>
                <c:pt idx="616">
                  <c:v>1.12032915377134</c:v>
                </c:pt>
                <c:pt idx="617">
                  <c:v>1.120180192624509</c:v>
                </c:pt>
                <c:pt idx="618">
                  <c:v>1.120309475115544</c:v>
                </c:pt>
                <c:pt idx="619">
                  <c:v>1.119754459574912</c:v>
                </c:pt>
                <c:pt idx="620">
                  <c:v>1.1214315003502351</c:v>
                </c:pt>
                <c:pt idx="621">
                  <c:v>1.121881257585513</c:v>
                </c:pt>
                <c:pt idx="622">
                  <c:v>1.122521799380386</c:v>
                </c:pt>
                <c:pt idx="623">
                  <c:v>1.1235875953415499</c:v>
                </c:pt>
                <c:pt idx="624">
                  <c:v>1.126015338533813</c:v>
                </c:pt>
                <c:pt idx="625">
                  <c:v>1.124683539584735</c:v>
                </c:pt>
                <c:pt idx="626">
                  <c:v>1.124414950086837</c:v>
                </c:pt>
                <c:pt idx="627">
                  <c:v>1.1259717086925221</c:v>
                </c:pt>
                <c:pt idx="628">
                  <c:v>1.128024224315366</c:v>
                </c:pt>
                <c:pt idx="629">
                  <c:v>1.1281618519433441</c:v>
                </c:pt>
                <c:pt idx="630">
                  <c:v>1.128440340254568</c:v>
                </c:pt>
                <c:pt idx="631">
                  <c:v>1.1279754254311809</c:v>
                </c:pt>
                <c:pt idx="632">
                  <c:v>1.1289956960556451</c:v>
                </c:pt>
                <c:pt idx="633">
                  <c:v>1.1280007863053729</c:v>
                </c:pt>
                <c:pt idx="634">
                  <c:v>1.1314896980205911</c:v>
                </c:pt>
                <c:pt idx="635">
                  <c:v>1.132841711453735</c:v>
                </c:pt>
                <c:pt idx="636">
                  <c:v>1.1331530461129491</c:v>
                </c:pt>
                <c:pt idx="637">
                  <c:v>1.133994838211825</c:v>
                </c:pt>
                <c:pt idx="638">
                  <c:v>1.1321688736920319</c:v>
                </c:pt>
                <c:pt idx="639">
                  <c:v>1.1330460012238119</c:v>
                </c:pt>
                <c:pt idx="640">
                  <c:v>1.1333357754988611</c:v>
                </c:pt>
                <c:pt idx="641">
                  <c:v>1.130191086491305</c:v>
                </c:pt>
                <c:pt idx="642">
                  <c:v>1.128851082784023</c:v>
                </c:pt>
                <c:pt idx="643">
                  <c:v>1.128172747215944</c:v>
                </c:pt>
                <c:pt idx="644">
                  <c:v>1.1289645069199099</c:v>
                </c:pt>
                <c:pt idx="645">
                  <c:v>1.129241931768503</c:v>
                </c:pt>
                <c:pt idx="646">
                  <c:v>1.1264937652345239</c:v>
                </c:pt>
                <c:pt idx="647">
                  <c:v>1.1259882106919319</c:v>
                </c:pt>
                <c:pt idx="648">
                  <c:v>1.1266181424374551</c:v>
                </c:pt>
                <c:pt idx="649">
                  <c:v>1.127909294231292</c:v>
                </c:pt>
                <c:pt idx="650">
                  <c:v>1.1300085735196479</c:v>
                </c:pt>
                <c:pt idx="651">
                  <c:v>1.130807945561535</c:v>
                </c:pt>
                <c:pt idx="652">
                  <c:v>1.1301760598408821</c:v>
                </c:pt>
                <c:pt idx="653">
                  <c:v>1.1299125807713319</c:v>
                </c:pt>
                <c:pt idx="654">
                  <c:v>1.1299865191954961</c:v>
                </c:pt>
                <c:pt idx="655">
                  <c:v>1.1284359393310091</c:v>
                </c:pt>
                <c:pt idx="656">
                  <c:v>1.1254847944075901</c:v>
                </c:pt>
                <c:pt idx="657">
                  <c:v>1.1236343733215279</c:v>
                </c:pt>
                <c:pt idx="658">
                  <c:v>1.1229891188642109</c:v>
                </c:pt>
                <c:pt idx="659">
                  <c:v>1.1243740191732849</c:v>
                </c:pt>
                <c:pt idx="660">
                  <c:v>1.124302716186669</c:v>
                </c:pt>
                <c:pt idx="661">
                  <c:v>1.124054579443911</c:v>
                </c:pt>
                <c:pt idx="662">
                  <c:v>1.1224921523830089</c:v>
                </c:pt>
                <c:pt idx="663">
                  <c:v>1.1210228245326981</c:v>
                </c:pt>
                <c:pt idx="664">
                  <c:v>1.1224586899813489</c:v>
                </c:pt>
                <c:pt idx="665">
                  <c:v>1.1193871548961229</c:v>
                </c:pt>
                <c:pt idx="666">
                  <c:v>1.1196925121607419</c:v>
                </c:pt>
                <c:pt idx="667">
                  <c:v>1.1176165588909921</c:v>
                </c:pt>
                <c:pt idx="668">
                  <c:v>1.1170709549815541</c:v>
                </c:pt>
                <c:pt idx="669">
                  <c:v>1.11749954542392</c:v>
                </c:pt>
                <c:pt idx="670">
                  <c:v>1.120178541797848</c:v>
                </c:pt>
                <c:pt idx="671">
                  <c:v>1.12111167072494</c:v>
                </c:pt>
                <c:pt idx="672">
                  <c:v>1.1236649123444731</c:v>
                </c:pt>
                <c:pt idx="673">
                  <c:v>1.1242614422540751</c:v>
                </c:pt>
                <c:pt idx="674">
                  <c:v>1.124527863299865</c:v>
                </c:pt>
                <c:pt idx="675">
                  <c:v>1.1238074946879091</c:v>
                </c:pt>
                <c:pt idx="676">
                  <c:v>1.123270480905344</c:v>
                </c:pt>
                <c:pt idx="677">
                  <c:v>1.1231982401717251</c:v>
                </c:pt>
                <c:pt idx="678">
                  <c:v>1.1232857222467489</c:v>
                </c:pt>
                <c:pt idx="679">
                  <c:v>1.122785875000069</c:v>
                </c:pt>
                <c:pt idx="680">
                  <c:v>1.124782757199231</c:v>
                </c:pt>
                <c:pt idx="681">
                  <c:v>1.124239428212606</c:v>
                </c:pt>
                <c:pt idx="682">
                  <c:v>1.122226784788958</c:v>
                </c:pt>
                <c:pt idx="683">
                  <c:v>1.1233128404454571</c:v>
                </c:pt>
                <c:pt idx="684">
                  <c:v>1.12446156239701</c:v>
                </c:pt>
                <c:pt idx="685">
                  <c:v>1.1249652230592919</c:v>
                </c:pt>
                <c:pt idx="686">
                  <c:v>1.1254352343879019</c:v>
                </c:pt>
                <c:pt idx="687">
                  <c:v>1.1267232826579809</c:v>
                </c:pt>
                <c:pt idx="688">
                  <c:v>1.126884646934819</c:v>
                </c:pt>
                <c:pt idx="689">
                  <c:v>1.1263023365889779</c:v>
                </c:pt>
                <c:pt idx="690">
                  <c:v>1.1267381695017991</c:v>
                </c:pt>
                <c:pt idx="691">
                  <c:v>1.125127411778849</c:v>
                </c:pt>
                <c:pt idx="692">
                  <c:v>1.1255740486563299</c:v>
                </c:pt>
                <c:pt idx="693">
                  <c:v>1.120090044072019</c:v>
                </c:pt>
                <c:pt idx="694">
                  <c:v>1.1221684420017419</c:v>
                </c:pt>
                <c:pt idx="695">
                  <c:v>1.1203854371500941</c:v>
                </c:pt>
                <c:pt idx="696">
                  <c:v>1.1209585547068861</c:v>
                </c:pt>
                <c:pt idx="697">
                  <c:v>1.119713410816763</c:v>
                </c:pt>
                <c:pt idx="698">
                  <c:v>1.120481810455044</c:v>
                </c:pt>
                <c:pt idx="699">
                  <c:v>1.119262158134831</c:v>
                </c:pt>
                <c:pt idx="700">
                  <c:v>1.1199222450865041</c:v>
                </c:pt>
                <c:pt idx="701">
                  <c:v>1.121080908957873</c:v>
                </c:pt>
                <c:pt idx="702">
                  <c:v>1.1197214786167891</c:v>
                </c:pt>
                <c:pt idx="703">
                  <c:v>1.1186921872058091</c:v>
                </c:pt>
                <c:pt idx="704">
                  <c:v>1.1182695583252531</c:v>
                </c:pt>
                <c:pt idx="705">
                  <c:v>1.117686044632394</c:v>
                </c:pt>
                <c:pt idx="706">
                  <c:v>1.119046614488648</c:v>
                </c:pt>
                <c:pt idx="707">
                  <c:v>1.1191898801538409</c:v>
                </c:pt>
                <c:pt idx="708">
                  <c:v>1.1185052452495821</c:v>
                </c:pt>
                <c:pt idx="709">
                  <c:v>1.117362931166676</c:v>
                </c:pt>
                <c:pt idx="710">
                  <c:v>1.116813494662118</c:v>
                </c:pt>
                <c:pt idx="711">
                  <c:v>1.11637607654829</c:v>
                </c:pt>
                <c:pt idx="712">
                  <c:v>1.1162354674583359</c:v>
                </c:pt>
                <c:pt idx="713">
                  <c:v>1.1156642694132759</c:v>
                </c:pt>
                <c:pt idx="714">
                  <c:v>1.1136183644835349</c:v>
                </c:pt>
                <c:pt idx="715">
                  <c:v>1.1145539341276081</c:v>
                </c:pt>
                <c:pt idx="716">
                  <c:v>1.114417463007457</c:v>
                </c:pt>
                <c:pt idx="717">
                  <c:v>1.1134704794408421</c:v>
                </c:pt>
                <c:pt idx="718">
                  <c:v>1.1127108975499871</c:v>
                </c:pt>
                <c:pt idx="719">
                  <c:v>1.1122293669623911</c:v>
                </c:pt>
                <c:pt idx="720">
                  <c:v>1.1121166884685689</c:v>
                </c:pt>
                <c:pt idx="721">
                  <c:v>1.1118490451916181</c:v>
                </c:pt>
                <c:pt idx="722">
                  <c:v>1.112298045469396</c:v>
                </c:pt>
                <c:pt idx="723">
                  <c:v>1.1139171698661601</c:v>
                </c:pt>
                <c:pt idx="724">
                  <c:v>1.1144858373037021</c:v>
                </c:pt>
                <c:pt idx="725">
                  <c:v>1.1142216594089689</c:v>
                </c:pt>
                <c:pt idx="726">
                  <c:v>1.114831308048408</c:v>
                </c:pt>
                <c:pt idx="727">
                  <c:v>1.1159611258256019</c:v>
                </c:pt>
                <c:pt idx="728">
                  <c:v>1.119392033679445</c:v>
                </c:pt>
                <c:pt idx="729">
                  <c:v>1.120228872836676</c:v>
                </c:pt>
                <c:pt idx="730">
                  <c:v>1.1219079670051151</c:v>
                </c:pt>
                <c:pt idx="731">
                  <c:v>1.121519908086108</c:v>
                </c:pt>
                <c:pt idx="732">
                  <c:v>1.1223363778498909</c:v>
                </c:pt>
                <c:pt idx="733">
                  <c:v>1.1218529547555749</c:v>
                </c:pt>
                <c:pt idx="734">
                  <c:v>1.120743314673236</c:v>
                </c:pt>
                <c:pt idx="735">
                  <c:v>1.12082893880933</c:v>
                </c:pt>
                <c:pt idx="736">
                  <c:v>1.121127004994714</c:v>
                </c:pt>
                <c:pt idx="737">
                  <c:v>1.1223985757782211</c:v>
                </c:pt>
                <c:pt idx="738">
                  <c:v>1.1229215114769759</c:v>
                </c:pt>
                <c:pt idx="739">
                  <c:v>1.1227188626632769</c:v>
                </c:pt>
                <c:pt idx="740">
                  <c:v>1.1242029763626979</c:v>
                </c:pt>
                <c:pt idx="741">
                  <c:v>1.125278695652085</c:v>
                </c:pt>
                <c:pt idx="742">
                  <c:v>1.127101630754116</c:v>
                </c:pt>
                <c:pt idx="743">
                  <c:v>1.126011691667804</c:v>
                </c:pt>
                <c:pt idx="744">
                  <c:v>1.1278410609851</c:v>
                </c:pt>
                <c:pt idx="745">
                  <c:v>1.129152387367486</c:v>
                </c:pt>
                <c:pt idx="746">
                  <c:v>1.128806919268837</c:v>
                </c:pt>
                <c:pt idx="747">
                  <c:v>1.127384812241585</c:v>
                </c:pt>
                <c:pt idx="748">
                  <c:v>1.1274725380393951</c:v>
                </c:pt>
                <c:pt idx="749">
                  <c:v>1.12681856526028</c:v>
                </c:pt>
                <c:pt idx="750">
                  <c:v>1.1295441395711761</c:v>
                </c:pt>
                <c:pt idx="751">
                  <c:v>1.1289942342658379</c:v>
                </c:pt>
                <c:pt idx="752">
                  <c:v>1.13055493767466</c:v>
                </c:pt>
                <c:pt idx="753">
                  <c:v>1.1304294264468291</c:v>
                </c:pt>
                <c:pt idx="754">
                  <c:v>1.1309063480519059</c:v>
                </c:pt>
                <c:pt idx="755">
                  <c:v>1.128979029331634</c:v>
                </c:pt>
                <c:pt idx="756">
                  <c:v>1.1268501567482729</c:v>
                </c:pt>
                <c:pt idx="757">
                  <c:v>1.128536482932746</c:v>
                </c:pt>
                <c:pt idx="758">
                  <c:v>1.1283184310824459</c:v>
                </c:pt>
                <c:pt idx="759">
                  <c:v>1.128548967681406</c:v>
                </c:pt>
                <c:pt idx="760">
                  <c:v>1.1277893592532151</c:v>
                </c:pt>
                <c:pt idx="761">
                  <c:v>1.12776890026163</c:v>
                </c:pt>
                <c:pt idx="762">
                  <c:v>1.1268900956284189</c:v>
                </c:pt>
                <c:pt idx="763">
                  <c:v>1.1281250937678491</c:v>
                </c:pt>
                <c:pt idx="764">
                  <c:v>1.1293744148326139</c:v>
                </c:pt>
                <c:pt idx="765">
                  <c:v>1.128818372731949</c:v>
                </c:pt>
                <c:pt idx="766">
                  <c:v>1.129287012893204</c:v>
                </c:pt>
                <c:pt idx="767">
                  <c:v>1.131343413390336</c:v>
                </c:pt>
                <c:pt idx="768">
                  <c:v>1.1289451847025069</c:v>
                </c:pt>
                <c:pt idx="769">
                  <c:v>1.1292552371636111</c:v>
                </c:pt>
                <c:pt idx="770">
                  <c:v>1.129767798400964</c:v>
                </c:pt>
                <c:pt idx="771">
                  <c:v>1.1290285732426479</c:v>
                </c:pt>
                <c:pt idx="772">
                  <c:v>1.130703554787919</c:v>
                </c:pt>
                <c:pt idx="773">
                  <c:v>1.1312982779692571</c:v>
                </c:pt>
                <c:pt idx="774">
                  <c:v>1.131326873998703</c:v>
                </c:pt>
                <c:pt idx="775">
                  <c:v>1.1308575294677281</c:v>
                </c:pt>
                <c:pt idx="776">
                  <c:v>1.1329398020579871</c:v>
                </c:pt>
                <c:pt idx="777">
                  <c:v>1.136157636990077</c:v>
                </c:pt>
                <c:pt idx="778">
                  <c:v>1.136302318710636</c:v>
                </c:pt>
                <c:pt idx="779">
                  <c:v>1.136467993048121</c:v>
                </c:pt>
                <c:pt idx="780">
                  <c:v>1.138440574597114</c:v>
                </c:pt>
                <c:pt idx="781">
                  <c:v>1.1388548489054751</c:v>
                </c:pt>
                <c:pt idx="782">
                  <c:v>1.1391466421192391</c:v>
                </c:pt>
                <c:pt idx="783">
                  <c:v>1.137436701734911</c:v>
                </c:pt>
                <c:pt idx="784">
                  <c:v>1.13867256120821</c:v>
                </c:pt>
                <c:pt idx="785">
                  <c:v>1.138666589936566</c:v>
                </c:pt>
                <c:pt idx="786">
                  <c:v>1.141268301057587</c:v>
                </c:pt>
                <c:pt idx="787">
                  <c:v>1.143998415575556</c:v>
                </c:pt>
                <c:pt idx="788">
                  <c:v>1.1441475210597609</c:v>
                </c:pt>
                <c:pt idx="789">
                  <c:v>1.146092335284483</c:v>
                </c:pt>
                <c:pt idx="790">
                  <c:v>1.1474662724159159</c:v>
                </c:pt>
                <c:pt idx="791">
                  <c:v>1.145144157788504</c:v>
                </c:pt>
                <c:pt idx="792">
                  <c:v>1.1462324571002529</c:v>
                </c:pt>
                <c:pt idx="793">
                  <c:v>1.1479075204282649</c:v>
                </c:pt>
                <c:pt idx="794">
                  <c:v>1.1457796068263251</c:v>
                </c:pt>
                <c:pt idx="795">
                  <c:v>1.1477133683448</c:v>
                </c:pt>
                <c:pt idx="796">
                  <c:v>1.147013888598073</c:v>
                </c:pt>
                <c:pt idx="797">
                  <c:v>1.147474920041776</c:v>
                </c:pt>
                <c:pt idx="798">
                  <c:v>1.1478369858915309</c:v>
                </c:pt>
                <c:pt idx="799">
                  <c:v>1.150317883608357</c:v>
                </c:pt>
                <c:pt idx="800">
                  <c:v>1.145660392933942</c:v>
                </c:pt>
                <c:pt idx="801">
                  <c:v>1.1455191747240869</c:v>
                </c:pt>
                <c:pt idx="802">
                  <c:v>1.1447530437142031</c:v>
                </c:pt>
                <c:pt idx="803">
                  <c:v>1.144179695559731</c:v>
                </c:pt>
                <c:pt idx="804">
                  <c:v>1.144210172530296</c:v>
                </c:pt>
                <c:pt idx="805">
                  <c:v>1.1466376154799101</c:v>
                </c:pt>
                <c:pt idx="806">
                  <c:v>1.148308702297858</c:v>
                </c:pt>
                <c:pt idx="807">
                  <c:v>1.1478872599799419</c:v>
                </c:pt>
                <c:pt idx="808">
                  <c:v>1.1483909727114081</c:v>
                </c:pt>
                <c:pt idx="809">
                  <c:v>1.1471800863245849</c:v>
                </c:pt>
                <c:pt idx="810">
                  <c:v>1.1473252620274039</c:v>
                </c:pt>
                <c:pt idx="811">
                  <c:v>1.148615201508709</c:v>
                </c:pt>
                <c:pt idx="812">
                  <c:v>1.1467630869195129</c:v>
                </c:pt>
                <c:pt idx="813">
                  <c:v>1.147720277087662</c:v>
                </c:pt>
                <c:pt idx="814">
                  <c:v>1.146331590654168</c:v>
                </c:pt>
                <c:pt idx="815">
                  <c:v>1.1465234343108599</c:v>
                </c:pt>
                <c:pt idx="816">
                  <c:v>1.148099518667276</c:v>
                </c:pt>
                <c:pt idx="817">
                  <c:v>1.1479921909752919</c:v>
                </c:pt>
                <c:pt idx="818">
                  <c:v>1.148043400990105</c:v>
                </c:pt>
                <c:pt idx="819">
                  <c:v>1.14655483075585</c:v>
                </c:pt>
                <c:pt idx="820">
                  <c:v>1.1469769090255739</c:v>
                </c:pt>
                <c:pt idx="821">
                  <c:v>1.146979530188585</c:v>
                </c:pt>
                <c:pt idx="822">
                  <c:v>1.147968137928788</c:v>
                </c:pt>
                <c:pt idx="823">
                  <c:v>1.148225766979418</c:v>
                </c:pt>
                <c:pt idx="824">
                  <c:v>1.150095047975132</c:v>
                </c:pt>
                <c:pt idx="825">
                  <c:v>1.151336167530463</c:v>
                </c:pt>
                <c:pt idx="826">
                  <c:v>1.1522321629257291</c:v>
                </c:pt>
                <c:pt idx="827">
                  <c:v>1.152413018609272</c:v>
                </c:pt>
                <c:pt idx="828">
                  <c:v>1.1524150733737391</c:v>
                </c:pt>
                <c:pt idx="829">
                  <c:v>1.1506578967583809</c:v>
                </c:pt>
                <c:pt idx="830">
                  <c:v>1.151254178540754</c:v>
                </c:pt>
                <c:pt idx="831">
                  <c:v>1.149953880386974</c:v>
                </c:pt>
                <c:pt idx="832">
                  <c:v>1.152903108998824</c:v>
                </c:pt>
                <c:pt idx="833">
                  <c:v>1.154096862303847</c:v>
                </c:pt>
                <c:pt idx="834">
                  <c:v>1.156756962398954</c:v>
                </c:pt>
                <c:pt idx="835">
                  <c:v>1.1579741445716361</c:v>
                </c:pt>
                <c:pt idx="836">
                  <c:v>1.157273280692011</c:v>
                </c:pt>
                <c:pt idx="837">
                  <c:v>1.159264669079634</c:v>
                </c:pt>
                <c:pt idx="838">
                  <c:v>1.1598163535148549</c:v>
                </c:pt>
                <c:pt idx="839">
                  <c:v>1.160680962683486</c:v>
                </c:pt>
                <c:pt idx="840">
                  <c:v>1.156641132058607</c:v>
                </c:pt>
                <c:pt idx="841">
                  <c:v>1.15368404627587</c:v>
                </c:pt>
                <c:pt idx="842">
                  <c:v>1.154375773894782</c:v>
                </c:pt>
                <c:pt idx="843">
                  <c:v>1.1530617893118249</c:v>
                </c:pt>
                <c:pt idx="844">
                  <c:v>1.1545182752728831</c:v>
                </c:pt>
                <c:pt idx="845">
                  <c:v>1.1562641063559269</c:v>
                </c:pt>
                <c:pt idx="846">
                  <c:v>1.1559259814969409</c:v>
                </c:pt>
                <c:pt idx="847">
                  <c:v>1.156986159231931</c:v>
                </c:pt>
                <c:pt idx="848">
                  <c:v>1.1557479121386811</c:v>
                </c:pt>
                <c:pt idx="849">
                  <c:v>1.155839724921671</c:v>
                </c:pt>
                <c:pt idx="850">
                  <c:v>1.154903529670176</c:v>
                </c:pt>
                <c:pt idx="851">
                  <c:v>1.1554235918577891</c:v>
                </c:pt>
                <c:pt idx="852">
                  <c:v>1.1567451823051951</c:v>
                </c:pt>
                <c:pt idx="853">
                  <c:v>1.1548028919945881</c:v>
                </c:pt>
                <c:pt idx="854">
                  <c:v>1.1573723590235261</c:v>
                </c:pt>
                <c:pt idx="855">
                  <c:v>1.1577208965947761</c:v>
                </c:pt>
                <c:pt idx="856">
                  <c:v>1.157498918794015</c:v>
                </c:pt>
                <c:pt idx="857">
                  <c:v>1.157427506977293</c:v>
                </c:pt>
                <c:pt idx="858">
                  <c:v>1.158291889571341</c:v>
                </c:pt>
                <c:pt idx="859">
                  <c:v>1.155727232408146</c:v>
                </c:pt>
                <c:pt idx="860">
                  <c:v>1.1554036303477111</c:v>
                </c:pt>
                <c:pt idx="861">
                  <c:v>1.155945102075006</c:v>
                </c:pt>
                <c:pt idx="862">
                  <c:v>1.156095787738088</c:v>
                </c:pt>
                <c:pt idx="863">
                  <c:v>1.1550147609752901</c:v>
                </c:pt>
                <c:pt idx="864">
                  <c:v>1.154641034756648</c:v>
                </c:pt>
                <c:pt idx="865">
                  <c:v>1.1550510576038699</c:v>
                </c:pt>
                <c:pt idx="866">
                  <c:v>1.155217973570865</c:v>
                </c:pt>
                <c:pt idx="867">
                  <c:v>1.1557660359868349</c:v>
                </c:pt>
                <c:pt idx="868">
                  <c:v>1.156041432432503</c:v>
                </c:pt>
                <c:pt idx="869">
                  <c:v>1.1561949693604749</c:v>
                </c:pt>
                <c:pt idx="870">
                  <c:v>1.1573403427080069</c:v>
                </c:pt>
                <c:pt idx="871">
                  <c:v>1.1578022074910379</c:v>
                </c:pt>
                <c:pt idx="872">
                  <c:v>1.1572580240362611</c:v>
                </c:pt>
                <c:pt idx="873">
                  <c:v>1.1558035479638731</c:v>
                </c:pt>
                <c:pt idx="874">
                  <c:v>1.1557509808036679</c:v>
                </c:pt>
                <c:pt idx="875">
                  <c:v>1.154178120578939</c:v>
                </c:pt>
                <c:pt idx="876">
                  <c:v>1.1552905391739561</c:v>
                </c:pt>
                <c:pt idx="877">
                  <c:v>1.155786305611185</c:v>
                </c:pt>
                <c:pt idx="878">
                  <c:v>1.154839735176318</c:v>
                </c:pt>
                <c:pt idx="879">
                  <c:v>1.1559774567360901</c:v>
                </c:pt>
                <c:pt idx="880">
                  <c:v>1.153976086589964</c:v>
                </c:pt>
                <c:pt idx="881">
                  <c:v>1.153992578671956</c:v>
                </c:pt>
                <c:pt idx="882">
                  <c:v>1.1558076398285739</c:v>
                </c:pt>
                <c:pt idx="883">
                  <c:v>1.153465585104289</c:v>
                </c:pt>
                <c:pt idx="884">
                  <c:v>1.154497429608373</c:v>
                </c:pt>
                <c:pt idx="885">
                  <c:v>1.151440551975609</c:v>
                </c:pt>
                <c:pt idx="886">
                  <c:v>1.151965596768469</c:v>
                </c:pt>
                <c:pt idx="887">
                  <c:v>1.1553057407856591</c:v>
                </c:pt>
                <c:pt idx="888">
                  <c:v>1.1567508355013101</c:v>
                </c:pt>
                <c:pt idx="889">
                  <c:v>1.156876465548117</c:v>
                </c:pt>
                <c:pt idx="890">
                  <c:v>1.155661664740302</c:v>
                </c:pt>
                <c:pt idx="891">
                  <c:v>1.155484022007758</c:v>
                </c:pt>
                <c:pt idx="892">
                  <c:v>1.154224007835311</c:v>
                </c:pt>
                <c:pt idx="893">
                  <c:v>1.1532143369305841</c:v>
                </c:pt>
                <c:pt idx="894">
                  <c:v>1.1500194234905741</c:v>
                </c:pt>
                <c:pt idx="895">
                  <c:v>1.14969233019182</c:v>
                </c:pt>
                <c:pt idx="896">
                  <c:v>1.1506470941523199</c:v>
                </c:pt>
                <c:pt idx="897">
                  <c:v>1.1506358156768079</c:v>
                </c:pt>
                <c:pt idx="898">
                  <c:v>1.149815382826183</c:v>
                </c:pt>
                <c:pt idx="899">
                  <c:v>1.1499551116563871</c:v>
                </c:pt>
                <c:pt idx="900">
                  <c:v>1.148355030078076</c:v>
                </c:pt>
                <c:pt idx="901">
                  <c:v>1.1476881774774741</c:v>
                </c:pt>
                <c:pt idx="902">
                  <c:v>1.146910000196105</c:v>
                </c:pt>
                <c:pt idx="903">
                  <c:v>1.1463650231927749</c:v>
                </c:pt>
                <c:pt idx="904">
                  <c:v>1.146121570457503</c:v>
                </c:pt>
                <c:pt idx="905">
                  <c:v>1.1488843598312311</c:v>
                </c:pt>
                <c:pt idx="906">
                  <c:v>1.1482620660294529</c:v>
                </c:pt>
                <c:pt idx="907">
                  <c:v>1.1476308797842589</c:v>
                </c:pt>
                <c:pt idx="908">
                  <c:v>1.146663782966838</c:v>
                </c:pt>
                <c:pt idx="909">
                  <c:v>1.1460371640564171</c:v>
                </c:pt>
                <c:pt idx="910">
                  <c:v>1.14496024024924</c:v>
                </c:pt>
                <c:pt idx="911">
                  <c:v>1.1455857914255121</c:v>
                </c:pt>
                <c:pt idx="912">
                  <c:v>1.1455560301901999</c:v>
                </c:pt>
                <c:pt idx="913">
                  <c:v>1.1455977280907399</c:v>
                </c:pt>
                <c:pt idx="914">
                  <c:v>1.145319211695385</c:v>
                </c:pt>
                <c:pt idx="915">
                  <c:v>1.144858687740048</c:v>
                </c:pt>
                <c:pt idx="916">
                  <c:v>1.145021268967354</c:v>
                </c:pt>
                <c:pt idx="917">
                  <c:v>1.143285872935591</c:v>
                </c:pt>
                <c:pt idx="918">
                  <c:v>1.1414487427681079</c:v>
                </c:pt>
                <c:pt idx="919">
                  <c:v>1.1406624675221011</c:v>
                </c:pt>
                <c:pt idx="920">
                  <c:v>1.1386501609751509</c:v>
                </c:pt>
                <c:pt idx="921">
                  <c:v>1.1395272306841411</c:v>
                </c:pt>
                <c:pt idx="922">
                  <c:v>1.139707309709896</c:v>
                </c:pt>
                <c:pt idx="923">
                  <c:v>1.1406543188848239</c:v>
                </c:pt>
                <c:pt idx="924">
                  <c:v>1.142272843485981</c:v>
                </c:pt>
                <c:pt idx="925">
                  <c:v>1.1448326478391551</c:v>
                </c:pt>
                <c:pt idx="926">
                  <c:v>1.1445224508333181</c:v>
                </c:pt>
                <c:pt idx="927">
                  <c:v>1.1440423605828229</c:v>
                </c:pt>
                <c:pt idx="928">
                  <c:v>1.144078892341059</c:v>
                </c:pt>
                <c:pt idx="929">
                  <c:v>1.1458811989151489</c:v>
                </c:pt>
                <c:pt idx="930">
                  <c:v>1.1484755117875911</c:v>
                </c:pt>
                <c:pt idx="931">
                  <c:v>1.1485503396863419</c:v>
                </c:pt>
                <c:pt idx="932">
                  <c:v>1.148783120641425</c:v>
                </c:pt>
                <c:pt idx="933">
                  <c:v>1.148025283908775</c:v>
                </c:pt>
                <c:pt idx="934">
                  <c:v>1.1480110447862779</c:v>
                </c:pt>
                <c:pt idx="935">
                  <c:v>1.149158133177496</c:v>
                </c:pt>
                <c:pt idx="936">
                  <c:v>1.149826903635548</c:v>
                </c:pt>
                <c:pt idx="937">
                  <c:v>1.150559155907896</c:v>
                </c:pt>
                <c:pt idx="938">
                  <c:v>1.14983100993444</c:v>
                </c:pt>
                <c:pt idx="939">
                  <c:v>1.1513271769964879</c:v>
                </c:pt>
                <c:pt idx="940">
                  <c:v>1.1514006186564221</c:v>
                </c:pt>
                <c:pt idx="941">
                  <c:v>1.1509830496683511</c:v>
                </c:pt>
                <c:pt idx="942">
                  <c:v>1.148971873354627</c:v>
                </c:pt>
                <c:pt idx="943">
                  <c:v>1.1491338545798431</c:v>
                </c:pt>
                <c:pt idx="944">
                  <c:v>1.1473515141813</c:v>
                </c:pt>
                <c:pt idx="945">
                  <c:v>1.148140821609414</c:v>
                </c:pt>
                <c:pt idx="946">
                  <c:v>1.149014989802873</c:v>
                </c:pt>
                <c:pt idx="947">
                  <c:v>1.1487629984134451</c:v>
                </c:pt>
                <c:pt idx="948">
                  <c:v>1.1490244984214111</c:v>
                </c:pt>
                <c:pt idx="949">
                  <c:v>1.150037931146487</c:v>
                </c:pt>
                <c:pt idx="950">
                  <c:v>1.150395092676064</c:v>
                </c:pt>
                <c:pt idx="951">
                  <c:v>1.14732191124019</c:v>
                </c:pt>
                <c:pt idx="952">
                  <c:v>1.147482989385048</c:v>
                </c:pt>
                <c:pt idx="953">
                  <c:v>1.1480302946554131</c:v>
                </c:pt>
                <c:pt idx="954">
                  <c:v>1.149163405292172</c:v>
                </c:pt>
                <c:pt idx="955">
                  <c:v>1.1507620446150959</c:v>
                </c:pt>
                <c:pt idx="956">
                  <c:v>1.1507068566951391</c:v>
                </c:pt>
                <c:pt idx="957">
                  <c:v>1.150393195955745</c:v>
                </c:pt>
                <c:pt idx="958">
                  <c:v>1.151510495319594</c:v>
                </c:pt>
                <c:pt idx="959">
                  <c:v>1.151347119220443</c:v>
                </c:pt>
                <c:pt idx="960">
                  <c:v>1.1506810783414261</c:v>
                </c:pt>
                <c:pt idx="961">
                  <c:v>1.15148469025252</c:v>
                </c:pt>
                <c:pt idx="962">
                  <c:v>1.1505141519013811</c:v>
                </c:pt>
                <c:pt idx="963">
                  <c:v>1.1519627624817179</c:v>
                </c:pt>
                <c:pt idx="964">
                  <c:v>1.1517807823665269</c:v>
                </c:pt>
                <c:pt idx="965">
                  <c:v>1.1525575241206789</c:v>
                </c:pt>
                <c:pt idx="966">
                  <c:v>1.1519090618871819</c:v>
                </c:pt>
                <c:pt idx="967">
                  <c:v>1.153763394071613</c:v>
                </c:pt>
                <c:pt idx="968">
                  <c:v>1.156319632869754</c:v>
                </c:pt>
                <c:pt idx="969">
                  <c:v>1.1579522369595181</c:v>
                </c:pt>
                <c:pt idx="970">
                  <c:v>1.1566608922096211</c:v>
                </c:pt>
                <c:pt idx="971">
                  <c:v>1.1550632145281849</c:v>
                </c:pt>
                <c:pt idx="972">
                  <c:v>1.154462650327855</c:v>
                </c:pt>
                <c:pt idx="973">
                  <c:v>1.152966658329946</c:v>
                </c:pt>
                <c:pt idx="974">
                  <c:v>1.150820411344301</c:v>
                </c:pt>
                <c:pt idx="975">
                  <c:v>1.151990465410482</c:v>
                </c:pt>
                <c:pt idx="976">
                  <c:v>1.150929388419029</c:v>
                </c:pt>
                <c:pt idx="977">
                  <c:v>1.152610820546274</c:v>
                </c:pt>
                <c:pt idx="978">
                  <c:v>1.151577836350308</c:v>
                </c:pt>
                <c:pt idx="979">
                  <c:v>1.15221082771373</c:v>
                </c:pt>
                <c:pt idx="980">
                  <c:v>1.1520323779347921</c:v>
                </c:pt>
                <c:pt idx="981">
                  <c:v>1.149269797127525</c:v>
                </c:pt>
                <c:pt idx="982">
                  <c:v>1.150703444398318</c:v>
                </c:pt>
                <c:pt idx="983">
                  <c:v>1.1508650392336961</c:v>
                </c:pt>
                <c:pt idx="984">
                  <c:v>1.147365641681001</c:v>
                </c:pt>
                <c:pt idx="985">
                  <c:v>1.148641880124617</c:v>
                </c:pt>
                <c:pt idx="986">
                  <c:v>1.1494583271464509</c:v>
                </c:pt>
                <c:pt idx="987">
                  <c:v>1.1525343437645119</c:v>
                </c:pt>
                <c:pt idx="988">
                  <c:v>1.1513000066140939</c:v>
                </c:pt>
                <c:pt idx="989">
                  <c:v>1.1487056139184531</c:v>
                </c:pt>
                <c:pt idx="990">
                  <c:v>1.1478573046214811</c:v>
                </c:pt>
                <c:pt idx="991">
                  <c:v>1.146264218305302</c:v>
                </c:pt>
                <c:pt idx="992">
                  <c:v>1.1471027756980781</c:v>
                </c:pt>
                <c:pt idx="993">
                  <c:v>1.144924321112867</c:v>
                </c:pt>
                <c:pt idx="994">
                  <c:v>1.1434726068303791</c:v>
                </c:pt>
                <c:pt idx="995">
                  <c:v>1.1472435445900211</c:v>
                </c:pt>
                <c:pt idx="996">
                  <c:v>1.1501140881775209</c:v>
                </c:pt>
                <c:pt idx="997">
                  <c:v>1.1524836735137021</c:v>
                </c:pt>
                <c:pt idx="998">
                  <c:v>1.1557084954297969</c:v>
                </c:pt>
                <c:pt idx="999">
                  <c:v>1.156439708347293</c:v>
                </c:pt>
                <c:pt idx="1000">
                  <c:v>1.1565972782243079</c:v>
                </c:pt>
                <c:pt idx="1001">
                  <c:v>1.158685104261761</c:v>
                </c:pt>
                <c:pt idx="1002">
                  <c:v>1.1601163408954009</c:v>
                </c:pt>
                <c:pt idx="1003">
                  <c:v>1.161736835804855</c:v>
                </c:pt>
                <c:pt idx="1004">
                  <c:v>1.165658676750537</c:v>
                </c:pt>
                <c:pt idx="1005">
                  <c:v>1.162302195667666</c:v>
                </c:pt>
                <c:pt idx="1006">
                  <c:v>1.1671352648425031</c:v>
                </c:pt>
                <c:pt idx="1007">
                  <c:v>1.167532476775508</c:v>
                </c:pt>
                <c:pt idx="1008">
                  <c:v>1.1698591665712039</c:v>
                </c:pt>
                <c:pt idx="1009">
                  <c:v>1.171005089138117</c:v>
                </c:pt>
                <c:pt idx="1010">
                  <c:v>1.173237248936899</c:v>
                </c:pt>
                <c:pt idx="1011">
                  <c:v>1.17233790142134</c:v>
                </c:pt>
                <c:pt idx="1012">
                  <c:v>1.1743705448587669</c:v>
                </c:pt>
                <c:pt idx="1013">
                  <c:v>1.175239917057777</c:v>
                </c:pt>
                <c:pt idx="1014">
                  <c:v>1.17317702299538</c:v>
                </c:pt>
                <c:pt idx="1015">
                  <c:v>1.1727962086717589</c:v>
                </c:pt>
                <c:pt idx="1016">
                  <c:v>1.171576211457128</c:v>
                </c:pt>
                <c:pt idx="1017">
                  <c:v>1.173970659226836</c:v>
                </c:pt>
                <c:pt idx="1018">
                  <c:v>1.1766348157264039</c:v>
                </c:pt>
                <c:pt idx="1019">
                  <c:v>1.1768598480614509</c:v>
                </c:pt>
                <c:pt idx="1020">
                  <c:v>1.1770430830352061</c:v>
                </c:pt>
                <c:pt idx="1021">
                  <c:v>1.178074569766606</c:v>
                </c:pt>
                <c:pt idx="1022">
                  <c:v>1.1768751374729169</c:v>
                </c:pt>
                <c:pt idx="1023">
                  <c:v>1.1742822483332771</c:v>
                </c:pt>
                <c:pt idx="1024">
                  <c:v>1.1738718296730839</c:v>
                </c:pt>
                <c:pt idx="1025">
                  <c:v>1.172467603771137</c:v>
                </c:pt>
                <c:pt idx="1026">
                  <c:v>1.1744212551143389</c:v>
                </c:pt>
                <c:pt idx="1027">
                  <c:v>1.176618325679617</c:v>
                </c:pt>
                <c:pt idx="1028">
                  <c:v>1.1791628901204849</c:v>
                </c:pt>
                <c:pt idx="1029">
                  <c:v>1.1788373382573949</c:v>
                </c:pt>
                <c:pt idx="1030">
                  <c:v>1.178852745530361</c:v>
                </c:pt>
                <c:pt idx="1031">
                  <c:v>1.180413751245647</c:v>
                </c:pt>
                <c:pt idx="1032">
                  <c:v>1.1818329161329959</c:v>
                </c:pt>
                <c:pt idx="1033">
                  <c:v>1.1800630487752291</c:v>
                </c:pt>
                <c:pt idx="1034">
                  <c:v>1.18037364330008</c:v>
                </c:pt>
                <c:pt idx="1035">
                  <c:v>1.1834741240194691</c:v>
                </c:pt>
                <c:pt idx="1036">
                  <c:v>1.1832644645035471</c:v>
                </c:pt>
                <c:pt idx="1037">
                  <c:v>1.1807046477601799</c:v>
                </c:pt>
                <c:pt idx="1038">
                  <c:v>1.1848037979418851</c:v>
                </c:pt>
                <c:pt idx="1039">
                  <c:v>1.185297948429755</c:v>
                </c:pt>
                <c:pt idx="1040">
                  <c:v>1.18467492512904</c:v>
                </c:pt>
                <c:pt idx="1041">
                  <c:v>1.1837044467322979</c:v>
                </c:pt>
                <c:pt idx="1042">
                  <c:v>1.183151379955736</c:v>
                </c:pt>
                <c:pt idx="1043">
                  <c:v>1.184016604287035</c:v>
                </c:pt>
                <c:pt idx="1044">
                  <c:v>1.1835799220312331</c:v>
                </c:pt>
                <c:pt idx="1045">
                  <c:v>1.1851505717661399</c:v>
                </c:pt>
                <c:pt idx="1046">
                  <c:v>1.1840719719888451</c:v>
                </c:pt>
                <c:pt idx="1047">
                  <c:v>1.184691772504914</c:v>
                </c:pt>
                <c:pt idx="1048">
                  <c:v>1.1863869556253781</c:v>
                </c:pt>
                <c:pt idx="1049">
                  <c:v>1.187420723909153</c:v>
                </c:pt>
                <c:pt idx="1050">
                  <c:v>1.1859477895496811</c:v>
                </c:pt>
                <c:pt idx="1051">
                  <c:v>1.186219044649093</c:v>
                </c:pt>
                <c:pt idx="1052">
                  <c:v>1.186754907888665</c:v>
                </c:pt>
                <c:pt idx="1053">
                  <c:v>1.1870779167753589</c:v>
                </c:pt>
                <c:pt idx="1054">
                  <c:v>1.1873210372992049</c:v>
                </c:pt>
                <c:pt idx="1055">
                  <c:v>1.18699817585321</c:v>
                </c:pt>
                <c:pt idx="1056">
                  <c:v>1.1872257377481279</c:v>
                </c:pt>
                <c:pt idx="1057">
                  <c:v>1.1881274106020749</c:v>
                </c:pt>
                <c:pt idx="1058">
                  <c:v>1.190589980855473</c:v>
                </c:pt>
                <c:pt idx="1059">
                  <c:v>1.1894129829924009</c:v>
                </c:pt>
                <c:pt idx="1060">
                  <c:v>1.1893584104913499</c:v>
                </c:pt>
                <c:pt idx="1061">
                  <c:v>1.187059176156031</c:v>
                </c:pt>
                <c:pt idx="1062">
                  <c:v>1.184743877408879</c:v>
                </c:pt>
                <c:pt idx="1063">
                  <c:v>1.1864983656182799</c:v>
                </c:pt>
                <c:pt idx="1064">
                  <c:v>1.1861547010286531</c:v>
                </c:pt>
                <c:pt idx="1065">
                  <c:v>1.1868801866351051</c:v>
                </c:pt>
                <c:pt idx="1066">
                  <c:v>1.1867892890797631</c:v>
                </c:pt>
                <c:pt idx="1067">
                  <c:v>1.186517319870207</c:v>
                </c:pt>
                <c:pt idx="1068">
                  <c:v>1.187640871139594</c:v>
                </c:pt>
                <c:pt idx="1069">
                  <c:v>1.18896599808923</c:v>
                </c:pt>
                <c:pt idx="1070">
                  <c:v>1.188074307834118</c:v>
                </c:pt>
                <c:pt idx="1071">
                  <c:v>1.18899256676788</c:v>
                </c:pt>
                <c:pt idx="1072">
                  <c:v>1.188447451361166</c:v>
                </c:pt>
                <c:pt idx="1073">
                  <c:v>1.187790124553739</c:v>
                </c:pt>
                <c:pt idx="1074">
                  <c:v>1.1886310574035091</c:v>
                </c:pt>
                <c:pt idx="1075">
                  <c:v>1.189473357105856</c:v>
                </c:pt>
                <c:pt idx="1076">
                  <c:v>1.191608018806634</c:v>
                </c:pt>
                <c:pt idx="1077">
                  <c:v>1.19273122450374</c:v>
                </c:pt>
                <c:pt idx="1078">
                  <c:v>1.194413040863376</c:v>
                </c:pt>
                <c:pt idx="1079">
                  <c:v>1.1944615854471241</c:v>
                </c:pt>
                <c:pt idx="1080">
                  <c:v>1.1938603002203041</c:v>
                </c:pt>
                <c:pt idx="1081">
                  <c:v>1.1939066469209141</c:v>
                </c:pt>
                <c:pt idx="1082">
                  <c:v>1.1912981667563161</c:v>
                </c:pt>
                <c:pt idx="1083">
                  <c:v>1.190067957728042</c:v>
                </c:pt>
                <c:pt idx="1084">
                  <c:v>1.1922286011496339</c:v>
                </c:pt>
                <c:pt idx="1085">
                  <c:v>1.191024041657744</c:v>
                </c:pt>
                <c:pt idx="1086">
                  <c:v>1.192894688472836</c:v>
                </c:pt>
                <c:pt idx="1087">
                  <c:v>1.1926635317782199</c:v>
                </c:pt>
                <c:pt idx="1088">
                  <c:v>1.1923397951218151</c:v>
                </c:pt>
                <c:pt idx="1089">
                  <c:v>1.192992827296854</c:v>
                </c:pt>
                <c:pt idx="1090">
                  <c:v>1.192226150332012</c:v>
                </c:pt>
                <c:pt idx="1091">
                  <c:v>1.1919934873137901</c:v>
                </c:pt>
                <c:pt idx="1092">
                  <c:v>1.189928535651839</c:v>
                </c:pt>
                <c:pt idx="1093">
                  <c:v>1.193649269376416</c:v>
                </c:pt>
                <c:pt idx="1094">
                  <c:v>1.194409985386365</c:v>
                </c:pt>
                <c:pt idx="1095">
                  <c:v>1.1962737612987231</c:v>
                </c:pt>
                <c:pt idx="1096">
                  <c:v>1.196403893008017</c:v>
                </c:pt>
                <c:pt idx="1097">
                  <c:v>1.1962373467605989</c:v>
                </c:pt>
                <c:pt idx="1098">
                  <c:v>1.198352076877103</c:v>
                </c:pt>
                <c:pt idx="1099">
                  <c:v>1.1972475654672809</c:v>
                </c:pt>
                <c:pt idx="1100">
                  <c:v>1.1969375874264669</c:v>
                </c:pt>
                <c:pt idx="1101">
                  <c:v>1.1953379778637041</c:v>
                </c:pt>
                <c:pt idx="1102">
                  <c:v>1.1966932630184779</c:v>
                </c:pt>
                <c:pt idx="1103">
                  <c:v>1.194078464275476</c:v>
                </c:pt>
                <c:pt idx="1104">
                  <c:v>1.1937566787817679</c:v>
                </c:pt>
                <c:pt idx="1105">
                  <c:v>1.1916934184470469</c:v>
                </c:pt>
                <c:pt idx="1106">
                  <c:v>1.193816394845908</c:v>
                </c:pt>
                <c:pt idx="1107">
                  <c:v>1.1950175004460011</c:v>
                </c:pt>
                <c:pt idx="1108">
                  <c:v>1.1953165011887359</c:v>
                </c:pt>
                <c:pt idx="1109">
                  <c:v>1.19942080477068</c:v>
                </c:pt>
                <c:pt idx="1110">
                  <c:v>1.201094031815269</c:v>
                </c:pt>
                <c:pt idx="1111">
                  <c:v>1.1993937653371789</c:v>
                </c:pt>
                <c:pt idx="1112">
                  <c:v>1.195137962051507</c:v>
                </c:pt>
                <c:pt idx="1113">
                  <c:v>1.1952237455882679</c:v>
                </c:pt>
                <c:pt idx="1114">
                  <c:v>1.1958506377530169</c:v>
                </c:pt>
                <c:pt idx="1115">
                  <c:v>1.194543801243481</c:v>
                </c:pt>
                <c:pt idx="1116">
                  <c:v>1.1939819439624579</c:v>
                </c:pt>
                <c:pt idx="1117">
                  <c:v>1.1910179511462839</c:v>
                </c:pt>
                <c:pt idx="1118">
                  <c:v>1.1933246954038981</c:v>
                </c:pt>
                <c:pt idx="1119">
                  <c:v>1.19374696964362</c:v>
                </c:pt>
                <c:pt idx="1120">
                  <c:v>1.1931452797115289</c:v>
                </c:pt>
                <c:pt idx="1121">
                  <c:v>1.1936917803324001</c:v>
                </c:pt>
                <c:pt idx="1122">
                  <c:v>1.195028886714959</c:v>
                </c:pt>
                <c:pt idx="1123">
                  <c:v>1.194033884438914</c:v>
                </c:pt>
                <c:pt idx="1124">
                  <c:v>1.193820446831743</c:v>
                </c:pt>
                <c:pt idx="1125">
                  <c:v>1.1932035055864949</c:v>
                </c:pt>
                <c:pt idx="1126">
                  <c:v>1.1927652970374329</c:v>
                </c:pt>
                <c:pt idx="1127">
                  <c:v>1.192557661733932</c:v>
                </c:pt>
                <c:pt idx="1128">
                  <c:v>1.189962293135356</c:v>
                </c:pt>
                <c:pt idx="1129">
                  <c:v>1.19066439469935</c:v>
                </c:pt>
                <c:pt idx="1130">
                  <c:v>1.1910393676462889</c:v>
                </c:pt>
                <c:pt idx="1131">
                  <c:v>1.1931798459690111</c:v>
                </c:pt>
                <c:pt idx="1132">
                  <c:v>1.191594915023388</c:v>
                </c:pt>
                <c:pt idx="1133">
                  <c:v>1.192969165976832</c:v>
                </c:pt>
                <c:pt idx="1134">
                  <c:v>1.1923720441545571</c:v>
                </c:pt>
                <c:pt idx="1135">
                  <c:v>1.19376943755453</c:v>
                </c:pt>
                <c:pt idx="1136">
                  <c:v>1.1922736465654451</c:v>
                </c:pt>
                <c:pt idx="1137">
                  <c:v>1.192203712047579</c:v>
                </c:pt>
                <c:pt idx="1138">
                  <c:v>1.1937460621499081</c:v>
                </c:pt>
                <c:pt idx="1139">
                  <c:v>1.1947755754799929</c:v>
                </c:pt>
                <c:pt idx="1140">
                  <c:v>1.194739943182749</c:v>
                </c:pt>
                <c:pt idx="1141">
                  <c:v>1.196318027087669</c:v>
                </c:pt>
                <c:pt idx="1142">
                  <c:v>1.1974445255282169</c:v>
                </c:pt>
                <c:pt idx="1143">
                  <c:v>1.1980327480178561</c:v>
                </c:pt>
                <c:pt idx="1144">
                  <c:v>1.1983380972976121</c:v>
                </c:pt>
                <c:pt idx="1145">
                  <c:v>1.198769415227678</c:v>
                </c:pt>
                <c:pt idx="1146">
                  <c:v>1.2021908486625159</c:v>
                </c:pt>
                <c:pt idx="1147">
                  <c:v>1.2044551530845971</c:v>
                </c:pt>
                <c:pt idx="1148">
                  <c:v>1.207073795810355</c:v>
                </c:pt>
                <c:pt idx="1149">
                  <c:v>1.206981753759703</c:v>
                </c:pt>
                <c:pt idx="1150">
                  <c:v>1.2156232717357121</c:v>
                </c:pt>
                <c:pt idx="1151">
                  <c:v>1.225955698891207</c:v>
                </c:pt>
                <c:pt idx="1152">
                  <c:v>1.216053574218807</c:v>
                </c:pt>
                <c:pt idx="1153">
                  <c:v>1.217878030696421</c:v>
                </c:pt>
                <c:pt idx="1154">
                  <c:v>1.215836037658081</c:v>
                </c:pt>
                <c:pt idx="1155">
                  <c:v>1.2202743009223369</c:v>
                </c:pt>
                <c:pt idx="1156">
                  <c:v>1.218361165365359</c:v>
                </c:pt>
                <c:pt idx="1157">
                  <c:v>1.2174117675835781</c:v>
                </c:pt>
                <c:pt idx="1158">
                  <c:v>1.218514232180854</c:v>
                </c:pt>
                <c:pt idx="1159">
                  <c:v>1.2256970386918999</c:v>
                </c:pt>
                <c:pt idx="1160">
                  <c:v>1.2278865890754149</c:v>
                </c:pt>
                <c:pt idx="1161">
                  <c:v>1.2275387615110911</c:v>
                </c:pt>
                <c:pt idx="1162">
                  <c:v>1.225824115624591</c:v>
                </c:pt>
                <c:pt idx="1163">
                  <c:v>1.224851020715074</c:v>
                </c:pt>
                <c:pt idx="1164">
                  <c:v>1.226092083734629</c:v>
                </c:pt>
                <c:pt idx="1165">
                  <c:v>1.225991560550137</c:v>
                </c:pt>
                <c:pt idx="1166">
                  <c:v>1.22536947807073</c:v>
                </c:pt>
                <c:pt idx="1167">
                  <c:v>1.225975152068719</c:v>
                </c:pt>
                <c:pt idx="1168">
                  <c:v>1.227098756104235</c:v>
                </c:pt>
                <c:pt idx="1169">
                  <c:v>1.22466149883296</c:v>
                </c:pt>
                <c:pt idx="1170">
                  <c:v>1.227378067439308</c:v>
                </c:pt>
                <c:pt idx="1171">
                  <c:v>1.231649533808524</c:v>
                </c:pt>
                <c:pt idx="1172">
                  <c:v>1.2312835938186619</c:v>
                </c:pt>
                <c:pt idx="1173">
                  <c:v>1.2331290751840711</c:v>
                </c:pt>
                <c:pt idx="1174">
                  <c:v>1.2339076379385949</c:v>
                </c:pt>
                <c:pt idx="1175">
                  <c:v>1.2378380066982499</c:v>
                </c:pt>
                <c:pt idx="1176">
                  <c:v>1.2361568862556329</c:v>
                </c:pt>
                <c:pt idx="1177">
                  <c:v>1.237124124855101</c:v>
                </c:pt>
                <c:pt idx="1178">
                  <c:v>1.231564271690168</c:v>
                </c:pt>
                <c:pt idx="1179">
                  <c:v>1.227662898558781</c:v>
                </c:pt>
                <c:pt idx="1180">
                  <c:v>1.224863645103381</c:v>
                </c:pt>
                <c:pt idx="1181">
                  <c:v>1.2290193685321129</c:v>
                </c:pt>
                <c:pt idx="1182">
                  <c:v>1.2303564876431641</c:v>
                </c:pt>
                <c:pt idx="1183">
                  <c:v>1.2319345069384759</c:v>
                </c:pt>
                <c:pt idx="1184">
                  <c:v>1.228667324722132</c:v>
                </c:pt>
                <c:pt idx="1185">
                  <c:v>1.2284076059618829</c:v>
                </c:pt>
                <c:pt idx="1186">
                  <c:v>1.22717945521656</c:v>
                </c:pt>
                <c:pt idx="1187">
                  <c:v>1.2311978020481531</c:v>
                </c:pt>
                <c:pt idx="1188">
                  <c:v>1.2308503697826909</c:v>
                </c:pt>
                <c:pt idx="1189">
                  <c:v>1.2346279147580159</c:v>
                </c:pt>
                <c:pt idx="1190">
                  <c:v>1.239352413351319</c:v>
                </c:pt>
                <c:pt idx="1191">
                  <c:v>1.239008848481693</c:v>
                </c:pt>
                <c:pt idx="1192">
                  <c:v>1.2388253744654869</c:v>
                </c:pt>
                <c:pt idx="1193">
                  <c:v>1.2401237936382981</c:v>
                </c:pt>
                <c:pt idx="1194">
                  <c:v>1.241246473706749</c:v>
                </c:pt>
                <c:pt idx="1195">
                  <c:v>1.2416019875217179</c:v>
                </c:pt>
                <c:pt idx="1196">
                  <c:v>1.2460278300621419</c:v>
                </c:pt>
                <c:pt idx="1197">
                  <c:v>1.248467271947139</c:v>
                </c:pt>
                <c:pt idx="1198">
                  <c:v>1.2510526079970321</c:v>
                </c:pt>
                <c:pt idx="1199">
                  <c:v>1.2505015414730689</c:v>
                </c:pt>
                <c:pt idx="1200">
                  <c:v>1.2511287743377819</c:v>
                </c:pt>
                <c:pt idx="1201">
                  <c:v>1.249411155800384</c:v>
                </c:pt>
                <c:pt idx="1202">
                  <c:v>1.2484551429842401</c:v>
                </c:pt>
                <c:pt idx="1203">
                  <c:v>1.2493252581189269</c:v>
                </c:pt>
                <c:pt idx="1204">
                  <c:v>1.2525427821731481</c:v>
                </c:pt>
                <c:pt idx="1205">
                  <c:v>1.251308547148883</c:v>
                </c:pt>
                <c:pt idx="1206">
                  <c:v>1.2514584779250111</c:v>
                </c:pt>
                <c:pt idx="1207">
                  <c:v>1.2498024254308959</c:v>
                </c:pt>
                <c:pt idx="1208">
                  <c:v>1.252629797576206</c:v>
                </c:pt>
                <c:pt idx="1209">
                  <c:v>1.2542480859417151</c:v>
                </c:pt>
                <c:pt idx="1210">
                  <c:v>1.2532613593984201</c:v>
                </c:pt>
                <c:pt idx="1211">
                  <c:v>1.251222415459722</c:v>
                </c:pt>
                <c:pt idx="1212">
                  <c:v>1.251937352272865</c:v>
                </c:pt>
                <c:pt idx="1213">
                  <c:v>1.251399442981818</c:v>
                </c:pt>
                <c:pt idx="1214">
                  <c:v>1.2512024610582051</c:v>
                </c:pt>
                <c:pt idx="1215">
                  <c:v>1.2527290401840929</c:v>
                </c:pt>
                <c:pt idx="1216">
                  <c:v>1.252464032164448</c:v>
                </c:pt>
                <c:pt idx="1217">
                  <c:v>1.251166987031636</c:v>
                </c:pt>
                <c:pt idx="1218">
                  <c:v>1.249486760616654</c:v>
                </c:pt>
                <c:pt idx="1219">
                  <c:v>1.2485140566934509</c:v>
                </c:pt>
                <c:pt idx="1220">
                  <c:v>1.253561996192855</c:v>
                </c:pt>
                <c:pt idx="1221">
                  <c:v>1.253292624841996</c:v>
                </c:pt>
                <c:pt idx="1222">
                  <c:v>1.25382124720484</c:v>
                </c:pt>
                <c:pt idx="1223">
                  <c:v>1.254229426479373</c:v>
                </c:pt>
                <c:pt idx="1224">
                  <c:v>1.2551891724168449</c:v>
                </c:pt>
                <c:pt idx="1225">
                  <c:v>1.2573864099004659</c:v>
                </c:pt>
                <c:pt idx="1226">
                  <c:v>1.2583779125775341</c:v>
                </c:pt>
                <c:pt idx="1227">
                  <c:v>1.256993174740473</c:v>
                </c:pt>
                <c:pt idx="1228">
                  <c:v>1.2585886653778811</c:v>
                </c:pt>
                <c:pt idx="1229">
                  <c:v>1.2578647644081371</c:v>
                </c:pt>
                <c:pt idx="1230">
                  <c:v>1.259998013261882</c:v>
                </c:pt>
                <c:pt idx="1231">
                  <c:v>1.2643489570742259</c:v>
                </c:pt>
                <c:pt idx="1232">
                  <c:v>1.266278475357921</c:v>
                </c:pt>
                <c:pt idx="1233">
                  <c:v>1.2673562776487659</c:v>
                </c:pt>
                <c:pt idx="1234">
                  <c:v>1.2677416231058161</c:v>
                </c:pt>
                <c:pt idx="1235">
                  <c:v>1.269123615170652</c:v>
                </c:pt>
                <c:pt idx="1236">
                  <c:v>1.267286694422479</c:v>
                </c:pt>
                <c:pt idx="1237">
                  <c:v>1.266916373329684</c:v>
                </c:pt>
                <c:pt idx="1238">
                  <c:v>1.265836015712285</c:v>
                </c:pt>
                <c:pt idx="1239">
                  <c:v>1.262980133147477</c:v>
                </c:pt>
                <c:pt idx="1240">
                  <c:v>1.266348351659522</c:v>
                </c:pt>
                <c:pt idx="1241">
                  <c:v>1.2656721149801129</c:v>
                </c:pt>
                <c:pt idx="1242">
                  <c:v>1.2657345248195451</c:v>
                </c:pt>
                <c:pt idx="1243">
                  <c:v>1.261806352156692</c:v>
                </c:pt>
                <c:pt idx="1244">
                  <c:v>1.2608128171212909</c:v>
                </c:pt>
                <c:pt idx="1245">
                  <c:v>1.2615872410706019</c:v>
                </c:pt>
                <c:pt idx="1246">
                  <c:v>1.25839405223544</c:v>
                </c:pt>
                <c:pt idx="1247">
                  <c:v>1.2533248497300189</c:v>
                </c:pt>
                <c:pt idx="1248">
                  <c:v>1.2542091751303539</c:v>
                </c:pt>
                <c:pt idx="1249">
                  <c:v>1.255928842848933</c:v>
                </c:pt>
                <c:pt idx="1250">
                  <c:v>1.2571696338485689</c:v>
                </c:pt>
                <c:pt idx="1251">
                  <c:v>1.2585453679587471</c:v>
                </c:pt>
                <c:pt idx="1252">
                  <c:v>1.254434115094512</c:v>
                </c:pt>
                <c:pt idx="1253">
                  <c:v>1.253423053595319</c:v>
                </c:pt>
                <c:pt idx="1254">
                  <c:v>1.2495723712956619</c:v>
                </c:pt>
                <c:pt idx="1255">
                  <c:v>1.2512038738729281</c:v>
                </c:pt>
                <c:pt idx="1256">
                  <c:v>1.250292179875228</c:v>
                </c:pt>
                <c:pt idx="1257">
                  <c:v>1.2537921913924239</c:v>
                </c:pt>
                <c:pt idx="1258">
                  <c:v>1.2512189652490631</c:v>
                </c:pt>
                <c:pt idx="1259">
                  <c:v>1.2528670942344451</c:v>
                </c:pt>
                <c:pt idx="1260">
                  <c:v>1.252762940732816</c:v>
                </c:pt>
                <c:pt idx="1261">
                  <c:v>1.2544153647154039</c:v>
                </c:pt>
                <c:pt idx="1262">
                  <c:v>1.251779461725852</c:v>
                </c:pt>
                <c:pt idx="1263">
                  <c:v>1.2517988338778749</c:v>
                </c:pt>
                <c:pt idx="1264">
                  <c:v>1.251713747600026</c:v>
                </c:pt>
                <c:pt idx="1265">
                  <c:v>1.2530115221710909</c:v>
                </c:pt>
                <c:pt idx="1266">
                  <c:v>1.2534711291954681</c:v>
                </c:pt>
                <c:pt idx="1267">
                  <c:v>1.253687619608574</c:v>
                </c:pt>
                <c:pt idx="1268">
                  <c:v>1.254566071628848</c:v>
                </c:pt>
                <c:pt idx="1269">
                  <c:v>1.255650131654807</c:v>
                </c:pt>
                <c:pt idx="1270">
                  <c:v>1.2571792074363211</c:v>
                </c:pt>
                <c:pt idx="1271">
                  <c:v>1.2600364844617451</c:v>
                </c:pt>
                <c:pt idx="1272">
                  <c:v>1.249164891520935</c:v>
                </c:pt>
                <c:pt idx="1273">
                  <c:v>1.2469379112799239</c:v>
                </c:pt>
                <c:pt idx="1274">
                  <c:v>1.250730293777345</c:v>
                </c:pt>
                <c:pt idx="1275">
                  <c:v>1.254434627602764</c:v>
                </c:pt>
                <c:pt idx="1276">
                  <c:v>1.2579679119438689</c:v>
                </c:pt>
                <c:pt idx="1277">
                  <c:v>1.2595113528770621</c:v>
                </c:pt>
                <c:pt idx="1278">
                  <c:v>1.2590982699974591</c:v>
                </c:pt>
                <c:pt idx="1279">
                  <c:v>1.26027263008498</c:v>
                </c:pt>
                <c:pt idx="1280">
                  <c:v>1.2602438819199451</c:v>
                </c:pt>
                <c:pt idx="1281">
                  <c:v>1.260535000415254</c:v>
                </c:pt>
                <c:pt idx="1282">
                  <c:v>1.2635712495274041</c:v>
                </c:pt>
                <c:pt idx="1283">
                  <c:v>1.2657202860755941</c:v>
                </c:pt>
                <c:pt idx="1284">
                  <c:v>1.262814070475899</c:v>
                </c:pt>
                <c:pt idx="1285">
                  <c:v>1.2622265753782549</c:v>
                </c:pt>
                <c:pt idx="1286">
                  <c:v>1.262409597832203</c:v>
                </c:pt>
                <c:pt idx="1287">
                  <c:v>1.2618493096695531</c:v>
                </c:pt>
                <c:pt idx="1288">
                  <c:v>1.2639794442993131</c:v>
                </c:pt>
                <c:pt idx="1289">
                  <c:v>1.2658687857233411</c:v>
                </c:pt>
                <c:pt idx="1290">
                  <c:v>1.269992297922887</c:v>
                </c:pt>
                <c:pt idx="1291">
                  <c:v>1.27006795704942</c:v>
                </c:pt>
                <c:pt idx="1292">
                  <c:v>1.2711306003896401</c:v>
                </c:pt>
                <c:pt idx="1293">
                  <c:v>1.2698504235342141</c:v>
                </c:pt>
                <c:pt idx="1294">
                  <c:v>1.266826016784468</c:v>
                </c:pt>
                <c:pt idx="1295">
                  <c:v>1.2674718660734841</c:v>
                </c:pt>
                <c:pt idx="1296">
                  <c:v>1.267296003499697</c:v>
                </c:pt>
                <c:pt idx="1297">
                  <c:v>1.262629270453717</c:v>
                </c:pt>
                <c:pt idx="1298">
                  <c:v>1.263693068314319</c:v>
                </c:pt>
                <c:pt idx="1299">
                  <c:v>1.2653047957839221</c:v>
                </c:pt>
                <c:pt idx="1300">
                  <c:v>1.2662889385616261</c:v>
                </c:pt>
                <c:pt idx="1301">
                  <c:v>1.2679301416383379</c:v>
                </c:pt>
                <c:pt idx="1302">
                  <c:v>1.267802536705581</c:v>
                </c:pt>
                <c:pt idx="1303">
                  <c:v>1.2661940804777161</c:v>
                </c:pt>
                <c:pt idx="1304">
                  <c:v>1.2667576889309731</c:v>
                </c:pt>
                <c:pt idx="1305">
                  <c:v>1.26507271544186</c:v>
                </c:pt>
                <c:pt idx="1306">
                  <c:v>1.2649782591689169</c:v>
                </c:pt>
                <c:pt idx="1307">
                  <c:v>1.2652042831621131</c:v>
                </c:pt>
                <c:pt idx="1308">
                  <c:v>1.2655780154627461</c:v>
                </c:pt>
                <c:pt idx="1309">
                  <c:v>1.2670251501755669</c:v>
                </c:pt>
                <c:pt idx="1310">
                  <c:v>1.268939074970695</c:v>
                </c:pt>
                <c:pt idx="1311">
                  <c:v>1.2711579516590239</c:v>
                </c:pt>
                <c:pt idx="1312">
                  <c:v>1.271833014675761</c:v>
                </c:pt>
                <c:pt idx="1313">
                  <c:v>1.272558672425508</c:v>
                </c:pt>
                <c:pt idx="1314">
                  <c:v>1.271691621816792</c:v>
                </c:pt>
                <c:pt idx="1315">
                  <c:v>1.2733713101930959</c:v>
                </c:pt>
                <c:pt idx="1316">
                  <c:v>1.2747490432868109</c:v>
                </c:pt>
                <c:pt idx="1317">
                  <c:v>1.2748275909512261</c:v>
                </c:pt>
                <c:pt idx="1318">
                  <c:v>1.2759932233462821</c:v>
                </c:pt>
                <c:pt idx="1319">
                  <c:v>1.2758341132289339</c:v>
                </c:pt>
                <c:pt idx="1320">
                  <c:v>1.27743743499385</c:v>
                </c:pt>
                <c:pt idx="1321">
                  <c:v>1.2766852818335359</c:v>
                </c:pt>
                <c:pt idx="1322">
                  <c:v>1.276386539616666</c:v>
                </c:pt>
                <c:pt idx="1323">
                  <c:v>1.2771761219116651</c:v>
                </c:pt>
                <c:pt idx="1324">
                  <c:v>1.2774103531457479</c:v>
                </c:pt>
                <c:pt idx="1325">
                  <c:v>1.2787165181510229</c:v>
                </c:pt>
                <c:pt idx="1326">
                  <c:v>1.278872764302716</c:v>
                </c:pt>
                <c:pt idx="1327">
                  <c:v>1.2794140708255199</c:v>
                </c:pt>
                <c:pt idx="1328">
                  <c:v>1.2808534106147049</c:v>
                </c:pt>
                <c:pt idx="1329">
                  <c:v>1.2828653191285431</c:v>
                </c:pt>
                <c:pt idx="1330">
                  <c:v>1.28233386135237</c:v>
                </c:pt>
                <c:pt idx="1331">
                  <c:v>1.2848620473626331</c:v>
                </c:pt>
                <c:pt idx="1332">
                  <c:v>1.2844438378016789</c:v>
                </c:pt>
                <c:pt idx="1333">
                  <c:v>1.283766549045648</c:v>
                </c:pt>
                <c:pt idx="1334">
                  <c:v>1.28661562211363</c:v>
                </c:pt>
                <c:pt idx="1335">
                  <c:v>1.285484073704269</c:v>
                </c:pt>
                <c:pt idx="1336">
                  <c:v>1.285329091131622</c:v>
                </c:pt>
                <c:pt idx="1337">
                  <c:v>1.2855118778324841</c:v>
                </c:pt>
                <c:pt idx="1338">
                  <c:v>1.285907789038798</c:v>
                </c:pt>
                <c:pt idx="1339">
                  <c:v>1.289977590591777</c:v>
                </c:pt>
                <c:pt idx="1340">
                  <c:v>1.2898314955875561</c:v>
                </c:pt>
                <c:pt idx="1341">
                  <c:v>1.2927154558343881</c:v>
                </c:pt>
                <c:pt idx="1342">
                  <c:v>1.2928005303014689</c:v>
                </c:pt>
                <c:pt idx="1343">
                  <c:v>1.2931563253753009</c:v>
                </c:pt>
                <c:pt idx="1344">
                  <c:v>1.292808712657326</c:v>
                </c:pt>
                <c:pt idx="1345">
                  <c:v>1.292087373124658</c:v>
                </c:pt>
                <c:pt idx="1346">
                  <c:v>1.2891776380047819</c:v>
                </c:pt>
                <c:pt idx="1347">
                  <c:v>1.289167297031018</c:v>
                </c:pt>
                <c:pt idx="1348">
                  <c:v>1.292125513488529</c:v>
                </c:pt>
                <c:pt idx="1349">
                  <c:v>1.291817470646347</c:v>
                </c:pt>
                <c:pt idx="1350">
                  <c:v>1.2922054083416019</c:v>
                </c:pt>
                <c:pt idx="1351">
                  <c:v>1.292933836523696</c:v>
                </c:pt>
                <c:pt idx="1352">
                  <c:v>1.2920384153951849</c:v>
                </c:pt>
                <c:pt idx="1353">
                  <c:v>1.2940532248620651</c:v>
                </c:pt>
                <c:pt idx="1354">
                  <c:v>1.295722436216713</c:v>
                </c:pt>
                <c:pt idx="1355">
                  <c:v>1.29677341487374</c:v>
                </c:pt>
                <c:pt idx="1356">
                  <c:v>1.297124048939595</c:v>
                </c:pt>
                <c:pt idx="1357">
                  <c:v>1.2967578013114669</c:v>
                </c:pt>
                <c:pt idx="1358">
                  <c:v>1.29658214225632</c:v>
                </c:pt>
                <c:pt idx="1359">
                  <c:v>1.297525355427007</c:v>
                </c:pt>
                <c:pt idx="1360">
                  <c:v>1.3019631520459931</c:v>
                </c:pt>
                <c:pt idx="1361">
                  <c:v>1.2986372317266139</c:v>
                </c:pt>
                <c:pt idx="1362">
                  <c:v>1.2999593775519529</c:v>
                </c:pt>
                <c:pt idx="1363">
                  <c:v>1.2997955286283649</c:v>
                </c:pt>
                <c:pt idx="1364">
                  <c:v>1.301035768921337</c:v>
                </c:pt>
                <c:pt idx="1365">
                  <c:v>1.301783889086936</c:v>
                </c:pt>
                <c:pt idx="1366">
                  <c:v>1.3014810598441191</c:v>
                </c:pt>
                <c:pt idx="1367">
                  <c:v>1.3059888444978249</c:v>
                </c:pt>
                <c:pt idx="1368">
                  <c:v>1.3119800769245229</c:v>
                </c:pt>
                <c:pt idx="1369">
                  <c:v>1.312333809562874</c:v>
                </c:pt>
                <c:pt idx="1370">
                  <c:v>1.3124725455583139</c:v>
                </c:pt>
                <c:pt idx="1371">
                  <c:v>1.318434775578555</c:v>
                </c:pt>
                <c:pt idx="1372">
                  <c:v>1.319403139034069</c:v>
                </c:pt>
                <c:pt idx="1373">
                  <c:v>1.324508848774506</c:v>
                </c:pt>
                <c:pt idx="1374">
                  <c:v>1.319831723927271</c:v>
                </c:pt>
                <c:pt idx="1375">
                  <c:v>1.321470415564848</c:v>
                </c:pt>
                <c:pt idx="1376">
                  <c:v>1.313739561460779</c:v>
                </c:pt>
                <c:pt idx="1377">
                  <c:v>1.3202361995970231</c:v>
                </c:pt>
                <c:pt idx="1378">
                  <c:v>1.318769352703927</c:v>
                </c:pt>
                <c:pt idx="1379">
                  <c:v>1.316095546657015</c:v>
                </c:pt>
                <c:pt idx="1380">
                  <c:v>1.3167690472153379</c:v>
                </c:pt>
                <c:pt idx="1381">
                  <c:v>1.324660130781778</c:v>
                </c:pt>
                <c:pt idx="1382">
                  <c:v>1.325142065059929</c:v>
                </c:pt>
                <c:pt idx="1383">
                  <c:v>1.324501134697367</c:v>
                </c:pt>
                <c:pt idx="1384">
                  <c:v>1.3272596793473079</c:v>
                </c:pt>
                <c:pt idx="1385">
                  <c:v>1.3287736952657541</c:v>
                </c:pt>
                <c:pt idx="1386">
                  <c:v>1.3280578382757979</c:v>
                </c:pt>
                <c:pt idx="1387">
                  <c:v>1.3267837783530581</c:v>
                </c:pt>
                <c:pt idx="1388">
                  <c:v>1.331300149778583</c:v>
                </c:pt>
                <c:pt idx="1389">
                  <c:v>1.331405270445345</c:v>
                </c:pt>
                <c:pt idx="1390">
                  <c:v>1.332985130130709</c:v>
                </c:pt>
                <c:pt idx="1391">
                  <c:v>1.332983074076707</c:v>
                </c:pt>
                <c:pt idx="1392">
                  <c:v>1.329188203750812</c:v>
                </c:pt>
                <c:pt idx="1393">
                  <c:v>1.3332244206735211</c:v>
                </c:pt>
                <c:pt idx="1394">
                  <c:v>1.335107398891487</c:v>
                </c:pt>
                <c:pt idx="1395">
                  <c:v>1.3420954320696581</c:v>
                </c:pt>
                <c:pt idx="1396">
                  <c:v>1.33530641074956</c:v>
                </c:pt>
                <c:pt idx="1397">
                  <c:v>1.3374946973808159</c:v>
                </c:pt>
                <c:pt idx="1398">
                  <c:v>1.332044874934371</c:v>
                </c:pt>
                <c:pt idx="1399">
                  <c:v>1.3373593950414639</c:v>
                </c:pt>
                <c:pt idx="1400">
                  <c:v>1.338168477082847</c:v>
                </c:pt>
                <c:pt idx="1401">
                  <c:v>1.336133821840477</c:v>
                </c:pt>
                <c:pt idx="1402">
                  <c:v>1.336351299401769</c:v>
                </c:pt>
                <c:pt idx="1403">
                  <c:v>1.343898581034993</c:v>
                </c:pt>
                <c:pt idx="1404">
                  <c:v>1.3394945654585699</c:v>
                </c:pt>
                <c:pt idx="1405">
                  <c:v>1.3377702291948459</c:v>
                </c:pt>
                <c:pt idx="1406">
                  <c:v>1.343249777824653</c:v>
                </c:pt>
                <c:pt idx="1407">
                  <c:v>1.347861369701336</c:v>
                </c:pt>
                <c:pt idx="1408">
                  <c:v>1.3467307902892189</c:v>
                </c:pt>
                <c:pt idx="1409">
                  <c:v>1.3514508359341959</c:v>
                </c:pt>
                <c:pt idx="1410">
                  <c:v>1.34795212020135</c:v>
                </c:pt>
                <c:pt idx="1411">
                  <c:v>1.345893726180396</c:v>
                </c:pt>
                <c:pt idx="1412">
                  <c:v>1.346457763062646</c:v>
                </c:pt>
                <c:pt idx="1413">
                  <c:v>1.3437644033014109</c:v>
                </c:pt>
                <c:pt idx="1414">
                  <c:v>1.343917420684132</c:v>
                </c:pt>
                <c:pt idx="1415">
                  <c:v>1.347761432267345</c:v>
                </c:pt>
                <c:pt idx="1416">
                  <c:v>1.3455142316759769</c:v>
                </c:pt>
                <c:pt idx="1417">
                  <c:v>1.3462614690496679</c:v>
                </c:pt>
                <c:pt idx="1418">
                  <c:v>1.3450385360981889</c:v>
                </c:pt>
                <c:pt idx="1419">
                  <c:v>1.3448770501513121</c:v>
                </c:pt>
                <c:pt idx="1420">
                  <c:v>1.347675975626659</c:v>
                </c:pt>
                <c:pt idx="1421">
                  <c:v>1.3424567174638951</c:v>
                </c:pt>
                <c:pt idx="1422">
                  <c:v>1.3411353988184691</c:v>
                </c:pt>
                <c:pt idx="1423">
                  <c:v>1.339102483675195</c:v>
                </c:pt>
                <c:pt idx="1424">
                  <c:v>1.3402019893556669</c:v>
                </c:pt>
                <c:pt idx="1425">
                  <c:v>1.3389639087060881</c:v>
                </c:pt>
                <c:pt idx="1426">
                  <c:v>1.330863946834679</c:v>
                </c:pt>
                <c:pt idx="1427">
                  <c:v>1.3315992099268199</c:v>
                </c:pt>
                <c:pt idx="1428">
                  <c:v>1.3364070972719551</c:v>
                </c:pt>
                <c:pt idx="1429">
                  <c:v>1.3383792548714071</c:v>
                </c:pt>
                <c:pt idx="1430">
                  <c:v>1.33757668272218</c:v>
                </c:pt>
                <c:pt idx="1431">
                  <c:v>1.339764706277031</c:v>
                </c:pt>
                <c:pt idx="1432">
                  <c:v>1.3433419839526779</c:v>
                </c:pt>
                <c:pt idx="1433">
                  <c:v>1.341538016019175</c:v>
                </c:pt>
                <c:pt idx="1434">
                  <c:v>1.339053659628622</c:v>
                </c:pt>
                <c:pt idx="1435">
                  <c:v>1.337783564580195</c:v>
                </c:pt>
                <c:pt idx="1436">
                  <c:v>1.340492045858128</c:v>
                </c:pt>
                <c:pt idx="1437">
                  <c:v>1.3444670563450201</c:v>
                </c:pt>
                <c:pt idx="1438">
                  <c:v>1.346245347591986</c:v>
                </c:pt>
                <c:pt idx="1439">
                  <c:v>1.347268399413734</c:v>
                </c:pt>
                <c:pt idx="1440">
                  <c:v>1.3449642284600949</c:v>
                </c:pt>
                <c:pt idx="1441">
                  <c:v>1.347919173712971</c:v>
                </c:pt>
                <c:pt idx="1442">
                  <c:v>1.345247967887385</c:v>
                </c:pt>
                <c:pt idx="1443">
                  <c:v>1.341075236666242</c:v>
                </c:pt>
                <c:pt idx="1444">
                  <c:v>1.348568989121012</c:v>
                </c:pt>
                <c:pt idx="1445">
                  <c:v>1.346271282161059</c:v>
                </c:pt>
                <c:pt idx="1446">
                  <c:v>1.3475428181087099</c:v>
                </c:pt>
                <c:pt idx="1447">
                  <c:v>1.353775616351395</c:v>
                </c:pt>
                <c:pt idx="1448">
                  <c:v>1.3568166025728969</c:v>
                </c:pt>
                <c:pt idx="1449">
                  <c:v>1.3597607400680269</c:v>
                </c:pt>
                <c:pt idx="1450">
                  <c:v>1.3600874624884871</c:v>
                </c:pt>
                <c:pt idx="1451">
                  <c:v>1.360058397410596</c:v>
                </c:pt>
                <c:pt idx="1452">
                  <c:v>1.358278486207279</c:v>
                </c:pt>
                <c:pt idx="1453">
                  <c:v>1.3560720688382859</c:v>
                </c:pt>
                <c:pt idx="1454">
                  <c:v>1.3535187809620519</c:v>
                </c:pt>
                <c:pt idx="1455">
                  <c:v>1.357567099338528</c:v>
                </c:pt>
                <c:pt idx="1456">
                  <c:v>1.3584582839493009</c:v>
                </c:pt>
                <c:pt idx="1457">
                  <c:v>1.3589503114574311</c:v>
                </c:pt>
                <c:pt idx="1458">
                  <c:v>1.358809548011104</c:v>
                </c:pt>
                <c:pt idx="1459">
                  <c:v>1.360933677685108</c:v>
                </c:pt>
                <c:pt idx="1460">
                  <c:v>1.3649436159829069</c:v>
                </c:pt>
                <c:pt idx="1461">
                  <c:v>1.3630800547417079</c:v>
                </c:pt>
                <c:pt idx="1462">
                  <c:v>1.3656234169125201</c:v>
                </c:pt>
                <c:pt idx="1463">
                  <c:v>1.3674179172701759</c:v>
                </c:pt>
                <c:pt idx="1464">
                  <c:v>1.3690128657342679</c:v>
                </c:pt>
                <c:pt idx="1465">
                  <c:v>1.370092169421179</c:v>
                </c:pt>
                <c:pt idx="1466">
                  <c:v>1.369881952943456</c:v>
                </c:pt>
                <c:pt idx="1467">
                  <c:v>1.374775870745736</c:v>
                </c:pt>
                <c:pt idx="1468">
                  <c:v>1.3760257194688159</c:v>
                </c:pt>
                <c:pt idx="1469">
                  <c:v>1.3787304301405701</c:v>
                </c:pt>
                <c:pt idx="1470">
                  <c:v>1.3797938351841179</c:v>
                </c:pt>
                <c:pt idx="1471">
                  <c:v>1.3811051671504591</c:v>
                </c:pt>
                <c:pt idx="1472">
                  <c:v>1.384253047329681</c:v>
                </c:pt>
                <c:pt idx="1473">
                  <c:v>1.38580230562082</c:v>
                </c:pt>
                <c:pt idx="1474">
                  <c:v>1.3811246519542231</c:v>
                </c:pt>
                <c:pt idx="1475">
                  <c:v>1.367625036603956</c:v>
                </c:pt>
                <c:pt idx="1476">
                  <c:v>1.374709997396051</c:v>
                </c:pt>
                <c:pt idx="1477">
                  <c:v>1.3765957485724649</c:v>
                </c:pt>
                <c:pt idx="1478">
                  <c:v>1.372777969880169</c:v>
                </c:pt>
                <c:pt idx="1479">
                  <c:v>1.372171955695799</c:v>
                </c:pt>
                <c:pt idx="1480">
                  <c:v>1.3779773884966871</c:v>
                </c:pt>
                <c:pt idx="1481">
                  <c:v>1.3782610323420881</c:v>
                </c:pt>
                <c:pt idx="1482">
                  <c:v>1.377898701527581</c:v>
                </c:pt>
                <c:pt idx="1483">
                  <c:v>1.379500249340426</c:v>
                </c:pt>
                <c:pt idx="1484">
                  <c:v>1.3771800651132879</c:v>
                </c:pt>
                <c:pt idx="1485">
                  <c:v>1.3824832392311071</c:v>
                </c:pt>
                <c:pt idx="1486">
                  <c:v>1.3839277452293719</c:v>
                </c:pt>
                <c:pt idx="1487">
                  <c:v>1.3845245649462909</c:v>
                </c:pt>
                <c:pt idx="1488">
                  <c:v>1.383492881319822</c:v>
                </c:pt>
                <c:pt idx="1489">
                  <c:v>1.387819419592351</c:v>
                </c:pt>
                <c:pt idx="1490">
                  <c:v>1.381887347102545</c:v>
                </c:pt>
                <c:pt idx="1491">
                  <c:v>1.37915667218435</c:v>
                </c:pt>
                <c:pt idx="1492">
                  <c:v>1.380769514525344</c:v>
                </c:pt>
                <c:pt idx="1493">
                  <c:v>1.380522831152192</c:v>
                </c:pt>
                <c:pt idx="1494">
                  <c:v>1.3769439198173259</c:v>
                </c:pt>
                <c:pt idx="1495">
                  <c:v>1.381302166408322</c:v>
                </c:pt>
                <c:pt idx="1496">
                  <c:v>1.3814486467189639</c:v>
                </c:pt>
                <c:pt idx="1497">
                  <c:v>1.3801677440997819</c:v>
                </c:pt>
                <c:pt idx="1498">
                  <c:v>1.3784002092442751</c:v>
                </c:pt>
                <c:pt idx="1499">
                  <c:v>1.3775797505747689</c:v>
                </c:pt>
                <c:pt idx="1500">
                  <c:v>1.3744234270987079</c:v>
                </c:pt>
                <c:pt idx="1501">
                  <c:v>1.377783345719106</c:v>
                </c:pt>
                <c:pt idx="1502">
                  <c:v>1.37149309849802</c:v>
                </c:pt>
                <c:pt idx="1503">
                  <c:v>1.3699480843614711</c:v>
                </c:pt>
                <c:pt idx="1504">
                  <c:v>1.355855191764755</c:v>
                </c:pt>
                <c:pt idx="1505">
                  <c:v>1.362841515973221</c:v>
                </c:pt>
                <c:pt idx="1506">
                  <c:v>1.3686168887881041</c:v>
                </c:pt>
                <c:pt idx="1507">
                  <c:v>1.365160662591026</c:v>
                </c:pt>
                <c:pt idx="1508">
                  <c:v>1.3666668255226091</c:v>
                </c:pt>
                <c:pt idx="1509">
                  <c:v>1.369302467694846</c:v>
                </c:pt>
                <c:pt idx="1510">
                  <c:v>1.3672876974274151</c:v>
                </c:pt>
                <c:pt idx="1511">
                  <c:v>1.372075700645756</c:v>
                </c:pt>
                <c:pt idx="1512">
                  <c:v>1.368309513843917</c:v>
                </c:pt>
                <c:pt idx="1513">
                  <c:v>1.3693822670254709</c:v>
                </c:pt>
                <c:pt idx="1514">
                  <c:v>1.3702429796225351</c:v>
                </c:pt>
                <c:pt idx="1515">
                  <c:v>1.3807505580070021</c:v>
                </c:pt>
                <c:pt idx="1516">
                  <c:v>1.379003375467825</c:v>
                </c:pt>
                <c:pt idx="1517">
                  <c:v>1.383609447343785</c:v>
                </c:pt>
                <c:pt idx="1518">
                  <c:v>1.3844992402178049</c:v>
                </c:pt>
                <c:pt idx="1519">
                  <c:v>1.388181498978337</c:v>
                </c:pt>
                <c:pt idx="1520">
                  <c:v>1.3874327209709669</c:v>
                </c:pt>
                <c:pt idx="1521">
                  <c:v>1.390758094163498</c:v>
                </c:pt>
                <c:pt idx="1522">
                  <c:v>1.3946915099618571</c:v>
                </c:pt>
                <c:pt idx="1523">
                  <c:v>1.395896388698467</c:v>
                </c:pt>
                <c:pt idx="1524">
                  <c:v>1.3970586197155219</c:v>
                </c:pt>
                <c:pt idx="1525">
                  <c:v>1.401542590914701</c:v>
                </c:pt>
                <c:pt idx="1526">
                  <c:v>1.3978494563677739</c:v>
                </c:pt>
                <c:pt idx="1527">
                  <c:v>1.3950309098053211</c:v>
                </c:pt>
                <c:pt idx="1528">
                  <c:v>1.396407928390812</c:v>
                </c:pt>
                <c:pt idx="1529">
                  <c:v>1.393917197987337</c:v>
                </c:pt>
                <c:pt idx="1530">
                  <c:v>1.395861191791044</c:v>
                </c:pt>
                <c:pt idx="1531">
                  <c:v>1.3963076014483209</c:v>
                </c:pt>
              </c:numCache>
            </c:numRef>
          </c:val>
          <c:smooth val="0"/>
          <c:extLst xmlns:c16r2="http://schemas.microsoft.com/office/drawing/2015/06/chart">
            <c:ext xmlns:c16="http://schemas.microsoft.com/office/drawing/2014/chart" uri="{C3380CC4-5D6E-409C-BE32-E72D297353CC}">
              <c16:uniqueId val="{00000000-6130-45DF-9102-AB51F3FC5430}"/>
            </c:ext>
          </c:extLst>
        </c:ser>
        <c:dLbls>
          <c:showLegendKey val="0"/>
          <c:showVal val="0"/>
          <c:showCatName val="0"/>
          <c:showSerName val="0"/>
          <c:showPercent val="0"/>
          <c:showBubbleSize val="0"/>
        </c:dLbls>
        <c:smooth val="0"/>
        <c:axId val="-1671535264"/>
        <c:axId val="-1671542336"/>
      </c:lineChart>
      <c:catAx>
        <c:axId val="-1671535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671542336"/>
        <c:crosses val="autoZero"/>
        <c:auto val="1"/>
        <c:lblAlgn val="ctr"/>
        <c:lblOffset val="100"/>
        <c:tickLblSkip val="150"/>
        <c:noMultiLvlLbl val="0"/>
      </c:catAx>
      <c:valAx>
        <c:axId val="-1671542336"/>
        <c:scaling>
          <c:orientation val="minMax"/>
          <c:min val="0.8"/>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671535264"/>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结果页!$D$1</c:f>
              <c:strCache>
                <c:ptCount val="1"/>
                <c:pt idx="0">
                  <c:v>30-70组合净值（费后）</c:v>
                </c:pt>
              </c:strCache>
            </c:strRef>
          </c:tx>
          <c:spPr>
            <a:ln w="28575" cap="rnd">
              <a:solidFill>
                <a:schemeClr val="accent1"/>
              </a:solidFill>
              <a:round/>
            </a:ln>
            <a:effectLst/>
          </c:spPr>
          <c:marker>
            <c:symbol val="none"/>
          </c:marker>
          <c:dLbls>
            <c:dLbl>
              <c:idx val="1531"/>
              <c:layout>
                <c:manualLayout>
                  <c:x val="-1.0708785641626483E-2"/>
                  <c:y val="-5.7190088822512364E-2"/>
                </c:manualLayout>
              </c:layout>
              <c:tx>
                <c:rich>
                  <a:bodyPr/>
                  <a:lstStyle/>
                  <a:p>
                    <a:r>
                      <a:rPr lang="en-US" altLang="zh-CN" dirty="0"/>
                      <a:t>1.76</a:t>
                    </a:r>
                  </a:p>
                </c:rich>
              </c:tx>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AD8F-4D14-8BD1-39567E2BF10A}"/>
                </c:ext>
                <c:ext xmlns:c15="http://schemas.microsoft.com/office/drawing/2012/chart" uri="{CE6537A1-D6FC-4f65-9D91-7224C49458BB}"/>
              </c:extLst>
            </c:dLbl>
            <c:numFmt formatCode="#,##0.00_);[Red]\(#,##0.00\)" sourceLinked="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C00000"/>
                    </a:solidFill>
                    <a:latin typeface="+mn-lt"/>
                    <a:ea typeface="+mn-ea"/>
                    <a:cs typeface="+mn-cs"/>
                  </a:defRPr>
                </a:pPr>
                <a:endParaRPr lang="zh-CN"/>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结果页!$A$2:$A$1533</c:f>
              <c:strCache>
                <c:ptCount val="1532"/>
                <c:pt idx="0">
                  <c:v>2020-01-02</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2020-02-03</c:v>
                </c:pt>
                <c:pt idx="17">
                  <c:v>2020-02-04</c:v>
                </c:pt>
                <c:pt idx="18">
                  <c:v>2020-02-05</c:v>
                </c:pt>
                <c:pt idx="19">
                  <c:v>2020-02-06</c:v>
                </c:pt>
                <c:pt idx="20">
                  <c:v>2020-02-07</c:v>
                </c:pt>
                <c:pt idx="21">
                  <c:v>2020-02-10</c:v>
                </c:pt>
                <c:pt idx="22">
                  <c:v>2020-02-11</c:v>
                </c:pt>
                <c:pt idx="23">
                  <c:v>2020-02-12</c:v>
                </c:pt>
                <c:pt idx="24">
                  <c:v>2020-02-13</c:v>
                </c:pt>
                <c:pt idx="25">
                  <c:v>2020-02-14</c:v>
                </c:pt>
                <c:pt idx="26">
                  <c:v>2020-02-17</c:v>
                </c:pt>
                <c:pt idx="27">
                  <c:v>2020-02-18</c:v>
                </c:pt>
                <c:pt idx="28">
                  <c:v>2020-02-19</c:v>
                </c:pt>
                <c:pt idx="29">
                  <c:v>2020-02-20</c:v>
                </c:pt>
                <c:pt idx="30">
                  <c:v>2020-02-21</c:v>
                </c:pt>
                <c:pt idx="31">
                  <c:v>2020-02-24</c:v>
                </c:pt>
                <c:pt idx="32">
                  <c:v>2020-02-25</c:v>
                </c:pt>
                <c:pt idx="33">
                  <c:v>2020-02-26</c:v>
                </c:pt>
                <c:pt idx="34">
                  <c:v>2020-02-27</c:v>
                </c:pt>
                <c:pt idx="35">
                  <c:v>2020-02-28</c:v>
                </c:pt>
                <c:pt idx="36">
                  <c:v>2020-03-02</c:v>
                </c:pt>
                <c:pt idx="37">
                  <c:v>2020-03-03</c:v>
                </c:pt>
                <c:pt idx="38">
                  <c:v>2020-03-04</c:v>
                </c:pt>
                <c:pt idx="39">
                  <c:v>2020-03-05</c:v>
                </c:pt>
                <c:pt idx="40">
                  <c:v>2020-03-06</c:v>
                </c:pt>
                <c:pt idx="41">
                  <c:v>2020-03-09</c:v>
                </c:pt>
                <c:pt idx="42">
                  <c:v>2020-03-10</c:v>
                </c:pt>
                <c:pt idx="43">
                  <c:v>2020-03-11</c:v>
                </c:pt>
                <c:pt idx="44">
                  <c:v>2020-03-12</c:v>
                </c:pt>
                <c:pt idx="45">
                  <c:v>2020-03-13</c:v>
                </c:pt>
                <c:pt idx="46">
                  <c:v>2020-03-16</c:v>
                </c:pt>
                <c:pt idx="47">
                  <c:v>2020-03-17</c:v>
                </c:pt>
                <c:pt idx="48">
                  <c:v>2020-03-18</c:v>
                </c:pt>
                <c:pt idx="49">
                  <c:v>2020-03-19</c:v>
                </c:pt>
                <c:pt idx="50">
                  <c:v>2020-03-20</c:v>
                </c:pt>
                <c:pt idx="51">
                  <c:v>2020-03-23</c:v>
                </c:pt>
                <c:pt idx="52">
                  <c:v>2020-03-24</c:v>
                </c:pt>
                <c:pt idx="53">
                  <c:v>2020-03-25</c:v>
                </c:pt>
                <c:pt idx="54">
                  <c:v>2020-03-26</c:v>
                </c:pt>
                <c:pt idx="55">
                  <c:v>2020-03-27</c:v>
                </c:pt>
                <c:pt idx="56">
                  <c:v>2020-03-30</c:v>
                </c:pt>
                <c:pt idx="57">
                  <c:v>2020-03-31</c:v>
                </c:pt>
                <c:pt idx="58">
                  <c:v>2020-04-01</c:v>
                </c:pt>
                <c:pt idx="59">
                  <c:v>2020-04-02</c:v>
                </c:pt>
                <c:pt idx="60">
                  <c:v>2020-04-03</c:v>
                </c:pt>
                <c:pt idx="61">
                  <c:v>2020-04-07</c:v>
                </c:pt>
                <c:pt idx="62">
                  <c:v>2020-04-08</c:v>
                </c:pt>
                <c:pt idx="63">
                  <c:v>2020-04-09</c:v>
                </c:pt>
                <c:pt idx="64">
                  <c:v>2020-04-10</c:v>
                </c:pt>
                <c:pt idx="65">
                  <c:v>2020-04-13</c:v>
                </c:pt>
                <c:pt idx="66">
                  <c:v>2020-04-14</c:v>
                </c:pt>
                <c:pt idx="67">
                  <c:v>2020-04-15</c:v>
                </c:pt>
                <c:pt idx="68">
                  <c:v>2020-04-16</c:v>
                </c:pt>
                <c:pt idx="69">
                  <c:v>2020-04-17</c:v>
                </c:pt>
                <c:pt idx="70">
                  <c:v>2020-04-20</c:v>
                </c:pt>
                <c:pt idx="71">
                  <c:v>2020-04-21</c:v>
                </c:pt>
                <c:pt idx="72">
                  <c:v>2020-04-22</c:v>
                </c:pt>
                <c:pt idx="73">
                  <c:v>2020-04-23</c:v>
                </c:pt>
                <c:pt idx="74">
                  <c:v>2020-04-24</c:v>
                </c:pt>
                <c:pt idx="75">
                  <c:v>2020-04-27</c:v>
                </c:pt>
                <c:pt idx="76">
                  <c:v>2020-04-28</c:v>
                </c:pt>
                <c:pt idx="77">
                  <c:v>2020-04-29</c:v>
                </c:pt>
                <c:pt idx="78">
                  <c:v>2020-04-30</c:v>
                </c:pt>
                <c:pt idx="79">
                  <c:v>2020-05-06</c:v>
                </c:pt>
                <c:pt idx="80">
                  <c:v>2020-05-07</c:v>
                </c:pt>
                <c:pt idx="81">
                  <c:v>2020-05-08</c:v>
                </c:pt>
                <c:pt idx="82">
                  <c:v>2020-05-11</c:v>
                </c:pt>
                <c:pt idx="83">
                  <c:v>2020-05-12</c:v>
                </c:pt>
                <c:pt idx="84">
                  <c:v>2020-05-13</c:v>
                </c:pt>
                <c:pt idx="85">
                  <c:v>2020-05-14</c:v>
                </c:pt>
                <c:pt idx="86">
                  <c:v>2020-05-15</c:v>
                </c:pt>
                <c:pt idx="87">
                  <c:v>2020-05-18</c:v>
                </c:pt>
                <c:pt idx="88">
                  <c:v>2020-05-19</c:v>
                </c:pt>
                <c:pt idx="89">
                  <c:v>2020-05-20</c:v>
                </c:pt>
                <c:pt idx="90">
                  <c:v>2020-05-21</c:v>
                </c:pt>
                <c:pt idx="91">
                  <c:v>2020-05-22</c:v>
                </c:pt>
                <c:pt idx="92">
                  <c:v>2020-05-25</c:v>
                </c:pt>
                <c:pt idx="93">
                  <c:v>2020-05-26</c:v>
                </c:pt>
                <c:pt idx="94">
                  <c:v>2020-05-27</c:v>
                </c:pt>
                <c:pt idx="95">
                  <c:v>2020-05-28</c:v>
                </c:pt>
                <c:pt idx="96">
                  <c:v>2020-05-29</c:v>
                </c:pt>
                <c:pt idx="97">
                  <c:v>2020-06-01</c:v>
                </c:pt>
                <c:pt idx="98">
                  <c:v>2020-06-02</c:v>
                </c:pt>
                <c:pt idx="99">
                  <c:v>2020-06-03</c:v>
                </c:pt>
                <c:pt idx="100">
                  <c:v>2020-06-04</c:v>
                </c:pt>
                <c:pt idx="101">
                  <c:v>2020-06-05</c:v>
                </c:pt>
                <c:pt idx="102">
                  <c:v>2020-06-08</c:v>
                </c:pt>
                <c:pt idx="103">
                  <c:v>2020-06-09</c:v>
                </c:pt>
                <c:pt idx="104">
                  <c:v>2020-06-10</c:v>
                </c:pt>
                <c:pt idx="105">
                  <c:v>2020-06-11</c:v>
                </c:pt>
                <c:pt idx="106">
                  <c:v>2020-06-12</c:v>
                </c:pt>
                <c:pt idx="107">
                  <c:v>2020-06-15</c:v>
                </c:pt>
                <c:pt idx="108">
                  <c:v>2020-06-16</c:v>
                </c:pt>
                <c:pt idx="109">
                  <c:v>2020-06-17</c:v>
                </c:pt>
                <c:pt idx="110">
                  <c:v>2020-06-18</c:v>
                </c:pt>
                <c:pt idx="111">
                  <c:v>2020-06-19</c:v>
                </c:pt>
                <c:pt idx="112">
                  <c:v>2020-06-22</c:v>
                </c:pt>
                <c:pt idx="113">
                  <c:v>2020-06-23</c:v>
                </c:pt>
                <c:pt idx="114">
                  <c:v>2020-06-24</c:v>
                </c:pt>
                <c:pt idx="115">
                  <c:v>2020-06-29</c:v>
                </c:pt>
                <c:pt idx="116">
                  <c:v>2020-06-30</c:v>
                </c:pt>
                <c:pt idx="117">
                  <c:v>2020-07-01</c:v>
                </c:pt>
                <c:pt idx="118">
                  <c:v>2020-07-02</c:v>
                </c:pt>
                <c:pt idx="119">
                  <c:v>2020-07-03</c:v>
                </c:pt>
                <c:pt idx="120">
                  <c:v>2020-07-06</c:v>
                </c:pt>
                <c:pt idx="121">
                  <c:v>2020-07-07</c:v>
                </c:pt>
                <c:pt idx="122">
                  <c:v>2020-07-08</c:v>
                </c:pt>
                <c:pt idx="123">
                  <c:v>2020-07-09</c:v>
                </c:pt>
                <c:pt idx="124">
                  <c:v>2020-07-10</c:v>
                </c:pt>
                <c:pt idx="125">
                  <c:v>2020-07-13</c:v>
                </c:pt>
                <c:pt idx="126">
                  <c:v>2020-07-14</c:v>
                </c:pt>
                <c:pt idx="127">
                  <c:v>2020-07-15</c:v>
                </c:pt>
                <c:pt idx="128">
                  <c:v>2020-07-16</c:v>
                </c:pt>
                <c:pt idx="129">
                  <c:v>2020-07-17</c:v>
                </c:pt>
                <c:pt idx="130">
                  <c:v>2020-07-20</c:v>
                </c:pt>
                <c:pt idx="131">
                  <c:v>2020-07-21</c:v>
                </c:pt>
                <c:pt idx="132">
                  <c:v>2020-07-22</c:v>
                </c:pt>
                <c:pt idx="133">
                  <c:v>2020-07-23</c:v>
                </c:pt>
                <c:pt idx="134">
                  <c:v>2020-07-24</c:v>
                </c:pt>
                <c:pt idx="135">
                  <c:v>2020-07-27</c:v>
                </c:pt>
                <c:pt idx="136">
                  <c:v>2020-07-28</c:v>
                </c:pt>
                <c:pt idx="137">
                  <c:v>2020-07-29</c:v>
                </c:pt>
                <c:pt idx="138">
                  <c:v>2020-07-30</c:v>
                </c:pt>
                <c:pt idx="139">
                  <c:v>2020-07-31</c:v>
                </c:pt>
                <c:pt idx="140">
                  <c:v>2020-08-03</c:v>
                </c:pt>
                <c:pt idx="141">
                  <c:v>2020-08-04</c:v>
                </c:pt>
                <c:pt idx="142">
                  <c:v>2020-08-05</c:v>
                </c:pt>
                <c:pt idx="143">
                  <c:v>2020-08-06</c:v>
                </c:pt>
                <c:pt idx="144">
                  <c:v>2020-08-07</c:v>
                </c:pt>
                <c:pt idx="145">
                  <c:v>2020-08-10</c:v>
                </c:pt>
                <c:pt idx="146">
                  <c:v>2020-08-11</c:v>
                </c:pt>
                <c:pt idx="147">
                  <c:v>2020-08-12</c:v>
                </c:pt>
                <c:pt idx="148">
                  <c:v>2020-08-13</c:v>
                </c:pt>
                <c:pt idx="149">
                  <c:v>2020-08-14</c:v>
                </c:pt>
                <c:pt idx="150">
                  <c:v>2020-08-17</c:v>
                </c:pt>
                <c:pt idx="151">
                  <c:v>2020-08-18</c:v>
                </c:pt>
                <c:pt idx="152">
                  <c:v>2020-08-19</c:v>
                </c:pt>
                <c:pt idx="153">
                  <c:v>2020-08-20</c:v>
                </c:pt>
                <c:pt idx="154">
                  <c:v>2020-08-21</c:v>
                </c:pt>
                <c:pt idx="155">
                  <c:v>2020-08-24</c:v>
                </c:pt>
                <c:pt idx="156">
                  <c:v>2020-08-25</c:v>
                </c:pt>
                <c:pt idx="157">
                  <c:v>2020-08-26</c:v>
                </c:pt>
                <c:pt idx="158">
                  <c:v>2020-08-27</c:v>
                </c:pt>
                <c:pt idx="159">
                  <c:v>2020-08-28</c:v>
                </c:pt>
                <c:pt idx="160">
                  <c:v>2020-08-31</c:v>
                </c:pt>
                <c:pt idx="161">
                  <c:v>2020-09-01</c:v>
                </c:pt>
                <c:pt idx="162">
                  <c:v>2020-09-02</c:v>
                </c:pt>
                <c:pt idx="163">
                  <c:v>2020-09-03</c:v>
                </c:pt>
                <c:pt idx="164">
                  <c:v>2020-09-04</c:v>
                </c:pt>
                <c:pt idx="165">
                  <c:v>2020-09-07</c:v>
                </c:pt>
                <c:pt idx="166">
                  <c:v>2020-09-08</c:v>
                </c:pt>
                <c:pt idx="167">
                  <c:v>2020-09-09</c:v>
                </c:pt>
                <c:pt idx="168">
                  <c:v>2020-09-10</c:v>
                </c:pt>
                <c:pt idx="169">
                  <c:v>2020-09-11</c:v>
                </c:pt>
                <c:pt idx="170">
                  <c:v>2020-09-14</c:v>
                </c:pt>
                <c:pt idx="171">
                  <c:v>2020-09-15</c:v>
                </c:pt>
                <c:pt idx="172">
                  <c:v>2020-09-16</c:v>
                </c:pt>
                <c:pt idx="173">
                  <c:v>2020-09-17</c:v>
                </c:pt>
                <c:pt idx="174">
                  <c:v>2020-09-18</c:v>
                </c:pt>
                <c:pt idx="175">
                  <c:v>2020-09-21</c:v>
                </c:pt>
                <c:pt idx="176">
                  <c:v>2020-09-22</c:v>
                </c:pt>
                <c:pt idx="177">
                  <c:v>2020-09-23</c:v>
                </c:pt>
                <c:pt idx="178">
                  <c:v>2020-09-24</c:v>
                </c:pt>
                <c:pt idx="179">
                  <c:v>2020-09-25</c:v>
                </c:pt>
                <c:pt idx="180">
                  <c:v>2020-09-28</c:v>
                </c:pt>
                <c:pt idx="181">
                  <c:v>2020-09-29</c:v>
                </c:pt>
                <c:pt idx="182">
                  <c:v>2020-09-30</c:v>
                </c:pt>
                <c:pt idx="183">
                  <c:v>2020-10-09</c:v>
                </c:pt>
                <c:pt idx="184">
                  <c:v>2020-10-12</c:v>
                </c:pt>
                <c:pt idx="185">
                  <c:v>2020-10-13</c:v>
                </c:pt>
                <c:pt idx="186">
                  <c:v>2020-10-14</c:v>
                </c:pt>
                <c:pt idx="187">
                  <c:v>2020-10-15</c:v>
                </c:pt>
                <c:pt idx="188">
                  <c:v>2020-10-16</c:v>
                </c:pt>
                <c:pt idx="189">
                  <c:v>2020-10-19</c:v>
                </c:pt>
                <c:pt idx="190">
                  <c:v>2020-10-20</c:v>
                </c:pt>
                <c:pt idx="191">
                  <c:v>2020-10-21</c:v>
                </c:pt>
                <c:pt idx="192">
                  <c:v>2020-10-22</c:v>
                </c:pt>
                <c:pt idx="193">
                  <c:v>2020-10-23</c:v>
                </c:pt>
                <c:pt idx="194">
                  <c:v>2020-10-26</c:v>
                </c:pt>
                <c:pt idx="195">
                  <c:v>2020-10-27</c:v>
                </c:pt>
                <c:pt idx="196">
                  <c:v>2020-10-28</c:v>
                </c:pt>
                <c:pt idx="197">
                  <c:v>2020-10-29</c:v>
                </c:pt>
                <c:pt idx="198">
                  <c:v>2020-10-30</c:v>
                </c:pt>
                <c:pt idx="199">
                  <c:v>2020-11-02</c:v>
                </c:pt>
                <c:pt idx="200">
                  <c:v>2020-11-03</c:v>
                </c:pt>
                <c:pt idx="201">
                  <c:v>2020-11-04</c:v>
                </c:pt>
                <c:pt idx="202">
                  <c:v>2020-11-05</c:v>
                </c:pt>
                <c:pt idx="203">
                  <c:v>2020-11-06</c:v>
                </c:pt>
                <c:pt idx="204">
                  <c:v>2020-11-09</c:v>
                </c:pt>
                <c:pt idx="205">
                  <c:v>2020-11-10</c:v>
                </c:pt>
                <c:pt idx="206">
                  <c:v>2020-11-11</c:v>
                </c:pt>
                <c:pt idx="207">
                  <c:v>2020-11-12</c:v>
                </c:pt>
                <c:pt idx="208">
                  <c:v>2020-11-13</c:v>
                </c:pt>
                <c:pt idx="209">
                  <c:v>2020-11-16</c:v>
                </c:pt>
                <c:pt idx="210">
                  <c:v>2020-11-17</c:v>
                </c:pt>
                <c:pt idx="211">
                  <c:v>2020-11-18</c:v>
                </c:pt>
                <c:pt idx="212">
                  <c:v>2020-11-19</c:v>
                </c:pt>
                <c:pt idx="213">
                  <c:v>2020-11-20</c:v>
                </c:pt>
                <c:pt idx="214">
                  <c:v>2020-11-23</c:v>
                </c:pt>
                <c:pt idx="215">
                  <c:v>2020-11-24</c:v>
                </c:pt>
                <c:pt idx="216">
                  <c:v>2020-11-25</c:v>
                </c:pt>
                <c:pt idx="217">
                  <c:v>2020-11-26</c:v>
                </c:pt>
                <c:pt idx="218">
                  <c:v>2020-11-27</c:v>
                </c:pt>
                <c:pt idx="219">
                  <c:v>2020-11-30</c:v>
                </c:pt>
                <c:pt idx="220">
                  <c:v>2020-12-01</c:v>
                </c:pt>
                <c:pt idx="221">
                  <c:v>2020-12-02</c:v>
                </c:pt>
                <c:pt idx="222">
                  <c:v>2020-12-03</c:v>
                </c:pt>
                <c:pt idx="223">
                  <c:v>2020-12-04</c:v>
                </c:pt>
                <c:pt idx="224">
                  <c:v>2020-12-07</c:v>
                </c:pt>
                <c:pt idx="225">
                  <c:v>2020-12-08</c:v>
                </c:pt>
                <c:pt idx="226">
                  <c:v>2020-12-09</c:v>
                </c:pt>
                <c:pt idx="227">
                  <c:v>2020-12-10</c:v>
                </c:pt>
                <c:pt idx="228">
                  <c:v>2020-12-11</c:v>
                </c:pt>
                <c:pt idx="229">
                  <c:v>2020-12-14</c:v>
                </c:pt>
                <c:pt idx="230">
                  <c:v>2020-12-15</c:v>
                </c:pt>
                <c:pt idx="231">
                  <c:v>2020-12-16</c:v>
                </c:pt>
                <c:pt idx="232">
                  <c:v>2020-12-17</c:v>
                </c:pt>
                <c:pt idx="233">
                  <c:v>2020-12-18</c:v>
                </c:pt>
                <c:pt idx="234">
                  <c:v>2020-12-21</c:v>
                </c:pt>
                <c:pt idx="235">
                  <c:v>2020-12-22</c:v>
                </c:pt>
                <c:pt idx="236">
                  <c:v>2020-12-23</c:v>
                </c:pt>
                <c:pt idx="237">
                  <c:v>2020-12-24</c:v>
                </c:pt>
                <c:pt idx="238">
                  <c:v>2020-12-25</c:v>
                </c:pt>
                <c:pt idx="239">
                  <c:v>2020-12-28</c:v>
                </c:pt>
                <c:pt idx="240">
                  <c:v>2020-12-29</c:v>
                </c:pt>
                <c:pt idx="241">
                  <c:v>2020-12-30</c:v>
                </c:pt>
                <c:pt idx="242">
                  <c:v>2020-12-31</c:v>
                </c:pt>
                <c:pt idx="243">
                  <c:v>2021-01-04</c:v>
                </c:pt>
                <c:pt idx="244">
                  <c:v>2021-01-05</c:v>
                </c:pt>
                <c:pt idx="245">
                  <c:v>2021-01-06</c:v>
                </c:pt>
                <c:pt idx="246">
                  <c:v>2021-01-07</c:v>
                </c:pt>
                <c:pt idx="247">
                  <c:v>2021-01-08</c:v>
                </c:pt>
                <c:pt idx="248">
                  <c:v>2021-01-11</c:v>
                </c:pt>
                <c:pt idx="249">
                  <c:v>2021-01-12</c:v>
                </c:pt>
                <c:pt idx="250">
                  <c:v>2021-01-13</c:v>
                </c:pt>
                <c:pt idx="251">
                  <c:v>2021-01-14</c:v>
                </c:pt>
                <c:pt idx="252">
                  <c:v>2021-01-15</c:v>
                </c:pt>
                <c:pt idx="253">
                  <c:v>2021-01-18</c:v>
                </c:pt>
                <c:pt idx="254">
                  <c:v>2021-01-19</c:v>
                </c:pt>
                <c:pt idx="255">
                  <c:v>2021-01-20</c:v>
                </c:pt>
                <c:pt idx="256">
                  <c:v>2021-01-21</c:v>
                </c:pt>
                <c:pt idx="257">
                  <c:v>2021-01-22</c:v>
                </c:pt>
                <c:pt idx="258">
                  <c:v>2021-01-25</c:v>
                </c:pt>
                <c:pt idx="259">
                  <c:v>2021-01-26</c:v>
                </c:pt>
                <c:pt idx="260">
                  <c:v>2021-01-27</c:v>
                </c:pt>
                <c:pt idx="261">
                  <c:v>2021-01-28</c:v>
                </c:pt>
                <c:pt idx="262">
                  <c:v>2021-01-29</c:v>
                </c:pt>
                <c:pt idx="263">
                  <c:v>2021-02-01</c:v>
                </c:pt>
                <c:pt idx="264">
                  <c:v>2021-02-02</c:v>
                </c:pt>
                <c:pt idx="265">
                  <c:v>2021-02-03</c:v>
                </c:pt>
                <c:pt idx="266">
                  <c:v>2021-02-04</c:v>
                </c:pt>
                <c:pt idx="267">
                  <c:v>2021-02-05</c:v>
                </c:pt>
                <c:pt idx="268">
                  <c:v>2021-02-08</c:v>
                </c:pt>
                <c:pt idx="269">
                  <c:v>2021-02-09</c:v>
                </c:pt>
                <c:pt idx="270">
                  <c:v>2021-02-10</c:v>
                </c:pt>
                <c:pt idx="271">
                  <c:v>2021-02-18</c:v>
                </c:pt>
                <c:pt idx="272">
                  <c:v>2021-02-19</c:v>
                </c:pt>
                <c:pt idx="273">
                  <c:v>2021-02-22</c:v>
                </c:pt>
                <c:pt idx="274">
                  <c:v>2021-02-23</c:v>
                </c:pt>
                <c:pt idx="275">
                  <c:v>2021-02-24</c:v>
                </c:pt>
                <c:pt idx="276">
                  <c:v>2021-02-25</c:v>
                </c:pt>
                <c:pt idx="277">
                  <c:v>2021-02-26</c:v>
                </c:pt>
                <c:pt idx="278">
                  <c:v>2021-03-01</c:v>
                </c:pt>
                <c:pt idx="279">
                  <c:v>2021-03-02</c:v>
                </c:pt>
                <c:pt idx="280">
                  <c:v>2021-03-03</c:v>
                </c:pt>
                <c:pt idx="281">
                  <c:v>2021-03-04</c:v>
                </c:pt>
                <c:pt idx="282">
                  <c:v>2021-03-05</c:v>
                </c:pt>
                <c:pt idx="283">
                  <c:v>2021-03-08</c:v>
                </c:pt>
                <c:pt idx="284">
                  <c:v>2021-03-09</c:v>
                </c:pt>
                <c:pt idx="285">
                  <c:v>2021-03-10</c:v>
                </c:pt>
                <c:pt idx="286">
                  <c:v>2021-03-11</c:v>
                </c:pt>
                <c:pt idx="287">
                  <c:v>2021-03-12</c:v>
                </c:pt>
                <c:pt idx="288">
                  <c:v>2021-03-15</c:v>
                </c:pt>
                <c:pt idx="289">
                  <c:v>2021-03-16</c:v>
                </c:pt>
                <c:pt idx="290">
                  <c:v>2021-03-17</c:v>
                </c:pt>
                <c:pt idx="291">
                  <c:v>2021-03-18</c:v>
                </c:pt>
                <c:pt idx="292">
                  <c:v>2021-03-19</c:v>
                </c:pt>
                <c:pt idx="293">
                  <c:v>2021-03-22</c:v>
                </c:pt>
                <c:pt idx="294">
                  <c:v>2021-03-23</c:v>
                </c:pt>
                <c:pt idx="295">
                  <c:v>2021-03-24</c:v>
                </c:pt>
                <c:pt idx="296">
                  <c:v>2021-03-25</c:v>
                </c:pt>
                <c:pt idx="297">
                  <c:v>2021-03-26</c:v>
                </c:pt>
                <c:pt idx="298">
                  <c:v>2021-03-29</c:v>
                </c:pt>
                <c:pt idx="299">
                  <c:v>2021-03-30</c:v>
                </c:pt>
                <c:pt idx="300">
                  <c:v>2021-03-31</c:v>
                </c:pt>
                <c:pt idx="301">
                  <c:v>2021-04-01</c:v>
                </c:pt>
                <c:pt idx="302">
                  <c:v>2021-04-02</c:v>
                </c:pt>
                <c:pt idx="303">
                  <c:v>2021-04-06</c:v>
                </c:pt>
                <c:pt idx="304">
                  <c:v>2021-04-07</c:v>
                </c:pt>
                <c:pt idx="305">
                  <c:v>2021-04-08</c:v>
                </c:pt>
                <c:pt idx="306">
                  <c:v>2021-04-09</c:v>
                </c:pt>
                <c:pt idx="307">
                  <c:v>2021-04-12</c:v>
                </c:pt>
                <c:pt idx="308">
                  <c:v>2021-04-13</c:v>
                </c:pt>
                <c:pt idx="309">
                  <c:v>2021-04-14</c:v>
                </c:pt>
                <c:pt idx="310">
                  <c:v>2021-04-15</c:v>
                </c:pt>
                <c:pt idx="311">
                  <c:v>2021-04-16</c:v>
                </c:pt>
                <c:pt idx="312">
                  <c:v>2021-04-19</c:v>
                </c:pt>
                <c:pt idx="313">
                  <c:v>2021-04-20</c:v>
                </c:pt>
                <c:pt idx="314">
                  <c:v>2021-04-21</c:v>
                </c:pt>
                <c:pt idx="315">
                  <c:v>2021-04-22</c:v>
                </c:pt>
                <c:pt idx="316">
                  <c:v>2021-04-23</c:v>
                </c:pt>
                <c:pt idx="317">
                  <c:v>2021-04-26</c:v>
                </c:pt>
                <c:pt idx="318">
                  <c:v>2021-04-27</c:v>
                </c:pt>
                <c:pt idx="319">
                  <c:v>2021-04-28</c:v>
                </c:pt>
                <c:pt idx="320">
                  <c:v>2021-04-29</c:v>
                </c:pt>
                <c:pt idx="321">
                  <c:v>2021-04-30</c:v>
                </c:pt>
                <c:pt idx="322">
                  <c:v>2021-05-06</c:v>
                </c:pt>
                <c:pt idx="323">
                  <c:v>2021-05-07</c:v>
                </c:pt>
                <c:pt idx="324">
                  <c:v>2021-05-10</c:v>
                </c:pt>
                <c:pt idx="325">
                  <c:v>2021-05-11</c:v>
                </c:pt>
                <c:pt idx="326">
                  <c:v>2021-05-12</c:v>
                </c:pt>
                <c:pt idx="327">
                  <c:v>2021-05-13</c:v>
                </c:pt>
                <c:pt idx="328">
                  <c:v>2021-05-14</c:v>
                </c:pt>
                <c:pt idx="329">
                  <c:v>2021-05-17</c:v>
                </c:pt>
                <c:pt idx="330">
                  <c:v>2021-05-18</c:v>
                </c:pt>
                <c:pt idx="331">
                  <c:v>2021-05-19</c:v>
                </c:pt>
                <c:pt idx="332">
                  <c:v>2021-05-20</c:v>
                </c:pt>
                <c:pt idx="333">
                  <c:v>2021-05-21</c:v>
                </c:pt>
                <c:pt idx="334">
                  <c:v>2021-05-24</c:v>
                </c:pt>
                <c:pt idx="335">
                  <c:v>2021-05-25</c:v>
                </c:pt>
                <c:pt idx="336">
                  <c:v>2021-05-26</c:v>
                </c:pt>
                <c:pt idx="337">
                  <c:v>2021-05-27</c:v>
                </c:pt>
                <c:pt idx="338">
                  <c:v>2021-05-28</c:v>
                </c:pt>
                <c:pt idx="339">
                  <c:v>2021-05-31</c:v>
                </c:pt>
                <c:pt idx="340">
                  <c:v>2021-06-01</c:v>
                </c:pt>
                <c:pt idx="341">
                  <c:v>2021-06-02</c:v>
                </c:pt>
                <c:pt idx="342">
                  <c:v>2021-06-03</c:v>
                </c:pt>
                <c:pt idx="343">
                  <c:v>2021-06-04</c:v>
                </c:pt>
                <c:pt idx="344">
                  <c:v>2021-06-07</c:v>
                </c:pt>
                <c:pt idx="345">
                  <c:v>2021-06-08</c:v>
                </c:pt>
                <c:pt idx="346">
                  <c:v>2021-06-09</c:v>
                </c:pt>
                <c:pt idx="347">
                  <c:v>2021-06-10</c:v>
                </c:pt>
                <c:pt idx="348">
                  <c:v>2021-06-11</c:v>
                </c:pt>
                <c:pt idx="349">
                  <c:v>2021-06-15</c:v>
                </c:pt>
                <c:pt idx="350">
                  <c:v>2021-06-16</c:v>
                </c:pt>
                <c:pt idx="351">
                  <c:v>2021-06-17</c:v>
                </c:pt>
                <c:pt idx="352">
                  <c:v>2021-06-18</c:v>
                </c:pt>
                <c:pt idx="353">
                  <c:v>2021-06-21</c:v>
                </c:pt>
                <c:pt idx="354">
                  <c:v>2021-06-22</c:v>
                </c:pt>
                <c:pt idx="355">
                  <c:v>2021-06-23</c:v>
                </c:pt>
                <c:pt idx="356">
                  <c:v>2021-06-24</c:v>
                </c:pt>
                <c:pt idx="357">
                  <c:v>2021-06-25</c:v>
                </c:pt>
                <c:pt idx="358">
                  <c:v>2021-06-28</c:v>
                </c:pt>
                <c:pt idx="359">
                  <c:v>2021-06-29</c:v>
                </c:pt>
                <c:pt idx="360">
                  <c:v>2021-06-30</c:v>
                </c:pt>
                <c:pt idx="361">
                  <c:v>2021-07-01</c:v>
                </c:pt>
                <c:pt idx="362">
                  <c:v>2021-07-02</c:v>
                </c:pt>
                <c:pt idx="363">
                  <c:v>2021-07-05</c:v>
                </c:pt>
                <c:pt idx="364">
                  <c:v>2021-07-06</c:v>
                </c:pt>
                <c:pt idx="365">
                  <c:v>2021-07-07</c:v>
                </c:pt>
                <c:pt idx="366">
                  <c:v>2021-07-08</c:v>
                </c:pt>
                <c:pt idx="367">
                  <c:v>2021-07-09</c:v>
                </c:pt>
                <c:pt idx="368">
                  <c:v>2021-07-12</c:v>
                </c:pt>
                <c:pt idx="369">
                  <c:v>2021-07-13</c:v>
                </c:pt>
                <c:pt idx="370">
                  <c:v>2021-07-14</c:v>
                </c:pt>
                <c:pt idx="371">
                  <c:v>2021-07-15</c:v>
                </c:pt>
                <c:pt idx="372">
                  <c:v>2021-07-16</c:v>
                </c:pt>
                <c:pt idx="373">
                  <c:v>2021-07-19</c:v>
                </c:pt>
                <c:pt idx="374">
                  <c:v>2021-07-20</c:v>
                </c:pt>
                <c:pt idx="375">
                  <c:v>2021-07-21</c:v>
                </c:pt>
                <c:pt idx="376">
                  <c:v>2021-07-22</c:v>
                </c:pt>
                <c:pt idx="377">
                  <c:v>2021-07-23</c:v>
                </c:pt>
                <c:pt idx="378">
                  <c:v>2021-07-26</c:v>
                </c:pt>
                <c:pt idx="379">
                  <c:v>2021-07-27</c:v>
                </c:pt>
                <c:pt idx="380">
                  <c:v>2021-07-28</c:v>
                </c:pt>
                <c:pt idx="381">
                  <c:v>2021-07-29</c:v>
                </c:pt>
                <c:pt idx="382">
                  <c:v>2021-07-30</c:v>
                </c:pt>
                <c:pt idx="383">
                  <c:v>2021-08-02</c:v>
                </c:pt>
                <c:pt idx="384">
                  <c:v>2021-08-03</c:v>
                </c:pt>
                <c:pt idx="385">
                  <c:v>2021-08-04</c:v>
                </c:pt>
                <c:pt idx="386">
                  <c:v>2021-08-05</c:v>
                </c:pt>
                <c:pt idx="387">
                  <c:v>2021-08-06</c:v>
                </c:pt>
                <c:pt idx="388">
                  <c:v>2021-08-09</c:v>
                </c:pt>
                <c:pt idx="389">
                  <c:v>2021-08-10</c:v>
                </c:pt>
                <c:pt idx="390">
                  <c:v>2021-08-11</c:v>
                </c:pt>
                <c:pt idx="391">
                  <c:v>2021-08-12</c:v>
                </c:pt>
                <c:pt idx="392">
                  <c:v>2021-08-13</c:v>
                </c:pt>
                <c:pt idx="393">
                  <c:v>2021-08-16</c:v>
                </c:pt>
                <c:pt idx="394">
                  <c:v>2021-08-17</c:v>
                </c:pt>
                <c:pt idx="395">
                  <c:v>2021-08-18</c:v>
                </c:pt>
                <c:pt idx="396">
                  <c:v>2021-08-19</c:v>
                </c:pt>
                <c:pt idx="397">
                  <c:v>2021-08-20</c:v>
                </c:pt>
                <c:pt idx="398">
                  <c:v>2021-08-23</c:v>
                </c:pt>
                <c:pt idx="399">
                  <c:v>2021-08-24</c:v>
                </c:pt>
                <c:pt idx="400">
                  <c:v>2021-08-25</c:v>
                </c:pt>
                <c:pt idx="401">
                  <c:v>2021-08-26</c:v>
                </c:pt>
                <c:pt idx="402">
                  <c:v>2021-08-27</c:v>
                </c:pt>
                <c:pt idx="403">
                  <c:v>2021-08-30</c:v>
                </c:pt>
                <c:pt idx="404">
                  <c:v>2021-08-31</c:v>
                </c:pt>
                <c:pt idx="405">
                  <c:v>2021-09-01</c:v>
                </c:pt>
                <c:pt idx="406">
                  <c:v>2021-09-02</c:v>
                </c:pt>
                <c:pt idx="407">
                  <c:v>2021-09-03</c:v>
                </c:pt>
                <c:pt idx="408">
                  <c:v>2021-09-06</c:v>
                </c:pt>
                <c:pt idx="409">
                  <c:v>2021-09-07</c:v>
                </c:pt>
                <c:pt idx="410">
                  <c:v>2021-09-08</c:v>
                </c:pt>
                <c:pt idx="411">
                  <c:v>2021-09-09</c:v>
                </c:pt>
                <c:pt idx="412">
                  <c:v>2021-09-10</c:v>
                </c:pt>
                <c:pt idx="413">
                  <c:v>2021-09-13</c:v>
                </c:pt>
                <c:pt idx="414">
                  <c:v>2021-09-14</c:v>
                </c:pt>
                <c:pt idx="415">
                  <c:v>2021-09-15</c:v>
                </c:pt>
                <c:pt idx="416">
                  <c:v>2021-09-16</c:v>
                </c:pt>
                <c:pt idx="417">
                  <c:v>2021-09-17</c:v>
                </c:pt>
                <c:pt idx="418">
                  <c:v>2021-09-22</c:v>
                </c:pt>
                <c:pt idx="419">
                  <c:v>2021-09-23</c:v>
                </c:pt>
                <c:pt idx="420">
                  <c:v>2021-09-24</c:v>
                </c:pt>
                <c:pt idx="421">
                  <c:v>2021-09-27</c:v>
                </c:pt>
                <c:pt idx="422">
                  <c:v>2021-09-28</c:v>
                </c:pt>
                <c:pt idx="423">
                  <c:v>2021-09-29</c:v>
                </c:pt>
                <c:pt idx="424">
                  <c:v>2021-09-30</c:v>
                </c:pt>
                <c:pt idx="425">
                  <c:v>2021-10-08</c:v>
                </c:pt>
                <c:pt idx="426">
                  <c:v>2021-10-11</c:v>
                </c:pt>
                <c:pt idx="427">
                  <c:v>2021-10-12</c:v>
                </c:pt>
                <c:pt idx="428">
                  <c:v>2021-10-13</c:v>
                </c:pt>
                <c:pt idx="429">
                  <c:v>2021-10-14</c:v>
                </c:pt>
                <c:pt idx="430">
                  <c:v>2021-10-15</c:v>
                </c:pt>
                <c:pt idx="431">
                  <c:v>2021-10-18</c:v>
                </c:pt>
                <c:pt idx="432">
                  <c:v>2021-10-19</c:v>
                </c:pt>
                <c:pt idx="433">
                  <c:v>2021-10-20</c:v>
                </c:pt>
                <c:pt idx="434">
                  <c:v>2021-10-21</c:v>
                </c:pt>
                <c:pt idx="435">
                  <c:v>2021-10-22</c:v>
                </c:pt>
                <c:pt idx="436">
                  <c:v>2021-10-25</c:v>
                </c:pt>
                <c:pt idx="437">
                  <c:v>2021-10-26</c:v>
                </c:pt>
                <c:pt idx="438">
                  <c:v>2021-10-27</c:v>
                </c:pt>
                <c:pt idx="439">
                  <c:v>2021-10-28</c:v>
                </c:pt>
                <c:pt idx="440">
                  <c:v>2021-10-29</c:v>
                </c:pt>
                <c:pt idx="441">
                  <c:v>2021-11-01</c:v>
                </c:pt>
                <c:pt idx="442">
                  <c:v>2021-11-02</c:v>
                </c:pt>
                <c:pt idx="443">
                  <c:v>2021-11-03</c:v>
                </c:pt>
                <c:pt idx="444">
                  <c:v>2021-11-04</c:v>
                </c:pt>
                <c:pt idx="445">
                  <c:v>2021-11-05</c:v>
                </c:pt>
                <c:pt idx="446">
                  <c:v>2021-11-08</c:v>
                </c:pt>
                <c:pt idx="447">
                  <c:v>2021-11-09</c:v>
                </c:pt>
                <c:pt idx="448">
                  <c:v>2021-11-10</c:v>
                </c:pt>
                <c:pt idx="449">
                  <c:v>2021-11-11</c:v>
                </c:pt>
                <c:pt idx="450">
                  <c:v>2021-11-12</c:v>
                </c:pt>
                <c:pt idx="451">
                  <c:v>2021-11-15</c:v>
                </c:pt>
                <c:pt idx="452">
                  <c:v>2021-11-16</c:v>
                </c:pt>
                <c:pt idx="453">
                  <c:v>2021-11-17</c:v>
                </c:pt>
                <c:pt idx="454">
                  <c:v>2021-11-18</c:v>
                </c:pt>
                <c:pt idx="455">
                  <c:v>2021-11-19</c:v>
                </c:pt>
                <c:pt idx="456">
                  <c:v>2021-11-22</c:v>
                </c:pt>
                <c:pt idx="457">
                  <c:v>2021-11-23</c:v>
                </c:pt>
                <c:pt idx="458">
                  <c:v>2021-11-24</c:v>
                </c:pt>
                <c:pt idx="459">
                  <c:v>2021-11-25</c:v>
                </c:pt>
                <c:pt idx="460">
                  <c:v>2021-11-26</c:v>
                </c:pt>
                <c:pt idx="461">
                  <c:v>2021-11-29</c:v>
                </c:pt>
                <c:pt idx="462">
                  <c:v>2021-11-30</c:v>
                </c:pt>
                <c:pt idx="463">
                  <c:v>2021-12-01</c:v>
                </c:pt>
                <c:pt idx="464">
                  <c:v>2021-12-02</c:v>
                </c:pt>
                <c:pt idx="465">
                  <c:v>2021-12-03</c:v>
                </c:pt>
                <c:pt idx="466">
                  <c:v>2021-12-06</c:v>
                </c:pt>
                <c:pt idx="467">
                  <c:v>2021-12-07</c:v>
                </c:pt>
                <c:pt idx="468">
                  <c:v>2021-12-08</c:v>
                </c:pt>
                <c:pt idx="469">
                  <c:v>2021-12-09</c:v>
                </c:pt>
                <c:pt idx="470">
                  <c:v>2021-12-10</c:v>
                </c:pt>
                <c:pt idx="471">
                  <c:v>2021-12-13</c:v>
                </c:pt>
                <c:pt idx="472">
                  <c:v>2021-12-14</c:v>
                </c:pt>
                <c:pt idx="473">
                  <c:v>2021-12-15</c:v>
                </c:pt>
                <c:pt idx="474">
                  <c:v>2021-12-16</c:v>
                </c:pt>
                <c:pt idx="475">
                  <c:v>2021-12-17</c:v>
                </c:pt>
                <c:pt idx="476">
                  <c:v>2021-12-20</c:v>
                </c:pt>
                <c:pt idx="477">
                  <c:v>2021-12-21</c:v>
                </c:pt>
                <c:pt idx="478">
                  <c:v>2021-12-22</c:v>
                </c:pt>
                <c:pt idx="479">
                  <c:v>2021-12-23</c:v>
                </c:pt>
                <c:pt idx="480">
                  <c:v>2021-12-24</c:v>
                </c:pt>
                <c:pt idx="481">
                  <c:v>2021-12-27</c:v>
                </c:pt>
                <c:pt idx="482">
                  <c:v>2021-12-28</c:v>
                </c:pt>
                <c:pt idx="483">
                  <c:v>2021-12-29</c:v>
                </c:pt>
                <c:pt idx="484">
                  <c:v>2021-12-30</c:v>
                </c:pt>
                <c:pt idx="485">
                  <c:v>2021-12-31</c:v>
                </c:pt>
                <c:pt idx="486">
                  <c:v>2022-01-04</c:v>
                </c:pt>
                <c:pt idx="487">
                  <c:v>2022-01-05</c:v>
                </c:pt>
                <c:pt idx="488">
                  <c:v>2022-01-06</c:v>
                </c:pt>
                <c:pt idx="489">
                  <c:v>2022-01-07</c:v>
                </c:pt>
                <c:pt idx="490">
                  <c:v>2022-01-10</c:v>
                </c:pt>
                <c:pt idx="491">
                  <c:v>2022-01-11</c:v>
                </c:pt>
                <c:pt idx="492">
                  <c:v>2022-01-12</c:v>
                </c:pt>
                <c:pt idx="493">
                  <c:v>2022-01-13</c:v>
                </c:pt>
                <c:pt idx="494">
                  <c:v>2022-01-14</c:v>
                </c:pt>
                <c:pt idx="495">
                  <c:v>2022-01-17</c:v>
                </c:pt>
                <c:pt idx="496">
                  <c:v>2022-01-18</c:v>
                </c:pt>
                <c:pt idx="497">
                  <c:v>2022-01-19</c:v>
                </c:pt>
                <c:pt idx="498">
                  <c:v>2022-01-20</c:v>
                </c:pt>
                <c:pt idx="499">
                  <c:v>2022-01-21</c:v>
                </c:pt>
                <c:pt idx="500">
                  <c:v>2022-01-24</c:v>
                </c:pt>
                <c:pt idx="501">
                  <c:v>2022-01-25</c:v>
                </c:pt>
                <c:pt idx="502">
                  <c:v>2022-01-26</c:v>
                </c:pt>
                <c:pt idx="503">
                  <c:v>2022-01-27</c:v>
                </c:pt>
                <c:pt idx="504">
                  <c:v>2022-01-28</c:v>
                </c:pt>
                <c:pt idx="505">
                  <c:v>2022-02-07</c:v>
                </c:pt>
                <c:pt idx="506">
                  <c:v>2022-02-08</c:v>
                </c:pt>
                <c:pt idx="507">
                  <c:v>2022-02-09</c:v>
                </c:pt>
                <c:pt idx="508">
                  <c:v>2022-02-10</c:v>
                </c:pt>
                <c:pt idx="509">
                  <c:v>2022-02-11</c:v>
                </c:pt>
                <c:pt idx="510">
                  <c:v>2022-02-14</c:v>
                </c:pt>
                <c:pt idx="511">
                  <c:v>2022-02-15</c:v>
                </c:pt>
                <c:pt idx="512">
                  <c:v>2022-02-16</c:v>
                </c:pt>
                <c:pt idx="513">
                  <c:v>2022-02-17</c:v>
                </c:pt>
                <c:pt idx="514">
                  <c:v>2022-02-18</c:v>
                </c:pt>
                <c:pt idx="515">
                  <c:v>2022-02-21</c:v>
                </c:pt>
                <c:pt idx="516">
                  <c:v>2022-02-22</c:v>
                </c:pt>
                <c:pt idx="517">
                  <c:v>2022-02-23</c:v>
                </c:pt>
                <c:pt idx="518">
                  <c:v>2022-02-24</c:v>
                </c:pt>
                <c:pt idx="519">
                  <c:v>2022-02-25</c:v>
                </c:pt>
                <c:pt idx="520">
                  <c:v>2022-02-28</c:v>
                </c:pt>
                <c:pt idx="521">
                  <c:v>2022-03-01</c:v>
                </c:pt>
                <c:pt idx="522">
                  <c:v>2022-03-02</c:v>
                </c:pt>
                <c:pt idx="523">
                  <c:v>2022-03-03</c:v>
                </c:pt>
                <c:pt idx="524">
                  <c:v>2022-03-04</c:v>
                </c:pt>
                <c:pt idx="525">
                  <c:v>2022-03-07</c:v>
                </c:pt>
                <c:pt idx="526">
                  <c:v>2022-03-08</c:v>
                </c:pt>
                <c:pt idx="527">
                  <c:v>2022-03-09</c:v>
                </c:pt>
                <c:pt idx="528">
                  <c:v>2022-03-10</c:v>
                </c:pt>
                <c:pt idx="529">
                  <c:v>2022-03-11</c:v>
                </c:pt>
                <c:pt idx="530">
                  <c:v>2022-03-14</c:v>
                </c:pt>
                <c:pt idx="531">
                  <c:v>2022-03-15</c:v>
                </c:pt>
                <c:pt idx="532">
                  <c:v>2022-03-16</c:v>
                </c:pt>
                <c:pt idx="533">
                  <c:v>2022-03-17</c:v>
                </c:pt>
                <c:pt idx="534">
                  <c:v>2022-03-18</c:v>
                </c:pt>
                <c:pt idx="535">
                  <c:v>2022-03-21</c:v>
                </c:pt>
                <c:pt idx="536">
                  <c:v>2022-03-22</c:v>
                </c:pt>
                <c:pt idx="537">
                  <c:v>2022-03-23</c:v>
                </c:pt>
                <c:pt idx="538">
                  <c:v>2022-03-24</c:v>
                </c:pt>
                <c:pt idx="539">
                  <c:v>2022-03-25</c:v>
                </c:pt>
                <c:pt idx="540">
                  <c:v>2022-03-28</c:v>
                </c:pt>
                <c:pt idx="541">
                  <c:v>2022-03-29</c:v>
                </c:pt>
                <c:pt idx="542">
                  <c:v>2022-03-30</c:v>
                </c:pt>
                <c:pt idx="543">
                  <c:v>2022-03-31</c:v>
                </c:pt>
                <c:pt idx="544">
                  <c:v>2022-04-01</c:v>
                </c:pt>
                <c:pt idx="545">
                  <c:v>2022-04-06</c:v>
                </c:pt>
                <c:pt idx="546">
                  <c:v>2022-04-07</c:v>
                </c:pt>
                <c:pt idx="547">
                  <c:v>2022-04-08</c:v>
                </c:pt>
                <c:pt idx="548">
                  <c:v>2022-04-11</c:v>
                </c:pt>
                <c:pt idx="549">
                  <c:v>2022-04-12</c:v>
                </c:pt>
                <c:pt idx="550">
                  <c:v>2022-04-13</c:v>
                </c:pt>
                <c:pt idx="551">
                  <c:v>2022-04-14</c:v>
                </c:pt>
                <c:pt idx="552">
                  <c:v>2022-04-15</c:v>
                </c:pt>
                <c:pt idx="553">
                  <c:v>2022-04-18</c:v>
                </c:pt>
                <c:pt idx="554">
                  <c:v>2022-04-19</c:v>
                </c:pt>
                <c:pt idx="555">
                  <c:v>2022-04-20</c:v>
                </c:pt>
                <c:pt idx="556">
                  <c:v>2022-04-21</c:v>
                </c:pt>
                <c:pt idx="557">
                  <c:v>2022-04-22</c:v>
                </c:pt>
                <c:pt idx="558">
                  <c:v>2022-04-25</c:v>
                </c:pt>
                <c:pt idx="559">
                  <c:v>2022-04-26</c:v>
                </c:pt>
                <c:pt idx="560">
                  <c:v>2022-04-27</c:v>
                </c:pt>
                <c:pt idx="561">
                  <c:v>2022-04-28</c:v>
                </c:pt>
                <c:pt idx="562">
                  <c:v>2022-04-29</c:v>
                </c:pt>
                <c:pt idx="563">
                  <c:v>2022-05-05</c:v>
                </c:pt>
                <c:pt idx="564">
                  <c:v>2022-05-06</c:v>
                </c:pt>
                <c:pt idx="565">
                  <c:v>2022-05-09</c:v>
                </c:pt>
                <c:pt idx="566">
                  <c:v>2022-05-10</c:v>
                </c:pt>
                <c:pt idx="567">
                  <c:v>2022-05-11</c:v>
                </c:pt>
                <c:pt idx="568">
                  <c:v>2022-05-12</c:v>
                </c:pt>
                <c:pt idx="569">
                  <c:v>2022-05-13</c:v>
                </c:pt>
                <c:pt idx="570">
                  <c:v>2022-05-16</c:v>
                </c:pt>
                <c:pt idx="571">
                  <c:v>2022-05-17</c:v>
                </c:pt>
                <c:pt idx="572">
                  <c:v>2022-05-18</c:v>
                </c:pt>
                <c:pt idx="573">
                  <c:v>2022-05-19</c:v>
                </c:pt>
                <c:pt idx="574">
                  <c:v>2022-05-20</c:v>
                </c:pt>
                <c:pt idx="575">
                  <c:v>2022-05-23</c:v>
                </c:pt>
                <c:pt idx="576">
                  <c:v>2022-05-24</c:v>
                </c:pt>
                <c:pt idx="577">
                  <c:v>2022-05-25</c:v>
                </c:pt>
                <c:pt idx="578">
                  <c:v>2022-05-26</c:v>
                </c:pt>
                <c:pt idx="579">
                  <c:v>2022-05-27</c:v>
                </c:pt>
                <c:pt idx="580">
                  <c:v>2022-05-30</c:v>
                </c:pt>
                <c:pt idx="581">
                  <c:v>2022-05-31</c:v>
                </c:pt>
                <c:pt idx="582">
                  <c:v>2022-06-01</c:v>
                </c:pt>
                <c:pt idx="583">
                  <c:v>2022-06-02</c:v>
                </c:pt>
                <c:pt idx="584">
                  <c:v>2022-06-06</c:v>
                </c:pt>
                <c:pt idx="585">
                  <c:v>2022-06-07</c:v>
                </c:pt>
                <c:pt idx="586">
                  <c:v>2022-06-08</c:v>
                </c:pt>
                <c:pt idx="587">
                  <c:v>2022-06-09</c:v>
                </c:pt>
                <c:pt idx="588">
                  <c:v>2022-06-10</c:v>
                </c:pt>
                <c:pt idx="589">
                  <c:v>2022-06-13</c:v>
                </c:pt>
                <c:pt idx="590">
                  <c:v>2022-06-14</c:v>
                </c:pt>
                <c:pt idx="591">
                  <c:v>2022-06-15</c:v>
                </c:pt>
                <c:pt idx="592">
                  <c:v>2022-06-16</c:v>
                </c:pt>
                <c:pt idx="593">
                  <c:v>2022-06-17</c:v>
                </c:pt>
                <c:pt idx="594">
                  <c:v>2022-06-20</c:v>
                </c:pt>
                <c:pt idx="595">
                  <c:v>2022-06-21</c:v>
                </c:pt>
                <c:pt idx="596">
                  <c:v>2022-06-22</c:v>
                </c:pt>
                <c:pt idx="597">
                  <c:v>2022-06-23</c:v>
                </c:pt>
                <c:pt idx="598">
                  <c:v>2022-06-24</c:v>
                </c:pt>
                <c:pt idx="599">
                  <c:v>2022-06-27</c:v>
                </c:pt>
                <c:pt idx="600">
                  <c:v>2022-06-28</c:v>
                </c:pt>
                <c:pt idx="601">
                  <c:v>2022-06-29</c:v>
                </c:pt>
                <c:pt idx="602">
                  <c:v>2022-06-30</c:v>
                </c:pt>
                <c:pt idx="603">
                  <c:v>2022-07-01</c:v>
                </c:pt>
                <c:pt idx="604">
                  <c:v>2022-07-04</c:v>
                </c:pt>
                <c:pt idx="605">
                  <c:v>2022-07-05</c:v>
                </c:pt>
                <c:pt idx="606">
                  <c:v>2022-07-06</c:v>
                </c:pt>
                <c:pt idx="607">
                  <c:v>2022-07-07</c:v>
                </c:pt>
                <c:pt idx="608">
                  <c:v>2022-07-08</c:v>
                </c:pt>
                <c:pt idx="609">
                  <c:v>2022-07-11</c:v>
                </c:pt>
                <c:pt idx="610">
                  <c:v>2022-07-12</c:v>
                </c:pt>
                <c:pt idx="611">
                  <c:v>2022-07-13</c:v>
                </c:pt>
                <c:pt idx="612">
                  <c:v>2022-07-14</c:v>
                </c:pt>
                <c:pt idx="613">
                  <c:v>2022-07-15</c:v>
                </c:pt>
                <c:pt idx="614">
                  <c:v>2022-07-18</c:v>
                </c:pt>
                <c:pt idx="615">
                  <c:v>2022-07-19</c:v>
                </c:pt>
                <c:pt idx="616">
                  <c:v>2022-07-20</c:v>
                </c:pt>
                <c:pt idx="617">
                  <c:v>2022-07-21</c:v>
                </c:pt>
                <c:pt idx="618">
                  <c:v>2022-07-22</c:v>
                </c:pt>
                <c:pt idx="619">
                  <c:v>2022-07-25</c:v>
                </c:pt>
                <c:pt idx="620">
                  <c:v>2022-07-26</c:v>
                </c:pt>
                <c:pt idx="621">
                  <c:v>2022-07-27</c:v>
                </c:pt>
                <c:pt idx="622">
                  <c:v>2022-07-28</c:v>
                </c:pt>
                <c:pt idx="623">
                  <c:v>2022-07-29</c:v>
                </c:pt>
                <c:pt idx="624">
                  <c:v>2022-08-01</c:v>
                </c:pt>
                <c:pt idx="625">
                  <c:v>2022-08-02</c:v>
                </c:pt>
                <c:pt idx="626">
                  <c:v>2022-08-03</c:v>
                </c:pt>
                <c:pt idx="627">
                  <c:v>2022-08-04</c:v>
                </c:pt>
                <c:pt idx="628">
                  <c:v>2022-08-05</c:v>
                </c:pt>
                <c:pt idx="629">
                  <c:v>2022-08-08</c:v>
                </c:pt>
                <c:pt idx="630">
                  <c:v>2022-08-09</c:v>
                </c:pt>
                <c:pt idx="631">
                  <c:v>2022-08-10</c:v>
                </c:pt>
                <c:pt idx="632">
                  <c:v>2022-08-11</c:v>
                </c:pt>
                <c:pt idx="633">
                  <c:v>2022-08-12</c:v>
                </c:pt>
                <c:pt idx="634">
                  <c:v>2022-08-15</c:v>
                </c:pt>
                <c:pt idx="635">
                  <c:v>2022-08-16</c:v>
                </c:pt>
                <c:pt idx="636">
                  <c:v>2022-08-17</c:v>
                </c:pt>
                <c:pt idx="637">
                  <c:v>2022-08-18</c:v>
                </c:pt>
                <c:pt idx="638">
                  <c:v>2022-08-19</c:v>
                </c:pt>
                <c:pt idx="639">
                  <c:v>2022-08-22</c:v>
                </c:pt>
                <c:pt idx="640">
                  <c:v>2022-08-23</c:v>
                </c:pt>
                <c:pt idx="641">
                  <c:v>2022-08-24</c:v>
                </c:pt>
                <c:pt idx="642">
                  <c:v>2022-08-25</c:v>
                </c:pt>
                <c:pt idx="643">
                  <c:v>2022-08-26</c:v>
                </c:pt>
                <c:pt idx="644">
                  <c:v>2022-08-29</c:v>
                </c:pt>
                <c:pt idx="645">
                  <c:v>2022-08-30</c:v>
                </c:pt>
                <c:pt idx="646">
                  <c:v>2022-08-31</c:v>
                </c:pt>
                <c:pt idx="647">
                  <c:v>2022-09-01</c:v>
                </c:pt>
                <c:pt idx="648">
                  <c:v>2022-09-02</c:v>
                </c:pt>
                <c:pt idx="649">
                  <c:v>2022-09-05</c:v>
                </c:pt>
                <c:pt idx="650">
                  <c:v>2022-09-06</c:v>
                </c:pt>
                <c:pt idx="651">
                  <c:v>2022-09-07</c:v>
                </c:pt>
                <c:pt idx="652">
                  <c:v>2022-09-08</c:v>
                </c:pt>
                <c:pt idx="653">
                  <c:v>2022-09-09</c:v>
                </c:pt>
                <c:pt idx="654">
                  <c:v>2022-09-13</c:v>
                </c:pt>
                <c:pt idx="655">
                  <c:v>2022-09-14</c:v>
                </c:pt>
                <c:pt idx="656">
                  <c:v>2022-09-15</c:v>
                </c:pt>
                <c:pt idx="657">
                  <c:v>2022-09-16</c:v>
                </c:pt>
                <c:pt idx="658">
                  <c:v>2022-09-19</c:v>
                </c:pt>
                <c:pt idx="659">
                  <c:v>2022-09-20</c:v>
                </c:pt>
                <c:pt idx="660">
                  <c:v>2022-09-21</c:v>
                </c:pt>
                <c:pt idx="661">
                  <c:v>2022-09-22</c:v>
                </c:pt>
                <c:pt idx="662">
                  <c:v>2022-09-23</c:v>
                </c:pt>
                <c:pt idx="663">
                  <c:v>2022-09-26</c:v>
                </c:pt>
                <c:pt idx="664">
                  <c:v>2022-09-27</c:v>
                </c:pt>
                <c:pt idx="665">
                  <c:v>2022-09-28</c:v>
                </c:pt>
                <c:pt idx="666">
                  <c:v>2022-09-29</c:v>
                </c:pt>
                <c:pt idx="667">
                  <c:v>2022-09-30</c:v>
                </c:pt>
                <c:pt idx="668">
                  <c:v>2022-10-10</c:v>
                </c:pt>
                <c:pt idx="669">
                  <c:v>2022-10-11</c:v>
                </c:pt>
                <c:pt idx="670">
                  <c:v>2022-10-12</c:v>
                </c:pt>
                <c:pt idx="671">
                  <c:v>2022-10-13</c:v>
                </c:pt>
                <c:pt idx="672">
                  <c:v>2022-10-14</c:v>
                </c:pt>
                <c:pt idx="673">
                  <c:v>2022-10-17</c:v>
                </c:pt>
                <c:pt idx="674">
                  <c:v>2022-10-18</c:v>
                </c:pt>
                <c:pt idx="675">
                  <c:v>2022-10-19</c:v>
                </c:pt>
                <c:pt idx="676">
                  <c:v>2022-10-20</c:v>
                </c:pt>
                <c:pt idx="677">
                  <c:v>2022-10-21</c:v>
                </c:pt>
                <c:pt idx="678">
                  <c:v>2022-10-24</c:v>
                </c:pt>
                <c:pt idx="679">
                  <c:v>2022-10-25</c:v>
                </c:pt>
                <c:pt idx="680">
                  <c:v>2022-10-26</c:v>
                </c:pt>
                <c:pt idx="681">
                  <c:v>2022-10-27</c:v>
                </c:pt>
                <c:pt idx="682">
                  <c:v>2022-10-28</c:v>
                </c:pt>
                <c:pt idx="683">
                  <c:v>2022-10-31</c:v>
                </c:pt>
                <c:pt idx="684">
                  <c:v>2022-11-01</c:v>
                </c:pt>
                <c:pt idx="685">
                  <c:v>2022-11-02</c:v>
                </c:pt>
                <c:pt idx="686">
                  <c:v>2022-11-03</c:v>
                </c:pt>
                <c:pt idx="687">
                  <c:v>2022-11-04</c:v>
                </c:pt>
                <c:pt idx="688">
                  <c:v>2022-11-07</c:v>
                </c:pt>
                <c:pt idx="689">
                  <c:v>2022-11-08</c:v>
                </c:pt>
                <c:pt idx="690">
                  <c:v>2022-11-09</c:v>
                </c:pt>
                <c:pt idx="691">
                  <c:v>2022-11-10</c:v>
                </c:pt>
                <c:pt idx="692">
                  <c:v>2022-11-11</c:v>
                </c:pt>
                <c:pt idx="693">
                  <c:v>2022-11-14</c:v>
                </c:pt>
                <c:pt idx="694">
                  <c:v>2022-11-15</c:v>
                </c:pt>
                <c:pt idx="695">
                  <c:v>2022-11-16</c:v>
                </c:pt>
                <c:pt idx="696">
                  <c:v>2022-11-17</c:v>
                </c:pt>
                <c:pt idx="697">
                  <c:v>2022-11-18</c:v>
                </c:pt>
                <c:pt idx="698">
                  <c:v>2022-11-21</c:v>
                </c:pt>
                <c:pt idx="699">
                  <c:v>2022-11-22</c:v>
                </c:pt>
                <c:pt idx="700">
                  <c:v>2022-11-23</c:v>
                </c:pt>
                <c:pt idx="701">
                  <c:v>2022-11-24</c:v>
                </c:pt>
                <c:pt idx="702">
                  <c:v>2022-11-25</c:v>
                </c:pt>
                <c:pt idx="703">
                  <c:v>2022-11-28</c:v>
                </c:pt>
                <c:pt idx="704">
                  <c:v>2022-11-29</c:v>
                </c:pt>
                <c:pt idx="705">
                  <c:v>2022-11-30</c:v>
                </c:pt>
                <c:pt idx="706">
                  <c:v>2022-12-01</c:v>
                </c:pt>
                <c:pt idx="707">
                  <c:v>2022-12-02</c:v>
                </c:pt>
                <c:pt idx="708">
                  <c:v>2022-12-05</c:v>
                </c:pt>
                <c:pt idx="709">
                  <c:v>2022-12-06</c:v>
                </c:pt>
                <c:pt idx="710">
                  <c:v>2022-12-07</c:v>
                </c:pt>
                <c:pt idx="711">
                  <c:v>2022-12-08</c:v>
                </c:pt>
                <c:pt idx="712">
                  <c:v>2022-12-09</c:v>
                </c:pt>
                <c:pt idx="713">
                  <c:v>2022-12-12</c:v>
                </c:pt>
                <c:pt idx="714">
                  <c:v>2022-12-13</c:v>
                </c:pt>
                <c:pt idx="715">
                  <c:v>2022-12-14</c:v>
                </c:pt>
                <c:pt idx="716">
                  <c:v>2022-12-15</c:v>
                </c:pt>
                <c:pt idx="717">
                  <c:v>2022-12-16</c:v>
                </c:pt>
                <c:pt idx="718">
                  <c:v>2022-12-19</c:v>
                </c:pt>
                <c:pt idx="719">
                  <c:v>2022-12-20</c:v>
                </c:pt>
                <c:pt idx="720">
                  <c:v>2022-12-21</c:v>
                </c:pt>
                <c:pt idx="721">
                  <c:v>2022-12-22</c:v>
                </c:pt>
                <c:pt idx="722">
                  <c:v>2022-12-23</c:v>
                </c:pt>
                <c:pt idx="723">
                  <c:v>2022-12-26</c:v>
                </c:pt>
                <c:pt idx="724">
                  <c:v>2022-12-27</c:v>
                </c:pt>
                <c:pt idx="725">
                  <c:v>2022-12-28</c:v>
                </c:pt>
                <c:pt idx="726">
                  <c:v>2022-12-29</c:v>
                </c:pt>
                <c:pt idx="727">
                  <c:v>2022-12-30</c:v>
                </c:pt>
                <c:pt idx="728">
                  <c:v>2023-01-03</c:v>
                </c:pt>
                <c:pt idx="729">
                  <c:v>2023-01-04</c:v>
                </c:pt>
                <c:pt idx="730">
                  <c:v>2023-01-05</c:v>
                </c:pt>
                <c:pt idx="731">
                  <c:v>2023-01-06</c:v>
                </c:pt>
                <c:pt idx="732">
                  <c:v>2023-01-09</c:v>
                </c:pt>
                <c:pt idx="733">
                  <c:v>2023-01-10</c:v>
                </c:pt>
                <c:pt idx="734">
                  <c:v>2023-01-11</c:v>
                </c:pt>
                <c:pt idx="735">
                  <c:v>2023-01-12</c:v>
                </c:pt>
                <c:pt idx="736">
                  <c:v>2023-01-13</c:v>
                </c:pt>
                <c:pt idx="737">
                  <c:v>2023-01-16</c:v>
                </c:pt>
                <c:pt idx="738">
                  <c:v>2023-01-17</c:v>
                </c:pt>
                <c:pt idx="739">
                  <c:v>2023-01-18</c:v>
                </c:pt>
                <c:pt idx="740">
                  <c:v>2023-01-19</c:v>
                </c:pt>
                <c:pt idx="741">
                  <c:v>2023-01-20</c:v>
                </c:pt>
                <c:pt idx="742">
                  <c:v>2023-01-30</c:v>
                </c:pt>
                <c:pt idx="743">
                  <c:v>2023-01-31</c:v>
                </c:pt>
                <c:pt idx="744">
                  <c:v>2023-02-01</c:v>
                </c:pt>
                <c:pt idx="745">
                  <c:v>2023-02-02</c:v>
                </c:pt>
                <c:pt idx="746">
                  <c:v>2023-02-03</c:v>
                </c:pt>
                <c:pt idx="747">
                  <c:v>2023-02-06</c:v>
                </c:pt>
                <c:pt idx="748">
                  <c:v>2023-02-07</c:v>
                </c:pt>
                <c:pt idx="749">
                  <c:v>2023-02-08</c:v>
                </c:pt>
                <c:pt idx="750">
                  <c:v>2023-02-09</c:v>
                </c:pt>
                <c:pt idx="751">
                  <c:v>2023-02-10</c:v>
                </c:pt>
                <c:pt idx="752">
                  <c:v>2023-02-13</c:v>
                </c:pt>
                <c:pt idx="753">
                  <c:v>2023-02-14</c:v>
                </c:pt>
                <c:pt idx="754">
                  <c:v>2023-02-15</c:v>
                </c:pt>
                <c:pt idx="755">
                  <c:v>2023-02-16</c:v>
                </c:pt>
                <c:pt idx="756">
                  <c:v>2023-02-17</c:v>
                </c:pt>
                <c:pt idx="757">
                  <c:v>2023-02-20</c:v>
                </c:pt>
                <c:pt idx="758">
                  <c:v>2023-02-21</c:v>
                </c:pt>
                <c:pt idx="759">
                  <c:v>2023-02-22</c:v>
                </c:pt>
                <c:pt idx="760">
                  <c:v>2023-02-23</c:v>
                </c:pt>
                <c:pt idx="761">
                  <c:v>2023-02-24</c:v>
                </c:pt>
                <c:pt idx="762">
                  <c:v>2023-02-27</c:v>
                </c:pt>
                <c:pt idx="763">
                  <c:v>2023-02-28</c:v>
                </c:pt>
                <c:pt idx="764">
                  <c:v>2023-03-01</c:v>
                </c:pt>
                <c:pt idx="765">
                  <c:v>2023-03-02</c:v>
                </c:pt>
                <c:pt idx="766">
                  <c:v>2023-03-03</c:v>
                </c:pt>
                <c:pt idx="767">
                  <c:v>2023-03-06</c:v>
                </c:pt>
                <c:pt idx="768">
                  <c:v>2023-03-07</c:v>
                </c:pt>
                <c:pt idx="769">
                  <c:v>2023-03-08</c:v>
                </c:pt>
                <c:pt idx="770">
                  <c:v>2023-03-09</c:v>
                </c:pt>
                <c:pt idx="771">
                  <c:v>2023-03-10</c:v>
                </c:pt>
                <c:pt idx="772">
                  <c:v>2023-03-13</c:v>
                </c:pt>
                <c:pt idx="773">
                  <c:v>2023-03-14</c:v>
                </c:pt>
                <c:pt idx="774">
                  <c:v>2023-03-15</c:v>
                </c:pt>
                <c:pt idx="775">
                  <c:v>2023-03-16</c:v>
                </c:pt>
                <c:pt idx="776">
                  <c:v>2023-03-17</c:v>
                </c:pt>
                <c:pt idx="777">
                  <c:v>2023-03-20</c:v>
                </c:pt>
                <c:pt idx="778">
                  <c:v>2023-03-21</c:v>
                </c:pt>
                <c:pt idx="779">
                  <c:v>2023-03-22</c:v>
                </c:pt>
                <c:pt idx="780">
                  <c:v>2023-03-23</c:v>
                </c:pt>
                <c:pt idx="781">
                  <c:v>2023-03-24</c:v>
                </c:pt>
                <c:pt idx="782">
                  <c:v>2023-03-27</c:v>
                </c:pt>
                <c:pt idx="783">
                  <c:v>2023-03-28</c:v>
                </c:pt>
                <c:pt idx="784">
                  <c:v>2023-03-29</c:v>
                </c:pt>
                <c:pt idx="785">
                  <c:v>2023-03-30</c:v>
                </c:pt>
                <c:pt idx="786">
                  <c:v>2023-03-31</c:v>
                </c:pt>
                <c:pt idx="787">
                  <c:v>2023-04-03</c:v>
                </c:pt>
                <c:pt idx="788">
                  <c:v>2023-04-04</c:v>
                </c:pt>
                <c:pt idx="789">
                  <c:v>2023-04-06</c:v>
                </c:pt>
                <c:pt idx="790">
                  <c:v>2023-04-07</c:v>
                </c:pt>
                <c:pt idx="791">
                  <c:v>2023-04-10</c:v>
                </c:pt>
                <c:pt idx="792">
                  <c:v>2023-04-11</c:v>
                </c:pt>
                <c:pt idx="793">
                  <c:v>2023-04-12</c:v>
                </c:pt>
                <c:pt idx="794">
                  <c:v>2023-04-13</c:v>
                </c:pt>
                <c:pt idx="795">
                  <c:v>2023-04-14</c:v>
                </c:pt>
                <c:pt idx="796">
                  <c:v>2023-04-17</c:v>
                </c:pt>
                <c:pt idx="797">
                  <c:v>2023-04-18</c:v>
                </c:pt>
                <c:pt idx="798">
                  <c:v>2023-04-19</c:v>
                </c:pt>
                <c:pt idx="799">
                  <c:v>2023-04-20</c:v>
                </c:pt>
                <c:pt idx="800">
                  <c:v>2023-04-21</c:v>
                </c:pt>
                <c:pt idx="801">
                  <c:v>2023-04-24</c:v>
                </c:pt>
                <c:pt idx="802">
                  <c:v>2023-04-25</c:v>
                </c:pt>
                <c:pt idx="803">
                  <c:v>2023-04-26</c:v>
                </c:pt>
                <c:pt idx="804">
                  <c:v>2023-04-27</c:v>
                </c:pt>
                <c:pt idx="805">
                  <c:v>2023-04-28</c:v>
                </c:pt>
                <c:pt idx="806">
                  <c:v>2023-05-04</c:v>
                </c:pt>
                <c:pt idx="807">
                  <c:v>2023-05-05</c:v>
                </c:pt>
                <c:pt idx="808">
                  <c:v>2023-05-08</c:v>
                </c:pt>
                <c:pt idx="809">
                  <c:v>2023-05-09</c:v>
                </c:pt>
                <c:pt idx="810">
                  <c:v>2023-05-10</c:v>
                </c:pt>
                <c:pt idx="811">
                  <c:v>2023-05-11</c:v>
                </c:pt>
                <c:pt idx="812">
                  <c:v>2023-05-12</c:v>
                </c:pt>
                <c:pt idx="813">
                  <c:v>2023-05-15</c:v>
                </c:pt>
                <c:pt idx="814">
                  <c:v>2023-05-16</c:v>
                </c:pt>
                <c:pt idx="815">
                  <c:v>2023-05-17</c:v>
                </c:pt>
                <c:pt idx="816">
                  <c:v>2023-05-18</c:v>
                </c:pt>
                <c:pt idx="817">
                  <c:v>2023-05-19</c:v>
                </c:pt>
                <c:pt idx="818">
                  <c:v>2023-05-22</c:v>
                </c:pt>
                <c:pt idx="819">
                  <c:v>2023-05-23</c:v>
                </c:pt>
                <c:pt idx="820">
                  <c:v>2023-05-24</c:v>
                </c:pt>
                <c:pt idx="821">
                  <c:v>2023-05-25</c:v>
                </c:pt>
                <c:pt idx="822">
                  <c:v>2023-05-26</c:v>
                </c:pt>
                <c:pt idx="823">
                  <c:v>2023-05-29</c:v>
                </c:pt>
                <c:pt idx="824">
                  <c:v>2023-05-30</c:v>
                </c:pt>
                <c:pt idx="825">
                  <c:v>2023-05-31</c:v>
                </c:pt>
                <c:pt idx="826">
                  <c:v>2023-06-01</c:v>
                </c:pt>
                <c:pt idx="827">
                  <c:v>2023-06-02</c:v>
                </c:pt>
                <c:pt idx="828">
                  <c:v>2023-06-05</c:v>
                </c:pt>
                <c:pt idx="829">
                  <c:v>2023-06-06</c:v>
                </c:pt>
                <c:pt idx="830">
                  <c:v>2023-06-07</c:v>
                </c:pt>
                <c:pt idx="831">
                  <c:v>2023-06-08</c:v>
                </c:pt>
                <c:pt idx="832">
                  <c:v>2023-06-09</c:v>
                </c:pt>
                <c:pt idx="833">
                  <c:v>2023-06-12</c:v>
                </c:pt>
                <c:pt idx="834">
                  <c:v>2023-06-13</c:v>
                </c:pt>
                <c:pt idx="835">
                  <c:v>2023-06-14</c:v>
                </c:pt>
                <c:pt idx="836">
                  <c:v>2023-06-15</c:v>
                </c:pt>
                <c:pt idx="837">
                  <c:v>2023-06-16</c:v>
                </c:pt>
                <c:pt idx="838">
                  <c:v>2023-06-19</c:v>
                </c:pt>
                <c:pt idx="839">
                  <c:v>2023-06-20</c:v>
                </c:pt>
                <c:pt idx="840">
                  <c:v>2023-06-21</c:v>
                </c:pt>
                <c:pt idx="841">
                  <c:v>2023-06-26</c:v>
                </c:pt>
                <c:pt idx="842">
                  <c:v>2023-06-27</c:v>
                </c:pt>
                <c:pt idx="843">
                  <c:v>2023-06-28</c:v>
                </c:pt>
                <c:pt idx="844">
                  <c:v>2023-06-29</c:v>
                </c:pt>
                <c:pt idx="845">
                  <c:v>2023-06-30</c:v>
                </c:pt>
                <c:pt idx="846">
                  <c:v>2023-07-03</c:v>
                </c:pt>
                <c:pt idx="847">
                  <c:v>2023-07-04</c:v>
                </c:pt>
                <c:pt idx="848">
                  <c:v>2023-07-05</c:v>
                </c:pt>
                <c:pt idx="849">
                  <c:v>2023-07-06</c:v>
                </c:pt>
                <c:pt idx="850">
                  <c:v>2023-07-07</c:v>
                </c:pt>
                <c:pt idx="851">
                  <c:v>2023-07-10</c:v>
                </c:pt>
                <c:pt idx="852">
                  <c:v>2023-07-11</c:v>
                </c:pt>
                <c:pt idx="853">
                  <c:v>2023-07-12</c:v>
                </c:pt>
                <c:pt idx="854">
                  <c:v>2023-07-13</c:v>
                </c:pt>
                <c:pt idx="855">
                  <c:v>2023-07-14</c:v>
                </c:pt>
                <c:pt idx="856">
                  <c:v>2023-07-17</c:v>
                </c:pt>
                <c:pt idx="857">
                  <c:v>2023-07-18</c:v>
                </c:pt>
                <c:pt idx="858">
                  <c:v>2023-07-19</c:v>
                </c:pt>
                <c:pt idx="859">
                  <c:v>2023-07-20</c:v>
                </c:pt>
                <c:pt idx="860">
                  <c:v>2023-07-21</c:v>
                </c:pt>
                <c:pt idx="861">
                  <c:v>2023-07-24</c:v>
                </c:pt>
                <c:pt idx="862">
                  <c:v>2023-07-25</c:v>
                </c:pt>
                <c:pt idx="863">
                  <c:v>2023-07-26</c:v>
                </c:pt>
                <c:pt idx="864">
                  <c:v>2023-07-27</c:v>
                </c:pt>
                <c:pt idx="865">
                  <c:v>2023-07-28</c:v>
                </c:pt>
                <c:pt idx="866">
                  <c:v>2023-07-31</c:v>
                </c:pt>
                <c:pt idx="867">
                  <c:v>2023-08-01</c:v>
                </c:pt>
                <c:pt idx="868">
                  <c:v>2023-08-02</c:v>
                </c:pt>
                <c:pt idx="869">
                  <c:v>2023-08-03</c:v>
                </c:pt>
                <c:pt idx="870">
                  <c:v>2023-08-04</c:v>
                </c:pt>
                <c:pt idx="871">
                  <c:v>2023-08-07</c:v>
                </c:pt>
                <c:pt idx="872">
                  <c:v>2023-08-08</c:v>
                </c:pt>
                <c:pt idx="873">
                  <c:v>2023-08-09</c:v>
                </c:pt>
                <c:pt idx="874">
                  <c:v>2023-08-10</c:v>
                </c:pt>
                <c:pt idx="875">
                  <c:v>2023-08-11</c:v>
                </c:pt>
                <c:pt idx="876">
                  <c:v>2023-08-14</c:v>
                </c:pt>
                <c:pt idx="877">
                  <c:v>2023-08-15</c:v>
                </c:pt>
                <c:pt idx="878">
                  <c:v>2023-08-16</c:v>
                </c:pt>
                <c:pt idx="879">
                  <c:v>2023-08-17</c:v>
                </c:pt>
                <c:pt idx="880">
                  <c:v>2023-08-18</c:v>
                </c:pt>
                <c:pt idx="881">
                  <c:v>2023-08-21</c:v>
                </c:pt>
                <c:pt idx="882">
                  <c:v>2023-08-22</c:v>
                </c:pt>
                <c:pt idx="883">
                  <c:v>2023-08-23</c:v>
                </c:pt>
                <c:pt idx="884">
                  <c:v>2023-08-24</c:v>
                </c:pt>
                <c:pt idx="885">
                  <c:v>2023-08-25</c:v>
                </c:pt>
                <c:pt idx="886">
                  <c:v>2023-08-28</c:v>
                </c:pt>
                <c:pt idx="887">
                  <c:v>2023-08-29</c:v>
                </c:pt>
                <c:pt idx="888">
                  <c:v>2023-08-30</c:v>
                </c:pt>
                <c:pt idx="889">
                  <c:v>2023-08-31</c:v>
                </c:pt>
                <c:pt idx="890">
                  <c:v>2023-09-01</c:v>
                </c:pt>
                <c:pt idx="891">
                  <c:v>2023-09-04</c:v>
                </c:pt>
                <c:pt idx="892">
                  <c:v>2023-09-05</c:v>
                </c:pt>
                <c:pt idx="893">
                  <c:v>2023-09-06</c:v>
                </c:pt>
                <c:pt idx="894">
                  <c:v>2023-09-07</c:v>
                </c:pt>
                <c:pt idx="895">
                  <c:v>2023-09-08</c:v>
                </c:pt>
                <c:pt idx="896">
                  <c:v>2023-09-11</c:v>
                </c:pt>
                <c:pt idx="897">
                  <c:v>2023-09-12</c:v>
                </c:pt>
                <c:pt idx="898">
                  <c:v>2023-09-13</c:v>
                </c:pt>
                <c:pt idx="899">
                  <c:v>2023-09-14</c:v>
                </c:pt>
                <c:pt idx="900">
                  <c:v>2023-09-15</c:v>
                </c:pt>
                <c:pt idx="901">
                  <c:v>2023-09-18</c:v>
                </c:pt>
                <c:pt idx="902">
                  <c:v>2023-09-19</c:v>
                </c:pt>
                <c:pt idx="903">
                  <c:v>2023-09-20</c:v>
                </c:pt>
                <c:pt idx="904">
                  <c:v>2023-09-21</c:v>
                </c:pt>
                <c:pt idx="905">
                  <c:v>2023-09-22</c:v>
                </c:pt>
                <c:pt idx="906">
                  <c:v>2023-09-25</c:v>
                </c:pt>
                <c:pt idx="907">
                  <c:v>2023-09-26</c:v>
                </c:pt>
                <c:pt idx="908">
                  <c:v>2023-09-27</c:v>
                </c:pt>
                <c:pt idx="909">
                  <c:v>2023-09-28</c:v>
                </c:pt>
                <c:pt idx="910">
                  <c:v>2023-10-09</c:v>
                </c:pt>
                <c:pt idx="911">
                  <c:v>2023-10-10</c:v>
                </c:pt>
                <c:pt idx="912">
                  <c:v>2023-10-11</c:v>
                </c:pt>
                <c:pt idx="913">
                  <c:v>2023-10-12</c:v>
                </c:pt>
                <c:pt idx="914">
                  <c:v>2023-10-13</c:v>
                </c:pt>
                <c:pt idx="915">
                  <c:v>2023-10-16</c:v>
                </c:pt>
                <c:pt idx="916">
                  <c:v>2023-10-17</c:v>
                </c:pt>
                <c:pt idx="917">
                  <c:v>2023-10-18</c:v>
                </c:pt>
                <c:pt idx="918">
                  <c:v>2023-10-19</c:v>
                </c:pt>
                <c:pt idx="919">
                  <c:v>2023-10-20</c:v>
                </c:pt>
                <c:pt idx="920">
                  <c:v>2023-10-23</c:v>
                </c:pt>
                <c:pt idx="921">
                  <c:v>2023-10-24</c:v>
                </c:pt>
                <c:pt idx="922">
                  <c:v>2023-10-25</c:v>
                </c:pt>
                <c:pt idx="923">
                  <c:v>2023-10-26</c:v>
                </c:pt>
                <c:pt idx="924">
                  <c:v>2023-10-27</c:v>
                </c:pt>
                <c:pt idx="925">
                  <c:v>2023-10-30</c:v>
                </c:pt>
                <c:pt idx="926">
                  <c:v>2023-10-31</c:v>
                </c:pt>
                <c:pt idx="927">
                  <c:v>2023-11-01</c:v>
                </c:pt>
                <c:pt idx="928">
                  <c:v>2023-11-02</c:v>
                </c:pt>
                <c:pt idx="929">
                  <c:v>2023-11-03</c:v>
                </c:pt>
                <c:pt idx="930">
                  <c:v>2023-11-06</c:v>
                </c:pt>
                <c:pt idx="931">
                  <c:v>2023-11-07</c:v>
                </c:pt>
                <c:pt idx="932">
                  <c:v>2023-11-08</c:v>
                </c:pt>
                <c:pt idx="933">
                  <c:v>2023-11-09</c:v>
                </c:pt>
                <c:pt idx="934">
                  <c:v>2023-11-10</c:v>
                </c:pt>
                <c:pt idx="935">
                  <c:v>2023-11-13</c:v>
                </c:pt>
                <c:pt idx="936">
                  <c:v>2023-11-14</c:v>
                </c:pt>
                <c:pt idx="937">
                  <c:v>2023-11-15</c:v>
                </c:pt>
                <c:pt idx="938">
                  <c:v>2023-11-16</c:v>
                </c:pt>
                <c:pt idx="939">
                  <c:v>2023-11-17</c:v>
                </c:pt>
                <c:pt idx="940">
                  <c:v>2023-11-20</c:v>
                </c:pt>
                <c:pt idx="941">
                  <c:v>2023-11-21</c:v>
                </c:pt>
                <c:pt idx="942">
                  <c:v>2023-11-22</c:v>
                </c:pt>
                <c:pt idx="943">
                  <c:v>2023-11-23</c:v>
                </c:pt>
                <c:pt idx="944">
                  <c:v>2023-11-24</c:v>
                </c:pt>
                <c:pt idx="945">
                  <c:v>2023-11-27</c:v>
                </c:pt>
                <c:pt idx="946">
                  <c:v>2023-11-28</c:v>
                </c:pt>
                <c:pt idx="947">
                  <c:v>2023-11-29</c:v>
                </c:pt>
                <c:pt idx="948">
                  <c:v>2023-11-30</c:v>
                </c:pt>
                <c:pt idx="949">
                  <c:v>2023-12-01</c:v>
                </c:pt>
                <c:pt idx="950">
                  <c:v>2023-12-04</c:v>
                </c:pt>
                <c:pt idx="951">
                  <c:v>2023-12-05</c:v>
                </c:pt>
                <c:pt idx="952">
                  <c:v>2023-12-06</c:v>
                </c:pt>
                <c:pt idx="953">
                  <c:v>2023-12-07</c:v>
                </c:pt>
                <c:pt idx="954">
                  <c:v>2023-12-08</c:v>
                </c:pt>
                <c:pt idx="955">
                  <c:v>2023-12-11</c:v>
                </c:pt>
                <c:pt idx="956">
                  <c:v>2023-12-12</c:v>
                </c:pt>
                <c:pt idx="957">
                  <c:v>2023-12-13</c:v>
                </c:pt>
                <c:pt idx="958">
                  <c:v>2023-12-14</c:v>
                </c:pt>
                <c:pt idx="959">
                  <c:v>2023-12-15</c:v>
                </c:pt>
                <c:pt idx="960">
                  <c:v>2023-12-18</c:v>
                </c:pt>
                <c:pt idx="961">
                  <c:v>2023-12-19</c:v>
                </c:pt>
                <c:pt idx="962">
                  <c:v>2023-12-20</c:v>
                </c:pt>
                <c:pt idx="963">
                  <c:v>2023-12-21</c:v>
                </c:pt>
                <c:pt idx="964">
                  <c:v>2023-12-22</c:v>
                </c:pt>
                <c:pt idx="965">
                  <c:v>2023-12-25</c:v>
                </c:pt>
                <c:pt idx="966">
                  <c:v>2023-12-26</c:v>
                </c:pt>
                <c:pt idx="967">
                  <c:v>2023-12-27</c:v>
                </c:pt>
                <c:pt idx="968">
                  <c:v>2023-12-28</c:v>
                </c:pt>
                <c:pt idx="969">
                  <c:v>2023-12-29</c:v>
                </c:pt>
                <c:pt idx="970">
                  <c:v>2024-01-02</c:v>
                </c:pt>
                <c:pt idx="971">
                  <c:v>2024-01-03</c:v>
                </c:pt>
                <c:pt idx="972">
                  <c:v>2024-01-04</c:v>
                </c:pt>
                <c:pt idx="973">
                  <c:v>2024-01-05</c:v>
                </c:pt>
                <c:pt idx="974">
                  <c:v>2024-01-08</c:v>
                </c:pt>
                <c:pt idx="975">
                  <c:v>2024-01-09</c:v>
                </c:pt>
                <c:pt idx="976">
                  <c:v>2024-01-10</c:v>
                </c:pt>
                <c:pt idx="977">
                  <c:v>2024-01-11</c:v>
                </c:pt>
                <c:pt idx="978">
                  <c:v>2024-01-12</c:v>
                </c:pt>
                <c:pt idx="979">
                  <c:v>2024-01-15</c:v>
                </c:pt>
                <c:pt idx="980">
                  <c:v>2024-01-16</c:v>
                </c:pt>
                <c:pt idx="981">
                  <c:v>2024-01-17</c:v>
                </c:pt>
                <c:pt idx="982">
                  <c:v>2024-01-18</c:v>
                </c:pt>
                <c:pt idx="983">
                  <c:v>2024-01-19</c:v>
                </c:pt>
                <c:pt idx="984">
                  <c:v>2024-01-22</c:v>
                </c:pt>
                <c:pt idx="985">
                  <c:v>2024-01-23</c:v>
                </c:pt>
                <c:pt idx="986">
                  <c:v>2024-01-24</c:v>
                </c:pt>
                <c:pt idx="987">
                  <c:v>2024-01-25</c:v>
                </c:pt>
                <c:pt idx="988">
                  <c:v>2024-01-26</c:v>
                </c:pt>
                <c:pt idx="989">
                  <c:v>2024-01-29</c:v>
                </c:pt>
                <c:pt idx="990">
                  <c:v>2024-01-30</c:v>
                </c:pt>
                <c:pt idx="991">
                  <c:v>2024-01-31</c:v>
                </c:pt>
                <c:pt idx="992">
                  <c:v>2024-02-01</c:v>
                </c:pt>
                <c:pt idx="993">
                  <c:v>2024-02-02</c:v>
                </c:pt>
                <c:pt idx="994">
                  <c:v>2024-02-05</c:v>
                </c:pt>
                <c:pt idx="995">
                  <c:v>2024-02-06</c:v>
                </c:pt>
                <c:pt idx="996">
                  <c:v>2024-02-07</c:v>
                </c:pt>
                <c:pt idx="997">
                  <c:v>2024-02-08</c:v>
                </c:pt>
                <c:pt idx="998">
                  <c:v>2024-02-19</c:v>
                </c:pt>
                <c:pt idx="999">
                  <c:v>2024-02-20</c:v>
                </c:pt>
                <c:pt idx="1000">
                  <c:v>2024-02-21</c:v>
                </c:pt>
                <c:pt idx="1001">
                  <c:v>2024-02-22</c:v>
                </c:pt>
                <c:pt idx="1002">
                  <c:v>2024-02-23</c:v>
                </c:pt>
                <c:pt idx="1003">
                  <c:v>2024-02-26</c:v>
                </c:pt>
                <c:pt idx="1004">
                  <c:v>2024-02-27</c:v>
                </c:pt>
                <c:pt idx="1005">
                  <c:v>2024-02-28</c:v>
                </c:pt>
                <c:pt idx="1006">
                  <c:v>2024-02-29</c:v>
                </c:pt>
                <c:pt idx="1007">
                  <c:v>2024-03-01</c:v>
                </c:pt>
                <c:pt idx="1008">
                  <c:v>2024-03-04</c:v>
                </c:pt>
                <c:pt idx="1009">
                  <c:v>2024-03-05</c:v>
                </c:pt>
                <c:pt idx="1010">
                  <c:v>2024-03-06</c:v>
                </c:pt>
                <c:pt idx="1011">
                  <c:v>2024-03-07</c:v>
                </c:pt>
                <c:pt idx="1012">
                  <c:v>2024-03-08</c:v>
                </c:pt>
                <c:pt idx="1013">
                  <c:v>2024-03-11</c:v>
                </c:pt>
                <c:pt idx="1014">
                  <c:v>2024-03-12</c:v>
                </c:pt>
                <c:pt idx="1015">
                  <c:v>2024-03-13</c:v>
                </c:pt>
                <c:pt idx="1016">
                  <c:v>2024-03-14</c:v>
                </c:pt>
                <c:pt idx="1017">
                  <c:v>2024-03-15</c:v>
                </c:pt>
                <c:pt idx="1018">
                  <c:v>2024-03-18</c:v>
                </c:pt>
                <c:pt idx="1019">
                  <c:v>2024-03-19</c:v>
                </c:pt>
                <c:pt idx="1020">
                  <c:v>2024-03-20</c:v>
                </c:pt>
                <c:pt idx="1021">
                  <c:v>2024-03-21</c:v>
                </c:pt>
                <c:pt idx="1022">
                  <c:v>2024-03-22</c:v>
                </c:pt>
                <c:pt idx="1023">
                  <c:v>2024-03-25</c:v>
                </c:pt>
                <c:pt idx="1024">
                  <c:v>2024-03-26</c:v>
                </c:pt>
                <c:pt idx="1025">
                  <c:v>2024-03-27</c:v>
                </c:pt>
                <c:pt idx="1026">
                  <c:v>2024-03-28</c:v>
                </c:pt>
                <c:pt idx="1027">
                  <c:v>2024-03-29</c:v>
                </c:pt>
                <c:pt idx="1028">
                  <c:v>2024-04-01</c:v>
                </c:pt>
                <c:pt idx="1029">
                  <c:v>2024-04-02</c:v>
                </c:pt>
                <c:pt idx="1030">
                  <c:v>2024-04-03</c:v>
                </c:pt>
                <c:pt idx="1031">
                  <c:v>2024-04-08</c:v>
                </c:pt>
                <c:pt idx="1032">
                  <c:v>2024-04-09</c:v>
                </c:pt>
                <c:pt idx="1033">
                  <c:v>2024-04-10</c:v>
                </c:pt>
                <c:pt idx="1034">
                  <c:v>2024-04-11</c:v>
                </c:pt>
                <c:pt idx="1035">
                  <c:v>2024-04-12</c:v>
                </c:pt>
                <c:pt idx="1036">
                  <c:v>2024-04-15</c:v>
                </c:pt>
                <c:pt idx="1037">
                  <c:v>2024-04-16</c:v>
                </c:pt>
                <c:pt idx="1038">
                  <c:v>2024-04-17</c:v>
                </c:pt>
                <c:pt idx="1039">
                  <c:v>2024-04-18</c:v>
                </c:pt>
                <c:pt idx="1040">
                  <c:v>2024-04-19</c:v>
                </c:pt>
                <c:pt idx="1041">
                  <c:v>2024-04-22</c:v>
                </c:pt>
                <c:pt idx="1042">
                  <c:v>2024-04-23</c:v>
                </c:pt>
                <c:pt idx="1043">
                  <c:v>2024-04-24</c:v>
                </c:pt>
                <c:pt idx="1044">
                  <c:v>2024-04-25</c:v>
                </c:pt>
                <c:pt idx="1045">
                  <c:v>2024-04-26</c:v>
                </c:pt>
                <c:pt idx="1046">
                  <c:v>2024-04-29</c:v>
                </c:pt>
                <c:pt idx="1047">
                  <c:v>2024-04-30</c:v>
                </c:pt>
                <c:pt idx="1048">
                  <c:v>2024-05-06</c:v>
                </c:pt>
                <c:pt idx="1049">
                  <c:v>2024-05-07</c:v>
                </c:pt>
                <c:pt idx="1050">
                  <c:v>2024-05-08</c:v>
                </c:pt>
                <c:pt idx="1051">
                  <c:v>2024-05-09</c:v>
                </c:pt>
                <c:pt idx="1052">
                  <c:v>2024-05-10</c:v>
                </c:pt>
                <c:pt idx="1053">
                  <c:v>2024-05-13</c:v>
                </c:pt>
                <c:pt idx="1054">
                  <c:v>2024-05-14</c:v>
                </c:pt>
                <c:pt idx="1055">
                  <c:v>2024-05-15</c:v>
                </c:pt>
                <c:pt idx="1056">
                  <c:v>2024-05-16</c:v>
                </c:pt>
                <c:pt idx="1057">
                  <c:v>2024-05-17</c:v>
                </c:pt>
                <c:pt idx="1058">
                  <c:v>2024-05-20</c:v>
                </c:pt>
                <c:pt idx="1059">
                  <c:v>2024-05-21</c:v>
                </c:pt>
                <c:pt idx="1060">
                  <c:v>2024-05-22</c:v>
                </c:pt>
                <c:pt idx="1061">
                  <c:v>2024-05-23</c:v>
                </c:pt>
                <c:pt idx="1062">
                  <c:v>2024-05-24</c:v>
                </c:pt>
                <c:pt idx="1063">
                  <c:v>2024-05-27</c:v>
                </c:pt>
                <c:pt idx="1064">
                  <c:v>2024-05-28</c:v>
                </c:pt>
                <c:pt idx="1065">
                  <c:v>2024-05-29</c:v>
                </c:pt>
                <c:pt idx="1066">
                  <c:v>2024-05-30</c:v>
                </c:pt>
                <c:pt idx="1067">
                  <c:v>2024-05-31</c:v>
                </c:pt>
                <c:pt idx="1068">
                  <c:v>2024-06-03</c:v>
                </c:pt>
                <c:pt idx="1069">
                  <c:v>2024-06-04</c:v>
                </c:pt>
                <c:pt idx="1070">
                  <c:v>2024-06-05</c:v>
                </c:pt>
                <c:pt idx="1071">
                  <c:v>2024-06-06</c:v>
                </c:pt>
                <c:pt idx="1072">
                  <c:v>2024-06-07</c:v>
                </c:pt>
                <c:pt idx="1073">
                  <c:v>2024-06-11</c:v>
                </c:pt>
                <c:pt idx="1074">
                  <c:v>2024-06-12</c:v>
                </c:pt>
                <c:pt idx="1075">
                  <c:v>2024-06-13</c:v>
                </c:pt>
                <c:pt idx="1076">
                  <c:v>2024-06-14</c:v>
                </c:pt>
                <c:pt idx="1077">
                  <c:v>2024-06-17</c:v>
                </c:pt>
                <c:pt idx="1078">
                  <c:v>2024-06-18</c:v>
                </c:pt>
                <c:pt idx="1079">
                  <c:v>2024-06-19</c:v>
                </c:pt>
                <c:pt idx="1080">
                  <c:v>2024-06-20</c:v>
                </c:pt>
                <c:pt idx="1081">
                  <c:v>2024-06-21</c:v>
                </c:pt>
                <c:pt idx="1082">
                  <c:v>2024-06-24</c:v>
                </c:pt>
                <c:pt idx="1083">
                  <c:v>2024-06-25</c:v>
                </c:pt>
                <c:pt idx="1084">
                  <c:v>2024-06-26</c:v>
                </c:pt>
                <c:pt idx="1085">
                  <c:v>2024-06-27</c:v>
                </c:pt>
                <c:pt idx="1086">
                  <c:v>2024-06-28</c:v>
                </c:pt>
                <c:pt idx="1087">
                  <c:v>2024-07-01</c:v>
                </c:pt>
                <c:pt idx="1088">
                  <c:v>2024-07-02</c:v>
                </c:pt>
                <c:pt idx="1089">
                  <c:v>2024-07-03</c:v>
                </c:pt>
                <c:pt idx="1090">
                  <c:v>2024-07-04</c:v>
                </c:pt>
                <c:pt idx="1091">
                  <c:v>2024-07-05</c:v>
                </c:pt>
                <c:pt idx="1092">
                  <c:v>2024-07-08</c:v>
                </c:pt>
                <c:pt idx="1093">
                  <c:v>2024-07-09</c:v>
                </c:pt>
                <c:pt idx="1094">
                  <c:v>2024-07-10</c:v>
                </c:pt>
                <c:pt idx="1095">
                  <c:v>2024-07-11</c:v>
                </c:pt>
                <c:pt idx="1096">
                  <c:v>2024-07-12</c:v>
                </c:pt>
                <c:pt idx="1097">
                  <c:v>2024-07-15</c:v>
                </c:pt>
                <c:pt idx="1098">
                  <c:v>2024-07-16</c:v>
                </c:pt>
                <c:pt idx="1099">
                  <c:v>2024-07-17</c:v>
                </c:pt>
                <c:pt idx="1100">
                  <c:v>2024-07-18</c:v>
                </c:pt>
                <c:pt idx="1101">
                  <c:v>2024-07-19</c:v>
                </c:pt>
                <c:pt idx="1102">
                  <c:v>2024-07-22</c:v>
                </c:pt>
                <c:pt idx="1103">
                  <c:v>2024-07-23</c:v>
                </c:pt>
                <c:pt idx="1104">
                  <c:v>2024-07-24</c:v>
                </c:pt>
                <c:pt idx="1105">
                  <c:v>2024-07-25</c:v>
                </c:pt>
                <c:pt idx="1106">
                  <c:v>2024-07-26</c:v>
                </c:pt>
                <c:pt idx="1107">
                  <c:v>2024-07-29</c:v>
                </c:pt>
                <c:pt idx="1108">
                  <c:v>2024-07-30</c:v>
                </c:pt>
                <c:pt idx="1109">
                  <c:v>2024-07-31</c:v>
                </c:pt>
                <c:pt idx="1110">
                  <c:v>2024-08-01</c:v>
                </c:pt>
                <c:pt idx="1111">
                  <c:v>2024-08-02</c:v>
                </c:pt>
                <c:pt idx="1112">
                  <c:v>2024-08-05</c:v>
                </c:pt>
                <c:pt idx="1113">
                  <c:v>2024-08-06</c:v>
                </c:pt>
                <c:pt idx="1114">
                  <c:v>2024-08-07</c:v>
                </c:pt>
                <c:pt idx="1115">
                  <c:v>2024-08-08</c:v>
                </c:pt>
                <c:pt idx="1116">
                  <c:v>2024-08-09</c:v>
                </c:pt>
                <c:pt idx="1117">
                  <c:v>2024-08-12</c:v>
                </c:pt>
                <c:pt idx="1118">
                  <c:v>2024-08-13</c:v>
                </c:pt>
                <c:pt idx="1119">
                  <c:v>2024-08-14</c:v>
                </c:pt>
                <c:pt idx="1120">
                  <c:v>2024-08-15</c:v>
                </c:pt>
                <c:pt idx="1121">
                  <c:v>2024-08-16</c:v>
                </c:pt>
                <c:pt idx="1122">
                  <c:v>2024-08-19</c:v>
                </c:pt>
                <c:pt idx="1123">
                  <c:v>2024-08-20</c:v>
                </c:pt>
                <c:pt idx="1124">
                  <c:v>2024-08-21</c:v>
                </c:pt>
                <c:pt idx="1125">
                  <c:v>2024-08-22</c:v>
                </c:pt>
                <c:pt idx="1126">
                  <c:v>2024-08-23</c:v>
                </c:pt>
                <c:pt idx="1127">
                  <c:v>2024-08-26</c:v>
                </c:pt>
                <c:pt idx="1128">
                  <c:v>2024-08-27</c:v>
                </c:pt>
                <c:pt idx="1129">
                  <c:v>2024-08-28</c:v>
                </c:pt>
                <c:pt idx="1130">
                  <c:v>2024-08-29</c:v>
                </c:pt>
                <c:pt idx="1131">
                  <c:v>2024-08-30</c:v>
                </c:pt>
                <c:pt idx="1132">
                  <c:v>2024-09-02</c:v>
                </c:pt>
                <c:pt idx="1133">
                  <c:v>2024-09-03</c:v>
                </c:pt>
                <c:pt idx="1134">
                  <c:v>2024-09-04</c:v>
                </c:pt>
                <c:pt idx="1135">
                  <c:v>2024-09-05</c:v>
                </c:pt>
                <c:pt idx="1136">
                  <c:v>2024-09-06</c:v>
                </c:pt>
                <c:pt idx="1137">
                  <c:v>2024-09-09</c:v>
                </c:pt>
                <c:pt idx="1138">
                  <c:v>2024-09-10</c:v>
                </c:pt>
                <c:pt idx="1139">
                  <c:v>2024-09-11</c:v>
                </c:pt>
                <c:pt idx="1140">
                  <c:v>2024-09-12</c:v>
                </c:pt>
                <c:pt idx="1141">
                  <c:v>2024-09-13</c:v>
                </c:pt>
                <c:pt idx="1142">
                  <c:v>2024-09-18</c:v>
                </c:pt>
                <c:pt idx="1143">
                  <c:v>2024-09-19</c:v>
                </c:pt>
                <c:pt idx="1144">
                  <c:v>2024-09-20</c:v>
                </c:pt>
                <c:pt idx="1145">
                  <c:v>2024-09-23</c:v>
                </c:pt>
                <c:pt idx="1146">
                  <c:v>2024-09-24</c:v>
                </c:pt>
                <c:pt idx="1147">
                  <c:v>2024-09-25</c:v>
                </c:pt>
                <c:pt idx="1148">
                  <c:v>2024-09-26</c:v>
                </c:pt>
                <c:pt idx="1149">
                  <c:v>2024-09-27</c:v>
                </c:pt>
                <c:pt idx="1150">
                  <c:v>2024-09-30</c:v>
                </c:pt>
                <c:pt idx="1151">
                  <c:v>2024-10-08</c:v>
                </c:pt>
                <c:pt idx="1152">
                  <c:v>2024-10-09</c:v>
                </c:pt>
                <c:pt idx="1153">
                  <c:v>2024-10-10</c:v>
                </c:pt>
                <c:pt idx="1154">
                  <c:v>2024-10-11</c:v>
                </c:pt>
                <c:pt idx="1155">
                  <c:v>2024-10-14</c:v>
                </c:pt>
                <c:pt idx="1156">
                  <c:v>2024-10-15</c:v>
                </c:pt>
                <c:pt idx="1157">
                  <c:v>2024-10-16</c:v>
                </c:pt>
                <c:pt idx="1158">
                  <c:v>2024-10-17</c:v>
                </c:pt>
                <c:pt idx="1159">
                  <c:v>2024-10-18</c:v>
                </c:pt>
                <c:pt idx="1160">
                  <c:v>2024-10-21</c:v>
                </c:pt>
                <c:pt idx="1161">
                  <c:v>2024-10-22</c:v>
                </c:pt>
                <c:pt idx="1162">
                  <c:v>2024-10-23</c:v>
                </c:pt>
                <c:pt idx="1163">
                  <c:v>2024-10-24</c:v>
                </c:pt>
                <c:pt idx="1164">
                  <c:v>2024-10-25</c:v>
                </c:pt>
                <c:pt idx="1165">
                  <c:v>2024-10-28</c:v>
                </c:pt>
                <c:pt idx="1166">
                  <c:v>2024-10-29</c:v>
                </c:pt>
                <c:pt idx="1167">
                  <c:v>2024-10-30</c:v>
                </c:pt>
                <c:pt idx="1168">
                  <c:v>2024-10-31</c:v>
                </c:pt>
                <c:pt idx="1169">
                  <c:v>2024-11-01</c:v>
                </c:pt>
                <c:pt idx="1170">
                  <c:v>2024-11-04</c:v>
                </c:pt>
                <c:pt idx="1171">
                  <c:v>2024-11-05</c:v>
                </c:pt>
                <c:pt idx="1172">
                  <c:v>2024-11-06</c:v>
                </c:pt>
                <c:pt idx="1173">
                  <c:v>2024-11-07</c:v>
                </c:pt>
                <c:pt idx="1174">
                  <c:v>2024-11-08</c:v>
                </c:pt>
                <c:pt idx="1175">
                  <c:v>2024-11-11</c:v>
                </c:pt>
                <c:pt idx="1176">
                  <c:v>2024-11-12</c:v>
                </c:pt>
                <c:pt idx="1177">
                  <c:v>2024-11-13</c:v>
                </c:pt>
                <c:pt idx="1178">
                  <c:v>2024-11-14</c:v>
                </c:pt>
                <c:pt idx="1179">
                  <c:v>2024-11-15</c:v>
                </c:pt>
                <c:pt idx="1180">
                  <c:v>2024-11-18</c:v>
                </c:pt>
                <c:pt idx="1181">
                  <c:v>2024-11-19</c:v>
                </c:pt>
                <c:pt idx="1182">
                  <c:v>2024-11-20</c:v>
                </c:pt>
                <c:pt idx="1183">
                  <c:v>2024-11-21</c:v>
                </c:pt>
                <c:pt idx="1184">
                  <c:v>2024-11-22</c:v>
                </c:pt>
                <c:pt idx="1185">
                  <c:v>2024-11-25</c:v>
                </c:pt>
                <c:pt idx="1186">
                  <c:v>2024-11-26</c:v>
                </c:pt>
                <c:pt idx="1187">
                  <c:v>2024-11-27</c:v>
                </c:pt>
                <c:pt idx="1188">
                  <c:v>2024-11-28</c:v>
                </c:pt>
                <c:pt idx="1189">
                  <c:v>2024-11-29</c:v>
                </c:pt>
                <c:pt idx="1190">
                  <c:v>2024-12-02</c:v>
                </c:pt>
                <c:pt idx="1191">
                  <c:v>2024-12-03</c:v>
                </c:pt>
                <c:pt idx="1192">
                  <c:v>2024-12-04</c:v>
                </c:pt>
                <c:pt idx="1193">
                  <c:v>2024-12-05</c:v>
                </c:pt>
                <c:pt idx="1194">
                  <c:v>2024-12-06</c:v>
                </c:pt>
                <c:pt idx="1195">
                  <c:v>2024-12-09</c:v>
                </c:pt>
                <c:pt idx="1196">
                  <c:v>2024-12-10</c:v>
                </c:pt>
                <c:pt idx="1197">
                  <c:v>2024-12-11</c:v>
                </c:pt>
                <c:pt idx="1198">
                  <c:v>2024-12-12</c:v>
                </c:pt>
                <c:pt idx="1199">
                  <c:v>2024-12-13</c:v>
                </c:pt>
                <c:pt idx="1200">
                  <c:v>2024-12-16</c:v>
                </c:pt>
                <c:pt idx="1201">
                  <c:v>2024-12-17</c:v>
                </c:pt>
                <c:pt idx="1202">
                  <c:v>2024-12-18</c:v>
                </c:pt>
                <c:pt idx="1203">
                  <c:v>2024-12-19</c:v>
                </c:pt>
                <c:pt idx="1204">
                  <c:v>2024-12-20</c:v>
                </c:pt>
                <c:pt idx="1205">
                  <c:v>2024-12-23</c:v>
                </c:pt>
                <c:pt idx="1206">
                  <c:v>2024-12-24</c:v>
                </c:pt>
                <c:pt idx="1207">
                  <c:v>2024-12-25</c:v>
                </c:pt>
                <c:pt idx="1208">
                  <c:v>2024-12-26</c:v>
                </c:pt>
                <c:pt idx="1209">
                  <c:v>2024-12-27</c:v>
                </c:pt>
                <c:pt idx="1210">
                  <c:v>2024-12-30</c:v>
                </c:pt>
                <c:pt idx="1211">
                  <c:v>2024-12-31</c:v>
                </c:pt>
                <c:pt idx="1212">
                  <c:v>2025-01-02</c:v>
                </c:pt>
                <c:pt idx="1213">
                  <c:v>2025-01-03</c:v>
                </c:pt>
                <c:pt idx="1214">
                  <c:v>2025-01-06</c:v>
                </c:pt>
                <c:pt idx="1215">
                  <c:v>2025-01-07</c:v>
                </c:pt>
                <c:pt idx="1216">
                  <c:v>2025-01-08</c:v>
                </c:pt>
                <c:pt idx="1217">
                  <c:v>2025-01-09</c:v>
                </c:pt>
                <c:pt idx="1218">
                  <c:v>2025-01-10</c:v>
                </c:pt>
                <c:pt idx="1219">
                  <c:v>2025-01-13</c:v>
                </c:pt>
                <c:pt idx="1220">
                  <c:v>2025-01-14</c:v>
                </c:pt>
                <c:pt idx="1221">
                  <c:v>2025-01-15</c:v>
                </c:pt>
                <c:pt idx="1222">
                  <c:v>2025-01-16</c:v>
                </c:pt>
                <c:pt idx="1223">
                  <c:v>2025-01-17</c:v>
                </c:pt>
                <c:pt idx="1224">
                  <c:v>2025-01-20</c:v>
                </c:pt>
                <c:pt idx="1225">
                  <c:v>2025-01-21</c:v>
                </c:pt>
                <c:pt idx="1226">
                  <c:v>2025-01-22</c:v>
                </c:pt>
                <c:pt idx="1227">
                  <c:v>2025-01-23</c:v>
                </c:pt>
                <c:pt idx="1228">
                  <c:v>2025-01-24</c:v>
                </c:pt>
                <c:pt idx="1229">
                  <c:v>2025-01-27</c:v>
                </c:pt>
                <c:pt idx="1230">
                  <c:v>2025-02-05</c:v>
                </c:pt>
                <c:pt idx="1231">
                  <c:v>2025-02-06</c:v>
                </c:pt>
                <c:pt idx="1232">
                  <c:v>2025-02-07</c:v>
                </c:pt>
                <c:pt idx="1233">
                  <c:v>2025-02-10</c:v>
                </c:pt>
                <c:pt idx="1234">
                  <c:v>2025-02-11</c:v>
                </c:pt>
                <c:pt idx="1235">
                  <c:v>2025-02-12</c:v>
                </c:pt>
                <c:pt idx="1236">
                  <c:v>2025-02-13</c:v>
                </c:pt>
                <c:pt idx="1237">
                  <c:v>2025-02-14</c:v>
                </c:pt>
                <c:pt idx="1238">
                  <c:v>2025-02-17</c:v>
                </c:pt>
                <c:pt idx="1239">
                  <c:v>2025-02-18</c:v>
                </c:pt>
                <c:pt idx="1240">
                  <c:v>2025-02-19</c:v>
                </c:pt>
                <c:pt idx="1241">
                  <c:v>2025-02-20</c:v>
                </c:pt>
                <c:pt idx="1242">
                  <c:v>2025-02-21</c:v>
                </c:pt>
                <c:pt idx="1243">
                  <c:v>2025-02-24</c:v>
                </c:pt>
                <c:pt idx="1244">
                  <c:v>2025-02-25</c:v>
                </c:pt>
                <c:pt idx="1245">
                  <c:v>2025-02-26</c:v>
                </c:pt>
                <c:pt idx="1246">
                  <c:v>2025-02-27</c:v>
                </c:pt>
                <c:pt idx="1247">
                  <c:v>2025-02-28</c:v>
                </c:pt>
                <c:pt idx="1248">
                  <c:v>2025-03-03</c:v>
                </c:pt>
                <c:pt idx="1249">
                  <c:v>2025-03-04</c:v>
                </c:pt>
                <c:pt idx="1250">
                  <c:v>2025-03-05</c:v>
                </c:pt>
                <c:pt idx="1251">
                  <c:v>2025-03-06</c:v>
                </c:pt>
                <c:pt idx="1252">
                  <c:v>2025-03-07</c:v>
                </c:pt>
                <c:pt idx="1253">
                  <c:v>2025-03-10</c:v>
                </c:pt>
                <c:pt idx="1254">
                  <c:v>2025-03-11</c:v>
                </c:pt>
                <c:pt idx="1255">
                  <c:v>2025-03-12</c:v>
                </c:pt>
                <c:pt idx="1256">
                  <c:v>2025-03-13</c:v>
                </c:pt>
                <c:pt idx="1257">
                  <c:v>2025-03-14</c:v>
                </c:pt>
                <c:pt idx="1258">
                  <c:v>2025-03-17</c:v>
                </c:pt>
                <c:pt idx="1259">
                  <c:v>2025-03-18</c:v>
                </c:pt>
                <c:pt idx="1260">
                  <c:v>2025-03-19</c:v>
                </c:pt>
                <c:pt idx="1261">
                  <c:v>2025-03-20</c:v>
                </c:pt>
                <c:pt idx="1262">
                  <c:v>2025-03-21</c:v>
                </c:pt>
                <c:pt idx="1263">
                  <c:v>2025-03-24</c:v>
                </c:pt>
                <c:pt idx="1264">
                  <c:v>2025-03-25</c:v>
                </c:pt>
                <c:pt idx="1265">
                  <c:v>2025-03-26</c:v>
                </c:pt>
                <c:pt idx="1266">
                  <c:v>2025-03-27</c:v>
                </c:pt>
                <c:pt idx="1267">
                  <c:v>2025-03-28</c:v>
                </c:pt>
                <c:pt idx="1268">
                  <c:v>2025-03-31</c:v>
                </c:pt>
                <c:pt idx="1269">
                  <c:v>2025-04-01</c:v>
                </c:pt>
                <c:pt idx="1270">
                  <c:v>2025-04-02</c:v>
                </c:pt>
                <c:pt idx="1271">
                  <c:v>2025-04-03</c:v>
                </c:pt>
                <c:pt idx="1272">
                  <c:v>2025-04-07</c:v>
                </c:pt>
                <c:pt idx="1273">
                  <c:v>2025-04-08</c:v>
                </c:pt>
                <c:pt idx="1274">
                  <c:v>2025-04-09</c:v>
                </c:pt>
                <c:pt idx="1275">
                  <c:v>2025-04-10</c:v>
                </c:pt>
                <c:pt idx="1276">
                  <c:v>2025-04-11</c:v>
                </c:pt>
                <c:pt idx="1277">
                  <c:v>2025-04-14</c:v>
                </c:pt>
                <c:pt idx="1278">
                  <c:v>2025-04-15</c:v>
                </c:pt>
                <c:pt idx="1279">
                  <c:v>2025-04-16</c:v>
                </c:pt>
                <c:pt idx="1280">
                  <c:v>2025-04-17</c:v>
                </c:pt>
                <c:pt idx="1281">
                  <c:v>2025-04-18</c:v>
                </c:pt>
                <c:pt idx="1282">
                  <c:v>2025-04-21</c:v>
                </c:pt>
                <c:pt idx="1283">
                  <c:v>2025-04-22</c:v>
                </c:pt>
                <c:pt idx="1284">
                  <c:v>2025-04-23</c:v>
                </c:pt>
                <c:pt idx="1285">
                  <c:v>2025-04-24</c:v>
                </c:pt>
                <c:pt idx="1286">
                  <c:v>2025-04-25</c:v>
                </c:pt>
                <c:pt idx="1287">
                  <c:v>2025-04-28</c:v>
                </c:pt>
                <c:pt idx="1288">
                  <c:v>2025-04-29</c:v>
                </c:pt>
                <c:pt idx="1289">
                  <c:v>2025-04-30</c:v>
                </c:pt>
                <c:pt idx="1290">
                  <c:v>2025-05-06</c:v>
                </c:pt>
                <c:pt idx="1291">
                  <c:v>2025-05-07</c:v>
                </c:pt>
                <c:pt idx="1292">
                  <c:v>2025-05-08</c:v>
                </c:pt>
                <c:pt idx="1293">
                  <c:v>2025-05-09</c:v>
                </c:pt>
                <c:pt idx="1294">
                  <c:v>2025-05-12</c:v>
                </c:pt>
                <c:pt idx="1295">
                  <c:v>2025-05-13</c:v>
                </c:pt>
                <c:pt idx="1296">
                  <c:v>2025-05-14</c:v>
                </c:pt>
                <c:pt idx="1297">
                  <c:v>2025-05-15</c:v>
                </c:pt>
                <c:pt idx="1298">
                  <c:v>2025-05-16</c:v>
                </c:pt>
                <c:pt idx="1299">
                  <c:v>2025-05-19</c:v>
                </c:pt>
                <c:pt idx="1300">
                  <c:v>2025-05-20</c:v>
                </c:pt>
                <c:pt idx="1301">
                  <c:v>2025-05-21</c:v>
                </c:pt>
                <c:pt idx="1302">
                  <c:v>2025-05-22</c:v>
                </c:pt>
                <c:pt idx="1303">
                  <c:v>2025-05-23</c:v>
                </c:pt>
                <c:pt idx="1304">
                  <c:v>2025-05-26</c:v>
                </c:pt>
                <c:pt idx="1305">
                  <c:v>2025-05-27</c:v>
                </c:pt>
                <c:pt idx="1306">
                  <c:v>2025-05-28</c:v>
                </c:pt>
                <c:pt idx="1307">
                  <c:v>2025-05-29</c:v>
                </c:pt>
                <c:pt idx="1308">
                  <c:v>2025-05-30</c:v>
                </c:pt>
                <c:pt idx="1309">
                  <c:v>2025-06-03</c:v>
                </c:pt>
                <c:pt idx="1310">
                  <c:v>2025-06-04</c:v>
                </c:pt>
                <c:pt idx="1311">
                  <c:v>2025-06-05</c:v>
                </c:pt>
                <c:pt idx="1312">
                  <c:v>2025-06-06</c:v>
                </c:pt>
                <c:pt idx="1313">
                  <c:v>2025-06-09</c:v>
                </c:pt>
                <c:pt idx="1314">
                  <c:v>2025-06-10</c:v>
                </c:pt>
                <c:pt idx="1315">
                  <c:v>2025-06-11</c:v>
                </c:pt>
                <c:pt idx="1316">
                  <c:v>2025-06-12</c:v>
                </c:pt>
                <c:pt idx="1317">
                  <c:v>2025-06-13</c:v>
                </c:pt>
                <c:pt idx="1318">
                  <c:v>2025-06-16</c:v>
                </c:pt>
                <c:pt idx="1319">
                  <c:v>2025-06-17</c:v>
                </c:pt>
                <c:pt idx="1320">
                  <c:v>2025-06-18</c:v>
                </c:pt>
                <c:pt idx="1321">
                  <c:v>2025-06-19</c:v>
                </c:pt>
                <c:pt idx="1322">
                  <c:v>2025-06-20</c:v>
                </c:pt>
                <c:pt idx="1323">
                  <c:v>2025-06-23</c:v>
                </c:pt>
                <c:pt idx="1324">
                  <c:v>2025-06-24</c:v>
                </c:pt>
                <c:pt idx="1325">
                  <c:v>2025-06-25</c:v>
                </c:pt>
                <c:pt idx="1326">
                  <c:v>2025-06-26</c:v>
                </c:pt>
                <c:pt idx="1327">
                  <c:v>2025-06-27</c:v>
                </c:pt>
                <c:pt idx="1328">
                  <c:v>2025-06-30</c:v>
                </c:pt>
                <c:pt idx="1329">
                  <c:v>2025-07-01</c:v>
                </c:pt>
                <c:pt idx="1330">
                  <c:v>2025-07-02</c:v>
                </c:pt>
                <c:pt idx="1331">
                  <c:v>2025-07-03</c:v>
                </c:pt>
                <c:pt idx="1332">
                  <c:v>2025-07-04</c:v>
                </c:pt>
                <c:pt idx="1333">
                  <c:v>2025-07-07</c:v>
                </c:pt>
                <c:pt idx="1334">
                  <c:v>2025-07-08</c:v>
                </c:pt>
                <c:pt idx="1335">
                  <c:v>2025-07-09</c:v>
                </c:pt>
                <c:pt idx="1336">
                  <c:v>2025-07-10</c:v>
                </c:pt>
                <c:pt idx="1337">
                  <c:v>2025-07-11</c:v>
                </c:pt>
                <c:pt idx="1338">
                  <c:v>2025-07-14</c:v>
                </c:pt>
                <c:pt idx="1339">
                  <c:v>2025-07-15</c:v>
                </c:pt>
                <c:pt idx="1340">
                  <c:v>2025-07-16</c:v>
                </c:pt>
                <c:pt idx="1341">
                  <c:v>2025-07-17</c:v>
                </c:pt>
                <c:pt idx="1342">
                  <c:v>2025-07-18</c:v>
                </c:pt>
                <c:pt idx="1343">
                  <c:v>2025-07-21</c:v>
                </c:pt>
                <c:pt idx="1344">
                  <c:v>2025-07-22</c:v>
                </c:pt>
                <c:pt idx="1345">
                  <c:v>2025-07-23</c:v>
                </c:pt>
                <c:pt idx="1346">
                  <c:v>2025-07-24</c:v>
                </c:pt>
                <c:pt idx="1347">
                  <c:v>2025-07-25</c:v>
                </c:pt>
                <c:pt idx="1348">
                  <c:v>2025-07-28</c:v>
                </c:pt>
                <c:pt idx="1349">
                  <c:v>2025-07-29</c:v>
                </c:pt>
                <c:pt idx="1350">
                  <c:v>2025-07-30</c:v>
                </c:pt>
                <c:pt idx="1351">
                  <c:v>2025-07-31</c:v>
                </c:pt>
                <c:pt idx="1352">
                  <c:v>2025-08-01</c:v>
                </c:pt>
                <c:pt idx="1353">
                  <c:v>2025-08-04</c:v>
                </c:pt>
                <c:pt idx="1354">
                  <c:v>2025-08-05</c:v>
                </c:pt>
                <c:pt idx="1355">
                  <c:v>2025-08-06</c:v>
                </c:pt>
                <c:pt idx="1356">
                  <c:v>2025-08-07</c:v>
                </c:pt>
                <c:pt idx="1357">
                  <c:v>2025-08-08</c:v>
                </c:pt>
                <c:pt idx="1358">
                  <c:v>2025-08-11</c:v>
                </c:pt>
                <c:pt idx="1359">
                  <c:v>2025-08-12</c:v>
                </c:pt>
                <c:pt idx="1360">
                  <c:v>2025-08-13</c:v>
                </c:pt>
                <c:pt idx="1361">
                  <c:v>2025-08-14</c:v>
                </c:pt>
                <c:pt idx="1362">
                  <c:v>2025-08-15</c:v>
                </c:pt>
                <c:pt idx="1363">
                  <c:v>2025-08-18</c:v>
                </c:pt>
                <c:pt idx="1364">
                  <c:v>2025-08-19</c:v>
                </c:pt>
                <c:pt idx="1365">
                  <c:v>2025-08-20</c:v>
                </c:pt>
                <c:pt idx="1366">
                  <c:v>2025-08-21</c:v>
                </c:pt>
                <c:pt idx="1367">
                  <c:v>2025-08-22</c:v>
                </c:pt>
                <c:pt idx="1368">
                  <c:v>2025-08-25</c:v>
                </c:pt>
                <c:pt idx="1369">
                  <c:v>2025-08-26</c:v>
                </c:pt>
                <c:pt idx="1370">
                  <c:v>2025-08-27</c:v>
                </c:pt>
                <c:pt idx="1371">
                  <c:v>2025-08-28</c:v>
                </c:pt>
                <c:pt idx="1372">
                  <c:v>2025-08-29</c:v>
                </c:pt>
                <c:pt idx="1373">
                  <c:v>2025-09-01</c:v>
                </c:pt>
                <c:pt idx="1374">
                  <c:v>2025-09-02</c:v>
                </c:pt>
                <c:pt idx="1375">
                  <c:v>2025-09-03</c:v>
                </c:pt>
                <c:pt idx="1376">
                  <c:v>2025-09-04</c:v>
                </c:pt>
                <c:pt idx="1377">
                  <c:v>2025-09-05</c:v>
                </c:pt>
                <c:pt idx="1378">
                  <c:v>2025-09-08</c:v>
                </c:pt>
                <c:pt idx="1379">
                  <c:v>2025-09-09</c:v>
                </c:pt>
                <c:pt idx="1380">
                  <c:v>2025-09-10</c:v>
                </c:pt>
                <c:pt idx="1381">
                  <c:v>2025-09-11</c:v>
                </c:pt>
                <c:pt idx="1382">
                  <c:v>2025-09-12</c:v>
                </c:pt>
                <c:pt idx="1383">
                  <c:v>2025-09-15</c:v>
                </c:pt>
                <c:pt idx="1384">
                  <c:v>2025-09-16</c:v>
                </c:pt>
                <c:pt idx="1385">
                  <c:v>2025-09-17</c:v>
                </c:pt>
                <c:pt idx="1386">
                  <c:v>2025-09-18</c:v>
                </c:pt>
                <c:pt idx="1387">
                  <c:v>2025-09-19</c:v>
                </c:pt>
                <c:pt idx="1388">
                  <c:v>2025-09-22</c:v>
                </c:pt>
                <c:pt idx="1389">
                  <c:v>2025-09-23</c:v>
                </c:pt>
                <c:pt idx="1390">
                  <c:v>2025-09-24</c:v>
                </c:pt>
                <c:pt idx="1391">
                  <c:v>2025-09-25</c:v>
                </c:pt>
                <c:pt idx="1392">
                  <c:v>2025-09-26</c:v>
                </c:pt>
                <c:pt idx="1393">
                  <c:v>2025-09-29</c:v>
                </c:pt>
                <c:pt idx="1394">
                  <c:v>2025-09-30</c:v>
                </c:pt>
                <c:pt idx="1395">
                  <c:v>2025-10-09</c:v>
                </c:pt>
                <c:pt idx="1396">
                  <c:v>2025-10-10</c:v>
                </c:pt>
                <c:pt idx="1397">
                  <c:v>2025-10-13</c:v>
                </c:pt>
                <c:pt idx="1398">
                  <c:v>2025-10-14</c:v>
                </c:pt>
                <c:pt idx="1399">
                  <c:v>2025-10-15</c:v>
                </c:pt>
                <c:pt idx="1400">
                  <c:v>2025-10-16</c:v>
                </c:pt>
                <c:pt idx="1401">
                  <c:v>2025-10-17</c:v>
                </c:pt>
                <c:pt idx="1402">
                  <c:v>2025-10-20</c:v>
                </c:pt>
                <c:pt idx="1403">
                  <c:v>2025-10-21</c:v>
                </c:pt>
                <c:pt idx="1404">
                  <c:v>2025-10-22</c:v>
                </c:pt>
                <c:pt idx="1405">
                  <c:v>2025-10-23</c:v>
                </c:pt>
                <c:pt idx="1406">
                  <c:v>2025-10-24</c:v>
                </c:pt>
                <c:pt idx="1407">
                  <c:v>2025-10-27</c:v>
                </c:pt>
                <c:pt idx="1408">
                  <c:v>2025-10-28</c:v>
                </c:pt>
                <c:pt idx="1409">
                  <c:v>2025-10-29</c:v>
                </c:pt>
                <c:pt idx="1410">
                  <c:v>2025-10-30</c:v>
                </c:pt>
                <c:pt idx="1411">
                  <c:v>2025-10-31</c:v>
                </c:pt>
                <c:pt idx="1412">
                  <c:v>2025-11-03</c:v>
                </c:pt>
                <c:pt idx="1413">
                  <c:v>2025-11-04</c:v>
                </c:pt>
                <c:pt idx="1414">
                  <c:v>2025-11-05</c:v>
                </c:pt>
                <c:pt idx="1415">
                  <c:v>2025-11-06</c:v>
                </c:pt>
                <c:pt idx="1416">
                  <c:v>2025-11-07</c:v>
                </c:pt>
                <c:pt idx="1417">
                  <c:v>2025-11-10</c:v>
                </c:pt>
                <c:pt idx="1418">
                  <c:v>2025-11-11</c:v>
                </c:pt>
                <c:pt idx="1419">
                  <c:v>2025-11-12</c:v>
                </c:pt>
                <c:pt idx="1420">
                  <c:v>2025-11-13</c:v>
                </c:pt>
                <c:pt idx="1421">
                  <c:v>2025-11-14</c:v>
                </c:pt>
                <c:pt idx="1422">
                  <c:v>2025-11-17</c:v>
                </c:pt>
                <c:pt idx="1423">
                  <c:v>2025-11-18</c:v>
                </c:pt>
                <c:pt idx="1424">
                  <c:v>2025-11-19</c:v>
                </c:pt>
                <c:pt idx="1425">
                  <c:v>2025-11-20</c:v>
                </c:pt>
                <c:pt idx="1426">
                  <c:v>2025-11-21</c:v>
                </c:pt>
                <c:pt idx="1427">
                  <c:v>2025-11-24</c:v>
                </c:pt>
                <c:pt idx="1428">
                  <c:v>2025-11-25</c:v>
                </c:pt>
                <c:pt idx="1429">
                  <c:v>2025-11-26</c:v>
                </c:pt>
                <c:pt idx="1430">
                  <c:v>2025-11-27</c:v>
                </c:pt>
                <c:pt idx="1431">
                  <c:v>2025-11-28</c:v>
                </c:pt>
                <c:pt idx="1432">
                  <c:v>2025-12-01</c:v>
                </c:pt>
                <c:pt idx="1433">
                  <c:v>2025-12-02</c:v>
                </c:pt>
                <c:pt idx="1434">
                  <c:v>2025-12-03</c:v>
                </c:pt>
                <c:pt idx="1435">
                  <c:v>2025-12-04</c:v>
                </c:pt>
                <c:pt idx="1436">
                  <c:v>2025-12-05</c:v>
                </c:pt>
                <c:pt idx="1437">
                  <c:v>2025-12-08</c:v>
                </c:pt>
                <c:pt idx="1438">
                  <c:v>2025-12-09</c:v>
                </c:pt>
                <c:pt idx="1439">
                  <c:v>2025-12-10</c:v>
                </c:pt>
                <c:pt idx="1440">
                  <c:v>2025-12-11</c:v>
                </c:pt>
                <c:pt idx="1441">
                  <c:v>2025-12-12</c:v>
                </c:pt>
                <c:pt idx="1442">
                  <c:v>2025-12-15</c:v>
                </c:pt>
                <c:pt idx="1443">
                  <c:v>2025-12-16</c:v>
                </c:pt>
                <c:pt idx="1444">
                  <c:v>2025-12-17</c:v>
                </c:pt>
                <c:pt idx="1445">
                  <c:v>2025-12-18</c:v>
                </c:pt>
                <c:pt idx="1446">
                  <c:v>2025-12-19</c:v>
                </c:pt>
                <c:pt idx="1447">
                  <c:v>2025-12-22</c:v>
                </c:pt>
                <c:pt idx="1448">
                  <c:v>2025-12-23</c:v>
                </c:pt>
                <c:pt idx="1449">
                  <c:v>2025-12-24</c:v>
                </c:pt>
                <c:pt idx="1450">
                  <c:v>2025-12-25</c:v>
                </c:pt>
                <c:pt idx="1451">
                  <c:v>2025-12-26</c:v>
                </c:pt>
                <c:pt idx="1452">
                  <c:v>2025-12-29</c:v>
                </c:pt>
                <c:pt idx="1453">
                  <c:v>2025-12-30</c:v>
                </c:pt>
                <c:pt idx="1454">
                  <c:v>2025-12-31</c:v>
                </c:pt>
                <c:pt idx="1455">
                  <c:v>2026-01-05</c:v>
                </c:pt>
                <c:pt idx="1456">
                  <c:v>2026-01-06</c:v>
                </c:pt>
                <c:pt idx="1457">
                  <c:v>2026-01-07</c:v>
                </c:pt>
                <c:pt idx="1458">
                  <c:v>2026-01-08</c:v>
                </c:pt>
                <c:pt idx="1459">
                  <c:v>2026-01-09</c:v>
                </c:pt>
                <c:pt idx="1460">
                  <c:v>2026-01-12</c:v>
                </c:pt>
                <c:pt idx="1461">
                  <c:v>2026-01-13</c:v>
                </c:pt>
                <c:pt idx="1462">
                  <c:v>2026-01-14</c:v>
                </c:pt>
                <c:pt idx="1463">
                  <c:v>2026-01-15</c:v>
                </c:pt>
                <c:pt idx="1464">
                  <c:v>2026-01-16</c:v>
                </c:pt>
                <c:pt idx="1465">
                  <c:v>2026-01-19</c:v>
                </c:pt>
                <c:pt idx="1466">
                  <c:v>2026-01-20</c:v>
                </c:pt>
                <c:pt idx="1467">
                  <c:v>2026-01-21</c:v>
                </c:pt>
                <c:pt idx="1468">
                  <c:v>2026-01-22</c:v>
                </c:pt>
                <c:pt idx="1469">
                  <c:v>2026-01-23</c:v>
                </c:pt>
                <c:pt idx="1470">
                  <c:v>2026-01-26</c:v>
                </c:pt>
                <c:pt idx="1471">
                  <c:v>2026-01-27</c:v>
                </c:pt>
                <c:pt idx="1472">
                  <c:v>2026-01-28</c:v>
                </c:pt>
                <c:pt idx="1473">
                  <c:v>2026-01-29</c:v>
                </c:pt>
                <c:pt idx="1474">
                  <c:v>2026-01-30</c:v>
                </c:pt>
                <c:pt idx="1475">
                  <c:v>2026-02-02</c:v>
                </c:pt>
                <c:pt idx="1476">
                  <c:v>2026-02-03</c:v>
                </c:pt>
                <c:pt idx="1477">
                  <c:v>2026-02-04</c:v>
                </c:pt>
                <c:pt idx="1478">
                  <c:v>2026-02-05</c:v>
                </c:pt>
                <c:pt idx="1479">
                  <c:v>2026-02-06</c:v>
                </c:pt>
                <c:pt idx="1480">
                  <c:v>2026-02-09</c:v>
                </c:pt>
                <c:pt idx="1481">
                  <c:v>2026-02-10</c:v>
                </c:pt>
                <c:pt idx="1482">
                  <c:v>2026-02-11</c:v>
                </c:pt>
                <c:pt idx="1483">
                  <c:v>2026-02-12</c:v>
                </c:pt>
                <c:pt idx="1484">
                  <c:v>2026-02-13</c:v>
                </c:pt>
                <c:pt idx="1485">
                  <c:v>2026-02-24</c:v>
                </c:pt>
                <c:pt idx="1486">
                  <c:v>2026-02-25</c:v>
                </c:pt>
                <c:pt idx="1487">
                  <c:v>2026-02-26</c:v>
                </c:pt>
                <c:pt idx="1488">
                  <c:v>2026-02-27</c:v>
                </c:pt>
                <c:pt idx="1489">
                  <c:v>2026-03-02</c:v>
                </c:pt>
                <c:pt idx="1490">
                  <c:v>2026-03-03</c:v>
                </c:pt>
                <c:pt idx="1491">
                  <c:v>2026-03-04</c:v>
                </c:pt>
                <c:pt idx="1492">
                  <c:v>2026-03-05</c:v>
                </c:pt>
                <c:pt idx="1493">
                  <c:v>2026-03-06</c:v>
                </c:pt>
                <c:pt idx="1494">
                  <c:v>2026-03-09</c:v>
                </c:pt>
                <c:pt idx="1495">
                  <c:v>2026-03-10</c:v>
                </c:pt>
                <c:pt idx="1496">
                  <c:v>2026-03-11</c:v>
                </c:pt>
                <c:pt idx="1497">
                  <c:v>2026-03-12</c:v>
                </c:pt>
                <c:pt idx="1498">
                  <c:v>2026-03-13</c:v>
                </c:pt>
                <c:pt idx="1499">
                  <c:v>2026-03-16</c:v>
                </c:pt>
                <c:pt idx="1500">
                  <c:v>2026-03-17</c:v>
                </c:pt>
                <c:pt idx="1501">
                  <c:v>2026-03-18</c:v>
                </c:pt>
                <c:pt idx="1502">
                  <c:v>2026-03-19</c:v>
                </c:pt>
                <c:pt idx="1503">
                  <c:v>2026-03-20</c:v>
                </c:pt>
                <c:pt idx="1504">
                  <c:v>2026-03-23</c:v>
                </c:pt>
                <c:pt idx="1505">
                  <c:v>2026-03-24</c:v>
                </c:pt>
                <c:pt idx="1506">
                  <c:v>2026-03-25</c:v>
                </c:pt>
                <c:pt idx="1507">
                  <c:v>2026-03-26</c:v>
                </c:pt>
                <c:pt idx="1508">
                  <c:v>2026-03-27</c:v>
                </c:pt>
                <c:pt idx="1509">
                  <c:v>2026-03-30</c:v>
                </c:pt>
                <c:pt idx="1510">
                  <c:v>2026-03-31</c:v>
                </c:pt>
                <c:pt idx="1511">
                  <c:v>2026-04-01</c:v>
                </c:pt>
                <c:pt idx="1512">
                  <c:v>2026-04-02</c:v>
                </c:pt>
                <c:pt idx="1513">
                  <c:v>2026-04-03</c:v>
                </c:pt>
                <c:pt idx="1514">
                  <c:v>2026-04-07</c:v>
                </c:pt>
                <c:pt idx="1515">
                  <c:v>2026-04-08</c:v>
                </c:pt>
                <c:pt idx="1516">
                  <c:v>2026-04-09</c:v>
                </c:pt>
                <c:pt idx="1517">
                  <c:v>2026-04-10</c:v>
                </c:pt>
                <c:pt idx="1518">
                  <c:v>2026-04-13</c:v>
                </c:pt>
                <c:pt idx="1519">
                  <c:v>2026-04-14</c:v>
                </c:pt>
                <c:pt idx="1520">
                  <c:v>2026-04-15</c:v>
                </c:pt>
                <c:pt idx="1521">
                  <c:v>2026-04-16</c:v>
                </c:pt>
                <c:pt idx="1522">
                  <c:v>2026-04-17</c:v>
                </c:pt>
                <c:pt idx="1523">
                  <c:v>2026-04-20</c:v>
                </c:pt>
                <c:pt idx="1524">
                  <c:v>2026-04-21</c:v>
                </c:pt>
                <c:pt idx="1525">
                  <c:v>2026-04-22</c:v>
                </c:pt>
                <c:pt idx="1526">
                  <c:v>2026-04-23</c:v>
                </c:pt>
                <c:pt idx="1527">
                  <c:v>2026-04-24</c:v>
                </c:pt>
                <c:pt idx="1528">
                  <c:v>2026-04-27</c:v>
                </c:pt>
                <c:pt idx="1529">
                  <c:v>2026-04-28</c:v>
                </c:pt>
                <c:pt idx="1530">
                  <c:v>2026-04-29</c:v>
                </c:pt>
                <c:pt idx="1531">
                  <c:v>2026-04-30</c:v>
                </c:pt>
              </c:strCache>
            </c:strRef>
          </c:cat>
          <c:val>
            <c:numRef>
              <c:f>结果页!$D$2:$D$1533</c:f>
              <c:numCache>
                <c:formatCode>General</c:formatCode>
                <c:ptCount val="1532"/>
                <c:pt idx="0">
                  <c:v>1</c:v>
                </c:pt>
                <c:pt idx="1">
                  <c:v>1.0026978171211081</c:v>
                </c:pt>
                <c:pt idx="2">
                  <c:v>1.0073424675770131</c:v>
                </c:pt>
                <c:pt idx="3">
                  <c:v>1.0093186700487711</c:v>
                </c:pt>
                <c:pt idx="4">
                  <c:v>1.007027427327662</c:v>
                </c:pt>
                <c:pt idx="5">
                  <c:v>1.010541717581444</c:v>
                </c:pt>
                <c:pt idx="6">
                  <c:v>1.0118318152490671</c:v>
                </c:pt>
                <c:pt idx="7">
                  <c:v>1.0181318901780929</c:v>
                </c:pt>
                <c:pt idx="8">
                  <c:v>1.0168137953217591</c:v>
                </c:pt>
                <c:pt idx="9">
                  <c:v>1.0179842931030421</c:v>
                </c:pt>
                <c:pt idx="10">
                  <c:v>1.0193284251113099</c:v>
                </c:pt>
                <c:pt idx="11">
                  <c:v>1.0205806720359201</c:v>
                </c:pt>
                <c:pt idx="12">
                  <c:v>1.027726835613922</c:v>
                </c:pt>
                <c:pt idx="13">
                  <c:v>1.025752543867805</c:v>
                </c:pt>
                <c:pt idx="14">
                  <c:v>1.031465303308239</c:v>
                </c:pt>
                <c:pt idx="15">
                  <c:v>1.0217134490245181</c:v>
                </c:pt>
                <c:pt idx="16">
                  <c:v>1.0004507719164499</c:v>
                </c:pt>
                <c:pt idx="17">
                  <c:v>1.0082171247982461</c:v>
                </c:pt>
                <c:pt idx="18">
                  <c:v>1.01393556921678</c:v>
                </c:pt>
                <c:pt idx="19">
                  <c:v>1.022307064088096</c:v>
                </c:pt>
                <c:pt idx="20">
                  <c:v>1.028540514155327</c:v>
                </c:pt>
                <c:pt idx="21">
                  <c:v>1.031301952901684</c:v>
                </c:pt>
                <c:pt idx="22">
                  <c:v>1.03046558946074</c:v>
                </c:pt>
                <c:pt idx="23">
                  <c:v>1.037279266508504</c:v>
                </c:pt>
                <c:pt idx="24">
                  <c:v>1.0373931769229541</c:v>
                </c:pt>
                <c:pt idx="25">
                  <c:v>1.0379491818287181</c:v>
                </c:pt>
                <c:pt idx="26">
                  <c:v>1.0496784441649829</c:v>
                </c:pt>
                <c:pt idx="27">
                  <c:v>1.055867889954111</c:v>
                </c:pt>
                <c:pt idx="28">
                  <c:v>1.054135693172257</c:v>
                </c:pt>
                <c:pt idx="29">
                  <c:v>1.060909618489368</c:v>
                </c:pt>
                <c:pt idx="30">
                  <c:v>1.068862745196544</c:v>
                </c:pt>
                <c:pt idx="31">
                  <c:v>1.0801045244846621</c:v>
                </c:pt>
                <c:pt idx="32">
                  <c:v>1.0819470803039231</c:v>
                </c:pt>
                <c:pt idx="33">
                  <c:v>1.06740867198504</c:v>
                </c:pt>
                <c:pt idx="34">
                  <c:v>1.0665418841267711</c:v>
                </c:pt>
                <c:pt idx="35">
                  <c:v>1.047707732222779</c:v>
                </c:pt>
                <c:pt idx="36">
                  <c:v>1.0576213818194891</c:v>
                </c:pt>
                <c:pt idx="37">
                  <c:v>1.060707290599602</c:v>
                </c:pt>
                <c:pt idx="38">
                  <c:v>1.060857050044415</c:v>
                </c:pt>
                <c:pt idx="39">
                  <c:v>1.0653801488891841</c:v>
                </c:pt>
                <c:pt idx="40">
                  <c:v>1.0648354434484619</c:v>
                </c:pt>
                <c:pt idx="41">
                  <c:v>1.0519440628212771</c:v>
                </c:pt>
                <c:pt idx="42">
                  <c:v>1.0602926848776271</c:v>
                </c:pt>
                <c:pt idx="43">
                  <c:v>1.0544650452459059</c:v>
                </c:pt>
                <c:pt idx="44">
                  <c:v>1.047882502801752</c:v>
                </c:pt>
                <c:pt idx="45">
                  <c:v>1.042536775929136</c:v>
                </c:pt>
                <c:pt idx="46">
                  <c:v>1.0223214738452291</c:v>
                </c:pt>
                <c:pt idx="47">
                  <c:v>1.0179094500894179</c:v>
                </c:pt>
                <c:pt idx="48">
                  <c:v>1.0148407680519449</c:v>
                </c:pt>
                <c:pt idx="49">
                  <c:v>1.017908757179157</c:v>
                </c:pt>
                <c:pt idx="50">
                  <c:v>1.0215089154468899</c:v>
                </c:pt>
                <c:pt idx="51">
                  <c:v>1.007272763474987</c:v>
                </c:pt>
                <c:pt idx="52">
                  <c:v>1.01741508787741</c:v>
                </c:pt>
                <c:pt idx="53">
                  <c:v>1.028036428837497</c:v>
                </c:pt>
                <c:pt idx="54">
                  <c:v>1.0247161933936331</c:v>
                </c:pt>
                <c:pt idx="55">
                  <c:v>1.023414240091308</c:v>
                </c:pt>
                <c:pt idx="56">
                  <c:v>1.0154718049139291</c:v>
                </c:pt>
                <c:pt idx="57">
                  <c:v>1.016141793262457</c:v>
                </c:pt>
                <c:pt idx="58">
                  <c:v>1.015956162841485</c:v>
                </c:pt>
                <c:pt idx="59">
                  <c:v>1.026042572593127</c:v>
                </c:pt>
                <c:pt idx="60">
                  <c:v>1.023818013814408</c:v>
                </c:pt>
                <c:pt idx="61">
                  <c:v>1.0387865059768779</c:v>
                </c:pt>
                <c:pt idx="62">
                  <c:v>1.0410321981440609</c:v>
                </c:pt>
                <c:pt idx="63">
                  <c:v>1.042845624496866</c:v>
                </c:pt>
                <c:pt idx="64">
                  <c:v>1.034921165255253</c:v>
                </c:pt>
                <c:pt idx="65">
                  <c:v>1.0307313453194249</c:v>
                </c:pt>
                <c:pt idx="66">
                  <c:v>1.039941749977247</c:v>
                </c:pt>
                <c:pt idx="67">
                  <c:v>1.0392724000386251</c:v>
                </c:pt>
                <c:pt idx="68">
                  <c:v>1.0435068724181089</c:v>
                </c:pt>
                <c:pt idx="69">
                  <c:v>1.0435036288869881</c:v>
                </c:pt>
                <c:pt idx="70">
                  <c:v>1.0468413999927459</c:v>
                </c:pt>
                <c:pt idx="71">
                  <c:v>1.046054335312987</c:v>
                </c:pt>
                <c:pt idx="72">
                  <c:v>1.049054937177516</c:v>
                </c:pt>
                <c:pt idx="73">
                  <c:v>1.0492146825906461</c:v>
                </c:pt>
                <c:pt idx="74">
                  <c:v>1.045745125373704</c:v>
                </c:pt>
                <c:pt idx="75">
                  <c:v>1.0456532901008559</c:v>
                </c:pt>
                <c:pt idx="76">
                  <c:v>1.0452948320520701</c:v>
                </c:pt>
                <c:pt idx="77">
                  <c:v>1.045890580390145</c:v>
                </c:pt>
                <c:pt idx="78">
                  <c:v>1.0556566343696261</c:v>
                </c:pt>
                <c:pt idx="79">
                  <c:v>1.063012159986584</c:v>
                </c:pt>
                <c:pt idx="80">
                  <c:v>1.059649527454773</c:v>
                </c:pt>
                <c:pt idx="81">
                  <c:v>1.0629774658185409</c:v>
                </c:pt>
                <c:pt idx="82">
                  <c:v>1.0598019708978841</c:v>
                </c:pt>
                <c:pt idx="83">
                  <c:v>1.0606264039363751</c:v>
                </c:pt>
                <c:pt idx="84">
                  <c:v>1.062384604342556</c:v>
                </c:pt>
                <c:pt idx="85">
                  <c:v>1.0606465714651461</c:v>
                </c:pt>
                <c:pt idx="86">
                  <c:v>1.065036700883615</c:v>
                </c:pt>
                <c:pt idx="87">
                  <c:v>1.0626755455335699</c:v>
                </c:pt>
                <c:pt idx="88">
                  <c:v>1.067683499581441</c:v>
                </c:pt>
                <c:pt idx="89">
                  <c:v>1.064618018729379</c:v>
                </c:pt>
                <c:pt idx="90">
                  <c:v>1.057362679425158</c:v>
                </c:pt>
                <c:pt idx="91">
                  <c:v>1.052543916585934</c:v>
                </c:pt>
                <c:pt idx="92">
                  <c:v>1.0501315862504541</c:v>
                </c:pt>
                <c:pt idx="93">
                  <c:v>1.057408973406804</c:v>
                </c:pt>
                <c:pt idx="94">
                  <c:v>1.0517734690059739</c:v>
                </c:pt>
                <c:pt idx="95">
                  <c:v>1.050807447392182</c:v>
                </c:pt>
                <c:pt idx="96">
                  <c:v>1.052713892745418</c:v>
                </c:pt>
                <c:pt idx="97">
                  <c:v>1.065159669764149</c:v>
                </c:pt>
                <c:pt idx="98">
                  <c:v>1.0631568160149001</c:v>
                </c:pt>
                <c:pt idx="99">
                  <c:v>1.0605654571606049</c:v>
                </c:pt>
                <c:pt idx="100">
                  <c:v>1.058123572751881</c:v>
                </c:pt>
                <c:pt idx="101">
                  <c:v>1.0580806046468541</c:v>
                </c:pt>
                <c:pt idx="102">
                  <c:v>1.0560323123961699</c:v>
                </c:pt>
                <c:pt idx="103">
                  <c:v>1.0589027499472441</c:v>
                </c:pt>
                <c:pt idx="104">
                  <c:v>1.0606590786890691</c:v>
                </c:pt>
                <c:pt idx="105">
                  <c:v>1.061562264542097</c:v>
                </c:pt>
                <c:pt idx="106">
                  <c:v>1.0621848420519771</c:v>
                </c:pt>
                <c:pt idx="107">
                  <c:v>1.0597622052988931</c:v>
                </c:pt>
                <c:pt idx="108">
                  <c:v>1.06631201957725</c:v>
                </c:pt>
                <c:pt idx="109">
                  <c:v>1.066271036401603</c:v>
                </c:pt>
                <c:pt idx="110">
                  <c:v>1.069057654676014</c:v>
                </c:pt>
                <c:pt idx="111">
                  <c:v>1.0730734636698469</c:v>
                </c:pt>
                <c:pt idx="112">
                  <c:v>1.0778210948027469</c:v>
                </c:pt>
                <c:pt idx="113">
                  <c:v>1.079494330324386</c:v>
                </c:pt>
                <c:pt idx="114">
                  <c:v>1.081930937151286</c:v>
                </c:pt>
                <c:pt idx="115">
                  <c:v>1.0800469299568449</c:v>
                </c:pt>
                <c:pt idx="116">
                  <c:v>1.0887656364338429</c:v>
                </c:pt>
                <c:pt idx="117">
                  <c:v>1.090454660867167</c:v>
                </c:pt>
                <c:pt idx="118">
                  <c:v>1.0930186466994261</c:v>
                </c:pt>
                <c:pt idx="119">
                  <c:v>1.0967994422163569</c:v>
                </c:pt>
                <c:pt idx="120">
                  <c:v>1.1119116806335649</c:v>
                </c:pt>
                <c:pt idx="121">
                  <c:v>1.117364576334779</c:v>
                </c:pt>
                <c:pt idx="122">
                  <c:v>1.1268604522042629</c:v>
                </c:pt>
                <c:pt idx="123">
                  <c:v>1.137208331607529</c:v>
                </c:pt>
                <c:pt idx="124">
                  <c:v>1.1350628842009329</c:v>
                </c:pt>
                <c:pt idx="125">
                  <c:v>1.1490050306687389</c:v>
                </c:pt>
                <c:pt idx="126">
                  <c:v>1.1438364323440009</c:v>
                </c:pt>
                <c:pt idx="127">
                  <c:v>1.1302401971251801</c:v>
                </c:pt>
                <c:pt idx="128">
                  <c:v>1.1080330140291841</c:v>
                </c:pt>
                <c:pt idx="129">
                  <c:v>1.109230195263804</c:v>
                </c:pt>
                <c:pt idx="130">
                  <c:v>1.120209301999566</c:v>
                </c:pt>
                <c:pt idx="131">
                  <c:v>1.1252182864200491</c:v>
                </c:pt>
                <c:pt idx="132">
                  <c:v>1.1327356523187899</c:v>
                </c:pt>
                <c:pt idx="133">
                  <c:v>1.1345704307494711</c:v>
                </c:pt>
                <c:pt idx="134">
                  <c:v>1.1151211139382879</c:v>
                </c:pt>
                <c:pt idx="135">
                  <c:v>1.11863526889541</c:v>
                </c:pt>
                <c:pt idx="136">
                  <c:v>1.1228955340718181</c:v>
                </c:pt>
                <c:pt idx="137">
                  <c:v>1.1365286532846861</c:v>
                </c:pt>
                <c:pt idx="138">
                  <c:v>1.132627624608892</c:v>
                </c:pt>
                <c:pt idx="139">
                  <c:v>1.1419478889441179</c:v>
                </c:pt>
                <c:pt idx="140">
                  <c:v>1.154620138615617</c:v>
                </c:pt>
                <c:pt idx="141">
                  <c:v>1.149217178027522</c:v>
                </c:pt>
                <c:pt idx="142">
                  <c:v>1.156680847866044</c:v>
                </c:pt>
                <c:pt idx="143">
                  <c:v>1.155637766884505</c:v>
                </c:pt>
                <c:pt idx="144">
                  <c:v>1.148733761377865</c:v>
                </c:pt>
                <c:pt idx="145">
                  <c:v>1.1476792980598061</c:v>
                </c:pt>
                <c:pt idx="146">
                  <c:v>1.137649775130952</c:v>
                </c:pt>
                <c:pt idx="147">
                  <c:v>1.126025471423914</c:v>
                </c:pt>
                <c:pt idx="148">
                  <c:v>1.1274804128165541</c:v>
                </c:pt>
                <c:pt idx="149">
                  <c:v>1.1340780590199659</c:v>
                </c:pt>
                <c:pt idx="150">
                  <c:v>1.142700425247362</c:v>
                </c:pt>
                <c:pt idx="151">
                  <c:v>1.1465747222431579</c:v>
                </c:pt>
                <c:pt idx="152">
                  <c:v>1.1347340850488561</c:v>
                </c:pt>
                <c:pt idx="153">
                  <c:v>1.128083202670519</c:v>
                </c:pt>
                <c:pt idx="154">
                  <c:v>1.1315021735137629</c:v>
                </c:pt>
                <c:pt idx="155">
                  <c:v>1.137467080525792</c:v>
                </c:pt>
                <c:pt idx="156">
                  <c:v>1.135246354421662</c:v>
                </c:pt>
                <c:pt idx="157">
                  <c:v>1.124606361731797</c:v>
                </c:pt>
                <c:pt idx="158">
                  <c:v>1.1310785950451709</c:v>
                </c:pt>
                <c:pt idx="159">
                  <c:v>1.1361340672759701</c:v>
                </c:pt>
                <c:pt idx="160">
                  <c:v>1.1346798218073011</c:v>
                </c:pt>
                <c:pt idx="161">
                  <c:v>1.1392340142858719</c:v>
                </c:pt>
                <c:pt idx="162">
                  <c:v>1.13825608145191</c:v>
                </c:pt>
                <c:pt idx="163">
                  <c:v>1.1326783878308579</c:v>
                </c:pt>
                <c:pt idx="164">
                  <c:v>1.1307407099972979</c:v>
                </c:pt>
                <c:pt idx="165">
                  <c:v>1.120154717743076</c:v>
                </c:pt>
                <c:pt idx="166">
                  <c:v>1.120774831674195</c:v>
                </c:pt>
                <c:pt idx="167">
                  <c:v>1.10756035907811</c:v>
                </c:pt>
                <c:pt idx="168">
                  <c:v>1.101581632530644</c:v>
                </c:pt>
                <c:pt idx="169">
                  <c:v>1.1089430724964739</c:v>
                </c:pt>
                <c:pt idx="170">
                  <c:v>1.114737097800867</c:v>
                </c:pt>
                <c:pt idx="171">
                  <c:v>1.1179968619032941</c:v>
                </c:pt>
                <c:pt idx="172">
                  <c:v>1.1140961797077451</c:v>
                </c:pt>
                <c:pt idx="173">
                  <c:v>1.1158956082086291</c:v>
                </c:pt>
                <c:pt idx="174">
                  <c:v>1.122325210658162</c:v>
                </c:pt>
                <c:pt idx="175">
                  <c:v>1.120257244952505</c:v>
                </c:pt>
                <c:pt idx="176">
                  <c:v>1.1133676797753791</c:v>
                </c:pt>
                <c:pt idx="177">
                  <c:v>1.116108957890587</c:v>
                </c:pt>
                <c:pt idx="178">
                  <c:v>1.1051969481662629</c:v>
                </c:pt>
                <c:pt idx="179">
                  <c:v>1.105314834821747</c:v>
                </c:pt>
                <c:pt idx="180">
                  <c:v>1.102275050754308</c:v>
                </c:pt>
                <c:pt idx="181">
                  <c:v>1.1086373749842351</c:v>
                </c:pt>
                <c:pt idx="182">
                  <c:v>1.109248757004784</c:v>
                </c:pt>
                <c:pt idx="183">
                  <c:v>1.122279632708485</c:v>
                </c:pt>
                <c:pt idx="184">
                  <c:v>1.135492079219885</c:v>
                </c:pt>
                <c:pt idx="185">
                  <c:v>1.13691097731093</c:v>
                </c:pt>
                <c:pt idx="186">
                  <c:v>1.132589173983402</c:v>
                </c:pt>
                <c:pt idx="187">
                  <c:v>1.129045467531032</c:v>
                </c:pt>
                <c:pt idx="188">
                  <c:v>1.1273648960058971</c:v>
                </c:pt>
                <c:pt idx="189">
                  <c:v>1.1240641487355381</c:v>
                </c:pt>
                <c:pt idx="190">
                  <c:v>1.1278816184797369</c:v>
                </c:pt>
                <c:pt idx="191">
                  <c:v>1.122572429322324</c:v>
                </c:pt>
                <c:pt idx="192">
                  <c:v>1.1199266143250819</c:v>
                </c:pt>
                <c:pt idx="193">
                  <c:v>1.111611131537444</c:v>
                </c:pt>
                <c:pt idx="194">
                  <c:v>1.1133481768489619</c:v>
                </c:pt>
                <c:pt idx="195">
                  <c:v>1.118062086929688</c:v>
                </c:pt>
                <c:pt idx="196">
                  <c:v>1.1215898423051751</c:v>
                </c:pt>
                <c:pt idx="197">
                  <c:v>1.1199833819919791</c:v>
                </c:pt>
                <c:pt idx="198">
                  <c:v>1.111796747633824</c:v>
                </c:pt>
                <c:pt idx="199">
                  <c:v>1.116207914384312</c:v>
                </c:pt>
                <c:pt idx="200">
                  <c:v>1.1229902634911211</c:v>
                </c:pt>
                <c:pt idx="201">
                  <c:v>1.1238298326874481</c:v>
                </c:pt>
                <c:pt idx="202">
                  <c:v>1.1317581242618999</c:v>
                </c:pt>
                <c:pt idx="203">
                  <c:v>1.1300472293036861</c:v>
                </c:pt>
                <c:pt idx="204">
                  <c:v>1.141608248903244</c:v>
                </c:pt>
                <c:pt idx="205">
                  <c:v>1.13231335572728</c:v>
                </c:pt>
                <c:pt idx="206">
                  <c:v>1.1220040745106259</c:v>
                </c:pt>
                <c:pt idx="207">
                  <c:v>1.12266728957981</c:v>
                </c:pt>
                <c:pt idx="208">
                  <c:v>1.1218184959681201</c:v>
                </c:pt>
                <c:pt idx="209">
                  <c:v>1.1228088999564401</c:v>
                </c:pt>
                <c:pt idx="210">
                  <c:v>1.118493749502032</c:v>
                </c:pt>
                <c:pt idx="211">
                  <c:v>1.115960869252161</c:v>
                </c:pt>
                <c:pt idx="212">
                  <c:v>1.1170432466367439</c:v>
                </c:pt>
                <c:pt idx="213">
                  <c:v>1.1185074836705171</c:v>
                </c:pt>
                <c:pt idx="214">
                  <c:v>1.1206684906013631</c:v>
                </c:pt>
                <c:pt idx="215">
                  <c:v>1.117986497801553</c:v>
                </c:pt>
                <c:pt idx="216">
                  <c:v>1.1108979074318071</c:v>
                </c:pt>
                <c:pt idx="217">
                  <c:v>1.109333267618773</c:v>
                </c:pt>
                <c:pt idx="218">
                  <c:v>1.110784519547847</c:v>
                </c:pt>
                <c:pt idx="219">
                  <c:v>1.1098742026767641</c:v>
                </c:pt>
                <c:pt idx="220">
                  <c:v>1.117209333563687</c:v>
                </c:pt>
                <c:pt idx="221">
                  <c:v>1.1194719961055939</c:v>
                </c:pt>
                <c:pt idx="222">
                  <c:v>1.1198872020706609</c:v>
                </c:pt>
                <c:pt idx="223">
                  <c:v>1.1219610014373951</c:v>
                </c:pt>
                <c:pt idx="224">
                  <c:v>1.1217162879362721</c:v>
                </c:pt>
                <c:pt idx="225">
                  <c:v>1.123794727167825</c:v>
                </c:pt>
                <c:pt idx="226">
                  <c:v>1.116189717013691</c:v>
                </c:pt>
                <c:pt idx="227">
                  <c:v>1.1166583430058239</c:v>
                </c:pt>
                <c:pt idx="228">
                  <c:v>1.111214462857669</c:v>
                </c:pt>
                <c:pt idx="229">
                  <c:v>1.1145357198853929</c:v>
                </c:pt>
                <c:pt idx="230">
                  <c:v>1.1167592627498759</c:v>
                </c:pt>
                <c:pt idx="231">
                  <c:v>1.114981380491074</c:v>
                </c:pt>
                <c:pt idx="232">
                  <c:v>1.119017078441531</c:v>
                </c:pt>
                <c:pt idx="233">
                  <c:v>1.119311112900738</c:v>
                </c:pt>
                <c:pt idx="234">
                  <c:v>1.1295324162083611</c:v>
                </c:pt>
                <c:pt idx="235">
                  <c:v>1.1196699157234331</c:v>
                </c:pt>
                <c:pt idx="236">
                  <c:v>1.124965992370329</c:v>
                </c:pt>
                <c:pt idx="237">
                  <c:v>1.12068485012359</c:v>
                </c:pt>
                <c:pt idx="238">
                  <c:v>1.1249503584358009</c:v>
                </c:pt>
                <c:pt idx="239">
                  <c:v>1.1228745354120371</c:v>
                </c:pt>
                <c:pt idx="240">
                  <c:v>1.1207715728406931</c:v>
                </c:pt>
                <c:pt idx="241">
                  <c:v>1.1266940162739789</c:v>
                </c:pt>
                <c:pt idx="242">
                  <c:v>1.134251147113474</c:v>
                </c:pt>
                <c:pt idx="243">
                  <c:v>1.143633101110316</c:v>
                </c:pt>
                <c:pt idx="244">
                  <c:v>1.1488018101380559</c:v>
                </c:pt>
                <c:pt idx="245">
                  <c:v>1.1475149805659419</c:v>
                </c:pt>
                <c:pt idx="246">
                  <c:v>1.1477170289097001</c:v>
                </c:pt>
                <c:pt idx="247">
                  <c:v>1.1460475020155081</c:v>
                </c:pt>
                <c:pt idx="248">
                  <c:v>1.139711536778296</c:v>
                </c:pt>
                <c:pt idx="249">
                  <c:v>1.1479092208307919</c:v>
                </c:pt>
                <c:pt idx="250">
                  <c:v>1.146481582890283</c:v>
                </c:pt>
                <c:pt idx="251">
                  <c:v>1.144133058806557</c:v>
                </c:pt>
                <c:pt idx="252">
                  <c:v>1.143828768103369</c:v>
                </c:pt>
                <c:pt idx="253">
                  <c:v>1.1519682494436041</c:v>
                </c:pt>
                <c:pt idx="254">
                  <c:v>1.1475287730489001</c:v>
                </c:pt>
                <c:pt idx="255">
                  <c:v>1.153679101281571</c:v>
                </c:pt>
                <c:pt idx="256">
                  <c:v>1.159637454484258</c:v>
                </c:pt>
                <c:pt idx="257">
                  <c:v>1.1602007429874459</c:v>
                </c:pt>
                <c:pt idx="258">
                  <c:v>1.159386601430654</c:v>
                </c:pt>
                <c:pt idx="259">
                  <c:v>1.151421033361818</c:v>
                </c:pt>
                <c:pt idx="260">
                  <c:v>1.15186360523547</c:v>
                </c:pt>
                <c:pt idx="261">
                  <c:v>1.1392008962501869</c:v>
                </c:pt>
                <c:pt idx="262">
                  <c:v>1.136332203993315</c:v>
                </c:pt>
                <c:pt idx="263">
                  <c:v>1.1412436830293691</c:v>
                </c:pt>
                <c:pt idx="264">
                  <c:v>1.1452553751303141</c:v>
                </c:pt>
                <c:pt idx="265">
                  <c:v>1.1397728620138889</c:v>
                </c:pt>
                <c:pt idx="266">
                  <c:v>1.1340417762153781</c:v>
                </c:pt>
                <c:pt idx="267">
                  <c:v>1.127949457617119</c:v>
                </c:pt>
                <c:pt idx="268">
                  <c:v>1.1337924948629079</c:v>
                </c:pt>
                <c:pt idx="269">
                  <c:v>1.143566541428773</c:v>
                </c:pt>
                <c:pt idx="270">
                  <c:v>1.147993437399526</c:v>
                </c:pt>
                <c:pt idx="271">
                  <c:v>1.1460475848823</c:v>
                </c:pt>
                <c:pt idx="272">
                  <c:v>1.1466424848760131</c:v>
                </c:pt>
                <c:pt idx="273">
                  <c:v>1.1420686912140909</c:v>
                </c:pt>
                <c:pt idx="274">
                  <c:v>1.1411287132167149</c:v>
                </c:pt>
                <c:pt idx="275">
                  <c:v>1.134658971252557</c:v>
                </c:pt>
                <c:pt idx="276">
                  <c:v>1.131909399340806</c:v>
                </c:pt>
                <c:pt idx="277">
                  <c:v>1.1239474031651731</c:v>
                </c:pt>
                <c:pt idx="278">
                  <c:v>1.132985276478772</c:v>
                </c:pt>
                <c:pt idx="279">
                  <c:v>1.1286865045143419</c:v>
                </c:pt>
                <c:pt idx="280">
                  <c:v>1.1333048046648939</c:v>
                </c:pt>
                <c:pt idx="281">
                  <c:v>1.122529296888074</c:v>
                </c:pt>
                <c:pt idx="282">
                  <c:v>1.1221473179892261</c:v>
                </c:pt>
                <c:pt idx="283">
                  <c:v>1.113097082100744</c:v>
                </c:pt>
                <c:pt idx="284">
                  <c:v>1.103418089579862</c:v>
                </c:pt>
                <c:pt idx="285">
                  <c:v>1.1047338095436441</c:v>
                </c:pt>
                <c:pt idx="286">
                  <c:v>1.113170331893681</c:v>
                </c:pt>
                <c:pt idx="287">
                  <c:v>1.111531674399054</c:v>
                </c:pt>
                <c:pt idx="288">
                  <c:v>1.1061928986333289</c:v>
                </c:pt>
                <c:pt idx="289">
                  <c:v>1.1084024225453559</c:v>
                </c:pt>
                <c:pt idx="290">
                  <c:v>1.112035723343175</c:v>
                </c:pt>
                <c:pt idx="291">
                  <c:v>1.114974278001118</c:v>
                </c:pt>
                <c:pt idx="292">
                  <c:v>1.109561011466468</c:v>
                </c:pt>
                <c:pt idx="293">
                  <c:v>1.1128699990192941</c:v>
                </c:pt>
                <c:pt idx="294">
                  <c:v>1.109551119046031</c:v>
                </c:pt>
                <c:pt idx="295">
                  <c:v>1.1041450626428659</c:v>
                </c:pt>
                <c:pt idx="296">
                  <c:v>1.105012942524487</c:v>
                </c:pt>
                <c:pt idx="297">
                  <c:v>1.111752056855335</c:v>
                </c:pt>
                <c:pt idx="298">
                  <c:v>1.1125550861597731</c:v>
                </c:pt>
                <c:pt idx="299">
                  <c:v>1.112129196605175</c:v>
                </c:pt>
                <c:pt idx="300">
                  <c:v>1.110196089882953</c:v>
                </c:pt>
                <c:pt idx="301">
                  <c:v>1.116424394630122</c:v>
                </c:pt>
                <c:pt idx="302">
                  <c:v>1.121045601789677</c:v>
                </c:pt>
                <c:pt idx="303">
                  <c:v>1.1213442051092619</c:v>
                </c:pt>
                <c:pt idx="304">
                  <c:v>1.121430190762672</c:v>
                </c:pt>
                <c:pt idx="305">
                  <c:v>1.1214875610762569</c:v>
                </c:pt>
                <c:pt idx="306">
                  <c:v>1.119556304331081</c:v>
                </c:pt>
                <c:pt idx="307">
                  <c:v>1.112574034716763</c:v>
                </c:pt>
                <c:pt idx="308">
                  <c:v>1.111907496264152</c:v>
                </c:pt>
                <c:pt idx="309">
                  <c:v>1.117133009129309</c:v>
                </c:pt>
                <c:pt idx="310">
                  <c:v>1.116638762532143</c:v>
                </c:pt>
                <c:pt idx="311">
                  <c:v>1.1195955945867491</c:v>
                </c:pt>
                <c:pt idx="312">
                  <c:v>1.127795432826906</c:v>
                </c:pt>
                <c:pt idx="313">
                  <c:v>1.126421521416723</c:v>
                </c:pt>
                <c:pt idx="314">
                  <c:v>1.127520159717007</c:v>
                </c:pt>
                <c:pt idx="315">
                  <c:v>1.130034513939127</c:v>
                </c:pt>
                <c:pt idx="316">
                  <c:v>1.130705020908116</c:v>
                </c:pt>
                <c:pt idx="317">
                  <c:v>1.128639936045986</c:v>
                </c:pt>
                <c:pt idx="318">
                  <c:v>1.128250333243809</c:v>
                </c:pt>
                <c:pt idx="319">
                  <c:v>1.130690868000541</c:v>
                </c:pt>
                <c:pt idx="320">
                  <c:v>1.1323047184624759</c:v>
                </c:pt>
                <c:pt idx="321">
                  <c:v>1.131816406913263</c:v>
                </c:pt>
                <c:pt idx="322">
                  <c:v>1.131974477674899</c:v>
                </c:pt>
                <c:pt idx="323">
                  <c:v>1.126832161316123</c:v>
                </c:pt>
                <c:pt idx="324">
                  <c:v>1.128083672805696</c:v>
                </c:pt>
                <c:pt idx="325">
                  <c:v>1.1275640649639509</c:v>
                </c:pt>
                <c:pt idx="326">
                  <c:v>1.1311159168357861</c:v>
                </c:pt>
                <c:pt idx="327">
                  <c:v>1.127480652170094</c:v>
                </c:pt>
                <c:pt idx="328">
                  <c:v>1.1335245646222709</c:v>
                </c:pt>
                <c:pt idx="329">
                  <c:v>1.13861263898916</c:v>
                </c:pt>
                <c:pt idx="330">
                  <c:v>1.1400434323323589</c:v>
                </c:pt>
                <c:pt idx="331">
                  <c:v>1.141507894994559</c:v>
                </c:pt>
                <c:pt idx="332">
                  <c:v>1.141427983829272</c:v>
                </c:pt>
                <c:pt idx="333">
                  <c:v>1.140496133312717</c:v>
                </c:pt>
                <c:pt idx="334">
                  <c:v>1.143204942714759</c:v>
                </c:pt>
                <c:pt idx="335">
                  <c:v>1.149445131066356</c:v>
                </c:pt>
                <c:pt idx="336">
                  <c:v>1.1500068926559981</c:v>
                </c:pt>
                <c:pt idx="337">
                  <c:v>1.153978328294373</c:v>
                </c:pt>
                <c:pt idx="338">
                  <c:v>1.153359242942446</c:v>
                </c:pt>
                <c:pt idx="339">
                  <c:v>1.160621032344437</c:v>
                </c:pt>
                <c:pt idx="340">
                  <c:v>1.163287631640388</c:v>
                </c:pt>
                <c:pt idx="341">
                  <c:v>1.157170736043029</c:v>
                </c:pt>
                <c:pt idx="342">
                  <c:v>1.1549178466874741</c:v>
                </c:pt>
                <c:pt idx="343">
                  <c:v>1.155844909373948</c:v>
                </c:pt>
                <c:pt idx="344">
                  <c:v>1.1582158925832049</c:v>
                </c:pt>
                <c:pt idx="345">
                  <c:v>1.15558439623208</c:v>
                </c:pt>
                <c:pt idx="346">
                  <c:v>1.157793388165069</c:v>
                </c:pt>
                <c:pt idx="347">
                  <c:v>1.162053492195662</c:v>
                </c:pt>
                <c:pt idx="348">
                  <c:v>1.160297588892433</c:v>
                </c:pt>
                <c:pt idx="349">
                  <c:v>1.1575215383770221</c:v>
                </c:pt>
                <c:pt idx="350">
                  <c:v>1.147735835577633</c:v>
                </c:pt>
                <c:pt idx="351">
                  <c:v>1.153648046277044</c:v>
                </c:pt>
                <c:pt idx="352">
                  <c:v>1.156563840588803</c:v>
                </c:pt>
                <c:pt idx="353">
                  <c:v>1.1605721565939291</c:v>
                </c:pt>
                <c:pt idx="354">
                  <c:v>1.16171495423113</c:v>
                </c:pt>
                <c:pt idx="355">
                  <c:v>1.167450468564678</c:v>
                </c:pt>
                <c:pt idx="356">
                  <c:v>1.1637506989138531</c:v>
                </c:pt>
                <c:pt idx="357">
                  <c:v>1.1684679074758919</c:v>
                </c:pt>
                <c:pt idx="358">
                  <c:v>1.1723068396064391</c:v>
                </c:pt>
                <c:pt idx="359">
                  <c:v>1.1697102978723359</c:v>
                </c:pt>
                <c:pt idx="360">
                  <c:v>1.1751774099503891</c:v>
                </c:pt>
                <c:pt idx="361">
                  <c:v>1.1717403725354509</c:v>
                </c:pt>
                <c:pt idx="362">
                  <c:v>1.1665870907649629</c:v>
                </c:pt>
                <c:pt idx="363">
                  <c:v>1.1739975193540499</c:v>
                </c:pt>
                <c:pt idx="364">
                  <c:v>1.1728254785980241</c:v>
                </c:pt>
                <c:pt idx="365">
                  <c:v>1.1807375671237079</c:v>
                </c:pt>
                <c:pt idx="366">
                  <c:v>1.1859829364769059</c:v>
                </c:pt>
                <c:pt idx="367">
                  <c:v>1.186838404213294</c:v>
                </c:pt>
                <c:pt idx="368">
                  <c:v>1.1965832490412891</c:v>
                </c:pt>
                <c:pt idx="369">
                  <c:v>1.1968669629623161</c:v>
                </c:pt>
                <c:pt idx="370">
                  <c:v>1.1926023974746629</c:v>
                </c:pt>
                <c:pt idx="371">
                  <c:v>1.196145969258726</c:v>
                </c:pt>
                <c:pt idx="372">
                  <c:v>1.193001909962619</c:v>
                </c:pt>
                <c:pt idx="373">
                  <c:v>1.1909968817030849</c:v>
                </c:pt>
                <c:pt idx="374">
                  <c:v>1.1944965995847789</c:v>
                </c:pt>
                <c:pt idx="375">
                  <c:v>1.204287981728295</c:v>
                </c:pt>
                <c:pt idx="376">
                  <c:v>1.2086285245180299</c:v>
                </c:pt>
                <c:pt idx="377">
                  <c:v>1.206359973036482</c:v>
                </c:pt>
                <c:pt idx="378">
                  <c:v>1.2041624882602431</c:v>
                </c:pt>
                <c:pt idx="379">
                  <c:v>1.1926997547565339</c:v>
                </c:pt>
                <c:pt idx="380">
                  <c:v>1.188042874034444</c:v>
                </c:pt>
                <c:pt idx="381">
                  <c:v>1.2054063694411039</c:v>
                </c:pt>
                <c:pt idx="382">
                  <c:v>1.209231700775701</c:v>
                </c:pt>
                <c:pt idx="383">
                  <c:v>1.2118628368914679</c:v>
                </c:pt>
                <c:pt idx="384">
                  <c:v>1.2009600031375529</c:v>
                </c:pt>
                <c:pt idx="385">
                  <c:v>1.212493501705652</c:v>
                </c:pt>
                <c:pt idx="386">
                  <c:v>1.210669122435555</c:v>
                </c:pt>
                <c:pt idx="387">
                  <c:v>1.211005049755296</c:v>
                </c:pt>
                <c:pt idx="388">
                  <c:v>1.2058244541788421</c:v>
                </c:pt>
                <c:pt idx="389">
                  <c:v>1.205799042568491</c:v>
                </c:pt>
                <c:pt idx="390">
                  <c:v>1.207213708967799</c:v>
                </c:pt>
                <c:pt idx="391">
                  <c:v>1.2108254412053721</c:v>
                </c:pt>
                <c:pt idx="392">
                  <c:v>1.207130559036546</c:v>
                </c:pt>
                <c:pt idx="393">
                  <c:v>1.204821696507365</c:v>
                </c:pt>
                <c:pt idx="394">
                  <c:v>1.1953258957532911</c:v>
                </c:pt>
                <c:pt idx="395">
                  <c:v>1.198514484663465</c:v>
                </c:pt>
                <c:pt idx="396">
                  <c:v>1.2018614755976369</c:v>
                </c:pt>
                <c:pt idx="397">
                  <c:v>1.2009823412150109</c:v>
                </c:pt>
                <c:pt idx="398">
                  <c:v>1.2096086742713521</c:v>
                </c:pt>
                <c:pt idx="399">
                  <c:v>1.2147609156356749</c:v>
                </c:pt>
                <c:pt idx="400">
                  <c:v>1.215711978481619</c:v>
                </c:pt>
                <c:pt idx="401">
                  <c:v>1.209016627239623</c:v>
                </c:pt>
                <c:pt idx="402">
                  <c:v>1.2136682866548401</c:v>
                </c:pt>
                <c:pt idx="403">
                  <c:v>1.2160494665413399</c:v>
                </c:pt>
                <c:pt idx="404">
                  <c:v>1.214011927493738</c:v>
                </c:pt>
                <c:pt idx="405">
                  <c:v>1.208451533002612</c:v>
                </c:pt>
                <c:pt idx="406">
                  <c:v>1.2101193621258359</c:v>
                </c:pt>
                <c:pt idx="407">
                  <c:v>1.2062085393965161</c:v>
                </c:pt>
                <c:pt idx="408">
                  <c:v>1.2123313055804259</c:v>
                </c:pt>
                <c:pt idx="409">
                  <c:v>1.217843587383336</c:v>
                </c:pt>
                <c:pt idx="410">
                  <c:v>1.2166854085818031</c:v>
                </c:pt>
                <c:pt idx="411">
                  <c:v>1.215903677701093</c:v>
                </c:pt>
                <c:pt idx="412">
                  <c:v>1.220390242586028</c:v>
                </c:pt>
                <c:pt idx="413">
                  <c:v>1.217402754671459</c:v>
                </c:pt>
                <c:pt idx="414">
                  <c:v>1.2171458182218451</c:v>
                </c:pt>
                <c:pt idx="415">
                  <c:v>1.218663079309652</c:v>
                </c:pt>
                <c:pt idx="416">
                  <c:v>1.2077682033514749</c:v>
                </c:pt>
                <c:pt idx="417">
                  <c:v>1.2070655550829339</c:v>
                </c:pt>
                <c:pt idx="418">
                  <c:v>1.210324437733671</c:v>
                </c:pt>
                <c:pt idx="419">
                  <c:v>1.209175988973191</c:v>
                </c:pt>
                <c:pt idx="420">
                  <c:v>1.204001938195163</c:v>
                </c:pt>
                <c:pt idx="421">
                  <c:v>1.1961679067163691</c:v>
                </c:pt>
                <c:pt idx="422">
                  <c:v>1.194492053295233</c:v>
                </c:pt>
                <c:pt idx="423">
                  <c:v>1.1837778403804231</c:v>
                </c:pt>
                <c:pt idx="424">
                  <c:v>1.1918334866871541</c:v>
                </c:pt>
                <c:pt idx="425">
                  <c:v>1.190852012034517</c:v>
                </c:pt>
                <c:pt idx="426">
                  <c:v>1.187730715628863</c:v>
                </c:pt>
                <c:pt idx="427">
                  <c:v>1.179090087393178</c:v>
                </c:pt>
                <c:pt idx="428">
                  <c:v>1.1838384614169319</c:v>
                </c:pt>
                <c:pt idx="429">
                  <c:v>1.186853801766401</c:v>
                </c:pt>
                <c:pt idx="430">
                  <c:v>1.1909655975318689</c:v>
                </c:pt>
                <c:pt idx="431">
                  <c:v>1.1898003230979231</c:v>
                </c:pt>
                <c:pt idx="432">
                  <c:v>1.19282120007888</c:v>
                </c:pt>
                <c:pt idx="433">
                  <c:v>1.1934908959393089</c:v>
                </c:pt>
                <c:pt idx="434">
                  <c:v>1.193079103806542</c:v>
                </c:pt>
                <c:pt idx="435">
                  <c:v>1.192507979812311</c:v>
                </c:pt>
                <c:pt idx="436">
                  <c:v>1.1979969182152259</c:v>
                </c:pt>
                <c:pt idx="437">
                  <c:v>1.1978259353100249</c:v>
                </c:pt>
                <c:pt idx="438">
                  <c:v>1.1953827215252439</c:v>
                </c:pt>
                <c:pt idx="439">
                  <c:v>1.1909887267068691</c:v>
                </c:pt>
                <c:pt idx="440">
                  <c:v>1.196772036782743</c:v>
                </c:pt>
                <c:pt idx="441">
                  <c:v>1.1985469644035289</c:v>
                </c:pt>
                <c:pt idx="442">
                  <c:v>1.1980375036079449</c:v>
                </c:pt>
                <c:pt idx="443">
                  <c:v>1.196097270762942</c:v>
                </c:pt>
                <c:pt idx="444">
                  <c:v>1.2007511016733881</c:v>
                </c:pt>
                <c:pt idx="445">
                  <c:v>1.1992808021514649</c:v>
                </c:pt>
                <c:pt idx="446">
                  <c:v>1.2025857325894</c:v>
                </c:pt>
                <c:pt idx="447">
                  <c:v>1.207507870968616</c:v>
                </c:pt>
                <c:pt idx="448">
                  <c:v>1.2070207177020309</c:v>
                </c:pt>
                <c:pt idx="449">
                  <c:v>1.213474056121713</c:v>
                </c:pt>
                <c:pt idx="450">
                  <c:v>1.215041109175127</c:v>
                </c:pt>
                <c:pt idx="451">
                  <c:v>1.210902635381349</c:v>
                </c:pt>
                <c:pt idx="452">
                  <c:v>1.2078235025354671</c:v>
                </c:pt>
                <c:pt idx="453">
                  <c:v>1.212211467778195</c:v>
                </c:pt>
                <c:pt idx="454">
                  <c:v>1.2104944845286369</c:v>
                </c:pt>
                <c:pt idx="455">
                  <c:v>1.214218314003209</c:v>
                </c:pt>
                <c:pt idx="456">
                  <c:v>1.2227815134123721</c:v>
                </c:pt>
                <c:pt idx="457">
                  <c:v>1.219742612573087</c:v>
                </c:pt>
                <c:pt idx="458">
                  <c:v>1.217841176047215</c:v>
                </c:pt>
                <c:pt idx="459">
                  <c:v>1.217036479408403</c:v>
                </c:pt>
                <c:pt idx="460">
                  <c:v>1.216968582115354</c:v>
                </c:pt>
                <c:pt idx="461">
                  <c:v>1.2197336532441201</c:v>
                </c:pt>
                <c:pt idx="462">
                  <c:v>1.2202700260024419</c:v>
                </c:pt>
                <c:pt idx="463">
                  <c:v>1.218723001773274</c:v>
                </c:pt>
                <c:pt idx="464">
                  <c:v>1.2153696032725181</c:v>
                </c:pt>
                <c:pt idx="465">
                  <c:v>1.2184732250107679</c:v>
                </c:pt>
                <c:pt idx="466">
                  <c:v>1.2138321294279439</c:v>
                </c:pt>
                <c:pt idx="467">
                  <c:v>1.207107670214469</c:v>
                </c:pt>
                <c:pt idx="468">
                  <c:v>1.214887793614714</c:v>
                </c:pt>
                <c:pt idx="469">
                  <c:v>1.215743875402338</c:v>
                </c:pt>
                <c:pt idx="470">
                  <c:v>1.216375477164231</c:v>
                </c:pt>
                <c:pt idx="471">
                  <c:v>1.218684768048701</c:v>
                </c:pt>
                <c:pt idx="472">
                  <c:v>1.2183554433633521</c:v>
                </c:pt>
                <c:pt idx="473">
                  <c:v>1.2149282568627831</c:v>
                </c:pt>
                <c:pt idx="474">
                  <c:v>1.2179662114315231</c:v>
                </c:pt>
                <c:pt idx="475">
                  <c:v>1.2124602517994341</c:v>
                </c:pt>
                <c:pt idx="476">
                  <c:v>1.2037421743136689</c:v>
                </c:pt>
                <c:pt idx="477">
                  <c:v>1.207128678973018</c:v>
                </c:pt>
                <c:pt idx="478">
                  <c:v>1.2102834462769341</c:v>
                </c:pt>
                <c:pt idx="479">
                  <c:v>1.213199283340529</c:v>
                </c:pt>
                <c:pt idx="480">
                  <c:v>1.2080768456659301</c:v>
                </c:pt>
                <c:pt idx="481">
                  <c:v>1.2077417785866429</c:v>
                </c:pt>
                <c:pt idx="482">
                  <c:v>1.2114787619784291</c:v>
                </c:pt>
                <c:pt idx="483">
                  <c:v>1.2086422716289129</c:v>
                </c:pt>
                <c:pt idx="484">
                  <c:v>1.213205907091639</c:v>
                </c:pt>
                <c:pt idx="485">
                  <c:v>1.2169023130863219</c:v>
                </c:pt>
                <c:pt idx="486">
                  <c:v>1.2131005591139019</c:v>
                </c:pt>
                <c:pt idx="487">
                  <c:v>1.205055081593452</c:v>
                </c:pt>
                <c:pt idx="488">
                  <c:v>1.203875242922076</c:v>
                </c:pt>
                <c:pt idx="489">
                  <c:v>1.198040222180351</c:v>
                </c:pt>
                <c:pt idx="490">
                  <c:v>1.200778657936487</c:v>
                </c:pt>
                <c:pt idx="491">
                  <c:v>1.1976096151354041</c:v>
                </c:pt>
                <c:pt idx="492">
                  <c:v>1.204104867127981</c:v>
                </c:pt>
                <c:pt idx="493">
                  <c:v>1.1989377201025531</c:v>
                </c:pt>
                <c:pt idx="494">
                  <c:v>1.200475315638488</c:v>
                </c:pt>
                <c:pt idx="495">
                  <c:v>1.206262576868621</c:v>
                </c:pt>
                <c:pt idx="496">
                  <c:v>1.2062468239515129</c:v>
                </c:pt>
                <c:pt idx="497">
                  <c:v>1.202800907620126</c:v>
                </c:pt>
                <c:pt idx="498">
                  <c:v>1.201180826045001</c:v>
                </c:pt>
                <c:pt idx="499">
                  <c:v>1.197587342871935</c:v>
                </c:pt>
                <c:pt idx="500">
                  <c:v>1.2005366338885251</c:v>
                </c:pt>
                <c:pt idx="501">
                  <c:v>1.190378816755185</c:v>
                </c:pt>
                <c:pt idx="502">
                  <c:v>1.192406073714505</c:v>
                </c:pt>
                <c:pt idx="503">
                  <c:v>1.181142071265679</c:v>
                </c:pt>
                <c:pt idx="504">
                  <c:v>1.1807344995739339</c:v>
                </c:pt>
                <c:pt idx="505">
                  <c:v>1.1837317900512889</c:v>
                </c:pt>
                <c:pt idx="506">
                  <c:v>1.1816425559877199</c:v>
                </c:pt>
                <c:pt idx="507">
                  <c:v>1.1868342894386961</c:v>
                </c:pt>
                <c:pt idx="508">
                  <c:v>1.1857057819281409</c:v>
                </c:pt>
                <c:pt idx="509">
                  <c:v>1.1772985282167809</c:v>
                </c:pt>
                <c:pt idx="510">
                  <c:v>1.1773705459006369</c:v>
                </c:pt>
                <c:pt idx="511">
                  <c:v>1.184738434414722</c:v>
                </c:pt>
                <c:pt idx="512">
                  <c:v>1.1836958016536081</c:v>
                </c:pt>
                <c:pt idx="513">
                  <c:v>1.187533045736183</c:v>
                </c:pt>
                <c:pt idx="514">
                  <c:v>1.1886901188290619</c:v>
                </c:pt>
                <c:pt idx="515">
                  <c:v>1.188115625934554</c:v>
                </c:pt>
                <c:pt idx="516">
                  <c:v>1.1864567755624289</c:v>
                </c:pt>
                <c:pt idx="517">
                  <c:v>1.1936277180449479</c:v>
                </c:pt>
                <c:pt idx="518">
                  <c:v>1.1900376154179579</c:v>
                </c:pt>
                <c:pt idx="519">
                  <c:v>1.1927120515825349</c:v>
                </c:pt>
                <c:pt idx="520">
                  <c:v>1.1936016544147561</c:v>
                </c:pt>
                <c:pt idx="521">
                  <c:v>1.194936994774477</c:v>
                </c:pt>
                <c:pt idx="522">
                  <c:v>1.1941680823838801</c:v>
                </c:pt>
                <c:pt idx="523">
                  <c:v>1.188601944173274</c:v>
                </c:pt>
                <c:pt idx="524">
                  <c:v>1.1863132238914771</c:v>
                </c:pt>
                <c:pt idx="525">
                  <c:v>1.1796659091824651</c:v>
                </c:pt>
                <c:pt idx="526">
                  <c:v>1.1747697716398131</c:v>
                </c:pt>
                <c:pt idx="527">
                  <c:v>1.174451836445555</c:v>
                </c:pt>
                <c:pt idx="528">
                  <c:v>1.175475098666976</c:v>
                </c:pt>
                <c:pt idx="529">
                  <c:v>1.1783282546613589</c:v>
                </c:pt>
                <c:pt idx="530">
                  <c:v>1.1689667085215041</c:v>
                </c:pt>
                <c:pt idx="531">
                  <c:v>1.1539959251826191</c:v>
                </c:pt>
                <c:pt idx="532">
                  <c:v>1.1648207874978791</c:v>
                </c:pt>
                <c:pt idx="533">
                  <c:v>1.1713110369250459</c:v>
                </c:pt>
                <c:pt idx="534">
                  <c:v>1.1734559725212901</c:v>
                </c:pt>
                <c:pt idx="535">
                  <c:v>1.175447161011931</c:v>
                </c:pt>
                <c:pt idx="536">
                  <c:v>1.1741606275036749</c:v>
                </c:pt>
                <c:pt idx="537">
                  <c:v>1.1747559229325171</c:v>
                </c:pt>
                <c:pt idx="538">
                  <c:v>1.1734620364476991</c:v>
                </c:pt>
                <c:pt idx="539">
                  <c:v>1.1699596617179071</c:v>
                </c:pt>
                <c:pt idx="540">
                  <c:v>1.166169142990108</c:v>
                </c:pt>
                <c:pt idx="541">
                  <c:v>1.1645141185421219</c:v>
                </c:pt>
                <c:pt idx="542">
                  <c:v>1.171743143384814</c:v>
                </c:pt>
                <c:pt idx="543">
                  <c:v>1.167564163001217</c:v>
                </c:pt>
                <c:pt idx="544">
                  <c:v>1.170078023410732</c:v>
                </c:pt>
                <c:pt idx="545">
                  <c:v>1.1666831257983341</c:v>
                </c:pt>
                <c:pt idx="546">
                  <c:v>1.161577186912061</c:v>
                </c:pt>
                <c:pt idx="547">
                  <c:v>1.1611033428177009</c:v>
                </c:pt>
                <c:pt idx="548">
                  <c:v>1.15143166071321</c:v>
                </c:pt>
                <c:pt idx="549">
                  <c:v>1.156544213362966</c:v>
                </c:pt>
                <c:pt idx="550">
                  <c:v>1.1518786438715951</c:v>
                </c:pt>
                <c:pt idx="551">
                  <c:v>1.156063146420393</c:v>
                </c:pt>
                <c:pt idx="552">
                  <c:v>1.1539370283543711</c:v>
                </c:pt>
                <c:pt idx="553">
                  <c:v>1.1583540420501011</c:v>
                </c:pt>
                <c:pt idx="554">
                  <c:v>1.155794164935382</c:v>
                </c:pt>
                <c:pt idx="555">
                  <c:v>1.1486662507711449</c:v>
                </c:pt>
                <c:pt idx="556">
                  <c:v>1.14184733471584</c:v>
                </c:pt>
                <c:pt idx="557">
                  <c:v>1.1396250828740251</c:v>
                </c:pt>
                <c:pt idx="558">
                  <c:v>1.121987284762388</c:v>
                </c:pt>
                <c:pt idx="559">
                  <c:v>1.114719355024788</c:v>
                </c:pt>
                <c:pt idx="560">
                  <c:v>1.1266568787548219</c:v>
                </c:pt>
                <c:pt idx="561">
                  <c:v>1.124741549770045</c:v>
                </c:pt>
                <c:pt idx="562">
                  <c:v>1.1362397741771639</c:v>
                </c:pt>
                <c:pt idx="563">
                  <c:v>1.137388882844891</c:v>
                </c:pt>
                <c:pt idx="564">
                  <c:v>1.1324365187934531</c:v>
                </c:pt>
                <c:pt idx="565">
                  <c:v>1.1337005646152001</c:v>
                </c:pt>
                <c:pt idx="566">
                  <c:v>1.1390843695917581</c:v>
                </c:pt>
                <c:pt idx="567">
                  <c:v>1.1424675618164231</c:v>
                </c:pt>
                <c:pt idx="568">
                  <c:v>1.144370728127015</c:v>
                </c:pt>
                <c:pt idx="569">
                  <c:v>1.1446384902668729</c:v>
                </c:pt>
                <c:pt idx="570">
                  <c:v>1.1431210310113</c:v>
                </c:pt>
                <c:pt idx="571">
                  <c:v>1.147199881318437</c:v>
                </c:pt>
                <c:pt idx="572">
                  <c:v>1.1467402981606021</c:v>
                </c:pt>
                <c:pt idx="573">
                  <c:v>1.1492306641462191</c:v>
                </c:pt>
                <c:pt idx="574">
                  <c:v>1.1525864362016101</c:v>
                </c:pt>
                <c:pt idx="575">
                  <c:v>1.155765434024248</c:v>
                </c:pt>
                <c:pt idx="576">
                  <c:v>1.1461156089850999</c:v>
                </c:pt>
                <c:pt idx="577">
                  <c:v>1.149456081663893</c:v>
                </c:pt>
                <c:pt idx="578">
                  <c:v>1.151922548325133</c:v>
                </c:pt>
                <c:pt idx="579">
                  <c:v>1.1519245211254621</c:v>
                </c:pt>
                <c:pt idx="580">
                  <c:v>1.153458588149757</c:v>
                </c:pt>
                <c:pt idx="581">
                  <c:v>1.1567996273806711</c:v>
                </c:pt>
                <c:pt idx="582">
                  <c:v>1.1560352263950311</c:v>
                </c:pt>
                <c:pt idx="583">
                  <c:v>1.1602976130995311</c:v>
                </c:pt>
                <c:pt idx="584">
                  <c:v>1.1665606639792241</c:v>
                </c:pt>
                <c:pt idx="585">
                  <c:v>1.165370475544439</c:v>
                </c:pt>
                <c:pt idx="586">
                  <c:v>1.1668483654317849</c:v>
                </c:pt>
                <c:pt idx="587">
                  <c:v>1.162556445646139</c:v>
                </c:pt>
                <c:pt idx="588">
                  <c:v>1.167927545614817</c:v>
                </c:pt>
                <c:pt idx="589">
                  <c:v>1.170122312953102</c:v>
                </c:pt>
                <c:pt idx="590">
                  <c:v>1.167871872417495</c:v>
                </c:pt>
                <c:pt idx="591">
                  <c:v>1.166786454826148</c:v>
                </c:pt>
                <c:pt idx="592">
                  <c:v>1.169415966184542</c:v>
                </c:pt>
                <c:pt idx="593">
                  <c:v>1.1739743786854091</c:v>
                </c:pt>
                <c:pt idx="594">
                  <c:v>1.1764031035642191</c:v>
                </c:pt>
                <c:pt idx="595">
                  <c:v>1.1731310307464149</c:v>
                </c:pt>
                <c:pt idx="596">
                  <c:v>1.1704084150767999</c:v>
                </c:pt>
                <c:pt idx="597">
                  <c:v>1.1774747235371981</c:v>
                </c:pt>
                <c:pt idx="598">
                  <c:v>1.180342243689432</c:v>
                </c:pt>
                <c:pt idx="599">
                  <c:v>1.1831778646478179</c:v>
                </c:pt>
                <c:pt idx="600">
                  <c:v>1.1865055364520951</c:v>
                </c:pt>
                <c:pt idx="601">
                  <c:v>1.17832830548423</c:v>
                </c:pt>
                <c:pt idx="602">
                  <c:v>1.1833707148367301</c:v>
                </c:pt>
                <c:pt idx="603">
                  <c:v>1.182323064876825</c:v>
                </c:pt>
                <c:pt idx="604">
                  <c:v>1.185730901204876</c:v>
                </c:pt>
                <c:pt idx="605">
                  <c:v>1.184568144020826</c:v>
                </c:pt>
                <c:pt idx="606">
                  <c:v>1.1806522008618381</c:v>
                </c:pt>
                <c:pt idx="607">
                  <c:v>1.1831612212293601</c:v>
                </c:pt>
                <c:pt idx="608">
                  <c:v>1.1813922984681879</c:v>
                </c:pt>
                <c:pt idx="609">
                  <c:v>1.177535310023496</c:v>
                </c:pt>
                <c:pt idx="610">
                  <c:v>1.172023566111053</c:v>
                </c:pt>
                <c:pt idx="611">
                  <c:v>1.1735192104343859</c:v>
                </c:pt>
                <c:pt idx="612">
                  <c:v>1.1774396813601109</c:v>
                </c:pt>
                <c:pt idx="613">
                  <c:v>1.174277213903129</c:v>
                </c:pt>
                <c:pt idx="614">
                  <c:v>1.1787220389764519</c:v>
                </c:pt>
                <c:pt idx="615">
                  <c:v>1.178495357184608</c:v>
                </c:pt>
                <c:pt idx="616">
                  <c:v>1.1811902637755449</c:v>
                </c:pt>
                <c:pt idx="617">
                  <c:v>1.179326268227965</c:v>
                </c:pt>
                <c:pt idx="618">
                  <c:v>1.179324903263395</c:v>
                </c:pt>
                <c:pt idx="619">
                  <c:v>1.1760084115275939</c:v>
                </c:pt>
                <c:pt idx="620">
                  <c:v>1.180101118618917</c:v>
                </c:pt>
                <c:pt idx="621">
                  <c:v>1.181310688530083</c:v>
                </c:pt>
                <c:pt idx="622">
                  <c:v>1.1835251357918659</c:v>
                </c:pt>
                <c:pt idx="623">
                  <c:v>1.183680243504702</c:v>
                </c:pt>
                <c:pt idx="624">
                  <c:v>1.188405980309077</c:v>
                </c:pt>
                <c:pt idx="625">
                  <c:v>1.1828437862199641</c:v>
                </c:pt>
                <c:pt idx="626">
                  <c:v>1.1804007677305239</c:v>
                </c:pt>
                <c:pt idx="627">
                  <c:v>1.1839048083896979</c:v>
                </c:pt>
                <c:pt idx="628">
                  <c:v>1.190889431045117</c:v>
                </c:pt>
                <c:pt idx="629">
                  <c:v>1.192275619262162</c:v>
                </c:pt>
                <c:pt idx="630">
                  <c:v>1.1939380933364829</c:v>
                </c:pt>
                <c:pt idx="631">
                  <c:v>1.192624098792328</c:v>
                </c:pt>
                <c:pt idx="632">
                  <c:v>1.1962297568157909</c:v>
                </c:pt>
                <c:pt idx="633">
                  <c:v>1.1925089292743749</c:v>
                </c:pt>
                <c:pt idx="634">
                  <c:v>1.1970771480028879</c:v>
                </c:pt>
                <c:pt idx="635">
                  <c:v>1.1991066560885579</c:v>
                </c:pt>
                <c:pt idx="636">
                  <c:v>1.199936650232946</c:v>
                </c:pt>
                <c:pt idx="637">
                  <c:v>1.201105090185479</c:v>
                </c:pt>
                <c:pt idx="638">
                  <c:v>1.194437034151878</c:v>
                </c:pt>
                <c:pt idx="639">
                  <c:v>1.197424127828701</c:v>
                </c:pt>
                <c:pt idx="640">
                  <c:v>1.198698528322232</c:v>
                </c:pt>
                <c:pt idx="641">
                  <c:v>1.1884174104200631</c:v>
                </c:pt>
                <c:pt idx="642">
                  <c:v>1.186243065596519</c:v>
                </c:pt>
                <c:pt idx="643">
                  <c:v>1.1846270793628619</c:v>
                </c:pt>
                <c:pt idx="644">
                  <c:v>1.18578051728312</c:v>
                </c:pt>
                <c:pt idx="645">
                  <c:v>1.1854153104219001</c:v>
                </c:pt>
                <c:pt idx="646">
                  <c:v>1.1765395278745749</c:v>
                </c:pt>
                <c:pt idx="647">
                  <c:v>1.173953551700875</c:v>
                </c:pt>
                <c:pt idx="648">
                  <c:v>1.1760527006538699</c:v>
                </c:pt>
                <c:pt idx="649">
                  <c:v>1.17806943681965</c:v>
                </c:pt>
                <c:pt idx="650">
                  <c:v>1.183744642285586</c:v>
                </c:pt>
                <c:pt idx="651">
                  <c:v>1.1864534508217111</c:v>
                </c:pt>
                <c:pt idx="652">
                  <c:v>1.184065364203861</c:v>
                </c:pt>
                <c:pt idx="653">
                  <c:v>1.1838114267888979</c:v>
                </c:pt>
                <c:pt idx="654">
                  <c:v>1.1840191252835579</c:v>
                </c:pt>
                <c:pt idx="655">
                  <c:v>1.1802216514677659</c:v>
                </c:pt>
                <c:pt idx="656">
                  <c:v>1.170717352435465</c:v>
                </c:pt>
                <c:pt idx="657">
                  <c:v>1.165335294755161</c:v>
                </c:pt>
                <c:pt idx="658">
                  <c:v>1.16310110794171</c:v>
                </c:pt>
                <c:pt idx="659">
                  <c:v>1.166515674561436</c:v>
                </c:pt>
                <c:pt idx="660">
                  <c:v>1.165381795688238</c:v>
                </c:pt>
                <c:pt idx="661">
                  <c:v>1.1646131142057721</c:v>
                </c:pt>
                <c:pt idx="662">
                  <c:v>1.159846232987467</c:v>
                </c:pt>
                <c:pt idx="663">
                  <c:v>1.157246544450282</c:v>
                </c:pt>
                <c:pt idx="664">
                  <c:v>1.1620895071823709</c:v>
                </c:pt>
                <c:pt idx="665">
                  <c:v>1.153706027511898</c:v>
                </c:pt>
                <c:pt idx="666">
                  <c:v>1.155324400463777</c:v>
                </c:pt>
                <c:pt idx="667">
                  <c:v>1.150009003203835</c:v>
                </c:pt>
                <c:pt idx="668">
                  <c:v>1.144515326188952</c:v>
                </c:pt>
                <c:pt idx="669">
                  <c:v>1.145738333379416</c:v>
                </c:pt>
                <c:pt idx="670">
                  <c:v>1.153790312828743</c:v>
                </c:pt>
                <c:pt idx="671">
                  <c:v>1.1555819278290651</c:v>
                </c:pt>
                <c:pt idx="672">
                  <c:v>1.161673251215344</c:v>
                </c:pt>
                <c:pt idx="673">
                  <c:v>1.163199623536366</c:v>
                </c:pt>
                <c:pt idx="674">
                  <c:v>1.1638168752978379</c:v>
                </c:pt>
                <c:pt idx="675">
                  <c:v>1.1610227743584469</c:v>
                </c:pt>
                <c:pt idx="676">
                  <c:v>1.160170383433466</c:v>
                </c:pt>
                <c:pt idx="677">
                  <c:v>1.1600838540293339</c:v>
                </c:pt>
                <c:pt idx="678">
                  <c:v>1.1585736899243799</c:v>
                </c:pt>
                <c:pt idx="679">
                  <c:v>1.157687772213188</c:v>
                </c:pt>
                <c:pt idx="680">
                  <c:v>1.1627882328362069</c:v>
                </c:pt>
                <c:pt idx="681">
                  <c:v>1.1602742713070859</c:v>
                </c:pt>
                <c:pt idx="682">
                  <c:v>1.1524625643895621</c:v>
                </c:pt>
                <c:pt idx="683">
                  <c:v>1.154714351254116</c:v>
                </c:pt>
                <c:pt idx="684">
                  <c:v>1.159841280030897</c:v>
                </c:pt>
                <c:pt idx="685">
                  <c:v>1.1623509516998369</c:v>
                </c:pt>
                <c:pt idx="686">
                  <c:v>1.1635540756829981</c:v>
                </c:pt>
                <c:pt idx="687">
                  <c:v>1.169234455081916</c:v>
                </c:pt>
                <c:pt idx="688">
                  <c:v>1.1692862304363489</c:v>
                </c:pt>
                <c:pt idx="689">
                  <c:v>1.168088058549849</c:v>
                </c:pt>
                <c:pt idx="690">
                  <c:v>1.168705015127468</c:v>
                </c:pt>
                <c:pt idx="691">
                  <c:v>1.1644004912320789</c:v>
                </c:pt>
                <c:pt idx="692">
                  <c:v>1.1674659157598619</c:v>
                </c:pt>
                <c:pt idx="693">
                  <c:v>1.1610150295391839</c:v>
                </c:pt>
                <c:pt idx="694">
                  <c:v>1.1686854758101439</c:v>
                </c:pt>
                <c:pt idx="695">
                  <c:v>1.1659048318061029</c:v>
                </c:pt>
                <c:pt idx="696">
                  <c:v>1.167411075238266</c:v>
                </c:pt>
                <c:pt idx="697">
                  <c:v>1.1642870562034351</c:v>
                </c:pt>
                <c:pt idx="698">
                  <c:v>1.1642836293550249</c:v>
                </c:pt>
                <c:pt idx="699">
                  <c:v>1.160639822919924</c:v>
                </c:pt>
                <c:pt idx="700">
                  <c:v>1.1605956129240811</c:v>
                </c:pt>
                <c:pt idx="701">
                  <c:v>1.161687710745243</c:v>
                </c:pt>
                <c:pt idx="702">
                  <c:v>1.158782909971747</c:v>
                </c:pt>
                <c:pt idx="703">
                  <c:v>1.157019637903282</c:v>
                </c:pt>
                <c:pt idx="704">
                  <c:v>1.1595904000781101</c:v>
                </c:pt>
                <c:pt idx="705">
                  <c:v>1.158810264081249</c:v>
                </c:pt>
                <c:pt idx="706">
                  <c:v>1.1622499944968361</c:v>
                </c:pt>
                <c:pt idx="707">
                  <c:v>1.1626556865522319</c:v>
                </c:pt>
                <c:pt idx="708">
                  <c:v>1.162065798782705</c:v>
                </c:pt>
                <c:pt idx="709">
                  <c:v>1.1610002851984991</c:v>
                </c:pt>
                <c:pt idx="710">
                  <c:v>1.1600437660261691</c:v>
                </c:pt>
                <c:pt idx="711">
                  <c:v>1.1586622493262311</c:v>
                </c:pt>
                <c:pt idx="712">
                  <c:v>1.1589654367570641</c:v>
                </c:pt>
                <c:pt idx="713">
                  <c:v>1.1583081214446529</c:v>
                </c:pt>
                <c:pt idx="714">
                  <c:v>1.154918833993974</c:v>
                </c:pt>
                <c:pt idx="715">
                  <c:v>1.156137109726207</c:v>
                </c:pt>
                <c:pt idx="716">
                  <c:v>1.1562845162776501</c:v>
                </c:pt>
                <c:pt idx="717">
                  <c:v>1.152764290817573</c:v>
                </c:pt>
                <c:pt idx="718">
                  <c:v>1.148388809930099</c:v>
                </c:pt>
                <c:pt idx="719">
                  <c:v>1.14624914317412</c:v>
                </c:pt>
                <c:pt idx="720">
                  <c:v>1.1455850558802001</c:v>
                </c:pt>
                <c:pt idx="721">
                  <c:v>1.1430507665561189</c:v>
                </c:pt>
                <c:pt idx="722">
                  <c:v>1.142104846522251</c:v>
                </c:pt>
                <c:pt idx="723">
                  <c:v>1.1472422838436911</c:v>
                </c:pt>
                <c:pt idx="724">
                  <c:v>1.149523946742105</c:v>
                </c:pt>
                <c:pt idx="725">
                  <c:v>1.148078789401082</c:v>
                </c:pt>
                <c:pt idx="726">
                  <c:v>1.148209250236335</c:v>
                </c:pt>
                <c:pt idx="727">
                  <c:v>1.15018726378046</c:v>
                </c:pt>
                <c:pt idx="728">
                  <c:v>1.1579810528860941</c:v>
                </c:pt>
                <c:pt idx="729">
                  <c:v>1.158236357507954</c:v>
                </c:pt>
                <c:pt idx="730">
                  <c:v>1.1624436589767859</c:v>
                </c:pt>
                <c:pt idx="731">
                  <c:v>1.1619012003889619</c:v>
                </c:pt>
                <c:pt idx="732">
                  <c:v>1.1644169258940049</c:v>
                </c:pt>
                <c:pt idx="733">
                  <c:v>1.1650219403878399</c:v>
                </c:pt>
                <c:pt idx="734">
                  <c:v>1.1619393494925001</c:v>
                </c:pt>
                <c:pt idx="735">
                  <c:v>1.1620402233477169</c:v>
                </c:pt>
                <c:pt idx="736">
                  <c:v>1.163410998737437</c:v>
                </c:pt>
                <c:pt idx="737">
                  <c:v>1.1686571008239599</c:v>
                </c:pt>
                <c:pt idx="738">
                  <c:v>1.170171034336142</c:v>
                </c:pt>
                <c:pt idx="739">
                  <c:v>1.170303719748039</c:v>
                </c:pt>
                <c:pt idx="740">
                  <c:v>1.1743662763480089</c:v>
                </c:pt>
                <c:pt idx="741">
                  <c:v>1.177707677434191</c:v>
                </c:pt>
                <c:pt idx="742">
                  <c:v>1.180827231448105</c:v>
                </c:pt>
                <c:pt idx="743">
                  <c:v>1.1770593442356301</c:v>
                </c:pt>
                <c:pt idx="744">
                  <c:v>1.1826140551479289</c:v>
                </c:pt>
                <c:pt idx="745">
                  <c:v>1.1852702791036691</c:v>
                </c:pt>
                <c:pt idx="746">
                  <c:v>1.1836583632759301</c:v>
                </c:pt>
                <c:pt idx="747">
                  <c:v>1.179839805586022</c:v>
                </c:pt>
                <c:pt idx="748">
                  <c:v>1.1797213814140071</c:v>
                </c:pt>
                <c:pt idx="749">
                  <c:v>1.1775394331250419</c:v>
                </c:pt>
                <c:pt idx="750">
                  <c:v>1.1849960133836639</c:v>
                </c:pt>
                <c:pt idx="751">
                  <c:v>1.183017820979283</c:v>
                </c:pt>
                <c:pt idx="752">
                  <c:v>1.186641473292859</c:v>
                </c:pt>
                <c:pt idx="753">
                  <c:v>1.185962754978487</c:v>
                </c:pt>
                <c:pt idx="754">
                  <c:v>1.1871262838213179</c:v>
                </c:pt>
                <c:pt idx="755">
                  <c:v>1.1808402296984779</c:v>
                </c:pt>
                <c:pt idx="756">
                  <c:v>1.1742405401479441</c:v>
                </c:pt>
                <c:pt idx="757">
                  <c:v>1.1800374795832631</c:v>
                </c:pt>
                <c:pt idx="758">
                  <c:v>1.179860517286335</c:v>
                </c:pt>
                <c:pt idx="759">
                  <c:v>1.1800345995710579</c:v>
                </c:pt>
                <c:pt idx="760">
                  <c:v>1.1783180615222499</c:v>
                </c:pt>
                <c:pt idx="761">
                  <c:v>1.1777033564794159</c:v>
                </c:pt>
                <c:pt idx="762">
                  <c:v>1.175085311456376</c:v>
                </c:pt>
                <c:pt idx="763">
                  <c:v>1.178404484013055</c:v>
                </c:pt>
                <c:pt idx="764">
                  <c:v>1.182030058273611</c:v>
                </c:pt>
                <c:pt idx="765">
                  <c:v>1.180123875598641</c:v>
                </c:pt>
                <c:pt idx="766">
                  <c:v>1.181200958622985</c:v>
                </c:pt>
                <c:pt idx="767">
                  <c:v>1.1844023818714751</c:v>
                </c:pt>
                <c:pt idx="768">
                  <c:v>1.1763644699302469</c:v>
                </c:pt>
                <c:pt idx="769">
                  <c:v>1.177696600846021</c:v>
                </c:pt>
                <c:pt idx="770">
                  <c:v>1.178433907396192</c:v>
                </c:pt>
                <c:pt idx="771">
                  <c:v>1.1750154427157169</c:v>
                </c:pt>
                <c:pt idx="772">
                  <c:v>1.179359683751912</c:v>
                </c:pt>
                <c:pt idx="773">
                  <c:v>1.179903543249758</c:v>
                </c:pt>
                <c:pt idx="774">
                  <c:v>1.1797938171102971</c:v>
                </c:pt>
                <c:pt idx="775">
                  <c:v>1.176260286109059</c:v>
                </c:pt>
                <c:pt idx="776">
                  <c:v>1.1817371904152081</c:v>
                </c:pt>
                <c:pt idx="777">
                  <c:v>1.187265327965765</c:v>
                </c:pt>
                <c:pt idx="778">
                  <c:v>1.189147965164804</c:v>
                </c:pt>
                <c:pt idx="779">
                  <c:v>1.1905625106030699</c:v>
                </c:pt>
                <c:pt idx="780">
                  <c:v>1.1964287577881869</c:v>
                </c:pt>
                <c:pt idx="781">
                  <c:v>1.1976824920886171</c:v>
                </c:pt>
                <c:pt idx="782">
                  <c:v>1.1977144458578779</c:v>
                </c:pt>
                <c:pt idx="783">
                  <c:v>1.1925610505070461</c:v>
                </c:pt>
                <c:pt idx="784">
                  <c:v>1.1958120326601349</c:v>
                </c:pt>
                <c:pt idx="785">
                  <c:v>1.1958080374151361</c:v>
                </c:pt>
                <c:pt idx="786">
                  <c:v>1.202549050086112</c:v>
                </c:pt>
                <c:pt idx="787">
                  <c:v>1.2113652266946191</c:v>
                </c:pt>
                <c:pt idx="788">
                  <c:v>1.211330843690267</c:v>
                </c:pt>
                <c:pt idx="789">
                  <c:v>1.2155587510030299</c:v>
                </c:pt>
                <c:pt idx="790">
                  <c:v>1.2196654861019991</c:v>
                </c:pt>
                <c:pt idx="791">
                  <c:v>1.2118142639856011</c:v>
                </c:pt>
                <c:pt idx="792">
                  <c:v>1.2135434827773779</c:v>
                </c:pt>
                <c:pt idx="793">
                  <c:v>1.2177308810450109</c:v>
                </c:pt>
                <c:pt idx="794">
                  <c:v>1.2107039625431419</c:v>
                </c:pt>
                <c:pt idx="795">
                  <c:v>1.216054329262489</c:v>
                </c:pt>
                <c:pt idx="796">
                  <c:v>1.214289041638694</c:v>
                </c:pt>
                <c:pt idx="797">
                  <c:v>1.2148410338697859</c:v>
                </c:pt>
                <c:pt idx="798">
                  <c:v>1.2150065733089179</c:v>
                </c:pt>
                <c:pt idx="799">
                  <c:v>1.2219232426432389</c:v>
                </c:pt>
                <c:pt idx="800">
                  <c:v>1.207358634230268</c:v>
                </c:pt>
                <c:pt idx="801">
                  <c:v>1.2050157623266351</c:v>
                </c:pt>
                <c:pt idx="802">
                  <c:v>1.20174973011918</c:v>
                </c:pt>
                <c:pt idx="803">
                  <c:v>1.1993632602408031</c:v>
                </c:pt>
                <c:pt idx="804">
                  <c:v>1.1968043680042491</c:v>
                </c:pt>
                <c:pt idx="805">
                  <c:v>1.2046650749668919</c:v>
                </c:pt>
                <c:pt idx="806">
                  <c:v>1.2060208063732201</c:v>
                </c:pt>
                <c:pt idx="807">
                  <c:v>1.202176121121862</c:v>
                </c:pt>
                <c:pt idx="808">
                  <c:v>1.203658602809949</c:v>
                </c:pt>
                <c:pt idx="809">
                  <c:v>1.1994013476550749</c:v>
                </c:pt>
                <c:pt idx="810">
                  <c:v>1.19796924633059</c:v>
                </c:pt>
                <c:pt idx="811">
                  <c:v>1.198942958110101</c:v>
                </c:pt>
                <c:pt idx="812">
                  <c:v>1.193748423079863</c:v>
                </c:pt>
                <c:pt idx="813">
                  <c:v>1.196597439244828</c:v>
                </c:pt>
                <c:pt idx="814">
                  <c:v>1.192651417884145</c:v>
                </c:pt>
                <c:pt idx="815">
                  <c:v>1.1938237182064351</c:v>
                </c:pt>
                <c:pt idx="816">
                  <c:v>1.199118115614183</c:v>
                </c:pt>
                <c:pt idx="817">
                  <c:v>1.198351132426861</c:v>
                </c:pt>
                <c:pt idx="818">
                  <c:v>1.1971072315216451</c:v>
                </c:pt>
                <c:pt idx="819">
                  <c:v>1.1914382112139701</c:v>
                </c:pt>
                <c:pt idx="820">
                  <c:v>1.1919617602350869</c:v>
                </c:pt>
                <c:pt idx="821">
                  <c:v>1.1923347070451309</c:v>
                </c:pt>
                <c:pt idx="822">
                  <c:v>1.19618074182845</c:v>
                </c:pt>
                <c:pt idx="823">
                  <c:v>1.196472713413413</c:v>
                </c:pt>
                <c:pt idx="824">
                  <c:v>1.2018106992550801</c:v>
                </c:pt>
                <c:pt idx="825">
                  <c:v>1.2043169898390571</c:v>
                </c:pt>
                <c:pt idx="826">
                  <c:v>1.2061503676434351</c:v>
                </c:pt>
                <c:pt idx="827">
                  <c:v>1.2069248953257821</c:v>
                </c:pt>
                <c:pt idx="828">
                  <c:v>1.206855586894062</c:v>
                </c:pt>
                <c:pt idx="829">
                  <c:v>1.20025899978134</c:v>
                </c:pt>
                <c:pt idx="830">
                  <c:v>1.201229104797364</c:v>
                </c:pt>
                <c:pt idx="831">
                  <c:v>1.197348664074408</c:v>
                </c:pt>
                <c:pt idx="832">
                  <c:v>1.204622923128279</c:v>
                </c:pt>
                <c:pt idx="833">
                  <c:v>1.2069192901843999</c:v>
                </c:pt>
                <c:pt idx="834">
                  <c:v>1.2125052966781571</c:v>
                </c:pt>
                <c:pt idx="835">
                  <c:v>1.2152702486317679</c:v>
                </c:pt>
                <c:pt idx="836">
                  <c:v>1.214383128053685</c:v>
                </c:pt>
                <c:pt idx="837">
                  <c:v>1.221945837573704</c:v>
                </c:pt>
                <c:pt idx="838">
                  <c:v>1.2260068221005711</c:v>
                </c:pt>
                <c:pt idx="839">
                  <c:v>1.228470467791241</c:v>
                </c:pt>
                <c:pt idx="840">
                  <c:v>1.21578714597724</c:v>
                </c:pt>
                <c:pt idx="841">
                  <c:v>1.205944844928053</c:v>
                </c:pt>
                <c:pt idx="842">
                  <c:v>1.2086885369362379</c:v>
                </c:pt>
                <c:pt idx="843">
                  <c:v>1.2045769519946199</c:v>
                </c:pt>
                <c:pt idx="844">
                  <c:v>1.2083561506533429</c:v>
                </c:pt>
                <c:pt idx="845">
                  <c:v>1.212455889272632</c:v>
                </c:pt>
                <c:pt idx="846">
                  <c:v>1.2109553229093259</c:v>
                </c:pt>
                <c:pt idx="847">
                  <c:v>1.213770326040247</c:v>
                </c:pt>
                <c:pt idx="848">
                  <c:v>1.2091775689034641</c:v>
                </c:pt>
                <c:pt idx="849">
                  <c:v>1.2091128461143199</c:v>
                </c:pt>
                <c:pt idx="850">
                  <c:v>1.2060671045324269</c:v>
                </c:pt>
                <c:pt idx="851">
                  <c:v>1.2067296325767141</c:v>
                </c:pt>
                <c:pt idx="852">
                  <c:v>1.210421456662536</c:v>
                </c:pt>
                <c:pt idx="853">
                  <c:v>1.2034749867879599</c:v>
                </c:pt>
                <c:pt idx="854">
                  <c:v>1.210810765723124</c:v>
                </c:pt>
                <c:pt idx="855">
                  <c:v>1.211945845433219</c:v>
                </c:pt>
                <c:pt idx="856">
                  <c:v>1.210310312538883</c:v>
                </c:pt>
                <c:pt idx="857">
                  <c:v>1.208980834238357</c:v>
                </c:pt>
                <c:pt idx="858">
                  <c:v>1.2103219675755721</c:v>
                </c:pt>
                <c:pt idx="859">
                  <c:v>1.2018802680824749</c:v>
                </c:pt>
                <c:pt idx="860">
                  <c:v>1.199999096832375</c:v>
                </c:pt>
                <c:pt idx="861">
                  <c:v>1.20061726153076</c:v>
                </c:pt>
                <c:pt idx="862">
                  <c:v>1.2046633702170451</c:v>
                </c:pt>
                <c:pt idx="863">
                  <c:v>1.201064916082814</c:v>
                </c:pt>
                <c:pt idx="864">
                  <c:v>1.198537893445796</c:v>
                </c:pt>
                <c:pt idx="865">
                  <c:v>1.2002751749199809</c:v>
                </c:pt>
                <c:pt idx="866">
                  <c:v>1.2019465875935109</c:v>
                </c:pt>
                <c:pt idx="867">
                  <c:v>1.2029509094658219</c:v>
                </c:pt>
                <c:pt idx="868">
                  <c:v>1.202952826420389</c:v>
                </c:pt>
                <c:pt idx="869">
                  <c:v>1.2027457271973629</c:v>
                </c:pt>
                <c:pt idx="870">
                  <c:v>1.2061289541562501</c:v>
                </c:pt>
                <c:pt idx="871">
                  <c:v>1.2061228995176529</c:v>
                </c:pt>
                <c:pt idx="872">
                  <c:v>1.204205253046114</c:v>
                </c:pt>
                <c:pt idx="873">
                  <c:v>1.199167246690372</c:v>
                </c:pt>
                <c:pt idx="874">
                  <c:v>1.199094593509628</c:v>
                </c:pt>
                <c:pt idx="875">
                  <c:v>1.1930657163990399</c:v>
                </c:pt>
                <c:pt idx="876">
                  <c:v>1.1946542419103701</c:v>
                </c:pt>
                <c:pt idx="877">
                  <c:v>1.1925088558699519</c:v>
                </c:pt>
                <c:pt idx="878">
                  <c:v>1.1879459183032159</c:v>
                </c:pt>
                <c:pt idx="879">
                  <c:v>1.190791567905128</c:v>
                </c:pt>
                <c:pt idx="880">
                  <c:v>1.1840289353034441</c:v>
                </c:pt>
                <c:pt idx="881">
                  <c:v>1.1820992840987949</c:v>
                </c:pt>
                <c:pt idx="882">
                  <c:v>1.18747096775184</c:v>
                </c:pt>
                <c:pt idx="883">
                  <c:v>1.17992900871816</c:v>
                </c:pt>
                <c:pt idx="884">
                  <c:v>1.1828134603033129</c:v>
                </c:pt>
                <c:pt idx="885">
                  <c:v>1.174234758607958</c:v>
                </c:pt>
                <c:pt idx="886">
                  <c:v>1.176959195253144</c:v>
                </c:pt>
                <c:pt idx="887">
                  <c:v>1.1879839567733459</c:v>
                </c:pt>
                <c:pt idx="888">
                  <c:v>1.1922627159666139</c:v>
                </c:pt>
                <c:pt idx="889">
                  <c:v>1.19196760304157</c:v>
                </c:pt>
                <c:pt idx="890">
                  <c:v>1.189880139555163</c:v>
                </c:pt>
                <c:pt idx="891">
                  <c:v>1.1923496420577699</c:v>
                </c:pt>
                <c:pt idx="892">
                  <c:v>1.189169398831001</c:v>
                </c:pt>
                <c:pt idx="893">
                  <c:v>1.1888813775537921</c:v>
                </c:pt>
                <c:pt idx="894">
                  <c:v>1.1810342775979641</c:v>
                </c:pt>
                <c:pt idx="895">
                  <c:v>1.1810463138373271</c:v>
                </c:pt>
                <c:pt idx="896">
                  <c:v>1.184757669505637</c:v>
                </c:pt>
                <c:pt idx="897">
                  <c:v>1.1844529369054171</c:v>
                </c:pt>
                <c:pt idx="898">
                  <c:v>1.1802786100056519</c:v>
                </c:pt>
                <c:pt idx="899">
                  <c:v>1.179012150139624</c:v>
                </c:pt>
                <c:pt idx="900">
                  <c:v>1.1760372352075319</c:v>
                </c:pt>
                <c:pt idx="901">
                  <c:v>1.175346808271972</c:v>
                </c:pt>
                <c:pt idx="902">
                  <c:v>1.173428349103887</c:v>
                </c:pt>
                <c:pt idx="903">
                  <c:v>1.171382347476924</c:v>
                </c:pt>
                <c:pt idx="904">
                  <c:v>1.1698502208728421</c:v>
                </c:pt>
                <c:pt idx="905">
                  <c:v>1.178992872993011</c:v>
                </c:pt>
                <c:pt idx="906">
                  <c:v>1.1775277926453629</c:v>
                </c:pt>
                <c:pt idx="907">
                  <c:v>1.176976396798481</c:v>
                </c:pt>
                <c:pt idx="908">
                  <c:v>1.1755218205112969</c:v>
                </c:pt>
                <c:pt idx="909">
                  <c:v>1.174032856674903</c:v>
                </c:pt>
                <c:pt idx="910">
                  <c:v>1.170922096066491</c:v>
                </c:pt>
                <c:pt idx="911">
                  <c:v>1.1720870298879651</c:v>
                </c:pt>
                <c:pt idx="912">
                  <c:v>1.1742392166911051</c:v>
                </c:pt>
                <c:pt idx="913">
                  <c:v>1.175013518805659</c:v>
                </c:pt>
                <c:pt idx="914">
                  <c:v>1.173123520845361</c:v>
                </c:pt>
                <c:pt idx="915">
                  <c:v>1.1706785604653169</c:v>
                </c:pt>
                <c:pt idx="916">
                  <c:v>1.171482398074158</c:v>
                </c:pt>
                <c:pt idx="917">
                  <c:v>1.1664162514411009</c:v>
                </c:pt>
                <c:pt idx="918">
                  <c:v>1.1629486394113411</c:v>
                </c:pt>
                <c:pt idx="919">
                  <c:v>1.159764738407183</c:v>
                </c:pt>
                <c:pt idx="920">
                  <c:v>1.153000113300729</c:v>
                </c:pt>
                <c:pt idx="921">
                  <c:v>1.1572181367676759</c:v>
                </c:pt>
                <c:pt idx="922">
                  <c:v>1.1574050972132961</c:v>
                </c:pt>
                <c:pt idx="923">
                  <c:v>1.159244959629453</c:v>
                </c:pt>
                <c:pt idx="924">
                  <c:v>1.1637755063538531</c:v>
                </c:pt>
                <c:pt idx="925">
                  <c:v>1.1701883976994609</c:v>
                </c:pt>
                <c:pt idx="926">
                  <c:v>1.1685646445314679</c:v>
                </c:pt>
                <c:pt idx="927">
                  <c:v>1.167036645807092</c:v>
                </c:pt>
                <c:pt idx="928">
                  <c:v>1.1650797874281731</c:v>
                </c:pt>
                <c:pt idx="929">
                  <c:v>1.170310964149931</c:v>
                </c:pt>
                <c:pt idx="930">
                  <c:v>1.1778617080225759</c:v>
                </c:pt>
                <c:pt idx="931">
                  <c:v>1.178990403807636</c:v>
                </c:pt>
                <c:pt idx="932">
                  <c:v>1.1796703260648791</c:v>
                </c:pt>
                <c:pt idx="933">
                  <c:v>1.1774019284372039</c:v>
                </c:pt>
                <c:pt idx="934">
                  <c:v>1.1765998779922271</c:v>
                </c:pt>
                <c:pt idx="935">
                  <c:v>1.1789146148854219</c:v>
                </c:pt>
                <c:pt idx="936">
                  <c:v>1.1809095579023381</c:v>
                </c:pt>
                <c:pt idx="937">
                  <c:v>1.182232768639796</c:v>
                </c:pt>
                <c:pt idx="938">
                  <c:v>1.178552006988125</c:v>
                </c:pt>
                <c:pt idx="939">
                  <c:v>1.18181202651513</c:v>
                </c:pt>
                <c:pt idx="940">
                  <c:v>1.181713050354962</c:v>
                </c:pt>
                <c:pt idx="941">
                  <c:v>1.179885405164987</c:v>
                </c:pt>
                <c:pt idx="942">
                  <c:v>1.174570463710521</c:v>
                </c:pt>
                <c:pt idx="943">
                  <c:v>1.1766308784471891</c:v>
                </c:pt>
                <c:pt idx="944">
                  <c:v>1.171604045317822</c:v>
                </c:pt>
                <c:pt idx="945">
                  <c:v>1.1737973809066919</c:v>
                </c:pt>
                <c:pt idx="946">
                  <c:v>1.1756147123632841</c:v>
                </c:pt>
                <c:pt idx="947">
                  <c:v>1.1746264851208419</c:v>
                </c:pt>
                <c:pt idx="948">
                  <c:v>1.174352294230854</c:v>
                </c:pt>
                <c:pt idx="949">
                  <c:v>1.1773436916019091</c:v>
                </c:pt>
                <c:pt idx="950">
                  <c:v>1.1778588509356149</c:v>
                </c:pt>
                <c:pt idx="951">
                  <c:v>1.1693447377417201</c:v>
                </c:pt>
                <c:pt idx="952">
                  <c:v>1.170359386029417</c:v>
                </c:pt>
                <c:pt idx="953">
                  <c:v>1.171123351361153</c:v>
                </c:pt>
                <c:pt idx="954">
                  <c:v>1.1744100153970041</c:v>
                </c:pt>
                <c:pt idx="955">
                  <c:v>1.178379175955145</c:v>
                </c:pt>
                <c:pt idx="956">
                  <c:v>1.177764372117444</c:v>
                </c:pt>
                <c:pt idx="957">
                  <c:v>1.1746456562511149</c:v>
                </c:pt>
                <c:pt idx="958">
                  <c:v>1.175966398888648</c:v>
                </c:pt>
                <c:pt idx="959">
                  <c:v>1.1737634213280059</c:v>
                </c:pt>
                <c:pt idx="960">
                  <c:v>1.1703020980151311</c:v>
                </c:pt>
                <c:pt idx="961">
                  <c:v>1.1719337185404199</c:v>
                </c:pt>
                <c:pt idx="962">
                  <c:v>1.1679254701737249</c:v>
                </c:pt>
                <c:pt idx="963">
                  <c:v>1.1709996868289261</c:v>
                </c:pt>
                <c:pt idx="964">
                  <c:v>1.167919401992193</c:v>
                </c:pt>
                <c:pt idx="965">
                  <c:v>1.1685372928273581</c:v>
                </c:pt>
                <c:pt idx="966">
                  <c:v>1.1646866991416309</c:v>
                </c:pt>
                <c:pt idx="967">
                  <c:v>1.1679368705722759</c:v>
                </c:pt>
                <c:pt idx="968">
                  <c:v>1.174689418840029</c:v>
                </c:pt>
                <c:pt idx="969">
                  <c:v>1.1785575189338851</c:v>
                </c:pt>
                <c:pt idx="970">
                  <c:v>1.1751409967368871</c:v>
                </c:pt>
                <c:pt idx="971">
                  <c:v>1.170965522956865</c:v>
                </c:pt>
                <c:pt idx="972">
                  <c:v>1.1683290534794839</c:v>
                </c:pt>
                <c:pt idx="973">
                  <c:v>1.1628515843122751</c:v>
                </c:pt>
                <c:pt idx="974">
                  <c:v>1.155696347096689</c:v>
                </c:pt>
                <c:pt idx="975">
                  <c:v>1.1575315967566371</c:v>
                </c:pt>
                <c:pt idx="976">
                  <c:v>1.1543931780562009</c:v>
                </c:pt>
                <c:pt idx="977">
                  <c:v>1.1594148964181219</c:v>
                </c:pt>
                <c:pt idx="978">
                  <c:v>1.156326967903889</c:v>
                </c:pt>
                <c:pt idx="979">
                  <c:v>1.1571755285796239</c:v>
                </c:pt>
                <c:pt idx="980">
                  <c:v>1.156889374080817</c:v>
                </c:pt>
                <c:pt idx="981">
                  <c:v>1.1481427673888449</c:v>
                </c:pt>
                <c:pt idx="982">
                  <c:v>1.1515971059673189</c:v>
                </c:pt>
                <c:pt idx="983">
                  <c:v>1.1506064015274839</c:v>
                </c:pt>
                <c:pt idx="984">
                  <c:v>1.1382019010138811</c:v>
                </c:pt>
                <c:pt idx="985">
                  <c:v>1.141852318576928</c:v>
                </c:pt>
                <c:pt idx="986">
                  <c:v>1.144016999648017</c:v>
                </c:pt>
                <c:pt idx="987">
                  <c:v>1.1523099710320901</c:v>
                </c:pt>
                <c:pt idx="988">
                  <c:v>1.1478971587151841</c:v>
                </c:pt>
                <c:pt idx="989">
                  <c:v>1.1384116518956331</c:v>
                </c:pt>
                <c:pt idx="990">
                  <c:v>1.131677462758153</c:v>
                </c:pt>
                <c:pt idx="991">
                  <c:v>1.1244778517798271</c:v>
                </c:pt>
                <c:pt idx="992">
                  <c:v>1.126790017542848</c:v>
                </c:pt>
                <c:pt idx="993">
                  <c:v>1.119346158057172</c:v>
                </c:pt>
                <c:pt idx="994">
                  <c:v>1.113170395329629</c:v>
                </c:pt>
                <c:pt idx="995">
                  <c:v>1.127435667586778</c:v>
                </c:pt>
                <c:pt idx="996">
                  <c:v>1.1342639897013951</c:v>
                </c:pt>
                <c:pt idx="997">
                  <c:v>1.1418919449496521</c:v>
                </c:pt>
                <c:pt idx="998">
                  <c:v>1.150071902971499</c:v>
                </c:pt>
                <c:pt idx="999">
                  <c:v>1.150501386567762</c:v>
                </c:pt>
                <c:pt idx="1000">
                  <c:v>1.150467271830558</c:v>
                </c:pt>
                <c:pt idx="1001">
                  <c:v>1.1550886741381721</c:v>
                </c:pt>
                <c:pt idx="1002">
                  <c:v>1.1579945639793821</c:v>
                </c:pt>
                <c:pt idx="1003">
                  <c:v>1.1602126083094579</c:v>
                </c:pt>
                <c:pt idx="1004">
                  <c:v>1.17101328552413</c:v>
                </c:pt>
                <c:pt idx="1005">
                  <c:v>1.158563532668861</c:v>
                </c:pt>
                <c:pt idx="1006">
                  <c:v>1.171005355045752</c:v>
                </c:pt>
                <c:pt idx="1007">
                  <c:v>1.175331020581843</c:v>
                </c:pt>
                <c:pt idx="1008">
                  <c:v>1.180181300409767</c:v>
                </c:pt>
                <c:pt idx="1009">
                  <c:v>1.1811345111891409</c:v>
                </c:pt>
                <c:pt idx="1010">
                  <c:v>1.1826768118715401</c:v>
                </c:pt>
                <c:pt idx="1011">
                  <c:v>1.179196222992164</c:v>
                </c:pt>
                <c:pt idx="1012">
                  <c:v>1.185621567255738</c:v>
                </c:pt>
                <c:pt idx="1013">
                  <c:v>1.1898941826616869</c:v>
                </c:pt>
                <c:pt idx="1014">
                  <c:v>1.1882210868495351</c:v>
                </c:pt>
                <c:pt idx="1015">
                  <c:v>1.1880150876047091</c:v>
                </c:pt>
                <c:pt idx="1016">
                  <c:v>1.1856687018779219</c:v>
                </c:pt>
                <c:pt idx="1017">
                  <c:v>1.1912607779794659</c:v>
                </c:pt>
                <c:pt idx="1018">
                  <c:v>1.1975692177873869</c:v>
                </c:pt>
                <c:pt idx="1019">
                  <c:v>1.196379901938698</c:v>
                </c:pt>
                <c:pt idx="1020">
                  <c:v>1.19755304621299</c:v>
                </c:pt>
                <c:pt idx="1021">
                  <c:v>1.198886090226797</c:v>
                </c:pt>
                <c:pt idx="1022">
                  <c:v>1.1961157804395239</c:v>
                </c:pt>
                <c:pt idx="1023">
                  <c:v>1.189159045383084</c:v>
                </c:pt>
                <c:pt idx="1024">
                  <c:v>1.1877953230449609</c:v>
                </c:pt>
                <c:pt idx="1025">
                  <c:v>1.180622166170362</c:v>
                </c:pt>
                <c:pt idx="1026">
                  <c:v>1.186154750704594</c:v>
                </c:pt>
                <c:pt idx="1027">
                  <c:v>1.1905930589435729</c:v>
                </c:pt>
                <c:pt idx="1028">
                  <c:v>1.1990085826334389</c:v>
                </c:pt>
                <c:pt idx="1029">
                  <c:v>1.1965029098930531</c:v>
                </c:pt>
                <c:pt idx="1030">
                  <c:v>1.194315465999279</c:v>
                </c:pt>
                <c:pt idx="1031">
                  <c:v>1.195368613409808</c:v>
                </c:pt>
                <c:pt idx="1032">
                  <c:v>1.198031519776086</c:v>
                </c:pt>
                <c:pt idx="1033">
                  <c:v>1.1924018446848479</c:v>
                </c:pt>
                <c:pt idx="1034">
                  <c:v>1.1925644004071569</c:v>
                </c:pt>
                <c:pt idx="1035">
                  <c:v>1.198036055048262</c:v>
                </c:pt>
                <c:pt idx="1036">
                  <c:v>1.197478703843371</c:v>
                </c:pt>
                <c:pt idx="1037">
                  <c:v>1.188623096022436</c:v>
                </c:pt>
                <c:pt idx="1038">
                  <c:v>1.199813824559947</c:v>
                </c:pt>
                <c:pt idx="1039">
                  <c:v>1.1994039080485679</c:v>
                </c:pt>
                <c:pt idx="1040">
                  <c:v>1.1957398917392921</c:v>
                </c:pt>
                <c:pt idx="1041">
                  <c:v>1.1914481653920059</c:v>
                </c:pt>
                <c:pt idx="1042">
                  <c:v>1.189065066662321</c:v>
                </c:pt>
                <c:pt idx="1043">
                  <c:v>1.195002473038284</c:v>
                </c:pt>
                <c:pt idx="1044">
                  <c:v>1.1943005909062381</c:v>
                </c:pt>
                <c:pt idx="1045">
                  <c:v>1.202496427344476</c:v>
                </c:pt>
                <c:pt idx="1046">
                  <c:v>1.206627763970062</c:v>
                </c:pt>
                <c:pt idx="1047">
                  <c:v>1.204875197957155</c:v>
                </c:pt>
                <c:pt idx="1048">
                  <c:v>1.208974455479249</c:v>
                </c:pt>
                <c:pt idx="1049">
                  <c:v>1.208704441608407</c:v>
                </c:pt>
                <c:pt idx="1050">
                  <c:v>1.2041981262854049</c:v>
                </c:pt>
                <c:pt idx="1051">
                  <c:v>1.206977561260711</c:v>
                </c:pt>
                <c:pt idx="1052">
                  <c:v>1.2072888705637099</c:v>
                </c:pt>
                <c:pt idx="1053">
                  <c:v>1.2063743563242899</c:v>
                </c:pt>
                <c:pt idx="1054">
                  <c:v>1.2063177305633781</c:v>
                </c:pt>
                <c:pt idx="1055">
                  <c:v>1.204903284474294</c:v>
                </c:pt>
                <c:pt idx="1056">
                  <c:v>1.2062242888829171</c:v>
                </c:pt>
                <c:pt idx="1057">
                  <c:v>1.2090404122248939</c:v>
                </c:pt>
                <c:pt idx="1058">
                  <c:v>1.214476065692502</c:v>
                </c:pt>
                <c:pt idx="1059">
                  <c:v>1.2116375678004749</c:v>
                </c:pt>
                <c:pt idx="1060">
                  <c:v>1.2109983584219259</c:v>
                </c:pt>
                <c:pt idx="1061">
                  <c:v>1.203909807559671</c:v>
                </c:pt>
                <c:pt idx="1062">
                  <c:v>1.197808574319482</c:v>
                </c:pt>
                <c:pt idx="1063">
                  <c:v>1.202552942092457</c:v>
                </c:pt>
                <c:pt idx="1064">
                  <c:v>1.199877349653385</c:v>
                </c:pt>
                <c:pt idx="1065">
                  <c:v>1.200660950323039</c:v>
                </c:pt>
                <c:pt idx="1066">
                  <c:v>1.200351318212004</c:v>
                </c:pt>
                <c:pt idx="1067">
                  <c:v>1.200181719797855</c:v>
                </c:pt>
                <c:pt idx="1068">
                  <c:v>1.20242530720916</c:v>
                </c:pt>
                <c:pt idx="1069">
                  <c:v>1.2051679146059799</c:v>
                </c:pt>
                <c:pt idx="1070">
                  <c:v>1.201339174594946</c:v>
                </c:pt>
                <c:pt idx="1071">
                  <c:v>1.202267331769294</c:v>
                </c:pt>
                <c:pt idx="1072">
                  <c:v>1.200161611606376</c:v>
                </c:pt>
                <c:pt idx="1073">
                  <c:v>1.198986987607904</c:v>
                </c:pt>
                <c:pt idx="1074">
                  <c:v>1.201353467824932</c:v>
                </c:pt>
                <c:pt idx="1075">
                  <c:v>1.2030878597259409</c:v>
                </c:pt>
                <c:pt idx="1076">
                  <c:v>1.2085249760630909</c:v>
                </c:pt>
                <c:pt idx="1077">
                  <c:v>1.2116467894137191</c:v>
                </c:pt>
                <c:pt idx="1078">
                  <c:v>1.2156607410432529</c:v>
                </c:pt>
                <c:pt idx="1079">
                  <c:v>1.214172698851492</c:v>
                </c:pt>
                <c:pt idx="1080">
                  <c:v>1.211459929904189</c:v>
                </c:pt>
                <c:pt idx="1081">
                  <c:v>1.21223207492463</c:v>
                </c:pt>
                <c:pt idx="1082">
                  <c:v>1.203797666898627</c:v>
                </c:pt>
                <c:pt idx="1083">
                  <c:v>1.1987293597447479</c:v>
                </c:pt>
                <c:pt idx="1084">
                  <c:v>1.205065860118133</c:v>
                </c:pt>
                <c:pt idx="1085">
                  <c:v>1.199757057571389</c:v>
                </c:pt>
                <c:pt idx="1086">
                  <c:v>1.2039631342386881</c:v>
                </c:pt>
                <c:pt idx="1087">
                  <c:v>1.205967615031603</c:v>
                </c:pt>
                <c:pt idx="1088">
                  <c:v>1.2034425742120589</c:v>
                </c:pt>
                <c:pt idx="1089">
                  <c:v>1.2032627718540729</c:v>
                </c:pt>
                <c:pt idx="1090">
                  <c:v>1.2005361315190051</c:v>
                </c:pt>
                <c:pt idx="1091">
                  <c:v>1.2015088789257351</c:v>
                </c:pt>
                <c:pt idx="1092">
                  <c:v>1.1981017695250551</c:v>
                </c:pt>
                <c:pt idx="1093">
                  <c:v>1.2077975106694101</c:v>
                </c:pt>
                <c:pt idx="1094">
                  <c:v>1.209318543837242</c:v>
                </c:pt>
                <c:pt idx="1095">
                  <c:v>1.2142113932210901</c:v>
                </c:pt>
                <c:pt idx="1096">
                  <c:v>1.2131889439310919</c:v>
                </c:pt>
                <c:pt idx="1097">
                  <c:v>1.211363559030757</c:v>
                </c:pt>
                <c:pt idx="1098">
                  <c:v>1.216596104107218</c:v>
                </c:pt>
                <c:pt idx="1099">
                  <c:v>1.2121909244431319</c:v>
                </c:pt>
                <c:pt idx="1100">
                  <c:v>1.211841462112387</c:v>
                </c:pt>
                <c:pt idx="1101">
                  <c:v>1.208134979464236</c:v>
                </c:pt>
                <c:pt idx="1102">
                  <c:v>1.208915059378584</c:v>
                </c:pt>
                <c:pt idx="1103">
                  <c:v>1.1991356453803239</c:v>
                </c:pt>
                <c:pt idx="1104">
                  <c:v>1.1969198275740729</c:v>
                </c:pt>
                <c:pt idx="1105">
                  <c:v>1.190629591415628</c:v>
                </c:pt>
                <c:pt idx="1106">
                  <c:v>1.195581003533783</c:v>
                </c:pt>
                <c:pt idx="1107">
                  <c:v>1.196589270886008</c:v>
                </c:pt>
                <c:pt idx="1108">
                  <c:v>1.195882476956821</c:v>
                </c:pt>
                <c:pt idx="1109">
                  <c:v>1.2068973602383379</c:v>
                </c:pt>
                <c:pt idx="1110">
                  <c:v>1.2087426931101679</c:v>
                </c:pt>
                <c:pt idx="1111">
                  <c:v>1.201773794622063</c:v>
                </c:pt>
                <c:pt idx="1112">
                  <c:v>1.188432771433398</c:v>
                </c:pt>
                <c:pt idx="1113">
                  <c:v>1.1908890116789479</c:v>
                </c:pt>
                <c:pt idx="1114">
                  <c:v>1.190957441830433</c:v>
                </c:pt>
                <c:pt idx="1115">
                  <c:v>1.189883149226725</c:v>
                </c:pt>
                <c:pt idx="1116">
                  <c:v>1.190467798441188</c:v>
                </c:pt>
                <c:pt idx="1117">
                  <c:v>1.188309400211607</c:v>
                </c:pt>
                <c:pt idx="1118">
                  <c:v>1.192396043796264</c:v>
                </c:pt>
                <c:pt idx="1119">
                  <c:v>1.189985693154435</c:v>
                </c:pt>
                <c:pt idx="1120">
                  <c:v>1.190296013396372</c:v>
                </c:pt>
                <c:pt idx="1121">
                  <c:v>1.191521363711092</c:v>
                </c:pt>
                <c:pt idx="1122">
                  <c:v>1.193452178011932</c:v>
                </c:pt>
                <c:pt idx="1123">
                  <c:v>1.1901432597654771</c:v>
                </c:pt>
                <c:pt idx="1124">
                  <c:v>1.1901517565714459</c:v>
                </c:pt>
                <c:pt idx="1125">
                  <c:v>1.187538516026317</c:v>
                </c:pt>
                <c:pt idx="1126">
                  <c:v>1.1862787010960869</c:v>
                </c:pt>
                <c:pt idx="1127">
                  <c:v>1.1859405279525921</c:v>
                </c:pt>
                <c:pt idx="1128">
                  <c:v>1.181097571063433</c:v>
                </c:pt>
                <c:pt idx="1129">
                  <c:v>1.18167816941063</c:v>
                </c:pt>
                <c:pt idx="1130">
                  <c:v>1.1829573777719651</c:v>
                </c:pt>
                <c:pt idx="1131">
                  <c:v>1.189550379660929</c:v>
                </c:pt>
                <c:pt idx="1132">
                  <c:v>1.181974936160775</c:v>
                </c:pt>
                <c:pt idx="1133">
                  <c:v>1.1849962689670179</c:v>
                </c:pt>
                <c:pt idx="1134">
                  <c:v>1.1821413014762561</c:v>
                </c:pt>
                <c:pt idx="1135">
                  <c:v>1.1845672245985881</c:v>
                </c:pt>
                <c:pt idx="1136">
                  <c:v>1.179359346698698</c:v>
                </c:pt>
                <c:pt idx="1137">
                  <c:v>1.1779111008480101</c:v>
                </c:pt>
                <c:pt idx="1138">
                  <c:v>1.1811039910423411</c:v>
                </c:pt>
                <c:pt idx="1139">
                  <c:v>1.1822593386169551</c:v>
                </c:pt>
                <c:pt idx="1140">
                  <c:v>1.181448786858118</c:v>
                </c:pt>
                <c:pt idx="1141">
                  <c:v>1.183584217326165</c:v>
                </c:pt>
                <c:pt idx="1142">
                  <c:v>1.1833797436636151</c:v>
                </c:pt>
                <c:pt idx="1143">
                  <c:v>1.1853900366334129</c:v>
                </c:pt>
                <c:pt idx="1144">
                  <c:v>1.1857594496379931</c:v>
                </c:pt>
                <c:pt idx="1145">
                  <c:v>1.186298774254033</c:v>
                </c:pt>
                <c:pt idx="1146">
                  <c:v>1.199002230276994</c:v>
                </c:pt>
                <c:pt idx="1147">
                  <c:v>1.2024595224448349</c:v>
                </c:pt>
                <c:pt idx="1148">
                  <c:v>1.2128090051293341</c:v>
                </c:pt>
                <c:pt idx="1149">
                  <c:v>1.225521179387383</c:v>
                </c:pt>
                <c:pt idx="1150">
                  <c:v>1.259714352322779</c:v>
                </c:pt>
                <c:pt idx="1151">
                  <c:v>1.29572038259154</c:v>
                </c:pt>
                <c:pt idx="1152">
                  <c:v>1.266778792932884</c:v>
                </c:pt>
                <c:pt idx="1153">
                  <c:v>1.2650336264665301</c:v>
                </c:pt>
                <c:pt idx="1154">
                  <c:v>1.25406568080855</c:v>
                </c:pt>
                <c:pt idx="1155">
                  <c:v>1.2651867676526301</c:v>
                </c:pt>
                <c:pt idx="1156">
                  <c:v>1.257874603224526</c:v>
                </c:pt>
                <c:pt idx="1157">
                  <c:v>1.2545181573058699</c:v>
                </c:pt>
                <c:pt idx="1158">
                  <c:v>1.2553512832884131</c:v>
                </c:pt>
                <c:pt idx="1159">
                  <c:v>1.2773180430800231</c:v>
                </c:pt>
                <c:pt idx="1160">
                  <c:v>1.283426989224312</c:v>
                </c:pt>
                <c:pt idx="1161">
                  <c:v>1.2847969417756571</c:v>
                </c:pt>
                <c:pt idx="1162">
                  <c:v>1.281706459282826</c:v>
                </c:pt>
                <c:pt idx="1163">
                  <c:v>1.2795592934353279</c:v>
                </c:pt>
                <c:pt idx="1164">
                  <c:v>1.2840984463013141</c:v>
                </c:pt>
                <c:pt idx="1165">
                  <c:v>1.2852233158043651</c:v>
                </c:pt>
                <c:pt idx="1166">
                  <c:v>1.2822462605390159</c:v>
                </c:pt>
                <c:pt idx="1167">
                  <c:v>1.283279565980485</c:v>
                </c:pt>
                <c:pt idx="1168">
                  <c:v>1.2859264918540649</c:v>
                </c:pt>
                <c:pt idx="1169">
                  <c:v>1.276944775112882</c:v>
                </c:pt>
                <c:pt idx="1170">
                  <c:v>1.284707927928362</c:v>
                </c:pt>
                <c:pt idx="1171">
                  <c:v>1.2967476454235281</c:v>
                </c:pt>
                <c:pt idx="1172">
                  <c:v>1.295125787995747</c:v>
                </c:pt>
                <c:pt idx="1173">
                  <c:v>1.300851842414398</c:v>
                </c:pt>
                <c:pt idx="1174">
                  <c:v>1.301792660973905</c:v>
                </c:pt>
                <c:pt idx="1175">
                  <c:v>1.3125711301190319</c:v>
                </c:pt>
                <c:pt idx="1176">
                  <c:v>1.306637740071007</c:v>
                </c:pt>
                <c:pt idx="1177">
                  <c:v>1.3101787257388811</c:v>
                </c:pt>
                <c:pt idx="1178">
                  <c:v>1.294588521275396</c:v>
                </c:pt>
                <c:pt idx="1179">
                  <c:v>1.2831062819890029</c:v>
                </c:pt>
                <c:pt idx="1180">
                  <c:v>1.2755696931490019</c:v>
                </c:pt>
                <c:pt idx="1181">
                  <c:v>1.2862913903207229</c:v>
                </c:pt>
                <c:pt idx="1182">
                  <c:v>1.290575409065879</c:v>
                </c:pt>
                <c:pt idx="1183">
                  <c:v>1.2926654179604129</c:v>
                </c:pt>
                <c:pt idx="1184">
                  <c:v>1.2811969237751799</c:v>
                </c:pt>
                <c:pt idx="1185">
                  <c:v>1.2785745595502629</c:v>
                </c:pt>
                <c:pt idx="1186">
                  <c:v>1.274911972682613</c:v>
                </c:pt>
                <c:pt idx="1187">
                  <c:v>1.285584940843683</c:v>
                </c:pt>
                <c:pt idx="1188">
                  <c:v>1.2823018361919589</c:v>
                </c:pt>
                <c:pt idx="1189">
                  <c:v>1.290822323253662</c:v>
                </c:pt>
                <c:pt idx="1190">
                  <c:v>1.299417438424314</c:v>
                </c:pt>
                <c:pt idx="1191">
                  <c:v>1.2981185081214821</c:v>
                </c:pt>
                <c:pt idx="1192">
                  <c:v>1.2943577725215469</c:v>
                </c:pt>
                <c:pt idx="1193">
                  <c:v>1.29735832258619</c:v>
                </c:pt>
                <c:pt idx="1194">
                  <c:v>1.301201470363426</c:v>
                </c:pt>
                <c:pt idx="1195">
                  <c:v>1.2993927571445349</c:v>
                </c:pt>
                <c:pt idx="1196">
                  <c:v>1.304961418369426</c:v>
                </c:pt>
                <c:pt idx="1197">
                  <c:v>1.3107072771657371</c:v>
                </c:pt>
                <c:pt idx="1198">
                  <c:v>1.3164744024180699</c:v>
                </c:pt>
                <c:pt idx="1199">
                  <c:v>1.31001430656203</c:v>
                </c:pt>
                <c:pt idx="1200">
                  <c:v>1.307007540967752</c:v>
                </c:pt>
                <c:pt idx="1201">
                  <c:v>1.3032232122479499</c:v>
                </c:pt>
                <c:pt idx="1202">
                  <c:v>1.3041706390604439</c:v>
                </c:pt>
                <c:pt idx="1203">
                  <c:v>1.3080922714087051</c:v>
                </c:pt>
                <c:pt idx="1204">
                  <c:v>1.3126599237437011</c:v>
                </c:pt>
                <c:pt idx="1205">
                  <c:v>1.307013794224656</c:v>
                </c:pt>
                <c:pt idx="1206">
                  <c:v>1.3103799720904989</c:v>
                </c:pt>
                <c:pt idx="1207">
                  <c:v>1.307274227930981</c:v>
                </c:pt>
                <c:pt idx="1208">
                  <c:v>1.314931010160616</c:v>
                </c:pt>
                <c:pt idx="1209">
                  <c:v>1.3151211845380031</c:v>
                </c:pt>
                <c:pt idx="1210">
                  <c:v>1.3129072019318699</c:v>
                </c:pt>
                <c:pt idx="1211">
                  <c:v>1.3026403804439839</c:v>
                </c:pt>
                <c:pt idx="1212">
                  <c:v>1.2960816614444171</c:v>
                </c:pt>
                <c:pt idx="1213">
                  <c:v>1.2907381161991449</c:v>
                </c:pt>
                <c:pt idx="1214">
                  <c:v>1.2900945027581729</c:v>
                </c:pt>
                <c:pt idx="1215">
                  <c:v>1.2974725155252209</c:v>
                </c:pt>
                <c:pt idx="1216">
                  <c:v>1.296921445794367</c:v>
                </c:pt>
                <c:pt idx="1217">
                  <c:v>1.2964758361693569</c:v>
                </c:pt>
                <c:pt idx="1218">
                  <c:v>1.2901777743359879</c:v>
                </c:pt>
                <c:pt idx="1219">
                  <c:v>1.289411799155455</c:v>
                </c:pt>
                <c:pt idx="1220">
                  <c:v>1.3032273087030071</c:v>
                </c:pt>
                <c:pt idx="1221">
                  <c:v>1.30062822667522</c:v>
                </c:pt>
                <c:pt idx="1222">
                  <c:v>1.3033470018036331</c:v>
                </c:pt>
                <c:pt idx="1223">
                  <c:v>1.305891363325298</c:v>
                </c:pt>
                <c:pt idx="1224">
                  <c:v>1.3103789420908709</c:v>
                </c:pt>
                <c:pt idx="1225">
                  <c:v>1.315245844790728</c:v>
                </c:pt>
                <c:pt idx="1226">
                  <c:v>1.317324351991676</c:v>
                </c:pt>
                <c:pt idx="1227">
                  <c:v>1.314426872101309</c:v>
                </c:pt>
                <c:pt idx="1228">
                  <c:v>1.3198771140233481</c:v>
                </c:pt>
                <c:pt idx="1229">
                  <c:v>1.3130531526861771</c:v>
                </c:pt>
                <c:pt idx="1230">
                  <c:v>1.314932080277571</c:v>
                </c:pt>
                <c:pt idx="1231">
                  <c:v>1.3258373738789899</c:v>
                </c:pt>
                <c:pt idx="1232">
                  <c:v>1.331607827934987</c:v>
                </c:pt>
                <c:pt idx="1233">
                  <c:v>1.3363539586261499</c:v>
                </c:pt>
                <c:pt idx="1234">
                  <c:v>1.336723115091605</c:v>
                </c:pt>
                <c:pt idx="1235">
                  <c:v>1.34187234774088</c:v>
                </c:pt>
                <c:pt idx="1236">
                  <c:v>1.335960529658659</c:v>
                </c:pt>
                <c:pt idx="1237">
                  <c:v>1.3375992607931551</c:v>
                </c:pt>
                <c:pt idx="1238">
                  <c:v>1.339464243291165</c:v>
                </c:pt>
                <c:pt idx="1239">
                  <c:v>1.3328567038613151</c:v>
                </c:pt>
                <c:pt idx="1240">
                  <c:v>1.3419606950270659</c:v>
                </c:pt>
                <c:pt idx="1241">
                  <c:v>1.3432823304549859</c:v>
                </c:pt>
                <c:pt idx="1242">
                  <c:v>1.3487377951588251</c:v>
                </c:pt>
                <c:pt idx="1243">
                  <c:v>1.3438028680811029</c:v>
                </c:pt>
                <c:pt idx="1244">
                  <c:v>1.3409087314263719</c:v>
                </c:pt>
                <c:pt idx="1245">
                  <c:v>1.3435439466291099</c:v>
                </c:pt>
                <c:pt idx="1246">
                  <c:v>1.3374026036781399</c:v>
                </c:pt>
                <c:pt idx="1247">
                  <c:v>1.3209060297446991</c:v>
                </c:pt>
                <c:pt idx="1248">
                  <c:v>1.321130516243755</c:v>
                </c:pt>
                <c:pt idx="1249">
                  <c:v>1.325860225024269</c:v>
                </c:pt>
                <c:pt idx="1250">
                  <c:v>1.3288400492114061</c:v>
                </c:pt>
                <c:pt idx="1251">
                  <c:v>1.3364119361612159</c:v>
                </c:pt>
                <c:pt idx="1252">
                  <c:v>1.33118784517647</c:v>
                </c:pt>
                <c:pt idx="1253">
                  <c:v>1.329929359448446</c:v>
                </c:pt>
                <c:pt idx="1254">
                  <c:v>1.32601720920778</c:v>
                </c:pt>
                <c:pt idx="1255">
                  <c:v>1.3281266752023491</c:v>
                </c:pt>
                <c:pt idx="1256">
                  <c:v>1.323565256743287</c:v>
                </c:pt>
                <c:pt idx="1257">
                  <c:v>1.333128205151624</c:v>
                </c:pt>
                <c:pt idx="1258">
                  <c:v>1.3314811326529381</c:v>
                </c:pt>
                <c:pt idx="1259">
                  <c:v>1.3353953213951311</c:v>
                </c:pt>
                <c:pt idx="1260">
                  <c:v>1.3333816104190619</c:v>
                </c:pt>
                <c:pt idx="1261">
                  <c:v>1.332756867487799</c:v>
                </c:pt>
                <c:pt idx="1262">
                  <c:v>1.3244080809909919</c:v>
                </c:pt>
                <c:pt idx="1263">
                  <c:v>1.32424543501213</c:v>
                </c:pt>
                <c:pt idx="1264">
                  <c:v>1.3213979024763951</c:v>
                </c:pt>
                <c:pt idx="1265">
                  <c:v>1.323287358338342</c:v>
                </c:pt>
                <c:pt idx="1266">
                  <c:v>1.3240356695119071</c:v>
                </c:pt>
                <c:pt idx="1267">
                  <c:v>1.3234046744982391</c:v>
                </c:pt>
                <c:pt idx="1268">
                  <c:v>1.3244081734188231</c:v>
                </c:pt>
                <c:pt idx="1269">
                  <c:v>1.326423708889102</c:v>
                </c:pt>
                <c:pt idx="1270">
                  <c:v>1.327790023318248</c:v>
                </c:pt>
                <c:pt idx="1271">
                  <c:v>1.3259954003291881</c:v>
                </c:pt>
                <c:pt idx="1272">
                  <c:v>1.2850048613335701</c:v>
                </c:pt>
                <c:pt idx="1273">
                  <c:v>1.282187732123977</c:v>
                </c:pt>
                <c:pt idx="1274">
                  <c:v>1.2923796596538371</c:v>
                </c:pt>
                <c:pt idx="1275">
                  <c:v>1.30310491944854</c:v>
                </c:pt>
                <c:pt idx="1276">
                  <c:v>1.312261055316833</c:v>
                </c:pt>
                <c:pt idx="1277">
                  <c:v>1.31678867283061</c:v>
                </c:pt>
                <c:pt idx="1278">
                  <c:v>1.3154946003977479</c:v>
                </c:pt>
                <c:pt idx="1279">
                  <c:v>1.315983086534243</c:v>
                </c:pt>
                <c:pt idx="1280">
                  <c:v>1.317018179303457</c:v>
                </c:pt>
                <c:pt idx="1281">
                  <c:v>1.317752288662482</c:v>
                </c:pt>
                <c:pt idx="1282">
                  <c:v>1.3270931304676441</c:v>
                </c:pt>
                <c:pt idx="1283">
                  <c:v>1.3304002762344691</c:v>
                </c:pt>
                <c:pt idx="1284">
                  <c:v>1.3267499454375711</c:v>
                </c:pt>
                <c:pt idx="1285">
                  <c:v>1.3246373228235111</c:v>
                </c:pt>
                <c:pt idx="1286">
                  <c:v>1.325478611079878</c:v>
                </c:pt>
                <c:pt idx="1287">
                  <c:v>1.3224627942175831</c:v>
                </c:pt>
                <c:pt idx="1288">
                  <c:v>1.325456111865273</c:v>
                </c:pt>
                <c:pt idx="1289">
                  <c:v>1.329526175160491</c:v>
                </c:pt>
                <c:pt idx="1290">
                  <c:v>1.340521142493819</c:v>
                </c:pt>
                <c:pt idx="1291">
                  <c:v>1.3413185046749161</c:v>
                </c:pt>
                <c:pt idx="1292">
                  <c:v>1.3430761926155721</c:v>
                </c:pt>
                <c:pt idx="1293">
                  <c:v>1.338483815762922</c:v>
                </c:pt>
                <c:pt idx="1294">
                  <c:v>1.3371286066789361</c:v>
                </c:pt>
                <c:pt idx="1295">
                  <c:v>1.3373859494375311</c:v>
                </c:pt>
                <c:pt idx="1296">
                  <c:v>1.3378314547079599</c:v>
                </c:pt>
                <c:pt idx="1297">
                  <c:v>1.3262670874244891</c:v>
                </c:pt>
                <c:pt idx="1298">
                  <c:v>1.329347156089135</c:v>
                </c:pt>
                <c:pt idx="1299">
                  <c:v>1.331689009720471</c:v>
                </c:pt>
                <c:pt idx="1300">
                  <c:v>1.334442539711602</c:v>
                </c:pt>
                <c:pt idx="1301">
                  <c:v>1.337680124025358</c:v>
                </c:pt>
                <c:pt idx="1302">
                  <c:v>1.336376767724299</c:v>
                </c:pt>
                <c:pt idx="1303">
                  <c:v>1.331367454635672</c:v>
                </c:pt>
                <c:pt idx="1304">
                  <c:v>1.332581754350125</c:v>
                </c:pt>
                <c:pt idx="1305">
                  <c:v>1.3284751694114061</c:v>
                </c:pt>
                <c:pt idx="1306">
                  <c:v>1.3287563752588949</c:v>
                </c:pt>
                <c:pt idx="1307">
                  <c:v>1.332950206016718</c:v>
                </c:pt>
                <c:pt idx="1308">
                  <c:v>1.3305201145802601</c:v>
                </c:pt>
                <c:pt idx="1309">
                  <c:v>1.3338553914896321</c:v>
                </c:pt>
                <c:pt idx="1310">
                  <c:v>1.3392275855498399</c:v>
                </c:pt>
                <c:pt idx="1311">
                  <c:v>1.345571563479151</c:v>
                </c:pt>
                <c:pt idx="1312">
                  <c:v>1.3456888172295749</c:v>
                </c:pt>
                <c:pt idx="1313">
                  <c:v>1.3474594881782751</c:v>
                </c:pt>
                <c:pt idx="1314">
                  <c:v>1.3440417041631529</c:v>
                </c:pt>
                <c:pt idx="1315">
                  <c:v>1.347065092611629</c:v>
                </c:pt>
                <c:pt idx="1316">
                  <c:v>1.3502127224035521</c:v>
                </c:pt>
                <c:pt idx="1317">
                  <c:v>1.3490015633872201</c:v>
                </c:pt>
                <c:pt idx="1318">
                  <c:v>1.352408679742209</c:v>
                </c:pt>
                <c:pt idx="1319">
                  <c:v>1.3506501358729299</c:v>
                </c:pt>
                <c:pt idx="1320">
                  <c:v>1.354819393281274</c:v>
                </c:pt>
                <c:pt idx="1321">
                  <c:v>1.3512288482179851</c:v>
                </c:pt>
                <c:pt idx="1322">
                  <c:v>1.348926187436458</c:v>
                </c:pt>
                <c:pt idx="1323">
                  <c:v>1.351022816904601</c:v>
                </c:pt>
                <c:pt idx="1324">
                  <c:v>1.3545705372468899</c:v>
                </c:pt>
                <c:pt idx="1325">
                  <c:v>1.360363466032543</c:v>
                </c:pt>
                <c:pt idx="1326">
                  <c:v>1.3603861604032259</c:v>
                </c:pt>
                <c:pt idx="1327">
                  <c:v>1.362281934916628</c:v>
                </c:pt>
                <c:pt idx="1328">
                  <c:v>1.3676957281609261</c:v>
                </c:pt>
                <c:pt idx="1329">
                  <c:v>1.371268505594871</c:v>
                </c:pt>
                <c:pt idx="1330">
                  <c:v>1.366653432020448</c:v>
                </c:pt>
                <c:pt idx="1331">
                  <c:v>1.3735990456680811</c:v>
                </c:pt>
                <c:pt idx="1332">
                  <c:v>1.372061296006426</c:v>
                </c:pt>
                <c:pt idx="1333">
                  <c:v>1.3696433506938861</c:v>
                </c:pt>
                <c:pt idx="1334">
                  <c:v>1.3794829612487629</c:v>
                </c:pt>
                <c:pt idx="1335">
                  <c:v>1.3769793765503391</c:v>
                </c:pt>
                <c:pt idx="1336">
                  <c:v>1.3782091791194571</c:v>
                </c:pt>
                <c:pt idx="1337">
                  <c:v>1.3793965546913951</c:v>
                </c:pt>
                <c:pt idx="1338">
                  <c:v>1.381569065960718</c:v>
                </c:pt>
                <c:pt idx="1339">
                  <c:v>1.390969867967363</c:v>
                </c:pt>
                <c:pt idx="1340">
                  <c:v>1.3904962930369431</c:v>
                </c:pt>
                <c:pt idx="1341">
                  <c:v>1.3990888410752631</c:v>
                </c:pt>
                <c:pt idx="1342">
                  <c:v>1.399304251216803</c:v>
                </c:pt>
                <c:pt idx="1343">
                  <c:v>1.402443785675318</c:v>
                </c:pt>
                <c:pt idx="1344">
                  <c:v>1.403527179548848</c:v>
                </c:pt>
                <c:pt idx="1345">
                  <c:v>1.4035067778643759</c:v>
                </c:pt>
                <c:pt idx="1346">
                  <c:v>1.4021937700263269</c:v>
                </c:pt>
                <c:pt idx="1347">
                  <c:v>1.402783963515976</c:v>
                </c:pt>
                <c:pt idx="1348">
                  <c:v>1.4087813525132911</c:v>
                </c:pt>
                <c:pt idx="1349">
                  <c:v>1.414040931832883</c:v>
                </c:pt>
                <c:pt idx="1350">
                  <c:v>1.4127846301336591</c:v>
                </c:pt>
                <c:pt idx="1351">
                  <c:v>1.4107325487360589</c:v>
                </c:pt>
                <c:pt idx="1352">
                  <c:v>1.407555930961975</c:v>
                </c:pt>
                <c:pt idx="1353">
                  <c:v>1.4123383279538391</c:v>
                </c:pt>
                <c:pt idx="1354">
                  <c:v>1.417173013920046</c:v>
                </c:pt>
                <c:pt idx="1355">
                  <c:v>1.420124089773056</c:v>
                </c:pt>
                <c:pt idx="1356">
                  <c:v>1.4201135563507441</c:v>
                </c:pt>
                <c:pt idx="1357">
                  <c:v>1.4187464781624299</c:v>
                </c:pt>
                <c:pt idx="1358">
                  <c:v>1.4228475612304461</c:v>
                </c:pt>
                <c:pt idx="1359">
                  <c:v>1.428954152567488</c:v>
                </c:pt>
                <c:pt idx="1360">
                  <c:v>1.4428284334880159</c:v>
                </c:pt>
                <c:pt idx="1361">
                  <c:v>1.4345021562658311</c:v>
                </c:pt>
                <c:pt idx="1362">
                  <c:v>1.440565133867918</c:v>
                </c:pt>
                <c:pt idx="1363">
                  <c:v>1.4488744401767</c:v>
                </c:pt>
                <c:pt idx="1364">
                  <c:v>1.452062238154443</c:v>
                </c:pt>
                <c:pt idx="1365">
                  <c:v>1.456169651469126</c:v>
                </c:pt>
                <c:pt idx="1366">
                  <c:v>1.454638994969075</c:v>
                </c:pt>
                <c:pt idx="1367">
                  <c:v>1.4693239380907961</c:v>
                </c:pt>
                <c:pt idx="1368">
                  <c:v>1.485254519473262</c:v>
                </c:pt>
                <c:pt idx="1369">
                  <c:v>1.484533037947726</c:v>
                </c:pt>
                <c:pt idx="1370">
                  <c:v>1.483895099742653</c:v>
                </c:pt>
                <c:pt idx="1371">
                  <c:v>1.505066424705515</c:v>
                </c:pt>
                <c:pt idx="1372">
                  <c:v>1.50721363799982</c:v>
                </c:pt>
                <c:pt idx="1373">
                  <c:v>1.520884100604917</c:v>
                </c:pt>
                <c:pt idx="1374">
                  <c:v>1.5050436078662299</c:v>
                </c:pt>
                <c:pt idx="1375">
                  <c:v>1.5070905838635209</c:v>
                </c:pt>
                <c:pt idx="1376">
                  <c:v>1.482004621278344</c:v>
                </c:pt>
                <c:pt idx="1377">
                  <c:v>1.504500553009273</c:v>
                </c:pt>
                <c:pt idx="1378">
                  <c:v>1.5019545885942001</c:v>
                </c:pt>
                <c:pt idx="1379">
                  <c:v>1.4947351367720569</c:v>
                </c:pt>
                <c:pt idx="1380">
                  <c:v>1.501111004934931</c:v>
                </c:pt>
                <c:pt idx="1381">
                  <c:v>1.526616527194379</c:v>
                </c:pt>
                <c:pt idx="1382">
                  <c:v>1.5269155969763031</c:v>
                </c:pt>
                <c:pt idx="1383">
                  <c:v>1.5245432493909921</c:v>
                </c:pt>
                <c:pt idx="1384">
                  <c:v>1.5312577199525159</c:v>
                </c:pt>
                <c:pt idx="1385">
                  <c:v>1.5352313017519981</c:v>
                </c:pt>
                <c:pt idx="1386">
                  <c:v>1.534952928665531</c:v>
                </c:pt>
                <c:pt idx="1387">
                  <c:v>1.533140077760593</c:v>
                </c:pt>
                <c:pt idx="1388">
                  <c:v>1.5454523424727069</c:v>
                </c:pt>
                <c:pt idx="1389">
                  <c:v>1.547393792063521</c:v>
                </c:pt>
                <c:pt idx="1390">
                  <c:v>1.555478759303087</c:v>
                </c:pt>
                <c:pt idx="1391">
                  <c:v>1.557730502291182</c:v>
                </c:pt>
                <c:pt idx="1392">
                  <c:v>1.5456840844330799</c:v>
                </c:pt>
                <c:pt idx="1393">
                  <c:v>1.5575293410407229</c:v>
                </c:pt>
                <c:pt idx="1394">
                  <c:v>1.560909123829064</c:v>
                </c:pt>
                <c:pt idx="1395">
                  <c:v>1.576476601318572</c:v>
                </c:pt>
                <c:pt idx="1396">
                  <c:v>1.557041322819376</c:v>
                </c:pt>
                <c:pt idx="1397">
                  <c:v>1.5586577768237779</c:v>
                </c:pt>
                <c:pt idx="1398">
                  <c:v>1.5403783214516029</c:v>
                </c:pt>
                <c:pt idx="1399">
                  <c:v>1.555602456282444</c:v>
                </c:pt>
                <c:pt idx="1400">
                  <c:v>1.555926819182607</c:v>
                </c:pt>
                <c:pt idx="1401">
                  <c:v>1.5440332634456539</c:v>
                </c:pt>
                <c:pt idx="1402">
                  <c:v>1.5480249824894361</c:v>
                </c:pt>
                <c:pt idx="1403">
                  <c:v>1.569526001292739</c:v>
                </c:pt>
                <c:pt idx="1404">
                  <c:v>1.559307315696242</c:v>
                </c:pt>
                <c:pt idx="1405">
                  <c:v>1.554489437000959</c:v>
                </c:pt>
                <c:pt idx="1406">
                  <c:v>1.5727917176289281</c:v>
                </c:pt>
                <c:pt idx="1407">
                  <c:v>1.5869241879757341</c:v>
                </c:pt>
                <c:pt idx="1408">
                  <c:v>1.58300344004766</c:v>
                </c:pt>
                <c:pt idx="1409">
                  <c:v>1.595054097804711</c:v>
                </c:pt>
                <c:pt idx="1410">
                  <c:v>1.583193832623037</c:v>
                </c:pt>
                <c:pt idx="1411">
                  <c:v>1.572907582392187</c:v>
                </c:pt>
                <c:pt idx="1412">
                  <c:v>1.5742149623751931</c:v>
                </c:pt>
                <c:pt idx="1413">
                  <c:v>1.566371186349576</c:v>
                </c:pt>
                <c:pt idx="1414">
                  <c:v>1.5666959550016171</c:v>
                </c:pt>
                <c:pt idx="1415">
                  <c:v>1.579192870121485</c:v>
                </c:pt>
                <c:pt idx="1416">
                  <c:v>1.5729235129795041</c:v>
                </c:pt>
                <c:pt idx="1417">
                  <c:v>1.5729667249427579</c:v>
                </c:pt>
                <c:pt idx="1418">
                  <c:v>1.5674977270170369</c:v>
                </c:pt>
                <c:pt idx="1419">
                  <c:v>1.5663738560740259</c:v>
                </c:pt>
                <c:pt idx="1420">
                  <c:v>1.5741174472639849</c:v>
                </c:pt>
                <c:pt idx="1421">
                  <c:v>1.55882569094665</c:v>
                </c:pt>
                <c:pt idx="1422">
                  <c:v>1.5554621397785859</c:v>
                </c:pt>
                <c:pt idx="1423">
                  <c:v>1.550189328921262</c:v>
                </c:pt>
                <c:pt idx="1424">
                  <c:v>1.552114209343568</c:v>
                </c:pt>
                <c:pt idx="1425">
                  <c:v>1.5486543063736291</c:v>
                </c:pt>
                <c:pt idx="1426">
                  <c:v>1.524632509562128</c:v>
                </c:pt>
                <c:pt idx="1427">
                  <c:v>1.526629662203099</c:v>
                </c:pt>
                <c:pt idx="1428">
                  <c:v>1.5414723639922021</c:v>
                </c:pt>
                <c:pt idx="1429">
                  <c:v>1.5509652090346051</c:v>
                </c:pt>
                <c:pt idx="1430">
                  <c:v>1.549836793927905</c:v>
                </c:pt>
                <c:pt idx="1431">
                  <c:v>1.5553779881764771</c:v>
                </c:pt>
                <c:pt idx="1432">
                  <c:v>1.565141905572782</c:v>
                </c:pt>
                <c:pt idx="1433">
                  <c:v>1.5614980227355131</c:v>
                </c:pt>
                <c:pt idx="1434">
                  <c:v>1.5560137772110181</c:v>
                </c:pt>
                <c:pt idx="1435">
                  <c:v>1.556505388068091</c:v>
                </c:pt>
                <c:pt idx="1436">
                  <c:v>1.5632652367977169</c:v>
                </c:pt>
                <c:pt idx="1437">
                  <c:v>1.5764155906979791</c:v>
                </c:pt>
                <c:pt idx="1438">
                  <c:v>1.5809744408910591</c:v>
                </c:pt>
                <c:pt idx="1439">
                  <c:v>1.5828081012625561</c:v>
                </c:pt>
                <c:pt idx="1440">
                  <c:v>1.573217140135087</c:v>
                </c:pt>
                <c:pt idx="1441">
                  <c:v>1.5822725460204601</c:v>
                </c:pt>
                <c:pt idx="1442">
                  <c:v>1.574780967589285</c:v>
                </c:pt>
                <c:pt idx="1443">
                  <c:v>1.5630368113707589</c:v>
                </c:pt>
                <c:pt idx="1444">
                  <c:v>1.583459174435714</c:v>
                </c:pt>
                <c:pt idx="1445">
                  <c:v>1.575208028509715</c:v>
                </c:pt>
                <c:pt idx="1446">
                  <c:v>1.5774928146419691</c:v>
                </c:pt>
                <c:pt idx="1447">
                  <c:v>1.5958466316675859</c:v>
                </c:pt>
                <c:pt idx="1448">
                  <c:v>1.601973636494046</c:v>
                </c:pt>
                <c:pt idx="1449">
                  <c:v>1.610351608561609</c:v>
                </c:pt>
                <c:pt idx="1450">
                  <c:v>1.6116320621208391</c:v>
                </c:pt>
                <c:pt idx="1451">
                  <c:v>1.610275902302575</c:v>
                </c:pt>
                <c:pt idx="1452">
                  <c:v>1.608601880000897</c:v>
                </c:pt>
                <c:pt idx="1453">
                  <c:v>1.6043736645341959</c:v>
                </c:pt>
                <c:pt idx="1454">
                  <c:v>1.5971875903021839</c:v>
                </c:pt>
                <c:pt idx="1455">
                  <c:v>1.6113782352805861</c:v>
                </c:pt>
                <c:pt idx="1456">
                  <c:v>1.617024056377383</c:v>
                </c:pt>
                <c:pt idx="1457">
                  <c:v>1.621018944458412</c:v>
                </c:pt>
                <c:pt idx="1458">
                  <c:v>1.618912767278377</c:v>
                </c:pt>
                <c:pt idx="1459">
                  <c:v>1.624497320014316</c:v>
                </c:pt>
                <c:pt idx="1460">
                  <c:v>1.6354260804960219</c:v>
                </c:pt>
                <c:pt idx="1461">
                  <c:v>1.6274934262400349</c:v>
                </c:pt>
                <c:pt idx="1462">
                  <c:v>1.634988415890156</c:v>
                </c:pt>
                <c:pt idx="1463">
                  <c:v>1.640263763857104</c:v>
                </c:pt>
                <c:pt idx="1464">
                  <c:v>1.644307358365088</c:v>
                </c:pt>
                <c:pt idx="1465">
                  <c:v>1.6465415032989379</c:v>
                </c:pt>
                <c:pt idx="1466">
                  <c:v>1.6423318299249241</c:v>
                </c:pt>
                <c:pt idx="1467">
                  <c:v>1.655233348940045</c:v>
                </c:pt>
                <c:pt idx="1468">
                  <c:v>1.6592988522415</c:v>
                </c:pt>
                <c:pt idx="1469">
                  <c:v>1.6646854968154019</c:v>
                </c:pt>
                <c:pt idx="1470">
                  <c:v>1.6651709270353019</c:v>
                </c:pt>
                <c:pt idx="1471">
                  <c:v>1.670384221788602</c:v>
                </c:pt>
                <c:pt idx="1472">
                  <c:v>1.677541083716259</c:v>
                </c:pt>
                <c:pt idx="1473">
                  <c:v>1.678000804116254</c:v>
                </c:pt>
                <c:pt idx="1474">
                  <c:v>1.667963726398362</c:v>
                </c:pt>
                <c:pt idx="1475">
                  <c:v>1.6309819439159621</c:v>
                </c:pt>
                <c:pt idx="1476">
                  <c:v>1.651321998523537</c:v>
                </c:pt>
                <c:pt idx="1477">
                  <c:v>1.6547646456098251</c:v>
                </c:pt>
                <c:pt idx="1478">
                  <c:v>1.642794925982634</c:v>
                </c:pt>
                <c:pt idx="1479">
                  <c:v>1.6395819021762481</c:v>
                </c:pt>
                <c:pt idx="1480">
                  <c:v>1.6564661509422529</c:v>
                </c:pt>
                <c:pt idx="1481">
                  <c:v>1.6572709515978881</c:v>
                </c:pt>
                <c:pt idx="1482">
                  <c:v>1.654656169420448</c:v>
                </c:pt>
                <c:pt idx="1483">
                  <c:v>1.6593367812235811</c:v>
                </c:pt>
                <c:pt idx="1484">
                  <c:v>1.6521449961677741</c:v>
                </c:pt>
                <c:pt idx="1485">
                  <c:v>1.666245580210665</c:v>
                </c:pt>
                <c:pt idx="1486">
                  <c:v>1.6731724610053851</c:v>
                </c:pt>
                <c:pt idx="1487">
                  <c:v>1.6780935071173351</c:v>
                </c:pt>
                <c:pt idx="1488">
                  <c:v>1.6739059970767249</c:v>
                </c:pt>
                <c:pt idx="1489">
                  <c:v>1.6821116930164901</c:v>
                </c:pt>
                <c:pt idx="1490">
                  <c:v>1.662054821076459</c:v>
                </c:pt>
                <c:pt idx="1491">
                  <c:v>1.6534041908189749</c:v>
                </c:pt>
                <c:pt idx="1492">
                  <c:v>1.6592614103775689</c:v>
                </c:pt>
                <c:pt idx="1493">
                  <c:v>1.6590789194765361</c:v>
                </c:pt>
                <c:pt idx="1494">
                  <c:v>1.649892215835234</c:v>
                </c:pt>
                <c:pt idx="1495">
                  <c:v>1.664453590667393</c:v>
                </c:pt>
                <c:pt idx="1496">
                  <c:v>1.664919045359009</c:v>
                </c:pt>
                <c:pt idx="1497">
                  <c:v>1.6593613811746479</c:v>
                </c:pt>
                <c:pt idx="1498">
                  <c:v>1.654370215802041</c:v>
                </c:pt>
                <c:pt idx="1499">
                  <c:v>1.654746855737985</c:v>
                </c:pt>
                <c:pt idx="1500">
                  <c:v>1.642491812043452</c:v>
                </c:pt>
                <c:pt idx="1501">
                  <c:v>1.6528107338549269</c:v>
                </c:pt>
                <c:pt idx="1502">
                  <c:v>1.6346415596172079</c:v>
                </c:pt>
                <c:pt idx="1503">
                  <c:v>1.6307530927873559</c:v>
                </c:pt>
                <c:pt idx="1504">
                  <c:v>1.5902546416973109</c:v>
                </c:pt>
                <c:pt idx="1505">
                  <c:v>1.609778381569235</c:v>
                </c:pt>
                <c:pt idx="1506">
                  <c:v>1.6268201095341881</c:v>
                </c:pt>
                <c:pt idx="1507">
                  <c:v>1.615600846014271</c:v>
                </c:pt>
                <c:pt idx="1508">
                  <c:v>1.620335272186866</c:v>
                </c:pt>
                <c:pt idx="1509">
                  <c:v>1.6254363737448481</c:v>
                </c:pt>
                <c:pt idx="1510">
                  <c:v>1.6175129293225821</c:v>
                </c:pt>
                <c:pt idx="1511">
                  <c:v>1.633441822733579</c:v>
                </c:pt>
                <c:pt idx="1512">
                  <c:v>1.6215547123643561</c:v>
                </c:pt>
                <c:pt idx="1513">
                  <c:v>1.623120060035554</c:v>
                </c:pt>
                <c:pt idx="1514">
                  <c:v>1.6249231008665419</c:v>
                </c:pt>
                <c:pt idx="1515">
                  <c:v>1.6579854637142659</c:v>
                </c:pt>
                <c:pt idx="1516">
                  <c:v>1.6542646990473659</c:v>
                </c:pt>
                <c:pt idx="1517">
                  <c:v>1.6672587777558729</c:v>
                </c:pt>
                <c:pt idx="1518">
                  <c:v>1.6683188014842461</c:v>
                </c:pt>
                <c:pt idx="1519">
                  <c:v>1.6800195017088599</c:v>
                </c:pt>
                <c:pt idx="1520">
                  <c:v>1.675952921734355</c:v>
                </c:pt>
                <c:pt idx="1521">
                  <c:v>1.688060199786876</c:v>
                </c:pt>
                <c:pt idx="1522">
                  <c:v>1.698207124398037</c:v>
                </c:pt>
                <c:pt idx="1523">
                  <c:v>1.7020006360182689</c:v>
                </c:pt>
                <c:pt idx="1524">
                  <c:v>1.703792136007936</c:v>
                </c:pt>
                <c:pt idx="1525">
                  <c:v>1.7173672590733</c:v>
                </c:pt>
                <c:pt idx="1526">
                  <c:v>1.7075725929219761</c:v>
                </c:pt>
                <c:pt idx="1527">
                  <c:v>1.700316722921517</c:v>
                </c:pt>
                <c:pt idx="1528">
                  <c:v>1.7071541557033501</c:v>
                </c:pt>
                <c:pt idx="1529">
                  <c:v>1.6977508979341429</c:v>
                </c:pt>
                <c:pt idx="1530">
                  <c:v>1.703287942246783</c:v>
                </c:pt>
                <c:pt idx="1531">
                  <c:v>1.706093756293424</c:v>
                </c:pt>
              </c:numCache>
            </c:numRef>
          </c:val>
          <c:smooth val="0"/>
          <c:extLst xmlns:c16r2="http://schemas.microsoft.com/office/drawing/2015/06/chart">
            <c:ext xmlns:c16="http://schemas.microsoft.com/office/drawing/2014/chart" uri="{C3380CC4-5D6E-409C-BE32-E72D297353CC}">
              <c16:uniqueId val="{00000000-AD8F-4D14-8BD1-39567E2BF10A}"/>
            </c:ext>
          </c:extLst>
        </c:ser>
        <c:dLbls>
          <c:showLegendKey val="0"/>
          <c:showVal val="0"/>
          <c:showCatName val="0"/>
          <c:showSerName val="0"/>
          <c:showPercent val="0"/>
          <c:showBubbleSize val="0"/>
        </c:dLbls>
        <c:smooth val="0"/>
        <c:axId val="-1671533088"/>
        <c:axId val="-1671543968"/>
      </c:lineChart>
      <c:catAx>
        <c:axId val="-1671533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671543968"/>
        <c:crosses val="autoZero"/>
        <c:auto val="1"/>
        <c:lblAlgn val="ctr"/>
        <c:lblOffset val="100"/>
        <c:tickLblSkip val="150"/>
        <c:noMultiLvlLbl val="0"/>
      </c:catAx>
      <c:valAx>
        <c:axId val="-1671543968"/>
        <c:scaling>
          <c:orientation val="minMax"/>
          <c:min val="0.8"/>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671533088"/>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结果页!$D$1</c:f>
              <c:strCache>
                <c:ptCount val="1"/>
                <c:pt idx="0">
                  <c:v>进取组合净值</c:v>
                </c:pt>
              </c:strCache>
            </c:strRef>
          </c:tx>
          <c:spPr>
            <a:ln w="28575" cap="rnd">
              <a:solidFill>
                <a:schemeClr val="accent1"/>
              </a:solidFill>
              <a:round/>
            </a:ln>
            <a:effectLst/>
          </c:spPr>
          <c:marker>
            <c:symbol val="none"/>
          </c:marker>
          <c:dLbls>
            <c:dLbl>
              <c:idx val="1549"/>
              <c:layout>
                <c:manualLayout>
                  <c:x val="-7.1391901769241603E-3"/>
                  <c:y val="-5.7190084530247258E-2"/>
                </c:manualLayout>
              </c:layout>
              <c:tx>
                <c:rich>
                  <a:bodyPr/>
                  <a:lstStyle/>
                  <a:p>
                    <a:r>
                      <a:rPr lang="en-US" altLang="zh-CN" dirty="0"/>
                      <a:t>4.55</a:t>
                    </a:r>
                  </a:p>
                </c:rich>
              </c:tx>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04D1-4C26-8005-CE36F8981662}"/>
                </c:ext>
                <c:ext xmlns:c15="http://schemas.microsoft.com/office/drawing/2012/chart" uri="{CE6537A1-D6FC-4f65-9D91-7224C49458BB}"/>
              </c:extLst>
            </c:dLbl>
            <c:numFmt formatCode="#,##0.00_);[Red]\(#,##0.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C00000"/>
                    </a:solidFill>
                    <a:latin typeface="+mn-lt"/>
                    <a:ea typeface="+mn-ea"/>
                    <a:cs typeface="+mn-cs"/>
                  </a:defRPr>
                </a:pPr>
                <a:endParaRPr lang="zh-CN"/>
              </a:p>
            </c:txPr>
            <c:showLegendKey val="0"/>
            <c:showVal val="0"/>
            <c:showCatName val="0"/>
            <c:showSerName val="0"/>
            <c:showPercent val="0"/>
            <c:showBubbleSize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结果页!$A$2:$A$1552</c:f>
              <c:strCache>
                <c:ptCount val="1551"/>
                <c:pt idx="0">
                  <c:v>2019-12-31</c:v>
                </c:pt>
                <c:pt idx="1">
                  <c:v>2020-01-02</c:v>
                </c:pt>
                <c:pt idx="2">
                  <c:v>2020-01-03</c:v>
                </c:pt>
                <c:pt idx="3">
                  <c:v>2020-01-06</c:v>
                </c:pt>
                <c:pt idx="4">
                  <c:v>2020-01-07</c:v>
                </c:pt>
                <c:pt idx="5">
                  <c:v>2020-01-08</c:v>
                </c:pt>
                <c:pt idx="6">
                  <c:v>2020-01-09</c:v>
                </c:pt>
                <c:pt idx="7">
                  <c:v>2020-01-10</c:v>
                </c:pt>
                <c:pt idx="8">
                  <c:v>2020-01-13</c:v>
                </c:pt>
                <c:pt idx="9">
                  <c:v>2020-01-14</c:v>
                </c:pt>
                <c:pt idx="10">
                  <c:v>2020-01-15</c:v>
                </c:pt>
                <c:pt idx="11">
                  <c:v>2020-01-16</c:v>
                </c:pt>
                <c:pt idx="12">
                  <c:v>2020-01-17</c:v>
                </c:pt>
                <c:pt idx="13">
                  <c:v>2020-01-20</c:v>
                </c:pt>
                <c:pt idx="14">
                  <c:v>2020-01-21</c:v>
                </c:pt>
                <c:pt idx="15">
                  <c:v>2020-01-22</c:v>
                </c:pt>
                <c:pt idx="16">
                  <c:v>2020-01-23</c:v>
                </c:pt>
                <c:pt idx="17">
                  <c:v>2020-02-03</c:v>
                </c:pt>
                <c:pt idx="18">
                  <c:v>2020-02-04</c:v>
                </c:pt>
                <c:pt idx="19">
                  <c:v>2020-02-05</c:v>
                </c:pt>
                <c:pt idx="20">
                  <c:v>2020-02-06</c:v>
                </c:pt>
                <c:pt idx="21">
                  <c:v>2020-02-07</c:v>
                </c:pt>
                <c:pt idx="22">
                  <c:v>2020-02-10</c:v>
                </c:pt>
                <c:pt idx="23">
                  <c:v>2020-02-11</c:v>
                </c:pt>
                <c:pt idx="24">
                  <c:v>2020-02-12</c:v>
                </c:pt>
                <c:pt idx="25">
                  <c:v>2020-02-13</c:v>
                </c:pt>
                <c:pt idx="26">
                  <c:v>2020-02-14</c:v>
                </c:pt>
                <c:pt idx="27">
                  <c:v>2020-02-17</c:v>
                </c:pt>
                <c:pt idx="28">
                  <c:v>2020-02-18</c:v>
                </c:pt>
                <c:pt idx="29">
                  <c:v>2020-02-19</c:v>
                </c:pt>
                <c:pt idx="30">
                  <c:v>2020-02-20</c:v>
                </c:pt>
                <c:pt idx="31">
                  <c:v>2020-02-21</c:v>
                </c:pt>
                <c:pt idx="32">
                  <c:v>2020-02-24</c:v>
                </c:pt>
                <c:pt idx="33">
                  <c:v>2020-02-25</c:v>
                </c:pt>
                <c:pt idx="34">
                  <c:v>2020-02-26</c:v>
                </c:pt>
                <c:pt idx="35">
                  <c:v>2020-02-27</c:v>
                </c:pt>
                <c:pt idx="36">
                  <c:v>2020-02-28</c:v>
                </c:pt>
                <c:pt idx="37">
                  <c:v>2020-03-02</c:v>
                </c:pt>
                <c:pt idx="38">
                  <c:v>2020-03-03</c:v>
                </c:pt>
                <c:pt idx="39">
                  <c:v>2020-03-04</c:v>
                </c:pt>
                <c:pt idx="40">
                  <c:v>2020-03-05</c:v>
                </c:pt>
                <c:pt idx="41">
                  <c:v>2020-03-06</c:v>
                </c:pt>
                <c:pt idx="42">
                  <c:v>2020-03-09</c:v>
                </c:pt>
                <c:pt idx="43">
                  <c:v>2020-03-10</c:v>
                </c:pt>
                <c:pt idx="44">
                  <c:v>2020-03-11</c:v>
                </c:pt>
                <c:pt idx="45">
                  <c:v>2020-03-12</c:v>
                </c:pt>
                <c:pt idx="46">
                  <c:v>2020-03-13</c:v>
                </c:pt>
                <c:pt idx="47">
                  <c:v>2020-03-16</c:v>
                </c:pt>
                <c:pt idx="48">
                  <c:v>2020-03-17</c:v>
                </c:pt>
                <c:pt idx="49">
                  <c:v>2020-03-18</c:v>
                </c:pt>
                <c:pt idx="50">
                  <c:v>2020-03-19</c:v>
                </c:pt>
                <c:pt idx="51">
                  <c:v>2020-03-20</c:v>
                </c:pt>
                <c:pt idx="52">
                  <c:v>2020-03-23</c:v>
                </c:pt>
                <c:pt idx="53">
                  <c:v>2020-03-24</c:v>
                </c:pt>
                <c:pt idx="54">
                  <c:v>2020-03-25</c:v>
                </c:pt>
                <c:pt idx="55">
                  <c:v>2020-03-26</c:v>
                </c:pt>
                <c:pt idx="56">
                  <c:v>2020-03-27</c:v>
                </c:pt>
                <c:pt idx="57">
                  <c:v>2020-03-30</c:v>
                </c:pt>
                <c:pt idx="58">
                  <c:v>2020-03-31</c:v>
                </c:pt>
                <c:pt idx="59">
                  <c:v>2020-04-01</c:v>
                </c:pt>
                <c:pt idx="60">
                  <c:v>2020-04-02</c:v>
                </c:pt>
                <c:pt idx="61">
                  <c:v>2020-04-03</c:v>
                </c:pt>
                <c:pt idx="62">
                  <c:v>2020-04-07</c:v>
                </c:pt>
                <c:pt idx="63">
                  <c:v>2020-04-08</c:v>
                </c:pt>
                <c:pt idx="64">
                  <c:v>2020-04-09</c:v>
                </c:pt>
                <c:pt idx="65">
                  <c:v>2020-04-10</c:v>
                </c:pt>
                <c:pt idx="66">
                  <c:v>2020-04-13</c:v>
                </c:pt>
                <c:pt idx="67">
                  <c:v>2020-04-14</c:v>
                </c:pt>
                <c:pt idx="68">
                  <c:v>2020-04-15</c:v>
                </c:pt>
                <c:pt idx="69">
                  <c:v>2020-04-16</c:v>
                </c:pt>
                <c:pt idx="70">
                  <c:v>2020-04-17</c:v>
                </c:pt>
                <c:pt idx="71">
                  <c:v>2020-04-20</c:v>
                </c:pt>
                <c:pt idx="72">
                  <c:v>2020-04-21</c:v>
                </c:pt>
                <c:pt idx="73">
                  <c:v>2020-04-22</c:v>
                </c:pt>
                <c:pt idx="74">
                  <c:v>2020-04-23</c:v>
                </c:pt>
                <c:pt idx="75">
                  <c:v>2020-04-24</c:v>
                </c:pt>
                <c:pt idx="76">
                  <c:v>2020-04-27</c:v>
                </c:pt>
                <c:pt idx="77">
                  <c:v>2020-04-28</c:v>
                </c:pt>
                <c:pt idx="78">
                  <c:v>2020-04-29</c:v>
                </c:pt>
                <c:pt idx="79">
                  <c:v>2020-04-30</c:v>
                </c:pt>
                <c:pt idx="80">
                  <c:v>2020-05-06</c:v>
                </c:pt>
                <c:pt idx="81">
                  <c:v>2020-05-07</c:v>
                </c:pt>
                <c:pt idx="82">
                  <c:v>2020-05-08</c:v>
                </c:pt>
                <c:pt idx="83">
                  <c:v>2020-05-11</c:v>
                </c:pt>
                <c:pt idx="84">
                  <c:v>2020-05-12</c:v>
                </c:pt>
                <c:pt idx="85">
                  <c:v>2020-05-13</c:v>
                </c:pt>
                <c:pt idx="86">
                  <c:v>2020-05-14</c:v>
                </c:pt>
                <c:pt idx="87">
                  <c:v>2020-05-15</c:v>
                </c:pt>
                <c:pt idx="88">
                  <c:v>2020-05-18</c:v>
                </c:pt>
                <c:pt idx="89">
                  <c:v>2020-05-19</c:v>
                </c:pt>
                <c:pt idx="90">
                  <c:v>2020-05-20</c:v>
                </c:pt>
                <c:pt idx="91">
                  <c:v>2020-05-21</c:v>
                </c:pt>
                <c:pt idx="92">
                  <c:v>2020-05-22</c:v>
                </c:pt>
                <c:pt idx="93">
                  <c:v>2020-05-25</c:v>
                </c:pt>
                <c:pt idx="94">
                  <c:v>2020-05-26</c:v>
                </c:pt>
                <c:pt idx="95">
                  <c:v>2020-05-27</c:v>
                </c:pt>
                <c:pt idx="96">
                  <c:v>2020-05-28</c:v>
                </c:pt>
                <c:pt idx="97">
                  <c:v>2020-05-29</c:v>
                </c:pt>
                <c:pt idx="98">
                  <c:v>2020-06-01</c:v>
                </c:pt>
                <c:pt idx="99">
                  <c:v>2020-06-02</c:v>
                </c:pt>
                <c:pt idx="100">
                  <c:v>2020-06-03</c:v>
                </c:pt>
                <c:pt idx="101">
                  <c:v>2020-06-04</c:v>
                </c:pt>
                <c:pt idx="102">
                  <c:v>2020-06-05</c:v>
                </c:pt>
                <c:pt idx="103">
                  <c:v>2020-06-08</c:v>
                </c:pt>
                <c:pt idx="104">
                  <c:v>2020-06-09</c:v>
                </c:pt>
                <c:pt idx="105">
                  <c:v>2020-06-10</c:v>
                </c:pt>
                <c:pt idx="106">
                  <c:v>2020-06-11</c:v>
                </c:pt>
                <c:pt idx="107">
                  <c:v>2020-06-12</c:v>
                </c:pt>
                <c:pt idx="108">
                  <c:v>2020-06-15</c:v>
                </c:pt>
                <c:pt idx="109">
                  <c:v>2020-06-16</c:v>
                </c:pt>
                <c:pt idx="110">
                  <c:v>2020-06-17</c:v>
                </c:pt>
                <c:pt idx="111">
                  <c:v>2020-06-18</c:v>
                </c:pt>
                <c:pt idx="112">
                  <c:v>2020-06-19</c:v>
                </c:pt>
                <c:pt idx="113">
                  <c:v>2020-06-22</c:v>
                </c:pt>
                <c:pt idx="114">
                  <c:v>2020-06-23</c:v>
                </c:pt>
                <c:pt idx="115">
                  <c:v>2020-06-24</c:v>
                </c:pt>
                <c:pt idx="116">
                  <c:v>2020-06-29</c:v>
                </c:pt>
                <c:pt idx="117">
                  <c:v>2020-06-30</c:v>
                </c:pt>
                <c:pt idx="118">
                  <c:v>2020-07-01</c:v>
                </c:pt>
                <c:pt idx="119">
                  <c:v>2020-07-02</c:v>
                </c:pt>
                <c:pt idx="120">
                  <c:v>2020-07-03</c:v>
                </c:pt>
                <c:pt idx="121">
                  <c:v>2020-07-06</c:v>
                </c:pt>
                <c:pt idx="122">
                  <c:v>2020-07-07</c:v>
                </c:pt>
                <c:pt idx="123">
                  <c:v>2020-07-08</c:v>
                </c:pt>
                <c:pt idx="124">
                  <c:v>2020-07-09</c:v>
                </c:pt>
                <c:pt idx="125">
                  <c:v>2020-07-10</c:v>
                </c:pt>
                <c:pt idx="126">
                  <c:v>2020-07-13</c:v>
                </c:pt>
                <c:pt idx="127">
                  <c:v>2020-07-14</c:v>
                </c:pt>
                <c:pt idx="128">
                  <c:v>2020-07-15</c:v>
                </c:pt>
                <c:pt idx="129">
                  <c:v>2020-07-16</c:v>
                </c:pt>
                <c:pt idx="130">
                  <c:v>2020-07-17</c:v>
                </c:pt>
                <c:pt idx="131">
                  <c:v>2020-07-20</c:v>
                </c:pt>
                <c:pt idx="132">
                  <c:v>2020-07-21</c:v>
                </c:pt>
                <c:pt idx="133">
                  <c:v>2020-07-22</c:v>
                </c:pt>
                <c:pt idx="134">
                  <c:v>2020-07-23</c:v>
                </c:pt>
                <c:pt idx="135">
                  <c:v>2020-07-24</c:v>
                </c:pt>
                <c:pt idx="136">
                  <c:v>2020-07-27</c:v>
                </c:pt>
                <c:pt idx="137">
                  <c:v>2020-07-28</c:v>
                </c:pt>
                <c:pt idx="138">
                  <c:v>2020-07-29</c:v>
                </c:pt>
                <c:pt idx="139">
                  <c:v>2020-07-30</c:v>
                </c:pt>
                <c:pt idx="140">
                  <c:v>2020-07-31</c:v>
                </c:pt>
                <c:pt idx="141">
                  <c:v>2020-08-03</c:v>
                </c:pt>
                <c:pt idx="142">
                  <c:v>2020-08-04</c:v>
                </c:pt>
                <c:pt idx="143">
                  <c:v>2020-08-05</c:v>
                </c:pt>
                <c:pt idx="144">
                  <c:v>2020-08-06</c:v>
                </c:pt>
                <c:pt idx="145">
                  <c:v>2020-08-07</c:v>
                </c:pt>
                <c:pt idx="146">
                  <c:v>2020-08-10</c:v>
                </c:pt>
                <c:pt idx="147">
                  <c:v>2020-08-11</c:v>
                </c:pt>
                <c:pt idx="148">
                  <c:v>2020-08-12</c:v>
                </c:pt>
                <c:pt idx="149">
                  <c:v>2020-08-13</c:v>
                </c:pt>
                <c:pt idx="150">
                  <c:v>2020-08-14</c:v>
                </c:pt>
                <c:pt idx="151">
                  <c:v>2020-08-17</c:v>
                </c:pt>
                <c:pt idx="152">
                  <c:v>2020-08-18</c:v>
                </c:pt>
                <c:pt idx="153">
                  <c:v>2020-08-19</c:v>
                </c:pt>
                <c:pt idx="154">
                  <c:v>2020-08-20</c:v>
                </c:pt>
                <c:pt idx="155">
                  <c:v>2020-08-21</c:v>
                </c:pt>
                <c:pt idx="156">
                  <c:v>2020-08-24</c:v>
                </c:pt>
                <c:pt idx="157">
                  <c:v>2020-08-25</c:v>
                </c:pt>
                <c:pt idx="158">
                  <c:v>2020-08-26</c:v>
                </c:pt>
                <c:pt idx="159">
                  <c:v>2020-08-27</c:v>
                </c:pt>
                <c:pt idx="160">
                  <c:v>2020-08-28</c:v>
                </c:pt>
                <c:pt idx="161">
                  <c:v>2020-08-31</c:v>
                </c:pt>
                <c:pt idx="162">
                  <c:v>2020-09-01</c:v>
                </c:pt>
                <c:pt idx="163">
                  <c:v>2020-09-02</c:v>
                </c:pt>
                <c:pt idx="164">
                  <c:v>2020-09-03</c:v>
                </c:pt>
                <c:pt idx="165">
                  <c:v>2020-09-04</c:v>
                </c:pt>
                <c:pt idx="166">
                  <c:v>2020-09-07</c:v>
                </c:pt>
                <c:pt idx="167">
                  <c:v>2020-09-08</c:v>
                </c:pt>
                <c:pt idx="168">
                  <c:v>2020-09-09</c:v>
                </c:pt>
                <c:pt idx="169">
                  <c:v>2020-09-10</c:v>
                </c:pt>
                <c:pt idx="170">
                  <c:v>2020-09-11</c:v>
                </c:pt>
                <c:pt idx="171">
                  <c:v>2020-09-14</c:v>
                </c:pt>
                <c:pt idx="172">
                  <c:v>2020-09-15</c:v>
                </c:pt>
                <c:pt idx="173">
                  <c:v>2020-09-16</c:v>
                </c:pt>
                <c:pt idx="174">
                  <c:v>2020-09-17</c:v>
                </c:pt>
                <c:pt idx="175">
                  <c:v>2020-09-18</c:v>
                </c:pt>
                <c:pt idx="176">
                  <c:v>2020-09-21</c:v>
                </c:pt>
                <c:pt idx="177">
                  <c:v>2020-09-22</c:v>
                </c:pt>
                <c:pt idx="178">
                  <c:v>2020-09-23</c:v>
                </c:pt>
                <c:pt idx="179">
                  <c:v>2020-09-24</c:v>
                </c:pt>
                <c:pt idx="180">
                  <c:v>2020-09-25</c:v>
                </c:pt>
                <c:pt idx="181">
                  <c:v>2020-09-28</c:v>
                </c:pt>
                <c:pt idx="182">
                  <c:v>2020-09-29</c:v>
                </c:pt>
                <c:pt idx="183">
                  <c:v>2020-09-30</c:v>
                </c:pt>
                <c:pt idx="184">
                  <c:v>2020-10-09</c:v>
                </c:pt>
                <c:pt idx="185">
                  <c:v>2020-10-12</c:v>
                </c:pt>
                <c:pt idx="186">
                  <c:v>2020-10-13</c:v>
                </c:pt>
                <c:pt idx="187">
                  <c:v>2020-10-14</c:v>
                </c:pt>
                <c:pt idx="188">
                  <c:v>2020-10-15</c:v>
                </c:pt>
                <c:pt idx="189">
                  <c:v>2020-10-16</c:v>
                </c:pt>
                <c:pt idx="190">
                  <c:v>2020-10-19</c:v>
                </c:pt>
                <c:pt idx="191">
                  <c:v>2020-10-20</c:v>
                </c:pt>
                <c:pt idx="192">
                  <c:v>2020-10-21</c:v>
                </c:pt>
                <c:pt idx="193">
                  <c:v>2020-10-22</c:v>
                </c:pt>
                <c:pt idx="194">
                  <c:v>2020-10-23</c:v>
                </c:pt>
                <c:pt idx="195">
                  <c:v>2020-10-26</c:v>
                </c:pt>
                <c:pt idx="196">
                  <c:v>2020-10-27</c:v>
                </c:pt>
                <c:pt idx="197">
                  <c:v>2020-10-28</c:v>
                </c:pt>
                <c:pt idx="198">
                  <c:v>2020-10-29</c:v>
                </c:pt>
                <c:pt idx="199">
                  <c:v>2020-10-30</c:v>
                </c:pt>
                <c:pt idx="200">
                  <c:v>2020-11-02</c:v>
                </c:pt>
                <c:pt idx="201">
                  <c:v>2020-11-03</c:v>
                </c:pt>
                <c:pt idx="202">
                  <c:v>2020-11-04</c:v>
                </c:pt>
                <c:pt idx="203">
                  <c:v>2020-11-05</c:v>
                </c:pt>
                <c:pt idx="204">
                  <c:v>2020-11-06</c:v>
                </c:pt>
                <c:pt idx="205">
                  <c:v>2020-11-09</c:v>
                </c:pt>
                <c:pt idx="206">
                  <c:v>2020-11-10</c:v>
                </c:pt>
                <c:pt idx="207">
                  <c:v>2020-11-11</c:v>
                </c:pt>
                <c:pt idx="208">
                  <c:v>2020-11-12</c:v>
                </c:pt>
                <c:pt idx="209">
                  <c:v>2020-11-13</c:v>
                </c:pt>
                <c:pt idx="210">
                  <c:v>2020-11-16</c:v>
                </c:pt>
                <c:pt idx="211">
                  <c:v>2020-11-17</c:v>
                </c:pt>
                <c:pt idx="212">
                  <c:v>2020-11-18</c:v>
                </c:pt>
                <c:pt idx="213">
                  <c:v>2020-11-19</c:v>
                </c:pt>
                <c:pt idx="214">
                  <c:v>2020-11-20</c:v>
                </c:pt>
                <c:pt idx="215">
                  <c:v>2020-11-23</c:v>
                </c:pt>
                <c:pt idx="216">
                  <c:v>2020-11-24</c:v>
                </c:pt>
                <c:pt idx="217">
                  <c:v>2020-11-25</c:v>
                </c:pt>
                <c:pt idx="218">
                  <c:v>2020-11-26</c:v>
                </c:pt>
                <c:pt idx="219">
                  <c:v>2020-11-27</c:v>
                </c:pt>
                <c:pt idx="220">
                  <c:v>2020-11-30</c:v>
                </c:pt>
                <c:pt idx="221">
                  <c:v>2020-12-01</c:v>
                </c:pt>
                <c:pt idx="222">
                  <c:v>2020-12-02</c:v>
                </c:pt>
                <c:pt idx="223">
                  <c:v>2020-12-03</c:v>
                </c:pt>
                <c:pt idx="224">
                  <c:v>2020-12-04</c:v>
                </c:pt>
                <c:pt idx="225">
                  <c:v>2020-12-07</c:v>
                </c:pt>
                <c:pt idx="226">
                  <c:v>2020-12-08</c:v>
                </c:pt>
                <c:pt idx="227">
                  <c:v>2020-12-09</c:v>
                </c:pt>
                <c:pt idx="228">
                  <c:v>2020-12-10</c:v>
                </c:pt>
                <c:pt idx="229">
                  <c:v>2020-12-11</c:v>
                </c:pt>
                <c:pt idx="230">
                  <c:v>2020-12-14</c:v>
                </c:pt>
                <c:pt idx="231">
                  <c:v>2020-12-15</c:v>
                </c:pt>
                <c:pt idx="232">
                  <c:v>2020-12-16</c:v>
                </c:pt>
                <c:pt idx="233">
                  <c:v>2020-12-17</c:v>
                </c:pt>
                <c:pt idx="234">
                  <c:v>2020-12-18</c:v>
                </c:pt>
                <c:pt idx="235">
                  <c:v>2020-12-21</c:v>
                </c:pt>
                <c:pt idx="236">
                  <c:v>2020-12-22</c:v>
                </c:pt>
                <c:pt idx="237">
                  <c:v>2020-12-23</c:v>
                </c:pt>
                <c:pt idx="238">
                  <c:v>2020-12-24</c:v>
                </c:pt>
                <c:pt idx="239">
                  <c:v>2020-12-25</c:v>
                </c:pt>
                <c:pt idx="240">
                  <c:v>2020-12-28</c:v>
                </c:pt>
                <c:pt idx="241">
                  <c:v>2020-12-29</c:v>
                </c:pt>
                <c:pt idx="242">
                  <c:v>2020-12-30</c:v>
                </c:pt>
                <c:pt idx="243">
                  <c:v>2020-12-31</c:v>
                </c:pt>
                <c:pt idx="244">
                  <c:v>2021-01-04</c:v>
                </c:pt>
                <c:pt idx="245">
                  <c:v>2021-01-05</c:v>
                </c:pt>
                <c:pt idx="246">
                  <c:v>2021-01-06</c:v>
                </c:pt>
                <c:pt idx="247">
                  <c:v>2021-01-07</c:v>
                </c:pt>
                <c:pt idx="248">
                  <c:v>2021-01-08</c:v>
                </c:pt>
                <c:pt idx="249">
                  <c:v>2021-01-11</c:v>
                </c:pt>
                <c:pt idx="250">
                  <c:v>2021-01-12</c:v>
                </c:pt>
                <c:pt idx="251">
                  <c:v>2021-01-13</c:v>
                </c:pt>
                <c:pt idx="252">
                  <c:v>2021-01-14</c:v>
                </c:pt>
                <c:pt idx="253">
                  <c:v>2021-01-15</c:v>
                </c:pt>
                <c:pt idx="254">
                  <c:v>2021-01-18</c:v>
                </c:pt>
                <c:pt idx="255">
                  <c:v>2021-01-19</c:v>
                </c:pt>
                <c:pt idx="256">
                  <c:v>2021-01-20</c:v>
                </c:pt>
                <c:pt idx="257">
                  <c:v>2021-01-21</c:v>
                </c:pt>
                <c:pt idx="258">
                  <c:v>2021-01-22</c:v>
                </c:pt>
                <c:pt idx="259">
                  <c:v>2021-01-25</c:v>
                </c:pt>
                <c:pt idx="260">
                  <c:v>2021-01-26</c:v>
                </c:pt>
                <c:pt idx="261">
                  <c:v>2021-01-27</c:v>
                </c:pt>
                <c:pt idx="262">
                  <c:v>2021-01-28</c:v>
                </c:pt>
                <c:pt idx="263">
                  <c:v>2021-01-29</c:v>
                </c:pt>
                <c:pt idx="264">
                  <c:v>2021-02-01</c:v>
                </c:pt>
                <c:pt idx="265">
                  <c:v>2021-02-02</c:v>
                </c:pt>
                <c:pt idx="266">
                  <c:v>2021-02-03</c:v>
                </c:pt>
                <c:pt idx="267">
                  <c:v>2021-02-04</c:v>
                </c:pt>
                <c:pt idx="268">
                  <c:v>2021-02-05</c:v>
                </c:pt>
                <c:pt idx="269">
                  <c:v>2021-02-08</c:v>
                </c:pt>
                <c:pt idx="270">
                  <c:v>2021-02-09</c:v>
                </c:pt>
                <c:pt idx="271">
                  <c:v>2021-02-10</c:v>
                </c:pt>
                <c:pt idx="272">
                  <c:v>2021-02-18</c:v>
                </c:pt>
                <c:pt idx="273">
                  <c:v>2021-02-19</c:v>
                </c:pt>
                <c:pt idx="274">
                  <c:v>2021-02-22</c:v>
                </c:pt>
                <c:pt idx="275">
                  <c:v>2021-02-23</c:v>
                </c:pt>
                <c:pt idx="276">
                  <c:v>2021-02-24</c:v>
                </c:pt>
                <c:pt idx="277">
                  <c:v>2021-02-25</c:v>
                </c:pt>
                <c:pt idx="278">
                  <c:v>2021-02-26</c:v>
                </c:pt>
                <c:pt idx="279">
                  <c:v>2021-03-01</c:v>
                </c:pt>
                <c:pt idx="280">
                  <c:v>2021-03-02</c:v>
                </c:pt>
                <c:pt idx="281">
                  <c:v>2021-03-03</c:v>
                </c:pt>
                <c:pt idx="282">
                  <c:v>2021-03-04</c:v>
                </c:pt>
                <c:pt idx="283">
                  <c:v>2021-03-05</c:v>
                </c:pt>
                <c:pt idx="284">
                  <c:v>2021-03-08</c:v>
                </c:pt>
                <c:pt idx="285">
                  <c:v>2021-03-09</c:v>
                </c:pt>
                <c:pt idx="286">
                  <c:v>2021-03-10</c:v>
                </c:pt>
                <c:pt idx="287">
                  <c:v>2021-03-11</c:v>
                </c:pt>
                <c:pt idx="288">
                  <c:v>2021-03-12</c:v>
                </c:pt>
                <c:pt idx="289">
                  <c:v>2021-03-15</c:v>
                </c:pt>
                <c:pt idx="290">
                  <c:v>2021-03-16</c:v>
                </c:pt>
                <c:pt idx="291">
                  <c:v>2021-03-17</c:v>
                </c:pt>
                <c:pt idx="292">
                  <c:v>2021-03-18</c:v>
                </c:pt>
                <c:pt idx="293">
                  <c:v>2021-03-19</c:v>
                </c:pt>
                <c:pt idx="294">
                  <c:v>2021-03-22</c:v>
                </c:pt>
                <c:pt idx="295">
                  <c:v>2021-03-23</c:v>
                </c:pt>
                <c:pt idx="296">
                  <c:v>2021-03-24</c:v>
                </c:pt>
                <c:pt idx="297">
                  <c:v>2021-03-25</c:v>
                </c:pt>
                <c:pt idx="298">
                  <c:v>2021-03-26</c:v>
                </c:pt>
                <c:pt idx="299">
                  <c:v>2021-03-29</c:v>
                </c:pt>
                <c:pt idx="300">
                  <c:v>2021-03-30</c:v>
                </c:pt>
                <c:pt idx="301">
                  <c:v>2021-03-31</c:v>
                </c:pt>
                <c:pt idx="302">
                  <c:v>2021-04-01</c:v>
                </c:pt>
                <c:pt idx="303">
                  <c:v>2021-04-02</c:v>
                </c:pt>
                <c:pt idx="304">
                  <c:v>2021-04-06</c:v>
                </c:pt>
                <c:pt idx="305">
                  <c:v>2021-04-07</c:v>
                </c:pt>
                <c:pt idx="306">
                  <c:v>2021-04-08</c:v>
                </c:pt>
                <c:pt idx="307">
                  <c:v>2021-04-09</c:v>
                </c:pt>
                <c:pt idx="308">
                  <c:v>2021-04-12</c:v>
                </c:pt>
                <c:pt idx="309">
                  <c:v>2021-04-13</c:v>
                </c:pt>
                <c:pt idx="310">
                  <c:v>2021-04-14</c:v>
                </c:pt>
                <c:pt idx="311">
                  <c:v>2021-04-15</c:v>
                </c:pt>
                <c:pt idx="312">
                  <c:v>2021-04-16</c:v>
                </c:pt>
                <c:pt idx="313">
                  <c:v>2021-04-19</c:v>
                </c:pt>
                <c:pt idx="314">
                  <c:v>2021-04-20</c:v>
                </c:pt>
                <c:pt idx="315">
                  <c:v>2021-04-21</c:v>
                </c:pt>
                <c:pt idx="316">
                  <c:v>2021-04-22</c:v>
                </c:pt>
                <c:pt idx="317">
                  <c:v>2021-04-23</c:v>
                </c:pt>
                <c:pt idx="318">
                  <c:v>2021-04-26</c:v>
                </c:pt>
                <c:pt idx="319">
                  <c:v>2021-04-27</c:v>
                </c:pt>
                <c:pt idx="320">
                  <c:v>2021-04-28</c:v>
                </c:pt>
                <c:pt idx="321">
                  <c:v>2021-04-29</c:v>
                </c:pt>
                <c:pt idx="322">
                  <c:v>2021-04-30</c:v>
                </c:pt>
                <c:pt idx="323">
                  <c:v>2021-05-06</c:v>
                </c:pt>
                <c:pt idx="324">
                  <c:v>2021-05-07</c:v>
                </c:pt>
                <c:pt idx="325">
                  <c:v>2021-05-10</c:v>
                </c:pt>
                <c:pt idx="326">
                  <c:v>2021-05-11</c:v>
                </c:pt>
                <c:pt idx="327">
                  <c:v>2021-05-12</c:v>
                </c:pt>
                <c:pt idx="328">
                  <c:v>2021-05-13</c:v>
                </c:pt>
                <c:pt idx="329">
                  <c:v>2021-05-14</c:v>
                </c:pt>
                <c:pt idx="330">
                  <c:v>2021-05-17</c:v>
                </c:pt>
                <c:pt idx="331">
                  <c:v>2021-05-18</c:v>
                </c:pt>
                <c:pt idx="332">
                  <c:v>2021-05-19</c:v>
                </c:pt>
                <c:pt idx="333">
                  <c:v>2021-05-20</c:v>
                </c:pt>
                <c:pt idx="334">
                  <c:v>2021-05-21</c:v>
                </c:pt>
                <c:pt idx="335">
                  <c:v>2021-05-24</c:v>
                </c:pt>
                <c:pt idx="336">
                  <c:v>2021-05-25</c:v>
                </c:pt>
                <c:pt idx="337">
                  <c:v>2021-05-26</c:v>
                </c:pt>
                <c:pt idx="338">
                  <c:v>2021-05-27</c:v>
                </c:pt>
                <c:pt idx="339">
                  <c:v>2021-05-28</c:v>
                </c:pt>
                <c:pt idx="340">
                  <c:v>2021-05-31</c:v>
                </c:pt>
                <c:pt idx="341">
                  <c:v>2021-06-01</c:v>
                </c:pt>
                <c:pt idx="342">
                  <c:v>2021-06-02</c:v>
                </c:pt>
                <c:pt idx="343">
                  <c:v>2021-06-03</c:v>
                </c:pt>
                <c:pt idx="344">
                  <c:v>2021-06-04</c:v>
                </c:pt>
                <c:pt idx="345">
                  <c:v>2021-06-07</c:v>
                </c:pt>
                <c:pt idx="346">
                  <c:v>2021-06-08</c:v>
                </c:pt>
                <c:pt idx="347">
                  <c:v>2021-06-09</c:v>
                </c:pt>
                <c:pt idx="348">
                  <c:v>2021-06-10</c:v>
                </c:pt>
                <c:pt idx="349">
                  <c:v>2021-06-11</c:v>
                </c:pt>
                <c:pt idx="350">
                  <c:v>2021-06-15</c:v>
                </c:pt>
                <c:pt idx="351">
                  <c:v>2021-06-16</c:v>
                </c:pt>
                <c:pt idx="352">
                  <c:v>2021-06-17</c:v>
                </c:pt>
                <c:pt idx="353">
                  <c:v>2021-06-18</c:v>
                </c:pt>
                <c:pt idx="354">
                  <c:v>2021-06-21</c:v>
                </c:pt>
                <c:pt idx="355">
                  <c:v>2021-06-22</c:v>
                </c:pt>
                <c:pt idx="356">
                  <c:v>2021-06-23</c:v>
                </c:pt>
                <c:pt idx="357">
                  <c:v>2021-06-24</c:v>
                </c:pt>
                <c:pt idx="358">
                  <c:v>2021-06-25</c:v>
                </c:pt>
                <c:pt idx="359">
                  <c:v>2021-06-28</c:v>
                </c:pt>
                <c:pt idx="360">
                  <c:v>2021-06-29</c:v>
                </c:pt>
                <c:pt idx="361">
                  <c:v>2021-06-30</c:v>
                </c:pt>
                <c:pt idx="362">
                  <c:v>2021-07-01</c:v>
                </c:pt>
                <c:pt idx="363">
                  <c:v>2021-07-02</c:v>
                </c:pt>
                <c:pt idx="364">
                  <c:v>2021-07-05</c:v>
                </c:pt>
                <c:pt idx="365">
                  <c:v>2021-07-06</c:v>
                </c:pt>
                <c:pt idx="366">
                  <c:v>2021-07-07</c:v>
                </c:pt>
                <c:pt idx="367">
                  <c:v>2021-07-08</c:v>
                </c:pt>
                <c:pt idx="368">
                  <c:v>2021-07-09</c:v>
                </c:pt>
                <c:pt idx="369">
                  <c:v>2021-07-12</c:v>
                </c:pt>
                <c:pt idx="370">
                  <c:v>2021-07-13</c:v>
                </c:pt>
                <c:pt idx="371">
                  <c:v>2021-07-14</c:v>
                </c:pt>
                <c:pt idx="372">
                  <c:v>2021-07-15</c:v>
                </c:pt>
                <c:pt idx="373">
                  <c:v>2021-07-16</c:v>
                </c:pt>
                <c:pt idx="374">
                  <c:v>2021-07-19</c:v>
                </c:pt>
                <c:pt idx="375">
                  <c:v>2021-07-20</c:v>
                </c:pt>
                <c:pt idx="376">
                  <c:v>2021-07-21</c:v>
                </c:pt>
                <c:pt idx="377">
                  <c:v>2021-07-22</c:v>
                </c:pt>
                <c:pt idx="378">
                  <c:v>2021-07-23</c:v>
                </c:pt>
                <c:pt idx="379">
                  <c:v>2021-07-26</c:v>
                </c:pt>
                <c:pt idx="380">
                  <c:v>2021-07-27</c:v>
                </c:pt>
                <c:pt idx="381">
                  <c:v>2021-07-28</c:v>
                </c:pt>
                <c:pt idx="382">
                  <c:v>2021-07-29</c:v>
                </c:pt>
                <c:pt idx="383">
                  <c:v>2021-07-30</c:v>
                </c:pt>
                <c:pt idx="384">
                  <c:v>2021-08-02</c:v>
                </c:pt>
                <c:pt idx="385">
                  <c:v>2021-08-03</c:v>
                </c:pt>
                <c:pt idx="386">
                  <c:v>2021-08-04</c:v>
                </c:pt>
                <c:pt idx="387">
                  <c:v>2021-08-05</c:v>
                </c:pt>
                <c:pt idx="388">
                  <c:v>2021-08-06</c:v>
                </c:pt>
                <c:pt idx="389">
                  <c:v>2021-08-09</c:v>
                </c:pt>
                <c:pt idx="390">
                  <c:v>2021-08-10</c:v>
                </c:pt>
                <c:pt idx="391">
                  <c:v>2021-08-11</c:v>
                </c:pt>
                <c:pt idx="392">
                  <c:v>2021-08-12</c:v>
                </c:pt>
                <c:pt idx="393">
                  <c:v>2021-08-13</c:v>
                </c:pt>
                <c:pt idx="394">
                  <c:v>2021-08-16</c:v>
                </c:pt>
                <c:pt idx="395">
                  <c:v>2021-08-17</c:v>
                </c:pt>
                <c:pt idx="396">
                  <c:v>2021-08-18</c:v>
                </c:pt>
                <c:pt idx="397">
                  <c:v>2021-08-19</c:v>
                </c:pt>
                <c:pt idx="398">
                  <c:v>2021-08-20</c:v>
                </c:pt>
                <c:pt idx="399">
                  <c:v>2021-08-23</c:v>
                </c:pt>
                <c:pt idx="400">
                  <c:v>2021-08-24</c:v>
                </c:pt>
                <c:pt idx="401">
                  <c:v>2021-08-25</c:v>
                </c:pt>
                <c:pt idx="402">
                  <c:v>2021-08-26</c:v>
                </c:pt>
                <c:pt idx="403">
                  <c:v>2021-08-27</c:v>
                </c:pt>
                <c:pt idx="404">
                  <c:v>2021-08-30</c:v>
                </c:pt>
                <c:pt idx="405">
                  <c:v>2021-08-31</c:v>
                </c:pt>
                <c:pt idx="406">
                  <c:v>2021-09-01</c:v>
                </c:pt>
                <c:pt idx="407">
                  <c:v>2021-09-02</c:v>
                </c:pt>
                <c:pt idx="408">
                  <c:v>2021-09-03</c:v>
                </c:pt>
                <c:pt idx="409">
                  <c:v>2021-09-06</c:v>
                </c:pt>
                <c:pt idx="410">
                  <c:v>2021-09-07</c:v>
                </c:pt>
                <c:pt idx="411">
                  <c:v>2021-09-08</c:v>
                </c:pt>
                <c:pt idx="412">
                  <c:v>2021-09-09</c:v>
                </c:pt>
                <c:pt idx="413">
                  <c:v>2021-09-10</c:v>
                </c:pt>
                <c:pt idx="414">
                  <c:v>2021-09-13</c:v>
                </c:pt>
                <c:pt idx="415">
                  <c:v>2021-09-14</c:v>
                </c:pt>
                <c:pt idx="416">
                  <c:v>2021-09-15</c:v>
                </c:pt>
                <c:pt idx="417">
                  <c:v>2021-09-16</c:v>
                </c:pt>
                <c:pt idx="418">
                  <c:v>2021-09-17</c:v>
                </c:pt>
                <c:pt idx="419">
                  <c:v>2021-09-22</c:v>
                </c:pt>
                <c:pt idx="420">
                  <c:v>2021-09-23</c:v>
                </c:pt>
                <c:pt idx="421">
                  <c:v>2021-09-24</c:v>
                </c:pt>
                <c:pt idx="422">
                  <c:v>2021-09-27</c:v>
                </c:pt>
                <c:pt idx="423">
                  <c:v>2021-09-28</c:v>
                </c:pt>
                <c:pt idx="424">
                  <c:v>2021-09-29</c:v>
                </c:pt>
                <c:pt idx="425">
                  <c:v>2021-09-30</c:v>
                </c:pt>
                <c:pt idx="426">
                  <c:v>2021-10-08</c:v>
                </c:pt>
                <c:pt idx="427">
                  <c:v>2021-10-11</c:v>
                </c:pt>
                <c:pt idx="428">
                  <c:v>2021-10-12</c:v>
                </c:pt>
                <c:pt idx="429">
                  <c:v>2021-10-13</c:v>
                </c:pt>
                <c:pt idx="430">
                  <c:v>2021-10-14</c:v>
                </c:pt>
                <c:pt idx="431">
                  <c:v>2021-10-15</c:v>
                </c:pt>
                <c:pt idx="432">
                  <c:v>2021-10-18</c:v>
                </c:pt>
                <c:pt idx="433">
                  <c:v>2021-10-19</c:v>
                </c:pt>
                <c:pt idx="434">
                  <c:v>2021-10-20</c:v>
                </c:pt>
                <c:pt idx="435">
                  <c:v>2021-10-21</c:v>
                </c:pt>
                <c:pt idx="436">
                  <c:v>2021-10-22</c:v>
                </c:pt>
                <c:pt idx="437">
                  <c:v>2021-10-25</c:v>
                </c:pt>
                <c:pt idx="438">
                  <c:v>2021-10-26</c:v>
                </c:pt>
                <c:pt idx="439">
                  <c:v>2021-10-27</c:v>
                </c:pt>
                <c:pt idx="440">
                  <c:v>2021-10-28</c:v>
                </c:pt>
                <c:pt idx="441">
                  <c:v>2021-10-29</c:v>
                </c:pt>
                <c:pt idx="442">
                  <c:v>2021-11-01</c:v>
                </c:pt>
                <c:pt idx="443">
                  <c:v>2021-11-02</c:v>
                </c:pt>
                <c:pt idx="444">
                  <c:v>2021-11-03</c:v>
                </c:pt>
                <c:pt idx="445">
                  <c:v>2021-11-04</c:v>
                </c:pt>
                <c:pt idx="446">
                  <c:v>2021-11-05</c:v>
                </c:pt>
                <c:pt idx="447">
                  <c:v>2021-11-08</c:v>
                </c:pt>
                <c:pt idx="448">
                  <c:v>2021-11-09</c:v>
                </c:pt>
                <c:pt idx="449">
                  <c:v>2021-11-10</c:v>
                </c:pt>
                <c:pt idx="450">
                  <c:v>2021-11-11</c:v>
                </c:pt>
                <c:pt idx="451">
                  <c:v>2021-11-12</c:v>
                </c:pt>
                <c:pt idx="452">
                  <c:v>2021-11-15</c:v>
                </c:pt>
                <c:pt idx="453">
                  <c:v>2021-11-16</c:v>
                </c:pt>
                <c:pt idx="454">
                  <c:v>2021-11-17</c:v>
                </c:pt>
                <c:pt idx="455">
                  <c:v>2021-11-18</c:v>
                </c:pt>
                <c:pt idx="456">
                  <c:v>2021-11-19</c:v>
                </c:pt>
                <c:pt idx="457">
                  <c:v>2021-11-22</c:v>
                </c:pt>
                <c:pt idx="458">
                  <c:v>2021-11-23</c:v>
                </c:pt>
                <c:pt idx="459">
                  <c:v>2021-11-24</c:v>
                </c:pt>
                <c:pt idx="460">
                  <c:v>2021-11-25</c:v>
                </c:pt>
                <c:pt idx="461">
                  <c:v>2021-11-26</c:v>
                </c:pt>
                <c:pt idx="462">
                  <c:v>2021-11-29</c:v>
                </c:pt>
                <c:pt idx="463">
                  <c:v>2021-11-30</c:v>
                </c:pt>
                <c:pt idx="464">
                  <c:v>2021-12-01</c:v>
                </c:pt>
                <c:pt idx="465">
                  <c:v>2021-12-02</c:v>
                </c:pt>
                <c:pt idx="466">
                  <c:v>2021-12-03</c:v>
                </c:pt>
                <c:pt idx="467">
                  <c:v>2021-12-06</c:v>
                </c:pt>
                <c:pt idx="468">
                  <c:v>2021-12-07</c:v>
                </c:pt>
                <c:pt idx="469">
                  <c:v>2021-12-08</c:v>
                </c:pt>
                <c:pt idx="470">
                  <c:v>2021-12-09</c:v>
                </c:pt>
                <c:pt idx="471">
                  <c:v>2021-12-10</c:v>
                </c:pt>
                <c:pt idx="472">
                  <c:v>2021-12-13</c:v>
                </c:pt>
                <c:pt idx="473">
                  <c:v>2021-12-14</c:v>
                </c:pt>
                <c:pt idx="474">
                  <c:v>2021-12-15</c:v>
                </c:pt>
                <c:pt idx="475">
                  <c:v>2021-12-16</c:v>
                </c:pt>
                <c:pt idx="476">
                  <c:v>2021-12-17</c:v>
                </c:pt>
                <c:pt idx="477">
                  <c:v>2021-12-20</c:v>
                </c:pt>
                <c:pt idx="478">
                  <c:v>2021-12-21</c:v>
                </c:pt>
                <c:pt idx="479">
                  <c:v>2021-12-22</c:v>
                </c:pt>
                <c:pt idx="480">
                  <c:v>2021-12-23</c:v>
                </c:pt>
                <c:pt idx="481">
                  <c:v>2021-12-24</c:v>
                </c:pt>
                <c:pt idx="482">
                  <c:v>2021-12-27</c:v>
                </c:pt>
                <c:pt idx="483">
                  <c:v>2021-12-28</c:v>
                </c:pt>
                <c:pt idx="484">
                  <c:v>2021-12-29</c:v>
                </c:pt>
                <c:pt idx="485">
                  <c:v>2021-12-30</c:v>
                </c:pt>
                <c:pt idx="486">
                  <c:v>2021-12-31</c:v>
                </c:pt>
                <c:pt idx="487">
                  <c:v>2022-01-04</c:v>
                </c:pt>
                <c:pt idx="488">
                  <c:v>2022-01-05</c:v>
                </c:pt>
                <c:pt idx="489">
                  <c:v>2022-01-06</c:v>
                </c:pt>
                <c:pt idx="490">
                  <c:v>2022-01-07</c:v>
                </c:pt>
                <c:pt idx="491">
                  <c:v>2022-01-10</c:v>
                </c:pt>
                <c:pt idx="492">
                  <c:v>2022-01-11</c:v>
                </c:pt>
                <c:pt idx="493">
                  <c:v>2022-01-12</c:v>
                </c:pt>
                <c:pt idx="494">
                  <c:v>2022-01-13</c:v>
                </c:pt>
                <c:pt idx="495">
                  <c:v>2022-01-14</c:v>
                </c:pt>
                <c:pt idx="496">
                  <c:v>2022-01-17</c:v>
                </c:pt>
                <c:pt idx="497">
                  <c:v>2022-01-18</c:v>
                </c:pt>
                <c:pt idx="498">
                  <c:v>2022-01-19</c:v>
                </c:pt>
                <c:pt idx="499">
                  <c:v>2022-01-20</c:v>
                </c:pt>
                <c:pt idx="500">
                  <c:v>2022-01-21</c:v>
                </c:pt>
                <c:pt idx="501">
                  <c:v>2022-01-24</c:v>
                </c:pt>
                <c:pt idx="502">
                  <c:v>2022-01-25</c:v>
                </c:pt>
                <c:pt idx="503">
                  <c:v>2022-01-26</c:v>
                </c:pt>
                <c:pt idx="504">
                  <c:v>2022-01-27</c:v>
                </c:pt>
                <c:pt idx="505">
                  <c:v>2022-01-28</c:v>
                </c:pt>
                <c:pt idx="506">
                  <c:v>2022-02-07</c:v>
                </c:pt>
                <c:pt idx="507">
                  <c:v>2022-02-08</c:v>
                </c:pt>
                <c:pt idx="508">
                  <c:v>2022-02-09</c:v>
                </c:pt>
                <c:pt idx="509">
                  <c:v>2022-02-10</c:v>
                </c:pt>
                <c:pt idx="510">
                  <c:v>2022-02-11</c:v>
                </c:pt>
                <c:pt idx="511">
                  <c:v>2022-02-14</c:v>
                </c:pt>
                <c:pt idx="512">
                  <c:v>2022-02-15</c:v>
                </c:pt>
                <c:pt idx="513">
                  <c:v>2022-02-16</c:v>
                </c:pt>
                <c:pt idx="514">
                  <c:v>2022-02-17</c:v>
                </c:pt>
                <c:pt idx="515">
                  <c:v>2022-02-18</c:v>
                </c:pt>
                <c:pt idx="516">
                  <c:v>2022-02-21</c:v>
                </c:pt>
                <c:pt idx="517">
                  <c:v>2022-02-22</c:v>
                </c:pt>
                <c:pt idx="518">
                  <c:v>2022-02-23</c:v>
                </c:pt>
                <c:pt idx="519">
                  <c:v>2022-02-24</c:v>
                </c:pt>
                <c:pt idx="520">
                  <c:v>2022-02-25</c:v>
                </c:pt>
                <c:pt idx="521">
                  <c:v>2022-02-28</c:v>
                </c:pt>
                <c:pt idx="522">
                  <c:v>2022-03-01</c:v>
                </c:pt>
                <c:pt idx="523">
                  <c:v>2022-03-02</c:v>
                </c:pt>
                <c:pt idx="524">
                  <c:v>2022-03-03</c:v>
                </c:pt>
                <c:pt idx="525">
                  <c:v>2022-03-04</c:v>
                </c:pt>
                <c:pt idx="526">
                  <c:v>2022-03-07</c:v>
                </c:pt>
                <c:pt idx="527">
                  <c:v>2022-03-08</c:v>
                </c:pt>
                <c:pt idx="528">
                  <c:v>2022-03-09</c:v>
                </c:pt>
                <c:pt idx="529">
                  <c:v>2022-03-10</c:v>
                </c:pt>
                <c:pt idx="530">
                  <c:v>2022-03-11</c:v>
                </c:pt>
                <c:pt idx="531">
                  <c:v>2022-03-14</c:v>
                </c:pt>
                <c:pt idx="532">
                  <c:v>2022-03-15</c:v>
                </c:pt>
                <c:pt idx="533">
                  <c:v>2022-03-16</c:v>
                </c:pt>
                <c:pt idx="534">
                  <c:v>2022-03-17</c:v>
                </c:pt>
                <c:pt idx="535">
                  <c:v>2022-03-18</c:v>
                </c:pt>
                <c:pt idx="536">
                  <c:v>2022-03-21</c:v>
                </c:pt>
                <c:pt idx="537">
                  <c:v>2022-03-22</c:v>
                </c:pt>
                <c:pt idx="538">
                  <c:v>2022-03-23</c:v>
                </c:pt>
                <c:pt idx="539">
                  <c:v>2022-03-24</c:v>
                </c:pt>
                <c:pt idx="540">
                  <c:v>2022-03-25</c:v>
                </c:pt>
                <c:pt idx="541">
                  <c:v>2022-03-28</c:v>
                </c:pt>
                <c:pt idx="542">
                  <c:v>2022-03-29</c:v>
                </c:pt>
                <c:pt idx="543">
                  <c:v>2022-03-30</c:v>
                </c:pt>
                <c:pt idx="544">
                  <c:v>2022-03-31</c:v>
                </c:pt>
                <c:pt idx="545">
                  <c:v>2022-04-01</c:v>
                </c:pt>
                <c:pt idx="546">
                  <c:v>2022-04-06</c:v>
                </c:pt>
                <c:pt idx="547">
                  <c:v>2022-04-07</c:v>
                </c:pt>
                <c:pt idx="548">
                  <c:v>2022-04-08</c:v>
                </c:pt>
                <c:pt idx="549">
                  <c:v>2022-04-11</c:v>
                </c:pt>
                <c:pt idx="550">
                  <c:v>2022-04-12</c:v>
                </c:pt>
                <c:pt idx="551">
                  <c:v>2022-04-13</c:v>
                </c:pt>
                <c:pt idx="552">
                  <c:v>2022-04-14</c:v>
                </c:pt>
                <c:pt idx="553">
                  <c:v>2022-04-15</c:v>
                </c:pt>
                <c:pt idx="554">
                  <c:v>2022-04-18</c:v>
                </c:pt>
                <c:pt idx="555">
                  <c:v>2022-04-19</c:v>
                </c:pt>
                <c:pt idx="556">
                  <c:v>2022-04-20</c:v>
                </c:pt>
                <c:pt idx="557">
                  <c:v>2022-04-21</c:v>
                </c:pt>
                <c:pt idx="558">
                  <c:v>2022-04-22</c:v>
                </c:pt>
                <c:pt idx="559">
                  <c:v>2022-04-25</c:v>
                </c:pt>
                <c:pt idx="560">
                  <c:v>2022-04-26</c:v>
                </c:pt>
                <c:pt idx="561">
                  <c:v>2022-04-27</c:v>
                </c:pt>
                <c:pt idx="562">
                  <c:v>2022-04-28</c:v>
                </c:pt>
                <c:pt idx="563">
                  <c:v>2022-04-29</c:v>
                </c:pt>
                <c:pt idx="564">
                  <c:v>2022-05-05</c:v>
                </c:pt>
                <c:pt idx="565">
                  <c:v>2022-05-06</c:v>
                </c:pt>
                <c:pt idx="566">
                  <c:v>2022-05-09</c:v>
                </c:pt>
                <c:pt idx="567">
                  <c:v>2022-05-10</c:v>
                </c:pt>
                <c:pt idx="568">
                  <c:v>2022-05-11</c:v>
                </c:pt>
                <c:pt idx="569">
                  <c:v>2022-05-12</c:v>
                </c:pt>
                <c:pt idx="570">
                  <c:v>2022-05-13</c:v>
                </c:pt>
                <c:pt idx="571">
                  <c:v>2022-05-16</c:v>
                </c:pt>
                <c:pt idx="572">
                  <c:v>2022-05-17</c:v>
                </c:pt>
                <c:pt idx="573">
                  <c:v>2022-05-18</c:v>
                </c:pt>
                <c:pt idx="574">
                  <c:v>2022-05-19</c:v>
                </c:pt>
                <c:pt idx="575">
                  <c:v>2022-05-20</c:v>
                </c:pt>
                <c:pt idx="576">
                  <c:v>2022-05-23</c:v>
                </c:pt>
                <c:pt idx="577">
                  <c:v>2022-05-24</c:v>
                </c:pt>
                <c:pt idx="578">
                  <c:v>2022-05-25</c:v>
                </c:pt>
                <c:pt idx="579">
                  <c:v>2022-05-26</c:v>
                </c:pt>
                <c:pt idx="580">
                  <c:v>2022-05-27</c:v>
                </c:pt>
                <c:pt idx="581">
                  <c:v>2022-05-30</c:v>
                </c:pt>
                <c:pt idx="582">
                  <c:v>2022-05-31</c:v>
                </c:pt>
                <c:pt idx="583">
                  <c:v>2022-06-01</c:v>
                </c:pt>
                <c:pt idx="584">
                  <c:v>2022-06-02</c:v>
                </c:pt>
                <c:pt idx="585">
                  <c:v>2022-06-06</c:v>
                </c:pt>
                <c:pt idx="586">
                  <c:v>2022-06-07</c:v>
                </c:pt>
                <c:pt idx="587">
                  <c:v>2022-06-08</c:v>
                </c:pt>
                <c:pt idx="588">
                  <c:v>2022-06-09</c:v>
                </c:pt>
                <c:pt idx="589">
                  <c:v>2022-06-10</c:v>
                </c:pt>
                <c:pt idx="590">
                  <c:v>2022-06-13</c:v>
                </c:pt>
                <c:pt idx="591">
                  <c:v>2022-06-14</c:v>
                </c:pt>
                <c:pt idx="592">
                  <c:v>2022-06-15</c:v>
                </c:pt>
                <c:pt idx="593">
                  <c:v>2022-06-16</c:v>
                </c:pt>
                <c:pt idx="594">
                  <c:v>2022-06-17</c:v>
                </c:pt>
                <c:pt idx="595">
                  <c:v>2022-06-20</c:v>
                </c:pt>
                <c:pt idx="596">
                  <c:v>2022-06-21</c:v>
                </c:pt>
                <c:pt idx="597">
                  <c:v>2022-06-22</c:v>
                </c:pt>
                <c:pt idx="598">
                  <c:v>2022-06-23</c:v>
                </c:pt>
                <c:pt idx="599">
                  <c:v>2022-06-24</c:v>
                </c:pt>
                <c:pt idx="600">
                  <c:v>2022-06-27</c:v>
                </c:pt>
                <c:pt idx="601">
                  <c:v>2022-06-28</c:v>
                </c:pt>
                <c:pt idx="602">
                  <c:v>2022-06-29</c:v>
                </c:pt>
                <c:pt idx="603">
                  <c:v>2022-06-30</c:v>
                </c:pt>
                <c:pt idx="604">
                  <c:v>2022-07-01</c:v>
                </c:pt>
                <c:pt idx="605">
                  <c:v>2022-07-04</c:v>
                </c:pt>
                <c:pt idx="606">
                  <c:v>2022-07-05</c:v>
                </c:pt>
                <c:pt idx="607">
                  <c:v>2022-07-06</c:v>
                </c:pt>
                <c:pt idx="608">
                  <c:v>2022-07-07</c:v>
                </c:pt>
                <c:pt idx="609">
                  <c:v>2022-07-08</c:v>
                </c:pt>
                <c:pt idx="610">
                  <c:v>2022-07-11</c:v>
                </c:pt>
                <c:pt idx="611">
                  <c:v>2022-07-12</c:v>
                </c:pt>
                <c:pt idx="612">
                  <c:v>2022-07-13</c:v>
                </c:pt>
                <c:pt idx="613">
                  <c:v>2022-07-14</c:v>
                </c:pt>
                <c:pt idx="614">
                  <c:v>2022-07-15</c:v>
                </c:pt>
                <c:pt idx="615">
                  <c:v>2022-07-18</c:v>
                </c:pt>
                <c:pt idx="616">
                  <c:v>2022-07-19</c:v>
                </c:pt>
                <c:pt idx="617">
                  <c:v>2022-07-20</c:v>
                </c:pt>
                <c:pt idx="618">
                  <c:v>2022-07-21</c:v>
                </c:pt>
                <c:pt idx="619">
                  <c:v>2022-07-22</c:v>
                </c:pt>
                <c:pt idx="620">
                  <c:v>2022-07-25</c:v>
                </c:pt>
                <c:pt idx="621">
                  <c:v>2022-07-26</c:v>
                </c:pt>
                <c:pt idx="622">
                  <c:v>2022-07-27</c:v>
                </c:pt>
                <c:pt idx="623">
                  <c:v>2022-07-28</c:v>
                </c:pt>
                <c:pt idx="624">
                  <c:v>2022-07-29</c:v>
                </c:pt>
                <c:pt idx="625">
                  <c:v>2022-08-01</c:v>
                </c:pt>
                <c:pt idx="626">
                  <c:v>2022-08-02</c:v>
                </c:pt>
                <c:pt idx="627">
                  <c:v>2022-08-03</c:v>
                </c:pt>
                <c:pt idx="628">
                  <c:v>2022-08-04</c:v>
                </c:pt>
                <c:pt idx="629">
                  <c:v>2022-08-05</c:v>
                </c:pt>
                <c:pt idx="630">
                  <c:v>2022-08-08</c:v>
                </c:pt>
                <c:pt idx="631">
                  <c:v>2022-08-09</c:v>
                </c:pt>
                <c:pt idx="632">
                  <c:v>2022-08-10</c:v>
                </c:pt>
                <c:pt idx="633">
                  <c:v>2022-08-11</c:v>
                </c:pt>
                <c:pt idx="634">
                  <c:v>2022-08-12</c:v>
                </c:pt>
                <c:pt idx="635">
                  <c:v>2022-08-15</c:v>
                </c:pt>
                <c:pt idx="636">
                  <c:v>2022-08-16</c:v>
                </c:pt>
                <c:pt idx="637">
                  <c:v>2022-08-17</c:v>
                </c:pt>
                <c:pt idx="638">
                  <c:v>2022-08-18</c:v>
                </c:pt>
                <c:pt idx="639">
                  <c:v>2022-08-19</c:v>
                </c:pt>
                <c:pt idx="640">
                  <c:v>2022-08-22</c:v>
                </c:pt>
                <c:pt idx="641">
                  <c:v>2022-08-23</c:v>
                </c:pt>
                <c:pt idx="642">
                  <c:v>2022-08-24</c:v>
                </c:pt>
                <c:pt idx="643">
                  <c:v>2022-08-25</c:v>
                </c:pt>
                <c:pt idx="644">
                  <c:v>2022-08-26</c:v>
                </c:pt>
                <c:pt idx="645">
                  <c:v>2022-08-29</c:v>
                </c:pt>
                <c:pt idx="646">
                  <c:v>2022-08-30</c:v>
                </c:pt>
                <c:pt idx="647">
                  <c:v>2022-08-31</c:v>
                </c:pt>
                <c:pt idx="648">
                  <c:v>2022-09-01</c:v>
                </c:pt>
                <c:pt idx="649">
                  <c:v>2022-09-02</c:v>
                </c:pt>
                <c:pt idx="650">
                  <c:v>2022-09-05</c:v>
                </c:pt>
                <c:pt idx="651">
                  <c:v>2022-09-06</c:v>
                </c:pt>
                <c:pt idx="652">
                  <c:v>2022-09-07</c:v>
                </c:pt>
                <c:pt idx="653">
                  <c:v>2022-09-08</c:v>
                </c:pt>
                <c:pt idx="654">
                  <c:v>2022-09-09</c:v>
                </c:pt>
                <c:pt idx="655">
                  <c:v>2022-09-13</c:v>
                </c:pt>
                <c:pt idx="656">
                  <c:v>2022-09-14</c:v>
                </c:pt>
                <c:pt idx="657">
                  <c:v>2022-09-15</c:v>
                </c:pt>
                <c:pt idx="658">
                  <c:v>2022-09-16</c:v>
                </c:pt>
                <c:pt idx="659">
                  <c:v>2022-09-19</c:v>
                </c:pt>
                <c:pt idx="660">
                  <c:v>2022-09-20</c:v>
                </c:pt>
                <c:pt idx="661">
                  <c:v>2022-09-21</c:v>
                </c:pt>
                <c:pt idx="662">
                  <c:v>2022-09-22</c:v>
                </c:pt>
                <c:pt idx="663">
                  <c:v>2022-09-23</c:v>
                </c:pt>
                <c:pt idx="664">
                  <c:v>2022-09-26</c:v>
                </c:pt>
                <c:pt idx="665">
                  <c:v>2022-09-27</c:v>
                </c:pt>
                <c:pt idx="666">
                  <c:v>2022-09-28</c:v>
                </c:pt>
                <c:pt idx="667">
                  <c:v>2022-09-29</c:v>
                </c:pt>
                <c:pt idx="668">
                  <c:v>2022-09-30</c:v>
                </c:pt>
                <c:pt idx="669">
                  <c:v>2022-10-10</c:v>
                </c:pt>
                <c:pt idx="670">
                  <c:v>2022-10-11</c:v>
                </c:pt>
                <c:pt idx="671">
                  <c:v>2022-10-12</c:v>
                </c:pt>
                <c:pt idx="672">
                  <c:v>2022-10-13</c:v>
                </c:pt>
                <c:pt idx="673">
                  <c:v>2022-10-14</c:v>
                </c:pt>
                <c:pt idx="674">
                  <c:v>2022-10-17</c:v>
                </c:pt>
                <c:pt idx="675">
                  <c:v>2022-10-18</c:v>
                </c:pt>
                <c:pt idx="676">
                  <c:v>2022-10-19</c:v>
                </c:pt>
                <c:pt idx="677">
                  <c:v>2022-10-20</c:v>
                </c:pt>
                <c:pt idx="678">
                  <c:v>2022-10-21</c:v>
                </c:pt>
                <c:pt idx="679">
                  <c:v>2022-10-24</c:v>
                </c:pt>
                <c:pt idx="680">
                  <c:v>2022-10-25</c:v>
                </c:pt>
                <c:pt idx="681">
                  <c:v>2022-10-26</c:v>
                </c:pt>
                <c:pt idx="682">
                  <c:v>2022-10-27</c:v>
                </c:pt>
                <c:pt idx="683">
                  <c:v>2022-10-28</c:v>
                </c:pt>
                <c:pt idx="684">
                  <c:v>2022-10-31</c:v>
                </c:pt>
                <c:pt idx="685">
                  <c:v>2022-11-01</c:v>
                </c:pt>
                <c:pt idx="686">
                  <c:v>2022-11-02</c:v>
                </c:pt>
                <c:pt idx="687">
                  <c:v>2022-11-03</c:v>
                </c:pt>
                <c:pt idx="688">
                  <c:v>2022-11-04</c:v>
                </c:pt>
                <c:pt idx="689">
                  <c:v>2022-11-07</c:v>
                </c:pt>
                <c:pt idx="690">
                  <c:v>2022-11-08</c:v>
                </c:pt>
                <c:pt idx="691">
                  <c:v>2022-11-09</c:v>
                </c:pt>
                <c:pt idx="692">
                  <c:v>2022-11-10</c:v>
                </c:pt>
                <c:pt idx="693">
                  <c:v>2022-11-11</c:v>
                </c:pt>
                <c:pt idx="694">
                  <c:v>2022-11-14</c:v>
                </c:pt>
                <c:pt idx="695">
                  <c:v>2022-11-15</c:v>
                </c:pt>
                <c:pt idx="696">
                  <c:v>2022-11-16</c:v>
                </c:pt>
                <c:pt idx="697">
                  <c:v>2022-11-17</c:v>
                </c:pt>
                <c:pt idx="698">
                  <c:v>2022-11-18</c:v>
                </c:pt>
                <c:pt idx="699">
                  <c:v>2022-11-21</c:v>
                </c:pt>
                <c:pt idx="700">
                  <c:v>2022-11-22</c:v>
                </c:pt>
                <c:pt idx="701">
                  <c:v>2022-11-23</c:v>
                </c:pt>
                <c:pt idx="702">
                  <c:v>2022-11-24</c:v>
                </c:pt>
                <c:pt idx="703">
                  <c:v>2022-11-25</c:v>
                </c:pt>
                <c:pt idx="704">
                  <c:v>2022-11-28</c:v>
                </c:pt>
                <c:pt idx="705">
                  <c:v>2022-11-29</c:v>
                </c:pt>
                <c:pt idx="706">
                  <c:v>2022-11-30</c:v>
                </c:pt>
                <c:pt idx="707">
                  <c:v>2022-12-01</c:v>
                </c:pt>
                <c:pt idx="708">
                  <c:v>2022-12-02</c:v>
                </c:pt>
                <c:pt idx="709">
                  <c:v>2022-12-05</c:v>
                </c:pt>
                <c:pt idx="710">
                  <c:v>2022-12-06</c:v>
                </c:pt>
                <c:pt idx="711">
                  <c:v>2022-12-07</c:v>
                </c:pt>
                <c:pt idx="712">
                  <c:v>2022-12-08</c:v>
                </c:pt>
                <c:pt idx="713">
                  <c:v>2022-12-09</c:v>
                </c:pt>
                <c:pt idx="714">
                  <c:v>2022-12-12</c:v>
                </c:pt>
                <c:pt idx="715">
                  <c:v>2022-12-13</c:v>
                </c:pt>
                <c:pt idx="716">
                  <c:v>2022-12-14</c:v>
                </c:pt>
                <c:pt idx="717">
                  <c:v>2022-12-15</c:v>
                </c:pt>
                <c:pt idx="718">
                  <c:v>2022-12-16</c:v>
                </c:pt>
                <c:pt idx="719">
                  <c:v>2022-12-19</c:v>
                </c:pt>
                <c:pt idx="720">
                  <c:v>2022-12-20</c:v>
                </c:pt>
                <c:pt idx="721">
                  <c:v>2022-12-21</c:v>
                </c:pt>
                <c:pt idx="722">
                  <c:v>2022-12-22</c:v>
                </c:pt>
                <c:pt idx="723">
                  <c:v>2022-12-23</c:v>
                </c:pt>
                <c:pt idx="724">
                  <c:v>2022-12-26</c:v>
                </c:pt>
                <c:pt idx="725">
                  <c:v>2022-12-27</c:v>
                </c:pt>
                <c:pt idx="726">
                  <c:v>2022-12-28</c:v>
                </c:pt>
                <c:pt idx="727">
                  <c:v>2022-12-29</c:v>
                </c:pt>
                <c:pt idx="728">
                  <c:v>2022-12-30</c:v>
                </c:pt>
                <c:pt idx="729">
                  <c:v>2023-01-03</c:v>
                </c:pt>
                <c:pt idx="730">
                  <c:v>2023-01-04</c:v>
                </c:pt>
                <c:pt idx="731">
                  <c:v>2023-01-05</c:v>
                </c:pt>
                <c:pt idx="732">
                  <c:v>2023-01-06</c:v>
                </c:pt>
                <c:pt idx="733">
                  <c:v>2023-01-09</c:v>
                </c:pt>
                <c:pt idx="734">
                  <c:v>2023-01-10</c:v>
                </c:pt>
                <c:pt idx="735">
                  <c:v>2023-01-11</c:v>
                </c:pt>
                <c:pt idx="736">
                  <c:v>2023-01-12</c:v>
                </c:pt>
                <c:pt idx="737">
                  <c:v>2023-01-13</c:v>
                </c:pt>
                <c:pt idx="738">
                  <c:v>2023-01-16</c:v>
                </c:pt>
                <c:pt idx="739">
                  <c:v>2023-01-17</c:v>
                </c:pt>
                <c:pt idx="740">
                  <c:v>2023-01-18</c:v>
                </c:pt>
                <c:pt idx="741">
                  <c:v>2023-01-19</c:v>
                </c:pt>
                <c:pt idx="742">
                  <c:v>2023-01-20</c:v>
                </c:pt>
                <c:pt idx="743">
                  <c:v>2023-01-30</c:v>
                </c:pt>
                <c:pt idx="744">
                  <c:v>2023-01-31</c:v>
                </c:pt>
                <c:pt idx="745">
                  <c:v>2023-02-01</c:v>
                </c:pt>
                <c:pt idx="746">
                  <c:v>2023-02-02</c:v>
                </c:pt>
                <c:pt idx="747">
                  <c:v>2023-02-03</c:v>
                </c:pt>
                <c:pt idx="748">
                  <c:v>2023-02-06</c:v>
                </c:pt>
                <c:pt idx="749">
                  <c:v>2023-02-07</c:v>
                </c:pt>
                <c:pt idx="750">
                  <c:v>2023-02-08</c:v>
                </c:pt>
                <c:pt idx="751">
                  <c:v>2023-02-09</c:v>
                </c:pt>
                <c:pt idx="752">
                  <c:v>2023-02-10</c:v>
                </c:pt>
                <c:pt idx="753">
                  <c:v>2023-02-13</c:v>
                </c:pt>
                <c:pt idx="754">
                  <c:v>2023-02-14</c:v>
                </c:pt>
                <c:pt idx="755">
                  <c:v>2023-02-15</c:v>
                </c:pt>
                <c:pt idx="756">
                  <c:v>2023-02-16</c:v>
                </c:pt>
                <c:pt idx="757">
                  <c:v>2023-02-17</c:v>
                </c:pt>
                <c:pt idx="758">
                  <c:v>2023-02-20</c:v>
                </c:pt>
                <c:pt idx="759">
                  <c:v>2023-02-21</c:v>
                </c:pt>
                <c:pt idx="760">
                  <c:v>2023-02-22</c:v>
                </c:pt>
                <c:pt idx="761">
                  <c:v>2023-02-23</c:v>
                </c:pt>
                <c:pt idx="762">
                  <c:v>2023-02-24</c:v>
                </c:pt>
                <c:pt idx="763">
                  <c:v>2023-02-27</c:v>
                </c:pt>
                <c:pt idx="764">
                  <c:v>2023-02-28</c:v>
                </c:pt>
                <c:pt idx="765">
                  <c:v>2023-03-01</c:v>
                </c:pt>
                <c:pt idx="766">
                  <c:v>2023-03-02</c:v>
                </c:pt>
                <c:pt idx="767">
                  <c:v>2023-03-03</c:v>
                </c:pt>
                <c:pt idx="768">
                  <c:v>2023-03-06</c:v>
                </c:pt>
                <c:pt idx="769">
                  <c:v>2023-03-07</c:v>
                </c:pt>
                <c:pt idx="770">
                  <c:v>2023-03-08</c:v>
                </c:pt>
                <c:pt idx="771">
                  <c:v>2023-03-09</c:v>
                </c:pt>
                <c:pt idx="772">
                  <c:v>2023-03-10</c:v>
                </c:pt>
                <c:pt idx="773">
                  <c:v>2023-03-13</c:v>
                </c:pt>
                <c:pt idx="774">
                  <c:v>2023-03-14</c:v>
                </c:pt>
                <c:pt idx="775">
                  <c:v>2023-03-15</c:v>
                </c:pt>
                <c:pt idx="776">
                  <c:v>2023-03-16</c:v>
                </c:pt>
                <c:pt idx="777">
                  <c:v>2023-03-17</c:v>
                </c:pt>
                <c:pt idx="778">
                  <c:v>2023-03-20</c:v>
                </c:pt>
                <c:pt idx="779">
                  <c:v>2023-03-21</c:v>
                </c:pt>
                <c:pt idx="780">
                  <c:v>2023-03-22</c:v>
                </c:pt>
                <c:pt idx="781">
                  <c:v>2023-03-23</c:v>
                </c:pt>
                <c:pt idx="782">
                  <c:v>2023-03-24</c:v>
                </c:pt>
                <c:pt idx="783">
                  <c:v>2023-03-27</c:v>
                </c:pt>
                <c:pt idx="784">
                  <c:v>2023-03-28</c:v>
                </c:pt>
                <c:pt idx="785">
                  <c:v>2023-03-29</c:v>
                </c:pt>
                <c:pt idx="786">
                  <c:v>2023-03-30</c:v>
                </c:pt>
                <c:pt idx="787">
                  <c:v>2023-03-31</c:v>
                </c:pt>
                <c:pt idx="788">
                  <c:v>2023-04-03</c:v>
                </c:pt>
                <c:pt idx="789">
                  <c:v>2023-04-04</c:v>
                </c:pt>
                <c:pt idx="790">
                  <c:v>2023-04-06</c:v>
                </c:pt>
                <c:pt idx="791">
                  <c:v>2023-04-07</c:v>
                </c:pt>
                <c:pt idx="792">
                  <c:v>2023-04-10</c:v>
                </c:pt>
                <c:pt idx="793">
                  <c:v>2023-04-11</c:v>
                </c:pt>
                <c:pt idx="794">
                  <c:v>2023-04-12</c:v>
                </c:pt>
                <c:pt idx="795">
                  <c:v>2023-04-13</c:v>
                </c:pt>
                <c:pt idx="796">
                  <c:v>2023-04-14</c:v>
                </c:pt>
                <c:pt idx="797">
                  <c:v>2023-04-17</c:v>
                </c:pt>
                <c:pt idx="798">
                  <c:v>2023-04-18</c:v>
                </c:pt>
                <c:pt idx="799">
                  <c:v>2023-04-19</c:v>
                </c:pt>
                <c:pt idx="800">
                  <c:v>2023-04-20</c:v>
                </c:pt>
                <c:pt idx="801">
                  <c:v>2023-04-21</c:v>
                </c:pt>
                <c:pt idx="802">
                  <c:v>2023-04-24</c:v>
                </c:pt>
                <c:pt idx="803">
                  <c:v>2023-04-25</c:v>
                </c:pt>
                <c:pt idx="804">
                  <c:v>2023-04-26</c:v>
                </c:pt>
                <c:pt idx="805">
                  <c:v>2023-04-27</c:v>
                </c:pt>
                <c:pt idx="806">
                  <c:v>2023-04-28</c:v>
                </c:pt>
                <c:pt idx="807">
                  <c:v>2023-05-04</c:v>
                </c:pt>
                <c:pt idx="808">
                  <c:v>2023-05-05</c:v>
                </c:pt>
                <c:pt idx="809">
                  <c:v>2023-05-08</c:v>
                </c:pt>
                <c:pt idx="810">
                  <c:v>2023-05-09</c:v>
                </c:pt>
                <c:pt idx="811">
                  <c:v>2023-05-10</c:v>
                </c:pt>
                <c:pt idx="812">
                  <c:v>2023-05-11</c:v>
                </c:pt>
                <c:pt idx="813">
                  <c:v>2023-05-12</c:v>
                </c:pt>
                <c:pt idx="814">
                  <c:v>2023-05-15</c:v>
                </c:pt>
                <c:pt idx="815">
                  <c:v>2023-05-16</c:v>
                </c:pt>
                <c:pt idx="816">
                  <c:v>2023-05-17</c:v>
                </c:pt>
                <c:pt idx="817">
                  <c:v>2023-05-18</c:v>
                </c:pt>
                <c:pt idx="818">
                  <c:v>2023-05-19</c:v>
                </c:pt>
                <c:pt idx="819">
                  <c:v>2023-05-22</c:v>
                </c:pt>
                <c:pt idx="820">
                  <c:v>2023-05-23</c:v>
                </c:pt>
                <c:pt idx="821">
                  <c:v>2023-05-24</c:v>
                </c:pt>
                <c:pt idx="822">
                  <c:v>2023-05-25</c:v>
                </c:pt>
                <c:pt idx="823">
                  <c:v>2023-05-26</c:v>
                </c:pt>
                <c:pt idx="824">
                  <c:v>2023-05-29</c:v>
                </c:pt>
                <c:pt idx="825">
                  <c:v>2023-05-30</c:v>
                </c:pt>
                <c:pt idx="826">
                  <c:v>2023-05-31</c:v>
                </c:pt>
                <c:pt idx="827">
                  <c:v>2023-06-01</c:v>
                </c:pt>
                <c:pt idx="828">
                  <c:v>2023-06-02</c:v>
                </c:pt>
                <c:pt idx="829">
                  <c:v>2023-06-05</c:v>
                </c:pt>
                <c:pt idx="830">
                  <c:v>2023-06-06</c:v>
                </c:pt>
                <c:pt idx="831">
                  <c:v>2023-06-07</c:v>
                </c:pt>
                <c:pt idx="832">
                  <c:v>2023-06-08</c:v>
                </c:pt>
                <c:pt idx="833">
                  <c:v>2023-06-09</c:v>
                </c:pt>
                <c:pt idx="834">
                  <c:v>2023-06-12</c:v>
                </c:pt>
                <c:pt idx="835">
                  <c:v>2023-06-13</c:v>
                </c:pt>
                <c:pt idx="836">
                  <c:v>2023-06-14</c:v>
                </c:pt>
                <c:pt idx="837">
                  <c:v>2023-06-15</c:v>
                </c:pt>
                <c:pt idx="838">
                  <c:v>2023-06-16</c:v>
                </c:pt>
                <c:pt idx="839">
                  <c:v>2023-06-19</c:v>
                </c:pt>
                <c:pt idx="840">
                  <c:v>2023-06-20</c:v>
                </c:pt>
                <c:pt idx="841">
                  <c:v>2023-06-21</c:v>
                </c:pt>
                <c:pt idx="842">
                  <c:v>2023-06-26</c:v>
                </c:pt>
                <c:pt idx="843">
                  <c:v>2023-06-27</c:v>
                </c:pt>
                <c:pt idx="844">
                  <c:v>2023-06-28</c:v>
                </c:pt>
                <c:pt idx="845">
                  <c:v>2023-06-29</c:v>
                </c:pt>
                <c:pt idx="846">
                  <c:v>2023-06-30</c:v>
                </c:pt>
                <c:pt idx="847">
                  <c:v>2023-07-03</c:v>
                </c:pt>
                <c:pt idx="848">
                  <c:v>2023-07-04</c:v>
                </c:pt>
                <c:pt idx="849">
                  <c:v>2023-07-05</c:v>
                </c:pt>
                <c:pt idx="850">
                  <c:v>2023-07-06</c:v>
                </c:pt>
                <c:pt idx="851">
                  <c:v>2023-07-07</c:v>
                </c:pt>
                <c:pt idx="852">
                  <c:v>2023-07-10</c:v>
                </c:pt>
                <c:pt idx="853">
                  <c:v>2023-07-11</c:v>
                </c:pt>
                <c:pt idx="854">
                  <c:v>2023-07-12</c:v>
                </c:pt>
                <c:pt idx="855">
                  <c:v>2023-07-13</c:v>
                </c:pt>
                <c:pt idx="856">
                  <c:v>2023-07-14</c:v>
                </c:pt>
                <c:pt idx="857">
                  <c:v>2023-07-17</c:v>
                </c:pt>
                <c:pt idx="858">
                  <c:v>2023-07-18</c:v>
                </c:pt>
                <c:pt idx="859">
                  <c:v>2023-07-19</c:v>
                </c:pt>
                <c:pt idx="860">
                  <c:v>2023-07-20</c:v>
                </c:pt>
                <c:pt idx="861">
                  <c:v>2023-07-21</c:v>
                </c:pt>
                <c:pt idx="862">
                  <c:v>2023-07-24</c:v>
                </c:pt>
                <c:pt idx="863">
                  <c:v>2023-07-25</c:v>
                </c:pt>
                <c:pt idx="864">
                  <c:v>2023-07-26</c:v>
                </c:pt>
                <c:pt idx="865">
                  <c:v>2023-07-27</c:v>
                </c:pt>
                <c:pt idx="866">
                  <c:v>2023-07-28</c:v>
                </c:pt>
                <c:pt idx="867">
                  <c:v>2023-07-31</c:v>
                </c:pt>
                <c:pt idx="868">
                  <c:v>2023-08-01</c:v>
                </c:pt>
                <c:pt idx="869">
                  <c:v>2023-08-02</c:v>
                </c:pt>
                <c:pt idx="870">
                  <c:v>2023-08-03</c:v>
                </c:pt>
                <c:pt idx="871">
                  <c:v>2023-08-04</c:v>
                </c:pt>
                <c:pt idx="872">
                  <c:v>2023-08-07</c:v>
                </c:pt>
                <c:pt idx="873">
                  <c:v>2023-08-08</c:v>
                </c:pt>
                <c:pt idx="874">
                  <c:v>2023-08-09</c:v>
                </c:pt>
                <c:pt idx="875">
                  <c:v>2023-08-10</c:v>
                </c:pt>
                <c:pt idx="876">
                  <c:v>2023-08-11</c:v>
                </c:pt>
                <c:pt idx="877">
                  <c:v>2023-08-14</c:v>
                </c:pt>
                <c:pt idx="878">
                  <c:v>2023-08-15</c:v>
                </c:pt>
                <c:pt idx="879">
                  <c:v>2023-08-16</c:v>
                </c:pt>
                <c:pt idx="880">
                  <c:v>2023-08-17</c:v>
                </c:pt>
                <c:pt idx="881">
                  <c:v>2023-08-18</c:v>
                </c:pt>
                <c:pt idx="882">
                  <c:v>2023-08-21</c:v>
                </c:pt>
                <c:pt idx="883">
                  <c:v>2023-08-22</c:v>
                </c:pt>
                <c:pt idx="884">
                  <c:v>2023-08-23</c:v>
                </c:pt>
                <c:pt idx="885">
                  <c:v>2023-08-24</c:v>
                </c:pt>
                <c:pt idx="886">
                  <c:v>2023-08-25</c:v>
                </c:pt>
                <c:pt idx="887">
                  <c:v>2023-08-28</c:v>
                </c:pt>
                <c:pt idx="888">
                  <c:v>2023-08-29</c:v>
                </c:pt>
                <c:pt idx="889">
                  <c:v>2023-08-30</c:v>
                </c:pt>
                <c:pt idx="890">
                  <c:v>2023-08-31</c:v>
                </c:pt>
                <c:pt idx="891">
                  <c:v>2023-09-01</c:v>
                </c:pt>
                <c:pt idx="892">
                  <c:v>2023-09-04</c:v>
                </c:pt>
                <c:pt idx="893">
                  <c:v>2023-09-05</c:v>
                </c:pt>
                <c:pt idx="894">
                  <c:v>2023-09-06</c:v>
                </c:pt>
                <c:pt idx="895">
                  <c:v>2023-09-07</c:v>
                </c:pt>
                <c:pt idx="896">
                  <c:v>2023-09-08</c:v>
                </c:pt>
                <c:pt idx="897">
                  <c:v>2023-09-11</c:v>
                </c:pt>
                <c:pt idx="898">
                  <c:v>2023-09-12</c:v>
                </c:pt>
                <c:pt idx="899">
                  <c:v>2023-09-13</c:v>
                </c:pt>
                <c:pt idx="900">
                  <c:v>2023-09-14</c:v>
                </c:pt>
                <c:pt idx="901">
                  <c:v>2023-09-15</c:v>
                </c:pt>
                <c:pt idx="902">
                  <c:v>2023-09-18</c:v>
                </c:pt>
                <c:pt idx="903">
                  <c:v>2023-09-19</c:v>
                </c:pt>
                <c:pt idx="904">
                  <c:v>2023-09-20</c:v>
                </c:pt>
                <c:pt idx="905">
                  <c:v>2023-09-21</c:v>
                </c:pt>
                <c:pt idx="906">
                  <c:v>2023-09-22</c:v>
                </c:pt>
                <c:pt idx="907">
                  <c:v>2023-09-25</c:v>
                </c:pt>
                <c:pt idx="908">
                  <c:v>2023-09-26</c:v>
                </c:pt>
                <c:pt idx="909">
                  <c:v>2023-09-27</c:v>
                </c:pt>
                <c:pt idx="910">
                  <c:v>2023-09-28</c:v>
                </c:pt>
                <c:pt idx="911">
                  <c:v>2023-10-09</c:v>
                </c:pt>
                <c:pt idx="912">
                  <c:v>2023-10-10</c:v>
                </c:pt>
                <c:pt idx="913">
                  <c:v>2023-10-11</c:v>
                </c:pt>
                <c:pt idx="914">
                  <c:v>2023-10-12</c:v>
                </c:pt>
                <c:pt idx="915">
                  <c:v>2023-10-13</c:v>
                </c:pt>
                <c:pt idx="916">
                  <c:v>2023-10-16</c:v>
                </c:pt>
                <c:pt idx="917">
                  <c:v>2023-10-17</c:v>
                </c:pt>
                <c:pt idx="918">
                  <c:v>2023-10-18</c:v>
                </c:pt>
                <c:pt idx="919">
                  <c:v>2023-10-19</c:v>
                </c:pt>
                <c:pt idx="920">
                  <c:v>2023-10-20</c:v>
                </c:pt>
                <c:pt idx="921">
                  <c:v>2023-10-23</c:v>
                </c:pt>
                <c:pt idx="922">
                  <c:v>2023-10-24</c:v>
                </c:pt>
                <c:pt idx="923">
                  <c:v>2023-10-25</c:v>
                </c:pt>
                <c:pt idx="924">
                  <c:v>2023-10-26</c:v>
                </c:pt>
                <c:pt idx="925">
                  <c:v>2023-10-27</c:v>
                </c:pt>
                <c:pt idx="926">
                  <c:v>2023-10-30</c:v>
                </c:pt>
                <c:pt idx="927">
                  <c:v>2023-10-31</c:v>
                </c:pt>
                <c:pt idx="928">
                  <c:v>2023-11-01</c:v>
                </c:pt>
                <c:pt idx="929">
                  <c:v>2023-11-02</c:v>
                </c:pt>
                <c:pt idx="930">
                  <c:v>2023-11-03</c:v>
                </c:pt>
                <c:pt idx="931">
                  <c:v>2023-11-06</c:v>
                </c:pt>
                <c:pt idx="932">
                  <c:v>2023-11-07</c:v>
                </c:pt>
                <c:pt idx="933">
                  <c:v>2023-11-08</c:v>
                </c:pt>
                <c:pt idx="934">
                  <c:v>2023-11-09</c:v>
                </c:pt>
                <c:pt idx="935">
                  <c:v>2023-11-10</c:v>
                </c:pt>
                <c:pt idx="936">
                  <c:v>2023-11-13</c:v>
                </c:pt>
                <c:pt idx="937">
                  <c:v>2023-11-14</c:v>
                </c:pt>
                <c:pt idx="938">
                  <c:v>2023-11-15</c:v>
                </c:pt>
                <c:pt idx="939">
                  <c:v>2023-11-16</c:v>
                </c:pt>
                <c:pt idx="940">
                  <c:v>2023-11-17</c:v>
                </c:pt>
                <c:pt idx="941">
                  <c:v>2023-11-20</c:v>
                </c:pt>
                <c:pt idx="942">
                  <c:v>2023-11-21</c:v>
                </c:pt>
                <c:pt idx="943">
                  <c:v>2023-11-22</c:v>
                </c:pt>
                <c:pt idx="944">
                  <c:v>2023-11-23</c:v>
                </c:pt>
                <c:pt idx="945">
                  <c:v>2023-11-24</c:v>
                </c:pt>
                <c:pt idx="946">
                  <c:v>2023-11-27</c:v>
                </c:pt>
                <c:pt idx="947">
                  <c:v>2023-11-28</c:v>
                </c:pt>
                <c:pt idx="948">
                  <c:v>2023-11-29</c:v>
                </c:pt>
                <c:pt idx="949">
                  <c:v>2023-11-30</c:v>
                </c:pt>
                <c:pt idx="950">
                  <c:v>2023-12-01</c:v>
                </c:pt>
                <c:pt idx="951">
                  <c:v>2023-12-04</c:v>
                </c:pt>
                <c:pt idx="952">
                  <c:v>2023-12-05</c:v>
                </c:pt>
                <c:pt idx="953">
                  <c:v>2023-12-06</c:v>
                </c:pt>
                <c:pt idx="954">
                  <c:v>2023-12-07</c:v>
                </c:pt>
                <c:pt idx="955">
                  <c:v>2023-12-08</c:v>
                </c:pt>
                <c:pt idx="956">
                  <c:v>2023-12-11</c:v>
                </c:pt>
                <c:pt idx="957">
                  <c:v>2023-12-12</c:v>
                </c:pt>
                <c:pt idx="958">
                  <c:v>2023-12-13</c:v>
                </c:pt>
                <c:pt idx="959">
                  <c:v>2023-12-14</c:v>
                </c:pt>
                <c:pt idx="960">
                  <c:v>2023-12-15</c:v>
                </c:pt>
                <c:pt idx="961">
                  <c:v>2023-12-18</c:v>
                </c:pt>
                <c:pt idx="962">
                  <c:v>2023-12-19</c:v>
                </c:pt>
                <c:pt idx="963">
                  <c:v>2023-12-20</c:v>
                </c:pt>
                <c:pt idx="964">
                  <c:v>2023-12-21</c:v>
                </c:pt>
                <c:pt idx="965">
                  <c:v>2023-12-22</c:v>
                </c:pt>
                <c:pt idx="966">
                  <c:v>2023-12-25</c:v>
                </c:pt>
                <c:pt idx="967">
                  <c:v>2023-12-26</c:v>
                </c:pt>
                <c:pt idx="968">
                  <c:v>2023-12-27</c:v>
                </c:pt>
                <c:pt idx="969">
                  <c:v>2023-12-28</c:v>
                </c:pt>
                <c:pt idx="970">
                  <c:v>2023-12-29</c:v>
                </c:pt>
                <c:pt idx="971">
                  <c:v>2024-01-02</c:v>
                </c:pt>
                <c:pt idx="972">
                  <c:v>2024-01-03</c:v>
                </c:pt>
                <c:pt idx="973">
                  <c:v>2024-01-04</c:v>
                </c:pt>
                <c:pt idx="974">
                  <c:v>2024-01-05</c:v>
                </c:pt>
                <c:pt idx="975">
                  <c:v>2024-01-08</c:v>
                </c:pt>
                <c:pt idx="976">
                  <c:v>2024-01-09</c:v>
                </c:pt>
                <c:pt idx="977">
                  <c:v>2024-01-10</c:v>
                </c:pt>
                <c:pt idx="978">
                  <c:v>2024-01-11</c:v>
                </c:pt>
                <c:pt idx="979">
                  <c:v>2024-01-12</c:v>
                </c:pt>
                <c:pt idx="980">
                  <c:v>2024-01-15</c:v>
                </c:pt>
                <c:pt idx="981">
                  <c:v>2024-01-16</c:v>
                </c:pt>
                <c:pt idx="982">
                  <c:v>2024-01-17</c:v>
                </c:pt>
                <c:pt idx="983">
                  <c:v>2024-01-18</c:v>
                </c:pt>
                <c:pt idx="984">
                  <c:v>2024-01-19</c:v>
                </c:pt>
                <c:pt idx="985">
                  <c:v>2024-01-22</c:v>
                </c:pt>
                <c:pt idx="986">
                  <c:v>2024-01-23</c:v>
                </c:pt>
                <c:pt idx="987">
                  <c:v>2024-01-24</c:v>
                </c:pt>
                <c:pt idx="988">
                  <c:v>2024-01-25</c:v>
                </c:pt>
                <c:pt idx="989">
                  <c:v>2024-01-26</c:v>
                </c:pt>
                <c:pt idx="990">
                  <c:v>2024-01-29</c:v>
                </c:pt>
                <c:pt idx="991">
                  <c:v>2024-01-30</c:v>
                </c:pt>
                <c:pt idx="992">
                  <c:v>2024-01-31</c:v>
                </c:pt>
                <c:pt idx="993">
                  <c:v>2024-02-01</c:v>
                </c:pt>
                <c:pt idx="994">
                  <c:v>2024-02-02</c:v>
                </c:pt>
                <c:pt idx="995">
                  <c:v>2024-02-05</c:v>
                </c:pt>
                <c:pt idx="996">
                  <c:v>2024-02-06</c:v>
                </c:pt>
                <c:pt idx="997">
                  <c:v>2024-02-07</c:v>
                </c:pt>
                <c:pt idx="998">
                  <c:v>2024-02-08</c:v>
                </c:pt>
                <c:pt idx="999">
                  <c:v>2024-02-19</c:v>
                </c:pt>
                <c:pt idx="1000">
                  <c:v>2024-02-20</c:v>
                </c:pt>
                <c:pt idx="1001">
                  <c:v>2024-02-21</c:v>
                </c:pt>
                <c:pt idx="1002">
                  <c:v>2024-02-22</c:v>
                </c:pt>
                <c:pt idx="1003">
                  <c:v>2024-02-23</c:v>
                </c:pt>
                <c:pt idx="1004">
                  <c:v>2024-02-26</c:v>
                </c:pt>
                <c:pt idx="1005">
                  <c:v>2024-02-27</c:v>
                </c:pt>
                <c:pt idx="1006">
                  <c:v>2024-02-28</c:v>
                </c:pt>
                <c:pt idx="1007">
                  <c:v>2024-02-29</c:v>
                </c:pt>
                <c:pt idx="1008">
                  <c:v>2024-03-01</c:v>
                </c:pt>
                <c:pt idx="1009">
                  <c:v>2024-03-04</c:v>
                </c:pt>
                <c:pt idx="1010">
                  <c:v>2024-03-05</c:v>
                </c:pt>
                <c:pt idx="1011">
                  <c:v>2024-03-06</c:v>
                </c:pt>
                <c:pt idx="1012">
                  <c:v>2024-03-07</c:v>
                </c:pt>
                <c:pt idx="1013">
                  <c:v>2024-03-08</c:v>
                </c:pt>
                <c:pt idx="1014">
                  <c:v>2024-03-11</c:v>
                </c:pt>
                <c:pt idx="1015">
                  <c:v>2024-03-12</c:v>
                </c:pt>
                <c:pt idx="1016">
                  <c:v>2024-03-13</c:v>
                </c:pt>
                <c:pt idx="1017">
                  <c:v>2024-03-14</c:v>
                </c:pt>
                <c:pt idx="1018">
                  <c:v>2024-03-15</c:v>
                </c:pt>
                <c:pt idx="1019">
                  <c:v>2024-03-18</c:v>
                </c:pt>
                <c:pt idx="1020">
                  <c:v>2024-03-19</c:v>
                </c:pt>
                <c:pt idx="1021">
                  <c:v>2024-03-20</c:v>
                </c:pt>
                <c:pt idx="1022">
                  <c:v>2024-03-21</c:v>
                </c:pt>
                <c:pt idx="1023">
                  <c:v>2024-03-22</c:v>
                </c:pt>
                <c:pt idx="1024">
                  <c:v>2024-03-25</c:v>
                </c:pt>
                <c:pt idx="1025">
                  <c:v>2024-03-26</c:v>
                </c:pt>
                <c:pt idx="1026">
                  <c:v>2024-03-27</c:v>
                </c:pt>
                <c:pt idx="1027">
                  <c:v>2024-03-28</c:v>
                </c:pt>
                <c:pt idx="1028">
                  <c:v>2024-03-29</c:v>
                </c:pt>
                <c:pt idx="1029">
                  <c:v>2024-04-01</c:v>
                </c:pt>
                <c:pt idx="1030">
                  <c:v>2024-04-02</c:v>
                </c:pt>
                <c:pt idx="1031">
                  <c:v>2024-04-03</c:v>
                </c:pt>
                <c:pt idx="1032">
                  <c:v>2024-04-08</c:v>
                </c:pt>
                <c:pt idx="1033">
                  <c:v>2024-04-09</c:v>
                </c:pt>
                <c:pt idx="1034">
                  <c:v>2024-04-10</c:v>
                </c:pt>
                <c:pt idx="1035">
                  <c:v>2024-04-11</c:v>
                </c:pt>
                <c:pt idx="1036">
                  <c:v>2024-04-12</c:v>
                </c:pt>
                <c:pt idx="1037">
                  <c:v>2024-04-15</c:v>
                </c:pt>
                <c:pt idx="1038">
                  <c:v>2024-04-16</c:v>
                </c:pt>
                <c:pt idx="1039">
                  <c:v>2024-04-17</c:v>
                </c:pt>
                <c:pt idx="1040">
                  <c:v>2024-04-18</c:v>
                </c:pt>
                <c:pt idx="1041">
                  <c:v>2024-04-19</c:v>
                </c:pt>
                <c:pt idx="1042">
                  <c:v>2024-04-22</c:v>
                </c:pt>
                <c:pt idx="1043">
                  <c:v>2024-04-23</c:v>
                </c:pt>
                <c:pt idx="1044">
                  <c:v>2024-04-24</c:v>
                </c:pt>
                <c:pt idx="1045">
                  <c:v>2024-04-25</c:v>
                </c:pt>
                <c:pt idx="1046">
                  <c:v>2024-04-26</c:v>
                </c:pt>
                <c:pt idx="1047">
                  <c:v>2024-04-29</c:v>
                </c:pt>
                <c:pt idx="1048">
                  <c:v>2024-04-30</c:v>
                </c:pt>
                <c:pt idx="1049">
                  <c:v>2024-05-06</c:v>
                </c:pt>
                <c:pt idx="1050">
                  <c:v>2024-05-07</c:v>
                </c:pt>
                <c:pt idx="1051">
                  <c:v>2024-05-08</c:v>
                </c:pt>
                <c:pt idx="1052">
                  <c:v>2024-05-09</c:v>
                </c:pt>
                <c:pt idx="1053">
                  <c:v>2024-05-10</c:v>
                </c:pt>
                <c:pt idx="1054">
                  <c:v>2024-05-13</c:v>
                </c:pt>
                <c:pt idx="1055">
                  <c:v>2024-05-14</c:v>
                </c:pt>
                <c:pt idx="1056">
                  <c:v>2024-05-15</c:v>
                </c:pt>
                <c:pt idx="1057">
                  <c:v>2024-05-16</c:v>
                </c:pt>
                <c:pt idx="1058">
                  <c:v>2024-05-17</c:v>
                </c:pt>
                <c:pt idx="1059">
                  <c:v>2024-05-20</c:v>
                </c:pt>
                <c:pt idx="1060">
                  <c:v>2024-05-21</c:v>
                </c:pt>
                <c:pt idx="1061">
                  <c:v>2024-05-22</c:v>
                </c:pt>
                <c:pt idx="1062">
                  <c:v>2024-05-23</c:v>
                </c:pt>
                <c:pt idx="1063">
                  <c:v>2024-05-24</c:v>
                </c:pt>
                <c:pt idx="1064">
                  <c:v>2024-05-27</c:v>
                </c:pt>
                <c:pt idx="1065">
                  <c:v>2024-05-28</c:v>
                </c:pt>
                <c:pt idx="1066">
                  <c:v>2024-05-29</c:v>
                </c:pt>
                <c:pt idx="1067">
                  <c:v>2024-05-30</c:v>
                </c:pt>
                <c:pt idx="1068">
                  <c:v>2024-05-31</c:v>
                </c:pt>
                <c:pt idx="1069">
                  <c:v>2024-06-03</c:v>
                </c:pt>
                <c:pt idx="1070">
                  <c:v>2024-06-04</c:v>
                </c:pt>
                <c:pt idx="1071">
                  <c:v>2024-06-05</c:v>
                </c:pt>
                <c:pt idx="1072">
                  <c:v>2024-06-06</c:v>
                </c:pt>
                <c:pt idx="1073">
                  <c:v>2024-06-07</c:v>
                </c:pt>
                <c:pt idx="1074">
                  <c:v>2024-06-11</c:v>
                </c:pt>
                <c:pt idx="1075">
                  <c:v>2024-06-12</c:v>
                </c:pt>
                <c:pt idx="1076">
                  <c:v>2024-06-13</c:v>
                </c:pt>
                <c:pt idx="1077">
                  <c:v>2024-06-14</c:v>
                </c:pt>
                <c:pt idx="1078">
                  <c:v>2024-06-17</c:v>
                </c:pt>
                <c:pt idx="1079">
                  <c:v>2024-06-18</c:v>
                </c:pt>
                <c:pt idx="1080">
                  <c:v>2024-06-19</c:v>
                </c:pt>
                <c:pt idx="1081">
                  <c:v>2024-06-20</c:v>
                </c:pt>
                <c:pt idx="1082">
                  <c:v>2024-06-21</c:v>
                </c:pt>
                <c:pt idx="1083">
                  <c:v>2024-06-24</c:v>
                </c:pt>
                <c:pt idx="1084">
                  <c:v>2024-06-25</c:v>
                </c:pt>
                <c:pt idx="1085">
                  <c:v>2024-06-26</c:v>
                </c:pt>
                <c:pt idx="1086">
                  <c:v>2024-06-27</c:v>
                </c:pt>
                <c:pt idx="1087">
                  <c:v>2024-06-28</c:v>
                </c:pt>
                <c:pt idx="1088">
                  <c:v>2024-07-01</c:v>
                </c:pt>
                <c:pt idx="1089">
                  <c:v>2024-07-02</c:v>
                </c:pt>
                <c:pt idx="1090">
                  <c:v>2024-07-03</c:v>
                </c:pt>
                <c:pt idx="1091">
                  <c:v>2024-07-04</c:v>
                </c:pt>
                <c:pt idx="1092">
                  <c:v>2024-07-05</c:v>
                </c:pt>
                <c:pt idx="1093">
                  <c:v>2024-07-08</c:v>
                </c:pt>
                <c:pt idx="1094">
                  <c:v>2024-07-09</c:v>
                </c:pt>
                <c:pt idx="1095">
                  <c:v>2024-07-10</c:v>
                </c:pt>
                <c:pt idx="1096">
                  <c:v>2024-07-11</c:v>
                </c:pt>
                <c:pt idx="1097">
                  <c:v>2024-07-12</c:v>
                </c:pt>
                <c:pt idx="1098">
                  <c:v>2024-07-15</c:v>
                </c:pt>
                <c:pt idx="1099">
                  <c:v>2024-07-16</c:v>
                </c:pt>
                <c:pt idx="1100">
                  <c:v>2024-07-17</c:v>
                </c:pt>
                <c:pt idx="1101">
                  <c:v>2024-07-18</c:v>
                </c:pt>
                <c:pt idx="1102">
                  <c:v>2024-07-19</c:v>
                </c:pt>
                <c:pt idx="1103">
                  <c:v>2024-07-22</c:v>
                </c:pt>
                <c:pt idx="1104">
                  <c:v>2024-07-23</c:v>
                </c:pt>
                <c:pt idx="1105">
                  <c:v>2024-07-24</c:v>
                </c:pt>
                <c:pt idx="1106">
                  <c:v>2024-07-25</c:v>
                </c:pt>
                <c:pt idx="1107">
                  <c:v>2024-07-26</c:v>
                </c:pt>
                <c:pt idx="1108">
                  <c:v>2024-07-29</c:v>
                </c:pt>
                <c:pt idx="1109">
                  <c:v>2024-07-30</c:v>
                </c:pt>
                <c:pt idx="1110">
                  <c:v>2024-07-31</c:v>
                </c:pt>
                <c:pt idx="1111">
                  <c:v>2024-08-01</c:v>
                </c:pt>
                <c:pt idx="1112">
                  <c:v>2024-08-02</c:v>
                </c:pt>
                <c:pt idx="1113">
                  <c:v>2024-08-05</c:v>
                </c:pt>
                <c:pt idx="1114">
                  <c:v>2024-08-06</c:v>
                </c:pt>
                <c:pt idx="1115">
                  <c:v>2024-08-07</c:v>
                </c:pt>
                <c:pt idx="1116">
                  <c:v>2024-08-08</c:v>
                </c:pt>
                <c:pt idx="1117">
                  <c:v>2024-08-09</c:v>
                </c:pt>
                <c:pt idx="1118">
                  <c:v>2024-08-12</c:v>
                </c:pt>
                <c:pt idx="1119">
                  <c:v>2024-08-13</c:v>
                </c:pt>
                <c:pt idx="1120">
                  <c:v>2024-08-14</c:v>
                </c:pt>
                <c:pt idx="1121">
                  <c:v>2024-08-15</c:v>
                </c:pt>
                <c:pt idx="1122">
                  <c:v>2024-08-16</c:v>
                </c:pt>
                <c:pt idx="1123">
                  <c:v>2024-08-19</c:v>
                </c:pt>
                <c:pt idx="1124">
                  <c:v>2024-08-20</c:v>
                </c:pt>
                <c:pt idx="1125">
                  <c:v>2024-08-21</c:v>
                </c:pt>
                <c:pt idx="1126">
                  <c:v>2024-08-22</c:v>
                </c:pt>
                <c:pt idx="1127">
                  <c:v>2024-08-23</c:v>
                </c:pt>
                <c:pt idx="1128">
                  <c:v>2024-08-26</c:v>
                </c:pt>
                <c:pt idx="1129">
                  <c:v>2024-08-27</c:v>
                </c:pt>
                <c:pt idx="1130">
                  <c:v>2024-08-28</c:v>
                </c:pt>
                <c:pt idx="1131">
                  <c:v>2024-08-29</c:v>
                </c:pt>
                <c:pt idx="1132">
                  <c:v>2024-08-30</c:v>
                </c:pt>
                <c:pt idx="1133">
                  <c:v>2024-09-02</c:v>
                </c:pt>
                <c:pt idx="1134">
                  <c:v>2024-09-03</c:v>
                </c:pt>
                <c:pt idx="1135">
                  <c:v>2024-09-04</c:v>
                </c:pt>
                <c:pt idx="1136">
                  <c:v>2024-09-05</c:v>
                </c:pt>
                <c:pt idx="1137">
                  <c:v>2024-09-06</c:v>
                </c:pt>
                <c:pt idx="1138">
                  <c:v>2024-09-09</c:v>
                </c:pt>
                <c:pt idx="1139">
                  <c:v>2024-09-10</c:v>
                </c:pt>
                <c:pt idx="1140">
                  <c:v>2024-09-11</c:v>
                </c:pt>
                <c:pt idx="1141">
                  <c:v>2024-09-12</c:v>
                </c:pt>
                <c:pt idx="1142">
                  <c:v>2024-09-13</c:v>
                </c:pt>
                <c:pt idx="1143">
                  <c:v>2024-09-18</c:v>
                </c:pt>
                <c:pt idx="1144">
                  <c:v>2024-09-19</c:v>
                </c:pt>
                <c:pt idx="1145">
                  <c:v>2024-09-20</c:v>
                </c:pt>
                <c:pt idx="1146">
                  <c:v>2024-09-23</c:v>
                </c:pt>
                <c:pt idx="1147">
                  <c:v>2024-09-24</c:v>
                </c:pt>
                <c:pt idx="1148">
                  <c:v>2024-09-25</c:v>
                </c:pt>
                <c:pt idx="1149">
                  <c:v>2024-09-26</c:v>
                </c:pt>
                <c:pt idx="1150">
                  <c:v>2024-09-27</c:v>
                </c:pt>
                <c:pt idx="1151">
                  <c:v>2024-09-30</c:v>
                </c:pt>
                <c:pt idx="1152">
                  <c:v>2024-10-08</c:v>
                </c:pt>
                <c:pt idx="1153">
                  <c:v>2024-10-09</c:v>
                </c:pt>
                <c:pt idx="1154">
                  <c:v>2024-10-10</c:v>
                </c:pt>
                <c:pt idx="1155">
                  <c:v>2024-10-11</c:v>
                </c:pt>
                <c:pt idx="1156">
                  <c:v>2024-10-14</c:v>
                </c:pt>
                <c:pt idx="1157">
                  <c:v>2024-10-15</c:v>
                </c:pt>
                <c:pt idx="1158">
                  <c:v>2024-10-16</c:v>
                </c:pt>
                <c:pt idx="1159">
                  <c:v>2024-10-17</c:v>
                </c:pt>
                <c:pt idx="1160">
                  <c:v>2024-10-18</c:v>
                </c:pt>
                <c:pt idx="1161">
                  <c:v>2024-10-21</c:v>
                </c:pt>
                <c:pt idx="1162">
                  <c:v>2024-10-22</c:v>
                </c:pt>
                <c:pt idx="1163">
                  <c:v>2024-10-23</c:v>
                </c:pt>
                <c:pt idx="1164">
                  <c:v>2024-10-24</c:v>
                </c:pt>
                <c:pt idx="1165">
                  <c:v>2024-10-25</c:v>
                </c:pt>
                <c:pt idx="1166">
                  <c:v>2024-10-28</c:v>
                </c:pt>
                <c:pt idx="1167">
                  <c:v>2024-10-29</c:v>
                </c:pt>
                <c:pt idx="1168">
                  <c:v>2024-10-30</c:v>
                </c:pt>
                <c:pt idx="1169">
                  <c:v>2024-10-31</c:v>
                </c:pt>
                <c:pt idx="1170">
                  <c:v>2024-11-01</c:v>
                </c:pt>
                <c:pt idx="1171">
                  <c:v>2024-11-04</c:v>
                </c:pt>
                <c:pt idx="1172">
                  <c:v>2024-11-05</c:v>
                </c:pt>
                <c:pt idx="1173">
                  <c:v>2024-11-06</c:v>
                </c:pt>
                <c:pt idx="1174">
                  <c:v>2024-11-07</c:v>
                </c:pt>
                <c:pt idx="1175">
                  <c:v>2024-11-08</c:v>
                </c:pt>
                <c:pt idx="1176">
                  <c:v>2024-11-11</c:v>
                </c:pt>
                <c:pt idx="1177">
                  <c:v>2024-11-12</c:v>
                </c:pt>
                <c:pt idx="1178">
                  <c:v>2024-11-13</c:v>
                </c:pt>
                <c:pt idx="1179">
                  <c:v>2024-11-14</c:v>
                </c:pt>
                <c:pt idx="1180">
                  <c:v>2024-11-15</c:v>
                </c:pt>
                <c:pt idx="1181">
                  <c:v>2024-11-18</c:v>
                </c:pt>
                <c:pt idx="1182">
                  <c:v>2024-11-19</c:v>
                </c:pt>
                <c:pt idx="1183">
                  <c:v>2024-11-20</c:v>
                </c:pt>
                <c:pt idx="1184">
                  <c:v>2024-11-21</c:v>
                </c:pt>
                <c:pt idx="1185">
                  <c:v>2024-11-22</c:v>
                </c:pt>
                <c:pt idx="1186">
                  <c:v>2024-11-25</c:v>
                </c:pt>
                <c:pt idx="1187">
                  <c:v>2024-11-26</c:v>
                </c:pt>
                <c:pt idx="1188">
                  <c:v>2024-11-27</c:v>
                </c:pt>
                <c:pt idx="1189">
                  <c:v>2024-11-28</c:v>
                </c:pt>
                <c:pt idx="1190">
                  <c:v>2024-11-29</c:v>
                </c:pt>
                <c:pt idx="1191">
                  <c:v>2024-12-02</c:v>
                </c:pt>
                <c:pt idx="1192">
                  <c:v>2024-12-03</c:v>
                </c:pt>
                <c:pt idx="1193">
                  <c:v>2024-12-04</c:v>
                </c:pt>
                <c:pt idx="1194">
                  <c:v>2024-12-05</c:v>
                </c:pt>
                <c:pt idx="1195">
                  <c:v>2024-12-06</c:v>
                </c:pt>
                <c:pt idx="1196">
                  <c:v>2024-12-09</c:v>
                </c:pt>
                <c:pt idx="1197">
                  <c:v>2024-12-10</c:v>
                </c:pt>
                <c:pt idx="1198">
                  <c:v>2024-12-11</c:v>
                </c:pt>
                <c:pt idx="1199">
                  <c:v>2024-12-12</c:v>
                </c:pt>
                <c:pt idx="1200">
                  <c:v>2024-12-13</c:v>
                </c:pt>
                <c:pt idx="1201">
                  <c:v>2024-12-16</c:v>
                </c:pt>
                <c:pt idx="1202">
                  <c:v>2024-12-17</c:v>
                </c:pt>
                <c:pt idx="1203">
                  <c:v>2024-12-18</c:v>
                </c:pt>
                <c:pt idx="1204">
                  <c:v>2024-12-19</c:v>
                </c:pt>
                <c:pt idx="1205">
                  <c:v>2024-12-20</c:v>
                </c:pt>
                <c:pt idx="1206">
                  <c:v>2024-12-23</c:v>
                </c:pt>
                <c:pt idx="1207">
                  <c:v>2024-12-24</c:v>
                </c:pt>
                <c:pt idx="1208">
                  <c:v>2024-12-25</c:v>
                </c:pt>
                <c:pt idx="1209">
                  <c:v>2024-12-26</c:v>
                </c:pt>
                <c:pt idx="1210">
                  <c:v>2024-12-27</c:v>
                </c:pt>
                <c:pt idx="1211">
                  <c:v>2024-12-30</c:v>
                </c:pt>
                <c:pt idx="1212">
                  <c:v>2024-12-31</c:v>
                </c:pt>
                <c:pt idx="1213">
                  <c:v>2025-01-02</c:v>
                </c:pt>
                <c:pt idx="1214">
                  <c:v>2025-01-03</c:v>
                </c:pt>
                <c:pt idx="1215">
                  <c:v>2025-01-06</c:v>
                </c:pt>
                <c:pt idx="1216">
                  <c:v>2025-01-07</c:v>
                </c:pt>
                <c:pt idx="1217">
                  <c:v>2025-01-08</c:v>
                </c:pt>
                <c:pt idx="1218">
                  <c:v>2025-01-09</c:v>
                </c:pt>
                <c:pt idx="1219">
                  <c:v>2025-01-10</c:v>
                </c:pt>
                <c:pt idx="1220">
                  <c:v>2025-01-13</c:v>
                </c:pt>
                <c:pt idx="1221">
                  <c:v>2025-01-14</c:v>
                </c:pt>
                <c:pt idx="1222">
                  <c:v>2025-01-15</c:v>
                </c:pt>
                <c:pt idx="1223">
                  <c:v>2025-01-16</c:v>
                </c:pt>
                <c:pt idx="1224">
                  <c:v>2025-01-17</c:v>
                </c:pt>
                <c:pt idx="1225">
                  <c:v>2025-01-20</c:v>
                </c:pt>
                <c:pt idx="1226">
                  <c:v>2025-01-21</c:v>
                </c:pt>
                <c:pt idx="1227">
                  <c:v>2025-01-22</c:v>
                </c:pt>
                <c:pt idx="1228">
                  <c:v>2025-01-23</c:v>
                </c:pt>
                <c:pt idx="1229">
                  <c:v>2025-01-24</c:v>
                </c:pt>
                <c:pt idx="1230">
                  <c:v>2025-01-27</c:v>
                </c:pt>
                <c:pt idx="1231">
                  <c:v>2025-02-05</c:v>
                </c:pt>
                <c:pt idx="1232">
                  <c:v>2025-02-06</c:v>
                </c:pt>
                <c:pt idx="1233">
                  <c:v>2025-02-07</c:v>
                </c:pt>
                <c:pt idx="1234">
                  <c:v>2025-02-10</c:v>
                </c:pt>
                <c:pt idx="1235">
                  <c:v>2025-02-11</c:v>
                </c:pt>
                <c:pt idx="1236">
                  <c:v>2025-02-12</c:v>
                </c:pt>
                <c:pt idx="1237">
                  <c:v>2025-02-13</c:v>
                </c:pt>
                <c:pt idx="1238">
                  <c:v>2025-02-14</c:v>
                </c:pt>
                <c:pt idx="1239">
                  <c:v>2025-02-17</c:v>
                </c:pt>
                <c:pt idx="1240">
                  <c:v>2025-02-18</c:v>
                </c:pt>
                <c:pt idx="1241">
                  <c:v>2025-02-19</c:v>
                </c:pt>
                <c:pt idx="1242">
                  <c:v>2025-02-20</c:v>
                </c:pt>
                <c:pt idx="1243">
                  <c:v>2025-02-21</c:v>
                </c:pt>
                <c:pt idx="1244">
                  <c:v>2025-02-24</c:v>
                </c:pt>
                <c:pt idx="1245">
                  <c:v>2025-02-25</c:v>
                </c:pt>
                <c:pt idx="1246">
                  <c:v>2025-02-26</c:v>
                </c:pt>
                <c:pt idx="1247">
                  <c:v>2025-02-27</c:v>
                </c:pt>
                <c:pt idx="1248">
                  <c:v>2025-02-28</c:v>
                </c:pt>
                <c:pt idx="1249">
                  <c:v>2025-03-03</c:v>
                </c:pt>
                <c:pt idx="1250">
                  <c:v>2025-03-04</c:v>
                </c:pt>
                <c:pt idx="1251">
                  <c:v>2025-03-05</c:v>
                </c:pt>
                <c:pt idx="1252">
                  <c:v>2025-03-06</c:v>
                </c:pt>
                <c:pt idx="1253">
                  <c:v>2025-03-07</c:v>
                </c:pt>
                <c:pt idx="1254">
                  <c:v>2025-03-10</c:v>
                </c:pt>
                <c:pt idx="1255">
                  <c:v>2025-03-11</c:v>
                </c:pt>
                <c:pt idx="1256">
                  <c:v>2025-03-12</c:v>
                </c:pt>
                <c:pt idx="1257">
                  <c:v>2025-03-13</c:v>
                </c:pt>
                <c:pt idx="1258">
                  <c:v>2025-03-14</c:v>
                </c:pt>
                <c:pt idx="1259">
                  <c:v>2025-03-17</c:v>
                </c:pt>
                <c:pt idx="1260">
                  <c:v>2025-03-18</c:v>
                </c:pt>
                <c:pt idx="1261">
                  <c:v>2025-03-19</c:v>
                </c:pt>
                <c:pt idx="1262">
                  <c:v>2025-03-20</c:v>
                </c:pt>
                <c:pt idx="1263">
                  <c:v>2025-03-21</c:v>
                </c:pt>
                <c:pt idx="1264">
                  <c:v>2025-03-24</c:v>
                </c:pt>
                <c:pt idx="1265">
                  <c:v>2025-03-25</c:v>
                </c:pt>
                <c:pt idx="1266">
                  <c:v>2025-03-26</c:v>
                </c:pt>
                <c:pt idx="1267">
                  <c:v>2025-03-27</c:v>
                </c:pt>
                <c:pt idx="1268">
                  <c:v>2025-03-28</c:v>
                </c:pt>
                <c:pt idx="1269">
                  <c:v>2025-03-31</c:v>
                </c:pt>
                <c:pt idx="1270">
                  <c:v>2025-04-01</c:v>
                </c:pt>
                <c:pt idx="1271">
                  <c:v>2025-04-02</c:v>
                </c:pt>
                <c:pt idx="1272">
                  <c:v>2025-04-03</c:v>
                </c:pt>
                <c:pt idx="1273">
                  <c:v>2025-04-07</c:v>
                </c:pt>
                <c:pt idx="1274">
                  <c:v>2025-04-08</c:v>
                </c:pt>
                <c:pt idx="1275">
                  <c:v>2025-04-09</c:v>
                </c:pt>
                <c:pt idx="1276">
                  <c:v>2025-04-10</c:v>
                </c:pt>
                <c:pt idx="1277">
                  <c:v>2025-04-11</c:v>
                </c:pt>
                <c:pt idx="1278">
                  <c:v>2025-04-14</c:v>
                </c:pt>
                <c:pt idx="1279">
                  <c:v>2025-04-15</c:v>
                </c:pt>
                <c:pt idx="1280">
                  <c:v>2025-04-16</c:v>
                </c:pt>
                <c:pt idx="1281">
                  <c:v>2025-04-17</c:v>
                </c:pt>
                <c:pt idx="1282">
                  <c:v>2025-04-18</c:v>
                </c:pt>
                <c:pt idx="1283">
                  <c:v>2025-04-21</c:v>
                </c:pt>
                <c:pt idx="1284">
                  <c:v>2025-04-22</c:v>
                </c:pt>
                <c:pt idx="1285">
                  <c:v>2025-04-23</c:v>
                </c:pt>
                <c:pt idx="1286">
                  <c:v>2025-04-24</c:v>
                </c:pt>
                <c:pt idx="1287">
                  <c:v>2025-04-25</c:v>
                </c:pt>
                <c:pt idx="1288">
                  <c:v>2025-04-28</c:v>
                </c:pt>
                <c:pt idx="1289">
                  <c:v>2025-04-29</c:v>
                </c:pt>
                <c:pt idx="1290">
                  <c:v>2025-04-30</c:v>
                </c:pt>
                <c:pt idx="1291">
                  <c:v>2025-05-06</c:v>
                </c:pt>
                <c:pt idx="1292">
                  <c:v>2025-05-07</c:v>
                </c:pt>
                <c:pt idx="1293">
                  <c:v>2025-05-08</c:v>
                </c:pt>
                <c:pt idx="1294">
                  <c:v>2025-05-09</c:v>
                </c:pt>
                <c:pt idx="1295">
                  <c:v>2025-05-12</c:v>
                </c:pt>
                <c:pt idx="1296">
                  <c:v>2025-05-13</c:v>
                </c:pt>
                <c:pt idx="1297">
                  <c:v>2025-05-14</c:v>
                </c:pt>
                <c:pt idx="1298">
                  <c:v>2025-05-15</c:v>
                </c:pt>
                <c:pt idx="1299">
                  <c:v>2025-05-16</c:v>
                </c:pt>
                <c:pt idx="1300">
                  <c:v>2025-05-19</c:v>
                </c:pt>
                <c:pt idx="1301">
                  <c:v>2025-05-20</c:v>
                </c:pt>
                <c:pt idx="1302">
                  <c:v>2025-05-21</c:v>
                </c:pt>
                <c:pt idx="1303">
                  <c:v>2025-05-22</c:v>
                </c:pt>
                <c:pt idx="1304">
                  <c:v>2025-05-23</c:v>
                </c:pt>
                <c:pt idx="1305">
                  <c:v>2025-05-26</c:v>
                </c:pt>
                <c:pt idx="1306">
                  <c:v>2025-05-27</c:v>
                </c:pt>
                <c:pt idx="1307">
                  <c:v>2025-05-28</c:v>
                </c:pt>
                <c:pt idx="1308">
                  <c:v>2025-05-29</c:v>
                </c:pt>
                <c:pt idx="1309">
                  <c:v>2025-05-30</c:v>
                </c:pt>
                <c:pt idx="1310">
                  <c:v>2025-06-03</c:v>
                </c:pt>
                <c:pt idx="1311">
                  <c:v>2025-06-04</c:v>
                </c:pt>
                <c:pt idx="1312">
                  <c:v>2025-06-05</c:v>
                </c:pt>
                <c:pt idx="1313">
                  <c:v>2025-06-06</c:v>
                </c:pt>
                <c:pt idx="1314">
                  <c:v>2025-06-09</c:v>
                </c:pt>
                <c:pt idx="1315">
                  <c:v>2025-06-10</c:v>
                </c:pt>
                <c:pt idx="1316">
                  <c:v>2025-06-11</c:v>
                </c:pt>
                <c:pt idx="1317">
                  <c:v>2025-06-12</c:v>
                </c:pt>
                <c:pt idx="1318">
                  <c:v>2025-06-13</c:v>
                </c:pt>
                <c:pt idx="1319">
                  <c:v>2025-06-16</c:v>
                </c:pt>
                <c:pt idx="1320">
                  <c:v>2025-06-17</c:v>
                </c:pt>
                <c:pt idx="1321">
                  <c:v>2025-06-18</c:v>
                </c:pt>
                <c:pt idx="1322">
                  <c:v>2025-06-19</c:v>
                </c:pt>
                <c:pt idx="1323">
                  <c:v>2025-06-20</c:v>
                </c:pt>
                <c:pt idx="1324">
                  <c:v>2025-06-23</c:v>
                </c:pt>
                <c:pt idx="1325">
                  <c:v>2025-06-24</c:v>
                </c:pt>
                <c:pt idx="1326">
                  <c:v>2025-06-25</c:v>
                </c:pt>
                <c:pt idx="1327">
                  <c:v>2025-06-26</c:v>
                </c:pt>
                <c:pt idx="1328">
                  <c:v>2025-06-27</c:v>
                </c:pt>
                <c:pt idx="1329">
                  <c:v>2025-06-30</c:v>
                </c:pt>
                <c:pt idx="1330">
                  <c:v>2025-07-01</c:v>
                </c:pt>
                <c:pt idx="1331">
                  <c:v>2025-07-02</c:v>
                </c:pt>
                <c:pt idx="1332">
                  <c:v>2025-07-03</c:v>
                </c:pt>
                <c:pt idx="1333">
                  <c:v>2025-07-04</c:v>
                </c:pt>
                <c:pt idx="1334">
                  <c:v>2025-07-07</c:v>
                </c:pt>
                <c:pt idx="1335">
                  <c:v>2025-07-08</c:v>
                </c:pt>
                <c:pt idx="1336">
                  <c:v>2025-07-09</c:v>
                </c:pt>
                <c:pt idx="1337">
                  <c:v>2025-07-10</c:v>
                </c:pt>
                <c:pt idx="1338">
                  <c:v>2025-07-11</c:v>
                </c:pt>
                <c:pt idx="1339">
                  <c:v>2025-07-14</c:v>
                </c:pt>
                <c:pt idx="1340">
                  <c:v>2025-07-15</c:v>
                </c:pt>
                <c:pt idx="1341">
                  <c:v>2025-07-16</c:v>
                </c:pt>
                <c:pt idx="1342">
                  <c:v>2025-07-17</c:v>
                </c:pt>
                <c:pt idx="1343">
                  <c:v>2025-07-18</c:v>
                </c:pt>
                <c:pt idx="1344">
                  <c:v>2025-07-21</c:v>
                </c:pt>
                <c:pt idx="1345">
                  <c:v>2025-07-22</c:v>
                </c:pt>
                <c:pt idx="1346">
                  <c:v>2025-07-23</c:v>
                </c:pt>
                <c:pt idx="1347">
                  <c:v>2025-07-24</c:v>
                </c:pt>
                <c:pt idx="1348">
                  <c:v>2025-07-25</c:v>
                </c:pt>
                <c:pt idx="1349">
                  <c:v>2025-07-28</c:v>
                </c:pt>
                <c:pt idx="1350">
                  <c:v>2025-07-29</c:v>
                </c:pt>
                <c:pt idx="1351">
                  <c:v>2025-07-30</c:v>
                </c:pt>
                <c:pt idx="1352">
                  <c:v>2025-07-31</c:v>
                </c:pt>
                <c:pt idx="1353">
                  <c:v>2025-08-01</c:v>
                </c:pt>
                <c:pt idx="1354">
                  <c:v>2025-08-04</c:v>
                </c:pt>
                <c:pt idx="1355">
                  <c:v>2025-08-05</c:v>
                </c:pt>
                <c:pt idx="1356">
                  <c:v>2025-08-06</c:v>
                </c:pt>
                <c:pt idx="1357">
                  <c:v>2025-08-07</c:v>
                </c:pt>
                <c:pt idx="1358">
                  <c:v>2025-08-08</c:v>
                </c:pt>
                <c:pt idx="1359">
                  <c:v>2025-08-11</c:v>
                </c:pt>
                <c:pt idx="1360">
                  <c:v>2025-08-12</c:v>
                </c:pt>
                <c:pt idx="1361">
                  <c:v>2025-08-13</c:v>
                </c:pt>
                <c:pt idx="1362">
                  <c:v>2025-08-14</c:v>
                </c:pt>
                <c:pt idx="1363">
                  <c:v>2025-08-15</c:v>
                </c:pt>
                <c:pt idx="1364">
                  <c:v>2025-08-18</c:v>
                </c:pt>
                <c:pt idx="1365">
                  <c:v>2025-08-19</c:v>
                </c:pt>
                <c:pt idx="1366">
                  <c:v>2025-08-20</c:v>
                </c:pt>
                <c:pt idx="1367">
                  <c:v>2025-08-21</c:v>
                </c:pt>
                <c:pt idx="1368">
                  <c:v>2025-08-22</c:v>
                </c:pt>
                <c:pt idx="1369">
                  <c:v>2025-08-25</c:v>
                </c:pt>
                <c:pt idx="1370">
                  <c:v>2025-08-26</c:v>
                </c:pt>
                <c:pt idx="1371">
                  <c:v>2025-08-27</c:v>
                </c:pt>
                <c:pt idx="1372">
                  <c:v>2025-08-28</c:v>
                </c:pt>
                <c:pt idx="1373">
                  <c:v>2025-08-29</c:v>
                </c:pt>
                <c:pt idx="1374">
                  <c:v>2025-09-01</c:v>
                </c:pt>
                <c:pt idx="1375">
                  <c:v>2025-09-02</c:v>
                </c:pt>
                <c:pt idx="1376">
                  <c:v>2025-09-03</c:v>
                </c:pt>
                <c:pt idx="1377">
                  <c:v>2025-09-04</c:v>
                </c:pt>
                <c:pt idx="1378">
                  <c:v>2025-09-05</c:v>
                </c:pt>
                <c:pt idx="1379">
                  <c:v>2025-09-08</c:v>
                </c:pt>
                <c:pt idx="1380">
                  <c:v>2025-09-09</c:v>
                </c:pt>
                <c:pt idx="1381">
                  <c:v>2025-09-10</c:v>
                </c:pt>
                <c:pt idx="1382">
                  <c:v>2025-09-11</c:v>
                </c:pt>
                <c:pt idx="1383">
                  <c:v>2025-09-12</c:v>
                </c:pt>
                <c:pt idx="1384">
                  <c:v>2025-09-15</c:v>
                </c:pt>
                <c:pt idx="1385">
                  <c:v>2025-09-16</c:v>
                </c:pt>
                <c:pt idx="1386">
                  <c:v>2025-09-17</c:v>
                </c:pt>
                <c:pt idx="1387">
                  <c:v>2025-09-18</c:v>
                </c:pt>
                <c:pt idx="1388">
                  <c:v>2025-09-19</c:v>
                </c:pt>
                <c:pt idx="1389">
                  <c:v>2025-09-22</c:v>
                </c:pt>
                <c:pt idx="1390">
                  <c:v>2025-09-23</c:v>
                </c:pt>
                <c:pt idx="1391">
                  <c:v>2025-09-24</c:v>
                </c:pt>
                <c:pt idx="1392">
                  <c:v>2025-09-25</c:v>
                </c:pt>
                <c:pt idx="1393">
                  <c:v>2025-09-26</c:v>
                </c:pt>
                <c:pt idx="1394">
                  <c:v>2025-09-29</c:v>
                </c:pt>
                <c:pt idx="1395">
                  <c:v>2025-09-30</c:v>
                </c:pt>
                <c:pt idx="1396">
                  <c:v>2025-10-09</c:v>
                </c:pt>
                <c:pt idx="1397">
                  <c:v>2025-10-10</c:v>
                </c:pt>
                <c:pt idx="1398">
                  <c:v>2025-10-13</c:v>
                </c:pt>
                <c:pt idx="1399">
                  <c:v>2025-10-14</c:v>
                </c:pt>
                <c:pt idx="1400">
                  <c:v>2025-10-15</c:v>
                </c:pt>
                <c:pt idx="1401">
                  <c:v>2025-10-16</c:v>
                </c:pt>
                <c:pt idx="1402">
                  <c:v>2025-10-17</c:v>
                </c:pt>
                <c:pt idx="1403">
                  <c:v>2025-10-20</c:v>
                </c:pt>
                <c:pt idx="1404">
                  <c:v>2025-10-21</c:v>
                </c:pt>
                <c:pt idx="1405">
                  <c:v>2025-10-22</c:v>
                </c:pt>
                <c:pt idx="1406">
                  <c:v>2025-10-23</c:v>
                </c:pt>
                <c:pt idx="1407">
                  <c:v>2025-10-24</c:v>
                </c:pt>
                <c:pt idx="1408">
                  <c:v>2025-10-27</c:v>
                </c:pt>
                <c:pt idx="1409">
                  <c:v>2025-10-28</c:v>
                </c:pt>
                <c:pt idx="1410">
                  <c:v>2025-10-29</c:v>
                </c:pt>
                <c:pt idx="1411">
                  <c:v>2025-10-30</c:v>
                </c:pt>
                <c:pt idx="1412">
                  <c:v>2025-10-31</c:v>
                </c:pt>
                <c:pt idx="1413">
                  <c:v>2025-11-03</c:v>
                </c:pt>
                <c:pt idx="1414">
                  <c:v>2025-11-04</c:v>
                </c:pt>
                <c:pt idx="1415">
                  <c:v>2025-11-05</c:v>
                </c:pt>
                <c:pt idx="1416">
                  <c:v>2025-11-06</c:v>
                </c:pt>
                <c:pt idx="1417">
                  <c:v>2025-11-07</c:v>
                </c:pt>
                <c:pt idx="1418">
                  <c:v>2025-11-10</c:v>
                </c:pt>
                <c:pt idx="1419">
                  <c:v>2025-11-11</c:v>
                </c:pt>
                <c:pt idx="1420">
                  <c:v>2025-11-12</c:v>
                </c:pt>
                <c:pt idx="1421">
                  <c:v>2025-11-13</c:v>
                </c:pt>
                <c:pt idx="1422">
                  <c:v>2025-11-14</c:v>
                </c:pt>
                <c:pt idx="1423">
                  <c:v>2025-11-17</c:v>
                </c:pt>
                <c:pt idx="1424">
                  <c:v>2025-11-18</c:v>
                </c:pt>
                <c:pt idx="1425">
                  <c:v>2025-11-19</c:v>
                </c:pt>
                <c:pt idx="1426">
                  <c:v>2025-11-20</c:v>
                </c:pt>
                <c:pt idx="1427">
                  <c:v>2025-11-21</c:v>
                </c:pt>
                <c:pt idx="1428">
                  <c:v>2025-11-24</c:v>
                </c:pt>
                <c:pt idx="1429">
                  <c:v>2025-11-25</c:v>
                </c:pt>
                <c:pt idx="1430">
                  <c:v>2025-11-26</c:v>
                </c:pt>
                <c:pt idx="1431">
                  <c:v>2025-11-27</c:v>
                </c:pt>
                <c:pt idx="1432">
                  <c:v>2025-11-28</c:v>
                </c:pt>
                <c:pt idx="1433">
                  <c:v>2025-12-01</c:v>
                </c:pt>
                <c:pt idx="1434">
                  <c:v>2025-12-02</c:v>
                </c:pt>
                <c:pt idx="1435">
                  <c:v>2025-12-03</c:v>
                </c:pt>
                <c:pt idx="1436">
                  <c:v>2025-12-04</c:v>
                </c:pt>
                <c:pt idx="1437">
                  <c:v>2025-12-05</c:v>
                </c:pt>
                <c:pt idx="1438">
                  <c:v>2025-12-08</c:v>
                </c:pt>
                <c:pt idx="1439">
                  <c:v>2025-12-09</c:v>
                </c:pt>
                <c:pt idx="1440">
                  <c:v>2025-12-10</c:v>
                </c:pt>
                <c:pt idx="1441">
                  <c:v>2025-12-11</c:v>
                </c:pt>
                <c:pt idx="1442">
                  <c:v>2025-12-12</c:v>
                </c:pt>
                <c:pt idx="1443">
                  <c:v>2025-12-15</c:v>
                </c:pt>
                <c:pt idx="1444">
                  <c:v>2025-12-16</c:v>
                </c:pt>
                <c:pt idx="1445">
                  <c:v>2025-12-17</c:v>
                </c:pt>
                <c:pt idx="1446">
                  <c:v>2025-12-18</c:v>
                </c:pt>
                <c:pt idx="1447">
                  <c:v>2025-12-19</c:v>
                </c:pt>
                <c:pt idx="1448">
                  <c:v>2025-12-22</c:v>
                </c:pt>
                <c:pt idx="1449">
                  <c:v>2025-12-23</c:v>
                </c:pt>
                <c:pt idx="1450">
                  <c:v>2025-12-24</c:v>
                </c:pt>
                <c:pt idx="1451">
                  <c:v>2025-12-25</c:v>
                </c:pt>
                <c:pt idx="1452">
                  <c:v>2025-12-26</c:v>
                </c:pt>
                <c:pt idx="1453">
                  <c:v>2025-12-29</c:v>
                </c:pt>
                <c:pt idx="1454">
                  <c:v>2025-12-30</c:v>
                </c:pt>
                <c:pt idx="1455">
                  <c:v>2025-12-31</c:v>
                </c:pt>
                <c:pt idx="1456">
                  <c:v>2026-01-05</c:v>
                </c:pt>
                <c:pt idx="1457">
                  <c:v>2026-01-06</c:v>
                </c:pt>
                <c:pt idx="1458">
                  <c:v>2026-01-07</c:v>
                </c:pt>
                <c:pt idx="1459">
                  <c:v>2026-01-08</c:v>
                </c:pt>
                <c:pt idx="1460">
                  <c:v>2026-01-09</c:v>
                </c:pt>
                <c:pt idx="1461">
                  <c:v>2026-01-12</c:v>
                </c:pt>
                <c:pt idx="1462">
                  <c:v>2026-01-13</c:v>
                </c:pt>
                <c:pt idx="1463">
                  <c:v>2026-01-14</c:v>
                </c:pt>
                <c:pt idx="1464">
                  <c:v>2026-01-15</c:v>
                </c:pt>
                <c:pt idx="1465">
                  <c:v>2026-01-16</c:v>
                </c:pt>
                <c:pt idx="1466">
                  <c:v>2026-01-19</c:v>
                </c:pt>
                <c:pt idx="1467">
                  <c:v>2026-01-20</c:v>
                </c:pt>
                <c:pt idx="1468">
                  <c:v>2026-01-21</c:v>
                </c:pt>
                <c:pt idx="1469">
                  <c:v>2026-01-22</c:v>
                </c:pt>
                <c:pt idx="1470">
                  <c:v>2026-01-23</c:v>
                </c:pt>
                <c:pt idx="1471">
                  <c:v>2026-01-26</c:v>
                </c:pt>
                <c:pt idx="1472">
                  <c:v>2026-01-27</c:v>
                </c:pt>
                <c:pt idx="1473">
                  <c:v>2026-01-28</c:v>
                </c:pt>
                <c:pt idx="1474">
                  <c:v>2026-01-29</c:v>
                </c:pt>
                <c:pt idx="1475">
                  <c:v>2026-01-30</c:v>
                </c:pt>
                <c:pt idx="1476">
                  <c:v>2026-02-02</c:v>
                </c:pt>
                <c:pt idx="1477">
                  <c:v>2026-02-03</c:v>
                </c:pt>
                <c:pt idx="1478">
                  <c:v>2026-02-04</c:v>
                </c:pt>
                <c:pt idx="1479">
                  <c:v>2026-02-05</c:v>
                </c:pt>
                <c:pt idx="1480">
                  <c:v>2026-02-06</c:v>
                </c:pt>
                <c:pt idx="1481">
                  <c:v>2026-02-09</c:v>
                </c:pt>
                <c:pt idx="1482">
                  <c:v>2026-02-10</c:v>
                </c:pt>
                <c:pt idx="1483">
                  <c:v>2026-02-11</c:v>
                </c:pt>
                <c:pt idx="1484">
                  <c:v>2026-02-12</c:v>
                </c:pt>
                <c:pt idx="1485">
                  <c:v>2026-02-13</c:v>
                </c:pt>
                <c:pt idx="1486">
                  <c:v>2026-02-24</c:v>
                </c:pt>
                <c:pt idx="1487">
                  <c:v>2026-02-25</c:v>
                </c:pt>
                <c:pt idx="1488">
                  <c:v>2026-02-26</c:v>
                </c:pt>
                <c:pt idx="1489">
                  <c:v>2026-02-27</c:v>
                </c:pt>
                <c:pt idx="1490">
                  <c:v>2026-03-02</c:v>
                </c:pt>
                <c:pt idx="1491">
                  <c:v>2026-03-03</c:v>
                </c:pt>
                <c:pt idx="1492">
                  <c:v>2026-03-04</c:v>
                </c:pt>
                <c:pt idx="1493">
                  <c:v>2026-03-05</c:v>
                </c:pt>
                <c:pt idx="1494">
                  <c:v>2026-03-06</c:v>
                </c:pt>
                <c:pt idx="1495">
                  <c:v>2026-03-09</c:v>
                </c:pt>
                <c:pt idx="1496">
                  <c:v>2026-03-10</c:v>
                </c:pt>
                <c:pt idx="1497">
                  <c:v>2026-03-11</c:v>
                </c:pt>
                <c:pt idx="1498">
                  <c:v>2026-03-12</c:v>
                </c:pt>
                <c:pt idx="1499">
                  <c:v>2026-03-13</c:v>
                </c:pt>
                <c:pt idx="1500">
                  <c:v>2026-03-16</c:v>
                </c:pt>
                <c:pt idx="1501">
                  <c:v>2026-03-17</c:v>
                </c:pt>
                <c:pt idx="1502">
                  <c:v>2026-03-18</c:v>
                </c:pt>
                <c:pt idx="1503">
                  <c:v>2026-03-19</c:v>
                </c:pt>
                <c:pt idx="1504">
                  <c:v>2026-03-20</c:v>
                </c:pt>
                <c:pt idx="1505">
                  <c:v>2026-03-23</c:v>
                </c:pt>
                <c:pt idx="1506">
                  <c:v>2026-03-24</c:v>
                </c:pt>
                <c:pt idx="1507">
                  <c:v>2026-03-25</c:v>
                </c:pt>
                <c:pt idx="1508">
                  <c:v>2026-03-26</c:v>
                </c:pt>
                <c:pt idx="1509">
                  <c:v>2026-03-27</c:v>
                </c:pt>
                <c:pt idx="1510">
                  <c:v>2026-03-30</c:v>
                </c:pt>
                <c:pt idx="1511">
                  <c:v>2026-03-31</c:v>
                </c:pt>
                <c:pt idx="1512">
                  <c:v>2026-04-01</c:v>
                </c:pt>
                <c:pt idx="1513">
                  <c:v>2026-04-02</c:v>
                </c:pt>
                <c:pt idx="1514">
                  <c:v>2026-04-03</c:v>
                </c:pt>
                <c:pt idx="1515">
                  <c:v>2026-04-07</c:v>
                </c:pt>
                <c:pt idx="1516">
                  <c:v>2026-04-08</c:v>
                </c:pt>
                <c:pt idx="1517">
                  <c:v>2026-04-09</c:v>
                </c:pt>
                <c:pt idx="1518">
                  <c:v>2026-04-10</c:v>
                </c:pt>
                <c:pt idx="1519">
                  <c:v>2026-04-13</c:v>
                </c:pt>
                <c:pt idx="1520">
                  <c:v>2026-04-14</c:v>
                </c:pt>
                <c:pt idx="1521">
                  <c:v>2026-04-15</c:v>
                </c:pt>
                <c:pt idx="1522">
                  <c:v>2026-04-16</c:v>
                </c:pt>
                <c:pt idx="1523">
                  <c:v>2026-04-17</c:v>
                </c:pt>
                <c:pt idx="1524">
                  <c:v>2026-04-20</c:v>
                </c:pt>
                <c:pt idx="1525">
                  <c:v>2026-04-21</c:v>
                </c:pt>
                <c:pt idx="1526">
                  <c:v>2026-04-22</c:v>
                </c:pt>
                <c:pt idx="1527">
                  <c:v>2026-04-23</c:v>
                </c:pt>
                <c:pt idx="1528">
                  <c:v>2026-04-24</c:v>
                </c:pt>
                <c:pt idx="1529">
                  <c:v>2026-04-27</c:v>
                </c:pt>
                <c:pt idx="1530">
                  <c:v>2026-04-28</c:v>
                </c:pt>
                <c:pt idx="1531">
                  <c:v>2026-04-29</c:v>
                </c:pt>
                <c:pt idx="1532">
                  <c:v>2026-04-30</c:v>
                </c:pt>
                <c:pt idx="1533">
                  <c:v>2026-05-06</c:v>
                </c:pt>
                <c:pt idx="1534">
                  <c:v>2026-05-07</c:v>
                </c:pt>
                <c:pt idx="1535">
                  <c:v>2026-05-08</c:v>
                </c:pt>
                <c:pt idx="1536">
                  <c:v>2026-05-11</c:v>
                </c:pt>
                <c:pt idx="1537">
                  <c:v>2026-05-12</c:v>
                </c:pt>
                <c:pt idx="1538">
                  <c:v>2026-05-13</c:v>
                </c:pt>
                <c:pt idx="1539">
                  <c:v>2026-05-14</c:v>
                </c:pt>
                <c:pt idx="1540">
                  <c:v>2026-05-15</c:v>
                </c:pt>
                <c:pt idx="1541">
                  <c:v>2026-05-18</c:v>
                </c:pt>
                <c:pt idx="1542">
                  <c:v>2026-05-19</c:v>
                </c:pt>
                <c:pt idx="1543">
                  <c:v>2026-05-20</c:v>
                </c:pt>
                <c:pt idx="1544">
                  <c:v>2026-05-21</c:v>
                </c:pt>
                <c:pt idx="1545">
                  <c:v>2026-05-22</c:v>
                </c:pt>
                <c:pt idx="1546">
                  <c:v>2026-05-25</c:v>
                </c:pt>
                <c:pt idx="1547">
                  <c:v>2026-05-26</c:v>
                </c:pt>
                <c:pt idx="1548">
                  <c:v>2026-05-27</c:v>
                </c:pt>
                <c:pt idx="1549">
                  <c:v>2026-05-28</c:v>
                </c:pt>
                <c:pt idx="1550">
                  <c:v>2026-05-29</c:v>
                </c:pt>
              </c:strCache>
            </c:strRef>
          </c:cat>
          <c:val>
            <c:numRef>
              <c:f>结果页!$D$2:$D$1552</c:f>
              <c:numCache>
                <c:formatCode>General</c:formatCode>
                <c:ptCount val="1551"/>
                <c:pt idx="0">
                  <c:v>1</c:v>
                </c:pt>
                <c:pt idx="1">
                  <c:v>1.0255810904834934</c:v>
                </c:pt>
                <c:pt idx="2">
                  <c:v>1.029998606922192</c:v>
                </c:pt>
                <c:pt idx="3">
                  <c:v>1.0380841576355397</c:v>
                </c:pt>
                <c:pt idx="4">
                  <c:v>1.04446446059131</c:v>
                </c:pt>
                <c:pt idx="5">
                  <c:v>1.029956452456992</c:v>
                </c:pt>
                <c:pt idx="6">
                  <c:v>1.0578961962777025</c:v>
                </c:pt>
                <c:pt idx="7">
                  <c:v>1.0629978771925339</c:v>
                </c:pt>
                <c:pt idx="8">
                  <c:v>1.0938939529747698</c:v>
                </c:pt>
                <c:pt idx="9">
                  <c:v>1.0917521998851547</c:v>
                </c:pt>
                <c:pt idx="10">
                  <c:v>1.0981376434955405</c:v>
                </c:pt>
                <c:pt idx="11">
                  <c:v>1.1074446908078137</c:v>
                </c:pt>
                <c:pt idx="12">
                  <c:v>1.1195270041853553</c:v>
                </c:pt>
                <c:pt idx="13">
                  <c:v>1.1518049752136013</c:v>
                </c:pt>
                <c:pt idx="14">
                  <c:v>1.141625852932266</c:v>
                </c:pt>
                <c:pt idx="15">
                  <c:v>1.178896050576105</c:v>
                </c:pt>
                <c:pt idx="16">
                  <c:v>1.1402750837545441</c:v>
                </c:pt>
                <c:pt idx="17">
                  <c:v>1.0413355926947487</c:v>
                </c:pt>
                <c:pt idx="18">
                  <c:v>1.0920727209360603</c:v>
                </c:pt>
                <c:pt idx="19">
                  <c:v>1.1148633439694517</c:v>
                </c:pt>
                <c:pt idx="20">
                  <c:v>1.1506407010912685</c:v>
                </c:pt>
                <c:pt idx="21">
                  <c:v>1.1761432877890043</c:v>
                </c:pt>
                <c:pt idx="22">
                  <c:v>1.1783368795051796</c:v>
                </c:pt>
                <c:pt idx="23">
                  <c:v>1.1769836993162848</c:v>
                </c:pt>
                <c:pt idx="24">
                  <c:v>1.2090257954640682</c:v>
                </c:pt>
                <c:pt idx="25">
                  <c:v>1.2107448184326297</c:v>
                </c:pt>
                <c:pt idx="26">
                  <c:v>1.2114647065416841</c:v>
                </c:pt>
                <c:pt idx="27">
                  <c:v>1.2573605691555891</c:v>
                </c:pt>
                <c:pt idx="28">
                  <c:v>1.2809468069042049</c:v>
                </c:pt>
                <c:pt idx="29">
                  <c:v>1.265729488283013</c:v>
                </c:pt>
                <c:pt idx="30">
                  <c:v>1.2888568424918125</c:v>
                </c:pt>
                <c:pt idx="31">
                  <c:v>1.3126453059704626</c:v>
                </c:pt>
                <c:pt idx="32">
                  <c:v>1.3579553011551375</c:v>
                </c:pt>
                <c:pt idx="33">
                  <c:v>1.3828287854883898</c:v>
                </c:pt>
                <c:pt idx="34">
                  <c:v>1.3022172907438649</c:v>
                </c:pt>
                <c:pt idx="35">
                  <c:v>1.2897103546275912</c:v>
                </c:pt>
                <c:pt idx="36">
                  <c:v>1.2221023325240488</c:v>
                </c:pt>
                <c:pt idx="37">
                  <c:v>1.2633622492979075</c:v>
                </c:pt>
                <c:pt idx="38">
                  <c:v>1.2740843666880788</c:v>
                </c:pt>
                <c:pt idx="39">
                  <c:v>1.2495745711167949</c:v>
                </c:pt>
                <c:pt idx="40">
                  <c:v>1.2585099342936874</c:v>
                </c:pt>
                <c:pt idx="41">
                  <c:v>1.2448100315915813</c:v>
                </c:pt>
                <c:pt idx="42">
                  <c:v>1.1817325957458213</c:v>
                </c:pt>
                <c:pt idx="43">
                  <c:v>1.2352568967626638</c:v>
                </c:pt>
                <c:pt idx="44">
                  <c:v>1.2039478547219886</c:v>
                </c:pt>
                <c:pt idx="45">
                  <c:v>1.1888518228592475</c:v>
                </c:pt>
                <c:pt idx="46">
                  <c:v>1.1921029461687762</c:v>
                </c:pt>
                <c:pt idx="47">
                  <c:v>1.122030837524695</c:v>
                </c:pt>
                <c:pt idx="48">
                  <c:v>1.1268105717567627</c:v>
                </c:pt>
                <c:pt idx="49">
                  <c:v>1.1086114681417287</c:v>
                </c:pt>
                <c:pt idx="50">
                  <c:v>1.1335351377908462</c:v>
                </c:pt>
                <c:pt idx="51">
                  <c:v>1.1349585637918076</c:v>
                </c:pt>
                <c:pt idx="52">
                  <c:v>1.0711852743274526</c:v>
                </c:pt>
                <c:pt idx="53">
                  <c:v>1.0839409693839546</c:v>
                </c:pt>
                <c:pt idx="54">
                  <c:v>1.1173691121178502</c:v>
                </c:pt>
                <c:pt idx="55">
                  <c:v>1.1006193208486779</c:v>
                </c:pt>
                <c:pt idx="56">
                  <c:v>1.0872976371767764</c:v>
                </c:pt>
                <c:pt idx="57">
                  <c:v>1.0552435920612577</c:v>
                </c:pt>
                <c:pt idx="58">
                  <c:v>1.0525412950543469</c:v>
                </c:pt>
                <c:pt idx="59">
                  <c:v>1.0572077519750573</c:v>
                </c:pt>
                <c:pt idx="60">
                  <c:v>1.1044551359754633</c:v>
                </c:pt>
                <c:pt idx="61">
                  <c:v>1.0912326466546358</c:v>
                </c:pt>
                <c:pt idx="62">
                  <c:v>1.1209436170436264</c:v>
                </c:pt>
                <c:pt idx="63">
                  <c:v>1.1248474400452413</c:v>
                </c:pt>
                <c:pt idx="64">
                  <c:v>1.1257392111142357</c:v>
                </c:pt>
                <c:pt idx="65">
                  <c:v>1.0890915597969886</c:v>
                </c:pt>
                <c:pt idx="66">
                  <c:v>1.0700910062766882</c:v>
                </c:pt>
                <c:pt idx="67">
                  <c:v>1.1026406883327413</c:v>
                </c:pt>
                <c:pt idx="68">
                  <c:v>1.1061450696492612</c:v>
                </c:pt>
                <c:pt idx="69">
                  <c:v>1.1168921978649644</c:v>
                </c:pt>
                <c:pt idx="70">
                  <c:v>1.1321005803611832</c:v>
                </c:pt>
                <c:pt idx="71">
                  <c:v>1.1460794323273049</c:v>
                </c:pt>
                <c:pt idx="72">
                  <c:v>1.1357177402321996</c:v>
                </c:pt>
                <c:pt idx="73">
                  <c:v>1.1445714537419576</c:v>
                </c:pt>
                <c:pt idx="74">
                  <c:v>1.131671623940693</c:v>
                </c:pt>
                <c:pt idx="75">
                  <c:v>1.1169462445751335</c:v>
                </c:pt>
                <c:pt idx="76">
                  <c:v>1.1196743427884783</c:v>
                </c:pt>
                <c:pt idx="77">
                  <c:v>1.1310583831032763</c:v>
                </c:pt>
                <c:pt idx="78">
                  <c:v>1.1303621723836104</c:v>
                </c:pt>
                <c:pt idx="79">
                  <c:v>1.1756345181991661</c:v>
                </c:pt>
                <c:pt idx="80">
                  <c:v>1.2163289087787037</c:v>
                </c:pt>
                <c:pt idx="81">
                  <c:v>1.2067833042030571</c:v>
                </c:pt>
                <c:pt idx="82">
                  <c:v>1.2169519783502736</c:v>
                </c:pt>
                <c:pt idx="83">
                  <c:v>1.2115113333588625</c:v>
                </c:pt>
                <c:pt idx="84">
                  <c:v>1.2197458036289404</c:v>
                </c:pt>
                <c:pt idx="85">
                  <c:v>1.2268421575190818</c:v>
                </c:pt>
                <c:pt idx="86">
                  <c:v>1.2202523158439602</c:v>
                </c:pt>
                <c:pt idx="87">
                  <c:v>1.2352916849344611</c:v>
                </c:pt>
                <c:pt idx="88">
                  <c:v>1.2049003574319175</c:v>
                </c:pt>
                <c:pt idx="89">
                  <c:v>1.2412692890203703</c:v>
                </c:pt>
                <c:pt idx="90">
                  <c:v>1.2219565673040931</c:v>
                </c:pt>
                <c:pt idx="91">
                  <c:v>1.1906114968425854</c:v>
                </c:pt>
                <c:pt idx="92">
                  <c:v>1.1691002089776426</c:v>
                </c:pt>
                <c:pt idx="93">
                  <c:v>1.1575093369794351</c:v>
                </c:pt>
                <c:pt idx="94">
                  <c:v>1.1928434812985054</c:v>
                </c:pt>
                <c:pt idx="95">
                  <c:v>1.173760906476506</c:v>
                </c:pt>
                <c:pt idx="96">
                  <c:v>1.1649206396571299</c:v>
                </c:pt>
                <c:pt idx="97">
                  <c:v>1.1719487154177328</c:v>
                </c:pt>
                <c:pt idx="98">
                  <c:v>1.2226139643985507</c:v>
                </c:pt>
                <c:pt idx="99">
                  <c:v>1.2281122221317031</c:v>
                </c:pt>
                <c:pt idx="100">
                  <c:v>1.230560363794416</c:v>
                </c:pt>
                <c:pt idx="101">
                  <c:v>1.2278357893565777</c:v>
                </c:pt>
                <c:pt idx="102">
                  <c:v>1.2352199084425197</c:v>
                </c:pt>
                <c:pt idx="103">
                  <c:v>1.2301277501813053</c:v>
                </c:pt>
                <c:pt idx="104">
                  <c:v>1.239429151904955</c:v>
                </c:pt>
                <c:pt idx="105">
                  <c:v>1.2408856896305922</c:v>
                </c:pt>
                <c:pt idx="106">
                  <c:v>1.2412530978423206</c:v>
                </c:pt>
                <c:pt idx="107">
                  <c:v>1.2386753897432787</c:v>
                </c:pt>
                <c:pt idx="108">
                  <c:v>1.2244166974401349</c:v>
                </c:pt>
                <c:pt idx="109">
                  <c:v>1.2529235899487414</c:v>
                </c:pt>
                <c:pt idx="110">
                  <c:v>1.2510276515008574</c:v>
                </c:pt>
                <c:pt idx="111">
                  <c:v>1.2714542305453862</c:v>
                </c:pt>
                <c:pt idx="112">
                  <c:v>1.2903160389025472</c:v>
                </c:pt>
                <c:pt idx="113">
                  <c:v>1.3170945994157934</c:v>
                </c:pt>
                <c:pt idx="114">
                  <c:v>1.3334107929356946</c:v>
                </c:pt>
                <c:pt idx="115">
                  <c:v>1.3427413854417436</c:v>
                </c:pt>
                <c:pt idx="116">
                  <c:v>1.3302153773581695</c:v>
                </c:pt>
                <c:pt idx="117">
                  <c:v>1.3686604436805423</c:v>
                </c:pt>
                <c:pt idx="118">
                  <c:v>1.3650242254856058</c:v>
                </c:pt>
                <c:pt idx="119">
                  <c:v>1.373302809730053</c:v>
                </c:pt>
                <c:pt idx="120">
                  <c:v>1.3820310999681225</c:v>
                </c:pt>
                <c:pt idx="121">
                  <c:v>1.4495510771853974</c:v>
                </c:pt>
                <c:pt idx="122">
                  <c:v>1.4825558272991599</c:v>
                </c:pt>
                <c:pt idx="123">
                  <c:v>1.5219570377351626</c:v>
                </c:pt>
                <c:pt idx="124">
                  <c:v>1.5700407298324637</c:v>
                </c:pt>
                <c:pt idx="125">
                  <c:v>1.5707412546939412</c:v>
                </c:pt>
                <c:pt idx="126">
                  <c:v>1.6310594860793726</c:v>
                </c:pt>
                <c:pt idx="127">
                  <c:v>1.6078150969266087</c:v>
                </c:pt>
                <c:pt idx="128">
                  <c:v>1.5442922348485713</c:v>
                </c:pt>
                <c:pt idx="129">
                  <c:v>1.4450547446705513</c:v>
                </c:pt>
                <c:pt idx="130">
                  <c:v>1.4481203460355125</c:v>
                </c:pt>
                <c:pt idx="131">
                  <c:v>1.4776873541306399</c:v>
                </c:pt>
                <c:pt idx="132">
                  <c:v>1.4904519951982025</c:v>
                </c:pt>
                <c:pt idx="133">
                  <c:v>1.5066073222146688</c:v>
                </c:pt>
                <c:pt idx="134">
                  <c:v>1.5104128403103538</c:v>
                </c:pt>
                <c:pt idx="135">
                  <c:v>1.4185496621737463</c:v>
                </c:pt>
                <c:pt idx="136">
                  <c:v>1.4196454777663392</c:v>
                </c:pt>
                <c:pt idx="137">
                  <c:v>1.4366542838411429</c:v>
                </c:pt>
                <c:pt idx="138">
                  <c:v>1.4972032221330724</c:v>
                </c:pt>
                <c:pt idx="139">
                  <c:v>1.4850713485530738</c:v>
                </c:pt>
                <c:pt idx="140">
                  <c:v>1.5233631430649064</c:v>
                </c:pt>
                <c:pt idx="141">
                  <c:v>1.5816558483571561</c:v>
                </c:pt>
                <c:pt idx="142">
                  <c:v>1.5503981155004163</c:v>
                </c:pt>
                <c:pt idx="143">
                  <c:v>1.5666065021159739</c:v>
                </c:pt>
                <c:pt idx="144">
                  <c:v>1.5549114660459038</c:v>
                </c:pt>
                <c:pt idx="145">
                  <c:v>1.5160078758699376</c:v>
                </c:pt>
                <c:pt idx="146">
                  <c:v>1.5083053934908062</c:v>
                </c:pt>
                <c:pt idx="147">
                  <c:v>1.4780761986516961</c:v>
                </c:pt>
                <c:pt idx="148">
                  <c:v>1.4642113935325849</c:v>
                </c:pt>
                <c:pt idx="149">
                  <c:v>1.4577995199090388</c:v>
                </c:pt>
                <c:pt idx="150">
                  <c:v>1.4794221704786037</c:v>
                </c:pt>
                <c:pt idx="151">
                  <c:v>1.4991248396194188</c:v>
                </c:pt>
                <c:pt idx="152">
                  <c:v>1.4970995276846675</c:v>
                </c:pt>
                <c:pt idx="153">
                  <c:v>1.4500999426938126</c:v>
                </c:pt>
                <c:pt idx="154">
                  <c:v>1.437407818410845</c:v>
                </c:pt>
                <c:pt idx="155">
                  <c:v>1.4533152489622037</c:v>
                </c:pt>
                <c:pt idx="156">
                  <c:v>1.4836198987516949</c:v>
                </c:pt>
                <c:pt idx="157">
                  <c:v>1.4804940839479399</c:v>
                </c:pt>
                <c:pt idx="158">
                  <c:v>1.4387959432995538</c:v>
                </c:pt>
                <c:pt idx="159">
                  <c:v>1.4637284167408962</c:v>
                </c:pt>
                <c:pt idx="160">
                  <c:v>1.480296063284765</c:v>
                </c:pt>
                <c:pt idx="161">
                  <c:v>1.4701928115477287</c:v>
                </c:pt>
                <c:pt idx="162">
                  <c:v>1.4828259207652725</c:v>
                </c:pt>
                <c:pt idx="163">
                  <c:v>1.4863112999124826</c:v>
                </c:pt>
                <c:pt idx="164">
                  <c:v>1.4702082910098975</c:v>
                </c:pt>
                <c:pt idx="165">
                  <c:v>1.4647759275689824</c:v>
                </c:pt>
                <c:pt idx="166">
                  <c:v>1.4221159900213387</c:v>
                </c:pt>
                <c:pt idx="167">
                  <c:v>1.4147325471333674</c:v>
                </c:pt>
                <c:pt idx="168">
                  <c:v>1.3595422000591624</c:v>
                </c:pt>
                <c:pt idx="169">
                  <c:v>1.3416709862464846</c:v>
                </c:pt>
                <c:pt idx="170">
                  <c:v>1.3775909457955853</c:v>
                </c:pt>
                <c:pt idx="171">
                  <c:v>1.4024762078687871</c:v>
                </c:pt>
                <c:pt idx="172">
                  <c:v>1.411600370114839</c:v>
                </c:pt>
                <c:pt idx="173">
                  <c:v>1.3953903766718099</c:v>
                </c:pt>
                <c:pt idx="174">
                  <c:v>1.4114784384585628</c:v>
                </c:pt>
                <c:pt idx="175">
                  <c:v>1.4308635852649392</c:v>
                </c:pt>
                <c:pt idx="176">
                  <c:v>1.4205179042670761</c:v>
                </c:pt>
                <c:pt idx="177">
                  <c:v>1.4068789783504825</c:v>
                </c:pt>
                <c:pt idx="178">
                  <c:v>1.4276093766086539</c:v>
                </c:pt>
                <c:pt idx="179">
                  <c:v>1.3941760077565402</c:v>
                </c:pt>
                <c:pt idx="180">
                  <c:v>1.3896190706848157</c:v>
                </c:pt>
                <c:pt idx="181">
                  <c:v>1.3802173563324747</c:v>
                </c:pt>
                <c:pt idx="182">
                  <c:v>1.4054000736069256</c:v>
                </c:pt>
                <c:pt idx="183">
                  <c:v>1.4124099915615225</c:v>
                </c:pt>
                <c:pt idx="184">
                  <c:v>1.4659841853037436</c:v>
                </c:pt>
                <c:pt idx="185">
                  <c:v>1.5098437836308511</c:v>
                </c:pt>
                <c:pt idx="186">
                  <c:v>1.5167489724234429</c:v>
                </c:pt>
                <c:pt idx="187">
                  <c:v>1.5006156845257115</c:v>
                </c:pt>
                <c:pt idx="188">
                  <c:v>1.4848703198669315</c:v>
                </c:pt>
                <c:pt idx="189">
                  <c:v>1.4702127450690354</c:v>
                </c:pt>
                <c:pt idx="190">
                  <c:v>1.4559546954518339</c:v>
                </c:pt>
                <c:pt idx="191">
                  <c:v>1.4748349461981054</c:v>
                </c:pt>
                <c:pt idx="192">
                  <c:v>1.4451912990337572</c:v>
                </c:pt>
                <c:pt idx="193">
                  <c:v>1.4317174479222481</c:v>
                </c:pt>
                <c:pt idx="194">
                  <c:v>1.3960784094747378</c:v>
                </c:pt>
                <c:pt idx="195">
                  <c:v>1.4095834225683064</c:v>
                </c:pt>
                <c:pt idx="196">
                  <c:v>1.4300944078438671</c:v>
                </c:pt>
                <c:pt idx="197">
                  <c:v>1.4488614314583701</c:v>
                </c:pt>
                <c:pt idx="198">
                  <c:v>1.446377264598667</c:v>
                </c:pt>
                <c:pt idx="199">
                  <c:v>1.4259538513032441</c:v>
                </c:pt>
                <c:pt idx="200">
                  <c:v>1.4452283635885472</c:v>
                </c:pt>
                <c:pt idx="201">
                  <c:v>1.4676106934845183</c:v>
                </c:pt>
                <c:pt idx="202">
                  <c:v>1.4699011060862248</c:v>
                </c:pt>
                <c:pt idx="203">
                  <c:v>1.5016625113623154</c:v>
                </c:pt>
                <c:pt idx="204">
                  <c:v>1.4916406800032538</c:v>
                </c:pt>
                <c:pt idx="205">
                  <c:v>1.5469605519304681</c:v>
                </c:pt>
                <c:pt idx="206">
                  <c:v>1.517298793353711</c:v>
                </c:pt>
                <c:pt idx="207">
                  <c:v>1.4657458111371602</c:v>
                </c:pt>
                <c:pt idx="208">
                  <c:v>1.473582792368644</c:v>
                </c:pt>
                <c:pt idx="209">
                  <c:v>1.4750524883570952</c:v>
                </c:pt>
                <c:pt idx="210">
                  <c:v>1.4727606496056898</c:v>
                </c:pt>
                <c:pt idx="211">
                  <c:v>1.456633857559029</c:v>
                </c:pt>
                <c:pt idx="212">
                  <c:v>1.445397399858356</c:v>
                </c:pt>
                <c:pt idx="213">
                  <c:v>1.4564957361699953</c:v>
                </c:pt>
                <c:pt idx="214">
                  <c:v>1.4628904287389082</c:v>
                </c:pt>
                <c:pt idx="215">
                  <c:v>1.4672698288650405</c:v>
                </c:pt>
                <c:pt idx="216">
                  <c:v>1.4680040238851431</c:v>
                </c:pt>
                <c:pt idx="217">
                  <c:v>1.4473168080498455</c:v>
                </c:pt>
                <c:pt idx="218">
                  <c:v>1.4397857220074415</c:v>
                </c:pt>
                <c:pt idx="219">
                  <c:v>1.4480186729587576</c:v>
                </c:pt>
                <c:pt idx="220">
                  <c:v>1.4553616542389776</c:v>
                </c:pt>
                <c:pt idx="221">
                  <c:v>1.4789398625704213</c:v>
                </c:pt>
                <c:pt idx="222">
                  <c:v>1.4828993171502622</c:v>
                </c:pt>
                <c:pt idx="223">
                  <c:v>1.4771826975803317</c:v>
                </c:pt>
                <c:pt idx="224">
                  <c:v>1.4842124619180896</c:v>
                </c:pt>
                <c:pt idx="225">
                  <c:v>1.4891946337384154</c:v>
                </c:pt>
                <c:pt idx="226">
                  <c:v>1.4935851882556677</c:v>
                </c:pt>
                <c:pt idx="227">
                  <c:v>1.4651026995759238</c:v>
                </c:pt>
                <c:pt idx="228">
                  <c:v>1.4710652907523429</c:v>
                </c:pt>
                <c:pt idx="229">
                  <c:v>1.4538372569418243</c:v>
                </c:pt>
                <c:pt idx="230">
                  <c:v>1.4671416217407447</c:v>
                </c:pt>
                <c:pt idx="231">
                  <c:v>1.4720268060396424</c:v>
                </c:pt>
                <c:pt idx="232">
                  <c:v>1.4608071652490171</c:v>
                </c:pt>
                <c:pt idx="233">
                  <c:v>1.4688748340448261</c:v>
                </c:pt>
                <c:pt idx="234">
                  <c:v>1.4711839132989186</c:v>
                </c:pt>
                <c:pt idx="235">
                  <c:v>1.5090916924133708</c:v>
                </c:pt>
                <c:pt idx="236">
                  <c:v>1.4711987856118154</c:v>
                </c:pt>
                <c:pt idx="237">
                  <c:v>1.4960419158828362</c:v>
                </c:pt>
                <c:pt idx="238">
                  <c:v>1.482176872855548</c:v>
                </c:pt>
                <c:pt idx="239">
                  <c:v>1.4937496104387971</c:v>
                </c:pt>
                <c:pt idx="240">
                  <c:v>1.4827261920948362</c:v>
                </c:pt>
                <c:pt idx="241">
                  <c:v>1.4775055960748618</c:v>
                </c:pt>
                <c:pt idx="242">
                  <c:v>1.5011856112556456</c:v>
                </c:pt>
                <c:pt idx="243">
                  <c:v>1.531465642028375</c:v>
                </c:pt>
                <c:pt idx="244">
                  <c:v>1.5731526433180791</c:v>
                </c:pt>
                <c:pt idx="245">
                  <c:v>1.5980880059885989</c:v>
                </c:pt>
                <c:pt idx="246">
                  <c:v>1.5893458004145633</c:v>
                </c:pt>
                <c:pt idx="247">
                  <c:v>1.5988300317381992</c:v>
                </c:pt>
                <c:pt idx="248">
                  <c:v>1.5927150819089138</c:v>
                </c:pt>
                <c:pt idx="249">
                  <c:v>1.589414387975379</c:v>
                </c:pt>
                <c:pt idx="250">
                  <c:v>1.6293934144410387</c:v>
                </c:pt>
                <c:pt idx="251">
                  <c:v>1.6282367822045145</c:v>
                </c:pt>
                <c:pt idx="252">
                  <c:v>1.6199497520663564</c:v>
                </c:pt>
                <c:pt idx="253">
                  <c:v>1.6142821404201202</c:v>
                </c:pt>
                <c:pt idx="254">
                  <c:v>1.6683411283221012</c:v>
                </c:pt>
                <c:pt idx="255">
                  <c:v>1.6376018386691682</c:v>
                </c:pt>
                <c:pt idx="256">
                  <c:v>1.6733819999171282</c:v>
                </c:pt>
                <c:pt idx="257">
                  <c:v>1.6942834785372178</c:v>
                </c:pt>
                <c:pt idx="258">
                  <c:v>1.6994310187630495</c:v>
                </c:pt>
                <c:pt idx="259">
                  <c:v>1.6994338608333246</c:v>
                </c:pt>
                <c:pt idx="260">
                  <c:v>1.6572793224590516</c:v>
                </c:pt>
                <c:pt idx="261">
                  <c:v>1.663905528907095</c:v>
                </c:pt>
                <c:pt idx="262">
                  <c:v>1.6007853611395253</c:v>
                </c:pt>
                <c:pt idx="263">
                  <c:v>1.5863507398243137</c:v>
                </c:pt>
                <c:pt idx="264">
                  <c:v>1.6033436186203287</c:v>
                </c:pt>
                <c:pt idx="265">
                  <c:v>1.6295124020820151</c:v>
                </c:pt>
                <c:pt idx="266">
                  <c:v>1.6048222875255962</c:v>
                </c:pt>
                <c:pt idx="267">
                  <c:v>1.5839890516073414</c:v>
                </c:pt>
                <c:pt idx="268">
                  <c:v>1.5542402356102063</c:v>
                </c:pt>
                <c:pt idx="269">
                  <c:v>1.5883642966570477</c:v>
                </c:pt>
                <c:pt idx="270">
                  <c:v>1.6306839720301651</c:v>
                </c:pt>
                <c:pt idx="271">
                  <c:v>1.6535520645394266</c:v>
                </c:pt>
                <c:pt idx="272">
                  <c:v>1.656494846725757</c:v>
                </c:pt>
                <c:pt idx="273">
                  <c:v>1.6442312845971057</c:v>
                </c:pt>
                <c:pt idx="274">
                  <c:v>1.6111971875570352</c:v>
                </c:pt>
                <c:pt idx="275">
                  <c:v>1.5982549304637166</c:v>
                </c:pt>
                <c:pt idx="276">
                  <c:v>1.5617309369623427</c:v>
                </c:pt>
                <c:pt idx="277">
                  <c:v>1.5504801517590496</c:v>
                </c:pt>
                <c:pt idx="278">
                  <c:v>1.5146998097228761</c:v>
                </c:pt>
                <c:pt idx="279">
                  <c:v>1.5611262937821202</c:v>
                </c:pt>
                <c:pt idx="280">
                  <c:v>1.549869088947363</c:v>
                </c:pt>
                <c:pt idx="281">
                  <c:v>1.5636491432537256</c:v>
                </c:pt>
                <c:pt idx="282">
                  <c:v>1.5042261153357752</c:v>
                </c:pt>
                <c:pt idx="283">
                  <c:v>1.5044515681507127</c:v>
                </c:pt>
                <c:pt idx="284">
                  <c:v>1.4471719873046867</c:v>
                </c:pt>
                <c:pt idx="285">
                  <c:v>1.4011410542767375</c:v>
                </c:pt>
                <c:pt idx="286">
                  <c:v>1.4085433832795362</c:v>
                </c:pt>
                <c:pt idx="287">
                  <c:v>1.4415811433336376</c:v>
                </c:pt>
                <c:pt idx="288">
                  <c:v>1.4382305474546138</c:v>
                </c:pt>
                <c:pt idx="289">
                  <c:v>1.3983055210181887</c:v>
                </c:pt>
                <c:pt idx="290">
                  <c:v>1.4010853621027175</c:v>
                </c:pt>
                <c:pt idx="291">
                  <c:v>1.4207556373125576</c:v>
                </c:pt>
                <c:pt idx="292">
                  <c:v>1.4333813165495126</c:v>
                </c:pt>
                <c:pt idx="293">
                  <c:v>1.4024131700666014</c:v>
                </c:pt>
                <c:pt idx="294">
                  <c:v>1.4133678781594337</c:v>
                </c:pt>
                <c:pt idx="295">
                  <c:v>1.3940500637526001</c:v>
                </c:pt>
                <c:pt idx="296">
                  <c:v>1.3645171244743313</c:v>
                </c:pt>
                <c:pt idx="297">
                  <c:v>1.3692586851809239</c:v>
                </c:pt>
                <c:pt idx="298">
                  <c:v>1.407140078438905</c:v>
                </c:pt>
                <c:pt idx="299">
                  <c:v>1.4085091240685026</c:v>
                </c:pt>
                <c:pt idx="300">
                  <c:v>1.4166711637847724</c:v>
                </c:pt>
                <c:pt idx="301">
                  <c:v>1.4101021266038312</c:v>
                </c:pt>
                <c:pt idx="302">
                  <c:v>1.4360670983161725</c:v>
                </c:pt>
                <c:pt idx="303">
                  <c:v>1.4628471966155301</c:v>
                </c:pt>
                <c:pt idx="304">
                  <c:v>1.4624538335744863</c:v>
                </c:pt>
                <c:pt idx="305">
                  <c:v>1.4622171954581462</c:v>
                </c:pt>
                <c:pt idx="306">
                  <c:v>1.4632284593611913</c:v>
                </c:pt>
                <c:pt idx="307">
                  <c:v>1.4445561178927713</c:v>
                </c:pt>
                <c:pt idx="308">
                  <c:v>1.4099235278300388</c:v>
                </c:pt>
                <c:pt idx="309">
                  <c:v>1.410636042153135</c:v>
                </c:pt>
                <c:pt idx="310">
                  <c:v>1.4326082538116611</c:v>
                </c:pt>
                <c:pt idx="311">
                  <c:v>1.4314789484115926</c:v>
                </c:pt>
                <c:pt idx="312">
                  <c:v>1.4329637779620437</c:v>
                </c:pt>
                <c:pt idx="313">
                  <c:v>1.4733859945627275</c:v>
                </c:pt>
                <c:pt idx="314">
                  <c:v>1.4665849990347026</c:v>
                </c:pt>
                <c:pt idx="315">
                  <c:v>1.4663923458460562</c:v>
                </c:pt>
                <c:pt idx="316">
                  <c:v>1.4825322535731837</c:v>
                </c:pt>
                <c:pt idx="317">
                  <c:v>1.4933407352000136</c:v>
                </c:pt>
                <c:pt idx="318">
                  <c:v>1.4892467594777474</c:v>
                </c:pt>
                <c:pt idx="319">
                  <c:v>1.4877118852326825</c:v>
                </c:pt>
                <c:pt idx="320">
                  <c:v>1.506152104636765</c:v>
                </c:pt>
                <c:pt idx="321">
                  <c:v>1.5100339545775374</c:v>
                </c:pt>
                <c:pt idx="322">
                  <c:v>1.5126011104644936</c:v>
                </c:pt>
                <c:pt idx="323">
                  <c:v>1.4998543047068926</c:v>
                </c:pt>
                <c:pt idx="324">
                  <c:v>1.4553938430274538</c:v>
                </c:pt>
                <c:pt idx="325">
                  <c:v>1.4543609807216851</c:v>
                </c:pt>
                <c:pt idx="326">
                  <c:v>1.4467870725116811</c:v>
                </c:pt>
                <c:pt idx="327">
                  <c:v>1.4619593238844026</c:v>
                </c:pt>
                <c:pt idx="328">
                  <c:v>1.44907716010819</c:v>
                </c:pt>
                <c:pt idx="329">
                  <c:v>1.4768466320896674</c:v>
                </c:pt>
                <c:pt idx="330">
                  <c:v>1.5081389936605087</c:v>
                </c:pt>
                <c:pt idx="331">
                  <c:v>1.5080113349614024</c:v>
                </c:pt>
                <c:pt idx="332">
                  <c:v>1.5176264368980188</c:v>
                </c:pt>
                <c:pt idx="333">
                  <c:v>1.5154635860537589</c:v>
                </c:pt>
                <c:pt idx="334">
                  <c:v>1.5052189729882413</c:v>
                </c:pt>
                <c:pt idx="335">
                  <c:v>1.5182323132112074</c:v>
                </c:pt>
                <c:pt idx="336">
                  <c:v>1.5535681413637537</c:v>
                </c:pt>
                <c:pt idx="337">
                  <c:v>1.5419232805246501</c:v>
                </c:pt>
                <c:pt idx="338">
                  <c:v>1.5719217914296824</c:v>
                </c:pt>
                <c:pt idx="339">
                  <c:v>1.57476117028834</c:v>
                </c:pt>
                <c:pt idx="340">
                  <c:v>1.6152051045467974</c:v>
                </c:pt>
                <c:pt idx="341">
                  <c:v>1.6230841229475874</c:v>
                </c:pt>
                <c:pt idx="342">
                  <c:v>1.5992125874203362</c:v>
                </c:pt>
                <c:pt idx="343">
                  <c:v>1.5866741474914512</c:v>
                </c:pt>
                <c:pt idx="344">
                  <c:v>1.603036206043825</c:v>
                </c:pt>
                <c:pt idx="345">
                  <c:v>1.6124441270621164</c:v>
                </c:pt>
                <c:pt idx="346">
                  <c:v>1.5985041615698974</c:v>
                </c:pt>
                <c:pt idx="347">
                  <c:v>1.6113053463695186</c:v>
                </c:pt>
                <c:pt idx="348">
                  <c:v>1.6382009696923849</c:v>
                </c:pt>
                <c:pt idx="349">
                  <c:v>1.6272214507870362</c:v>
                </c:pt>
                <c:pt idx="350">
                  <c:v>1.6288141773683273</c:v>
                </c:pt>
                <c:pt idx="351">
                  <c:v>1.5714188470663424</c:v>
                </c:pt>
                <c:pt idx="352">
                  <c:v>1.6271661092766159</c:v>
                </c:pt>
                <c:pt idx="353">
                  <c:v>1.6501199693471977</c:v>
                </c:pt>
                <c:pt idx="354">
                  <c:v>1.6691350620183709</c:v>
                </c:pt>
                <c:pt idx="355">
                  <c:v>1.6651201627888756</c:v>
                </c:pt>
                <c:pt idx="356">
                  <c:v>1.7031039131838055</c:v>
                </c:pt>
                <c:pt idx="357">
                  <c:v>1.679544668528433</c:v>
                </c:pt>
                <c:pt idx="358">
                  <c:v>1.7022875486015117</c:v>
                </c:pt>
                <c:pt idx="359">
                  <c:v>1.7282785260389433</c:v>
                </c:pt>
                <c:pt idx="360">
                  <c:v>1.7191053234154716</c:v>
                </c:pt>
                <c:pt idx="361">
                  <c:v>1.7582472517291543</c:v>
                </c:pt>
                <c:pt idx="362">
                  <c:v>1.7329188910684152</c:v>
                </c:pt>
                <c:pt idx="363">
                  <c:v>1.6990588204299839</c:v>
                </c:pt>
                <c:pt idx="364">
                  <c:v>1.7435414572753789</c:v>
                </c:pt>
                <c:pt idx="365">
                  <c:v>1.7271442830637485</c:v>
                </c:pt>
                <c:pt idx="366">
                  <c:v>1.7755053134706398</c:v>
                </c:pt>
                <c:pt idx="367">
                  <c:v>1.811797376978372</c:v>
                </c:pt>
                <c:pt idx="368">
                  <c:v>1.811115837586682</c:v>
                </c:pt>
                <c:pt idx="369">
                  <c:v>1.8606797093918264</c:v>
                </c:pt>
                <c:pt idx="370">
                  <c:v>1.8421516758864063</c:v>
                </c:pt>
                <c:pt idx="371">
                  <c:v>1.8147199045982596</c:v>
                </c:pt>
                <c:pt idx="372">
                  <c:v>1.8351029266092147</c:v>
                </c:pt>
                <c:pt idx="373">
                  <c:v>1.8107649899443079</c:v>
                </c:pt>
                <c:pt idx="374">
                  <c:v>1.8009646705052957</c:v>
                </c:pt>
                <c:pt idx="375">
                  <c:v>1.8203393396800456</c:v>
                </c:pt>
                <c:pt idx="376">
                  <c:v>1.8856945657818307</c:v>
                </c:pt>
                <c:pt idx="377">
                  <c:v>1.9165388153183822</c:v>
                </c:pt>
                <c:pt idx="378">
                  <c:v>1.9027819240273551</c:v>
                </c:pt>
                <c:pt idx="379">
                  <c:v>1.9020504885623051</c:v>
                </c:pt>
                <c:pt idx="380">
                  <c:v>1.8509886943833338</c:v>
                </c:pt>
                <c:pt idx="381">
                  <c:v>1.83436596869752</c:v>
                </c:pt>
                <c:pt idx="382">
                  <c:v>1.939702958273078</c:v>
                </c:pt>
                <c:pt idx="383">
                  <c:v>1.9562155220317017</c:v>
                </c:pt>
                <c:pt idx="384">
                  <c:v>1.9549886724177334</c:v>
                </c:pt>
                <c:pt idx="385">
                  <c:v>1.8737299492965609</c:v>
                </c:pt>
                <c:pt idx="386">
                  <c:v>1.9467139470067849</c:v>
                </c:pt>
                <c:pt idx="387">
                  <c:v>1.9362656098325408</c:v>
                </c:pt>
                <c:pt idx="388">
                  <c:v>1.9380030526083942</c:v>
                </c:pt>
                <c:pt idx="389">
                  <c:v>1.9142310217031828</c:v>
                </c:pt>
                <c:pt idx="390">
                  <c:v>1.9091521282366868</c:v>
                </c:pt>
                <c:pt idx="391">
                  <c:v>1.9140559019468713</c:v>
                </c:pt>
                <c:pt idx="392">
                  <c:v>1.9246743144285836</c:v>
                </c:pt>
                <c:pt idx="393">
                  <c:v>1.8925140549483928</c:v>
                </c:pt>
                <c:pt idx="394">
                  <c:v>1.8728556976066502</c:v>
                </c:pt>
                <c:pt idx="395">
                  <c:v>1.8188860528371273</c:v>
                </c:pt>
                <c:pt idx="396">
                  <c:v>1.8298290050682993</c:v>
                </c:pt>
                <c:pt idx="397">
                  <c:v>1.8608673241295957</c:v>
                </c:pt>
                <c:pt idx="398">
                  <c:v>1.8582438096445415</c:v>
                </c:pt>
                <c:pt idx="399">
                  <c:v>1.907558929981692</c:v>
                </c:pt>
                <c:pt idx="400">
                  <c:v>1.9291089707691182</c:v>
                </c:pt>
                <c:pt idx="401">
                  <c:v>1.9264613107694246</c:v>
                </c:pt>
                <c:pt idx="402">
                  <c:v>1.8916170125292331</c:v>
                </c:pt>
                <c:pt idx="403">
                  <c:v>1.9138668764845166</c:v>
                </c:pt>
                <c:pt idx="404">
                  <c:v>1.9219612761188247</c:v>
                </c:pt>
                <c:pt idx="405">
                  <c:v>1.9017917389278298</c:v>
                </c:pt>
                <c:pt idx="406">
                  <c:v>1.8635378885030425</c:v>
                </c:pt>
                <c:pt idx="407">
                  <c:v>1.85836191248885</c:v>
                </c:pt>
                <c:pt idx="408">
                  <c:v>1.8348496967803114</c:v>
                </c:pt>
                <c:pt idx="409">
                  <c:v>1.8636470164721417</c:v>
                </c:pt>
                <c:pt idx="410">
                  <c:v>1.8842459673786522</c:v>
                </c:pt>
                <c:pt idx="411">
                  <c:v>1.8792298945257226</c:v>
                </c:pt>
                <c:pt idx="412">
                  <c:v>1.8715386293558915</c:v>
                </c:pt>
                <c:pt idx="413">
                  <c:v>1.9074704822647013</c:v>
                </c:pt>
                <c:pt idx="414">
                  <c:v>1.8792545246035255</c:v>
                </c:pt>
                <c:pt idx="415">
                  <c:v>1.8930280695252586</c:v>
                </c:pt>
                <c:pt idx="416">
                  <c:v>1.8952270908348436</c:v>
                </c:pt>
                <c:pt idx="417">
                  <c:v>1.8388900305437399</c:v>
                </c:pt>
                <c:pt idx="418">
                  <c:v>1.8447132991069486</c:v>
                </c:pt>
                <c:pt idx="419">
                  <c:v>1.8536474842733313</c:v>
                </c:pt>
                <c:pt idx="420">
                  <c:v>1.8473217653964751</c:v>
                </c:pt>
                <c:pt idx="421">
                  <c:v>1.8340412719249588</c:v>
                </c:pt>
                <c:pt idx="422">
                  <c:v>1.8075406150184874</c:v>
                </c:pt>
                <c:pt idx="423">
                  <c:v>1.7996141378218389</c:v>
                </c:pt>
                <c:pt idx="424">
                  <c:v>1.7551528442819613</c:v>
                </c:pt>
                <c:pt idx="425">
                  <c:v>1.7979860303474826</c:v>
                </c:pt>
                <c:pt idx="426">
                  <c:v>1.7801207284476199</c:v>
                </c:pt>
                <c:pt idx="427">
                  <c:v>1.7682402595259399</c:v>
                </c:pt>
                <c:pt idx="428">
                  <c:v>1.7193865754028987</c:v>
                </c:pt>
                <c:pt idx="429">
                  <c:v>1.7526226215687812</c:v>
                </c:pt>
                <c:pt idx="430">
                  <c:v>1.7601932980053425</c:v>
                </c:pt>
                <c:pt idx="431">
                  <c:v>1.7975786150429762</c:v>
                </c:pt>
                <c:pt idx="432">
                  <c:v>1.8052099687550263</c:v>
                </c:pt>
                <c:pt idx="433">
                  <c:v>1.8131794100099425</c:v>
                </c:pt>
                <c:pt idx="434">
                  <c:v>1.8192626741253486</c:v>
                </c:pt>
                <c:pt idx="435">
                  <c:v>1.8069452387839351</c:v>
                </c:pt>
                <c:pt idx="436">
                  <c:v>1.8107663048167</c:v>
                </c:pt>
                <c:pt idx="437">
                  <c:v>1.8424721803062214</c:v>
                </c:pt>
                <c:pt idx="438">
                  <c:v>1.8397459044869637</c:v>
                </c:pt>
                <c:pt idx="439">
                  <c:v>1.8402505900612987</c:v>
                </c:pt>
                <c:pt idx="440">
                  <c:v>1.8162155886414737</c:v>
                </c:pt>
                <c:pt idx="441">
                  <c:v>1.8518153137967026</c:v>
                </c:pt>
                <c:pt idx="442">
                  <c:v>1.8557859066239739</c:v>
                </c:pt>
                <c:pt idx="443">
                  <c:v>1.8622863966670187</c:v>
                </c:pt>
                <c:pt idx="444">
                  <c:v>1.8504257560728212</c:v>
                </c:pt>
                <c:pt idx="445">
                  <c:v>1.8718871545283955</c:v>
                </c:pt>
                <c:pt idx="446">
                  <c:v>1.8569920751963986</c:v>
                </c:pt>
                <c:pt idx="447">
                  <c:v>1.8699129605397631</c:v>
                </c:pt>
                <c:pt idx="448">
                  <c:v>1.8969242455275948</c:v>
                </c:pt>
                <c:pt idx="449">
                  <c:v>1.8957960546618122</c:v>
                </c:pt>
                <c:pt idx="450">
                  <c:v>1.9242737967319812</c:v>
                </c:pt>
                <c:pt idx="451">
                  <c:v>1.9258935631315182</c:v>
                </c:pt>
                <c:pt idx="452">
                  <c:v>1.8950295890279496</c:v>
                </c:pt>
                <c:pt idx="453">
                  <c:v>1.8750575327873338</c:v>
                </c:pt>
                <c:pt idx="454">
                  <c:v>1.8979654907205279</c:v>
                </c:pt>
                <c:pt idx="455">
                  <c:v>1.8842275118462339</c:v>
                </c:pt>
                <c:pt idx="456">
                  <c:v>1.9009416038891436</c:v>
                </c:pt>
                <c:pt idx="457">
                  <c:v>1.9637718017156249</c:v>
                </c:pt>
                <c:pt idx="458">
                  <c:v>1.9516608636435029</c:v>
                </c:pt>
                <c:pt idx="459">
                  <c:v>1.9369960458612161</c:v>
                </c:pt>
                <c:pt idx="460">
                  <c:v>1.9315816878877823</c:v>
                </c:pt>
                <c:pt idx="461">
                  <c:v>1.9207779591451608</c:v>
                </c:pt>
                <c:pt idx="462">
                  <c:v>1.9439535500536069</c:v>
                </c:pt>
                <c:pt idx="463">
                  <c:v>1.9455858844976666</c:v>
                </c:pt>
                <c:pt idx="464">
                  <c:v>1.931576296578851</c:v>
                </c:pt>
                <c:pt idx="465">
                  <c:v>1.9216996770836914</c:v>
                </c:pt>
                <c:pt idx="466">
                  <c:v>1.9404039609322736</c:v>
                </c:pt>
                <c:pt idx="467">
                  <c:v>1.9001650832277863</c:v>
                </c:pt>
                <c:pt idx="468">
                  <c:v>1.8593288990088843</c:v>
                </c:pt>
                <c:pt idx="469">
                  <c:v>1.9032845139774206</c:v>
                </c:pt>
                <c:pt idx="470">
                  <c:v>1.9046996278408392</c:v>
                </c:pt>
                <c:pt idx="471">
                  <c:v>1.9078487274049603</c:v>
                </c:pt>
                <c:pt idx="472">
                  <c:v>1.9171981919996601</c:v>
                </c:pt>
                <c:pt idx="473">
                  <c:v>1.9123708628040166</c:v>
                </c:pt>
                <c:pt idx="474">
                  <c:v>1.89562083725342</c:v>
                </c:pt>
                <c:pt idx="475">
                  <c:v>1.9037296652525111</c:v>
                </c:pt>
                <c:pt idx="476">
                  <c:v>1.8633125764629002</c:v>
                </c:pt>
                <c:pt idx="477">
                  <c:v>1.8163085497841367</c:v>
                </c:pt>
                <c:pt idx="478">
                  <c:v>1.8344559890272769</c:v>
                </c:pt>
                <c:pt idx="479">
                  <c:v>1.8540371836550129</c:v>
                </c:pt>
                <c:pt idx="480">
                  <c:v>1.8635165299531875</c:v>
                </c:pt>
                <c:pt idx="481">
                  <c:v>1.83717542817542</c:v>
                </c:pt>
                <c:pt idx="482">
                  <c:v>1.8308768532314692</c:v>
                </c:pt>
                <c:pt idx="483">
                  <c:v>1.846243607589301</c:v>
                </c:pt>
                <c:pt idx="484">
                  <c:v>1.8281655946111328</c:v>
                </c:pt>
                <c:pt idx="485">
                  <c:v>1.8538847002134964</c:v>
                </c:pt>
                <c:pt idx="486">
                  <c:v>1.8648762925185318</c:v>
                </c:pt>
                <c:pt idx="487">
                  <c:v>1.8394665876580185</c:v>
                </c:pt>
                <c:pt idx="488">
                  <c:v>1.7899736627741034</c:v>
                </c:pt>
                <c:pt idx="489">
                  <c:v>1.783974857223233</c:v>
                </c:pt>
                <c:pt idx="490">
                  <c:v>1.756507137701794</c:v>
                </c:pt>
                <c:pt idx="491">
                  <c:v>1.7677137020551232</c:v>
                </c:pt>
                <c:pt idx="492">
                  <c:v>1.7354149577917841</c:v>
                </c:pt>
                <c:pt idx="493">
                  <c:v>1.7715622607876691</c:v>
                </c:pt>
                <c:pt idx="494">
                  <c:v>1.7378535520720713</c:v>
                </c:pt>
                <c:pt idx="495">
                  <c:v>1.7563206900922945</c:v>
                </c:pt>
                <c:pt idx="496">
                  <c:v>1.7929879226571366</c:v>
                </c:pt>
                <c:pt idx="497">
                  <c:v>1.7905448935689685</c:v>
                </c:pt>
                <c:pt idx="498">
                  <c:v>1.7605867721101836</c:v>
                </c:pt>
                <c:pt idx="499">
                  <c:v>1.751301362878426</c:v>
                </c:pt>
                <c:pt idx="500">
                  <c:v>1.7267404740306751</c:v>
                </c:pt>
                <c:pt idx="501">
                  <c:v>1.7461706841421165</c:v>
                </c:pt>
                <c:pt idx="502">
                  <c:v>1.7018099529939539</c:v>
                </c:pt>
                <c:pt idx="503">
                  <c:v>1.7175870698696585</c:v>
                </c:pt>
                <c:pt idx="504">
                  <c:v>1.6703366096757262</c:v>
                </c:pt>
                <c:pt idx="505">
                  <c:v>1.6640285993681263</c:v>
                </c:pt>
                <c:pt idx="506">
                  <c:v>1.6675060568309263</c:v>
                </c:pt>
                <c:pt idx="507">
                  <c:v>1.6341073506450212</c:v>
                </c:pt>
                <c:pt idx="508">
                  <c:v>1.6598281132897612</c:v>
                </c:pt>
                <c:pt idx="509">
                  <c:v>1.6512874190065858</c:v>
                </c:pt>
                <c:pt idx="510">
                  <c:v>1.6155427874473074</c:v>
                </c:pt>
                <c:pt idx="511">
                  <c:v>1.6071220060328386</c:v>
                </c:pt>
                <c:pt idx="512">
                  <c:v>1.6496756684601499</c:v>
                </c:pt>
                <c:pt idx="513">
                  <c:v>1.6416338831166062</c:v>
                </c:pt>
                <c:pt idx="514">
                  <c:v>1.6635337047666536</c:v>
                </c:pt>
                <c:pt idx="515">
                  <c:v>1.6593272265420367</c:v>
                </c:pt>
                <c:pt idx="516">
                  <c:v>1.6550767800881259</c:v>
                </c:pt>
                <c:pt idx="517">
                  <c:v>1.6448007018854662</c:v>
                </c:pt>
                <c:pt idx="518">
                  <c:v>1.6953609603515361</c:v>
                </c:pt>
                <c:pt idx="519">
                  <c:v>1.6661581877387852</c:v>
                </c:pt>
                <c:pt idx="520">
                  <c:v>1.689150362791928</c:v>
                </c:pt>
                <c:pt idx="521">
                  <c:v>1.6991217305847952</c:v>
                </c:pt>
                <c:pt idx="522">
                  <c:v>1.7075025115316207</c:v>
                </c:pt>
                <c:pt idx="523">
                  <c:v>1.6856952614637386</c:v>
                </c:pt>
                <c:pt idx="524">
                  <c:v>1.655204419905512</c:v>
                </c:pt>
                <c:pt idx="525">
                  <c:v>1.6450007459560712</c:v>
                </c:pt>
                <c:pt idx="526">
                  <c:v>1.5888149306496326</c:v>
                </c:pt>
                <c:pt idx="527">
                  <c:v>1.5635436562385887</c:v>
                </c:pt>
                <c:pt idx="528">
                  <c:v>1.5673918704097225</c:v>
                </c:pt>
                <c:pt idx="529">
                  <c:v>1.5911068880821537</c:v>
                </c:pt>
                <c:pt idx="530">
                  <c:v>1.599844806492575</c:v>
                </c:pt>
                <c:pt idx="531">
                  <c:v>1.5458910859025661</c:v>
                </c:pt>
                <c:pt idx="532">
                  <c:v>1.5039854954681324</c:v>
                </c:pt>
                <c:pt idx="533">
                  <c:v>1.570877587861605</c:v>
                </c:pt>
                <c:pt idx="534">
                  <c:v>1.6015685535469613</c:v>
                </c:pt>
                <c:pt idx="535">
                  <c:v>1.6023236833976875</c:v>
                </c:pt>
                <c:pt idx="536">
                  <c:v>1.6189268888347677</c:v>
                </c:pt>
                <c:pt idx="537">
                  <c:v>1.605615773111875</c:v>
                </c:pt>
                <c:pt idx="538">
                  <c:v>1.6109148979370138</c:v>
                </c:pt>
                <c:pt idx="539">
                  <c:v>1.5936205895910001</c:v>
                </c:pt>
                <c:pt idx="540">
                  <c:v>1.5664846159032813</c:v>
                </c:pt>
                <c:pt idx="541">
                  <c:v>1.5458549029893565</c:v>
                </c:pt>
                <c:pt idx="542">
                  <c:v>1.54367301221024</c:v>
                </c:pt>
                <c:pt idx="543">
                  <c:v>1.5837040452307463</c:v>
                </c:pt>
                <c:pt idx="544">
                  <c:v>1.5522094637383836</c:v>
                </c:pt>
                <c:pt idx="545">
                  <c:v>1.5630886608242387</c:v>
                </c:pt>
                <c:pt idx="546">
                  <c:v>1.5301489912480961</c:v>
                </c:pt>
                <c:pt idx="547">
                  <c:v>1.49874417838333</c:v>
                </c:pt>
                <c:pt idx="548">
                  <c:v>1.4931969206612763</c:v>
                </c:pt>
                <c:pt idx="549">
                  <c:v>1.4339375588057526</c:v>
                </c:pt>
                <c:pt idx="550">
                  <c:v>1.4555903186895001</c:v>
                </c:pt>
                <c:pt idx="551">
                  <c:v>1.4219155183884038</c:v>
                </c:pt>
                <c:pt idx="552">
                  <c:v>1.4394383495332539</c:v>
                </c:pt>
                <c:pt idx="553">
                  <c:v>1.4311372912782188</c:v>
                </c:pt>
                <c:pt idx="554">
                  <c:v>1.4719653448468624</c:v>
                </c:pt>
                <c:pt idx="555">
                  <c:v>1.4507734398375349</c:v>
                </c:pt>
                <c:pt idx="556">
                  <c:v>1.4209771768849011</c:v>
                </c:pt>
                <c:pt idx="557">
                  <c:v>1.3869313606145326</c:v>
                </c:pt>
                <c:pt idx="558">
                  <c:v>1.3674887697574949</c:v>
                </c:pt>
                <c:pt idx="559">
                  <c:v>1.2824766131145013</c:v>
                </c:pt>
                <c:pt idx="560">
                  <c:v>1.2549717658081587</c:v>
                </c:pt>
                <c:pt idx="561">
                  <c:v>1.3259933528400525</c:v>
                </c:pt>
                <c:pt idx="562">
                  <c:v>1.3171813280636626</c:v>
                </c:pt>
                <c:pt idx="563">
                  <c:v>1.3634904892203112</c:v>
                </c:pt>
                <c:pt idx="564">
                  <c:v>1.3648229153237037</c:v>
                </c:pt>
                <c:pt idx="565">
                  <c:v>1.3353775077191188</c:v>
                </c:pt>
                <c:pt idx="566">
                  <c:v>1.3317953253186738</c:v>
                </c:pt>
                <c:pt idx="567">
                  <c:v>1.3665893245627825</c:v>
                </c:pt>
                <c:pt idx="568">
                  <c:v>1.3969024790433036</c:v>
                </c:pt>
                <c:pt idx="569">
                  <c:v>1.3995851194692888</c:v>
                </c:pt>
                <c:pt idx="570">
                  <c:v>1.4013790000013737</c:v>
                </c:pt>
                <c:pt idx="571">
                  <c:v>1.3930274747956637</c:v>
                </c:pt>
                <c:pt idx="572">
                  <c:v>1.4202182805142962</c:v>
                </c:pt>
                <c:pt idx="573">
                  <c:v>1.41819286323667</c:v>
                </c:pt>
                <c:pt idx="574">
                  <c:v>1.4310717272137476</c:v>
                </c:pt>
                <c:pt idx="575">
                  <c:v>1.4400995161048824</c:v>
                </c:pt>
                <c:pt idx="576">
                  <c:v>1.4502832264283136</c:v>
                </c:pt>
                <c:pt idx="577">
                  <c:v>1.4003424974587788</c:v>
                </c:pt>
                <c:pt idx="578">
                  <c:v>1.4113237323624186</c:v>
                </c:pt>
                <c:pt idx="579">
                  <c:v>1.4144419946464788</c:v>
                </c:pt>
                <c:pt idx="580">
                  <c:v>1.4087639594409689</c:v>
                </c:pt>
                <c:pt idx="581">
                  <c:v>1.42828977249678</c:v>
                </c:pt>
                <c:pt idx="582">
                  <c:v>1.454817673422705</c:v>
                </c:pt>
                <c:pt idx="583">
                  <c:v>1.4546874142864075</c:v>
                </c:pt>
                <c:pt idx="584">
                  <c:v>1.4844176745589988</c:v>
                </c:pt>
                <c:pt idx="585">
                  <c:v>1.5276652016544636</c:v>
                </c:pt>
                <c:pt idx="586">
                  <c:v>1.5175478366250312</c:v>
                </c:pt>
                <c:pt idx="587">
                  <c:v>1.5231518538806674</c:v>
                </c:pt>
                <c:pt idx="588">
                  <c:v>1.4930761406121538</c:v>
                </c:pt>
                <c:pt idx="589">
                  <c:v>1.5199223209638399</c:v>
                </c:pt>
                <c:pt idx="590">
                  <c:v>1.522412171613835</c:v>
                </c:pt>
                <c:pt idx="591">
                  <c:v>1.5161258502915951</c:v>
                </c:pt>
                <c:pt idx="592">
                  <c:v>1.5164489592995776</c:v>
                </c:pt>
                <c:pt idx="593">
                  <c:v>1.535996851780195</c:v>
                </c:pt>
                <c:pt idx="594">
                  <c:v>1.5555107135930961</c:v>
                </c:pt>
                <c:pt idx="595">
                  <c:v>1.5756407769564624</c:v>
                </c:pt>
                <c:pt idx="596">
                  <c:v>1.5577484452258439</c:v>
                </c:pt>
                <c:pt idx="597">
                  <c:v>1.5442743815157001</c:v>
                </c:pt>
                <c:pt idx="598">
                  <c:v>1.5837396641171124</c:v>
                </c:pt>
                <c:pt idx="599">
                  <c:v>1.60486473136799</c:v>
                </c:pt>
                <c:pt idx="600">
                  <c:v>1.6174646292005013</c:v>
                </c:pt>
                <c:pt idx="601">
                  <c:v>1.6396151156989462</c:v>
                </c:pt>
                <c:pt idx="602">
                  <c:v>1.5953862211287975</c:v>
                </c:pt>
                <c:pt idx="603">
                  <c:v>1.6256311189984625</c:v>
                </c:pt>
                <c:pt idx="604">
                  <c:v>1.6222608760208064</c:v>
                </c:pt>
                <c:pt idx="605">
                  <c:v>1.6368138310125488</c:v>
                </c:pt>
                <c:pt idx="606">
                  <c:v>1.6326514131110264</c:v>
                </c:pt>
                <c:pt idx="607">
                  <c:v>1.6347716102794088</c:v>
                </c:pt>
                <c:pt idx="608">
                  <c:v>1.6635729836576088</c:v>
                </c:pt>
                <c:pt idx="609">
                  <c:v>1.6552090820562637</c:v>
                </c:pt>
                <c:pt idx="610">
                  <c:v>1.6335526370120574</c:v>
                </c:pt>
                <c:pt idx="611">
                  <c:v>1.59220985590052</c:v>
                </c:pt>
                <c:pt idx="612">
                  <c:v>1.6007803655891899</c:v>
                </c:pt>
                <c:pt idx="613">
                  <c:v>1.62777503821252</c:v>
                </c:pt>
                <c:pt idx="614">
                  <c:v>1.6228315316682362</c:v>
                </c:pt>
                <c:pt idx="615">
                  <c:v>1.633000934069881</c:v>
                </c:pt>
                <c:pt idx="616">
                  <c:v>1.6240064114335899</c:v>
                </c:pt>
                <c:pt idx="617">
                  <c:v>1.6318112933230213</c:v>
                </c:pt>
                <c:pt idx="618">
                  <c:v>1.629198625431715</c:v>
                </c:pt>
                <c:pt idx="619">
                  <c:v>1.6186299917978262</c:v>
                </c:pt>
                <c:pt idx="620">
                  <c:v>1.5917683350063088</c:v>
                </c:pt>
                <c:pt idx="621">
                  <c:v>1.6099036801164401</c:v>
                </c:pt>
                <c:pt idx="622">
                  <c:v>1.6166684179053838</c:v>
                </c:pt>
                <c:pt idx="623">
                  <c:v>1.6241818302465512</c:v>
                </c:pt>
                <c:pt idx="624">
                  <c:v>1.6151364900411749</c:v>
                </c:pt>
                <c:pt idx="625">
                  <c:v>1.6381271122673651</c:v>
                </c:pt>
                <c:pt idx="626">
                  <c:v>1.6220684249328374</c:v>
                </c:pt>
                <c:pt idx="627">
                  <c:v>1.6092314143801063</c:v>
                </c:pt>
                <c:pt idx="628">
                  <c:v>1.6232998997957175</c:v>
                </c:pt>
                <c:pt idx="629">
                  <c:v>1.6647460733055925</c:v>
                </c:pt>
                <c:pt idx="630">
                  <c:v>1.6706593244966437</c:v>
                </c:pt>
                <c:pt idx="631">
                  <c:v>1.6780012177255488</c:v>
                </c:pt>
                <c:pt idx="632">
                  <c:v>1.6649968532551187</c:v>
                </c:pt>
                <c:pt idx="633">
                  <c:v>1.6856348130647738</c:v>
                </c:pt>
                <c:pt idx="634">
                  <c:v>1.6506281510826648</c:v>
                </c:pt>
                <c:pt idx="635">
                  <c:v>1.6657581532492038</c:v>
                </c:pt>
                <c:pt idx="636">
                  <c:v>1.6716520907606125</c:v>
                </c:pt>
                <c:pt idx="637">
                  <c:v>1.6812008998599788</c:v>
                </c:pt>
                <c:pt idx="638">
                  <c:v>1.6937637344652763</c:v>
                </c:pt>
                <c:pt idx="639">
                  <c:v>1.6472092574078074</c:v>
                </c:pt>
                <c:pt idx="640">
                  <c:v>1.6658689791473</c:v>
                </c:pt>
                <c:pt idx="641">
                  <c:v>1.6709874813590426</c:v>
                </c:pt>
                <c:pt idx="642">
                  <c:v>1.61085822198171</c:v>
                </c:pt>
                <c:pt idx="643">
                  <c:v>1.5918978001168789</c:v>
                </c:pt>
                <c:pt idx="644">
                  <c:v>1.5835964005949874</c:v>
                </c:pt>
                <c:pt idx="645">
                  <c:v>1.5934833378776139</c:v>
                </c:pt>
                <c:pt idx="646">
                  <c:v>1.5929021201149862</c:v>
                </c:pt>
                <c:pt idx="647">
                  <c:v>1.5473478751514875</c:v>
                </c:pt>
                <c:pt idx="648">
                  <c:v>1.5326941891727326</c:v>
                </c:pt>
                <c:pt idx="649">
                  <c:v>1.5447123869139912</c:v>
                </c:pt>
                <c:pt idx="650">
                  <c:v>1.5463280478012811</c:v>
                </c:pt>
                <c:pt idx="651">
                  <c:v>1.5698039086789977</c:v>
                </c:pt>
                <c:pt idx="652">
                  <c:v>1.5953474631732911</c:v>
                </c:pt>
                <c:pt idx="653">
                  <c:v>1.5762921380978914</c:v>
                </c:pt>
                <c:pt idx="654">
                  <c:v>1.5697208256205086</c:v>
                </c:pt>
                <c:pt idx="655">
                  <c:v>1.5740178988853988</c:v>
                </c:pt>
                <c:pt idx="656">
                  <c:v>1.5620697013735252</c:v>
                </c:pt>
                <c:pt idx="657">
                  <c:v>1.5079570212582438</c:v>
                </c:pt>
                <c:pt idx="658">
                  <c:v>1.4916622444968437</c:v>
                </c:pt>
                <c:pt idx="659">
                  <c:v>1.4802431026206664</c:v>
                </c:pt>
                <c:pt idx="660">
                  <c:v>1.4910172793594536</c:v>
                </c:pt>
                <c:pt idx="661">
                  <c:v>1.47300573013123</c:v>
                </c:pt>
                <c:pt idx="662">
                  <c:v>1.4717556378708074</c:v>
                </c:pt>
                <c:pt idx="663">
                  <c:v>1.4419142985485986</c:v>
                </c:pt>
                <c:pt idx="664">
                  <c:v>1.4465431466058638</c:v>
                </c:pt>
                <c:pt idx="665">
                  <c:v>1.4694625593928701</c:v>
                </c:pt>
                <c:pt idx="666">
                  <c:v>1.4289134089554487</c:v>
                </c:pt>
                <c:pt idx="667">
                  <c:v>1.4372181896515213</c:v>
                </c:pt>
                <c:pt idx="668">
                  <c:v>1.4024155077420124</c:v>
                </c:pt>
                <c:pt idx="669">
                  <c:v>1.354943064534615</c:v>
                </c:pt>
                <c:pt idx="670">
                  <c:v>1.3596731413646388</c:v>
                </c:pt>
                <c:pt idx="671">
                  <c:v>1.4038379172813875</c:v>
                </c:pt>
                <c:pt idx="672">
                  <c:v>1.4132075792801537</c:v>
                </c:pt>
                <c:pt idx="673">
                  <c:v>1.4360030837053301</c:v>
                </c:pt>
                <c:pt idx="674">
                  <c:v>1.4450006282195813</c:v>
                </c:pt>
                <c:pt idx="675">
                  <c:v>1.447083435943975</c:v>
                </c:pt>
                <c:pt idx="676">
                  <c:v>1.43363293405973</c:v>
                </c:pt>
                <c:pt idx="677">
                  <c:v>1.4408558796610975</c:v>
                </c:pt>
                <c:pt idx="678">
                  <c:v>1.4402189266897063</c:v>
                </c:pt>
                <c:pt idx="679">
                  <c:v>1.4278426810692175</c:v>
                </c:pt>
                <c:pt idx="680">
                  <c:v>1.4236083796478687</c:v>
                </c:pt>
                <c:pt idx="681">
                  <c:v>1.4472497375172324</c:v>
                </c:pt>
                <c:pt idx="682">
                  <c:v>1.4293295372466823</c:v>
                </c:pt>
                <c:pt idx="683">
                  <c:v>1.3969786704632849</c:v>
                </c:pt>
                <c:pt idx="684">
                  <c:v>1.4170072562531513</c:v>
                </c:pt>
                <c:pt idx="685">
                  <c:v>1.4373077063578399</c:v>
                </c:pt>
                <c:pt idx="686">
                  <c:v>1.4462657207339702</c:v>
                </c:pt>
                <c:pt idx="687">
                  <c:v>1.45457411585981</c:v>
                </c:pt>
                <c:pt idx="688">
                  <c:v>1.4823252803326226</c:v>
                </c:pt>
                <c:pt idx="689">
                  <c:v>1.4724384220440174</c:v>
                </c:pt>
                <c:pt idx="690">
                  <c:v>1.4644932701583189</c:v>
                </c:pt>
                <c:pt idx="691">
                  <c:v>1.4517265801893775</c:v>
                </c:pt>
                <c:pt idx="692">
                  <c:v>1.4245812462354313</c:v>
                </c:pt>
                <c:pt idx="693">
                  <c:v>1.4353666695604499</c:v>
                </c:pt>
                <c:pt idx="694">
                  <c:v>1.4252518315332838</c:v>
                </c:pt>
                <c:pt idx="695">
                  <c:v>1.4715463498378025</c:v>
                </c:pt>
                <c:pt idx="696">
                  <c:v>1.4579661922167388</c:v>
                </c:pt>
                <c:pt idx="697">
                  <c:v>1.4701359491754937</c:v>
                </c:pt>
                <c:pt idx="698">
                  <c:v>1.452508824675935</c:v>
                </c:pt>
                <c:pt idx="699">
                  <c:v>1.4482558803608101</c:v>
                </c:pt>
                <c:pt idx="700">
                  <c:v>1.4290665998127463</c:v>
                </c:pt>
                <c:pt idx="701">
                  <c:v>1.4261302506679663</c:v>
                </c:pt>
                <c:pt idx="702">
                  <c:v>1.4215770131708962</c:v>
                </c:pt>
                <c:pt idx="703">
                  <c:v>1.4071058872836262</c:v>
                </c:pt>
                <c:pt idx="704">
                  <c:v>1.4032442379393961</c:v>
                </c:pt>
                <c:pt idx="705">
                  <c:v>1.4161559182350238</c:v>
                </c:pt>
                <c:pt idx="706">
                  <c:v>1.4143289105167975</c:v>
                </c:pt>
                <c:pt idx="707">
                  <c:v>1.4299547323950375</c:v>
                </c:pt>
                <c:pt idx="708">
                  <c:v>1.425322807064715</c:v>
                </c:pt>
                <c:pt idx="709">
                  <c:v>1.4239575332935099</c:v>
                </c:pt>
                <c:pt idx="710">
                  <c:v>1.4316867170350451</c:v>
                </c:pt>
                <c:pt idx="711">
                  <c:v>1.4279886989523976</c:v>
                </c:pt>
                <c:pt idx="712">
                  <c:v>1.4178013714622275</c:v>
                </c:pt>
                <c:pt idx="713">
                  <c:v>1.4169745684900175</c:v>
                </c:pt>
                <c:pt idx="714">
                  <c:v>1.4263607133394876</c:v>
                </c:pt>
                <c:pt idx="715">
                  <c:v>1.4060654084404387</c:v>
                </c:pt>
                <c:pt idx="716">
                  <c:v>1.4062362092571212</c:v>
                </c:pt>
                <c:pt idx="717">
                  <c:v>1.4170727019158411</c:v>
                </c:pt>
                <c:pt idx="718">
                  <c:v>1.3953095517128986</c:v>
                </c:pt>
                <c:pt idx="719">
                  <c:v>1.3687414955397261</c:v>
                </c:pt>
                <c:pt idx="720">
                  <c:v>1.3579918146336825</c:v>
                </c:pt>
                <c:pt idx="721">
                  <c:v>1.3483489549262038</c:v>
                </c:pt>
                <c:pt idx="722">
                  <c:v>1.3333806540326938</c:v>
                </c:pt>
                <c:pt idx="723">
                  <c:v>1.3246212945239288</c:v>
                </c:pt>
                <c:pt idx="724">
                  <c:v>1.36025151635969</c:v>
                </c:pt>
                <c:pt idx="725">
                  <c:v>1.372277518182065</c:v>
                </c:pt>
                <c:pt idx="726">
                  <c:v>1.3639969875350388</c:v>
                </c:pt>
                <c:pt idx="727">
                  <c:v>1.3682108143780787</c:v>
                </c:pt>
                <c:pt idx="728">
                  <c:v>1.3684758612631525</c:v>
                </c:pt>
                <c:pt idx="729">
                  <c:v>1.3975468507926325</c:v>
                </c:pt>
                <c:pt idx="730">
                  <c:v>1.39047346061196</c:v>
                </c:pt>
                <c:pt idx="731">
                  <c:v>1.4087203475952661</c:v>
                </c:pt>
                <c:pt idx="732">
                  <c:v>1.4101998740974238</c:v>
                </c:pt>
                <c:pt idx="733">
                  <c:v>1.4151612321534488</c:v>
                </c:pt>
                <c:pt idx="734">
                  <c:v>1.4232826089680386</c:v>
                </c:pt>
                <c:pt idx="735">
                  <c:v>1.4066608737673387</c:v>
                </c:pt>
                <c:pt idx="736">
                  <c:v>1.4076518380618923</c:v>
                </c:pt>
                <c:pt idx="737">
                  <c:v>1.4120664322574976</c:v>
                </c:pt>
                <c:pt idx="738">
                  <c:v>1.4390159724852651</c:v>
                </c:pt>
                <c:pt idx="739">
                  <c:v>1.4495200831280151</c:v>
                </c:pt>
                <c:pt idx="740">
                  <c:v>1.4494744426307227</c:v>
                </c:pt>
                <c:pt idx="741">
                  <c:v>1.4704889176166025</c:v>
                </c:pt>
                <c:pt idx="742">
                  <c:v>1.4797675611003276</c:v>
                </c:pt>
                <c:pt idx="743">
                  <c:v>1.48697139160387</c:v>
                </c:pt>
                <c:pt idx="744">
                  <c:v>1.4633848534155938</c:v>
                </c:pt>
                <c:pt idx="745">
                  <c:v>1.4834180535558701</c:v>
                </c:pt>
                <c:pt idx="746">
                  <c:v>1.4927427094281875</c:v>
                </c:pt>
                <c:pt idx="747">
                  <c:v>1.4947420837377388</c:v>
                </c:pt>
                <c:pt idx="748">
                  <c:v>1.4835582800892513</c:v>
                </c:pt>
                <c:pt idx="749">
                  <c:v>1.4773993934444676</c:v>
                </c:pt>
                <c:pt idx="750">
                  <c:v>1.4676972474499239</c:v>
                </c:pt>
                <c:pt idx="751">
                  <c:v>1.5021252560315226</c:v>
                </c:pt>
                <c:pt idx="752">
                  <c:v>1.4945041123367213</c:v>
                </c:pt>
                <c:pt idx="753">
                  <c:v>1.5058895002929875</c:v>
                </c:pt>
                <c:pt idx="754">
                  <c:v>1.5002445075278075</c:v>
                </c:pt>
                <c:pt idx="755">
                  <c:v>1.510471788327105</c:v>
                </c:pt>
                <c:pt idx="756">
                  <c:v>1.4878921873220552</c:v>
                </c:pt>
                <c:pt idx="757">
                  <c:v>1.4489078681043051</c:v>
                </c:pt>
                <c:pt idx="758">
                  <c:v>1.4720507750074137</c:v>
                </c:pt>
                <c:pt idx="759">
                  <c:v>1.4667676161167138</c:v>
                </c:pt>
                <c:pt idx="760">
                  <c:v>1.4656416392231575</c:v>
                </c:pt>
                <c:pt idx="761">
                  <c:v>1.4581495498883625</c:v>
                </c:pt>
                <c:pt idx="762">
                  <c:v>1.4559822616340974</c:v>
                </c:pt>
                <c:pt idx="763">
                  <c:v>1.4464926258462638</c:v>
                </c:pt>
                <c:pt idx="764">
                  <c:v>1.4604594036070426</c:v>
                </c:pt>
                <c:pt idx="765">
                  <c:v>1.4748123264726889</c:v>
                </c:pt>
                <c:pt idx="766">
                  <c:v>1.4671036268016624</c:v>
                </c:pt>
                <c:pt idx="767">
                  <c:v>1.4719504524463325</c:v>
                </c:pt>
                <c:pt idx="768">
                  <c:v>1.4805366333574963</c:v>
                </c:pt>
                <c:pt idx="769">
                  <c:v>1.4416868460371812</c:v>
                </c:pt>
                <c:pt idx="770">
                  <c:v>1.4563532676094788</c:v>
                </c:pt>
                <c:pt idx="771">
                  <c:v>1.4602450968916838</c:v>
                </c:pt>
                <c:pt idx="772">
                  <c:v>1.4460786273636113</c:v>
                </c:pt>
                <c:pt idx="773">
                  <c:v>1.4651199552509262</c:v>
                </c:pt>
                <c:pt idx="774">
                  <c:v>1.4714191719019039</c:v>
                </c:pt>
                <c:pt idx="775">
                  <c:v>1.4627886805068038</c:v>
                </c:pt>
                <c:pt idx="776">
                  <c:v>1.4445255080772863</c:v>
                </c:pt>
                <c:pt idx="777">
                  <c:v>1.4742763508527925</c:v>
                </c:pt>
                <c:pt idx="778">
                  <c:v>1.4826205269460913</c:v>
                </c:pt>
                <c:pt idx="779">
                  <c:v>1.4955791515719887</c:v>
                </c:pt>
                <c:pt idx="780">
                  <c:v>1.5151329633292714</c:v>
                </c:pt>
                <c:pt idx="781">
                  <c:v>1.5488468058956859</c:v>
                </c:pt>
                <c:pt idx="782">
                  <c:v>1.5556697006256299</c:v>
                </c:pt>
                <c:pt idx="783">
                  <c:v>1.5583403975618111</c:v>
                </c:pt>
                <c:pt idx="784">
                  <c:v>1.5314049359385409</c:v>
                </c:pt>
                <c:pt idx="785">
                  <c:v>1.5562042774794351</c:v>
                </c:pt>
                <c:pt idx="786">
                  <c:v>1.5545672681273792</c:v>
                </c:pt>
                <c:pt idx="787">
                  <c:v>1.586607285468451</c:v>
                </c:pt>
                <c:pt idx="788">
                  <c:v>1.6533801584223555</c:v>
                </c:pt>
                <c:pt idx="789">
                  <c:v>1.6508020132122567</c:v>
                </c:pt>
                <c:pt idx="790">
                  <c:v>1.6669682295458801</c:v>
                </c:pt>
                <c:pt idx="791">
                  <c:v>1.6890970974540245</c:v>
                </c:pt>
                <c:pt idx="792">
                  <c:v>1.6443338754915593</c:v>
                </c:pt>
                <c:pt idx="793">
                  <c:v>1.6494391084572353</c:v>
                </c:pt>
                <c:pt idx="794">
                  <c:v>1.6687242251555876</c:v>
                </c:pt>
                <c:pt idx="795">
                  <c:v>1.6198850417128938</c:v>
                </c:pt>
                <c:pt idx="796">
                  <c:v>1.6514854669893717</c:v>
                </c:pt>
                <c:pt idx="797">
                  <c:v>1.643000321867931</c:v>
                </c:pt>
                <c:pt idx="798">
                  <c:v>1.6494909876241963</c:v>
                </c:pt>
                <c:pt idx="799">
                  <c:v>1.6549828765499279</c:v>
                </c:pt>
                <c:pt idx="800">
                  <c:v>1.7097002799322114</c:v>
                </c:pt>
                <c:pt idx="801">
                  <c:v>1.6315167389039267</c:v>
                </c:pt>
                <c:pt idx="802">
                  <c:v>1.6182529902255558</c:v>
                </c:pt>
                <c:pt idx="803">
                  <c:v>1.6044885812685028</c:v>
                </c:pt>
                <c:pt idx="804">
                  <c:v>1.5743066987942176</c:v>
                </c:pt>
                <c:pt idx="805">
                  <c:v>1.5436120999273637</c:v>
                </c:pt>
                <c:pt idx="806">
                  <c:v>1.5959862318509397</c:v>
                </c:pt>
                <c:pt idx="807">
                  <c:v>1.5765552808933889</c:v>
                </c:pt>
                <c:pt idx="808">
                  <c:v>1.5497262744178351</c:v>
                </c:pt>
                <c:pt idx="809">
                  <c:v>1.5612125993984511</c:v>
                </c:pt>
                <c:pt idx="810">
                  <c:v>1.5431488913611813</c:v>
                </c:pt>
                <c:pt idx="811">
                  <c:v>1.52514626521374</c:v>
                </c:pt>
                <c:pt idx="812">
                  <c:v>1.5238563828388676</c:v>
                </c:pt>
                <c:pt idx="813">
                  <c:v>1.505481782541475</c:v>
                </c:pt>
                <c:pt idx="814">
                  <c:v>1.5126860487360214</c:v>
                </c:pt>
                <c:pt idx="815">
                  <c:v>1.4949767890700487</c:v>
                </c:pt>
                <c:pt idx="816">
                  <c:v>1.5038067727226174</c:v>
                </c:pt>
                <c:pt idx="817">
                  <c:v>1.5436761926293081</c:v>
                </c:pt>
                <c:pt idx="818">
                  <c:v>1.5399535434489384</c:v>
                </c:pt>
                <c:pt idx="819">
                  <c:v>1.5207413768705147</c:v>
                </c:pt>
                <c:pt idx="820">
                  <c:v>1.4926130214578088</c:v>
                </c:pt>
                <c:pt idx="821">
                  <c:v>1.4952765196843787</c:v>
                </c:pt>
                <c:pt idx="822">
                  <c:v>1.5032687410549339</c:v>
                </c:pt>
                <c:pt idx="823">
                  <c:v>1.531291167740509</c:v>
                </c:pt>
                <c:pt idx="824">
                  <c:v>1.5376668976942063</c:v>
                </c:pt>
                <c:pt idx="825">
                  <c:v>1.5742709701889388</c:v>
                </c:pt>
                <c:pt idx="826">
                  <c:v>1.5838807793189571</c:v>
                </c:pt>
                <c:pt idx="827">
                  <c:v>1.5943264258442695</c:v>
                </c:pt>
                <c:pt idx="828">
                  <c:v>1.5881669049329288</c:v>
                </c:pt>
                <c:pt idx="829">
                  <c:v>1.5965477475395446</c:v>
                </c:pt>
                <c:pt idx="830">
                  <c:v>1.5582723608327129</c:v>
                </c:pt>
                <c:pt idx="831">
                  <c:v>1.5602956452935448</c:v>
                </c:pt>
                <c:pt idx="832">
                  <c:v>1.5358998016482803</c:v>
                </c:pt>
                <c:pt idx="833">
                  <c:v>1.5754455917398171</c:v>
                </c:pt>
                <c:pt idx="834">
                  <c:v>1.5811440654543678</c:v>
                </c:pt>
                <c:pt idx="835">
                  <c:v>1.6104748086422527</c:v>
                </c:pt>
                <c:pt idx="836">
                  <c:v>1.6331237669928516</c:v>
                </c:pt>
                <c:pt idx="837">
                  <c:v>1.6260972733637713</c:v>
                </c:pt>
                <c:pt idx="838">
                  <c:v>1.6725208745121762</c:v>
                </c:pt>
                <c:pt idx="839">
                  <c:v>1.71073502673484</c:v>
                </c:pt>
                <c:pt idx="840">
                  <c:v>1.7309910545826013</c:v>
                </c:pt>
                <c:pt idx="841">
                  <c:v>1.6562273166114152</c:v>
                </c:pt>
                <c:pt idx="842">
                  <c:v>1.6030624250773422</c:v>
                </c:pt>
                <c:pt idx="843">
                  <c:v>1.6061904240813263</c:v>
                </c:pt>
                <c:pt idx="844">
                  <c:v>1.5817945228557586</c:v>
                </c:pt>
                <c:pt idx="845">
                  <c:v>1.6003361518761436</c:v>
                </c:pt>
                <c:pt idx="846">
                  <c:v>1.6145636867497737</c:v>
                </c:pt>
                <c:pt idx="847">
                  <c:v>1.5931526274894938</c:v>
                </c:pt>
                <c:pt idx="848">
                  <c:v>1.6093412636327824</c:v>
                </c:pt>
                <c:pt idx="849">
                  <c:v>1.579943183136995</c:v>
                </c:pt>
                <c:pt idx="850">
                  <c:v>1.5832428871020001</c:v>
                </c:pt>
                <c:pt idx="851">
                  <c:v>1.5665933116604216</c:v>
                </c:pt>
                <c:pt idx="852">
                  <c:v>1.5656765002925723</c:v>
                </c:pt>
                <c:pt idx="853">
                  <c:v>1.5866970098257838</c:v>
                </c:pt>
                <c:pt idx="854">
                  <c:v>1.54281484539939</c:v>
                </c:pt>
                <c:pt idx="855">
                  <c:v>1.5765643452392277</c:v>
                </c:pt>
                <c:pt idx="856">
                  <c:v>1.5914946111142174</c:v>
                </c:pt>
                <c:pt idx="857">
                  <c:v>1.5783777448937624</c:v>
                </c:pt>
                <c:pt idx="858">
                  <c:v>1.5643893704751788</c:v>
                </c:pt>
                <c:pt idx="859">
                  <c:v>1.5628139845246283</c:v>
                </c:pt>
                <c:pt idx="860">
                  <c:v>1.5128419358896079</c:v>
                </c:pt>
                <c:pt idx="861">
                  <c:v>1.5033046827682846</c:v>
                </c:pt>
                <c:pt idx="862">
                  <c:v>1.5051718682200403</c:v>
                </c:pt>
                <c:pt idx="863">
                  <c:v>1.5278115356295827</c:v>
                </c:pt>
                <c:pt idx="864">
                  <c:v>1.5041901382352787</c:v>
                </c:pt>
                <c:pt idx="865">
                  <c:v>1.4878202215211467</c:v>
                </c:pt>
                <c:pt idx="866">
                  <c:v>1.4934617725332595</c:v>
                </c:pt>
                <c:pt idx="867">
                  <c:v>1.5009016484704722</c:v>
                </c:pt>
                <c:pt idx="868">
                  <c:v>1.5083412175622239</c:v>
                </c:pt>
                <c:pt idx="869">
                  <c:v>1.509407169905822</c:v>
                </c:pt>
                <c:pt idx="870">
                  <c:v>1.5074583448998038</c:v>
                </c:pt>
                <c:pt idx="871">
                  <c:v>1.5296600488176377</c:v>
                </c:pt>
                <c:pt idx="872">
                  <c:v>1.5333833018066672</c:v>
                </c:pt>
                <c:pt idx="873">
                  <c:v>1.5209240168610638</c:v>
                </c:pt>
                <c:pt idx="874">
                  <c:v>1.4906850128533509</c:v>
                </c:pt>
                <c:pt idx="875">
                  <c:v>1.4907759698175889</c:v>
                </c:pt>
                <c:pt idx="876">
                  <c:v>1.4615405846852771</c:v>
                </c:pt>
                <c:pt idx="877">
                  <c:v>1.4659268969998114</c:v>
                </c:pt>
                <c:pt idx="878">
                  <c:v>1.4469190307333513</c:v>
                </c:pt>
                <c:pt idx="879">
                  <c:v>1.4178036227102893</c:v>
                </c:pt>
                <c:pt idx="880">
                  <c:v>1.4266354355041817</c:v>
                </c:pt>
                <c:pt idx="881">
                  <c:v>1.3932413382377269</c:v>
                </c:pt>
                <c:pt idx="882">
                  <c:v>1.3821581056957688</c:v>
                </c:pt>
                <c:pt idx="883">
                  <c:v>1.4162596659537536</c:v>
                </c:pt>
                <c:pt idx="884">
                  <c:v>1.3758690326949075</c:v>
                </c:pt>
                <c:pt idx="885">
                  <c:v>1.3913376323115714</c:v>
                </c:pt>
                <c:pt idx="886">
                  <c:v>1.3453686234351825</c:v>
                </c:pt>
                <c:pt idx="887">
                  <c:v>1.3570834491839723</c:v>
                </c:pt>
                <c:pt idx="888">
                  <c:v>1.4107362992181622</c:v>
                </c:pt>
                <c:pt idx="889">
                  <c:v>1.4363868150830357</c:v>
                </c:pt>
                <c:pt idx="890">
                  <c:v>1.4368130593320625</c:v>
                </c:pt>
                <c:pt idx="891">
                  <c:v>1.422542856697212</c:v>
                </c:pt>
                <c:pt idx="892">
                  <c:v>1.4291798489621572</c:v>
                </c:pt>
                <c:pt idx="893">
                  <c:v>1.4120970912187736</c:v>
                </c:pt>
                <c:pt idx="894">
                  <c:v>1.4180081674824301</c:v>
                </c:pt>
                <c:pt idx="895">
                  <c:v>1.3809671890427289</c:v>
                </c:pt>
                <c:pt idx="896">
                  <c:v>1.3772800878670142</c:v>
                </c:pt>
                <c:pt idx="897">
                  <c:v>1.393257470311325</c:v>
                </c:pt>
                <c:pt idx="898">
                  <c:v>1.3887615784728182</c:v>
                </c:pt>
                <c:pt idx="899">
                  <c:v>1.3644615184333018</c:v>
                </c:pt>
                <c:pt idx="900">
                  <c:v>1.3483710322718148</c:v>
                </c:pt>
                <c:pt idx="901">
                  <c:v>1.3390330868071194</c:v>
                </c:pt>
                <c:pt idx="902">
                  <c:v>1.3332661691255159</c:v>
                </c:pt>
                <c:pt idx="903">
                  <c:v>1.3257803866299098</c:v>
                </c:pt>
                <c:pt idx="904">
                  <c:v>1.3152718092669344</c:v>
                </c:pt>
                <c:pt idx="905">
                  <c:v>1.3090438081869173</c:v>
                </c:pt>
                <c:pt idx="906">
                  <c:v>1.3617817182597787</c:v>
                </c:pt>
                <c:pt idx="907">
                  <c:v>1.3512240694221633</c:v>
                </c:pt>
                <c:pt idx="908">
                  <c:v>1.3576740304206356</c:v>
                </c:pt>
                <c:pt idx="909">
                  <c:v>1.3629809490284146</c:v>
                </c:pt>
                <c:pt idx="910">
                  <c:v>1.3728618260514036</c:v>
                </c:pt>
                <c:pt idx="911">
                  <c:v>1.3721075242071747</c:v>
                </c:pt>
                <c:pt idx="912">
                  <c:v>1.3672556072985742</c:v>
                </c:pt>
                <c:pt idx="913">
                  <c:v>1.3865944655750362</c:v>
                </c:pt>
                <c:pt idx="914">
                  <c:v>1.3847388747414586</c:v>
                </c:pt>
                <c:pt idx="915">
                  <c:v>1.3702046876576259</c:v>
                </c:pt>
                <c:pt idx="916">
                  <c:v>1.3466949999030076</c:v>
                </c:pt>
                <c:pt idx="917">
                  <c:v>1.3504070569914965</c:v>
                </c:pt>
                <c:pt idx="918">
                  <c:v>1.3250970140945695</c:v>
                </c:pt>
                <c:pt idx="919">
                  <c:v>1.3126557525469653</c:v>
                </c:pt>
                <c:pt idx="920">
                  <c:v>1.28726956892947</c:v>
                </c:pt>
                <c:pt idx="921">
                  <c:v>1.2639214472384435</c:v>
                </c:pt>
                <c:pt idx="922">
                  <c:v>1.2817655489505726</c:v>
                </c:pt>
                <c:pt idx="923">
                  <c:v>1.2752586317426526</c:v>
                </c:pt>
                <c:pt idx="924">
                  <c:v>1.2759588861322437</c:v>
                </c:pt>
                <c:pt idx="925">
                  <c:v>1.2903378634264786</c:v>
                </c:pt>
                <c:pt idx="926">
                  <c:v>1.3256546144773766</c:v>
                </c:pt>
                <c:pt idx="927">
                  <c:v>1.3168849155771722</c:v>
                </c:pt>
                <c:pt idx="928">
                  <c:v>1.3067110705498455</c:v>
                </c:pt>
                <c:pt idx="929">
                  <c:v>1.2961122268380885</c:v>
                </c:pt>
                <c:pt idx="930">
                  <c:v>1.3220973738266235</c:v>
                </c:pt>
                <c:pt idx="931">
                  <c:v>1.3621635598571311</c:v>
                </c:pt>
                <c:pt idx="932">
                  <c:v>1.3748263408427748</c:v>
                </c:pt>
                <c:pt idx="933">
                  <c:v>1.381341186425443</c:v>
                </c:pt>
                <c:pt idx="934">
                  <c:v>1.3725837010236681</c:v>
                </c:pt>
                <c:pt idx="935">
                  <c:v>1.3661410856418463</c:v>
                </c:pt>
                <c:pt idx="936">
                  <c:v>1.3740844806397241</c:v>
                </c:pt>
                <c:pt idx="937">
                  <c:v>1.3799660163342709</c:v>
                </c:pt>
                <c:pt idx="938">
                  <c:v>1.3784983175562862</c:v>
                </c:pt>
                <c:pt idx="939">
                  <c:v>1.3574421911286763</c:v>
                </c:pt>
                <c:pt idx="940">
                  <c:v>1.3718942243999772</c:v>
                </c:pt>
                <c:pt idx="941">
                  <c:v>1.3710397389442879</c:v>
                </c:pt>
                <c:pt idx="942">
                  <c:v>1.3592547388637382</c:v>
                </c:pt>
                <c:pt idx="943">
                  <c:v>1.3350806744891339</c:v>
                </c:pt>
                <c:pt idx="944">
                  <c:v>1.3451070164024148</c:v>
                </c:pt>
                <c:pt idx="945">
                  <c:v>1.3199918321930537</c:v>
                </c:pt>
                <c:pt idx="946">
                  <c:v>1.3307388587137199</c:v>
                </c:pt>
                <c:pt idx="947">
                  <c:v>1.3335814194260638</c:v>
                </c:pt>
                <c:pt idx="948">
                  <c:v>1.3278853638218751</c:v>
                </c:pt>
                <c:pt idx="949">
                  <c:v>1.3283556338180476</c:v>
                </c:pt>
                <c:pt idx="950">
                  <c:v>1.3455242995793038</c:v>
                </c:pt>
                <c:pt idx="951">
                  <c:v>1.3393196817888424</c:v>
                </c:pt>
                <c:pt idx="952">
                  <c:v>1.3103562238151187</c:v>
                </c:pt>
                <c:pt idx="953">
                  <c:v>1.3154216118459812</c:v>
                </c:pt>
                <c:pt idx="954">
                  <c:v>1.3196645050066373</c:v>
                </c:pt>
                <c:pt idx="955">
                  <c:v>1.3511299777628167</c:v>
                </c:pt>
                <c:pt idx="956">
                  <c:v>1.3758201284558451</c:v>
                </c:pt>
                <c:pt idx="957">
                  <c:v>1.3683506044760056</c:v>
                </c:pt>
                <c:pt idx="958">
                  <c:v>1.3529257911590313</c:v>
                </c:pt>
                <c:pt idx="959">
                  <c:v>1.3467071936526624</c:v>
                </c:pt>
                <c:pt idx="960">
                  <c:v>1.3341458817078462</c:v>
                </c:pt>
                <c:pt idx="961">
                  <c:v>1.3196688992383987</c:v>
                </c:pt>
                <c:pt idx="962">
                  <c:v>1.3291965758990876</c:v>
                </c:pt>
                <c:pt idx="963">
                  <c:v>1.3052629791958437</c:v>
                </c:pt>
                <c:pt idx="964">
                  <c:v>1.3199438516412849</c:v>
                </c:pt>
                <c:pt idx="965">
                  <c:v>1.2951601749435551</c:v>
                </c:pt>
                <c:pt idx="966">
                  <c:v>1.2962251740442901</c:v>
                </c:pt>
                <c:pt idx="967">
                  <c:v>1.27334055410112</c:v>
                </c:pt>
                <c:pt idx="968">
                  <c:v>1.2812378971347087</c:v>
                </c:pt>
                <c:pt idx="969">
                  <c:v>1.3085055164930413</c:v>
                </c:pt>
                <c:pt idx="970">
                  <c:v>1.3256082292430063</c:v>
                </c:pt>
                <c:pt idx="971">
                  <c:v>1.299491775977905</c:v>
                </c:pt>
                <c:pt idx="972">
                  <c:v>1.276204778434225</c:v>
                </c:pt>
                <c:pt idx="973">
                  <c:v>1.2642641992611638</c:v>
                </c:pt>
                <c:pt idx="974">
                  <c:v>1.2395166504347925</c:v>
                </c:pt>
                <c:pt idx="975">
                  <c:v>1.2105770199494885</c:v>
                </c:pt>
                <c:pt idx="976">
                  <c:v>1.2160455802063896</c:v>
                </c:pt>
                <c:pt idx="977">
                  <c:v>1.2028386707829717</c:v>
                </c:pt>
                <c:pt idx="978">
                  <c:v>1.2240011738156447</c:v>
                </c:pt>
                <c:pt idx="979">
                  <c:v>1.2065920750965398</c:v>
                </c:pt>
                <c:pt idx="980">
                  <c:v>1.2063145215487496</c:v>
                </c:pt>
                <c:pt idx="981">
                  <c:v>1.2075408657214557</c:v>
                </c:pt>
                <c:pt idx="982">
                  <c:v>1.1787872482858095</c:v>
                </c:pt>
                <c:pt idx="983">
                  <c:v>1.2088048754737475</c:v>
                </c:pt>
                <c:pt idx="984">
                  <c:v>1.2047295170169223</c:v>
                </c:pt>
                <c:pt idx="985">
                  <c:v>1.1699774275058736</c:v>
                </c:pt>
                <c:pt idx="986">
                  <c:v>1.1879096687779425</c:v>
                </c:pt>
                <c:pt idx="987">
                  <c:v>1.1876336505559568</c:v>
                </c:pt>
                <c:pt idx="988">
                  <c:v>1.2124070838950707</c:v>
                </c:pt>
                <c:pt idx="989">
                  <c:v>1.177966491242836</c:v>
                </c:pt>
                <c:pt idx="990">
                  <c:v>1.1298287606869495</c:v>
                </c:pt>
                <c:pt idx="991">
                  <c:v>1.0991038882736883</c:v>
                </c:pt>
                <c:pt idx="992">
                  <c:v>1.0792324060196723</c:v>
                </c:pt>
                <c:pt idx="993">
                  <c:v>1.1035384380756739</c:v>
                </c:pt>
                <c:pt idx="994">
                  <c:v>1.0807188153024248</c:v>
                </c:pt>
                <c:pt idx="995">
                  <c:v>1.0801005967762276</c:v>
                </c:pt>
                <c:pt idx="996">
                  <c:v>1.1514972879670538</c:v>
                </c:pt>
                <c:pt idx="997">
                  <c:v>1.1711557566642603</c:v>
                </c:pt>
                <c:pt idx="998">
                  <c:v>1.1937773939989085</c:v>
                </c:pt>
                <c:pt idx="999">
                  <c:v>1.2447189010739805</c:v>
                </c:pt>
                <c:pt idx="1000">
                  <c:v>1.2382835435178714</c:v>
                </c:pt>
                <c:pt idx="1001">
                  <c:v>1.2267768562285613</c:v>
                </c:pt>
                <c:pt idx="1002">
                  <c:v>1.2430814574576501</c:v>
                </c:pt>
                <c:pt idx="1003">
                  <c:v>1.2478768834321337</c:v>
                </c:pt>
                <c:pt idx="1004">
                  <c:v>1.2508982615567106</c:v>
                </c:pt>
                <c:pt idx="1005">
                  <c:v>1.3048169051942582</c:v>
                </c:pt>
                <c:pt idx="1006">
                  <c:v>1.2489607809272885</c:v>
                </c:pt>
                <c:pt idx="1007">
                  <c:v>1.3030354076680311</c:v>
                </c:pt>
                <c:pt idx="1008">
                  <c:v>1.3286520187445685</c:v>
                </c:pt>
                <c:pt idx="1009">
                  <c:v>1.3502957868063428</c:v>
                </c:pt>
                <c:pt idx="1010">
                  <c:v>1.3475899162936842</c:v>
                </c:pt>
                <c:pt idx="1011">
                  <c:v>1.3409008782493981</c:v>
                </c:pt>
                <c:pt idx="1012">
                  <c:v>1.3166732939798167</c:v>
                </c:pt>
                <c:pt idx="1013">
                  <c:v>1.354504794262807</c:v>
                </c:pt>
                <c:pt idx="1014">
                  <c:v>1.3705039670932502</c:v>
                </c:pt>
                <c:pt idx="1015">
                  <c:v>1.3658637751677967</c:v>
                </c:pt>
                <c:pt idx="1016">
                  <c:v>1.3662517553897309</c:v>
                </c:pt>
                <c:pt idx="1017">
                  <c:v>1.3564657140771565</c:v>
                </c:pt>
                <c:pt idx="1018">
                  <c:v>1.3803535592074421</c:v>
                </c:pt>
                <c:pt idx="1019">
                  <c:v>1.4143221675352684</c:v>
                </c:pt>
                <c:pt idx="1020">
                  <c:v>1.4059215411927737</c:v>
                </c:pt>
                <c:pt idx="1021">
                  <c:v>1.4072630142039797</c:v>
                </c:pt>
                <c:pt idx="1022">
                  <c:v>1.4004418681699018</c:v>
                </c:pt>
                <c:pt idx="1023">
                  <c:v>1.4020258433493924</c:v>
                </c:pt>
                <c:pt idx="1024">
                  <c:v>1.3697069600570833</c:v>
                </c:pt>
                <c:pt idx="1025">
                  <c:v>1.3569982850198532</c:v>
                </c:pt>
                <c:pt idx="1026">
                  <c:v>1.318705514794559</c:v>
                </c:pt>
                <c:pt idx="1027">
                  <c:v>1.339303019053389</c:v>
                </c:pt>
                <c:pt idx="1028">
                  <c:v>1.3412243989728156</c:v>
                </c:pt>
                <c:pt idx="1029">
                  <c:v>1.3725106501724988</c:v>
                </c:pt>
                <c:pt idx="1030">
                  <c:v>1.3532579138600616</c:v>
                </c:pt>
                <c:pt idx="1031">
                  <c:v>1.3306894597322274</c:v>
                </c:pt>
                <c:pt idx="1032">
                  <c:v>1.3250962189869619</c:v>
                </c:pt>
                <c:pt idx="1033">
                  <c:v>1.328896508439843</c:v>
                </c:pt>
                <c:pt idx="1034">
                  <c:v>1.3002021119556835</c:v>
                </c:pt>
                <c:pt idx="1035">
                  <c:v>1.3004079101307195</c:v>
                </c:pt>
                <c:pt idx="1036">
                  <c:v>1.317289268713977</c:v>
                </c:pt>
                <c:pt idx="1037">
                  <c:v>1.3300554138431981</c:v>
                </c:pt>
                <c:pt idx="1038">
                  <c:v>1.297890788817444</c:v>
                </c:pt>
                <c:pt idx="1039">
                  <c:v>1.3352194286805594</c:v>
                </c:pt>
                <c:pt idx="1040">
                  <c:v>1.3274990058236393</c:v>
                </c:pt>
                <c:pt idx="1041">
                  <c:v>1.2970442481308859</c:v>
                </c:pt>
                <c:pt idx="1042">
                  <c:v>1.2819587552408678</c:v>
                </c:pt>
                <c:pt idx="1043">
                  <c:v>1.2873747787272209</c:v>
                </c:pt>
                <c:pt idx="1044">
                  <c:v>1.3177873563453488</c:v>
                </c:pt>
                <c:pt idx="1045">
                  <c:v>1.3120610996720987</c:v>
                </c:pt>
                <c:pt idx="1046">
                  <c:v>1.3581482729418548</c:v>
                </c:pt>
                <c:pt idx="1047">
                  <c:v>1.3940295300286223</c:v>
                </c:pt>
                <c:pt idx="1048">
                  <c:v>1.3815555243502697</c:v>
                </c:pt>
                <c:pt idx="1049">
                  <c:v>1.393521311845672</c:v>
                </c:pt>
                <c:pt idx="1050">
                  <c:v>1.3795831004055539</c:v>
                </c:pt>
                <c:pt idx="1051">
                  <c:v>1.36116532778244</c:v>
                </c:pt>
                <c:pt idx="1052">
                  <c:v>1.3719252412264358</c:v>
                </c:pt>
                <c:pt idx="1053">
                  <c:v>1.357735149381194</c:v>
                </c:pt>
                <c:pt idx="1054">
                  <c:v>1.3598065387734204</c:v>
                </c:pt>
                <c:pt idx="1055">
                  <c:v>1.3561016181138119</c:v>
                </c:pt>
                <c:pt idx="1056">
                  <c:v>1.3468264337824047</c:v>
                </c:pt>
                <c:pt idx="1057">
                  <c:v>1.3518555053934134</c:v>
                </c:pt>
                <c:pt idx="1058">
                  <c:v>1.3589550785036701</c:v>
                </c:pt>
                <c:pt idx="1059">
                  <c:v>1.3711382542556545</c:v>
                </c:pt>
                <c:pt idx="1060">
                  <c:v>1.367099566828899</c:v>
                </c:pt>
                <c:pt idx="1061">
                  <c:v>1.3617373129716182</c:v>
                </c:pt>
                <c:pt idx="1062">
                  <c:v>1.3473976815850817</c:v>
                </c:pt>
                <c:pt idx="1063">
                  <c:v>1.3196955106337132</c:v>
                </c:pt>
                <c:pt idx="1064">
                  <c:v>1.3424428515158651</c:v>
                </c:pt>
                <c:pt idx="1065">
                  <c:v>1.3272246638502421</c:v>
                </c:pt>
                <c:pt idx="1066">
                  <c:v>1.3235861009192713</c:v>
                </c:pt>
                <c:pt idx="1067">
                  <c:v>1.3311466711511408</c:v>
                </c:pt>
                <c:pt idx="1068">
                  <c:v>1.32466225417603</c:v>
                </c:pt>
                <c:pt idx="1069">
                  <c:v>1.357045525691053</c:v>
                </c:pt>
                <c:pt idx="1070">
                  <c:v>1.3654439649356753</c:v>
                </c:pt>
                <c:pt idx="1071">
                  <c:v>1.3543608201607562</c:v>
                </c:pt>
                <c:pt idx="1072">
                  <c:v>1.3624873031334488</c:v>
                </c:pt>
                <c:pt idx="1073">
                  <c:v>1.3375609463863358</c:v>
                </c:pt>
                <c:pt idx="1074">
                  <c:v>1.3556077169194398</c:v>
                </c:pt>
                <c:pt idx="1075">
                  <c:v>1.3626687161216093</c:v>
                </c:pt>
                <c:pt idx="1076">
                  <c:v>1.3799569644792731</c:v>
                </c:pt>
                <c:pt idx="1077">
                  <c:v>1.4146027428689325</c:v>
                </c:pt>
                <c:pt idx="1078">
                  <c:v>1.4403242514311818</c:v>
                </c:pt>
                <c:pt idx="1079">
                  <c:v>1.4579981522292345</c:v>
                </c:pt>
                <c:pt idx="1080">
                  <c:v>1.4470150295060193</c:v>
                </c:pt>
                <c:pt idx="1081">
                  <c:v>1.4355545908234977</c:v>
                </c:pt>
                <c:pt idx="1082">
                  <c:v>1.4382085425341145</c:v>
                </c:pt>
                <c:pt idx="1083">
                  <c:v>1.4108110780262537</c:v>
                </c:pt>
                <c:pt idx="1084">
                  <c:v>1.3721414727914594</c:v>
                </c:pt>
                <c:pt idx="1085">
                  <c:v>1.4014310170899964</c:v>
                </c:pt>
                <c:pt idx="1086">
                  <c:v>1.3800193271605368</c:v>
                </c:pt>
                <c:pt idx="1087">
                  <c:v>1.3910338623650713</c:v>
                </c:pt>
                <c:pt idx="1088">
                  <c:v>1.4031468445916353</c:v>
                </c:pt>
                <c:pt idx="1089">
                  <c:v>1.3854426227577545</c:v>
                </c:pt>
                <c:pt idx="1090">
                  <c:v>1.381925644099729</c:v>
                </c:pt>
                <c:pt idx="1091">
                  <c:v>1.3764833983035039</c:v>
                </c:pt>
                <c:pt idx="1092">
                  <c:v>1.3786235518522196</c:v>
                </c:pt>
                <c:pt idx="1093">
                  <c:v>1.3784881716372559</c:v>
                </c:pt>
                <c:pt idx="1094">
                  <c:v>1.4320157063831811</c:v>
                </c:pt>
                <c:pt idx="1095">
                  <c:v>1.4398116044514633</c:v>
                </c:pt>
                <c:pt idx="1096">
                  <c:v>1.4479339862200664</c:v>
                </c:pt>
                <c:pt idx="1097">
                  <c:v>1.4375193391538001</c:v>
                </c:pt>
                <c:pt idx="1098">
                  <c:v>1.4314855089483056</c:v>
                </c:pt>
                <c:pt idx="1099">
                  <c:v>1.4566664346123925</c:v>
                </c:pt>
                <c:pt idx="1100">
                  <c:v>1.4226824633539534</c:v>
                </c:pt>
                <c:pt idx="1101">
                  <c:v>1.4195647869935653</c:v>
                </c:pt>
                <c:pt idx="1102">
                  <c:v>1.4163583078630646</c:v>
                </c:pt>
                <c:pt idx="1103">
                  <c:v>1.4160134569083618</c:v>
                </c:pt>
                <c:pt idx="1104">
                  <c:v>1.3702347160509647</c:v>
                </c:pt>
                <c:pt idx="1105">
                  <c:v>1.354221024658405</c:v>
                </c:pt>
                <c:pt idx="1106">
                  <c:v>1.3292114873952543</c:v>
                </c:pt>
                <c:pt idx="1107">
                  <c:v>1.3432339180936159</c:v>
                </c:pt>
                <c:pt idx="1108">
                  <c:v>1.342848733351921</c:v>
                </c:pt>
                <c:pt idx="1109">
                  <c:v>1.3361601023043694</c:v>
                </c:pt>
                <c:pt idx="1110">
                  <c:v>1.3722550453568187</c:v>
                </c:pt>
                <c:pt idx="1111">
                  <c:v>1.3737116075390974</c:v>
                </c:pt>
                <c:pt idx="1112">
                  <c:v>1.3282366450031435</c:v>
                </c:pt>
                <c:pt idx="1113">
                  <c:v>1.2685520105514272</c:v>
                </c:pt>
                <c:pt idx="1114">
                  <c:v>1.2894903230693415</c:v>
                </c:pt>
                <c:pt idx="1115">
                  <c:v>1.2834902780222537</c:v>
                </c:pt>
                <c:pt idx="1116">
                  <c:v>1.2821110756296417</c:v>
                </c:pt>
                <c:pt idx="1117">
                  <c:v>1.2887713329427273</c:v>
                </c:pt>
                <c:pt idx="1118">
                  <c:v>1.2859698554832049</c:v>
                </c:pt>
                <c:pt idx="1119">
                  <c:v>1.298091175903066</c:v>
                </c:pt>
                <c:pt idx="1120">
                  <c:v>1.2823219423905012</c:v>
                </c:pt>
                <c:pt idx="1121">
                  <c:v>1.2831198927707832</c:v>
                </c:pt>
                <c:pt idx="1122">
                  <c:v>1.2925222700733081</c:v>
                </c:pt>
                <c:pt idx="1123">
                  <c:v>1.2914057661478235</c:v>
                </c:pt>
                <c:pt idx="1124">
                  <c:v>1.2822222786624737</c:v>
                </c:pt>
                <c:pt idx="1125">
                  <c:v>1.2839300959605577</c:v>
                </c:pt>
                <c:pt idx="1126">
                  <c:v>1.274846772231125</c:v>
                </c:pt>
                <c:pt idx="1127">
                  <c:v>1.2672393860339397</c:v>
                </c:pt>
                <c:pt idx="1128">
                  <c:v>1.255769783997263</c:v>
                </c:pt>
                <c:pt idx="1129">
                  <c:v>1.2389166347784379</c:v>
                </c:pt>
                <c:pt idx="1130">
                  <c:v>1.23976194589471</c:v>
                </c:pt>
                <c:pt idx="1131">
                  <c:v>1.238174153290944</c:v>
                </c:pt>
                <c:pt idx="1132">
                  <c:v>1.274529008226025</c:v>
                </c:pt>
                <c:pt idx="1133">
                  <c:v>1.2330938763276054</c:v>
                </c:pt>
                <c:pt idx="1134">
                  <c:v>1.2441315199889109</c:v>
                </c:pt>
                <c:pt idx="1135">
                  <c:v>1.2319775919045111</c:v>
                </c:pt>
                <c:pt idx="1136">
                  <c:v>1.2349996812357253</c:v>
                </c:pt>
                <c:pt idx="1137">
                  <c:v>1.2084736694906864</c:v>
                </c:pt>
                <c:pt idx="1138">
                  <c:v>1.206707958218191</c:v>
                </c:pt>
                <c:pt idx="1139">
                  <c:v>1.2196724139830049</c:v>
                </c:pt>
                <c:pt idx="1140">
                  <c:v>1.2231422509405403</c:v>
                </c:pt>
                <c:pt idx="1141">
                  <c:v>1.2193104485040873</c:v>
                </c:pt>
                <c:pt idx="1142">
                  <c:v>1.2278786830921868</c:v>
                </c:pt>
                <c:pt idx="1143">
                  <c:v>1.2186335563994979</c:v>
                </c:pt>
                <c:pt idx="1144">
                  <c:v>1.2157952152342979</c:v>
                </c:pt>
                <c:pt idx="1145">
                  <c:v>1.2116941162887804</c:v>
                </c:pt>
                <c:pt idx="1146">
                  <c:v>1.2053509570749081</c:v>
                </c:pt>
                <c:pt idx="1147">
                  <c:v>1.2664666899685628</c:v>
                </c:pt>
                <c:pt idx="1148">
                  <c:v>1.2685831094033273</c:v>
                </c:pt>
                <c:pt idx="1149">
                  <c:v>1.3093399071035465</c:v>
                </c:pt>
                <c:pt idx="1150">
                  <c:v>1.3848497071285892</c:v>
                </c:pt>
                <c:pt idx="1151">
                  <c:v>1.551334624268085</c:v>
                </c:pt>
                <c:pt idx="1152">
                  <c:v>1.7522250752679549</c:v>
                </c:pt>
                <c:pt idx="1153">
                  <c:v>1.6555690458093399</c:v>
                </c:pt>
                <c:pt idx="1154">
                  <c:v>1.6138701425981536</c:v>
                </c:pt>
                <c:pt idx="1155">
                  <c:v>1.5540092332869562</c:v>
                </c:pt>
                <c:pt idx="1156">
                  <c:v>1.5947745208009012</c:v>
                </c:pt>
                <c:pt idx="1157">
                  <c:v>1.5582720733065438</c:v>
                </c:pt>
                <c:pt idx="1158">
                  <c:v>1.521020361926791</c:v>
                </c:pt>
                <c:pt idx="1159">
                  <c:v>1.525890509902089</c:v>
                </c:pt>
                <c:pt idx="1160">
                  <c:v>1.6470269087403675</c:v>
                </c:pt>
                <c:pt idx="1161">
                  <c:v>1.6684721714412862</c:v>
                </c:pt>
                <c:pt idx="1162">
                  <c:v>1.6714974233786324</c:v>
                </c:pt>
                <c:pt idx="1163">
                  <c:v>1.6449291287205126</c:v>
                </c:pt>
                <c:pt idx="1164">
                  <c:v>1.6467015278603538</c:v>
                </c:pt>
                <c:pt idx="1165">
                  <c:v>1.6687993358746376</c:v>
                </c:pt>
                <c:pt idx="1166">
                  <c:v>1.6583853819449212</c:v>
                </c:pt>
                <c:pt idx="1167">
                  <c:v>1.6458815212489326</c:v>
                </c:pt>
                <c:pt idx="1168">
                  <c:v>1.6425366603605187</c:v>
                </c:pt>
                <c:pt idx="1169">
                  <c:v>1.65429449059486</c:v>
                </c:pt>
                <c:pt idx="1170">
                  <c:v>1.617010792735565</c:v>
                </c:pt>
                <c:pt idx="1171">
                  <c:v>1.6558853276043362</c:v>
                </c:pt>
                <c:pt idx="1172">
                  <c:v>1.7089983378418274</c:v>
                </c:pt>
                <c:pt idx="1173">
                  <c:v>1.6912951976910975</c:v>
                </c:pt>
                <c:pt idx="1174">
                  <c:v>1.7263663153591888</c:v>
                </c:pt>
                <c:pt idx="1175">
                  <c:v>1.7307326839881512</c:v>
                </c:pt>
                <c:pt idx="1176">
                  <c:v>1.7883119204333662</c:v>
                </c:pt>
                <c:pt idx="1177">
                  <c:v>1.7717905189256213</c:v>
                </c:pt>
                <c:pt idx="1178">
                  <c:v>1.7955629040367149</c:v>
                </c:pt>
                <c:pt idx="1179">
                  <c:v>1.7331601144437487</c:v>
                </c:pt>
                <c:pt idx="1180">
                  <c:v>1.6700278760237526</c:v>
                </c:pt>
                <c:pt idx="1181">
                  <c:v>1.6268611346709463</c:v>
                </c:pt>
                <c:pt idx="1182">
                  <c:v>1.6654102577852925</c:v>
                </c:pt>
                <c:pt idx="1183">
                  <c:v>1.6792020162928862</c:v>
                </c:pt>
                <c:pt idx="1184">
                  <c:v>1.6729302576317575</c:v>
                </c:pt>
                <c:pt idx="1185">
                  <c:v>1.6171644999669712</c:v>
                </c:pt>
                <c:pt idx="1186">
                  <c:v>1.5946218277282913</c:v>
                </c:pt>
                <c:pt idx="1187">
                  <c:v>1.5879417747142337</c:v>
                </c:pt>
                <c:pt idx="1188">
                  <c:v>1.6313396116474963</c:v>
                </c:pt>
                <c:pt idx="1189">
                  <c:v>1.6099311204103213</c:v>
                </c:pt>
                <c:pt idx="1190">
                  <c:v>1.643896216040825</c:v>
                </c:pt>
                <c:pt idx="1191">
                  <c:v>1.67582017733544</c:v>
                </c:pt>
                <c:pt idx="1192">
                  <c:v>1.6585112332904062</c:v>
                </c:pt>
                <c:pt idx="1193">
                  <c:v>1.63920419239286</c:v>
                </c:pt>
                <c:pt idx="1194">
                  <c:v>1.649353717679275</c:v>
                </c:pt>
                <c:pt idx="1195">
                  <c:v>1.6653134863451489</c:v>
                </c:pt>
                <c:pt idx="1196">
                  <c:v>1.6430347140954762</c:v>
                </c:pt>
                <c:pt idx="1197">
                  <c:v>1.65315360610283</c:v>
                </c:pt>
                <c:pt idx="1198">
                  <c:v>1.6695757986674113</c:v>
                </c:pt>
                <c:pt idx="1199">
                  <c:v>1.6891730466185026</c:v>
                </c:pt>
                <c:pt idx="1200">
                  <c:v>1.6635190785603737</c:v>
                </c:pt>
                <c:pt idx="1201">
                  <c:v>1.6437392670580264</c:v>
                </c:pt>
                <c:pt idx="1202">
                  <c:v>1.6439710256051712</c:v>
                </c:pt>
                <c:pt idx="1203">
                  <c:v>1.6528654815551573</c:v>
                </c:pt>
                <c:pt idx="1204">
                  <c:v>1.6814069681725137</c:v>
                </c:pt>
                <c:pt idx="1205">
                  <c:v>1.7012531018229851</c:v>
                </c:pt>
                <c:pt idx="1206">
                  <c:v>1.6750432531774975</c:v>
                </c:pt>
                <c:pt idx="1207">
                  <c:v>1.6911567269631775</c:v>
                </c:pt>
                <c:pt idx="1208">
                  <c:v>1.6851659838745225</c:v>
                </c:pt>
                <c:pt idx="1209">
                  <c:v>1.7285992284078437</c:v>
                </c:pt>
                <c:pt idx="1210">
                  <c:v>1.7106326553394351</c:v>
                </c:pt>
                <c:pt idx="1211">
                  <c:v>1.6998801406843451</c:v>
                </c:pt>
                <c:pt idx="1212">
                  <c:v>1.6495063373208487</c:v>
                </c:pt>
                <c:pt idx="1213">
                  <c:v>1.6012724495777575</c:v>
                </c:pt>
                <c:pt idx="1214">
                  <c:v>1.5772608624690521</c:v>
                </c:pt>
                <c:pt idx="1215">
                  <c:v>1.5748761122941306</c:v>
                </c:pt>
                <c:pt idx="1216">
                  <c:v>1.6221958447342051</c:v>
                </c:pt>
                <c:pt idx="1217">
                  <c:v>1.6167376025119446</c:v>
                </c:pt>
                <c:pt idx="1218">
                  <c:v>1.6177451570654475</c:v>
                </c:pt>
                <c:pt idx="1219">
                  <c:v>1.5859714432219925</c:v>
                </c:pt>
                <c:pt idx="1220">
                  <c:v>1.5790441987374566</c:v>
                </c:pt>
                <c:pt idx="1221">
                  <c:v>1.6405209902900637</c:v>
                </c:pt>
                <c:pt idx="1222">
                  <c:v>1.6166558544887983</c:v>
                </c:pt>
                <c:pt idx="1223">
                  <c:v>1.6310543965813911</c:v>
                </c:pt>
                <c:pt idx="1224">
                  <c:v>1.6464112228350301</c:v>
                </c:pt>
                <c:pt idx="1225">
                  <c:v>1.6770459454861575</c:v>
                </c:pt>
                <c:pt idx="1226">
                  <c:v>1.7093924556467299</c:v>
                </c:pt>
                <c:pt idx="1227">
                  <c:v>1.7308694998398175</c:v>
                </c:pt>
                <c:pt idx="1228">
                  <c:v>1.7095446761607374</c:v>
                </c:pt>
                <c:pt idx="1229">
                  <c:v>1.7351942539936425</c:v>
                </c:pt>
                <c:pt idx="1230">
                  <c:v>1.6793270538491487</c:v>
                </c:pt>
                <c:pt idx="1231">
                  <c:v>1.6415263515421801</c:v>
                </c:pt>
                <c:pt idx="1232">
                  <c:v>1.6973688130791824</c:v>
                </c:pt>
                <c:pt idx="1233">
                  <c:v>1.7220860226003161</c:v>
                </c:pt>
                <c:pt idx="1234">
                  <c:v>1.7338841264715388</c:v>
                </c:pt>
                <c:pt idx="1235">
                  <c:v>1.7340619193461324</c:v>
                </c:pt>
                <c:pt idx="1236">
                  <c:v>1.7681076448064386</c:v>
                </c:pt>
                <c:pt idx="1237">
                  <c:v>1.72699792942805</c:v>
                </c:pt>
                <c:pt idx="1238">
                  <c:v>1.7346433109887451</c:v>
                </c:pt>
                <c:pt idx="1239">
                  <c:v>1.7696851816031576</c:v>
                </c:pt>
                <c:pt idx="1240">
                  <c:v>1.7418875903373174</c:v>
                </c:pt>
                <c:pt idx="1241">
                  <c:v>1.7828760692345837</c:v>
                </c:pt>
                <c:pt idx="1242">
                  <c:v>1.7897555354522487</c:v>
                </c:pt>
                <c:pt idx="1243">
                  <c:v>1.83927202491255</c:v>
                </c:pt>
                <c:pt idx="1244">
                  <c:v>1.8136499009606037</c:v>
                </c:pt>
                <c:pt idx="1245">
                  <c:v>1.8002693143014676</c:v>
                </c:pt>
                <c:pt idx="1246">
                  <c:v>1.8109955788228889</c:v>
                </c:pt>
                <c:pt idx="1247">
                  <c:v>1.7788657078656351</c:v>
                </c:pt>
                <c:pt idx="1248">
                  <c:v>1.6961007017754723</c:v>
                </c:pt>
                <c:pt idx="1249">
                  <c:v>1.6832600366312374</c:v>
                </c:pt>
                <c:pt idx="1250">
                  <c:v>1.6940044660678237</c:v>
                </c:pt>
                <c:pt idx="1251">
                  <c:v>1.7073535210235999</c:v>
                </c:pt>
                <c:pt idx="1252">
                  <c:v>1.7540807752443788</c:v>
                </c:pt>
                <c:pt idx="1253">
                  <c:v>1.7360290273836574</c:v>
                </c:pt>
                <c:pt idx="1254">
                  <c:v>1.7266057372603614</c:v>
                </c:pt>
                <c:pt idx="1255">
                  <c:v>1.7166883842526051</c:v>
                </c:pt>
                <c:pt idx="1256">
                  <c:v>1.7181696367577137</c:v>
                </c:pt>
                <c:pt idx="1257">
                  <c:v>1.6848518314241487</c:v>
                </c:pt>
                <c:pt idx="1258">
                  <c:v>1.7164171081313189</c:v>
                </c:pt>
                <c:pt idx="1259">
                  <c:v>1.7118702783801425</c:v>
                </c:pt>
                <c:pt idx="1260">
                  <c:v>1.7230506459284927</c:v>
                </c:pt>
                <c:pt idx="1261">
                  <c:v>1.6975091151500212</c:v>
                </c:pt>
                <c:pt idx="1262">
                  <c:v>1.6797810693071187</c:v>
                </c:pt>
                <c:pt idx="1263">
                  <c:v>1.64027029292244</c:v>
                </c:pt>
                <c:pt idx="1264">
                  <c:v>1.6470902076967038</c:v>
                </c:pt>
                <c:pt idx="1265">
                  <c:v>1.6231639186102931</c:v>
                </c:pt>
                <c:pt idx="1266">
                  <c:v>1.6219915238328353</c:v>
                </c:pt>
                <c:pt idx="1267">
                  <c:v>1.6261039538841477</c:v>
                </c:pt>
                <c:pt idx="1268">
                  <c:v>1.6134624532898907</c:v>
                </c:pt>
                <c:pt idx="1269">
                  <c:v>1.6163574637429252</c:v>
                </c:pt>
                <c:pt idx="1270">
                  <c:v>1.6138876687076018</c:v>
                </c:pt>
                <c:pt idx="1271">
                  <c:v>1.6165664705474916</c:v>
                </c:pt>
                <c:pt idx="1272">
                  <c:v>1.5823848098218258</c:v>
                </c:pt>
                <c:pt idx="1273">
                  <c:v>1.4284132700665004</c:v>
                </c:pt>
                <c:pt idx="1274">
                  <c:v>1.4069622931834425</c:v>
                </c:pt>
                <c:pt idx="1275">
                  <c:v>1.4436133226341772</c:v>
                </c:pt>
                <c:pt idx="1276">
                  <c:v>1.4787976331643771</c:v>
                </c:pt>
                <c:pt idx="1277">
                  <c:v>1.5143917864679577</c:v>
                </c:pt>
                <c:pt idx="1278">
                  <c:v>1.5245654467949135</c:v>
                </c:pt>
                <c:pt idx="1279">
                  <c:v>1.5143853261572082</c:v>
                </c:pt>
                <c:pt idx="1280">
                  <c:v>1.5006523015291986</c:v>
                </c:pt>
                <c:pt idx="1281">
                  <c:v>1.5018489846622574</c:v>
                </c:pt>
                <c:pt idx="1282">
                  <c:v>1.5013493016340573</c:v>
                </c:pt>
                <c:pt idx="1283">
                  <c:v>1.529836185666211</c:v>
                </c:pt>
                <c:pt idx="1284">
                  <c:v>1.5180382382646218</c:v>
                </c:pt>
                <c:pt idx="1285">
                  <c:v>1.5386723278375296</c:v>
                </c:pt>
                <c:pt idx="1286">
                  <c:v>1.5229252464566616</c:v>
                </c:pt>
                <c:pt idx="1287">
                  <c:v>1.5343248794373414</c:v>
                </c:pt>
                <c:pt idx="1288">
                  <c:v>1.5294011445507827</c:v>
                </c:pt>
                <c:pt idx="1289">
                  <c:v>1.5346211688357596</c:v>
                </c:pt>
                <c:pt idx="1290">
                  <c:v>1.5540995689241743</c:v>
                </c:pt>
                <c:pt idx="1291">
                  <c:v>1.5892765748397895</c:v>
                </c:pt>
                <c:pt idx="1292">
                  <c:v>1.5814511239682534</c:v>
                </c:pt>
                <c:pt idx="1293">
                  <c:v>1.5948432947218001</c:v>
                </c:pt>
                <c:pt idx="1294">
                  <c:v>1.572324378156573</c:v>
                </c:pt>
                <c:pt idx="1295">
                  <c:v>1.5972869961353524</c:v>
                </c:pt>
                <c:pt idx="1296">
                  <c:v>1.5926301496135282</c:v>
                </c:pt>
                <c:pt idx="1297">
                  <c:v>1.5999023375825661</c:v>
                </c:pt>
                <c:pt idx="1298">
                  <c:v>1.563175505540408</c:v>
                </c:pt>
                <c:pt idx="1299">
                  <c:v>1.5675171221430106</c:v>
                </c:pt>
                <c:pt idx="1300">
                  <c:v>1.5627554734682723</c:v>
                </c:pt>
                <c:pt idx="1301">
                  <c:v>1.5725807444152391</c:v>
                </c:pt>
                <c:pt idx="1302">
                  <c:v>1.5671126654386109</c:v>
                </c:pt>
                <c:pt idx="1303">
                  <c:v>1.5596895809083433</c:v>
                </c:pt>
                <c:pt idx="1304">
                  <c:v>1.5386391684196301</c:v>
                </c:pt>
                <c:pt idx="1305">
                  <c:v>1.5426338494182377</c:v>
                </c:pt>
                <c:pt idx="1306">
                  <c:v>1.5229024441254997</c:v>
                </c:pt>
                <c:pt idx="1307">
                  <c:v>1.5291569395191009</c:v>
                </c:pt>
                <c:pt idx="1308">
                  <c:v>1.5594096327847247</c:v>
                </c:pt>
                <c:pt idx="1309">
                  <c:v>1.538290899002718</c:v>
                </c:pt>
                <c:pt idx="1310">
                  <c:v>1.5392202179042438</c:v>
                </c:pt>
                <c:pt idx="1311">
                  <c:v>1.5670104711863089</c:v>
                </c:pt>
                <c:pt idx="1312">
                  <c:v>1.6052890218440177</c:v>
                </c:pt>
                <c:pt idx="1313">
                  <c:v>1.6027161077035337</c:v>
                </c:pt>
                <c:pt idx="1314">
                  <c:v>1.6145886749449501</c:v>
                </c:pt>
                <c:pt idx="1315">
                  <c:v>1.5974257700135512</c:v>
                </c:pt>
                <c:pt idx="1316">
                  <c:v>1.6020441260378688</c:v>
                </c:pt>
                <c:pt idx="1317">
                  <c:v>1.612777813576155</c:v>
                </c:pt>
                <c:pt idx="1318">
                  <c:v>1.6040618497404238</c:v>
                </c:pt>
                <c:pt idx="1319">
                  <c:v>1.6288756150255475</c:v>
                </c:pt>
                <c:pt idx="1320">
                  <c:v>1.6209632262723876</c:v>
                </c:pt>
                <c:pt idx="1321">
                  <c:v>1.6572517127419499</c:v>
                </c:pt>
                <c:pt idx="1322">
                  <c:v>1.6515363339175275</c:v>
                </c:pt>
                <c:pt idx="1323">
                  <c:v>1.6359986494123062</c:v>
                </c:pt>
                <c:pt idx="1324">
                  <c:v>1.6365280241927738</c:v>
                </c:pt>
                <c:pt idx="1325">
                  <c:v>1.6530484639281113</c:v>
                </c:pt>
                <c:pt idx="1326">
                  <c:v>1.6784430744261412</c:v>
                </c:pt>
                <c:pt idx="1327">
                  <c:v>1.6798921112349363</c:v>
                </c:pt>
                <c:pt idx="1328">
                  <c:v>1.7049062237723311</c:v>
                </c:pt>
                <c:pt idx="1329">
                  <c:v>1.7361825512645224</c:v>
                </c:pt>
                <c:pt idx="1330">
                  <c:v>1.7393586473410738</c:v>
                </c:pt>
                <c:pt idx="1331">
                  <c:v>1.7038966057955638</c:v>
                </c:pt>
                <c:pt idx="1332">
                  <c:v>1.7398924995871801</c:v>
                </c:pt>
                <c:pt idx="1333">
                  <c:v>1.7395954855500089</c:v>
                </c:pt>
                <c:pt idx="1334">
                  <c:v>1.7203200693022938</c:v>
                </c:pt>
                <c:pt idx="1335">
                  <c:v>1.7797143293727062</c:v>
                </c:pt>
                <c:pt idx="1336">
                  <c:v>1.775768144954915</c:v>
                </c:pt>
                <c:pt idx="1337">
                  <c:v>1.7739359989115162</c:v>
                </c:pt>
                <c:pt idx="1338">
                  <c:v>1.7741368874141676</c:v>
                </c:pt>
                <c:pt idx="1339">
                  <c:v>1.7757977265654401</c:v>
                </c:pt>
                <c:pt idx="1340">
                  <c:v>1.8525359513516686</c:v>
                </c:pt>
                <c:pt idx="1341">
                  <c:v>1.8483800469772489</c:v>
                </c:pt>
                <c:pt idx="1342">
                  <c:v>1.9058551398384975</c:v>
                </c:pt>
                <c:pt idx="1343">
                  <c:v>1.9001805006289174</c:v>
                </c:pt>
                <c:pt idx="1344">
                  <c:v>1.9056436426982812</c:v>
                </c:pt>
                <c:pt idx="1345">
                  <c:v>1.9043696514729913</c:v>
                </c:pt>
                <c:pt idx="1346">
                  <c:v>1.904681459770055</c:v>
                </c:pt>
                <c:pt idx="1347">
                  <c:v>1.9149166617020086</c:v>
                </c:pt>
                <c:pt idx="1348">
                  <c:v>1.9225501870775026</c:v>
                </c:pt>
                <c:pt idx="1349">
                  <c:v>1.958374971429035</c:v>
                </c:pt>
                <c:pt idx="1350">
                  <c:v>2.0172251494164621</c:v>
                </c:pt>
                <c:pt idx="1351">
                  <c:v>2.0061479697941462</c:v>
                </c:pt>
                <c:pt idx="1352">
                  <c:v>2.0035792677059701</c:v>
                </c:pt>
                <c:pt idx="1353">
                  <c:v>1.9723074455700911</c:v>
                </c:pt>
                <c:pt idx="1354">
                  <c:v>1.9788922325020537</c:v>
                </c:pt>
                <c:pt idx="1355">
                  <c:v>1.9951189534547011</c:v>
                </c:pt>
                <c:pt idx="1356">
                  <c:v>2.0051647098135112</c:v>
                </c:pt>
                <c:pt idx="1357">
                  <c:v>2.0012504822853252</c:v>
                </c:pt>
                <c:pt idx="1358">
                  <c:v>1.9895943439703376</c:v>
                </c:pt>
                <c:pt idx="1359">
                  <c:v>2.0278820653379315</c:v>
                </c:pt>
                <c:pt idx="1360">
                  <c:v>2.0868166930783625</c:v>
                </c:pt>
                <c:pt idx="1361">
                  <c:v>2.1852300286053401</c:v>
                </c:pt>
                <c:pt idx="1362">
                  <c:v>2.144730290660056</c:v>
                </c:pt>
                <c:pt idx="1363">
                  <c:v>2.1704608576054687</c:v>
                </c:pt>
                <c:pt idx="1364">
                  <c:v>2.2357912021374386</c:v>
                </c:pt>
                <c:pt idx="1365">
                  <c:v>2.260335855349771</c:v>
                </c:pt>
                <c:pt idx="1366">
                  <c:v>2.282578734268105</c:v>
                </c:pt>
                <c:pt idx="1367">
                  <c:v>2.2715195312522987</c:v>
                </c:pt>
                <c:pt idx="1368">
                  <c:v>2.3743325763782197</c:v>
                </c:pt>
                <c:pt idx="1369">
                  <c:v>2.471601722809825</c:v>
                </c:pt>
                <c:pt idx="1370">
                  <c:v>2.4553647936029823</c:v>
                </c:pt>
                <c:pt idx="1371">
                  <c:v>2.4821633630169337</c:v>
                </c:pt>
                <c:pt idx="1372">
                  <c:v>2.6405324606872487</c:v>
                </c:pt>
                <c:pt idx="1373">
                  <c:v>2.6491339553785749</c:v>
                </c:pt>
                <c:pt idx="1374">
                  <c:v>2.7268123372281083</c:v>
                </c:pt>
                <c:pt idx="1375">
                  <c:v>2.6199358499692349</c:v>
                </c:pt>
                <c:pt idx="1376">
                  <c:v>2.6447705222262439</c:v>
                </c:pt>
                <c:pt idx="1377">
                  <c:v>2.4660745889373326</c:v>
                </c:pt>
                <c:pt idx="1378">
                  <c:v>2.6050675996140176</c:v>
                </c:pt>
                <c:pt idx="1379">
                  <c:v>2.5547189181305736</c:v>
                </c:pt>
                <c:pt idx="1380">
                  <c:v>2.50176593978196</c:v>
                </c:pt>
                <c:pt idx="1381">
                  <c:v>2.5658929547873077</c:v>
                </c:pt>
                <c:pt idx="1382">
                  <c:v>2.7442697348699037</c:v>
                </c:pt>
                <c:pt idx="1383">
                  <c:v>2.7403073402035503</c:v>
                </c:pt>
                <c:pt idx="1384">
                  <c:v>2.7277800868278064</c:v>
                </c:pt>
                <c:pt idx="1385">
                  <c:v>2.7493628821705651</c:v>
                </c:pt>
                <c:pt idx="1386">
                  <c:v>2.7745813129526691</c:v>
                </c:pt>
                <c:pt idx="1387">
                  <c:v>2.8090282011997001</c:v>
                </c:pt>
                <c:pt idx="1388">
                  <c:v>2.8046447633848</c:v>
                </c:pt>
                <c:pt idx="1389">
                  <c:v>2.876938530788725</c:v>
                </c:pt>
                <c:pt idx="1390">
                  <c:v>2.8993366135437499</c:v>
                </c:pt>
                <c:pt idx="1391">
                  <c:v>2.9333179967183249</c:v>
                </c:pt>
                <c:pt idx="1392">
                  <c:v>2.9633717673401625</c:v>
                </c:pt>
                <c:pt idx="1393">
                  <c:v>2.8833806252870002</c:v>
                </c:pt>
                <c:pt idx="1394">
                  <c:v>2.944208415396075</c:v>
                </c:pt>
                <c:pt idx="1395">
                  <c:v>2.9370093924166123</c:v>
                </c:pt>
                <c:pt idx="1396">
                  <c:v>2.9707094703780874</c:v>
                </c:pt>
                <c:pt idx="1397">
                  <c:v>2.8551442559264624</c:v>
                </c:pt>
                <c:pt idx="1398">
                  <c:v>2.8226859421678125</c:v>
                </c:pt>
                <c:pt idx="1399">
                  <c:v>2.6803630588114999</c:v>
                </c:pt>
                <c:pt idx="1400">
                  <c:v>2.7458021032612749</c:v>
                </c:pt>
                <c:pt idx="1401">
                  <c:v>2.7453800622867748</c:v>
                </c:pt>
                <c:pt idx="1402">
                  <c:v>2.6446045137900249</c:v>
                </c:pt>
                <c:pt idx="1403">
                  <c:v>2.6973423020676126</c:v>
                </c:pt>
                <c:pt idx="1404">
                  <c:v>2.8191765348390501</c:v>
                </c:pt>
                <c:pt idx="1405">
                  <c:v>2.8049543725412747</c:v>
                </c:pt>
                <c:pt idx="1406">
                  <c:v>2.7748362157416122</c:v>
                </c:pt>
                <c:pt idx="1407">
                  <c:v>2.9150066390449623</c:v>
                </c:pt>
                <c:pt idx="1408">
                  <c:v>3.0186524605623748</c:v>
                </c:pt>
                <c:pt idx="1409">
                  <c:v>3.0375288270812</c:v>
                </c:pt>
                <c:pt idx="1410">
                  <c:v>3.0917728826587747</c:v>
                </c:pt>
                <c:pt idx="1411">
                  <c:v>3.023269068347</c:v>
                </c:pt>
                <c:pt idx="1412">
                  <c:v>2.9063202449889998</c:v>
                </c:pt>
                <c:pt idx="1413">
                  <c:v>2.9139459744540002</c:v>
                </c:pt>
                <c:pt idx="1414">
                  <c:v>2.8809061301330501</c:v>
                </c:pt>
                <c:pt idx="1415">
                  <c:v>2.882406602501125</c:v>
                </c:pt>
                <c:pt idx="1416">
                  <c:v>2.9551624089635498</c:v>
                </c:pt>
                <c:pt idx="1417">
                  <c:v>2.9099773938843625</c:v>
                </c:pt>
                <c:pt idx="1418">
                  <c:v>2.8763344383849372</c:v>
                </c:pt>
                <c:pt idx="1419">
                  <c:v>2.8154589951217499</c:v>
                </c:pt>
                <c:pt idx="1420">
                  <c:v>2.8164662771166875</c:v>
                </c:pt>
                <c:pt idx="1421">
                  <c:v>2.8313149627709127</c:v>
                </c:pt>
                <c:pt idx="1422">
                  <c:v>2.7432742298801127</c:v>
                </c:pt>
                <c:pt idx="1423">
                  <c:v>2.7459543971837377</c:v>
                </c:pt>
                <c:pt idx="1424">
                  <c:v>2.7440482516508999</c:v>
                </c:pt>
                <c:pt idx="1425">
                  <c:v>2.7454902880074252</c:v>
                </c:pt>
                <c:pt idx="1426">
                  <c:v>2.7374317018057504</c:v>
                </c:pt>
                <c:pt idx="1427">
                  <c:v>2.6143546970331126</c:v>
                </c:pt>
                <c:pt idx="1428">
                  <c:v>2.60685475191395</c:v>
                </c:pt>
                <c:pt idx="1429">
                  <c:v>2.6808794798899127</c:v>
                </c:pt>
                <c:pt idx="1430">
                  <c:v>2.7706882731977247</c:v>
                </c:pt>
                <c:pt idx="1431">
                  <c:v>2.7555751169557752</c:v>
                </c:pt>
                <c:pt idx="1432">
                  <c:v>2.7711784084137374</c:v>
                </c:pt>
                <c:pt idx="1433">
                  <c:v>2.8192086018828375</c:v>
                </c:pt>
                <c:pt idx="1434">
                  <c:v>2.8137250905592253</c:v>
                </c:pt>
                <c:pt idx="1435">
                  <c:v>2.795423647015963</c:v>
                </c:pt>
                <c:pt idx="1436">
                  <c:v>2.8172665103692625</c:v>
                </c:pt>
                <c:pt idx="1437">
                  <c:v>2.8311891640057998</c:v>
                </c:pt>
                <c:pt idx="1438">
                  <c:v>2.9274209805272626</c:v>
                </c:pt>
                <c:pt idx="1439">
                  <c:v>2.9847719970503372</c:v>
                </c:pt>
                <c:pt idx="1440">
                  <c:v>2.9882629110743499</c:v>
                </c:pt>
                <c:pt idx="1441">
                  <c:v>2.9257036859135752</c:v>
                </c:pt>
                <c:pt idx="1442">
                  <c:v>2.9712240751149253</c:v>
                </c:pt>
                <c:pt idx="1443">
                  <c:v>2.9023843922080999</c:v>
                </c:pt>
                <c:pt idx="1444">
                  <c:v>2.8555829461065505</c:v>
                </c:pt>
                <c:pt idx="1445">
                  <c:v>2.9750147575277497</c:v>
                </c:pt>
                <c:pt idx="1446">
                  <c:v>2.904578656309738</c:v>
                </c:pt>
                <c:pt idx="1447">
                  <c:v>2.9014439302606374</c:v>
                </c:pt>
                <c:pt idx="1448">
                  <c:v>3.0094572183089126</c:v>
                </c:pt>
                <c:pt idx="1449">
                  <c:v>3.0290286820869001</c:v>
                </c:pt>
                <c:pt idx="1450">
                  <c:v>3.0713614678497372</c:v>
                </c:pt>
                <c:pt idx="1451">
                  <c:v>3.0742405535415003</c:v>
                </c:pt>
                <c:pt idx="1452">
                  <c:v>3.0492075975651876</c:v>
                </c:pt>
                <c:pt idx="1453">
                  <c:v>3.0574643259651251</c:v>
                </c:pt>
                <c:pt idx="1454">
                  <c:v>3.0598382245549498</c:v>
                </c:pt>
                <c:pt idx="1455">
                  <c:v>3.0151511327612499</c:v>
                </c:pt>
                <c:pt idx="1456">
                  <c:v>3.103603532963175</c:v>
                </c:pt>
                <c:pt idx="1457">
                  <c:v>3.1265805686842252</c:v>
                </c:pt>
                <c:pt idx="1458">
                  <c:v>3.1774636008897503</c:v>
                </c:pt>
                <c:pt idx="1459">
                  <c:v>3.1414559473749124</c:v>
                </c:pt>
                <c:pt idx="1460">
                  <c:v>3.1484578101989502</c:v>
                </c:pt>
                <c:pt idx="1461">
                  <c:v>3.1846362534515</c:v>
                </c:pt>
                <c:pt idx="1462">
                  <c:v>3.1112667672663874</c:v>
                </c:pt>
                <c:pt idx="1463">
                  <c:v>3.1579846867827874</c:v>
                </c:pt>
                <c:pt idx="1464">
                  <c:v>3.2227105151405375</c:v>
                </c:pt>
                <c:pt idx="1465">
                  <c:v>3.2602109283834877</c:v>
                </c:pt>
                <c:pt idx="1466">
                  <c:v>3.2374455180203121</c:v>
                </c:pt>
                <c:pt idx="1467">
                  <c:v>3.1710513959717375</c:v>
                </c:pt>
                <c:pt idx="1468">
                  <c:v>3.2258545480611871</c:v>
                </c:pt>
                <c:pt idx="1469">
                  <c:v>3.2652500425797877</c:v>
                </c:pt>
                <c:pt idx="1470">
                  <c:v>3.2272786648247123</c:v>
                </c:pt>
                <c:pt idx="1471">
                  <c:v>3.1876878880876376</c:v>
                </c:pt>
                <c:pt idx="1472">
                  <c:v>3.2496196397759252</c:v>
                </c:pt>
                <c:pt idx="1473">
                  <c:v>3.2558349326975247</c:v>
                </c:pt>
                <c:pt idx="1474">
                  <c:v>3.1703574510183001</c:v>
                </c:pt>
                <c:pt idx="1475">
                  <c:v>3.2220901175328125</c:v>
                </c:pt>
                <c:pt idx="1476">
                  <c:v>3.1292661418303749</c:v>
                </c:pt>
                <c:pt idx="1477">
                  <c:v>3.1805520208767875</c:v>
                </c:pt>
                <c:pt idx="1478">
                  <c:v>3.1269754916685373</c:v>
                </c:pt>
                <c:pt idx="1479">
                  <c:v>3.0828315270626248</c:v>
                </c:pt>
                <c:pt idx="1480">
                  <c:v>3.0577046448240499</c:v>
                </c:pt>
                <c:pt idx="1481">
                  <c:v>3.1608902740301876</c:v>
                </c:pt>
                <c:pt idx="1482">
                  <c:v>3.1637276705612125</c:v>
                </c:pt>
                <c:pt idx="1483">
                  <c:v>3.1118623643039371</c:v>
                </c:pt>
                <c:pt idx="1484">
                  <c:v>3.1455814333625502</c:v>
                </c:pt>
                <c:pt idx="1485">
                  <c:v>3.1167734470467749</c:v>
                </c:pt>
                <c:pt idx="1486">
                  <c:v>3.1855089381645127</c:v>
                </c:pt>
                <c:pt idx="1487">
                  <c:v>3.2418315196690628</c:v>
                </c:pt>
                <c:pt idx="1488">
                  <c:v>3.3041859328951002</c:v>
                </c:pt>
                <c:pt idx="1489">
                  <c:v>3.2308348202547998</c:v>
                </c:pt>
                <c:pt idx="1490">
                  <c:v>3.2411290354868125</c:v>
                </c:pt>
                <c:pt idx="1491">
                  <c:v>3.1337436923596376</c:v>
                </c:pt>
                <c:pt idx="1492">
                  <c:v>3.1010614166599</c:v>
                </c:pt>
                <c:pt idx="1493">
                  <c:v>3.1482134440935625</c:v>
                </c:pt>
                <c:pt idx="1494">
                  <c:v>3.134756124445425</c:v>
                </c:pt>
                <c:pt idx="1495">
                  <c:v>3.0587517434353</c:v>
                </c:pt>
                <c:pt idx="1496">
                  <c:v>3.1737771296352877</c:v>
                </c:pt>
                <c:pt idx="1497">
                  <c:v>3.1643643878360499</c:v>
                </c:pt>
                <c:pt idx="1498">
                  <c:v>3.1185919261249877</c:v>
                </c:pt>
                <c:pt idx="1499">
                  <c:v>3.1211886229794876</c:v>
                </c:pt>
                <c:pt idx="1500">
                  <c:v>3.1720856605825252</c:v>
                </c:pt>
                <c:pt idx="1501">
                  <c:v>3.0735812662907498</c:v>
                </c:pt>
                <c:pt idx="1502">
                  <c:v>3.1698198039072123</c:v>
                </c:pt>
                <c:pt idx="1503">
                  <c:v>3.1214613313712878</c:v>
                </c:pt>
                <c:pt idx="1504">
                  <c:v>3.1624676076452625</c:v>
                </c:pt>
                <c:pt idx="1505">
                  <c:v>3.0269031500021999</c:v>
                </c:pt>
                <c:pt idx="1506">
                  <c:v>3.0846044164717625</c:v>
                </c:pt>
                <c:pt idx="1507">
                  <c:v>3.1631277561161255</c:v>
                </c:pt>
                <c:pt idx="1508">
                  <c:v>3.1048416187573125</c:v>
                </c:pt>
                <c:pt idx="1509">
                  <c:v>3.1191824300536877</c:v>
                </c:pt>
                <c:pt idx="1510">
                  <c:v>3.1322434806279125</c:v>
                </c:pt>
                <c:pt idx="1511">
                  <c:v>3.0566414187557376</c:v>
                </c:pt>
                <c:pt idx="1512">
                  <c:v>3.1454807233001372</c:v>
                </c:pt>
                <c:pt idx="1513">
                  <c:v>3.0824130944934498</c:v>
                </c:pt>
                <c:pt idx="1514">
                  <c:v>3.1225099229261124</c:v>
                </c:pt>
                <c:pt idx="1515">
                  <c:v>3.1277023244205497</c:v>
                </c:pt>
                <c:pt idx="1516">
                  <c:v>3.3389547081089379</c:v>
                </c:pt>
                <c:pt idx="1517">
                  <c:v>3.3587361342051123</c:v>
                </c:pt>
                <c:pt idx="1518">
                  <c:v>3.4603637331676373</c:v>
                </c:pt>
                <c:pt idx="1519">
                  <c:v>3.4734514850926876</c:v>
                </c:pt>
                <c:pt idx="1520">
                  <c:v>3.5628734086409253</c:v>
                </c:pt>
                <c:pt idx="1521">
                  <c:v>3.5089445796286127</c:v>
                </c:pt>
                <c:pt idx="1522">
                  <c:v>3.6021897948572876</c:v>
                </c:pt>
                <c:pt idx="1523">
                  <c:v>3.7111705415143001</c:v>
                </c:pt>
                <c:pt idx="1524">
                  <c:v>3.7330200099862627</c:v>
                </c:pt>
                <c:pt idx="1525">
                  <c:v>3.7531710205671751</c:v>
                </c:pt>
                <c:pt idx="1526">
                  <c:v>3.8836096472595374</c:v>
                </c:pt>
                <c:pt idx="1527">
                  <c:v>3.8307360740782124</c:v>
                </c:pt>
                <c:pt idx="1528">
                  <c:v>3.7703814847417498</c:v>
                </c:pt>
                <c:pt idx="1529">
                  <c:v>3.8372628955794252</c:v>
                </c:pt>
                <c:pt idx="1530">
                  <c:v>3.7744201405545255</c:v>
                </c:pt>
                <c:pt idx="1531">
                  <c:v>3.8143013490216</c:v>
                </c:pt>
                <c:pt idx="1532">
                  <c:v>3.8381332601825</c:v>
                </c:pt>
                <c:pt idx="1533">
                  <c:v>3.9255295227933127</c:v>
                </c:pt>
                <c:pt idx="1534">
                  <c:v>4.0331074822917881</c:v>
                </c:pt>
                <c:pt idx="1535">
                  <c:v>4.0181192320159873</c:v>
                </c:pt>
                <c:pt idx="1536">
                  <c:v>4.1545435811422875</c:v>
                </c:pt>
                <c:pt idx="1537">
                  <c:v>4.2171739190612998</c:v>
                </c:pt>
                <c:pt idx="1538">
                  <c:v>4.338511318693687</c:v>
                </c:pt>
                <c:pt idx="1539">
                  <c:v>4.2357869032826869</c:v>
                </c:pt>
                <c:pt idx="1540">
                  <c:v>4.192915718179588</c:v>
                </c:pt>
                <c:pt idx="1541">
                  <c:v>4.2255471483226881</c:v>
                </c:pt>
                <c:pt idx="1542">
                  <c:v>4.2507111942640501</c:v>
                </c:pt>
                <c:pt idx="1543">
                  <c:v>4.3275236647332251</c:v>
                </c:pt>
                <c:pt idx="1544">
                  <c:v>4.1920377450082125</c:v>
                </c:pt>
                <c:pt idx="1545">
                  <c:v>4.3970804314450875</c:v>
                </c:pt>
                <c:pt idx="1546">
                  <c:v>4.5674660931901627</c:v>
                </c:pt>
                <c:pt idx="1547">
                  <c:v>4.5708221489405254</c:v>
                </c:pt>
                <c:pt idx="1548">
                  <c:v>4.5405807421486619</c:v>
                </c:pt>
                <c:pt idx="1549">
                  <c:v>4.663844311710875</c:v>
                </c:pt>
                <c:pt idx="1550">
                  <c:v>4.5486035558901747</c:v>
                </c:pt>
              </c:numCache>
            </c:numRef>
          </c:val>
          <c:smooth val="0"/>
          <c:extLst xmlns:c16r2="http://schemas.microsoft.com/office/drawing/2015/06/chart">
            <c:ext xmlns:c16="http://schemas.microsoft.com/office/drawing/2014/chart" uri="{C3380CC4-5D6E-409C-BE32-E72D297353CC}">
              <c16:uniqueId val="{00000000-AD8F-4D14-8BD1-39567E2BF10A}"/>
            </c:ext>
          </c:extLst>
        </c:ser>
        <c:dLbls>
          <c:showLegendKey val="0"/>
          <c:showVal val="0"/>
          <c:showCatName val="0"/>
          <c:showSerName val="0"/>
          <c:showPercent val="0"/>
          <c:showBubbleSize val="0"/>
        </c:dLbls>
        <c:smooth val="0"/>
        <c:axId val="-1663802496"/>
        <c:axId val="-1663801952"/>
      </c:lineChart>
      <c:catAx>
        <c:axId val="-1663802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663801952"/>
        <c:crosses val="autoZero"/>
        <c:auto val="1"/>
        <c:lblAlgn val="ctr"/>
        <c:lblOffset val="100"/>
        <c:tickLblSkip val="150"/>
        <c:noMultiLvlLbl val="0"/>
      </c:catAx>
      <c:valAx>
        <c:axId val="-1663801952"/>
        <c:scaling>
          <c:orientation val="minMax"/>
          <c:min val="0.8"/>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663802496"/>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pPr>
      <a:endParaRPr lang="zh-CN"/>
    </a:p>
  </c:tx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5A10C-2B91-4AC4-BD3F-A96C6F354065}" type="datetimeFigureOut">
              <a:rPr lang="zh-CN" altLang="en-US" smtClean="0"/>
              <a:t>2026/7/6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5F759B-2065-4BDE-B6DD-A113066285B8}" type="slidenum">
              <a:rPr lang="zh-CN" altLang="en-US" smtClean="0"/>
              <a:t>‹#›</a:t>
            </a:fld>
            <a:endParaRPr lang="zh-CN" altLang="en-US"/>
          </a:p>
        </p:txBody>
      </p:sp>
    </p:spTree>
    <p:extLst>
      <p:ext uri="{BB962C8B-B14F-4D97-AF65-F5344CB8AC3E}">
        <p14:creationId xmlns:p14="http://schemas.microsoft.com/office/powerpoint/2010/main" val="974127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3181206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825C36C-DFA5-F02B-0B6A-76F670C0D0F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78B641F4-CBA7-F03D-5C39-163D8EDE68EF}"/>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B5188B00-AE4B-7A81-87FB-6A65B5EB42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 xmlns:a16="http://schemas.microsoft.com/office/drawing/2014/main" id="{407D1D08-4F0E-C63D-24E9-33C6AA41FE2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472091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81E652-37A2-598A-6AE7-D9823E59899F}"/>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E9D178E6-47AC-5BCD-EEF5-B61AFB1336C6}"/>
              </a:ext>
            </a:extLst>
          </p:cNvPr>
          <p:cNvSpPr>
            <a:spLocks noGrp="1" noRot="1" noChangeAspect="1"/>
          </p:cNvSpPr>
          <p:nvPr>
            <p:ph type="sldImg"/>
          </p:nvPr>
        </p:nvSpPr>
        <p:spPr/>
      </p:sp>
      <p:sp>
        <p:nvSpPr>
          <p:cNvPr id="3" name="备注占位符 2">
            <a:extLst>
              <a:ext uri="{FF2B5EF4-FFF2-40B4-BE49-F238E27FC236}">
                <a16:creationId xmlns="" xmlns:a16="http://schemas.microsoft.com/office/drawing/2014/main" id="{67B341B1-7FD8-53D5-5C43-DF338D18CB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 xmlns:a16="http://schemas.microsoft.com/office/drawing/2014/main" id="{6583386C-F5EB-26DE-361A-52A42760B4A6}"/>
              </a:ext>
            </a:extLst>
          </p:cNvPr>
          <p:cNvSpPr>
            <a:spLocks noGrp="1"/>
          </p:cNvSpPr>
          <p:nvPr>
            <p:ph type="sldNum" sz="quarter" idx="5"/>
          </p:nvPr>
        </p:nvSpPr>
        <p:spPr/>
        <p:txBody>
          <a:bodyPr/>
          <a:lstStyle/>
          <a:p>
            <a:fld id="{A6349448-063E-4DF5-B291-1A3744175A04}" type="slidenum">
              <a:rPr lang="zh-CN" altLang="en-US" smtClean="0"/>
              <a:t>9</a:t>
            </a:fld>
            <a:endParaRPr lang="zh-CN" altLang="en-US"/>
          </a:p>
        </p:txBody>
      </p:sp>
    </p:spTree>
    <p:extLst>
      <p:ext uri="{BB962C8B-B14F-4D97-AF65-F5344CB8AC3E}">
        <p14:creationId xmlns:p14="http://schemas.microsoft.com/office/powerpoint/2010/main" val="2199071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81E652-37A2-598A-6AE7-D9823E59899F}"/>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E9D178E6-47AC-5BCD-EEF5-B61AFB1336C6}"/>
              </a:ext>
            </a:extLst>
          </p:cNvPr>
          <p:cNvSpPr>
            <a:spLocks noGrp="1" noRot="1" noChangeAspect="1"/>
          </p:cNvSpPr>
          <p:nvPr>
            <p:ph type="sldImg"/>
          </p:nvPr>
        </p:nvSpPr>
        <p:spPr/>
      </p:sp>
      <p:sp>
        <p:nvSpPr>
          <p:cNvPr id="3" name="备注占位符 2">
            <a:extLst>
              <a:ext uri="{FF2B5EF4-FFF2-40B4-BE49-F238E27FC236}">
                <a16:creationId xmlns="" xmlns:a16="http://schemas.microsoft.com/office/drawing/2014/main" id="{67B341B1-7FD8-53D5-5C43-DF338D18CB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 xmlns:a16="http://schemas.microsoft.com/office/drawing/2014/main" id="{6583386C-F5EB-26DE-361A-52A42760B4A6}"/>
              </a:ext>
            </a:extLst>
          </p:cNvPr>
          <p:cNvSpPr>
            <a:spLocks noGrp="1"/>
          </p:cNvSpPr>
          <p:nvPr>
            <p:ph type="sldNum" sz="quarter" idx="5"/>
          </p:nvPr>
        </p:nvSpPr>
        <p:spPr/>
        <p:txBody>
          <a:bodyPr/>
          <a:lstStyle/>
          <a:p>
            <a:fld id="{A6349448-063E-4DF5-B291-1A3744175A04}" type="slidenum">
              <a:rPr lang="zh-CN" altLang="en-US" smtClean="0"/>
              <a:t>10</a:t>
            </a:fld>
            <a:endParaRPr lang="zh-CN" altLang="en-US"/>
          </a:p>
        </p:txBody>
      </p:sp>
    </p:spTree>
    <p:extLst>
      <p:ext uri="{BB962C8B-B14F-4D97-AF65-F5344CB8AC3E}">
        <p14:creationId xmlns:p14="http://schemas.microsoft.com/office/powerpoint/2010/main" val="2044188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3F7A720-E134-A468-8A37-FBF5E3A9EC4E}"/>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7DA75542-036F-5793-1178-FAE9AD9C0252}"/>
              </a:ext>
            </a:extLst>
          </p:cNvPr>
          <p:cNvSpPr>
            <a:spLocks noGrp="1" noRot="1" noChangeAspect="1"/>
          </p:cNvSpPr>
          <p:nvPr>
            <p:ph type="sldImg"/>
          </p:nvPr>
        </p:nvSpPr>
        <p:spPr/>
      </p:sp>
      <p:sp>
        <p:nvSpPr>
          <p:cNvPr id="3" name="备注占位符 2">
            <a:extLst>
              <a:ext uri="{FF2B5EF4-FFF2-40B4-BE49-F238E27FC236}">
                <a16:creationId xmlns="" xmlns:a16="http://schemas.microsoft.com/office/drawing/2014/main" id="{82523721-A38E-E729-DD3B-4B2A9A31DD4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 xmlns:a16="http://schemas.microsoft.com/office/drawing/2014/main" id="{AA9E3162-0F00-9020-328F-D793E445BE5D}"/>
              </a:ext>
            </a:extLst>
          </p:cNvPr>
          <p:cNvSpPr>
            <a:spLocks noGrp="1"/>
          </p:cNvSpPr>
          <p:nvPr>
            <p:ph type="sldNum" sz="quarter" idx="5"/>
          </p:nvPr>
        </p:nvSpPr>
        <p:spPr/>
        <p:txBody>
          <a:bodyPr/>
          <a:lstStyle/>
          <a:p>
            <a:fld id="{A6349448-063E-4DF5-B291-1A3744175A04}" type="slidenum">
              <a:rPr lang="zh-CN" altLang="en-US" smtClean="0"/>
              <a:t>11</a:t>
            </a:fld>
            <a:endParaRPr lang="zh-CN" altLang="en-US"/>
          </a:p>
        </p:txBody>
      </p:sp>
    </p:spTree>
    <p:extLst>
      <p:ext uri="{BB962C8B-B14F-4D97-AF65-F5344CB8AC3E}">
        <p14:creationId xmlns:p14="http://schemas.microsoft.com/office/powerpoint/2010/main" val="1140768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95D5219-4B2F-10CA-FAA8-916C9A6AFE22}"/>
            </a:ext>
          </a:extLst>
        </p:cNvPr>
        <p:cNvGrpSpPr/>
        <p:nvPr/>
      </p:nvGrpSpPr>
      <p:grpSpPr>
        <a:xfrm>
          <a:off x="0" y="0"/>
          <a:ext cx="0" cy="0"/>
          <a:chOff x="0" y="0"/>
          <a:chExt cx="0" cy="0"/>
        </a:xfrm>
      </p:grpSpPr>
      <p:sp>
        <p:nvSpPr>
          <p:cNvPr id="6146" name="幻灯片图像占位符 1">
            <a:extLst>
              <a:ext uri="{FF2B5EF4-FFF2-40B4-BE49-F238E27FC236}">
                <a16:creationId xmlns="" xmlns:a16="http://schemas.microsoft.com/office/drawing/2014/main" id="{2CDA0164-44E6-AFFA-4DBB-CDAB440ECC41}"/>
              </a:ext>
            </a:extLst>
          </p:cNvPr>
          <p:cNvSpPr>
            <a:spLocks noGrp="1" noRot="1" noChangeAspect="1" noTextEdit="1"/>
          </p:cNvSpPr>
          <p:nvPr>
            <p:ph type="sldImg"/>
          </p:nvPr>
        </p:nvSpPr>
        <p:spPr>
          <a:ln>
            <a:solidFill>
              <a:srgbClr val="000000">
                <a:alpha val="100000"/>
              </a:srgbClr>
            </a:solidFill>
            <a:miter lim="800000"/>
          </a:ln>
        </p:spPr>
      </p:sp>
      <p:sp>
        <p:nvSpPr>
          <p:cNvPr id="6147" name="备注占位符 2">
            <a:extLst>
              <a:ext uri="{FF2B5EF4-FFF2-40B4-BE49-F238E27FC236}">
                <a16:creationId xmlns="" xmlns:a16="http://schemas.microsoft.com/office/drawing/2014/main" id="{27374FC8-C47D-7427-A1E0-A376B8AE80E0}"/>
              </a:ext>
            </a:extLst>
          </p:cNvPr>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6148" name="灯片编号占位符 3">
            <a:extLst>
              <a:ext uri="{FF2B5EF4-FFF2-40B4-BE49-F238E27FC236}">
                <a16:creationId xmlns="" xmlns:a16="http://schemas.microsoft.com/office/drawing/2014/main" id="{351F8630-7734-E0E9-9FC6-46C865876AF7}"/>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marL="0" marR="0" lvl="0" indent="0" algn="r" defTabSz="457200" rtl="0" eaLnBrk="1" fontAlgn="auto" latinLnBrk="0" hangingPunct="1">
              <a:lnSpc>
                <a:spcPct val="100000"/>
              </a:lnSpc>
              <a:spcBef>
                <a:spcPts val="0"/>
              </a:spcBef>
              <a:spcAft>
                <a:spcPts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prstClr val="black"/>
                </a:solidFill>
                <a:effectLst/>
                <a:uLnTx/>
                <a:uFillTx/>
                <a:latin typeface="等线"/>
                <a:ea typeface="HarmonyOS Sans SC Light" panose="00000400000000000000"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dirty="0">
              <a:ln>
                <a:noFill/>
              </a:ln>
              <a:solidFill>
                <a:prstClr val="black"/>
              </a:solidFill>
              <a:effectLst/>
              <a:uLnTx/>
              <a:uFillTx/>
              <a:latin typeface="等线"/>
              <a:ea typeface="HarmonyOS Sans SC Light" panose="00000400000000000000" charset="-122"/>
              <a:cs typeface="+mn-cs"/>
            </a:endParaRPr>
          </a:p>
        </p:txBody>
      </p:sp>
    </p:spTree>
    <p:extLst>
      <p:ext uri="{BB962C8B-B14F-4D97-AF65-F5344CB8AC3E}">
        <p14:creationId xmlns:p14="http://schemas.microsoft.com/office/powerpoint/2010/main" val="1613394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5EF5FFE-FDFD-DC64-2E47-FD0AB432B0CA}"/>
            </a:ext>
          </a:extLst>
        </p:cNvPr>
        <p:cNvGrpSpPr/>
        <p:nvPr/>
      </p:nvGrpSpPr>
      <p:grpSpPr>
        <a:xfrm>
          <a:off x="0" y="0"/>
          <a:ext cx="0" cy="0"/>
          <a:chOff x="0" y="0"/>
          <a:chExt cx="0" cy="0"/>
        </a:xfrm>
      </p:grpSpPr>
      <p:sp>
        <p:nvSpPr>
          <p:cNvPr id="6146" name="幻灯片图像占位符 1">
            <a:extLst>
              <a:ext uri="{FF2B5EF4-FFF2-40B4-BE49-F238E27FC236}">
                <a16:creationId xmlns="" xmlns:a16="http://schemas.microsoft.com/office/drawing/2014/main" id="{42AD5199-3403-FC19-4E46-45049ABA19AF}"/>
              </a:ext>
            </a:extLst>
          </p:cNvPr>
          <p:cNvSpPr>
            <a:spLocks noGrp="1" noRot="1" noChangeAspect="1" noTextEdit="1"/>
          </p:cNvSpPr>
          <p:nvPr>
            <p:ph type="sldImg"/>
          </p:nvPr>
        </p:nvSpPr>
        <p:spPr>
          <a:ln>
            <a:solidFill>
              <a:srgbClr val="000000">
                <a:alpha val="100000"/>
              </a:srgbClr>
            </a:solidFill>
            <a:miter lim="800000"/>
          </a:ln>
        </p:spPr>
      </p:sp>
      <p:sp>
        <p:nvSpPr>
          <p:cNvPr id="6147" name="备注占位符 2">
            <a:extLst>
              <a:ext uri="{FF2B5EF4-FFF2-40B4-BE49-F238E27FC236}">
                <a16:creationId xmlns="" xmlns:a16="http://schemas.microsoft.com/office/drawing/2014/main" id="{B99DDD56-7EBE-DE68-E392-49326A2423CB}"/>
              </a:ext>
            </a:extLst>
          </p:cNvPr>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6148" name="灯片编号占位符 3">
            <a:extLst>
              <a:ext uri="{FF2B5EF4-FFF2-40B4-BE49-F238E27FC236}">
                <a16:creationId xmlns="" xmlns:a16="http://schemas.microsoft.com/office/drawing/2014/main" id="{169D0682-BE26-5F80-9704-6D4D5F2025F3}"/>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marL="0" marR="0" lvl="0" indent="0" algn="r" defTabSz="457200" rtl="0" eaLnBrk="1" fontAlgn="auto" latinLnBrk="0" hangingPunct="1">
              <a:lnSpc>
                <a:spcPct val="100000"/>
              </a:lnSpc>
              <a:spcBef>
                <a:spcPts val="0"/>
              </a:spcBef>
              <a:spcAft>
                <a:spcPts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prstClr val="black"/>
                </a:solidFill>
                <a:effectLst/>
                <a:uLnTx/>
                <a:uFillTx/>
                <a:latin typeface="等线"/>
                <a:ea typeface="HarmonyOS Sans SC Light" panose="00000400000000000000"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dirty="0">
              <a:ln>
                <a:noFill/>
              </a:ln>
              <a:solidFill>
                <a:prstClr val="black"/>
              </a:solidFill>
              <a:effectLst/>
              <a:uLnTx/>
              <a:uFillTx/>
              <a:latin typeface="等线"/>
              <a:ea typeface="HarmonyOS Sans SC Light" panose="00000400000000000000" charset="-122"/>
              <a:cs typeface="+mn-cs"/>
            </a:endParaRPr>
          </a:p>
        </p:txBody>
      </p:sp>
    </p:spTree>
    <p:extLst>
      <p:ext uri="{BB962C8B-B14F-4D97-AF65-F5344CB8AC3E}">
        <p14:creationId xmlns:p14="http://schemas.microsoft.com/office/powerpoint/2010/main" val="800722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6CBC799-B280-E6A7-75C1-D463AD42A1D8}"/>
            </a:ext>
          </a:extLst>
        </p:cNvPr>
        <p:cNvGrpSpPr/>
        <p:nvPr/>
      </p:nvGrpSpPr>
      <p:grpSpPr>
        <a:xfrm>
          <a:off x="0" y="0"/>
          <a:ext cx="0" cy="0"/>
          <a:chOff x="0" y="0"/>
          <a:chExt cx="0" cy="0"/>
        </a:xfrm>
      </p:grpSpPr>
      <p:sp>
        <p:nvSpPr>
          <p:cNvPr id="6146" name="幻灯片图像占位符 1">
            <a:extLst>
              <a:ext uri="{FF2B5EF4-FFF2-40B4-BE49-F238E27FC236}">
                <a16:creationId xmlns="" xmlns:a16="http://schemas.microsoft.com/office/drawing/2014/main" id="{B47B0D4C-AF5F-B173-6063-3EEABF2F82A4}"/>
              </a:ext>
            </a:extLst>
          </p:cNvPr>
          <p:cNvSpPr>
            <a:spLocks noGrp="1" noRot="1" noChangeAspect="1" noTextEdit="1"/>
          </p:cNvSpPr>
          <p:nvPr>
            <p:ph type="sldImg"/>
          </p:nvPr>
        </p:nvSpPr>
        <p:spPr>
          <a:ln>
            <a:solidFill>
              <a:srgbClr val="000000">
                <a:alpha val="100000"/>
              </a:srgbClr>
            </a:solidFill>
            <a:miter lim="800000"/>
          </a:ln>
        </p:spPr>
      </p:sp>
      <p:sp>
        <p:nvSpPr>
          <p:cNvPr id="6147" name="备注占位符 2">
            <a:extLst>
              <a:ext uri="{FF2B5EF4-FFF2-40B4-BE49-F238E27FC236}">
                <a16:creationId xmlns="" xmlns:a16="http://schemas.microsoft.com/office/drawing/2014/main" id="{C511FDB1-335F-922A-ECC0-8918B784A636}"/>
              </a:ext>
            </a:extLst>
          </p:cNvPr>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6148" name="灯片编号占位符 3">
            <a:extLst>
              <a:ext uri="{FF2B5EF4-FFF2-40B4-BE49-F238E27FC236}">
                <a16:creationId xmlns="" xmlns:a16="http://schemas.microsoft.com/office/drawing/2014/main" id="{7D8C1479-E82D-9D70-5EA1-063A2ECD092F}"/>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marL="0" marR="0" lvl="0" indent="0" algn="r" defTabSz="457200" rtl="0" eaLnBrk="1" fontAlgn="auto" latinLnBrk="0" hangingPunct="1">
              <a:lnSpc>
                <a:spcPct val="100000"/>
              </a:lnSpc>
              <a:spcBef>
                <a:spcPts val="0"/>
              </a:spcBef>
              <a:spcAft>
                <a:spcPts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prstClr val="black"/>
                </a:solidFill>
                <a:effectLst/>
                <a:uLnTx/>
                <a:uFillTx/>
                <a:latin typeface="等线"/>
                <a:ea typeface="HarmonyOS Sans SC Light" panose="00000400000000000000"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dirty="0">
              <a:ln>
                <a:noFill/>
              </a:ln>
              <a:solidFill>
                <a:prstClr val="black"/>
              </a:solidFill>
              <a:effectLst/>
              <a:uLnTx/>
              <a:uFillTx/>
              <a:latin typeface="等线"/>
              <a:ea typeface="HarmonyOS Sans SC Light" panose="00000400000000000000" charset="-122"/>
              <a:cs typeface="+mn-cs"/>
            </a:endParaRPr>
          </a:p>
        </p:txBody>
      </p:sp>
    </p:spTree>
    <p:extLst>
      <p:ext uri="{BB962C8B-B14F-4D97-AF65-F5344CB8AC3E}">
        <p14:creationId xmlns:p14="http://schemas.microsoft.com/office/powerpoint/2010/main" val="31841977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EE83B40-6A56-B872-5809-5D9FE5F2501B}"/>
            </a:ext>
          </a:extLst>
        </p:cNvPr>
        <p:cNvGrpSpPr/>
        <p:nvPr/>
      </p:nvGrpSpPr>
      <p:grpSpPr>
        <a:xfrm>
          <a:off x="0" y="0"/>
          <a:ext cx="0" cy="0"/>
          <a:chOff x="0" y="0"/>
          <a:chExt cx="0" cy="0"/>
        </a:xfrm>
      </p:grpSpPr>
      <p:sp>
        <p:nvSpPr>
          <p:cNvPr id="6146" name="幻灯片图像占位符 1">
            <a:extLst>
              <a:ext uri="{FF2B5EF4-FFF2-40B4-BE49-F238E27FC236}">
                <a16:creationId xmlns="" xmlns:a16="http://schemas.microsoft.com/office/drawing/2014/main" id="{089D874A-56DC-DAB5-2DD5-AB2D433FA605}"/>
              </a:ext>
            </a:extLst>
          </p:cNvPr>
          <p:cNvSpPr>
            <a:spLocks noGrp="1" noRot="1" noChangeAspect="1" noTextEdit="1"/>
          </p:cNvSpPr>
          <p:nvPr>
            <p:ph type="sldImg"/>
          </p:nvPr>
        </p:nvSpPr>
        <p:spPr>
          <a:ln>
            <a:solidFill>
              <a:srgbClr val="000000">
                <a:alpha val="100000"/>
              </a:srgbClr>
            </a:solidFill>
            <a:miter lim="800000"/>
          </a:ln>
        </p:spPr>
      </p:sp>
      <p:sp>
        <p:nvSpPr>
          <p:cNvPr id="6147" name="备注占位符 2">
            <a:extLst>
              <a:ext uri="{FF2B5EF4-FFF2-40B4-BE49-F238E27FC236}">
                <a16:creationId xmlns="" xmlns:a16="http://schemas.microsoft.com/office/drawing/2014/main" id="{85B16B75-755A-E21E-FA90-271DDE5E8C19}"/>
              </a:ext>
            </a:extLst>
          </p:cNvPr>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6148" name="灯片编号占位符 3">
            <a:extLst>
              <a:ext uri="{FF2B5EF4-FFF2-40B4-BE49-F238E27FC236}">
                <a16:creationId xmlns="" xmlns:a16="http://schemas.microsoft.com/office/drawing/2014/main" id="{ADC98E9B-3383-C486-3A20-295CEA0BCE6A}"/>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marL="0" marR="0" lvl="0" indent="0" algn="r" defTabSz="457200" rtl="0" eaLnBrk="1" fontAlgn="auto" latinLnBrk="0" hangingPunct="1">
              <a:lnSpc>
                <a:spcPct val="100000"/>
              </a:lnSpc>
              <a:spcBef>
                <a:spcPts val="0"/>
              </a:spcBef>
              <a:spcAft>
                <a:spcPts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prstClr val="black"/>
                </a:solidFill>
                <a:effectLst/>
                <a:uLnTx/>
                <a:uFillTx/>
                <a:latin typeface="等线"/>
                <a:ea typeface="HarmonyOS Sans SC Light" panose="00000400000000000000"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dirty="0">
              <a:ln>
                <a:noFill/>
              </a:ln>
              <a:solidFill>
                <a:prstClr val="black"/>
              </a:solidFill>
              <a:effectLst/>
              <a:uLnTx/>
              <a:uFillTx/>
              <a:latin typeface="等线"/>
              <a:ea typeface="HarmonyOS Sans SC Light" panose="00000400000000000000" charset="-122"/>
              <a:cs typeface="+mn-cs"/>
            </a:endParaRPr>
          </a:p>
        </p:txBody>
      </p:sp>
    </p:spTree>
    <p:extLst>
      <p:ext uri="{BB962C8B-B14F-4D97-AF65-F5344CB8AC3E}">
        <p14:creationId xmlns:p14="http://schemas.microsoft.com/office/powerpoint/2010/main" val="2854640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9CAE61F-D529-8ECF-5C8F-DB209C5665F9}"/>
            </a:ext>
          </a:extLst>
        </p:cNvPr>
        <p:cNvGrpSpPr/>
        <p:nvPr/>
      </p:nvGrpSpPr>
      <p:grpSpPr>
        <a:xfrm>
          <a:off x="0" y="0"/>
          <a:ext cx="0" cy="0"/>
          <a:chOff x="0" y="0"/>
          <a:chExt cx="0" cy="0"/>
        </a:xfrm>
      </p:grpSpPr>
      <p:sp>
        <p:nvSpPr>
          <p:cNvPr id="6146" name="幻灯片图像占位符 1">
            <a:extLst>
              <a:ext uri="{FF2B5EF4-FFF2-40B4-BE49-F238E27FC236}">
                <a16:creationId xmlns="" xmlns:a16="http://schemas.microsoft.com/office/drawing/2014/main" id="{2299CE70-F367-1A7B-AEA5-0837F38B7005}"/>
              </a:ext>
            </a:extLst>
          </p:cNvPr>
          <p:cNvSpPr>
            <a:spLocks noGrp="1" noRot="1" noChangeAspect="1" noTextEdit="1"/>
          </p:cNvSpPr>
          <p:nvPr>
            <p:ph type="sldImg"/>
          </p:nvPr>
        </p:nvSpPr>
        <p:spPr>
          <a:ln>
            <a:solidFill>
              <a:srgbClr val="000000">
                <a:alpha val="100000"/>
              </a:srgbClr>
            </a:solidFill>
            <a:miter lim="800000"/>
          </a:ln>
        </p:spPr>
      </p:sp>
      <p:sp>
        <p:nvSpPr>
          <p:cNvPr id="6147" name="备注占位符 2">
            <a:extLst>
              <a:ext uri="{FF2B5EF4-FFF2-40B4-BE49-F238E27FC236}">
                <a16:creationId xmlns="" xmlns:a16="http://schemas.microsoft.com/office/drawing/2014/main" id="{A63D4CDF-1080-6A47-185F-4278850F01C5}"/>
              </a:ext>
            </a:extLst>
          </p:cNvPr>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6148" name="灯片编号占位符 3">
            <a:extLst>
              <a:ext uri="{FF2B5EF4-FFF2-40B4-BE49-F238E27FC236}">
                <a16:creationId xmlns="" xmlns:a16="http://schemas.microsoft.com/office/drawing/2014/main" id="{8577C0D1-9BCA-B8F2-33BC-E90BBF47336C}"/>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marL="0" marR="0" lvl="0" indent="0" algn="r" defTabSz="457200" rtl="0" eaLnBrk="1" fontAlgn="auto" latinLnBrk="0" hangingPunct="1">
              <a:lnSpc>
                <a:spcPct val="100000"/>
              </a:lnSpc>
              <a:spcBef>
                <a:spcPts val="0"/>
              </a:spcBef>
              <a:spcAft>
                <a:spcPts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prstClr val="black"/>
                </a:solidFill>
                <a:effectLst/>
                <a:uLnTx/>
                <a:uFillTx/>
                <a:latin typeface="等线"/>
                <a:ea typeface="HarmonyOS Sans SC Light" panose="00000400000000000000"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dirty="0">
              <a:ln>
                <a:noFill/>
              </a:ln>
              <a:solidFill>
                <a:prstClr val="black"/>
              </a:solidFill>
              <a:effectLst/>
              <a:uLnTx/>
              <a:uFillTx/>
              <a:latin typeface="等线"/>
              <a:ea typeface="HarmonyOS Sans SC Light" panose="00000400000000000000" charset="-122"/>
              <a:cs typeface="+mn-cs"/>
            </a:endParaRPr>
          </a:p>
        </p:txBody>
      </p:sp>
    </p:spTree>
    <p:extLst>
      <p:ext uri="{BB962C8B-B14F-4D97-AF65-F5344CB8AC3E}">
        <p14:creationId xmlns:p14="http://schemas.microsoft.com/office/powerpoint/2010/main" val="1923469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2E398E1-A2C1-606C-2A10-F88B8D880E54}"/>
            </a:ext>
          </a:extLst>
        </p:cNvPr>
        <p:cNvGrpSpPr/>
        <p:nvPr/>
      </p:nvGrpSpPr>
      <p:grpSpPr>
        <a:xfrm>
          <a:off x="0" y="0"/>
          <a:ext cx="0" cy="0"/>
          <a:chOff x="0" y="0"/>
          <a:chExt cx="0" cy="0"/>
        </a:xfrm>
      </p:grpSpPr>
      <p:sp>
        <p:nvSpPr>
          <p:cNvPr id="6146" name="幻灯片图像占位符 1">
            <a:extLst>
              <a:ext uri="{FF2B5EF4-FFF2-40B4-BE49-F238E27FC236}">
                <a16:creationId xmlns="" xmlns:a16="http://schemas.microsoft.com/office/drawing/2014/main" id="{FFCF4817-9B6E-E65F-52BC-E2CB58C55710}"/>
              </a:ext>
            </a:extLst>
          </p:cNvPr>
          <p:cNvSpPr>
            <a:spLocks noGrp="1" noRot="1" noChangeAspect="1" noTextEdit="1"/>
          </p:cNvSpPr>
          <p:nvPr>
            <p:ph type="sldImg"/>
          </p:nvPr>
        </p:nvSpPr>
        <p:spPr>
          <a:ln>
            <a:solidFill>
              <a:srgbClr val="000000">
                <a:alpha val="100000"/>
              </a:srgbClr>
            </a:solidFill>
            <a:miter lim="800000"/>
          </a:ln>
        </p:spPr>
      </p:sp>
      <p:sp>
        <p:nvSpPr>
          <p:cNvPr id="6147" name="备注占位符 2">
            <a:extLst>
              <a:ext uri="{FF2B5EF4-FFF2-40B4-BE49-F238E27FC236}">
                <a16:creationId xmlns="" xmlns:a16="http://schemas.microsoft.com/office/drawing/2014/main" id="{6B7D309C-E4BC-3816-6079-17E9279EB24A}"/>
              </a:ext>
            </a:extLst>
          </p:cNvPr>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6148" name="灯片编号占位符 3">
            <a:extLst>
              <a:ext uri="{FF2B5EF4-FFF2-40B4-BE49-F238E27FC236}">
                <a16:creationId xmlns="" xmlns:a16="http://schemas.microsoft.com/office/drawing/2014/main" id="{A142F997-2666-AA6A-3D11-A1FE3CD0862D}"/>
              </a:ext>
            </a:extLst>
          </p:cNvPr>
          <p:cNvSpPr txBox="1">
            <a:spLocks noGrp="1"/>
          </p:cNvSpPr>
          <p:nvPr>
            <p:ph type="sldNum" sz="quarter"/>
          </p:nvPr>
        </p:nvSpPr>
        <p:spPr>
          <a:xfrm>
            <a:off x="3884613" y="8685213"/>
            <a:ext cx="2971800" cy="458787"/>
          </a:xfrm>
          <a:prstGeom prst="rect">
            <a:avLst/>
          </a:prstGeom>
          <a:noFill/>
          <a:ln w="9525">
            <a:noFill/>
          </a:ln>
        </p:spPr>
        <p:txBody>
          <a:bodyPr anchor="b" anchorCtr="0"/>
          <a:lstStyle/>
          <a:p>
            <a:pPr marL="0" marR="0" lvl="0" indent="0" algn="r" defTabSz="457200" rtl="0" eaLnBrk="1" fontAlgn="auto" latinLnBrk="0" hangingPunct="1">
              <a:lnSpc>
                <a:spcPct val="100000"/>
              </a:lnSpc>
              <a:spcBef>
                <a:spcPts val="0"/>
              </a:spcBef>
              <a:spcAft>
                <a:spcPts val="0"/>
              </a:spcAft>
              <a:buClrTx/>
              <a:buSzTx/>
              <a:buFontTx/>
              <a:buNone/>
              <a:tabLst/>
              <a:defRPr/>
            </a:pPr>
            <a:fld id="{9A0DB2DC-4C9A-4742-B13C-FB6460FD3503}" type="slidenum">
              <a:rPr kumimoji="0" lang="zh-CN" altLang="en-US" sz="1200" b="0" i="0" u="none" strike="noStrike" kern="1200" cap="none" spc="0" normalizeH="0" baseline="0" noProof="0" dirty="0">
                <a:ln>
                  <a:noFill/>
                </a:ln>
                <a:solidFill>
                  <a:prstClr val="black"/>
                </a:solidFill>
                <a:effectLst/>
                <a:uLnTx/>
                <a:uFillTx/>
                <a:latin typeface="等线"/>
                <a:ea typeface="HarmonyOS Sans SC Light" panose="00000400000000000000"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dirty="0">
              <a:ln>
                <a:noFill/>
              </a:ln>
              <a:solidFill>
                <a:prstClr val="black"/>
              </a:solidFill>
              <a:effectLst/>
              <a:uLnTx/>
              <a:uFillTx/>
              <a:latin typeface="等线"/>
              <a:ea typeface="HarmonyOS Sans SC Light" panose="00000400000000000000" charset="-122"/>
              <a:cs typeface="+mn-cs"/>
            </a:endParaRPr>
          </a:p>
        </p:txBody>
      </p:sp>
    </p:spTree>
    <p:extLst>
      <p:ext uri="{BB962C8B-B14F-4D97-AF65-F5344CB8AC3E}">
        <p14:creationId xmlns:p14="http://schemas.microsoft.com/office/powerpoint/2010/main" val="3393714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B5E2008-6D18-2D33-7177-E5040B814A1A}"/>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D7E764C3-818A-39BD-7A6C-EC56A7309695}"/>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75E7A2CC-FDF4-66B8-5B03-C306D5B7AA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 xmlns:a16="http://schemas.microsoft.com/office/drawing/2014/main" id="{EF4D2732-1DC8-E60F-F897-9C7DD27A2D55}"/>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2448815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81E652-37A2-598A-6AE7-D9823E59899F}"/>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E9D178E6-47AC-5BCD-EEF5-B61AFB1336C6}"/>
              </a:ext>
            </a:extLst>
          </p:cNvPr>
          <p:cNvSpPr>
            <a:spLocks noGrp="1" noRot="1" noChangeAspect="1"/>
          </p:cNvSpPr>
          <p:nvPr>
            <p:ph type="sldImg"/>
          </p:nvPr>
        </p:nvSpPr>
        <p:spPr/>
      </p:sp>
      <p:sp>
        <p:nvSpPr>
          <p:cNvPr id="3" name="备注占位符 2">
            <a:extLst>
              <a:ext uri="{FF2B5EF4-FFF2-40B4-BE49-F238E27FC236}">
                <a16:creationId xmlns="" xmlns:a16="http://schemas.microsoft.com/office/drawing/2014/main" id="{67B341B1-7FD8-53D5-5C43-DF338D18CB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 xmlns:a16="http://schemas.microsoft.com/office/drawing/2014/main" id="{6583386C-F5EB-26DE-361A-52A42760B4A6}"/>
              </a:ext>
            </a:extLst>
          </p:cNvPr>
          <p:cNvSpPr>
            <a:spLocks noGrp="1"/>
          </p:cNvSpPr>
          <p:nvPr>
            <p:ph type="sldNum" sz="quarter" idx="5"/>
          </p:nvPr>
        </p:nvSpPr>
        <p:spPr/>
        <p:txBody>
          <a:bodyPr/>
          <a:lstStyle/>
          <a:p>
            <a:fld id="{A6349448-063E-4DF5-B291-1A3744175A04}" type="slidenum">
              <a:rPr lang="zh-CN" altLang="en-US" smtClean="0"/>
              <a:t>22</a:t>
            </a:fld>
            <a:endParaRPr lang="zh-CN" altLang="en-US"/>
          </a:p>
        </p:txBody>
      </p:sp>
    </p:spTree>
    <p:extLst>
      <p:ext uri="{BB962C8B-B14F-4D97-AF65-F5344CB8AC3E}">
        <p14:creationId xmlns:p14="http://schemas.microsoft.com/office/powerpoint/2010/main" val="553472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5F759B-2065-4BDE-B6DD-A113066285B8}" type="slidenum">
              <a:rPr lang="zh-CN" altLang="en-US" smtClean="0"/>
              <a:t>23</a:t>
            </a:fld>
            <a:endParaRPr lang="zh-CN" altLang="en-US"/>
          </a:p>
        </p:txBody>
      </p:sp>
    </p:spTree>
    <p:extLst>
      <p:ext uri="{BB962C8B-B14F-4D97-AF65-F5344CB8AC3E}">
        <p14:creationId xmlns:p14="http://schemas.microsoft.com/office/powerpoint/2010/main" val="10237311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5F759B-2065-4BDE-B6DD-A113066285B8}" type="slidenum">
              <a:rPr lang="zh-CN" altLang="en-US" smtClean="0"/>
              <a:t>24</a:t>
            </a:fld>
            <a:endParaRPr lang="zh-CN" altLang="en-US"/>
          </a:p>
        </p:txBody>
      </p:sp>
    </p:spTree>
    <p:extLst>
      <p:ext uri="{BB962C8B-B14F-4D97-AF65-F5344CB8AC3E}">
        <p14:creationId xmlns:p14="http://schemas.microsoft.com/office/powerpoint/2010/main" val="1908785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5F759B-2065-4BDE-B6DD-A113066285B8}" type="slidenum">
              <a:rPr lang="zh-CN" altLang="en-US" smtClean="0"/>
              <a:t>25</a:t>
            </a:fld>
            <a:endParaRPr lang="zh-CN" altLang="en-US"/>
          </a:p>
        </p:txBody>
      </p:sp>
    </p:spTree>
    <p:extLst>
      <p:ext uri="{BB962C8B-B14F-4D97-AF65-F5344CB8AC3E}">
        <p14:creationId xmlns:p14="http://schemas.microsoft.com/office/powerpoint/2010/main" val="3970808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81E652-37A2-598A-6AE7-D9823E59899F}"/>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E9D178E6-47AC-5BCD-EEF5-B61AFB1336C6}"/>
              </a:ext>
            </a:extLst>
          </p:cNvPr>
          <p:cNvSpPr>
            <a:spLocks noGrp="1" noRot="1" noChangeAspect="1"/>
          </p:cNvSpPr>
          <p:nvPr>
            <p:ph type="sldImg"/>
          </p:nvPr>
        </p:nvSpPr>
        <p:spPr/>
      </p:sp>
      <p:sp>
        <p:nvSpPr>
          <p:cNvPr id="3" name="备注占位符 2">
            <a:extLst>
              <a:ext uri="{FF2B5EF4-FFF2-40B4-BE49-F238E27FC236}">
                <a16:creationId xmlns="" xmlns:a16="http://schemas.microsoft.com/office/drawing/2014/main" id="{67B341B1-7FD8-53D5-5C43-DF338D18CB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 xmlns:a16="http://schemas.microsoft.com/office/drawing/2014/main" id="{6583386C-F5EB-26DE-361A-52A42760B4A6}"/>
              </a:ext>
            </a:extLst>
          </p:cNvPr>
          <p:cNvSpPr>
            <a:spLocks noGrp="1"/>
          </p:cNvSpPr>
          <p:nvPr>
            <p:ph type="sldNum" sz="quarter" idx="5"/>
          </p:nvPr>
        </p:nvSpPr>
        <p:spPr/>
        <p:txBody>
          <a:bodyPr/>
          <a:lstStyle/>
          <a:p>
            <a:fld id="{A6349448-063E-4DF5-B291-1A3744175A04}" type="slidenum">
              <a:rPr lang="zh-CN" altLang="en-US" smtClean="0"/>
              <a:t>26</a:t>
            </a:fld>
            <a:endParaRPr lang="zh-CN" altLang="en-US"/>
          </a:p>
        </p:txBody>
      </p:sp>
    </p:spTree>
    <p:extLst>
      <p:ext uri="{BB962C8B-B14F-4D97-AF65-F5344CB8AC3E}">
        <p14:creationId xmlns:p14="http://schemas.microsoft.com/office/powerpoint/2010/main" val="1287539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81E652-37A2-598A-6AE7-D9823E59899F}"/>
            </a:ext>
          </a:extLst>
        </p:cNvPr>
        <p:cNvGrpSpPr/>
        <p:nvPr/>
      </p:nvGrpSpPr>
      <p:grpSpPr>
        <a:xfrm>
          <a:off x="0" y="0"/>
          <a:ext cx="0" cy="0"/>
          <a:chOff x="0" y="0"/>
          <a:chExt cx="0" cy="0"/>
        </a:xfrm>
      </p:grpSpPr>
      <p:sp>
        <p:nvSpPr>
          <p:cNvPr id="2" name="幻灯片图像占位符 1">
            <a:extLst>
              <a:ext uri="{FF2B5EF4-FFF2-40B4-BE49-F238E27FC236}">
                <a16:creationId xmlns="" xmlns:a16="http://schemas.microsoft.com/office/drawing/2014/main" id="{E9D178E6-47AC-5BCD-EEF5-B61AFB1336C6}"/>
              </a:ext>
            </a:extLst>
          </p:cNvPr>
          <p:cNvSpPr>
            <a:spLocks noGrp="1" noRot="1" noChangeAspect="1"/>
          </p:cNvSpPr>
          <p:nvPr>
            <p:ph type="sldImg"/>
          </p:nvPr>
        </p:nvSpPr>
        <p:spPr/>
      </p:sp>
      <p:sp>
        <p:nvSpPr>
          <p:cNvPr id="3" name="备注占位符 2">
            <a:extLst>
              <a:ext uri="{FF2B5EF4-FFF2-40B4-BE49-F238E27FC236}">
                <a16:creationId xmlns="" xmlns:a16="http://schemas.microsoft.com/office/drawing/2014/main" id="{67B341B1-7FD8-53D5-5C43-DF338D18CB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 xmlns:a16="http://schemas.microsoft.com/office/drawing/2014/main" id="{6583386C-F5EB-26DE-361A-52A42760B4A6}"/>
              </a:ext>
            </a:extLst>
          </p:cNvPr>
          <p:cNvSpPr>
            <a:spLocks noGrp="1"/>
          </p:cNvSpPr>
          <p:nvPr>
            <p:ph type="sldNum" sz="quarter" idx="5"/>
          </p:nvPr>
        </p:nvSpPr>
        <p:spPr/>
        <p:txBody>
          <a:bodyPr/>
          <a:lstStyle/>
          <a:p>
            <a:fld id="{A6349448-063E-4DF5-B291-1A3744175A04}" type="slidenum">
              <a:rPr lang="zh-CN" altLang="en-US" smtClean="0"/>
              <a:t>27</a:t>
            </a:fld>
            <a:endParaRPr lang="zh-CN" altLang="en-US"/>
          </a:p>
        </p:txBody>
      </p:sp>
    </p:spTree>
    <p:extLst>
      <p:ext uri="{BB962C8B-B14F-4D97-AF65-F5344CB8AC3E}">
        <p14:creationId xmlns:p14="http://schemas.microsoft.com/office/powerpoint/2010/main" val="1458701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80C4F9-5EE7-47B7-B965-368EB53A4352}"/>
              </a:ext>
            </a:extLst>
          </p:cNvPr>
          <p:cNvSpPr>
            <a:spLocks noGrp="1"/>
          </p:cNvSpPr>
          <p:nvPr>
            <p:ph type="ctrTitle"/>
          </p:nvPr>
        </p:nvSpPr>
        <p:spPr>
          <a:xfrm>
            <a:off x="647700" y="1181099"/>
            <a:ext cx="6864724" cy="3581399"/>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 xmlns:a16="http://schemas.microsoft.com/office/drawing/2014/main" id="{E7A4A1F1-374F-4FC8-89F7-83065EA4F5DD}"/>
              </a:ext>
            </a:extLst>
          </p:cNvPr>
          <p:cNvSpPr>
            <a:spLocks noGrp="1"/>
          </p:cNvSpPr>
          <p:nvPr>
            <p:ph type="subTitle" idx="1"/>
          </p:nvPr>
        </p:nvSpPr>
        <p:spPr>
          <a:xfrm>
            <a:off x="647700" y="5075227"/>
            <a:ext cx="6864724" cy="868374"/>
          </a:xfrm>
        </p:spPr>
        <p:txBody>
          <a:bodyPr>
            <a:normAutofit/>
          </a:bodyPr>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 xmlns:a16="http://schemas.microsoft.com/office/drawing/2014/main" id="{7FB5CB5F-AE9B-4C02-B16F-C462CAFC1963}"/>
              </a:ext>
            </a:extLst>
          </p:cNvPr>
          <p:cNvSpPr>
            <a:spLocks noGrp="1"/>
          </p:cNvSpPr>
          <p:nvPr>
            <p:ph type="dt" sz="half" idx="10"/>
          </p:nvPr>
        </p:nvSpPr>
        <p:spPr/>
        <p:txBody>
          <a:bodyPr/>
          <a:lstStyle/>
          <a:p>
            <a:fld id="{D341B595-366B-43E2-A22E-EA6A78C03F06}" type="datetimeFigureOut">
              <a:rPr lang="en-US" smtClean="0"/>
              <a:t>7/6/2026</a:t>
            </a:fld>
            <a:endParaRPr lang="en-US"/>
          </a:p>
        </p:txBody>
      </p:sp>
      <p:sp>
        <p:nvSpPr>
          <p:cNvPr id="5" name="Footer Placeholder 4">
            <a:extLst>
              <a:ext uri="{FF2B5EF4-FFF2-40B4-BE49-F238E27FC236}">
                <a16:creationId xmlns="" xmlns:a16="http://schemas.microsoft.com/office/drawing/2014/main" id="{4114B1CC-830B-4695-B174-D9E9100A86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03DCD43F-E516-4123-A6D8-DB72C3CC50B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075377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0FF197-4D72-4945-8068-57D52018E6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88C81FA8-039D-4BAF-8AAB-7B6616AFEE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7727357F-46A1-493A-A5E4-1D7FAE5B9960}"/>
              </a:ext>
            </a:extLst>
          </p:cNvPr>
          <p:cNvSpPr>
            <a:spLocks noGrp="1"/>
          </p:cNvSpPr>
          <p:nvPr>
            <p:ph type="dt" sz="half" idx="10"/>
          </p:nvPr>
        </p:nvSpPr>
        <p:spPr/>
        <p:txBody>
          <a:bodyPr/>
          <a:lstStyle/>
          <a:p>
            <a:fld id="{D341B595-366B-43E2-A22E-EA6A78C03F06}" type="datetimeFigureOut">
              <a:rPr lang="en-US" smtClean="0"/>
              <a:t>7/6/2026</a:t>
            </a:fld>
            <a:endParaRPr lang="en-US"/>
          </a:p>
        </p:txBody>
      </p:sp>
      <p:sp>
        <p:nvSpPr>
          <p:cNvPr id="5" name="Footer Placeholder 4">
            <a:extLst>
              <a:ext uri="{FF2B5EF4-FFF2-40B4-BE49-F238E27FC236}">
                <a16:creationId xmlns=""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07BC3FF-EE25-45FB-A7A8-AAA522F70748}"/>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761597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5596BE-9AF9-4E97-9204-5B672D797384}"/>
              </a:ext>
            </a:extLst>
          </p:cNvPr>
          <p:cNvSpPr>
            <a:spLocks noGrp="1"/>
          </p:cNvSpPr>
          <p:nvPr>
            <p:ph type="title"/>
          </p:nvPr>
        </p:nvSpPr>
        <p:spPr>
          <a:xfrm>
            <a:off x="1981200" y="2362200"/>
            <a:ext cx="7696200" cy="24003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 xmlns:a16="http://schemas.microsoft.com/office/drawing/2014/main" id="{95EDF98A-E8AE-4443-9A8C-CB35DEB2CE60}"/>
              </a:ext>
            </a:extLst>
          </p:cNvPr>
          <p:cNvSpPr>
            <a:spLocks noGrp="1"/>
          </p:cNvSpPr>
          <p:nvPr>
            <p:ph type="body" idx="1"/>
          </p:nvPr>
        </p:nvSpPr>
        <p:spPr>
          <a:xfrm>
            <a:off x="1981200" y="5067300"/>
            <a:ext cx="7696200" cy="876300"/>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2DB7114B-35CB-40C5-BCC8-C5039524FFC1}"/>
              </a:ext>
            </a:extLst>
          </p:cNvPr>
          <p:cNvSpPr>
            <a:spLocks noGrp="1"/>
          </p:cNvSpPr>
          <p:nvPr>
            <p:ph type="dt" sz="half" idx="10"/>
          </p:nvPr>
        </p:nvSpPr>
        <p:spPr/>
        <p:txBody>
          <a:bodyPr/>
          <a:lstStyle/>
          <a:p>
            <a:fld id="{D341B595-366B-43E2-A22E-EA6A78C03F06}" type="datetimeFigureOut">
              <a:rPr lang="en-US" smtClean="0"/>
              <a:t>7/6/2026</a:t>
            </a:fld>
            <a:endParaRPr lang="en-US"/>
          </a:p>
        </p:txBody>
      </p:sp>
      <p:sp>
        <p:nvSpPr>
          <p:cNvPr id="5" name="Footer Placeholder 4">
            <a:extLst>
              <a:ext uri="{FF2B5EF4-FFF2-40B4-BE49-F238E27FC236}">
                <a16:creationId xmlns="" xmlns:a16="http://schemas.microsoft.com/office/drawing/2014/main" id="{7A1AA324-982E-42C4-8002-5F236877C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5D401596-9353-4C1A-972E-6522F2B42049}"/>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678506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BF0BC9-7469-437A-B92B-0A2627E4B9B4}"/>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 xmlns:a16="http://schemas.microsoft.com/office/drawing/2014/main" id="{A1B7D887-595C-4649-AF8E-E78307000D4A}"/>
              </a:ext>
            </a:extLst>
          </p:cNvPr>
          <p:cNvSpPr>
            <a:spLocks noGrp="1"/>
          </p:cNvSpPr>
          <p:nvPr>
            <p:ph sz="half" idx="1"/>
          </p:nvPr>
        </p:nvSpPr>
        <p:spPr>
          <a:xfrm>
            <a:off x="914400" y="1825625"/>
            <a:ext cx="49911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 xmlns:a16="http://schemas.microsoft.com/office/drawing/2014/main" id="{B39FE29C-ED37-4DD9-949F-0024342619E1}"/>
              </a:ext>
            </a:extLst>
          </p:cNvPr>
          <p:cNvSpPr>
            <a:spLocks noGrp="1"/>
          </p:cNvSpPr>
          <p:nvPr>
            <p:ph sz="half" idx="2"/>
          </p:nvPr>
        </p:nvSpPr>
        <p:spPr>
          <a:xfrm>
            <a:off x="6248400" y="1825625"/>
            <a:ext cx="5029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 xmlns:a16="http://schemas.microsoft.com/office/drawing/2014/main" id="{A6F6AA34-8CC0-4E5B-8396-0AC75633142B}"/>
              </a:ext>
            </a:extLst>
          </p:cNvPr>
          <p:cNvSpPr>
            <a:spLocks noGrp="1"/>
          </p:cNvSpPr>
          <p:nvPr>
            <p:ph type="dt" sz="half" idx="10"/>
          </p:nvPr>
        </p:nvSpPr>
        <p:spPr/>
        <p:txBody>
          <a:bodyPr/>
          <a:lstStyle/>
          <a:p>
            <a:fld id="{D341B595-366B-43E2-A22E-EA6A78C03F06}" type="datetimeFigureOut">
              <a:rPr lang="en-US" smtClean="0"/>
              <a:t>7/6/2026</a:t>
            </a:fld>
            <a:endParaRPr lang="en-US"/>
          </a:p>
        </p:txBody>
      </p:sp>
      <p:sp>
        <p:nvSpPr>
          <p:cNvPr id="6" name="Footer Placeholder 5">
            <a:extLst>
              <a:ext uri="{FF2B5EF4-FFF2-40B4-BE49-F238E27FC236}">
                <a16:creationId xmlns="" xmlns:a16="http://schemas.microsoft.com/office/drawing/2014/main" id="{28DF7398-73FE-4D27-AFF9-91BEBFED32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11700880-10EE-4115-8BBB-13DDF270DBD1}"/>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880045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FF3C9B-D20D-43FA-BA18-D50F86A9127E}"/>
              </a:ext>
            </a:extLst>
          </p:cNvPr>
          <p:cNvSpPr>
            <a:spLocks noGrp="1"/>
          </p:cNvSpPr>
          <p:nvPr>
            <p:ph type="title"/>
          </p:nvPr>
        </p:nvSpPr>
        <p:spPr>
          <a:xfrm>
            <a:off x="652371" y="647699"/>
            <a:ext cx="10625229" cy="1150621"/>
          </a:xfrm>
        </p:spPr>
        <p:txBody>
          <a:bodyPr/>
          <a:lstStyle/>
          <a:p>
            <a:r>
              <a:rPr lang="en-US"/>
              <a:t>Click to edit Master title style</a:t>
            </a:r>
            <a:endParaRPr lang="en-US" dirty="0"/>
          </a:p>
        </p:txBody>
      </p:sp>
      <p:sp>
        <p:nvSpPr>
          <p:cNvPr id="3" name="Text Placeholder 2">
            <a:extLst>
              <a:ext uri="{FF2B5EF4-FFF2-40B4-BE49-F238E27FC236}">
                <a16:creationId xmlns="" xmlns:a16="http://schemas.microsoft.com/office/drawing/2014/main" id="{7D52F00A-F4EE-40FC-9325-373840422D52}"/>
              </a:ext>
            </a:extLst>
          </p:cNvPr>
          <p:cNvSpPr>
            <a:spLocks noGrp="1"/>
          </p:cNvSpPr>
          <p:nvPr>
            <p:ph type="body" idx="1"/>
          </p:nvPr>
        </p:nvSpPr>
        <p:spPr>
          <a:xfrm>
            <a:off x="655863" y="1879599"/>
            <a:ext cx="5157787" cy="675641"/>
          </a:xfrm>
        </p:spPr>
        <p:txBody>
          <a:bodyPr anchor="b">
            <a:no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EF75DD90-A306-4A8B-A54C-8033B7F7F0E9}"/>
              </a:ext>
            </a:extLst>
          </p:cNvPr>
          <p:cNvSpPr>
            <a:spLocks noGrp="1"/>
          </p:cNvSpPr>
          <p:nvPr>
            <p:ph sz="half" idx="2"/>
          </p:nvPr>
        </p:nvSpPr>
        <p:spPr>
          <a:xfrm>
            <a:off x="655863" y="2560955"/>
            <a:ext cx="5157787" cy="3649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 xmlns:a16="http://schemas.microsoft.com/office/drawing/2014/main" id="{2040E0AA-F8F8-4862-B27B-50FAF2F34DE0}"/>
              </a:ext>
            </a:extLst>
          </p:cNvPr>
          <p:cNvSpPr>
            <a:spLocks noGrp="1"/>
          </p:cNvSpPr>
          <p:nvPr>
            <p:ph type="body" sz="quarter" idx="3"/>
          </p:nvPr>
        </p:nvSpPr>
        <p:spPr>
          <a:xfrm>
            <a:off x="6094412" y="1879599"/>
            <a:ext cx="5183188" cy="675641"/>
          </a:xfrm>
        </p:spPr>
        <p:txBody>
          <a:bodyPr anchor="b">
            <a:no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E9FEBDD6-EDA1-4CE7-9DDC-9D977E12DDAB}"/>
              </a:ext>
            </a:extLst>
          </p:cNvPr>
          <p:cNvSpPr>
            <a:spLocks noGrp="1"/>
          </p:cNvSpPr>
          <p:nvPr>
            <p:ph sz="quarter" idx="4"/>
          </p:nvPr>
        </p:nvSpPr>
        <p:spPr>
          <a:xfrm>
            <a:off x="6094412" y="2560955"/>
            <a:ext cx="5183188" cy="3649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 xmlns:a16="http://schemas.microsoft.com/office/drawing/2014/main" id="{E0044487-D350-4434-A5C7-A96942FFC95E}"/>
              </a:ext>
            </a:extLst>
          </p:cNvPr>
          <p:cNvSpPr>
            <a:spLocks noGrp="1"/>
          </p:cNvSpPr>
          <p:nvPr>
            <p:ph type="dt" sz="half" idx="10"/>
          </p:nvPr>
        </p:nvSpPr>
        <p:spPr/>
        <p:txBody>
          <a:bodyPr/>
          <a:lstStyle/>
          <a:p>
            <a:fld id="{D341B595-366B-43E2-A22E-EA6A78C03F06}" type="datetimeFigureOut">
              <a:rPr lang="en-US" smtClean="0"/>
              <a:t>7/6/2026</a:t>
            </a:fld>
            <a:endParaRPr lang="en-US"/>
          </a:p>
        </p:txBody>
      </p:sp>
      <p:sp>
        <p:nvSpPr>
          <p:cNvPr id="8" name="Footer Placeholder 7">
            <a:extLst>
              <a:ext uri="{FF2B5EF4-FFF2-40B4-BE49-F238E27FC236}">
                <a16:creationId xmlns="" xmlns:a16="http://schemas.microsoft.com/office/drawing/2014/main" id="{3389DC43-E591-42BF-82EE-E4887E4BC5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568CD421-2D00-41DD-A393-4739E389D95E}"/>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397671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239A8B-0FAF-431C-9657-9003FA0373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51BBA2A1-331D-40F8-867B-CE15011360A1}"/>
              </a:ext>
            </a:extLst>
          </p:cNvPr>
          <p:cNvSpPr>
            <a:spLocks noGrp="1"/>
          </p:cNvSpPr>
          <p:nvPr>
            <p:ph type="dt" sz="half" idx="10"/>
          </p:nvPr>
        </p:nvSpPr>
        <p:spPr/>
        <p:txBody>
          <a:bodyPr/>
          <a:lstStyle/>
          <a:p>
            <a:fld id="{D341B595-366B-43E2-A22E-EA6A78C03F06}" type="datetimeFigureOut">
              <a:rPr lang="en-US" smtClean="0"/>
              <a:t>7/6/2026</a:t>
            </a:fld>
            <a:endParaRPr lang="en-US"/>
          </a:p>
        </p:txBody>
      </p:sp>
      <p:sp>
        <p:nvSpPr>
          <p:cNvPr id="4" name="Footer Placeholder 3">
            <a:extLst>
              <a:ext uri="{FF2B5EF4-FFF2-40B4-BE49-F238E27FC236}">
                <a16:creationId xmlns="" xmlns:a16="http://schemas.microsoft.com/office/drawing/2014/main" id="{850995C1-5121-47B6-AC6D-F60C0FF663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DEDBE022-9B54-431C-80D5-5D8F2AFCB920}"/>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687409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5015B6E5-6347-41F6-85FC-3BF3652D1BC3}"/>
              </a:ext>
            </a:extLst>
          </p:cNvPr>
          <p:cNvSpPr>
            <a:spLocks noGrp="1"/>
          </p:cNvSpPr>
          <p:nvPr>
            <p:ph type="dt" sz="half" idx="10"/>
          </p:nvPr>
        </p:nvSpPr>
        <p:spPr/>
        <p:txBody>
          <a:bodyPr/>
          <a:lstStyle/>
          <a:p>
            <a:fld id="{D341B595-366B-43E2-A22E-EA6A78C03F06}" type="datetimeFigureOut">
              <a:rPr lang="en-US" smtClean="0"/>
              <a:t>7/6/2026</a:t>
            </a:fld>
            <a:endParaRPr lang="en-US"/>
          </a:p>
        </p:txBody>
      </p:sp>
      <p:sp>
        <p:nvSpPr>
          <p:cNvPr id="3" name="Footer Placeholder 2">
            <a:extLst>
              <a:ext uri="{FF2B5EF4-FFF2-40B4-BE49-F238E27FC236}">
                <a16:creationId xmlns="" xmlns:a16="http://schemas.microsoft.com/office/drawing/2014/main" id="{1C6A93F6-45F8-4453-B5DC-B2F3D5D0B5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7EE364E1-213B-4AF0-80D7-8101EFD5E410}"/>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379261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290B5D-E76D-4797-AD77-15625D675F3A}"/>
              </a:ext>
            </a:extLst>
          </p:cNvPr>
          <p:cNvSpPr>
            <a:spLocks noGrp="1"/>
          </p:cNvSpPr>
          <p:nvPr>
            <p:ph type="title"/>
          </p:nvPr>
        </p:nvSpPr>
        <p:spPr>
          <a:xfrm>
            <a:off x="652372" y="647700"/>
            <a:ext cx="4119654" cy="1714500"/>
          </a:xfrm>
        </p:spPr>
        <p:txBody>
          <a:bodyPr anchor="b">
            <a:noAutofit/>
          </a:bodyPr>
          <a:lstStyle>
            <a:lvl1pPr>
              <a:defRPr sz="3200"/>
            </a:lvl1pPr>
          </a:lstStyle>
          <a:p>
            <a:r>
              <a:rPr lang="en-US"/>
              <a:t>Click to edit Master title style</a:t>
            </a:r>
            <a:endParaRPr lang="en-US" dirty="0"/>
          </a:p>
        </p:txBody>
      </p:sp>
      <p:sp>
        <p:nvSpPr>
          <p:cNvPr id="3" name="Content Placeholder 2">
            <a:extLst>
              <a:ext uri="{FF2B5EF4-FFF2-40B4-BE49-F238E27FC236}">
                <a16:creationId xmlns="" xmlns:a16="http://schemas.microsoft.com/office/drawing/2014/main" id="{99744D8D-C9CF-43B2-905D-2368B17A539A}"/>
              </a:ext>
            </a:extLst>
          </p:cNvPr>
          <p:cNvSpPr>
            <a:spLocks noGrp="1"/>
          </p:cNvSpPr>
          <p:nvPr>
            <p:ph idx="1"/>
          </p:nvPr>
        </p:nvSpPr>
        <p:spPr>
          <a:xfrm>
            <a:off x="5540188" y="914400"/>
            <a:ext cx="5737412" cy="50291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 xmlns:a16="http://schemas.microsoft.com/office/drawing/2014/main" id="{F1B4BF0C-D14C-46D7-ACDD-1885DDD883F1}"/>
              </a:ext>
            </a:extLst>
          </p:cNvPr>
          <p:cNvSpPr>
            <a:spLocks noGrp="1"/>
          </p:cNvSpPr>
          <p:nvPr>
            <p:ph type="body" sz="half" idx="2"/>
          </p:nvPr>
        </p:nvSpPr>
        <p:spPr>
          <a:xfrm>
            <a:off x="652372" y="2697479"/>
            <a:ext cx="4119654" cy="32461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BFD7D8D-72E7-4ABD-BB87-80BB49003104}"/>
              </a:ext>
            </a:extLst>
          </p:cNvPr>
          <p:cNvSpPr>
            <a:spLocks noGrp="1"/>
          </p:cNvSpPr>
          <p:nvPr>
            <p:ph type="dt" sz="half" idx="10"/>
          </p:nvPr>
        </p:nvSpPr>
        <p:spPr/>
        <p:txBody>
          <a:bodyPr/>
          <a:lstStyle/>
          <a:p>
            <a:fld id="{D341B595-366B-43E2-A22E-EA6A78C03F06}" type="datetimeFigureOut">
              <a:rPr lang="en-US" smtClean="0"/>
              <a:t>7/6/2026</a:t>
            </a:fld>
            <a:endParaRPr lang="en-US"/>
          </a:p>
        </p:txBody>
      </p:sp>
      <p:sp>
        <p:nvSpPr>
          <p:cNvPr id="6" name="Footer Placeholder 5">
            <a:extLst>
              <a:ext uri="{FF2B5EF4-FFF2-40B4-BE49-F238E27FC236}">
                <a16:creationId xmlns="" xmlns:a16="http://schemas.microsoft.com/office/drawing/2014/main" id="{A9D9C1CE-C8CE-4364-A021-ADC2D64726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6AE6FA33-09EF-495A-853E-63750CA37AC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849067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EF023E-952E-40DF-A101-74D22789D534}"/>
              </a:ext>
            </a:extLst>
          </p:cNvPr>
          <p:cNvSpPr>
            <a:spLocks noGrp="1"/>
          </p:cNvSpPr>
          <p:nvPr>
            <p:ph type="title"/>
          </p:nvPr>
        </p:nvSpPr>
        <p:spPr>
          <a:xfrm>
            <a:off x="652372" y="647700"/>
            <a:ext cx="4119654" cy="1714500"/>
          </a:xfrm>
        </p:spPr>
        <p:txBody>
          <a:bodyPr anchor="b">
            <a:noAutofit/>
          </a:bodyPr>
          <a:lstStyle>
            <a:lvl1pPr>
              <a:defRPr sz="3200"/>
            </a:lvl1pPr>
          </a:lstStyle>
          <a:p>
            <a:r>
              <a:rPr lang="en-US"/>
              <a:t>Click to edit Master title style</a:t>
            </a:r>
            <a:endParaRPr lang="en-US" dirty="0"/>
          </a:p>
        </p:txBody>
      </p:sp>
      <p:sp>
        <p:nvSpPr>
          <p:cNvPr id="3" name="Picture Placeholder 2">
            <a:extLst>
              <a:ext uri="{FF2B5EF4-FFF2-40B4-BE49-F238E27FC236}">
                <a16:creationId xmlns="" xmlns:a16="http://schemas.microsoft.com/office/drawing/2014/main" id="{841E98DD-BF5D-4CCA-8C66-F2A6CE11271C}"/>
              </a:ext>
            </a:extLst>
          </p:cNvPr>
          <p:cNvSpPr>
            <a:spLocks noGrp="1"/>
          </p:cNvSpPr>
          <p:nvPr>
            <p:ph type="pic" idx="1"/>
          </p:nvPr>
        </p:nvSpPr>
        <p:spPr>
          <a:xfrm>
            <a:off x="5486400" y="914400"/>
            <a:ext cx="5791200" cy="50291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 xmlns:a16="http://schemas.microsoft.com/office/drawing/2014/main" id="{A0EC22A6-F2C2-4A88-BEE5-2D6CEB520EB9}"/>
              </a:ext>
            </a:extLst>
          </p:cNvPr>
          <p:cNvSpPr>
            <a:spLocks noGrp="1"/>
          </p:cNvSpPr>
          <p:nvPr>
            <p:ph type="body" sz="half" idx="2"/>
          </p:nvPr>
        </p:nvSpPr>
        <p:spPr>
          <a:xfrm>
            <a:off x="652372" y="2697480"/>
            <a:ext cx="4119654" cy="31715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0A1F755-C7AF-4C50-8CA8-828612A767B0}"/>
              </a:ext>
            </a:extLst>
          </p:cNvPr>
          <p:cNvSpPr>
            <a:spLocks noGrp="1"/>
          </p:cNvSpPr>
          <p:nvPr>
            <p:ph type="dt" sz="half" idx="10"/>
          </p:nvPr>
        </p:nvSpPr>
        <p:spPr/>
        <p:txBody>
          <a:bodyPr/>
          <a:lstStyle/>
          <a:p>
            <a:fld id="{D341B595-366B-43E2-A22E-EA6A78C03F06}" type="datetimeFigureOut">
              <a:rPr lang="en-US" smtClean="0"/>
              <a:t>7/6/2026</a:t>
            </a:fld>
            <a:endParaRPr lang="en-US"/>
          </a:p>
        </p:txBody>
      </p:sp>
      <p:sp>
        <p:nvSpPr>
          <p:cNvPr id="6" name="Footer Placeholder 5">
            <a:extLst>
              <a:ext uri="{FF2B5EF4-FFF2-40B4-BE49-F238E27FC236}">
                <a16:creationId xmlns="" xmlns:a16="http://schemas.microsoft.com/office/drawing/2014/main" id="{C1EDE175-E818-477C-A3F6-7DD65C1268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91D0B8E3-DB91-440B-818F-71E4248BB10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641293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08C0AF-44D0-4830-AF13-49B8522BE6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E61B4D8C-6045-47B3-9A0C-F2215A904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7C19A9F1-F398-416A-A8C0-0A36D838DD15}"/>
              </a:ext>
            </a:extLst>
          </p:cNvPr>
          <p:cNvSpPr>
            <a:spLocks noGrp="1"/>
          </p:cNvSpPr>
          <p:nvPr>
            <p:ph type="dt" sz="half" idx="10"/>
          </p:nvPr>
        </p:nvSpPr>
        <p:spPr/>
        <p:txBody>
          <a:bodyPr/>
          <a:lstStyle/>
          <a:p>
            <a:fld id="{D341B595-366B-43E2-A22E-EA6A78C03F06}" type="datetimeFigureOut">
              <a:rPr lang="en-US" smtClean="0"/>
              <a:t>7/6/2026</a:t>
            </a:fld>
            <a:endParaRPr lang="en-US"/>
          </a:p>
        </p:txBody>
      </p:sp>
      <p:sp>
        <p:nvSpPr>
          <p:cNvPr id="5" name="Footer Placeholder 4">
            <a:extLst>
              <a:ext uri="{FF2B5EF4-FFF2-40B4-BE49-F238E27FC236}">
                <a16:creationId xmlns="" xmlns:a16="http://schemas.microsoft.com/office/drawing/2014/main" id="{6E37F801-C9FB-4A34-8386-BA9FBACCB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B8E05176-F6E9-4997-8355-74F2A4560A65}"/>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880356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CBEBC807-13E1-4F3F-83FA-FD9BD24F3B1F}"/>
              </a:ext>
            </a:extLst>
          </p:cNvPr>
          <p:cNvSpPr>
            <a:spLocks noGrp="1"/>
          </p:cNvSpPr>
          <p:nvPr>
            <p:ph type="title" orient="vert"/>
          </p:nvPr>
        </p:nvSpPr>
        <p:spPr>
          <a:xfrm>
            <a:off x="8986520" y="647699"/>
            <a:ext cx="2291080" cy="5295901"/>
          </a:xfrm>
        </p:spPr>
        <p:txBody>
          <a:bodyPr vert="eaVert"/>
          <a:lstStyle/>
          <a:p>
            <a:r>
              <a:rPr lang="en-US"/>
              <a:t>Click to edit Master title style</a:t>
            </a:r>
            <a:endParaRPr lang="en-US" dirty="0"/>
          </a:p>
        </p:txBody>
      </p:sp>
      <p:sp>
        <p:nvSpPr>
          <p:cNvPr id="3" name="Vertical Text Placeholder 2">
            <a:extLst>
              <a:ext uri="{FF2B5EF4-FFF2-40B4-BE49-F238E27FC236}">
                <a16:creationId xmlns="" xmlns:a16="http://schemas.microsoft.com/office/drawing/2014/main" id="{9B7E2EAA-155E-482E-A2B8-547653B253EE}"/>
              </a:ext>
            </a:extLst>
          </p:cNvPr>
          <p:cNvSpPr>
            <a:spLocks noGrp="1"/>
          </p:cNvSpPr>
          <p:nvPr>
            <p:ph type="body" orient="vert" idx="1"/>
          </p:nvPr>
        </p:nvSpPr>
        <p:spPr>
          <a:xfrm>
            <a:off x="652371" y="647699"/>
            <a:ext cx="8120789" cy="52959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3C4A4BDC-BDD0-417D-AF7C-516EE556D7E4}"/>
              </a:ext>
            </a:extLst>
          </p:cNvPr>
          <p:cNvSpPr>
            <a:spLocks noGrp="1"/>
          </p:cNvSpPr>
          <p:nvPr>
            <p:ph type="dt" sz="half" idx="10"/>
          </p:nvPr>
        </p:nvSpPr>
        <p:spPr/>
        <p:txBody>
          <a:bodyPr/>
          <a:lstStyle/>
          <a:p>
            <a:fld id="{D341B595-366B-43E2-A22E-EA6A78C03F06}" type="datetimeFigureOut">
              <a:rPr lang="en-US" smtClean="0"/>
              <a:t>7/6/2026</a:t>
            </a:fld>
            <a:endParaRPr lang="en-US"/>
          </a:p>
        </p:txBody>
      </p:sp>
      <p:sp>
        <p:nvSpPr>
          <p:cNvPr id="5" name="Footer Placeholder 4">
            <a:extLst>
              <a:ext uri="{FF2B5EF4-FFF2-40B4-BE49-F238E27FC236}">
                <a16:creationId xmlns="" xmlns:a16="http://schemas.microsoft.com/office/drawing/2014/main" id="{0EF663EC-23F9-4202-80F3-F8E550884F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DAC8402D-7367-485B-AEA6-5AB2B8209D19}"/>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7088255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标题幻灯片">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6159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通用内页版式（纯白底）">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8977402" y="617378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BB01C-2D99-4EE4-A669-6CEBFEBB08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594817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8807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647724"/>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srcRect/>
          <a:stretch>
            <a:fillRect/>
          </a:stretch>
        </p:blipFill>
        <p:spPr>
          <a:xfrm>
            <a:off x="0" y="0"/>
            <a:ext cx="12192000" cy="6858000"/>
          </a:xfrm>
          <a:prstGeom prst="rect">
            <a:avLst/>
          </a:prstGeom>
        </p:spPr>
      </p:pic>
      <p:sp>
        <p:nvSpPr>
          <p:cNvPr id="3" name="椭圆 2" descr="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
            <a:extLst>
              <a:ext uri="{FF2B5EF4-FFF2-40B4-BE49-F238E27FC236}">
                <a16:creationId xmlns="" xmlns:a16="http://schemas.microsoft.com/office/drawing/2014/main" id="{C8DAE386-A759-2CFA-F1C7-6D0FAB5E607E}"/>
              </a:ext>
            </a:extLst>
          </p:cNvPr>
          <p:cNvSpPr/>
          <p:nvPr userDrawn="1"/>
        </p:nvSpPr>
        <p:spPr>
          <a:xfrm rot="17100000">
            <a:off x="665665" y="160279"/>
            <a:ext cx="1425269" cy="1425269"/>
          </a:xfrm>
          <a:prstGeom prst="ellipse">
            <a:avLst/>
          </a:prstGeom>
          <a:gradFill flip="none" rotWithShape="1">
            <a:gsLst>
              <a:gs pos="34000">
                <a:schemeClr val="accent1">
                  <a:lumMod val="45000"/>
                  <a:lumOff val="55000"/>
                  <a:alpha val="0"/>
                </a:schemeClr>
              </a:gs>
              <a:gs pos="100000">
                <a:schemeClr val="accent1">
                  <a:alpha val="37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extLst>
      <p:ext uri="{BB962C8B-B14F-4D97-AF65-F5344CB8AC3E}">
        <p14:creationId xmlns:p14="http://schemas.microsoft.com/office/powerpoint/2010/main" val="2827699264"/>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标题幻灯片">
    <p:bg>
      <p:bgPr>
        <a:noFill/>
        <a:effectLst/>
      </p:bgPr>
    </p:bg>
    <p:spTree>
      <p:nvGrpSpPr>
        <p:cNvPr id="1" name=""/>
        <p:cNvGrpSpPr/>
        <p:nvPr/>
      </p:nvGrpSpPr>
      <p:grpSpPr>
        <a:xfrm>
          <a:off x="0" y="0"/>
          <a:ext cx="0" cy="0"/>
          <a:chOff x="0" y="0"/>
          <a:chExt cx="0" cy="0"/>
        </a:xfrm>
      </p:grpSpPr>
      <p:sp>
        <p:nvSpPr>
          <p:cNvPr id="3" name="椭圆 2" descr="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
            <a:extLst>
              <a:ext uri="{FF2B5EF4-FFF2-40B4-BE49-F238E27FC236}">
                <a16:creationId xmlns="" xmlns:a16="http://schemas.microsoft.com/office/drawing/2014/main" id="{97B9A34F-4622-1DC1-9D45-33DBC2559FAC}"/>
              </a:ext>
            </a:extLst>
          </p:cNvPr>
          <p:cNvSpPr/>
          <p:nvPr userDrawn="1"/>
        </p:nvSpPr>
        <p:spPr>
          <a:xfrm rot="17100000">
            <a:off x="665665" y="160279"/>
            <a:ext cx="1425269" cy="1425269"/>
          </a:xfrm>
          <a:prstGeom prst="ellipse">
            <a:avLst/>
          </a:prstGeom>
          <a:gradFill flip="none" rotWithShape="1">
            <a:gsLst>
              <a:gs pos="34000">
                <a:schemeClr val="accent1">
                  <a:lumMod val="45000"/>
                  <a:lumOff val="55000"/>
                  <a:alpha val="0"/>
                </a:schemeClr>
              </a:gs>
              <a:gs pos="100000">
                <a:schemeClr val="accent1">
                  <a:alpha val="37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extLst>
      <p:ext uri="{BB962C8B-B14F-4D97-AF65-F5344CB8AC3E}">
        <p14:creationId xmlns:p14="http://schemas.microsoft.com/office/powerpoint/2010/main" val="3987825429"/>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2085416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椭圆 1" descr="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
            <a:extLst>
              <a:ext uri="{FF2B5EF4-FFF2-40B4-BE49-F238E27FC236}">
                <a16:creationId xmlns="" xmlns:a16="http://schemas.microsoft.com/office/drawing/2014/main" id="{01BFCCAD-68A0-65F2-08E0-688C942A443E}"/>
              </a:ext>
            </a:extLst>
          </p:cNvPr>
          <p:cNvSpPr/>
          <p:nvPr userDrawn="1"/>
        </p:nvSpPr>
        <p:spPr>
          <a:xfrm rot="17100000">
            <a:off x="665665" y="160279"/>
            <a:ext cx="1425269" cy="1425269"/>
          </a:xfrm>
          <a:prstGeom prst="ellipse">
            <a:avLst/>
          </a:prstGeom>
          <a:gradFill flip="none" rotWithShape="1">
            <a:gsLst>
              <a:gs pos="34000">
                <a:schemeClr val="accent1">
                  <a:lumMod val="45000"/>
                  <a:lumOff val="55000"/>
                  <a:alpha val="0"/>
                </a:schemeClr>
              </a:gs>
              <a:gs pos="100000">
                <a:schemeClr val="accent1">
                  <a:alpha val="37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extLst>
      <p:ext uri="{BB962C8B-B14F-4D97-AF65-F5344CB8AC3E}">
        <p14:creationId xmlns:p14="http://schemas.microsoft.com/office/powerpoint/2010/main" val="1469360959"/>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标题和内容">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838200" y="1825625"/>
            <a:ext cx="10515600" cy="4351339"/>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6"/>
          </a:xfrm>
          <a:prstGeom prst="rect">
            <a:avLst/>
          </a:prstGeom>
        </p:spPr>
        <p:txBody>
          <a:bodyPr/>
          <a:lstStyle/>
          <a:p>
            <a:pPr defTabSz="914411">
              <a:defRPr/>
            </a:pPr>
            <a:fld id="{BC41CF6B-446F-4173-A244-B399573D4CAF}" type="datetimeFigureOut">
              <a:rPr lang="zh-CN" altLang="en-US" smtClean="0"/>
              <a:pPr defTabSz="914411">
                <a:defRPr/>
              </a:pPr>
              <a:t>2026/7/6</a:t>
            </a:fld>
            <a:endParaRPr lang="zh-CN" altLang="en-US"/>
          </a:p>
        </p:txBody>
      </p:sp>
      <p:sp>
        <p:nvSpPr>
          <p:cNvPr id="5" name="页脚占位符 4"/>
          <p:cNvSpPr>
            <a:spLocks noGrp="1"/>
          </p:cNvSpPr>
          <p:nvPr>
            <p:ph type="ftr" sz="quarter" idx="11"/>
          </p:nvPr>
        </p:nvSpPr>
        <p:spPr>
          <a:xfrm>
            <a:off x="4038600" y="6356350"/>
            <a:ext cx="4114800" cy="365126"/>
          </a:xfrm>
          <a:prstGeom prst="rect">
            <a:avLst/>
          </a:prstGeom>
        </p:spPr>
        <p:txBody>
          <a:bodyPr/>
          <a:lstStyle/>
          <a:p>
            <a:pPr defTabSz="914411">
              <a:defRPr/>
            </a:pPr>
            <a:endParaRPr lang="zh-CN" altLang="en-US"/>
          </a:p>
        </p:txBody>
      </p:sp>
      <p:sp>
        <p:nvSpPr>
          <p:cNvPr id="6" name="灯片编号占位符 5"/>
          <p:cNvSpPr>
            <a:spLocks noGrp="1"/>
          </p:cNvSpPr>
          <p:nvPr>
            <p:ph type="sldNum" sz="quarter" idx="12"/>
          </p:nvPr>
        </p:nvSpPr>
        <p:spPr>
          <a:xfrm>
            <a:off x="8610600" y="6356350"/>
            <a:ext cx="2743200" cy="365126"/>
          </a:xfrm>
          <a:prstGeom prst="rect">
            <a:avLst/>
          </a:prstGeom>
        </p:spPr>
        <p:txBody>
          <a:bodyPr/>
          <a:lstStyle/>
          <a:p>
            <a:pPr defTabSz="914411">
              <a:defRPr/>
            </a:pPr>
            <a:fld id="{C04436EC-8FDA-4175-99E5-68D519E68BA7}" type="slidenum">
              <a:rPr lang="zh-CN" altLang="en-US" smtClean="0"/>
              <a:pPr defTabSz="914411">
                <a:defRPr/>
              </a:pPr>
              <a:t>‹#›</a:t>
            </a:fld>
            <a:endParaRPr lang="zh-CN" altLang="en-US"/>
          </a:p>
        </p:txBody>
      </p:sp>
    </p:spTree>
    <p:extLst>
      <p:ext uri="{BB962C8B-B14F-4D97-AF65-F5344CB8AC3E}">
        <p14:creationId xmlns:p14="http://schemas.microsoft.com/office/powerpoint/2010/main" val="3513419949"/>
      </p:ext>
    </p:extLst>
  </p:cSld>
  <p:clrMapOvr>
    <a:masterClrMapping/>
  </p:clrMapOvr>
  <p:transition spd="slow" advClick="0" advTm="0">
    <p:randomBar dir="vert"/>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自定义版式">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6"/>
          </a:xfrm>
          <a:prstGeom prst="rect">
            <a:avLst/>
          </a:prstGeom>
        </p:spPr>
        <p:txBody>
          <a:bodyPr/>
          <a:lstStyle/>
          <a:p>
            <a:fld id="{D955F040-ED43-464F-96F2-927121FE6FD0}" type="datetimeFigureOut">
              <a:rPr lang="zh-CN" altLang="en-US" smtClean="0"/>
              <a:t>2026/7/6</a:t>
            </a:fld>
            <a:endParaRPr lang="zh-CN" altLang="en-US"/>
          </a:p>
        </p:txBody>
      </p:sp>
      <p:sp>
        <p:nvSpPr>
          <p:cNvPr id="4" name="页脚占位符 3"/>
          <p:cNvSpPr>
            <a:spLocks noGrp="1"/>
          </p:cNvSpPr>
          <p:nvPr>
            <p:ph type="ftr" sz="quarter" idx="11"/>
          </p:nvPr>
        </p:nvSpPr>
        <p:spPr>
          <a:xfrm>
            <a:off x="4038600" y="6356350"/>
            <a:ext cx="4114800" cy="36512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6"/>
          </a:xfrm>
          <a:prstGeom prst="rect">
            <a:avLst/>
          </a:prstGeom>
        </p:spPr>
        <p:txBody>
          <a:bodyPr/>
          <a:lstStyle/>
          <a:p>
            <a:fld id="{C95CE31C-667C-455E-B312-3B73BAEC6163}" type="slidenum">
              <a:rPr lang="zh-CN" altLang="en-US" smtClean="0"/>
              <a:t>‹#›</a:t>
            </a:fld>
            <a:endParaRPr lang="zh-CN" altLang="en-US"/>
          </a:p>
        </p:txBody>
      </p:sp>
      <p:sp>
        <p:nvSpPr>
          <p:cNvPr id="7" name="椭圆 6" descr="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
            <a:extLst>
              <a:ext uri="{FF2B5EF4-FFF2-40B4-BE49-F238E27FC236}">
                <a16:creationId xmlns="" xmlns:a16="http://schemas.microsoft.com/office/drawing/2014/main" id="{C14DDB56-131C-B480-2274-623DBABB2DC9}"/>
              </a:ext>
            </a:extLst>
          </p:cNvPr>
          <p:cNvSpPr/>
          <p:nvPr userDrawn="1"/>
        </p:nvSpPr>
        <p:spPr>
          <a:xfrm rot="17100000">
            <a:off x="665665" y="160279"/>
            <a:ext cx="1425269" cy="1425269"/>
          </a:xfrm>
          <a:prstGeom prst="ellipse">
            <a:avLst/>
          </a:prstGeom>
          <a:gradFill flip="none" rotWithShape="1">
            <a:gsLst>
              <a:gs pos="34000">
                <a:schemeClr val="accent1">
                  <a:lumMod val="45000"/>
                  <a:lumOff val="55000"/>
                  <a:alpha val="0"/>
                </a:schemeClr>
              </a:gs>
              <a:gs pos="100000">
                <a:schemeClr val="accent1">
                  <a:alpha val="37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extLst>
      <p:ext uri="{BB962C8B-B14F-4D97-AF65-F5344CB8AC3E}">
        <p14:creationId xmlns:p14="http://schemas.microsoft.com/office/powerpoint/2010/main" val="1384094609"/>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7994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24763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通用内页版式（纯白底）">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8977402" y="617377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BB01C-2D99-4EE4-A669-6CEBFEBB08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121935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6_标题幻灯片">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0486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8" name="文本占位符 8">
            <a:extLst>
              <a:ext uri="{FF2B5EF4-FFF2-40B4-BE49-F238E27FC236}">
                <a16:creationId xmlns="" xmlns:a16="http://schemas.microsoft.com/office/drawing/2014/main" id="{BF803C84-56CE-463F-A341-EFDAC477C320}"/>
              </a:ext>
            </a:extLst>
          </p:cNvPr>
          <p:cNvSpPr>
            <a:spLocks noGrp="1"/>
          </p:cNvSpPr>
          <p:nvPr>
            <p:ph type="body" sz="quarter" idx="13" hasCustomPrompt="1"/>
          </p:nvPr>
        </p:nvSpPr>
        <p:spPr>
          <a:xfrm>
            <a:off x="448057" y="595663"/>
            <a:ext cx="10959008" cy="511175"/>
          </a:xfrm>
          <a:prstGeom prst="rect">
            <a:avLst/>
          </a:prstGeom>
        </p:spPr>
        <p:txBody>
          <a:bodyPr anchor="ctr">
            <a:noAutofit/>
          </a:bodyPr>
          <a:lstStyle>
            <a:lvl1pPr>
              <a:buNone/>
              <a:defRPr sz="2400" b="1">
                <a:solidFill>
                  <a:schemeClr val="tx2">
                    <a:lumMod val="75000"/>
                  </a:schemeClr>
                </a:solidFill>
                <a:latin typeface="微软雅黑" panose="020B0503020204020204" pitchFamily="34" charset="-122"/>
                <a:ea typeface="微软雅黑" panose="020B0503020204020204" pitchFamily="34" charset="-122"/>
              </a:defRPr>
            </a:lvl1pPr>
          </a:lstStyle>
          <a:p>
            <a:pPr lvl="0"/>
            <a:r>
              <a:rPr lang="zh-CN" altLang="en-US" dirty="0"/>
              <a:t>单击此处添加标题</a:t>
            </a:r>
          </a:p>
        </p:txBody>
      </p:sp>
      <p:cxnSp>
        <p:nvCxnSpPr>
          <p:cNvPr id="3" name="直接连接符 2"/>
          <p:cNvCxnSpPr/>
          <p:nvPr userDrawn="1"/>
        </p:nvCxnSpPr>
        <p:spPr>
          <a:xfrm>
            <a:off x="448055" y="1124712"/>
            <a:ext cx="1112744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 name="文本框 5"/>
          <p:cNvSpPr txBox="1"/>
          <p:nvPr userDrawn="1"/>
        </p:nvSpPr>
        <p:spPr>
          <a:xfrm>
            <a:off x="11003062" y="72626"/>
            <a:ext cx="1663628" cy="646587"/>
          </a:xfrm>
          <a:prstGeom prst="rect">
            <a:avLst/>
          </a:prstGeom>
          <a:noFill/>
        </p:spPr>
        <p:txBody>
          <a:bodyPr wrap="square" rtlCol="0">
            <a:spAutoFit/>
          </a:bodyPr>
          <a:lstStyle/>
          <a:p>
            <a:r>
              <a:rPr lang="zh-CN" altLang="en-US" sz="1801" dirty="0">
                <a:solidFill>
                  <a:schemeClr val="tx1"/>
                </a:solidFill>
              </a:rPr>
              <a:t>内部资料</a:t>
            </a:r>
            <a:endParaRPr lang="en-US" altLang="zh-CN" sz="1801" dirty="0">
              <a:solidFill>
                <a:schemeClr val="tx1"/>
              </a:solidFill>
            </a:endParaRPr>
          </a:p>
          <a:p>
            <a:r>
              <a:rPr lang="zh-CN" altLang="en-US" sz="1801" dirty="0">
                <a:solidFill>
                  <a:schemeClr val="tx1"/>
                </a:solidFill>
              </a:rPr>
              <a:t>请勿外传</a:t>
            </a:r>
          </a:p>
        </p:txBody>
      </p:sp>
    </p:spTree>
    <p:extLst>
      <p:ext uri="{BB962C8B-B14F-4D97-AF65-F5344CB8AC3E}">
        <p14:creationId xmlns:p14="http://schemas.microsoft.com/office/powerpoint/2010/main" val="2609078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9"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3.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555EB7D6-B8CB-49E3-874F-2255BEE82473}"/>
              </a:ext>
            </a:extLst>
          </p:cNvPr>
          <p:cNvSpPr>
            <a:spLocks noGrp="1"/>
          </p:cNvSpPr>
          <p:nvPr>
            <p:ph type="title"/>
          </p:nvPr>
        </p:nvSpPr>
        <p:spPr>
          <a:xfrm>
            <a:off x="652371" y="647700"/>
            <a:ext cx="10625229" cy="114705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 xmlns:a16="http://schemas.microsoft.com/office/drawing/2014/main" id="{CFBEEAC5-A8AB-4FE8-A270-D70F7DED4A50}"/>
              </a:ext>
            </a:extLst>
          </p:cNvPr>
          <p:cNvSpPr>
            <a:spLocks noGrp="1"/>
          </p:cNvSpPr>
          <p:nvPr>
            <p:ph type="body" idx="1"/>
          </p:nvPr>
        </p:nvSpPr>
        <p:spPr>
          <a:xfrm>
            <a:off x="652371" y="2095500"/>
            <a:ext cx="10620855" cy="3848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 xmlns:a16="http://schemas.microsoft.com/office/drawing/2014/main" id="{A7B6506C-52BF-4C05-AD31-7C08B80151CB}"/>
              </a:ext>
            </a:extLst>
          </p:cNvPr>
          <p:cNvSpPr>
            <a:spLocks noGrp="1"/>
          </p:cNvSpPr>
          <p:nvPr>
            <p:ph type="dt" sz="half" idx="2"/>
          </p:nvPr>
        </p:nvSpPr>
        <p:spPr>
          <a:xfrm>
            <a:off x="652371" y="6332538"/>
            <a:ext cx="3006492" cy="365125"/>
          </a:xfrm>
          <a:prstGeom prst="rect">
            <a:avLst/>
          </a:prstGeom>
        </p:spPr>
        <p:txBody>
          <a:bodyPr vert="horz" lIns="91440" tIns="45720" rIns="91440" bIns="45720" rtlCol="0" anchor="ctr"/>
          <a:lstStyle>
            <a:lvl1pPr algn="l">
              <a:defRPr sz="900" b="1" spc="100" baseline="0">
                <a:solidFill>
                  <a:schemeClr val="tx1"/>
                </a:solidFill>
              </a:defRPr>
            </a:lvl1pPr>
          </a:lstStyle>
          <a:p>
            <a:fld id="{D341B595-366B-43E2-A22E-EA6A78C03F06}" type="datetimeFigureOut">
              <a:rPr lang="en-US" smtClean="0"/>
              <a:t>7/6/2026</a:t>
            </a:fld>
            <a:endParaRPr lang="en-US"/>
          </a:p>
        </p:txBody>
      </p:sp>
      <p:sp>
        <p:nvSpPr>
          <p:cNvPr id="5" name="Footer Placeholder 4">
            <a:extLst>
              <a:ext uri="{FF2B5EF4-FFF2-40B4-BE49-F238E27FC236}">
                <a16:creationId xmlns="" xmlns:a16="http://schemas.microsoft.com/office/drawing/2014/main" id="{F2534630-6C67-4A40-A499-CB025B2438CE}"/>
              </a:ext>
            </a:extLst>
          </p:cNvPr>
          <p:cNvSpPr>
            <a:spLocks noGrp="1"/>
          </p:cNvSpPr>
          <p:nvPr>
            <p:ph type="ftr" sz="quarter" idx="3"/>
          </p:nvPr>
        </p:nvSpPr>
        <p:spPr>
          <a:xfrm>
            <a:off x="8034169" y="6332538"/>
            <a:ext cx="3505459" cy="365125"/>
          </a:xfrm>
          <a:prstGeom prst="rect">
            <a:avLst/>
          </a:prstGeom>
        </p:spPr>
        <p:txBody>
          <a:bodyPr vert="horz" lIns="91440" tIns="45720" rIns="91440" bIns="45720" rtlCol="0" anchor="ctr"/>
          <a:lstStyle>
            <a:lvl1pPr algn="r">
              <a:defRPr sz="900" b="1" spc="100" baseline="0">
                <a:solidFill>
                  <a:schemeClr val="tx1"/>
                </a:solidFill>
              </a:defRPr>
            </a:lvl1pPr>
          </a:lstStyle>
          <a:p>
            <a:endParaRPr lang="en-US"/>
          </a:p>
        </p:txBody>
      </p:sp>
      <p:sp>
        <p:nvSpPr>
          <p:cNvPr id="6" name="Slide Number Placeholder 5">
            <a:extLst>
              <a:ext uri="{FF2B5EF4-FFF2-40B4-BE49-F238E27FC236}">
                <a16:creationId xmlns="" xmlns:a16="http://schemas.microsoft.com/office/drawing/2014/main" id="{E964E14B-0EE8-4015-809C-DD36B5459B82}"/>
              </a:ext>
            </a:extLst>
          </p:cNvPr>
          <p:cNvSpPr>
            <a:spLocks noGrp="1"/>
          </p:cNvSpPr>
          <p:nvPr>
            <p:ph type="sldNum" sz="quarter" idx="4"/>
          </p:nvPr>
        </p:nvSpPr>
        <p:spPr>
          <a:xfrm>
            <a:off x="11444747" y="6332538"/>
            <a:ext cx="539808" cy="365125"/>
          </a:xfrm>
          <a:prstGeom prst="rect">
            <a:avLst/>
          </a:prstGeom>
        </p:spPr>
        <p:txBody>
          <a:bodyPr vert="horz" lIns="91440" tIns="45720" rIns="91440" bIns="45720" rtlCol="0" anchor="ctr"/>
          <a:lstStyle>
            <a:lvl1pPr algn="r">
              <a:defRPr sz="900" b="1" spc="100" baseline="0">
                <a:solidFill>
                  <a:schemeClr val="tx1"/>
                </a:solidFill>
              </a:defRPr>
            </a:lvl1pPr>
          </a:lstStyle>
          <a:p>
            <a:fld id="{4BA915EE-10CB-4CF1-8569-6154455DA573}" type="slidenum">
              <a:rPr lang="en-US" smtClean="0"/>
              <a:t>‹#›</a:t>
            </a:fld>
            <a:endParaRPr lang="en-US"/>
          </a:p>
        </p:txBody>
      </p:sp>
    </p:spTree>
    <p:extLst>
      <p:ext uri="{BB962C8B-B14F-4D97-AF65-F5344CB8AC3E}">
        <p14:creationId xmlns:p14="http://schemas.microsoft.com/office/powerpoint/2010/main" val="739133200"/>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15" r:id="rId6"/>
    <p:sldLayoutId id="2147483711" r:id="rId7"/>
    <p:sldLayoutId id="2147483712" r:id="rId8"/>
    <p:sldLayoutId id="2147483713" r:id="rId9"/>
    <p:sldLayoutId id="2147483714" r:id="rId10"/>
    <p:sldLayoutId id="2147483716" r:id="rId11"/>
    <p:sldLayoutId id="2147483723" r:id="rId12"/>
    <p:sldLayoutId id="2147483724" r:id="rId13"/>
    <p:sldLayoutId id="2147483725" r:id="rId14"/>
  </p:sldLayoutIdLst>
  <p:txStyles>
    <p:title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9"/>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238289"/>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Lst>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l" defTabSz="914411" rtl="0" eaLnBrk="1" latinLnBrk="0" hangingPunct="1">
        <a:lnSpc>
          <a:spcPct val="90000"/>
        </a:lnSpc>
        <a:spcBef>
          <a:spcPct val="0"/>
        </a:spcBef>
        <a:buNone/>
        <a:defRPr sz="4400" kern="1200">
          <a:solidFill>
            <a:schemeClr val="tx1"/>
          </a:solidFill>
          <a:latin typeface="HarmonyOS Sans SC Light" panose="00000400000000000000" charset="-122"/>
          <a:ea typeface="HarmonyOS Sans SC Light" panose="00000400000000000000" charset="-122"/>
          <a:cs typeface="+mj-cs"/>
        </a:defRPr>
      </a:lvl1pPr>
    </p:titleStyle>
    <p:bodyStyle>
      <a:lvl1pPr marL="228603" indent="-228603" algn="l" defTabSz="914411" rtl="0" eaLnBrk="1" latinLnBrk="0" hangingPunct="1">
        <a:lnSpc>
          <a:spcPct val="90000"/>
        </a:lnSpc>
        <a:spcBef>
          <a:spcPts val="1000"/>
        </a:spcBef>
        <a:buFont typeface="Arial" panose="020B0604020202090204" pitchFamily="34" charset="0"/>
        <a:buChar char="•"/>
        <a:defRPr sz="2800" kern="1200">
          <a:solidFill>
            <a:schemeClr val="tx1"/>
          </a:solidFill>
          <a:latin typeface="HarmonyOS Sans SC Light" panose="00000400000000000000" charset="-122"/>
          <a:ea typeface="HarmonyOS Sans SC Light" panose="00000400000000000000" charset="-122"/>
          <a:cs typeface="+mn-cs"/>
        </a:defRPr>
      </a:lvl1pPr>
      <a:lvl2pPr marL="685808" indent="-228603" algn="l" defTabSz="914411" rtl="0" eaLnBrk="1" latinLnBrk="0" hangingPunct="1">
        <a:lnSpc>
          <a:spcPct val="90000"/>
        </a:lnSpc>
        <a:spcBef>
          <a:spcPts val="500"/>
        </a:spcBef>
        <a:buFont typeface="Arial" panose="020B0604020202090204" pitchFamily="34" charset="0"/>
        <a:buChar char="•"/>
        <a:defRPr sz="2400" kern="1200">
          <a:solidFill>
            <a:schemeClr val="tx1"/>
          </a:solidFill>
          <a:latin typeface="HarmonyOS Sans SC Light" panose="00000400000000000000" charset="-122"/>
          <a:ea typeface="HarmonyOS Sans SC Light" panose="00000400000000000000" charset="-122"/>
          <a:cs typeface="+mn-cs"/>
        </a:defRPr>
      </a:lvl2pPr>
      <a:lvl3pPr marL="1143014" indent="-228603" algn="l" defTabSz="914411" rtl="0" eaLnBrk="1" latinLnBrk="0" hangingPunct="1">
        <a:lnSpc>
          <a:spcPct val="90000"/>
        </a:lnSpc>
        <a:spcBef>
          <a:spcPts val="500"/>
        </a:spcBef>
        <a:buFont typeface="Arial" panose="020B0604020202090204" pitchFamily="34" charset="0"/>
        <a:buChar char="•"/>
        <a:defRPr sz="2000" kern="1200">
          <a:solidFill>
            <a:schemeClr val="tx1"/>
          </a:solidFill>
          <a:latin typeface="HarmonyOS Sans SC Light" panose="00000400000000000000" charset="-122"/>
          <a:ea typeface="HarmonyOS Sans SC Light" panose="00000400000000000000" charset="-122"/>
          <a:cs typeface="+mn-cs"/>
        </a:defRPr>
      </a:lvl3pPr>
      <a:lvl4pPr marL="1600220" indent="-228603" algn="l" defTabSz="914411" rtl="0" eaLnBrk="1" latinLnBrk="0" hangingPunct="1">
        <a:lnSpc>
          <a:spcPct val="90000"/>
        </a:lnSpc>
        <a:spcBef>
          <a:spcPts val="500"/>
        </a:spcBef>
        <a:buFont typeface="Arial" panose="020B0604020202090204" pitchFamily="34" charset="0"/>
        <a:buChar char="•"/>
        <a:defRPr sz="1800" kern="1200">
          <a:solidFill>
            <a:schemeClr val="tx1"/>
          </a:solidFill>
          <a:latin typeface="HarmonyOS Sans SC Light" panose="00000400000000000000" charset="-122"/>
          <a:ea typeface="HarmonyOS Sans SC Light" panose="00000400000000000000" charset="-122"/>
          <a:cs typeface="+mn-cs"/>
        </a:defRPr>
      </a:lvl4pPr>
      <a:lvl5pPr marL="2057426" indent="-228603" algn="l" defTabSz="914411" rtl="0" eaLnBrk="1" latinLnBrk="0" hangingPunct="1">
        <a:lnSpc>
          <a:spcPct val="90000"/>
        </a:lnSpc>
        <a:spcBef>
          <a:spcPts val="500"/>
        </a:spcBef>
        <a:buFont typeface="Arial" panose="020B0604020202090204" pitchFamily="34" charset="0"/>
        <a:buChar char="•"/>
        <a:defRPr sz="1800" kern="1200">
          <a:solidFill>
            <a:schemeClr val="tx1"/>
          </a:solidFill>
          <a:latin typeface="HarmonyOS Sans SC Light" panose="00000400000000000000" charset="-122"/>
          <a:ea typeface="HarmonyOS Sans SC Light" panose="00000400000000000000" charset="-122"/>
          <a:cs typeface="+mn-cs"/>
        </a:defRPr>
      </a:lvl5pPr>
      <a:lvl6pPr marL="2514632" indent="-228603" algn="l" defTabSz="914411"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38" indent="-228603" algn="l" defTabSz="914411"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49" indent="-228603" algn="l" defTabSz="914411"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5"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5513009"/>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178C5A24-0D67-4D91-A8AB-79267D9CC7A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6" name="Picture 2" descr="电脑萤幕画面&#10;&#10;低可信度描述已自动生成">
            <a:extLst>
              <a:ext uri="{FF2B5EF4-FFF2-40B4-BE49-F238E27FC236}">
                <a16:creationId xmlns="" xmlns:a16="http://schemas.microsoft.com/office/drawing/2014/main" id="{DD8C0D36-9A15-259E-1239-933E742733A6}"/>
              </a:ext>
            </a:extLst>
          </p:cNvPr>
          <p:cNvPicPr>
            <a:picLocks noChangeAspect="1"/>
          </p:cNvPicPr>
          <p:nvPr/>
        </p:nvPicPr>
        <p:blipFill>
          <a:blip r:embed="rId2"/>
          <a:srcRect t="8692" b="946"/>
          <a:stretch>
            <a:fillRect/>
          </a:stretch>
        </p:blipFill>
        <p:spPr>
          <a:xfrm>
            <a:off x="-1" y="10"/>
            <a:ext cx="12192000" cy="6857990"/>
          </a:xfrm>
          <a:prstGeom prst="rect">
            <a:avLst/>
          </a:prstGeom>
        </p:spPr>
      </p:pic>
      <p:sp>
        <p:nvSpPr>
          <p:cNvPr id="10" name="Rectangle 9">
            <a:extLst>
              <a:ext uri="{FF2B5EF4-FFF2-40B4-BE49-F238E27FC236}">
                <a16:creationId xmlns="" xmlns:a16="http://schemas.microsoft.com/office/drawing/2014/main" id="{67F1335F-97CE-4842-9A57-2B6A3F459D8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235040" y="235039"/>
            <a:ext cx="6858000" cy="6387921"/>
          </a:xfrm>
          <a:prstGeom prst="rect">
            <a:avLst/>
          </a:prstGeom>
          <a:gradFill>
            <a:gsLst>
              <a:gs pos="0">
                <a:srgbClr val="000000">
                  <a:alpha val="0"/>
                </a:srgbClr>
              </a:gs>
              <a:gs pos="100000">
                <a:srgbClr val="000000">
                  <a:alpha val="5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 xmlns:a16="http://schemas.microsoft.com/office/drawing/2014/main" id="{45406D1C-76BA-58B0-58DA-874579B2E21A}"/>
              </a:ext>
            </a:extLst>
          </p:cNvPr>
          <p:cNvSpPr>
            <a:spLocks noGrp="1"/>
          </p:cNvSpPr>
          <p:nvPr>
            <p:ph type="ctrTitle"/>
          </p:nvPr>
        </p:nvSpPr>
        <p:spPr>
          <a:xfrm>
            <a:off x="647699" y="1327354"/>
            <a:ext cx="8833926" cy="3435145"/>
          </a:xfrm>
        </p:spPr>
        <p:txBody>
          <a:bodyPr>
            <a:normAutofit/>
          </a:bodyPr>
          <a:lstStyle/>
          <a:p>
            <a:r>
              <a:rPr lang="zh-CN" altLang="en-US" sz="4400" b="1" dirty="0"/>
              <a:t>账户思维落地</a:t>
            </a:r>
            <a:r>
              <a:rPr lang="en-US" altLang="zh-CN" sz="4400" b="1" dirty="0"/>
              <a:t>-</a:t>
            </a:r>
            <a:r>
              <a:rPr lang="zh-CN" altLang="en-US" sz="4400" b="1" dirty="0"/>
              <a:t>样板间组合交流</a:t>
            </a:r>
            <a:r>
              <a:rPr lang="en-US" altLang="zh-CN" sz="4400" b="1" dirty="0"/>
              <a:t/>
            </a:r>
            <a:br>
              <a:rPr lang="en-US" altLang="zh-CN" sz="4400" b="1" dirty="0"/>
            </a:br>
            <a:r>
              <a:rPr lang="en-US" altLang="zh-CN" sz="4400" b="1" dirty="0"/>
              <a:t>2026.6</a:t>
            </a:r>
            <a:endParaRPr lang="zh-CN" altLang="en-US" sz="4400" b="1" dirty="0"/>
          </a:p>
        </p:txBody>
      </p:sp>
    </p:spTree>
    <p:extLst>
      <p:ext uri="{BB962C8B-B14F-4D97-AF65-F5344CB8AC3E}">
        <p14:creationId xmlns:p14="http://schemas.microsoft.com/office/powerpoint/2010/main" val="783551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3EA4EC78-B020-FA04-6E41-8AE42176C478}"/>
              </a:ext>
            </a:extLst>
          </p:cNvPr>
          <p:cNvSpPr>
            <a:spLocks noGrp="1"/>
          </p:cNvSpPr>
          <p:nvPr>
            <p:ph type="title"/>
          </p:nvPr>
        </p:nvSpPr>
        <p:spPr>
          <a:xfrm>
            <a:off x="652371" y="120161"/>
            <a:ext cx="10625229" cy="1147053"/>
          </a:xfrm>
        </p:spPr>
        <p:txBody>
          <a:bodyPr/>
          <a:lstStyle/>
          <a:p>
            <a:r>
              <a:rPr lang="zh-CN" altLang="en-US" dirty="0"/>
              <a:t>账户思维落地：现状与挑战</a:t>
            </a:r>
          </a:p>
        </p:txBody>
      </p:sp>
      <p:sp>
        <p:nvSpPr>
          <p:cNvPr id="7" name="内容占位符 2">
            <a:extLst>
              <a:ext uri="{FF2B5EF4-FFF2-40B4-BE49-F238E27FC236}">
                <a16:creationId xmlns="" xmlns:a16="http://schemas.microsoft.com/office/drawing/2014/main" id="{0D600A27-E157-1706-B1CF-C536E66AE748}"/>
              </a:ext>
            </a:extLst>
          </p:cNvPr>
          <p:cNvSpPr>
            <a:spLocks noGrp="1"/>
          </p:cNvSpPr>
          <p:nvPr>
            <p:ph idx="1"/>
          </p:nvPr>
        </p:nvSpPr>
        <p:spPr>
          <a:xfrm>
            <a:off x="258476" y="1591408"/>
            <a:ext cx="5102194" cy="5024804"/>
          </a:xfrm>
        </p:spPr>
        <p:txBody>
          <a:bodyPr>
            <a:normAutofit/>
          </a:bodyPr>
          <a:lstStyle/>
          <a:p>
            <a:pPr marL="457200" lvl="1" indent="0">
              <a:buNone/>
            </a:pPr>
            <a:r>
              <a:rPr lang="zh-CN" altLang="en-US" dirty="0"/>
              <a:t>现状：</a:t>
            </a:r>
            <a:endParaRPr lang="en-US" altLang="zh-CN" dirty="0"/>
          </a:p>
          <a:p>
            <a:pPr lvl="1"/>
            <a:r>
              <a:rPr lang="zh-CN" altLang="en-US" dirty="0"/>
              <a:t>账户思维深入人心，理财师基本能准确向客户表达产品思维和账户思维的区别，账户思维的优势</a:t>
            </a:r>
            <a:endParaRPr lang="en-US" altLang="zh-CN" dirty="0"/>
          </a:p>
          <a:p>
            <a:pPr lvl="1"/>
            <a:r>
              <a:rPr lang="zh-CN" altLang="en-US" dirty="0"/>
              <a:t>中台供给单元主动契合账户思维的框架，不再以爆款，历史业绩，而是以账户查缺补漏的思维持续优化完善产品货架</a:t>
            </a:r>
            <a:endParaRPr lang="en-US" altLang="zh-CN" dirty="0"/>
          </a:p>
          <a:p>
            <a:pPr lvl="1"/>
            <a:r>
              <a:rPr lang="zh-CN" altLang="en-US" dirty="0"/>
              <a:t>财富</a:t>
            </a:r>
            <a:r>
              <a:rPr lang="en-US" altLang="zh-CN" dirty="0"/>
              <a:t>APP</a:t>
            </a:r>
            <a:r>
              <a:rPr lang="zh-CN" altLang="en-US" dirty="0"/>
              <a:t>新该版上线在即，以账户结构而非产品货架入手做展示的客户界面，带动账户报告与诊断系统日臻完善，以账户健康度为抓手，得到理财师和客户的认可</a:t>
            </a:r>
          </a:p>
        </p:txBody>
      </p:sp>
      <p:sp>
        <p:nvSpPr>
          <p:cNvPr id="3" name="内容占位符 2">
            <a:extLst>
              <a:ext uri="{FF2B5EF4-FFF2-40B4-BE49-F238E27FC236}">
                <a16:creationId xmlns="" xmlns:a16="http://schemas.microsoft.com/office/drawing/2014/main" id="{D2BEB2B9-8E5B-0D0B-4180-DC541DC66E56}"/>
              </a:ext>
            </a:extLst>
          </p:cNvPr>
          <p:cNvSpPr txBox="1">
            <a:spLocks/>
          </p:cNvSpPr>
          <p:nvPr/>
        </p:nvSpPr>
        <p:spPr>
          <a:xfrm>
            <a:off x="5596579" y="1591408"/>
            <a:ext cx="5102194" cy="502480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zh-CN" altLang="en-US" dirty="0"/>
              <a:t>挑战：</a:t>
            </a:r>
            <a:endParaRPr lang="en-US" altLang="zh-CN" dirty="0"/>
          </a:p>
          <a:p>
            <a:pPr lvl="1"/>
            <a:r>
              <a:rPr lang="zh-CN" altLang="en-US" dirty="0"/>
              <a:t>账户思维</a:t>
            </a:r>
            <a:r>
              <a:rPr lang="en-US" altLang="zh-CN" dirty="0"/>
              <a:t>3</a:t>
            </a:r>
            <a:r>
              <a:rPr lang="zh-CN" altLang="en-US" dirty="0"/>
              <a:t>步走：规划</a:t>
            </a:r>
            <a:r>
              <a:rPr lang="en-US" altLang="zh-CN" dirty="0"/>
              <a:t>-</a:t>
            </a:r>
            <a:r>
              <a:rPr lang="zh-CN" altLang="en-US" dirty="0"/>
              <a:t>配置</a:t>
            </a:r>
            <a:r>
              <a:rPr lang="en-US" altLang="zh-CN" dirty="0"/>
              <a:t>-</a:t>
            </a:r>
            <a:r>
              <a:rPr lang="zh-CN" altLang="en-US" dirty="0"/>
              <a:t>选品，叠加动平衡，在规划、配置及动平衡的落地中，概念偏抽象，缺乏具体抓手。理财师讲完账户思维，发现理念实现不了业务闭环。还需要更加清晰的落地示范</a:t>
            </a:r>
            <a:endParaRPr lang="en-US" altLang="zh-CN" dirty="0"/>
          </a:p>
          <a:p>
            <a:pPr lvl="1"/>
            <a:r>
              <a:rPr lang="zh-CN" altLang="en-US" dirty="0"/>
              <a:t>动平衡是必要操作，但削峰填谷的动作逆人性，实操中很难带动客户落地实现。近期和客户沟通动平衡，结果客户要么全部赎回，要么追涨杀跌</a:t>
            </a:r>
            <a:endParaRPr lang="en-US" altLang="zh-CN" dirty="0"/>
          </a:p>
          <a:p>
            <a:pPr lvl="1"/>
            <a:r>
              <a:rPr lang="zh-CN" altLang="en-US" dirty="0"/>
              <a:t>从产品到账户的转变知易行难，需要长期示范，持之以恒，才能以结果服人</a:t>
            </a:r>
            <a:endParaRPr lang="en-US" altLang="zh-CN" dirty="0"/>
          </a:p>
        </p:txBody>
      </p:sp>
    </p:spTree>
    <p:extLst>
      <p:ext uri="{BB962C8B-B14F-4D97-AF65-F5344CB8AC3E}">
        <p14:creationId xmlns:p14="http://schemas.microsoft.com/office/powerpoint/2010/main" val="984079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3EA4EC78-B020-FA04-6E41-8AE42176C478}"/>
              </a:ext>
            </a:extLst>
          </p:cNvPr>
          <p:cNvSpPr>
            <a:spLocks noGrp="1"/>
          </p:cNvSpPr>
          <p:nvPr>
            <p:ph type="title"/>
          </p:nvPr>
        </p:nvSpPr>
        <p:spPr>
          <a:xfrm>
            <a:off x="652371" y="120161"/>
            <a:ext cx="10625229" cy="1147053"/>
          </a:xfrm>
        </p:spPr>
        <p:txBody>
          <a:bodyPr/>
          <a:lstStyle/>
          <a:p>
            <a:r>
              <a:rPr lang="zh-CN" altLang="en-US" dirty="0"/>
              <a:t>尝试：转型期以产品化的账户作为示范</a:t>
            </a:r>
          </a:p>
        </p:txBody>
      </p:sp>
      <p:sp>
        <p:nvSpPr>
          <p:cNvPr id="7" name="内容占位符 2">
            <a:extLst>
              <a:ext uri="{FF2B5EF4-FFF2-40B4-BE49-F238E27FC236}">
                <a16:creationId xmlns="" xmlns:a16="http://schemas.microsoft.com/office/drawing/2014/main" id="{0D600A27-E157-1706-B1CF-C536E66AE748}"/>
              </a:ext>
            </a:extLst>
          </p:cNvPr>
          <p:cNvSpPr>
            <a:spLocks noGrp="1"/>
          </p:cNvSpPr>
          <p:nvPr>
            <p:ph idx="1"/>
          </p:nvPr>
        </p:nvSpPr>
        <p:spPr>
          <a:xfrm>
            <a:off x="652371" y="1591408"/>
            <a:ext cx="11331543" cy="5024804"/>
          </a:xfrm>
        </p:spPr>
        <p:txBody>
          <a:bodyPr>
            <a:normAutofit/>
          </a:bodyPr>
          <a:lstStyle/>
          <a:p>
            <a:pPr lvl="1"/>
            <a:r>
              <a:rPr lang="zh-CN" altLang="en-US" dirty="0"/>
              <a:t>同业的时间：中金</a:t>
            </a:r>
            <a:r>
              <a:rPr lang="en-US" altLang="zh-CN" dirty="0"/>
              <a:t>50</a:t>
            </a:r>
            <a:r>
              <a:rPr lang="zh-CN" altLang="en-US" dirty="0"/>
              <a:t>、招行长盈、民生磐石，都是产品化的账户，但也各自带有一定的缺陷</a:t>
            </a:r>
            <a:endParaRPr lang="en-US" altLang="zh-CN" dirty="0"/>
          </a:p>
          <a:p>
            <a:pPr lvl="1"/>
            <a:endParaRPr lang="en-US" altLang="zh-CN" dirty="0"/>
          </a:p>
          <a:p>
            <a:pPr lvl="1"/>
            <a:r>
              <a:rPr lang="zh-CN" altLang="en-US" dirty="0"/>
              <a:t>针对中国高储蓄的特征，存款搬家更可行的路径或是：银行储蓄</a:t>
            </a:r>
            <a:r>
              <a:rPr lang="en-US" altLang="zh-CN" dirty="0"/>
              <a:t> </a:t>
            </a:r>
            <a:r>
              <a:rPr lang="en-US" altLang="zh-CN" dirty="0">
                <a:sym typeface="Wingdings" panose="05000000000000000000" pitchFamily="2" charset="2"/>
              </a:rPr>
              <a:t> </a:t>
            </a:r>
            <a:r>
              <a:rPr lang="zh-CN" altLang="en-US" dirty="0"/>
              <a:t>产品化低波稳健账户 </a:t>
            </a:r>
            <a:r>
              <a:rPr lang="en-US" altLang="zh-CN" dirty="0">
                <a:sym typeface="Wingdings" panose="05000000000000000000" pitchFamily="2" charset="2"/>
              </a:rPr>
              <a:t> </a:t>
            </a:r>
            <a:r>
              <a:rPr lang="zh-CN" altLang="en-US" dirty="0"/>
              <a:t>定制化账户 </a:t>
            </a:r>
            <a:r>
              <a:rPr lang="en-US" altLang="zh-CN" dirty="0">
                <a:sym typeface="Wingdings" panose="05000000000000000000" pitchFamily="2" charset="2"/>
              </a:rPr>
              <a:t> </a:t>
            </a:r>
            <a:r>
              <a:rPr lang="zh-CN" altLang="en-US" dirty="0">
                <a:sym typeface="Wingdings" panose="05000000000000000000" pitchFamily="2" charset="2"/>
              </a:rPr>
              <a:t>由理财师配出来的</a:t>
            </a:r>
            <a:r>
              <a:rPr lang="zh-CN" altLang="en-US" dirty="0"/>
              <a:t>千人千面的账户</a:t>
            </a:r>
            <a:endParaRPr lang="en-US" altLang="zh-CN" dirty="0"/>
          </a:p>
          <a:p>
            <a:pPr lvl="1"/>
            <a:endParaRPr lang="en-US" altLang="zh-CN" dirty="0"/>
          </a:p>
          <a:p>
            <a:pPr lvl="1"/>
            <a:r>
              <a:rPr lang="zh-CN" altLang="en-US" dirty="0"/>
              <a:t>我们的尝试：以公募投顾为载体，打造</a:t>
            </a:r>
            <a:r>
              <a:rPr lang="en-US" altLang="zh-CN" dirty="0"/>
              <a:t>【</a:t>
            </a:r>
            <a:r>
              <a:rPr lang="zh-CN" altLang="en-US" dirty="0"/>
              <a:t>账户思维样板间</a:t>
            </a:r>
            <a:r>
              <a:rPr lang="en-US" altLang="zh-CN" dirty="0"/>
              <a:t>】</a:t>
            </a:r>
            <a:r>
              <a:rPr lang="zh-CN" altLang="en-US" dirty="0"/>
              <a:t>，作为理财师销售业务转型的示范，从规划</a:t>
            </a:r>
            <a:r>
              <a:rPr lang="en-US" altLang="zh-CN" dirty="0"/>
              <a:t>--</a:t>
            </a:r>
            <a:r>
              <a:rPr lang="zh-CN" altLang="en-US" dirty="0"/>
              <a:t>配置</a:t>
            </a:r>
            <a:r>
              <a:rPr lang="en-US" altLang="zh-CN" dirty="0"/>
              <a:t>--</a:t>
            </a:r>
            <a:r>
              <a:rPr lang="zh-CN" altLang="en-US" dirty="0"/>
              <a:t>选品</a:t>
            </a:r>
            <a:r>
              <a:rPr lang="en-US" altLang="zh-CN" dirty="0"/>
              <a:t>--</a:t>
            </a:r>
            <a:r>
              <a:rPr lang="zh-CN" altLang="en-US" dirty="0"/>
              <a:t>动平衡，全过程公开透明，打造开放式厨房，双向反馈，持续优化</a:t>
            </a:r>
            <a:endParaRPr lang="en-US" altLang="zh-CN" dirty="0"/>
          </a:p>
          <a:p>
            <a:pPr lvl="1"/>
            <a:endParaRPr lang="en-US" altLang="zh-CN" dirty="0"/>
          </a:p>
          <a:p>
            <a:pPr lvl="1"/>
            <a:r>
              <a:rPr lang="zh-CN" altLang="en-US" dirty="0"/>
              <a:t>目标：风险收益特征鲜明，长期战胜</a:t>
            </a:r>
            <a:r>
              <a:rPr lang="en-US" altLang="zh-CN" dirty="0"/>
              <a:t>90%</a:t>
            </a:r>
            <a:r>
              <a:rPr lang="zh-CN" altLang="en-US" dirty="0"/>
              <a:t>以上同类型</a:t>
            </a:r>
            <a:r>
              <a:rPr lang="en-US" altLang="zh-CN" dirty="0"/>
              <a:t>FOF</a:t>
            </a:r>
            <a:r>
              <a:rPr lang="zh-CN" altLang="en-US" dirty="0"/>
              <a:t>，固收</a:t>
            </a:r>
            <a:r>
              <a:rPr lang="en-US" altLang="zh-CN" dirty="0"/>
              <a:t>+</a:t>
            </a:r>
          </a:p>
          <a:p>
            <a:pPr lvl="1"/>
            <a:endParaRPr lang="en-US" altLang="zh-CN" dirty="0"/>
          </a:p>
          <a:p>
            <a:pPr lvl="1"/>
            <a:r>
              <a:rPr lang="zh-CN" altLang="en-US" dirty="0"/>
              <a:t>当前配置标的是公募基金，最大程度以我们的公募投顾牌照向管理人提供公募基金配置和调仓建议，以满足合规性要求</a:t>
            </a:r>
          </a:p>
        </p:txBody>
      </p:sp>
    </p:spTree>
    <p:extLst>
      <p:ext uri="{BB962C8B-B14F-4D97-AF65-F5344CB8AC3E}">
        <p14:creationId xmlns:p14="http://schemas.microsoft.com/office/powerpoint/2010/main" val="3980197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6362B06-AAF6-AC3D-2AFF-1156583998DB}"/>
            </a:ext>
          </a:extLst>
        </p:cNvPr>
        <p:cNvGrpSpPr/>
        <p:nvPr/>
      </p:nvGrpSpPr>
      <p:grpSpPr>
        <a:xfrm>
          <a:off x="0" y="0"/>
          <a:ext cx="0" cy="0"/>
          <a:chOff x="0" y="0"/>
          <a:chExt cx="0" cy="0"/>
        </a:xfrm>
      </p:grpSpPr>
      <p:sp>
        <p:nvSpPr>
          <p:cNvPr id="2" name="Rectangle 30">
            <a:extLst>
              <a:ext uri="{FF2B5EF4-FFF2-40B4-BE49-F238E27FC236}">
                <a16:creationId xmlns="" xmlns:a16="http://schemas.microsoft.com/office/drawing/2014/main" id="{99219574-FF71-A19B-2947-4556BA291C68}"/>
              </a:ext>
            </a:extLst>
          </p:cNvPr>
          <p:cNvSpPr/>
          <p:nvPr/>
        </p:nvSpPr>
        <p:spPr bwMode="gray">
          <a:xfrm>
            <a:off x="1135955" y="1995993"/>
            <a:ext cx="2586317" cy="412958"/>
          </a:xfrm>
          <a:prstGeom prst="rect">
            <a:avLst/>
          </a:prstGeom>
          <a:solidFill>
            <a:srgbClr val="8B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normAutofit/>
            <a:scene3d>
              <a:camera prst="orthographicFront"/>
              <a:lightRig rig="threePt" dir="t"/>
            </a:scene3d>
            <a:sp3d contourW="12700"/>
          </a:bodyPr>
          <a:lstStyle/>
          <a:p>
            <a:pPr algn="ctr" defTabSz="457200">
              <a:defRPr/>
            </a:pPr>
            <a:r>
              <a:rPr lang="zh-CN" altLang="en-US" sz="2000" b="1" kern="0" dirty="0">
                <a:solidFill>
                  <a:prstClr val="white"/>
                </a:solidFill>
                <a:latin typeface="思源宋体" panose="02010600030101010101" charset="-122"/>
                <a:ea typeface="思源宋体" panose="02010600030101010101" charset="-122"/>
              </a:rPr>
              <a:t>样板间</a:t>
            </a:r>
            <a:r>
              <a:rPr lang="en-US" altLang="zh-CN" sz="2000" b="1" kern="0" dirty="0">
                <a:solidFill>
                  <a:prstClr val="white"/>
                </a:solidFill>
                <a:latin typeface="思源宋体" panose="02010600030101010101" charset="-122"/>
                <a:ea typeface="思源宋体" panose="02010600030101010101" charset="-122"/>
              </a:rPr>
              <a:t>1-</a:t>
            </a:r>
            <a:r>
              <a:rPr lang="zh-CN" altLang="en-US" sz="2000" b="1" kern="0" dirty="0">
                <a:solidFill>
                  <a:prstClr val="white"/>
                </a:solidFill>
                <a:latin typeface="思源宋体" panose="02010600030101010101" charset="-122"/>
                <a:ea typeface="思源宋体" panose="02010600030101010101" charset="-122"/>
              </a:rPr>
              <a:t>稳健型</a:t>
            </a:r>
          </a:p>
        </p:txBody>
      </p:sp>
      <p:sp>
        <p:nvSpPr>
          <p:cNvPr id="6" name="Rectangle 30">
            <a:extLst>
              <a:ext uri="{FF2B5EF4-FFF2-40B4-BE49-F238E27FC236}">
                <a16:creationId xmlns="" xmlns:a16="http://schemas.microsoft.com/office/drawing/2014/main" id="{2B4821E9-5BC4-B834-9E1A-00CC5D4DC02A}"/>
              </a:ext>
            </a:extLst>
          </p:cNvPr>
          <p:cNvSpPr/>
          <p:nvPr/>
        </p:nvSpPr>
        <p:spPr bwMode="gray">
          <a:xfrm>
            <a:off x="4581016" y="1995993"/>
            <a:ext cx="2586317" cy="412958"/>
          </a:xfrm>
          <a:prstGeom prst="rect">
            <a:avLst/>
          </a:prstGeom>
          <a:solidFill>
            <a:srgbClr val="8B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normAutofit/>
            <a:scene3d>
              <a:camera prst="orthographicFront"/>
              <a:lightRig rig="threePt" dir="t"/>
            </a:scene3d>
            <a:sp3d contourW="12700"/>
          </a:bodyPr>
          <a:lstStyle/>
          <a:p>
            <a:pPr algn="ctr" defTabSz="457200">
              <a:defRPr/>
            </a:pPr>
            <a:r>
              <a:rPr lang="zh-CN" altLang="en-US" sz="2000" b="1" kern="0" dirty="0">
                <a:solidFill>
                  <a:prstClr val="white"/>
                </a:solidFill>
                <a:latin typeface="思源宋体" panose="02010600030101010101" charset="-122"/>
                <a:ea typeface="思源宋体" panose="02010600030101010101" charset="-122"/>
              </a:rPr>
              <a:t>样板间</a:t>
            </a:r>
            <a:r>
              <a:rPr lang="en-US" altLang="zh-CN" sz="2000" b="1" kern="0" dirty="0">
                <a:solidFill>
                  <a:prstClr val="white"/>
                </a:solidFill>
                <a:latin typeface="思源宋体" panose="02010600030101010101" charset="-122"/>
                <a:ea typeface="思源宋体" panose="02010600030101010101" charset="-122"/>
              </a:rPr>
              <a:t>2-</a:t>
            </a:r>
            <a:r>
              <a:rPr lang="zh-CN" altLang="en-US" sz="2000" b="1" kern="0" dirty="0">
                <a:solidFill>
                  <a:prstClr val="white"/>
                </a:solidFill>
                <a:latin typeface="思源宋体" panose="02010600030101010101" charset="-122"/>
                <a:ea typeface="思源宋体" panose="02010600030101010101" charset="-122"/>
              </a:rPr>
              <a:t>稳进型</a:t>
            </a:r>
          </a:p>
        </p:txBody>
      </p:sp>
      <p:sp>
        <p:nvSpPr>
          <p:cNvPr id="7" name="Rectangle 30">
            <a:extLst>
              <a:ext uri="{FF2B5EF4-FFF2-40B4-BE49-F238E27FC236}">
                <a16:creationId xmlns="" xmlns:a16="http://schemas.microsoft.com/office/drawing/2014/main" id="{176DA077-9733-61BF-4EAC-110CAFA5D7BE}"/>
              </a:ext>
            </a:extLst>
          </p:cNvPr>
          <p:cNvSpPr/>
          <p:nvPr/>
        </p:nvSpPr>
        <p:spPr bwMode="gray">
          <a:xfrm>
            <a:off x="8190062" y="1995993"/>
            <a:ext cx="2816746" cy="412958"/>
          </a:xfrm>
          <a:prstGeom prst="rect">
            <a:avLst/>
          </a:prstGeom>
          <a:solidFill>
            <a:srgbClr val="8B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normAutofit/>
            <a:scene3d>
              <a:camera prst="orthographicFront"/>
              <a:lightRig rig="threePt" dir="t"/>
            </a:scene3d>
            <a:sp3d contourW="12700"/>
          </a:bodyPr>
          <a:lstStyle/>
          <a:p>
            <a:pPr algn="ctr" defTabSz="457200">
              <a:defRPr/>
            </a:pPr>
            <a:r>
              <a:rPr lang="zh-CN" altLang="en-US" sz="2000" b="1" kern="0" dirty="0">
                <a:solidFill>
                  <a:prstClr val="white"/>
                </a:solidFill>
                <a:latin typeface="思源宋体" panose="02010600030101010101" charset="-122"/>
                <a:ea typeface="思源宋体" panose="02010600030101010101" charset="-122"/>
              </a:rPr>
              <a:t>样板间</a:t>
            </a:r>
            <a:r>
              <a:rPr lang="en-US" altLang="zh-CN" sz="2000" b="1" kern="0" dirty="0">
                <a:solidFill>
                  <a:prstClr val="white"/>
                </a:solidFill>
                <a:latin typeface="思源宋体" panose="02010600030101010101" charset="-122"/>
                <a:ea typeface="思源宋体" panose="02010600030101010101" charset="-122"/>
              </a:rPr>
              <a:t>3-</a:t>
            </a:r>
            <a:r>
              <a:rPr lang="zh-CN" altLang="en-US" sz="2000" b="1" kern="0" dirty="0">
                <a:solidFill>
                  <a:prstClr val="white"/>
                </a:solidFill>
                <a:latin typeface="思源宋体" panose="02010600030101010101" charset="-122"/>
                <a:ea typeface="思源宋体" panose="02010600030101010101" charset="-122"/>
              </a:rPr>
              <a:t>进取型</a:t>
            </a:r>
          </a:p>
        </p:txBody>
      </p:sp>
      <p:pic>
        <p:nvPicPr>
          <p:cNvPr id="15" name="图片 14">
            <a:extLst>
              <a:ext uri="{FF2B5EF4-FFF2-40B4-BE49-F238E27FC236}">
                <a16:creationId xmlns="" xmlns:a16="http://schemas.microsoft.com/office/drawing/2014/main" id="{9080EF3B-7127-0593-4EA7-6009FCAD5729}"/>
              </a:ext>
            </a:extLst>
          </p:cNvPr>
          <p:cNvPicPr>
            <a:picLocks noChangeAspect="1"/>
          </p:cNvPicPr>
          <p:nvPr/>
        </p:nvPicPr>
        <p:blipFill>
          <a:blip r:embed="rId2"/>
          <a:stretch>
            <a:fillRect/>
          </a:stretch>
        </p:blipFill>
        <p:spPr>
          <a:xfrm>
            <a:off x="451842" y="2869809"/>
            <a:ext cx="11120721" cy="3137096"/>
          </a:xfrm>
          <a:prstGeom prst="rect">
            <a:avLst/>
          </a:prstGeom>
        </p:spPr>
      </p:pic>
      <p:sp>
        <p:nvSpPr>
          <p:cNvPr id="3" name="标题 1">
            <a:extLst>
              <a:ext uri="{FF2B5EF4-FFF2-40B4-BE49-F238E27FC236}">
                <a16:creationId xmlns="" xmlns:a16="http://schemas.microsoft.com/office/drawing/2014/main" id="{6AEF30FC-456F-B647-6E87-6FE3819D9F62}"/>
              </a:ext>
            </a:extLst>
          </p:cNvPr>
          <p:cNvSpPr txBox="1">
            <a:spLocks/>
          </p:cNvSpPr>
          <p:nvPr/>
        </p:nvSpPr>
        <p:spPr>
          <a:xfrm>
            <a:off x="582073" y="320244"/>
            <a:ext cx="10625229" cy="1147053"/>
          </a:xfrm>
          <a:prstGeom prst="rect">
            <a:avLst/>
          </a:prstGeom>
        </p:spPr>
        <p:txBody>
          <a:bodyPr/>
          <a:lst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a:lstStyle>
          <a:p>
            <a:r>
              <a:rPr lang="en-US" altLang="zh-CN" dirty="0"/>
              <a:t>3</a:t>
            </a:r>
            <a:r>
              <a:rPr lang="zh-CN" altLang="en-US" dirty="0"/>
              <a:t>个样板间</a:t>
            </a:r>
          </a:p>
        </p:txBody>
      </p:sp>
    </p:spTree>
    <p:extLst>
      <p:ext uri="{BB962C8B-B14F-4D97-AF65-F5344CB8AC3E}">
        <p14:creationId xmlns:p14="http://schemas.microsoft.com/office/powerpoint/2010/main" val="651123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14FED7-5457-511C-525E-03B5AFA843F4}"/>
            </a:ext>
          </a:extLst>
        </p:cNvPr>
        <p:cNvGrpSpPr/>
        <p:nvPr/>
      </p:nvGrpSpPr>
      <p:grpSpPr>
        <a:xfrm>
          <a:off x="0" y="0"/>
          <a:ext cx="0" cy="0"/>
          <a:chOff x="0" y="0"/>
          <a:chExt cx="0" cy="0"/>
        </a:xfrm>
      </p:grpSpPr>
      <p:sp>
        <p:nvSpPr>
          <p:cNvPr id="2" name="标题 1">
            <a:extLst>
              <a:ext uri="{FF2B5EF4-FFF2-40B4-BE49-F238E27FC236}">
                <a16:creationId xmlns="" xmlns:a16="http://schemas.microsoft.com/office/drawing/2014/main" id="{8F286429-D6FC-CEAA-9132-3031DB20FA45}"/>
              </a:ext>
            </a:extLst>
          </p:cNvPr>
          <p:cNvSpPr>
            <a:spLocks noGrp="1"/>
          </p:cNvSpPr>
          <p:nvPr>
            <p:ph type="title"/>
          </p:nvPr>
        </p:nvSpPr>
        <p:spPr>
          <a:xfrm>
            <a:off x="652371" y="120161"/>
            <a:ext cx="10625229" cy="1147053"/>
          </a:xfrm>
        </p:spPr>
        <p:txBody>
          <a:bodyPr/>
          <a:lstStyle/>
          <a:p>
            <a:r>
              <a:rPr lang="zh-CN" altLang="en-US" dirty="0"/>
              <a:t>打造样板间的</a:t>
            </a:r>
            <a:r>
              <a:rPr lang="en-US" altLang="zh-CN" dirty="0"/>
              <a:t>3</a:t>
            </a:r>
            <a:r>
              <a:rPr lang="zh-CN" altLang="en-US" dirty="0"/>
              <a:t>个示范目标</a:t>
            </a:r>
          </a:p>
        </p:txBody>
      </p:sp>
      <p:sp>
        <p:nvSpPr>
          <p:cNvPr id="7" name="内容占位符 2">
            <a:extLst>
              <a:ext uri="{FF2B5EF4-FFF2-40B4-BE49-F238E27FC236}">
                <a16:creationId xmlns="" xmlns:a16="http://schemas.microsoft.com/office/drawing/2014/main" id="{C8BA7251-2C8A-9D65-3724-E1FFD8ACAA07}"/>
              </a:ext>
            </a:extLst>
          </p:cNvPr>
          <p:cNvSpPr>
            <a:spLocks noGrp="1"/>
          </p:cNvSpPr>
          <p:nvPr>
            <p:ph idx="1"/>
          </p:nvPr>
        </p:nvSpPr>
        <p:spPr>
          <a:xfrm>
            <a:off x="286610" y="2006405"/>
            <a:ext cx="11452878" cy="3634740"/>
          </a:xfrm>
        </p:spPr>
        <p:txBody>
          <a:bodyPr>
            <a:normAutofit/>
          </a:bodyPr>
          <a:lstStyle/>
          <a:p>
            <a:pPr lvl="1"/>
            <a:r>
              <a:rPr lang="en-US" altLang="zh-CN" sz="2000" b="1" dirty="0"/>
              <a:t>【</a:t>
            </a:r>
            <a:r>
              <a:rPr lang="zh-CN" altLang="en-US" sz="2000" b="1" dirty="0"/>
              <a:t>示范</a:t>
            </a:r>
            <a:r>
              <a:rPr lang="en-US" altLang="zh-CN" sz="2000" b="1" dirty="0"/>
              <a:t>1】</a:t>
            </a:r>
            <a:r>
              <a:rPr lang="zh-CN" altLang="en-US" sz="2000" b="1" dirty="0"/>
              <a:t>账户怎么搭？</a:t>
            </a:r>
            <a:r>
              <a:rPr lang="en-US" altLang="zh-CN" sz="2000" b="1" dirty="0"/>
              <a:t>-- </a:t>
            </a:r>
            <a:r>
              <a:rPr lang="zh-CN" altLang="en-US" sz="2000" b="1" dirty="0"/>
              <a:t>让生息的部分更稳健，增值的部分更锐利！</a:t>
            </a:r>
            <a:endParaRPr lang="en-US" altLang="zh-CN" sz="2000" b="1" dirty="0"/>
          </a:p>
          <a:p>
            <a:pPr lvl="1"/>
            <a:endParaRPr lang="en-US" altLang="zh-CN" sz="2000" b="1" dirty="0"/>
          </a:p>
          <a:p>
            <a:pPr lvl="1"/>
            <a:r>
              <a:rPr lang="en-US" altLang="zh-CN" sz="2000" b="1" dirty="0"/>
              <a:t>【</a:t>
            </a:r>
            <a:r>
              <a:rPr lang="zh-CN" altLang="en-US" sz="2000" b="1" dirty="0"/>
              <a:t>示范</a:t>
            </a:r>
            <a:r>
              <a:rPr lang="en-US" altLang="zh-CN" sz="2000" b="1" dirty="0"/>
              <a:t>2】</a:t>
            </a:r>
            <a:r>
              <a:rPr lang="zh-CN" altLang="en-US" sz="2000" b="1" dirty="0"/>
              <a:t>选品怎么选？</a:t>
            </a:r>
            <a:r>
              <a:rPr lang="en-US" altLang="zh-CN" sz="2000" b="1" dirty="0"/>
              <a:t>-- </a:t>
            </a:r>
            <a:r>
              <a:rPr lang="zh-CN" altLang="en-US" sz="2000" b="1" dirty="0"/>
              <a:t>挑</a:t>
            </a:r>
            <a:r>
              <a:rPr lang="en-US" altLang="zh-CN" sz="2000" b="1" dirty="0"/>
              <a:t>’</a:t>
            </a:r>
            <a:r>
              <a:rPr lang="zh-CN" altLang="en-US" sz="2000" b="1" dirty="0"/>
              <a:t>全能型</a:t>
            </a:r>
            <a:r>
              <a:rPr lang="en-US" altLang="zh-CN" sz="2000" b="1" dirty="0"/>
              <a:t>’</a:t>
            </a:r>
            <a:r>
              <a:rPr lang="zh-CN" altLang="en-US" sz="2000" b="1" dirty="0"/>
              <a:t>产品，不如在各类资产的 </a:t>
            </a:r>
            <a:r>
              <a:rPr lang="en-US" altLang="zh-CN" sz="2000" b="1" dirty="0"/>
              <a:t>β </a:t>
            </a:r>
            <a:r>
              <a:rPr lang="zh-CN" altLang="en-US" sz="2000" b="1" dirty="0"/>
              <a:t>下找 “各司其职” 的工具，服务于整体账户目标</a:t>
            </a:r>
            <a:endParaRPr lang="en-US" altLang="zh-CN" sz="2000" b="1" dirty="0"/>
          </a:p>
          <a:p>
            <a:pPr lvl="1"/>
            <a:endParaRPr lang="en-US" altLang="zh-CN" sz="2000" b="1" dirty="0"/>
          </a:p>
          <a:p>
            <a:pPr lvl="1"/>
            <a:r>
              <a:rPr lang="en-US" altLang="zh-CN" sz="2000" b="1" dirty="0"/>
              <a:t>【</a:t>
            </a:r>
            <a:r>
              <a:rPr lang="zh-CN" altLang="en-US" sz="2000" b="1" dirty="0"/>
              <a:t>示范</a:t>
            </a:r>
            <a:r>
              <a:rPr lang="en-US" altLang="zh-CN" sz="2000" b="1" dirty="0"/>
              <a:t>3】</a:t>
            </a:r>
            <a:r>
              <a:rPr lang="zh-CN" altLang="en-US" sz="2000" b="1" dirty="0"/>
              <a:t>动平衡怎么做？</a:t>
            </a:r>
            <a:r>
              <a:rPr lang="en-US" altLang="zh-CN" sz="2000" b="1" dirty="0"/>
              <a:t>-- </a:t>
            </a:r>
            <a:r>
              <a:rPr lang="zh-CN" altLang="en-US" sz="2000" b="1" dirty="0"/>
              <a:t>好账户，只需简单而纯粹的产品</a:t>
            </a:r>
            <a:r>
              <a:rPr lang="en-US" altLang="zh-CN" sz="2000" b="1" dirty="0"/>
              <a:t>/</a:t>
            </a:r>
            <a:r>
              <a:rPr lang="zh-CN" altLang="en-US" sz="2000" b="1" dirty="0"/>
              <a:t>工具，辅以纪律性的动平衡</a:t>
            </a:r>
          </a:p>
        </p:txBody>
      </p:sp>
    </p:spTree>
    <p:extLst>
      <p:ext uri="{BB962C8B-B14F-4D97-AF65-F5344CB8AC3E}">
        <p14:creationId xmlns:p14="http://schemas.microsoft.com/office/powerpoint/2010/main" val="1619231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8018152-5D91-ABEA-7FE0-875AFD990F7D}"/>
            </a:ext>
          </a:extLst>
        </p:cNvPr>
        <p:cNvGrpSpPr/>
        <p:nvPr/>
      </p:nvGrpSpPr>
      <p:grpSpPr>
        <a:xfrm>
          <a:off x="0" y="0"/>
          <a:ext cx="0" cy="0"/>
          <a:chOff x="0" y="0"/>
          <a:chExt cx="0" cy="0"/>
        </a:xfrm>
      </p:grpSpPr>
      <p:sp>
        <p:nvSpPr>
          <p:cNvPr id="29" name="文本占位符 10">
            <a:extLst>
              <a:ext uri="{FF2B5EF4-FFF2-40B4-BE49-F238E27FC236}">
                <a16:creationId xmlns="" xmlns:a16="http://schemas.microsoft.com/office/drawing/2014/main" id="{AE9C2E1D-11DF-E56F-ECB9-F744CBEA93BE}"/>
              </a:ext>
            </a:extLst>
          </p:cNvPr>
          <p:cNvSpPr txBox="1"/>
          <p:nvPr/>
        </p:nvSpPr>
        <p:spPr>
          <a:xfrm>
            <a:off x="554476" y="391454"/>
            <a:ext cx="10759463" cy="508000"/>
          </a:xfrm>
          <a:prstGeom prst="rect">
            <a:avLst/>
          </a:prstGeom>
        </p:spPr>
        <p:txBody>
          <a:bodyPr lIns="0" tIns="0" rIns="0" bIns="0" anchor="ctr" anchorCtr="0"/>
          <a:lstStyle>
            <a:lvl1pPr marL="0" indent="0" algn="l" defTabSz="457200" rtl="0" eaLnBrk="1" latinLnBrk="0" hangingPunct="1">
              <a:lnSpc>
                <a:spcPct val="100000"/>
              </a:lnSpc>
              <a:spcBef>
                <a:spcPts val="2000"/>
              </a:spcBef>
              <a:buFont typeface="Arial" panose="020B0604020202020204" pitchFamily="34" charset="0"/>
              <a:buNone/>
              <a:defRPr lang="zh-CN" altLang="en-US" sz="6000" b="1" kern="1200" spc="1000" dirty="0">
                <a:solidFill>
                  <a:srgbClr val="3B3838"/>
                </a:solidFill>
                <a:latin typeface="+mj-ea"/>
                <a:ea typeface="+mj-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a:solidFill>
                  <a:schemeClr val="tx1"/>
                </a:solidFill>
                <a:latin typeface="+mn-lt"/>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defTabSz="914378">
              <a:lnSpc>
                <a:spcPts val="2143"/>
              </a:lnSpc>
              <a:spcBef>
                <a:spcPts val="1029"/>
              </a:spcBef>
              <a:spcAft>
                <a:spcPts val="1029"/>
              </a:spcAft>
              <a:defRPr/>
            </a:pPr>
            <a:r>
              <a:rPr lang="zh-CN" altLang="en-US" sz="2700" spc="0" dirty="0">
                <a:solidFill>
                  <a:srgbClr val="8B0000"/>
                </a:solidFill>
                <a:latin typeface="微软雅黑" panose="020B0503020204020204" pitchFamily="34" charset="-122"/>
                <a:ea typeface="微软雅黑" panose="020B0503020204020204" pitchFamily="34" charset="-122"/>
                <a:sym typeface="Helvetica Neue"/>
              </a:rPr>
              <a:t>样板间账户的底层结构 </a:t>
            </a:r>
            <a:r>
              <a:rPr lang="en-US" altLang="zh-CN" sz="2700" spc="0" dirty="0">
                <a:solidFill>
                  <a:srgbClr val="8B0000"/>
                </a:solidFill>
                <a:latin typeface="微软雅黑" panose="020B0503020204020204" pitchFamily="34" charset="-122"/>
                <a:ea typeface="微软雅黑" panose="020B0503020204020204" pitchFamily="34" charset="-122"/>
                <a:sym typeface="Helvetica Neue"/>
              </a:rPr>
              <a:t>– 10/90</a:t>
            </a:r>
            <a:r>
              <a:rPr lang="zh-CN" altLang="en-US" sz="2700" spc="0" dirty="0">
                <a:solidFill>
                  <a:srgbClr val="8B0000"/>
                </a:solidFill>
                <a:latin typeface="微软雅黑" panose="020B0503020204020204" pitchFamily="34" charset="-122"/>
                <a:ea typeface="微软雅黑" panose="020B0503020204020204" pitchFamily="34" charset="-122"/>
                <a:sym typeface="Helvetica Neue"/>
              </a:rPr>
              <a:t>账户为例</a:t>
            </a:r>
          </a:p>
        </p:txBody>
      </p:sp>
      <p:sp>
        <p:nvSpPr>
          <p:cNvPr id="3" name="îSḷíḑé">
            <a:extLst>
              <a:ext uri="{FF2B5EF4-FFF2-40B4-BE49-F238E27FC236}">
                <a16:creationId xmlns="" xmlns:a16="http://schemas.microsoft.com/office/drawing/2014/main" id="{BF7D9E46-EDED-B27F-85F1-C930C779E420}"/>
              </a:ext>
            </a:extLst>
          </p:cNvPr>
          <p:cNvSpPr/>
          <p:nvPr/>
        </p:nvSpPr>
        <p:spPr>
          <a:xfrm>
            <a:off x="554476" y="1053342"/>
            <a:ext cx="11273271" cy="766153"/>
          </a:xfrm>
          <a:prstGeom prst="rect">
            <a:avLst/>
          </a:prstGeom>
          <a:solidFill>
            <a:srgbClr val="898989">
              <a:alpha val="10000"/>
            </a:srgbClr>
          </a:solidFill>
          <a:ln w="19050" cap="flat" cmpd="sng" algn="ctr">
            <a:noFill/>
            <a:prstDash val="solid"/>
            <a:miter lim="800000"/>
          </a:ln>
          <a:effectLst/>
        </p:spPr>
        <p:txBody>
          <a:bodyPr rtlCol="0" anchor="ctr"/>
          <a:lstStyle/>
          <a:p>
            <a:pPr marL="228594" indent="-228594" defTabSz="457189">
              <a:spcBef>
                <a:spcPts val="300"/>
              </a:spcBef>
              <a:buFont typeface="Arial" panose="020B0604020202020204" pitchFamily="34" charset="0"/>
              <a:buChar char="•"/>
              <a:defRPr/>
            </a:pPr>
            <a:r>
              <a:rPr lang="zh-CN" altLang="en-US" sz="1600" dirty="0">
                <a:solidFill>
                  <a:srgbClr val="1F2937"/>
                </a:solidFill>
                <a:latin typeface="微软雅黑" panose="020B0503020204020204" pitchFamily="34" charset="-122"/>
                <a:ea typeface="微软雅黑" panose="020B0503020204020204" pitchFamily="34" charset="-122"/>
              </a:rPr>
              <a:t>账户规划层：根据账户思维，规划增值</a:t>
            </a:r>
            <a:r>
              <a:rPr lang="en-US" altLang="zh-CN" sz="1600" dirty="0">
                <a:solidFill>
                  <a:srgbClr val="1F2937"/>
                </a:solidFill>
                <a:latin typeface="微软雅黑" panose="020B0503020204020204" pitchFamily="34" charset="-122"/>
                <a:ea typeface="微软雅黑" panose="020B0503020204020204" pitchFamily="34" charset="-122"/>
              </a:rPr>
              <a:t>/</a:t>
            </a:r>
            <a:r>
              <a:rPr lang="zh-CN" altLang="en-US" sz="1600" dirty="0">
                <a:solidFill>
                  <a:srgbClr val="1F2937"/>
                </a:solidFill>
                <a:latin typeface="微软雅黑" panose="020B0503020204020204" pitchFamily="34" charset="-122"/>
                <a:ea typeface="微软雅黑" panose="020B0503020204020204" pitchFamily="34" charset="-122"/>
              </a:rPr>
              <a:t>生息</a:t>
            </a:r>
            <a:r>
              <a:rPr lang="en-US" altLang="zh-CN" sz="1600" dirty="0">
                <a:solidFill>
                  <a:srgbClr val="1F2937"/>
                </a:solidFill>
                <a:latin typeface="微软雅黑" panose="020B0503020204020204" pitchFamily="34" charset="-122"/>
                <a:ea typeface="微软雅黑" panose="020B0503020204020204" pitchFamily="34" charset="-122"/>
              </a:rPr>
              <a:t>/</a:t>
            </a:r>
            <a:r>
              <a:rPr lang="zh-CN" altLang="en-US" sz="1600" dirty="0">
                <a:solidFill>
                  <a:srgbClr val="1F2937"/>
                </a:solidFill>
                <a:latin typeface="微软雅黑" panose="020B0503020204020204" pitchFamily="34" charset="-122"/>
                <a:ea typeface="微软雅黑" panose="020B0503020204020204" pitchFamily="34" charset="-122"/>
              </a:rPr>
              <a:t>保障金字塔比例，搭建</a:t>
            </a:r>
            <a:r>
              <a:rPr lang="en-US" altLang="zh-CN" sz="1600" dirty="0">
                <a:solidFill>
                  <a:srgbClr val="1F2937"/>
                </a:solidFill>
                <a:latin typeface="微软雅黑" panose="020B0503020204020204" pitchFamily="34" charset="-122"/>
                <a:ea typeface="微软雅黑" panose="020B0503020204020204" pitchFamily="34" charset="-122"/>
              </a:rPr>
              <a:t>3</a:t>
            </a:r>
            <a:r>
              <a:rPr lang="zh-CN" altLang="en-US" sz="1600" dirty="0">
                <a:solidFill>
                  <a:srgbClr val="1F2937"/>
                </a:solidFill>
                <a:latin typeface="微软雅黑" panose="020B0503020204020204" pitchFamily="34" charset="-122"/>
                <a:ea typeface="微软雅黑" panose="020B0503020204020204" pitchFamily="34" charset="-122"/>
              </a:rPr>
              <a:t>个投顾账户组合，配比为</a:t>
            </a:r>
            <a:r>
              <a:rPr lang="en-US" altLang="zh-CN" sz="1600" b="1" dirty="0">
                <a:solidFill>
                  <a:srgbClr val="8B0000"/>
                </a:solidFill>
                <a:latin typeface="微软雅黑" panose="020B0503020204020204" pitchFamily="34" charset="-122"/>
                <a:ea typeface="微软雅黑" panose="020B0503020204020204" pitchFamily="34" charset="-122"/>
              </a:rPr>
              <a:t>10/90</a:t>
            </a:r>
            <a:r>
              <a:rPr lang="zh-CN" altLang="en-US" sz="1600" b="1" dirty="0">
                <a:solidFill>
                  <a:srgbClr val="8B0000"/>
                </a:solidFill>
                <a:latin typeface="微软雅黑" panose="020B0503020204020204" pitchFamily="34" charset="-122"/>
                <a:ea typeface="微软雅黑" panose="020B0503020204020204" pitchFamily="34" charset="-122"/>
              </a:rPr>
              <a:t>、</a:t>
            </a:r>
            <a:r>
              <a:rPr lang="en-US" altLang="zh-CN" sz="1600" b="1" dirty="0">
                <a:solidFill>
                  <a:srgbClr val="8B0000"/>
                </a:solidFill>
                <a:latin typeface="微软雅黑" panose="020B0503020204020204" pitchFamily="34" charset="-122"/>
                <a:ea typeface="微软雅黑" panose="020B0503020204020204" pitchFamily="34" charset="-122"/>
              </a:rPr>
              <a:t>30/70</a:t>
            </a:r>
            <a:r>
              <a:rPr lang="zh-CN" altLang="en-US" sz="1600" b="1" dirty="0">
                <a:solidFill>
                  <a:srgbClr val="8B0000"/>
                </a:solidFill>
                <a:latin typeface="微软雅黑" panose="020B0503020204020204" pitchFamily="34" charset="-122"/>
                <a:ea typeface="微软雅黑" panose="020B0503020204020204" pitchFamily="34" charset="-122"/>
              </a:rPr>
              <a:t>等</a:t>
            </a:r>
            <a:endParaRPr lang="en-US" altLang="zh-CN" sz="1600" b="1" dirty="0">
              <a:solidFill>
                <a:srgbClr val="8B0000"/>
              </a:solidFill>
              <a:latin typeface="微软雅黑" panose="020B0503020204020204" pitchFamily="34" charset="-122"/>
              <a:ea typeface="微软雅黑" panose="020B0503020204020204" pitchFamily="34" charset="-122"/>
            </a:endParaRPr>
          </a:p>
          <a:p>
            <a:pPr marL="228594" indent="-228594" defTabSz="457189">
              <a:spcBef>
                <a:spcPts val="300"/>
              </a:spcBef>
              <a:buFont typeface="Arial" panose="020B0604020202020204" pitchFamily="34" charset="0"/>
              <a:buChar char="•"/>
              <a:defRPr/>
            </a:pPr>
            <a:r>
              <a:rPr lang="zh-CN" altLang="en-US" sz="1600" dirty="0">
                <a:solidFill>
                  <a:srgbClr val="1F2937"/>
                </a:solidFill>
                <a:latin typeface="微软雅黑" panose="020B0503020204020204" pitchFamily="34" charset="-122"/>
                <a:ea typeface="微软雅黑" panose="020B0503020204020204" pitchFamily="34" charset="-122"/>
              </a:rPr>
              <a:t>策略模块层：增值、生息、保障各自打造工具化模块（</a:t>
            </a:r>
            <a:r>
              <a:rPr lang="en-US" altLang="zh-CN" sz="1600" dirty="0">
                <a:solidFill>
                  <a:srgbClr val="1F2937"/>
                </a:solidFill>
                <a:latin typeface="微软雅黑" panose="020B0503020204020204" pitchFamily="34" charset="-122"/>
                <a:ea typeface="微软雅黑" panose="020B0503020204020204" pitchFamily="34" charset="-122"/>
              </a:rPr>
              <a:t>Building Block</a:t>
            </a:r>
            <a:r>
              <a:rPr lang="zh-CN" altLang="en-US" sz="1600" dirty="0">
                <a:solidFill>
                  <a:srgbClr val="1F2937"/>
                </a:solidFill>
                <a:latin typeface="微软雅黑" panose="020B0503020204020204" pitchFamily="34" charset="-122"/>
                <a:ea typeface="微软雅黑" panose="020B0503020204020204" pitchFamily="34" charset="-122"/>
              </a:rPr>
              <a:t>）</a:t>
            </a:r>
            <a:endParaRPr lang="en-US" altLang="zh-CN" sz="1600" dirty="0">
              <a:solidFill>
                <a:srgbClr val="1F2937"/>
              </a:solidFill>
              <a:latin typeface="微软雅黑" panose="020B0503020204020204" pitchFamily="34" charset="-122"/>
              <a:ea typeface="微软雅黑" panose="020B0503020204020204" pitchFamily="34" charset="-122"/>
            </a:endParaRPr>
          </a:p>
        </p:txBody>
      </p:sp>
      <p:grpSp>
        <p:nvGrpSpPr>
          <p:cNvPr id="72" name="组合 71">
            <a:extLst>
              <a:ext uri="{FF2B5EF4-FFF2-40B4-BE49-F238E27FC236}">
                <a16:creationId xmlns="" xmlns:a16="http://schemas.microsoft.com/office/drawing/2014/main" id="{DE35CE36-B92B-92EC-19AB-9442D33A9C41}"/>
              </a:ext>
            </a:extLst>
          </p:cNvPr>
          <p:cNvGrpSpPr/>
          <p:nvPr/>
        </p:nvGrpSpPr>
        <p:grpSpPr>
          <a:xfrm>
            <a:off x="3412727" y="2962089"/>
            <a:ext cx="2825513" cy="3229162"/>
            <a:chOff x="3752250" y="10792389"/>
            <a:chExt cx="3402534" cy="3580068"/>
          </a:xfrm>
        </p:grpSpPr>
        <p:sp>
          <p:nvSpPr>
            <p:cNvPr id="73" name="流程图: 摘录 72">
              <a:extLst>
                <a:ext uri="{FF2B5EF4-FFF2-40B4-BE49-F238E27FC236}">
                  <a16:creationId xmlns="" xmlns:a16="http://schemas.microsoft.com/office/drawing/2014/main" id="{3A10F3CE-3424-8E6E-7DA2-E1725B79D5DA}"/>
                </a:ext>
              </a:extLst>
            </p:cNvPr>
            <p:cNvSpPr/>
            <p:nvPr/>
          </p:nvSpPr>
          <p:spPr>
            <a:xfrm>
              <a:off x="4989650" y="10792389"/>
              <a:ext cx="849448" cy="970066"/>
            </a:xfrm>
            <a:prstGeom prst="flowChartExtra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74" name="组合 73">
              <a:extLst>
                <a:ext uri="{FF2B5EF4-FFF2-40B4-BE49-F238E27FC236}">
                  <a16:creationId xmlns="" xmlns:a16="http://schemas.microsoft.com/office/drawing/2014/main" id="{E26297D2-F923-02CD-D0EC-27A24D6DEF64}"/>
                </a:ext>
              </a:extLst>
            </p:cNvPr>
            <p:cNvGrpSpPr/>
            <p:nvPr/>
          </p:nvGrpSpPr>
          <p:grpSpPr>
            <a:xfrm>
              <a:off x="3752250" y="11027250"/>
              <a:ext cx="3402534" cy="3345207"/>
              <a:chOff x="1932984" y="11120326"/>
              <a:chExt cx="3402534" cy="3345207"/>
            </a:xfrm>
          </p:grpSpPr>
          <p:grpSp>
            <p:nvGrpSpPr>
              <p:cNvPr id="76" name="组合 75">
                <a:extLst>
                  <a:ext uri="{FF2B5EF4-FFF2-40B4-BE49-F238E27FC236}">
                    <a16:creationId xmlns="" xmlns:a16="http://schemas.microsoft.com/office/drawing/2014/main" id="{D5B4C3F2-8FB6-5FD1-74C4-9B1307948574}"/>
                  </a:ext>
                </a:extLst>
              </p:cNvPr>
              <p:cNvGrpSpPr/>
              <p:nvPr/>
            </p:nvGrpSpPr>
            <p:grpSpPr>
              <a:xfrm>
                <a:off x="1993692" y="11120326"/>
                <a:ext cx="3341826" cy="3345207"/>
                <a:chOff x="1993692" y="11120326"/>
                <a:chExt cx="3341826" cy="3345207"/>
              </a:xfrm>
            </p:grpSpPr>
            <p:grpSp>
              <p:nvGrpSpPr>
                <p:cNvPr id="77" name="组合 76">
                  <a:extLst>
                    <a:ext uri="{FF2B5EF4-FFF2-40B4-BE49-F238E27FC236}">
                      <a16:creationId xmlns="" xmlns:a16="http://schemas.microsoft.com/office/drawing/2014/main" id="{E5D6837A-A7CC-57E2-28CB-F869557622AD}"/>
                    </a:ext>
                  </a:extLst>
                </p:cNvPr>
                <p:cNvGrpSpPr/>
                <p:nvPr/>
              </p:nvGrpSpPr>
              <p:grpSpPr>
                <a:xfrm>
                  <a:off x="1993692" y="13523385"/>
                  <a:ext cx="3341826" cy="942148"/>
                  <a:chOff x="1553724" y="3984082"/>
                  <a:chExt cx="1872209" cy="892227"/>
                </a:xfrm>
              </p:grpSpPr>
              <p:sp>
                <p:nvSpPr>
                  <p:cNvPr id="85" name="矩形: 圆角 19">
                    <a:extLst>
                      <a:ext uri="{FF2B5EF4-FFF2-40B4-BE49-F238E27FC236}">
                        <a16:creationId xmlns="" xmlns:a16="http://schemas.microsoft.com/office/drawing/2014/main" id="{CC9452A6-B8FB-7C32-6599-7FCE91AECC0C}"/>
                      </a:ext>
                    </a:extLst>
                  </p:cNvPr>
                  <p:cNvSpPr/>
                  <p:nvPr/>
                </p:nvSpPr>
                <p:spPr>
                  <a:xfrm>
                    <a:off x="1631304" y="4111107"/>
                    <a:ext cx="1643586" cy="765202"/>
                  </a:xfrm>
                  <a:prstGeom prst="trapezoid">
                    <a:avLst>
                      <a:gd name="adj" fmla="val 3987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30867"/>
                    <a:endParaRPr lang="zh-CN" altLang="en-US" sz="850" b="1" dirty="0">
                      <a:solidFill>
                        <a:schemeClr val="bg1"/>
                      </a:solidFill>
                      <a:latin typeface="微软雅黑" panose="020B0503020204020204" pitchFamily="34" charset="-122"/>
                      <a:ea typeface="微软雅黑" panose="020B0503020204020204" pitchFamily="34" charset="-122"/>
                    </a:endParaRPr>
                  </a:p>
                </p:txBody>
              </p:sp>
              <p:sp>
                <p:nvSpPr>
                  <p:cNvPr id="87" name="矩形 47">
                    <a:extLst>
                      <a:ext uri="{FF2B5EF4-FFF2-40B4-BE49-F238E27FC236}">
                        <a16:creationId xmlns="" xmlns:a16="http://schemas.microsoft.com/office/drawing/2014/main" id="{A2F24A1E-E2D1-AE9B-EABA-286591D89664}"/>
                      </a:ext>
                    </a:extLst>
                  </p:cNvPr>
                  <p:cNvSpPr/>
                  <p:nvPr/>
                </p:nvSpPr>
                <p:spPr>
                  <a:xfrm>
                    <a:off x="1553724" y="3984082"/>
                    <a:ext cx="1872209" cy="723838"/>
                  </a:xfrm>
                  <a:prstGeom prst="rect">
                    <a:avLst/>
                  </a:prstGeom>
                </p:spPr>
                <p:txBody>
                  <a:bodyPr wrap="square">
                    <a:spAutoFit/>
                  </a:bodyPr>
                  <a:lstStyle/>
                  <a:p>
                    <a:pPr algn="ctr">
                      <a:lnSpc>
                        <a:spcPts val="5670"/>
                      </a:lnSpc>
                    </a:pPr>
                    <a:r>
                      <a:rPr lang="zh-CN" altLang="en-US" sz="16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保障</a:t>
                    </a:r>
                    <a:r>
                      <a:rPr lang="en-US" altLang="zh-CN" sz="16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-5%</a:t>
                    </a:r>
                    <a:endParaRPr lang="zh-CN" altLang="en-US" sz="16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8" name="梯形 77">
                  <a:extLst>
                    <a:ext uri="{FF2B5EF4-FFF2-40B4-BE49-F238E27FC236}">
                      <a16:creationId xmlns="" xmlns:a16="http://schemas.microsoft.com/office/drawing/2014/main" id="{2B9A8AEB-DDBA-58C3-2E71-9A12C034E650}"/>
                    </a:ext>
                  </a:extLst>
                </p:cNvPr>
                <p:cNvSpPr/>
                <p:nvPr/>
              </p:nvSpPr>
              <p:spPr>
                <a:xfrm>
                  <a:off x="2528365" y="12048650"/>
                  <a:ext cx="2151065" cy="1443126"/>
                </a:xfrm>
                <a:prstGeom prst="trapezoid">
                  <a:avLst>
                    <a:gd name="adj" fmla="val 37673"/>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9" name="矩形 47">
                  <a:extLst>
                    <a:ext uri="{FF2B5EF4-FFF2-40B4-BE49-F238E27FC236}">
                      <a16:creationId xmlns="" xmlns:a16="http://schemas.microsoft.com/office/drawing/2014/main" id="{FECFA4C2-D27C-096C-6E73-0B956A95F7F0}"/>
                    </a:ext>
                  </a:extLst>
                </p:cNvPr>
                <p:cNvSpPr/>
                <p:nvPr/>
              </p:nvSpPr>
              <p:spPr>
                <a:xfrm>
                  <a:off x="2187964" y="11120326"/>
                  <a:ext cx="2847618" cy="680383"/>
                </a:xfrm>
                <a:prstGeom prst="rect">
                  <a:avLst/>
                </a:prstGeom>
              </p:spPr>
              <p:txBody>
                <a:bodyPr wrap="square">
                  <a:spAutoFit/>
                </a:bodyPr>
                <a:lstStyle/>
                <a:p>
                  <a:pPr algn="ctr">
                    <a:lnSpc>
                      <a:spcPct val="150000"/>
                    </a:lnSpc>
                  </a:pPr>
                  <a:r>
                    <a:rPr lang="zh-CN" altLang="en-US" sz="12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增值</a:t>
                  </a:r>
                  <a:endParaRPr lang="en-US" altLang="zh-CN" sz="12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50000"/>
                    </a:lnSpc>
                  </a:pPr>
                  <a:r>
                    <a:rPr lang="en-US" altLang="zh-CN" sz="12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10%</a:t>
                  </a:r>
                </a:p>
              </p:txBody>
            </p:sp>
          </p:grpSp>
          <p:sp>
            <p:nvSpPr>
              <p:cNvPr id="75" name="矩形 47">
                <a:extLst>
                  <a:ext uri="{FF2B5EF4-FFF2-40B4-BE49-F238E27FC236}">
                    <a16:creationId xmlns="" xmlns:a16="http://schemas.microsoft.com/office/drawing/2014/main" id="{2382B7C9-7E9B-DDDD-DAD3-1F4A6FA0411C}"/>
                  </a:ext>
                </a:extLst>
              </p:cNvPr>
              <p:cNvSpPr/>
              <p:nvPr/>
            </p:nvSpPr>
            <p:spPr>
              <a:xfrm>
                <a:off x="1932984" y="12235062"/>
                <a:ext cx="3341826" cy="764338"/>
              </a:xfrm>
              <a:prstGeom prst="rect">
                <a:avLst/>
              </a:prstGeom>
            </p:spPr>
            <p:txBody>
              <a:bodyPr wrap="square">
                <a:spAutoFit/>
              </a:bodyPr>
              <a:lstStyle/>
              <a:p>
                <a:pPr algn="ctr">
                  <a:lnSpc>
                    <a:spcPts val="5670"/>
                  </a:lnSpc>
                </a:pPr>
                <a:r>
                  <a:rPr lang="zh-CN" altLang="en-US" sz="16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生息</a:t>
                </a:r>
                <a:r>
                  <a:rPr lang="en-US" altLang="zh-CN" sz="16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-85%</a:t>
                </a:r>
                <a:endParaRPr lang="zh-CN" altLang="en-US" sz="16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sp>
        <p:nvSpPr>
          <p:cNvPr id="2" name="文本框 1">
            <a:extLst>
              <a:ext uri="{FF2B5EF4-FFF2-40B4-BE49-F238E27FC236}">
                <a16:creationId xmlns="" xmlns:a16="http://schemas.microsoft.com/office/drawing/2014/main" id="{E45781F2-F21A-D255-B9B1-632482E4B7D8}"/>
              </a:ext>
            </a:extLst>
          </p:cNvPr>
          <p:cNvSpPr txBox="1"/>
          <p:nvPr/>
        </p:nvSpPr>
        <p:spPr>
          <a:xfrm>
            <a:off x="7854773" y="3031006"/>
            <a:ext cx="3652599" cy="106881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b="1" dirty="0">
                <a:solidFill>
                  <a:srgbClr val="C00000"/>
                </a:solidFill>
              </a:rPr>
              <a:t>10% -- </a:t>
            </a:r>
            <a:r>
              <a:rPr lang="zh-CN" altLang="en-US" sz="1600" b="1" dirty="0">
                <a:solidFill>
                  <a:srgbClr val="C00000"/>
                </a:solidFill>
              </a:rPr>
              <a:t>增值策略模块</a:t>
            </a:r>
            <a:endParaRPr lang="en-US" altLang="zh-CN" sz="1600" b="1" dirty="0">
              <a:solidFill>
                <a:srgbClr val="C00000"/>
              </a:solidFill>
            </a:endParaRPr>
          </a:p>
          <a:p>
            <a:pPr marL="742950" lvl="1" indent="-285750">
              <a:lnSpc>
                <a:spcPct val="150000"/>
              </a:lnSpc>
              <a:buFont typeface="Wingdings" panose="05000000000000000000" pitchFamily="2" charset="2"/>
              <a:buChar char="ü"/>
            </a:pPr>
            <a:r>
              <a:rPr lang="zh-CN" altLang="en-US" sz="1400" b="1" dirty="0"/>
              <a:t>对标宽基指数（</a:t>
            </a:r>
            <a:r>
              <a:rPr lang="en-US" altLang="zh-CN" sz="1400" b="1" dirty="0"/>
              <a:t>5%</a:t>
            </a:r>
            <a:r>
              <a:rPr lang="zh-CN" altLang="en-US" sz="1400" b="1" dirty="0"/>
              <a:t>）</a:t>
            </a:r>
            <a:endParaRPr lang="en-US" altLang="zh-CN" sz="1400" b="1" dirty="0"/>
          </a:p>
          <a:p>
            <a:pPr marL="742950" lvl="1" indent="-285750">
              <a:lnSpc>
                <a:spcPct val="150000"/>
              </a:lnSpc>
              <a:buFont typeface="Wingdings" panose="05000000000000000000" pitchFamily="2" charset="2"/>
              <a:buChar char="ü"/>
            </a:pPr>
            <a:r>
              <a:rPr lang="zh-CN" altLang="en-US" sz="1400" b="1" dirty="0"/>
              <a:t>布局产业趋势，捕捉科创红利（</a:t>
            </a:r>
            <a:r>
              <a:rPr lang="en-US" altLang="zh-CN" sz="1400" b="1" dirty="0"/>
              <a:t>5%</a:t>
            </a:r>
            <a:r>
              <a:rPr lang="zh-CN" altLang="en-US" sz="1400" b="1" dirty="0"/>
              <a:t>）</a:t>
            </a:r>
          </a:p>
        </p:txBody>
      </p:sp>
      <p:sp>
        <p:nvSpPr>
          <p:cNvPr id="8" name="Rectangle 30">
            <a:extLst>
              <a:ext uri="{FF2B5EF4-FFF2-40B4-BE49-F238E27FC236}">
                <a16:creationId xmlns="" xmlns:a16="http://schemas.microsoft.com/office/drawing/2014/main" id="{8DA9302F-7C23-D46E-5192-738EA9327167}"/>
              </a:ext>
            </a:extLst>
          </p:cNvPr>
          <p:cNvSpPr/>
          <p:nvPr/>
        </p:nvSpPr>
        <p:spPr bwMode="gray">
          <a:xfrm>
            <a:off x="3767942" y="2194129"/>
            <a:ext cx="2050073" cy="412958"/>
          </a:xfrm>
          <a:prstGeom prst="rect">
            <a:avLst/>
          </a:prstGeom>
          <a:solidFill>
            <a:schemeClr val="accent5">
              <a:lumMod val="50000"/>
            </a:schemeClr>
          </a:solidFill>
          <a:ln>
            <a:noFill/>
          </a:ln>
          <a:effectLst/>
        </p:spPr>
        <p:txBody>
          <a:bodyPr wrap="none" anchor="ctr">
            <a:normAutofit/>
            <a:scene3d>
              <a:camera prst="orthographicFront"/>
              <a:lightRig rig="threePt" dir="t"/>
            </a:scene3d>
            <a:sp3d contourW="12700"/>
          </a:bodyPr>
          <a:lstStyle/>
          <a:p>
            <a:pPr algn="ctr" defTabSz="457189">
              <a:defRPr/>
            </a:pPr>
            <a:r>
              <a:rPr lang="en-US" altLang="zh-CN" sz="2000" b="1" kern="0" dirty="0">
                <a:solidFill>
                  <a:prstClr val="white"/>
                </a:solidFill>
                <a:latin typeface="思源宋体" panose="02010600030101010101" charset="-122"/>
                <a:ea typeface="思源宋体" panose="02010600030101010101" charset="-122"/>
                <a:sym typeface="Wingdings" panose="05000000000000000000" pitchFamily="2" charset="2"/>
              </a:rPr>
              <a:t>1. </a:t>
            </a:r>
            <a:r>
              <a:rPr lang="zh-CN" altLang="en-US" sz="2000" b="1" kern="0" dirty="0">
                <a:solidFill>
                  <a:prstClr val="white"/>
                </a:solidFill>
                <a:latin typeface="思源宋体" panose="02010600030101010101" charset="-122"/>
                <a:ea typeface="思源宋体" panose="02010600030101010101" charset="-122"/>
                <a:sym typeface="Wingdings" panose="05000000000000000000" pitchFamily="2" charset="2"/>
              </a:rPr>
              <a:t>账户规划层</a:t>
            </a:r>
            <a:endParaRPr lang="zh-CN" altLang="en-US" sz="2000" b="1" kern="0" dirty="0">
              <a:solidFill>
                <a:prstClr val="white"/>
              </a:solidFill>
              <a:latin typeface="思源宋体" panose="02010600030101010101" charset="-122"/>
              <a:ea typeface="思源宋体" panose="02010600030101010101" charset="-122"/>
            </a:endParaRPr>
          </a:p>
        </p:txBody>
      </p:sp>
      <p:cxnSp>
        <p:nvCxnSpPr>
          <p:cNvPr id="13" name="Straight Connector 50">
            <a:extLst>
              <a:ext uri="{FF2B5EF4-FFF2-40B4-BE49-F238E27FC236}">
                <a16:creationId xmlns="" xmlns:a16="http://schemas.microsoft.com/office/drawing/2014/main" id="{022039EB-7151-14BE-25D3-CA5227E2C449}"/>
              </a:ext>
            </a:extLst>
          </p:cNvPr>
          <p:cNvCxnSpPr>
            <a:cxnSpLocks/>
          </p:cNvCxnSpPr>
          <p:nvPr/>
        </p:nvCxnSpPr>
        <p:spPr>
          <a:xfrm flipH="1">
            <a:off x="2471121" y="4273050"/>
            <a:ext cx="637500" cy="1"/>
          </a:xfrm>
          <a:prstGeom prst="line">
            <a:avLst/>
          </a:prstGeom>
          <a:noFill/>
          <a:ln w="19050" cap="rnd" cmpd="sng" algn="ctr">
            <a:solidFill>
              <a:srgbClr val="8295AF"/>
            </a:solidFill>
            <a:prstDash val="dash"/>
            <a:miter lim="800000"/>
            <a:headEnd type="oval"/>
            <a:tailEnd type="oval"/>
          </a:ln>
          <a:effectLst/>
        </p:spPr>
      </p:cxnSp>
      <p:sp>
        <p:nvSpPr>
          <p:cNvPr id="18" name="文本框 17">
            <a:extLst>
              <a:ext uri="{FF2B5EF4-FFF2-40B4-BE49-F238E27FC236}">
                <a16:creationId xmlns="" xmlns:a16="http://schemas.microsoft.com/office/drawing/2014/main" id="{0F447A99-0CED-9966-247B-8E088BA89709}"/>
              </a:ext>
            </a:extLst>
          </p:cNvPr>
          <p:cNvSpPr txBox="1"/>
          <p:nvPr/>
        </p:nvSpPr>
        <p:spPr>
          <a:xfrm>
            <a:off x="684266" y="3890252"/>
            <a:ext cx="1547083" cy="787523"/>
          </a:xfrm>
          <a:prstGeom prst="rect">
            <a:avLst/>
          </a:prstGeom>
          <a:noFill/>
          <a:ln>
            <a:solidFill>
              <a:schemeClr val="tx1"/>
            </a:solidFill>
          </a:ln>
        </p:spPr>
        <p:txBody>
          <a:bodyPr wrap="square" rtlCol="0">
            <a:spAutoFit/>
          </a:bodyPr>
          <a:lstStyle/>
          <a:p>
            <a:pPr algn="ctr">
              <a:lnSpc>
                <a:spcPct val="150000"/>
              </a:lnSpc>
            </a:pPr>
            <a:r>
              <a:rPr lang="zh-CN" altLang="en-US" sz="1600" b="1" dirty="0">
                <a:latin typeface="微软雅黑" panose="020B0503020204020204" pitchFamily="34" charset="-122"/>
                <a:ea typeface="微软雅黑" panose="020B0503020204020204" pitchFamily="34" charset="-122"/>
              </a:rPr>
              <a:t>稳健型样板间</a:t>
            </a:r>
            <a:endParaRPr lang="en-US" altLang="zh-CN" sz="1600" b="1" dirty="0">
              <a:latin typeface="微软雅黑" panose="020B0503020204020204" pitchFamily="34" charset="-122"/>
              <a:ea typeface="微软雅黑" panose="020B0503020204020204" pitchFamily="34" charset="-122"/>
            </a:endParaRPr>
          </a:p>
          <a:p>
            <a:pPr algn="ctr">
              <a:lnSpc>
                <a:spcPct val="150000"/>
              </a:lnSpc>
            </a:pPr>
            <a:r>
              <a:rPr lang="en-US" altLang="zh-CN" sz="1600" b="1" dirty="0">
                <a:latin typeface="微软雅黑" panose="020B0503020204020204" pitchFamily="34" charset="-122"/>
                <a:ea typeface="微软雅黑" panose="020B0503020204020204" pitchFamily="34" charset="-122"/>
              </a:rPr>
              <a:t>10-90</a:t>
            </a:r>
            <a:r>
              <a:rPr lang="zh-CN" altLang="en-US" sz="1600" b="1" dirty="0">
                <a:latin typeface="微软雅黑" panose="020B0503020204020204" pitchFamily="34" charset="-122"/>
                <a:ea typeface="微软雅黑" panose="020B0503020204020204" pitchFamily="34" charset="-122"/>
              </a:rPr>
              <a:t>账户</a:t>
            </a:r>
          </a:p>
        </p:txBody>
      </p:sp>
      <p:sp>
        <p:nvSpPr>
          <p:cNvPr id="21" name="箭头: 左右 20">
            <a:extLst>
              <a:ext uri="{FF2B5EF4-FFF2-40B4-BE49-F238E27FC236}">
                <a16:creationId xmlns="" xmlns:a16="http://schemas.microsoft.com/office/drawing/2014/main" id="{991E8D3E-FF3A-05B2-2A54-E7CEF5C2618C}"/>
              </a:ext>
            </a:extLst>
          </p:cNvPr>
          <p:cNvSpPr/>
          <p:nvPr/>
        </p:nvSpPr>
        <p:spPr>
          <a:xfrm>
            <a:off x="6373996" y="3507956"/>
            <a:ext cx="1097640" cy="5202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0" name="文本框 39">
            <a:extLst>
              <a:ext uri="{FF2B5EF4-FFF2-40B4-BE49-F238E27FC236}">
                <a16:creationId xmlns="" xmlns:a16="http://schemas.microsoft.com/office/drawing/2014/main" id="{0111199F-A3F4-956F-CD52-6C4FC7E835B7}"/>
              </a:ext>
            </a:extLst>
          </p:cNvPr>
          <p:cNvSpPr txBox="1"/>
          <p:nvPr/>
        </p:nvSpPr>
        <p:spPr>
          <a:xfrm>
            <a:off x="7857120" y="4341022"/>
            <a:ext cx="3382966" cy="74565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b="1" dirty="0">
                <a:solidFill>
                  <a:srgbClr val="0070C0"/>
                </a:solidFill>
              </a:rPr>
              <a:t>85% -- </a:t>
            </a:r>
            <a:r>
              <a:rPr lang="zh-CN" altLang="en-US" sz="1600" b="1" dirty="0">
                <a:solidFill>
                  <a:srgbClr val="0070C0"/>
                </a:solidFill>
              </a:rPr>
              <a:t>生息策略模块</a:t>
            </a:r>
            <a:endParaRPr lang="en-US" altLang="zh-CN" sz="1600" b="1" dirty="0">
              <a:solidFill>
                <a:srgbClr val="0070C0"/>
              </a:solidFill>
            </a:endParaRPr>
          </a:p>
          <a:p>
            <a:pPr marL="742950" lvl="1" indent="-285750">
              <a:lnSpc>
                <a:spcPct val="150000"/>
              </a:lnSpc>
              <a:buFont typeface="Wingdings" panose="05000000000000000000" pitchFamily="2" charset="2"/>
              <a:buChar char="ü"/>
            </a:pPr>
            <a:r>
              <a:rPr lang="zh-CN" altLang="en-US" sz="1400" b="1" dirty="0"/>
              <a:t>配置纯债基金，守护财富基石</a:t>
            </a:r>
          </a:p>
        </p:txBody>
      </p:sp>
      <p:sp>
        <p:nvSpPr>
          <p:cNvPr id="41" name="箭头: 左右 40">
            <a:extLst>
              <a:ext uri="{FF2B5EF4-FFF2-40B4-BE49-F238E27FC236}">
                <a16:creationId xmlns="" xmlns:a16="http://schemas.microsoft.com/office/drawing/2014/main" id="{44D8EA90-C447-373E-754C-46FDD52D61A9}"/>
              </a:ext>
            </a:extLst>
          </p:cNvPr>
          <p:cNvSpPr/>
          <p:nvPr/>
        </p:nvSpPr>
        <p:spPr>
          <a:xfrm>
            <a:off x="6373996" y="4579319"/>
            <a:ext cx="1097640" cy="5202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2" name="文本框 41">
            <a:extLst>
              <a:ext uri="{FF2B5EF4-FFF2-40B4-BE49-F238E27FC236}">
                <a16:creationId xmlns="" xmlns:a16="http://schemas.microsoft.com/office/drawing/2014/main" id="{B6C91B83-BF06-65BE-CB0C-EA42CFDF8812}"/>
              </a:ext>
            </a:extLst>
          </p:cNvPr>
          <p:cNvSpPr txBox="1"/>
          <p:nvPr/>
        </p:nvSpPr>
        <p:spPr>
          <a:xfrm>
            <a:off x="7854772" y="5499262"/>
            <a:ext cx="3744040" cy="74565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b="1" dirty="0">
                <a:solidFill>
                  <a:srgbClr val="00B050"/>
                </a:solidFill>
              </a:rPr>
              <a:t>5% -- </a:t>
            </a:r>
            <a:r>
              <a:rPr lang="zh-CN" altLang="en-US" sz="1600" b="1" dirty="0">
                <a:solidFill>
                  <a:srgbClr val="00B050"/>
                </a:solidFill>
              </a:rPr>
              <a:t>保障策略模块</a:t>
            </a:r>
            <a:endParaRPr lang="en-US" altLang="zh-CN" sz="1600" b="1" dirty="0">
              <a:solidFill>
                <a:srgbClr val="00B050"/>
              </a:solidFill>
            </a:endParaRPr>
          </a:p>
          <a:p>
            <a:pPr marL="742950" lvl="1" indent="-285750">
              <a:lnSpc>
                <a:spcPct val="150000"/>
              </a:lnSpc>
              <a:buFont typeface="Wingdings" panose="05000000000000000000" pitchFamily="2" charset="2"/>
              <a:buChar char="ü"/>
            </a:pPr>
            <a:r>
              <a:rPr lang="zh-CN" altLang="en-US" sz="1400" b="1" dirty="0"/>
              <a:t>配置黄金</a:t>
            </a:r>
            <a:r>
              <a:rPr lang="en-US" altLang="zh-CN" sz="1400" b="1" dirty="0"/>
              <a:t>ETF</a:t>
            </a:r>
            <a:r>
              <a:rPr lang="zh-CN" altLang="en-US" sz="1400" b="1" dirty="0"/>
              <a:t>联接，应对尾部风险</a:t>
            </a:r>
          </a:p>
        </p:txBody>
      </p:sp>
      <p:sp>
        <p:nvSpPr>
          <p:cNvPr id="43" name="箭头: 左右 42">
            <a:extLst>
              <a:ext uri="{FF2B5EF4-FFF2-40B4-BE49-F238E27FC236}">
                <a16:creationId xmlns="" xmlns:a16="http://schemas.microsoft.com/office/drawing/2014/main" id="{F11D09C6-28C8-20C9-CB78-C7A23BF35400}"/>
              </a:ext>
            </a:extLst>
          </p:cNvPr>
          <p:cNvSpPr/>
          <p:nvPr/>
        </p:nvSpPr>
        <p:spPr>
          <a:xfrm>
            <a:off x="6371649" y="5737559"/>
            <a:ext cx="1097640" cy="5202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 name="Rectangle 30">
            <a:extLst>
              <a:ext uri="{FF2B5EF4-FFF2-40B4-BE49-F238E27FC236}">
                <a16:creationId xmlns="" xmlns:a16="http://schemas.microsoft.com/office/drawing/2014/main" id="{64C5394D-4220-6D5D-0B08-B07972D4CA04}"/>
              </a:ext>
            </a:extLst>
          </p:cNvPr>
          <p:cNvSpPr/>
          <p:nvPr/>
        </p:nvSpPr>
        <p:spPr bwMode="gray">
          <a:xfrm>
            <a:off x="8207300" y="2191798"/>
            <a:ext cx="2050073" cy="412958"/>
          </a:xfrm>
          <a:prstGeom prst="rect">
            <a:avLst/>
          </a:prstGeom>
          <a:solidFill>
            <a:schemeClr val="accent5">
              <a:lumMod val="50000"/>
            </a:schemeClr>
          </a:solidFill>
          <a:ln>
            <a:noFill/>
          </a:ln>
          <a:effectLst/>
        </p:spPr>
        <p:txBody>
          <a:bodyPr wrap="none" anchor="ctr">
            <a:normAutofit/>
            <a:scene3d>
              <a:camera prst="orthographicFront"/>
              <a:lightRig rig="threePt" dir="t"/>
            </a:scene3d>
            <a:sp3d contourW="12700"/>
          </a:bodyPr>
          <a:lstStyle/>
          <a:p>
            <a:pPr algn="ctr" defTabSz="457189">
              <a:defRPr/>
            </a:pPr>
            <a:r>
              <a:rPr lang="en-US" altLang="zh-CN" sz="2000" b="1" kern="0" dirty="0">
                <a:solidFill>
                  <a:prstClr val="white"/>
                </a:solidFill>
                <a:latin typeface="思源宋体" panose="02010600030101010101" charset="-122"/>
                <a:ea typeface="思源宋体" panose="02010600030101010101" charset="-122"/>
                <a:sym typeface="Wingdings" panose="05000000000000000000" pitchFamily="2" charset="2"/>
              </a:rPr>
              <a:t>2. </a:t>
            </a:r>
            <a:r>
              <a:rPr lang="zh-CN" altLang="en-US" sz="2000" b="1" kern="0" dirty="0">
                <a:solidFill>
                  <a:prstClr val="white"/>
                </a:solidFill>
                <a:latin typeface="思源宋体" panose="02010600030101010101" charset="-122"/>
                <a:ea typeface="思源宋体" panose="02010600030101010101" charset="-122"/>
                <a:sym typeface="Wingdings" panose="05000000000000000000" pitchFamily="2" charset="2"/>
              </a:rPr>
              <a:t>策略模块层</a:t>
            </a:r>
            <a:endParaRPr lang="zh-CN" altLang="en-US" sz="2000" b="1" kern="0" dirty="0">
              <a:solidFill>
                <a:prstClr val="white"/>
              </a:solidFill>
              <a:latin typeface="思源宋体" panose="02010600030101010101" charset="-122"/>
              <a:ea typeface="思源宋体" panose="02010600030101010101" charset="-122"/>
            </a:endParaRPr>
          </a:p>
        </p:txBody>
      </p:sp>
    </p:spTree>
    <p:extLst>
      <p:ext uri="{BB962C8B-B14F-4D97-AF65-F5344CB8AC3E}">
        <p14:creationId xmlns:p14="http://schemas.microsoft.com/office/powerpoint/2010/main" val="1512572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2400300"/>
          </a:xfrm>
          <a:prstGeom prst="rect">
            <a:avLst/>
          </a:prstGeom>
          <a:gradFill flip="none" rotWithShape="1">
            <a:gsLst>
              <a:gs pos="0">
                <a:srgbClr val="5A0A0A"/>
              </a:gs>
              <a:gs pos="50000">
                <a:srgbClr val="8B1A1A"/>
              </a:gs>
              <a:gs pos="100000">
                <a:srgbClr val="A52020"/>
              </a:gs>
            </a:gsLst>
            <a:lin ang="10800000" scaled="1"/>
          </a:gra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3" name="Text 1"/>
          <p:cNvSpPr/>
          <p:nvPr/>
        </p:nvSpPr>
        <p:spPr>
          <a:xfrm>
            <a:off x="762000" y="571500"/>
            <a:ext cx="10576560" cy="762000"/>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示范</a:t>
            </a:r>
            <a:r>
              <a:rPr kumimoji="0" lang="en-US" altLang="zh-CN" sz="3600" b="1" i="0" u="none" strike="noStrike" kern="120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1</a:t>
            </a:r>
            <a:r>
              <a:rPr kumimoji="0" lang="zh-CN" altLang="en-US" sz="3600" b="1" i="0" u="none" strike="noStrike" kern="120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：让生息部分更稳健，增值</a:t>
            </a:r>
            <a:r>
              <a:rPr lang="zh-CN" altLang="en-US" sz="3600" b="1" dirty="0">
                <a:solidFill>
                  <a:srgbClr val="FFFFFF"/>
                </a:solidFill>
                <a:latin typeface="Quattrocento Sans" pitchFamily="34" charset="0"/>
                <a:ea typeface="Quattrocento Sans" pitchFamily="34" charset="-122"/>
                <a:cs typeface="Quattrocento Sans" pitchFamily="34" charset="-120"/>
              </a:rPr>
              <a:t>部分更锐利</a:t>
            </a:r>
            <a:endParaRPr kumimoji="0" lang="en-US" sz="11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Text 2"/>
          <p:cNvSpPr/>
          <p:nvPr/>
        </p:nvSpPr>
        <p:spPr>
          <a:xfrm>
            <a:off x="762000" y="1447800"/>
            <a:ext cx="8572500" cy="342900"/>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0" cap="none" spc="225" normalizeH="0" baseline="0" noProof="0" dirty="0">
                <a:ln>
                  <a:noFill/>
                </a:ln>
                <a:solidFill>
                  <a:srgbClr val="FFFFFF">
                    <a:alpha val="66667"/>
                  </a:srgbClr>
                </a:solidFill>
                <a:effectLst/>
                <a:uLnTx/>
                <a:uFillTx/>
                <a:latin typeface="Quattrocento Sans" pitchFamily="34" charset="0"/>
                <a:ea typeface="Quattrocento Sans" pitchFamily="34" charset="-122"/>
                <a:cs typeface="Quattrocento Sans" pitchFamily="34" charset="-120"/>
              </a:rPr>
              <a:t>ACCOUNT-BASED ALLOCATION WINS</a:t>
            </a:r>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Shape 3"/>
          <p:cNvSpPr/>
          <p:nvPr/>
        </p:nvSpPr>
        <p:spPr>
          <a:xfrm>
            <a:off x="762000" y="2533650"/>
            <a:ext cx="3810000" cy="0"/>
          </a:xfrm>
          <a:prstGeom prst="straightConnector1">
            <a:avLst/>
          </a:prstGeom>
          <a:noFill/>
          <a:ln w="25400">
            <a:solidFill>
              <a:srgbClr val="B8860B"/>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6" name="Shape 4"/>
          <p:cNvSpPr/>
          <p:nvPr/>
        </p:nvSpPr>
        <p:spPr>
          <a:xfrm>
            <a:off x="762000" y="2762250"/>
            <a:ext cx="6667500" cy="1143000"/>
          </a:xfrm>
          <a:prstGeom prst="rect">
            <a:avLst/>
          </a:prstGeom>
          <a:solidFill>
            <a:srgbClr val="FFF5F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7" name="Shape 5"/>
          <p:cNvSpPr/>
          <p:nvPr/>
        </p:nvSpPr>
        <p:spPr>
          <a:xfrm>
            <a:off x="923925" y="3028950"/>
            <a:ext cx="514350" cy="457200"/>
          </a:xfrm>
          <a:custGeom>
            <a:avLst/>
            <a:gdLst/>
            <a:ahLst/>
            <a:cxnLst/>
            <a:rect l="l" t="t" r="r" b="b"/>
            <a:pathLst>
              <a:path w="685800" h="609600">
                <a:moveTo>
                  <a:pt x="610076" y="285750"/>
                </a:moveTo>
                <a:lnTo>
                  <a:pt x="400526" y="285750"/>
                </a:lnTo>
                <a:cubicBezTo>
                  <a:pt x="379452" y="285750"/>
                  <a:pt x="362426" y="268724"/>
                  <a:pt x="362426" y="247650"/>
                </a:cubicBezTo>
                <a:lnTo>
                  <a:pt x="362426" y="38100"/>
                </a:lnTo>
                <a:cubicBezTo>
                  <a:pt x="362426" y="17026"/>
                  <a:pt x="379571" y="-238"/>
                  <a:pt x="400407" y="2500"/>
                </a:cubicBezTo>
                <a:cubicBezTo>
                  <a:pt x="527804" y="19407"/>
                  <a:pt x="628769" y="120372"/>
                  <a:pt x="645676" y="247769"/>
                </a:cubicBezTo>
                <a:cubicBezTo>
                  <a:pt x="648414" y="268605"/>
                  <a:pt x="631150" y="285750"/>
                  <a:pt x="610076" y="285750"/>
                </a:cubicBezTo>
                <a:close/>
                <a:moveTo>
                  <a:pt x="265033" y="44291"/>
                </a:moveTo>
                <a:cubicBezTo>
                  <a:pt x="286583" y="39767"/>
                  <a:pt x="305276" y="57388"/>
                  <a:pt x="305276" y="79415"/>
                </a:cubicBezTo>
                <a:lnTo>
                  <a:pt x="305276" y="314325"/>
                </a:lnTo>
                <a:cubicBezTo>
                  <a:pt x="305276" y="320993"/>
                  <a:pt x="307658" y="327422"/>
                  <a:pt x="311825" y="332542"/>
                </a:cubicBezTo>
                <a:lnTo>
                  <a:pt x="469106" y="522327"/>
                </a:lnTo>
                <a:cubicBezTo>
                  <a:pt x="483037" y="539115"/>
                  <a:pt x="480060" y="564475"/>
                  <a:pt x="460891" y="574834"/>
                </a:cubicBezTo>
                <a:cubicBezTo>
                  <a:pt x="420291" y="596979"/>
                  <a:pt x="373737" y="609600"/>
                  <a:pt x="324326" y="609600"/>
                </a:cubicBezTo>
                <a:cubicBezTo>
                  <a:pt x="166568" y="609600"/>
                  <a:pt x="38576" y="481608"/>
                  <a:pt x="38576" y="323850"/>
                </a:cubicBezTo>
                <a:cubicBezTo>
                  <a:pt x="38576" y="186333"/>
                  <a:pt x="135612" y="71557"/>
                  <a:pt x="265033" y="44291"/>
                </a:cubicBezTo>
                <a:close/>
                <a:moveTo>
                  <a:pt x="568881" y="342900"/>
                </a:moveTo>
                <a:lnTo>
                  <a:pt x="645081" y="342900"/>
                </a:lnTo>
                <a:cubicBezTo>
                  <a:pt x="667107" y="342900"/>
                  <a:pt x="684728" y="361593"/>
                  <a:pt x="680204" y="383143"/>
                </a:cubicBezTo>
                <a:cubicBezTo>
                  <a:pt x="668060" y="440769"/>
                  <a:pt x="638532" y="491966"/>
                  <a:pt x="597337" y="531019"/>
                </a:cubicBezTo>
                <a:cubicBezTo>
                  <a:pt x="582692" y="544949"/>
                  <a:pt x="559713" y="541973"/>
                  <a:pt x="546854" y="526375"/>
                </a:cubicBezTo>
                <a:lnTo>
                  <a:pt x="446365" y="405289"/>
                </a:lnTo>
                <a:cubicBezTo>
                  <a:pt x="425767" y="380405"/>
                  <a:pt x="443508" y="342900"/>
                  <a:pt x="475655" y="342900"/>
                </a:cubicBezTo>
                <a:lnTo>
                  <a:pt x="568762" y="342900"/>
                </a:lnTo>
                <a:close/>
              </a:path>
            </a:pathLst>
          </a:custGeom>
          <a:solidFill>
            <a:srgbClr val="8B1A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8" name="Text 6"/>
          <p:cNvSpPr/>
          <p:nvPr/>
        </p:nvSpPr>
        <p:spPr>
          <a:xfrm>
            <a:off x="1562100" y="2838450"/>
            <a:ext cx="5676900" cy="990600"/>
          </a:xfrm>
          <a:prstGeom prst="rect">
            <a:avLst/>
          </a:prstGeom>
          <a:noFill/>
          <a:ln/>
        </p:spPr>
        <p:txBody>
          <a:bodyPr wrap="square" lIns="0" tIns="0" rIns="0" bIns="0" rtlCol="0" anchor="ctr"/>
          <a:lstStyle/>
          <a:p>
            <a:pPr marL="0" marR="0" lvl="0" indent="0" algn="l" defTabSz="914400" rtl="0" eaLnBrk="1" fontAlgn="auto" latinLnBrk="0" hangingPunct="1">
              <a:lnSpc>
                <a:spcPct val="160000"/>
              </a:lnSpc>
              <a:spcBef>
                <a:spcPts val="0"/>
              </a:spcBef>
              <a:spcAft>
                <a:spcPts val="0"/>
              </a:spcAft>
              <a:buClrTx/>
              <a:buSzTx/>
              <a:buFontTx/>
              <a:buNone/>
              <a:tabLst/>
              <a:defRPr/>
            </a:pPr>
            <a:r>
              <a:rPr kumimoji="0" lang="zh-CN" altLang="en-US" sz="1650" b="1" i="0" u="none" strike="noStrike" kern="1200" cap="none" spc="0" normalizeH="0" baseline="0" noProof="0" dirty="0">
                <a:ln>
                  <a:noFill/>
                </a:ln>
                <a:solidFill>
                  <a:srgbClr val="8B1A1A"/>
                </a:solidFill>
                <a:effectLst/>
                <a:uLnTx/>
                <a:uFillTx/>
                <a:latin typeface="Quattrocento Sans" pitchFamily="34" charset="0"/>
                <a:ea typeface="Quattrocento Sans" pitchFamily="34" charset="-122"/>
                <a:cs typeface="Quattrocento Sans" pitchFamily="34" charset="-120"/>
              </a:rPr>
              <a:t>锐利的增值 </a:t>
            </a:r>
            <a:r>
              <a:rPr kumimoji="0" lang="en-US" altLang="zh-CN" sz="1650" b="1" i="0" u="none" strike="noStrike" kern="1200" cap="none" spc="0" normalizeH="0" baseline="0" noProof="0" dirty="0">
                <a:ln>
                  <a:noFill/>
                </a:ln>
                <a:solidFill>
                  <a:srgbClr val="8B1A1A"/>
                </a:solidFill>
                <a:effectLst/>
                <a:uLnTx/>
                <a:uFillTx/>
                <a:latin typeface="Quattrocento Sans" pitchFamily="34" charset="0"/>
                <a:ea typeface="Quattrocento Sans" pitchFamily="34" charset="-122"/>
                <a:cs typeface="Quattrocento Sans" pitchFamily="34" charset="-120"/>
              </a:rPr>
              <a:t>+ </a:t>
            </a:r>
            <a:r>
              <a:rPr kumimoji="0" lang="zh-CN" altLang="en-US" sz="1650" b="1" i="0" u="none" strike="noStrike" kern="1200" cap="none" spc="0" normalizeH="0" baseline="0" noProof="0" dirty="0">
                <a:ln>
                  <a:noFill/>
                </a:ln>
                <a:solidFill>
                  <a:srgbClr val="8B1A1A"/>
                </a:solidFill>
                <a:effectLst/>
                <a:uLnTx/>
                <a:uFillTx/>
                <a:latin typeface="Quattrocento Sans" pitchFamily="34" charset="0"/>
                <a:ea typeface="Quattrocento Sans" pitchFamily="34" charset="-122"/>
                <a:cs typeface="Quattrocento Sans" pitchFamily="34" charset="-120"/>
              </a:rPr>
              <a:t>稳健的</a:t>
            </a:r>
            <a:r>
              <a:rPr kumimoji="0" lang="en-US" sz="1650" b="1" i="0" u="none" strike="noStrike" kern="1200" cap="none" spc="0" normalizeH="0" baseline="0" noProof="0" dirty="0" err="1">
                <a:ln>
                  <a:noFill/>
                </a:ln>
                <a:solidFill>
                  <a:srgbClr val="8B1A1A"/>
                </a:solidFill>
                <a:effectLst/>
                <a:uLnTx/>
                <a:uFillTx/>
                <a:latin typeface="Quattrocento Sans" pitchFamily="34" charset="0"/>
                <a:ea typeface="Quattrocento Sans" pitchFamily="34" charset="-122"/>
                <a:cs typeface="Quattrocento Sans" pitchFamily="34" charset="-120"/>
              </a:rPr>
              <a:t>生息</a:t>
            </a:r>
            <a:r>
              <a:rPr kumimoji="0" lang="en-US" sz="1650" b="1" i="0" u="none" strike="noStrike" kern="1200" cap="none" spc="0" normalizeH="0" baseline="0" noProof="0" dirty="0">
                <a:ln>
                  <a:noFill/>
                </a:ln>
                <a:solidFill>
                  <a:srgbClr val="8B1A1A"/>
                </a:solidFill>
                <a:effectLst/>
                <a:uLnTx/>
                <a:uFillTx/>
                <a:latin typeface="Quattrocento Sans" pitchFamily="34" charset="0"/>
                <a:ea typeface="Quattrocento Sans" pitchFamily="34" charset="-122"/>
                <a:cs typeface="Quattrocento Sans" pitchFamily="34" charset="-120"/>
              </a:rPr>
              <a:t> = </a:t>
            </a:r>
            <a:r>
              <a:rPr kumimoji="0" lang="zh-CN" altLang="en-US" sz="1650" b="1" i="0" u="none" strike="noStrike" kern="1200" cap="none" spc="0" normalizeH="0" baseline="0" noProof="0" dirty="0">
                <a:ln>
                  <a:noFill/>
                </a:ln>
                <a:solidFill>
                  <a:srgbClr val="8B1A1A"/>
                </a:solidFill>
                <a:effectLst/>
                <a:uLnTx/>
                <a:uFillTx/>
                <a:latin typeface="Quattrocento Sans" pitchFamily="34" charset="0"/>
                <a:ea typeface="Quattrocento Sans" pitchFamily="34" charset="-122"/>
                <a:cs typeface="Quattrocento Sans" pitchFamily="34" charset="-120"/>
              </a:rPr>
              <a:t>样板间的“最佳实践”之一</a:t>
            </a:r>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6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666666"/>
                </a:solidFill>
                <a:effectLst/>
                <a:uLnTx/>
                <a:uFillTx/>
                <a:latin typeface="Quattrocento Sans" pitchFamily="34" charset="0"/>
                <a:ea typeface="等线" panose="02010600030101010101" pitchFamily="2" charset="-122"/>
                <a:cs typeface="+mn-cs"/>
              </a:rPr>
              <a:t>但现实情况下，大部分客户习惯的配置思路是让增值更稳、向生息要收益，这可能带来账户结构的不稳定</a:t>
            </a:r>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
          <p:cNvSpPr/>
          <p:nvPr/>
        </p:nvSpPr>
        <p:spPr>
          <a:xfrm>
            <a:off x="8655232" y="2996837"/>
            <a:ext cx="2476500" cy="2476500"/>
          </a:xfrm>
          <a:prstGeom prst="rect">
            <a:avLst/>
          </a:prstGeom>
          <a:solidFill>
            <a:srgbClr val="8B1A1A">
              <a:alpha val="3137"/>
            </a:srgbClr>
          </a:solidFill>
          <a:ln w="25400">
            <a:solidFill>
              <a:srgbClr val="8B1A1A">
                <a:alpha val="12549"/>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10" name="Shape 8"/>
          <p:cNvSpPr/>
          <p:nvPr/>
        </p:nvSpPr>
        <p:spPr>
          <a:xfrm>
            <a:off x="8940982" y="3282587"/>
            <a:ext cx="1905000" cy="1905000"/>
          </a:xfrm>
          <a:prstGeom prst="rect">
            <a:avLst/>
          </a:prstGeom>
          <a:solidFill>
            <a:srgbClr val="B8860B">
              <a:alpha val="3137"/>
            </a:srgbClr>
          </a:solidFill>
          <a:ln w="25400">
            <a:solidFill>
              <a:srgbClr val="B8860B">
                <a:alpha val="18824"/>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11" name="Text 9"/>
          <p:cNvSpPr/>
          <p:nvPr/>
        </p:nvSpPr>
        <p:spPr>
          <a:xfrm>
            <a:off x="8940982" y="3758837"/>
            <a:ext cx="1905000" cy="952500"/>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8B1A1A">
                    <a:alpha val="9412"/>
                  </a:srgbClr>
                </a:solidFill>
                <a:effectLst/>
                <a:uLnTx/>
                <a:uFillTx/>
                <a:latin typeface="Quattrocento Sans" pitchFamily="34" charset="0"/>
                <a:ea typeface="Quattrocento Sans" pitchFamily="34" charset="-122"/>
                <a:cs typeface="Quattrocento Sans" pitchFamily="34" charset="-120"/>
              </a:rPr>
              <a:t>AI +</a:t>
            </a:r>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2" name="Text 10"/>
          <p:cNvSpPr/>
          <p:nvPr/>
        </p:nvSpPr>
        <p:spPr>
          <a:xfrm>
            <a:off x="762000" y="3903614"/>
            <a:ext cx="7402286" cy="2317571"/>
          </a:xfrm>
          <a:prstGeom prst="rect">
            <a:avLst/>
          </a:prstGeom>
          <a:noFill/>
          <a:ln/>
        </p:spPr>
        <p:txBody>
          <a:bodyPr wrap="square" lIns="0" tIns="0" rIns="0" bIns="0" rtlCol="0" anchor="ctr"/>
          <a:lstStyle/>
          <a:p>
            <a:pPr marL="0" marR="0" lvl="0" indent="0" algn="l" defTabSz="914400" rtl="0" eaLnBrk="1" fontAlgn="auto" latinLnBrk="0" hangingPunct="1">
              <a:lnSpc>
                <a:spcPct val="180000"/>
              </a:lnSpc>
              <a:spcBef>
                <a:spcPts val="0"/>
              </a:spcBef>
              <a:spcAft>
                <a:spcPts val="0"/>
              </a:spcAft>
              <a:buClrTx/>
              <a:buSzTx/>
              <a:buFontTx/>
              <a:buNone/>
              <a:tabLst/>
              <a:defRPr/>
            </a:pPr>
            <a:r>
              <a:rPr kumimoji="0" lang="en-US" sz="1200" b="1" i="0" u="none" strike="noStrike" kern="1200" cap="none" spc="0" normalizeH="0" baseline="0" noProof="0" dirty="0" err="1">
                <a:ln>
                  <a:noFill/>
                </a:ln>
                <a:solidFill>
                  <a:srgbClr val="8B1A1A"/>
                </a:solidFill>
                <a:effectLst/>
                <a:uLnTx/>
                <a:uFillTx/>
                <a:latin typeface="Quattrocento Sans" pitchFamily="34" charset="0"/>
                <a:ea typeface="Quattrocento Sans" pitchFamily="34" charset="-122"/>
                <a:cs typeface="Quattrocento Sans" pitchFamily="34" charset="-120"/>
              </a:rPr>
              <a:t>核心</a:t>
            </a:r>
            <a:r>
              <a:rPr kumimoji="0" lang="zh-CN" altLang="en-US" sz="1200" b="1" i="0" u="none" strike="noStrike" kern="1200" cap="none" spc="0" normalizeH="0" baseline="0" noProof="0" dirty="0">
                <a:ln>
                  <a:noFill/>
                </a:ln>
                <a:solidFill>
                  <a:srgbClr val="8B1A1A"/>
                </a:solidFill>
                <a:effectLst/>
                <a:uLnTx/>
                <a:uFillTx/>
                <a:latin typeface="Quattrocento Sans" pitchFamily="34" charset="0"/>
                <a:ea typeface="Quattrocento Sans" pitchFamily="34" charset="-122"/>
                <a:cs typeface="Quattrocento Sans" pitchFamily="34" charset="-120"/>
              </a:rPr>
              <a:t>思想</a:t>
            </a:r>
            <a:r>
              <a:rPr kumimoji="0" lang="en-US" sz="1200" b="1" i="0" u="none" strike="noStrike" kern="1200" cap="none" spc="0" normalizeH="0" baseline="0" noProof="0" dirty="0">
                <a:ln>
                  <a:noFill/>
                </a:ln>
                <a:solidFill>
                  <a:srgbClr val="8B1A1A"/>
                </a:solidFill>
                <a:effectLst/>
                <a:uLnTx/>
                <a:uFillTx/>
                <a:latin typeface="Quattrocento Sans" pitchFamily="34" charset="0"/>
                <a:ea typeface="Quattrocento Sans" pitchFamily="34" charset="-122"/>
                <a:cs typeface="Quattrocento Sans" pitchFamily="34" charset="-120"/>
              </a:rPr>
              <a:t>：</a:t>
            </a:r>
            <a:r>
              <a:rPr kumimoji="0" lang="zh-CN" altLang="en-US"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增值部分，聚焦产</a:t>
            </a:r>
            <a:r>
              <a:rPr kumimoji="0" lang="en-US" sz="1200" b="0" i="0" u="none" strike="noStrike" kern="120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业趋势是高净值客户增值方向的必选项</a:t>
            </a:r>
            <a:r>
              <a:rPr kumimoji="0" lang="en-US"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 | </a:t>
            </a:r>
            <a:r>
              <a:rPr kumimoji="0" lang="zh-CN" altLang="en-US"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紧密跟踪</a:t>
            </a:r>
            <a:r>
              <a:rPr kumimoji="0" lang="en-US" altLang="zh-CN"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AI</a:t>
            </a:r>
            <a:r>
              <a:rPr kumimoji="0" lang="zh-CN" altLang="en-US"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科技带来的新一波技术革命，应当成为</a:t>
            </a:r>
            <a:r>
              <a:rPr kumimoji="0" lang="en-US" sz="1200" b="0" i="0" u="none" strike="noStrike" kern="120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增值部分配置</a:t>
            </a:r>
            <a:r>
              <a:rPr kumimoji="0" lang="zh-CN" altLang="en-US"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的重要方向，建议至少配置</a:t>
            </a:r>
            <a:r>
              <a:rPr kumimoji="0" lang="en-US"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20%-30%</a:t>
            </a:r>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8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生息部分，降低波动（尤其是向下回撤的波动）、减少生息配置的脆弱性，使其与进入逆风期的增值配置形成有效对冲，才有可能在账户层面实施“</a:t>
            </a:r>
            <a:r>
              <a:rPr kumimoji="0" lang="en-US" sz="1200" b="0" i="0" u="none" strike="noStrike" kern="120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削峰填谷</a:t>
            </a:r>
            <a:r>
              <a:rPr kumimoji="0" lang="zh-CN" altLang="en-US"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”的</a:t>
            </a:r>
            <a:r>
              <a:rPr kumimoji="0" lang="en-US" altLang="zh-CN" sz="1200" b="0" i="0" u="none" strike="noStrike" kern="120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动平衡</a:t>
            </a:r>
            <a:r>
              <a:rPr kumimoji="0" lang="zh-CN" altLang="en-US"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操作，提升穿越周期的可能性；</a:t>
            </a:r>
            <a:endParaRPr kumimoji="0" lang="en-US" altLang="zh-CN"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endParaRPr>
          </a:p>
          <a:p>
            <a:pPr marL="0" marR="0" lvl="0" indent="0" algn="l" defTabSz="914400" rtl="0" eaLnBrk="1" fontAlgn="auto" latinLnBrk="0" hangingPunct="1">
              <a:lnSpc>
                <a:spcPct val="18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增值生息，相辅相成；</a:t>
            </a:r>
            <a:r>
              <a:rPr kumimoji="0" lang="en-US" altLang="zh-CN" sz="1200" b="0" i="0" u="none" strike="noStrike" kern="120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账户思维</a:t>
            </a:r>
            <a:r>
              <a:rPr kumimoji="0" lang="en-US" altLang="zh-CN"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a:t>
            </a:r>
            <a:r>
              <a:rPr kumimoji="0" lang="zh-CN" altLang="en-US"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穿越周期</a:t>
            </a:r>
            <a:r>
              <a:rPr kumimoji="0" lang="en-US" altLang="zh-CN" sz="1200" b="0" i="0" u="none" strike="noStrike" kern="120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 | </a:t>
            </a:r>
          </a:p>
          <a:p>
            <a:pPr marL="0" marR="0" lvl="0" indent="0" algn="l" defTabSz="914400" rtl="0" eaLnBrk="1" fontAlgn="auto" latinLnBrk="0" hangingPunct="1">
              <a:lnSpc>
                <a:spcPct val="18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8B0000"/>
                </a:solidFill>
                <a:effectLst/>
                <a:uLnTx/>
                <a:uFillTx/>
                <a:latin typeface="Quattrocento Sans" pitchFamily="34" charset="0"/>
                <a:ea typeface="Quattrocento Sans" pitchFamily="34" charset="-122"/>
                <a:cs typeface="Quattrocento Sans" pitchFamily="34" charset="-120"/>
              </a:rPr>
              <a:t>给</a:t>
            </a:r>
            <a:r>
              <a:rPr kumimoji="0" lang="en-US" sz="1200" b="1" i="0" u="none" strike="noStrike" kern="1200" cap="none" spc="0" normalizeH="0" baseline="0" noProof="0" dirty="0" err="1">
                <a:ln>
                  <a:noFill/>
                </a:ln>
                <a:solidFill>
                  <a:srgbClr val="8B0000"/>
                </a:solidFill>
                <a:effectLst/>
                <a:uLnTx/>
                <a:uFillTx/>
                <a:latin typeface="Quattrocento Sans" pitchFamily="34" charset="0"/>
                <a:ea typeface="Quattrocento Sans" pitchFamily="34" charset="-122"/>
                <a:cs typeface="Quattrocento Sans" pitchFamily="34" charset="-120"/>
              </a:rPr>
              <a:t>生息</a:t>
            </a:r>
            <a:r>
              <a:rPr kumimoji="0" lang="zh-CN" altLang="en-US" sz="1200" b="1" i="0" u="none" strike="noStrike" kern="1200" cap="none" spc="0" normalizeH="0" baseline="0" noProof="0" dirty="0">
                <a:ln>
                  <a:noFill/>
                </a:ln>
                <a:solidFill>
                  <a:srgbClr val="8B0000"/>
                </a:solidFill>
                <a:effectLst/>
                <a:uLnTx/>
                <a:uFillTx/>
                <a:latin typeface="Quattrocento Sans" pitchFamily="34" charset="0"/>
                <a:ea typeface="Quattrocento Sans" pitchFamily="34" charset="-122"/>
                <a:cs typeface="Quattrocento Sans" pitchFamily="34" charset="-120"/>
              </a:rPr>
              <a:t>降波</a:t>
            </a:r>
            <a:r>
              <a:rPr kumimoji="0" lang="en-US" sz="1200" b="1" i="0" u="none" strike="noStrike" kern="1200" cap="none" spc="0" normalizeH="0" baseline="0" noProof="0" dirty="0">
                <a:ln>
                  <a:noFill/>
                </a:ln>
                <a:solidFill>
                  <a:srgbClr val="8B0000"/>
                </a:solidFill>
                <a:effectLst/>
                <a:uLnTx/>
                <a:uFillTx/>
                <a:latin typeface="Quattrocento Sans" pitchFamily="34" charset="0"/>
                <a:ea typeface="Quattrocento Sans" pitchFamily="34" charset="-122"/>
                <a:cs typeface="Quattrocento Sans" pitchFamily="34" charset="-120"/>
              </a:rPr>
              <a:t>，</a:t>
            </a:r>
            <a:r>
              <a:rPr kumimoji="0" lang="zh-CN" altLang="en-US" sz="1200" b="1" i="0" u="none" strike="noStrike" kern="1200" cap="none" spc="0" normalizeH="0" baseline="0" noProof="0" dirty="0">
                <a:ln>
                  <a:noFill/>
                </a:ln>
                <a:solidFill>
                  <a:srgbClr val="8B0000"/>
                </a:solidFill>
                <a:effectLst/>
                <a:uLnTx/>
                <a:uFillTx/>
                <a:latin typeface="Quattrocento Sans" pitchFamily="34" charset="0"/>
                <a:ea typeface="Quattrocento Sans" pitchFamily="34" charset="-122"/>
                <a:cs typeface="Quattrocento Sans" pitchFamily="34" charset="-120"/>
              </a:rPr>
              <a:t>才有底气给</a:t>
            </a:r>
            <a:r>
              <a:rPr kumimoji="0" lang="en-US" sz="1200" b="1" i="0" u="none" strike="noStrike" kern="1200" cap="none" spc="0" normalizeH="0" baseline="0" noProof="0" dirty="0" err="1">
                <a:ln>
                  <a:noFill/>
                </a:ln>
                <a:solidFill>
                  <a:srgbClr val="8B0000"/>
                </a:solidFill>
                <a:effectLst/>
                <a:uLnTx/>
                <a:uFillTx/>
                <a:latin typeface="Quattrocento Sans" pitchFamily="34" charset="0"/>
                <a:ea typeface="Quattrocento Sans" pitchFamily="34" charset="-122"/>
                <a:cs typeface="Quattrocento Sans" pitchFamily="34" charset="-120"/>
              </a:rPr>
              <a:t>增值</a:t>
            </a:r>
            <a:r>
              <a:rPr kumimoji="0" lang="zh-CN" altLang="en-US" sz="1200" b="1" i="0" u="none" strike="noStrike" kern="1200" cap="none" spc="0" normalizeH="0" baseline="0" noProof="0" dirty="0">
                <a:ln>
                  <a:noFill/>
                </a:ln>
                <a:solidFill>
                  <a:srgbClr val="8B0000"/>
                </a:solidFill>
                <a:effectLst/>
                <a:uLnTx/>
                <a:uFillTx/>
                <a:latin typeface="Quattrocento Sans" pitchFamily="34" charset="0"/>
                <a:ea typeface="Quattrocento Sans" pitchFamily="34" charset="-122"/>
                <a:cs typeface="Quattrocento Sans" pitchFamily="34" charset="-120"/>
              </a:rPr>
              <a:t>增锐！</a:t>
            </a:r>
            <a:endParaRPr kumimoji="0" lang="en-US" sz="1200" b="1" i="0" u="none" strike="noStrike" kern="1200" cap="none" spc="0" normalizeH="0" baseline="0" noProof="0" dirty="0">
              <a:ln>
                <a:noFill/>
              </a:ln>
              <a:solidFill>
                <a:srgbClr val="8B0000"/>
              </a:solidFill>
              <a:effectLst/>
              <a:uLnTx/>
              <a:uFillTx/>
              <a:latin typeface="Calibri" panose="020F0502020204030204"/>
              <a:ea typeface="+mn-ea"/>
              <a:cs typeface="+mn-cs"/>
            </a:endParaRPr>
          </a:p>
        </p:txBody>
      </p:sp>
      <p:sp>
        <p:nvSpPr>
          <p:cNvPr id="13" name="Shape 11"/>
          <p:cNvSpPr/>
          <p:nvPr/>
        </p:nvSpPr>
        <p:spPr>
          <a:xfrm>
            <a:off x="0" y="6667500"/>
            <a:ext cx="12192000" cy="0"/>
          </a:xfrm>
          <a:prstGeom prst="straightConnector1">
            <a:avLst/>
          </a:prstGeom>
          <a:noFill/>
          <a:ln w="38100">
            <a:solidFill>
              <a:srgbClr val="B8860B"/>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14" name="Text 12"/>
          <p:cNvSpPr/>
          <p:nvPr/>
        </p:nvSpPr>
        <p:spPr>
          <a:xfrm>
            <a:off x="8572500" y="6362700"/>
            <a:ext cx="3238500" cy="228600"/>
          </a:xfrm>
          <a:prstGeom prst="rect">
            <a:avLst/>
          </a:prstGeom>
          <a:noFill/>
          <a:ln/>
        </p:spPr>
        <p:txBody>
          <a:bodyPr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B8860B"/>
                </a:solidFill>
                <a:effectLst/>
                <a:uLnTx/>
                <a:uFillTx/>
                <a:latin typeface="Quattrocento Sans" pitchFamily="34" charset="0"/>
                <a:ea typeface="Quattrocento Sans" pitchFamily="34" charset="-122"/>
                <a:cs typeface="Quattrocento Sans" pitchFamily="34" charset="-120"/>
              </a:rPr>
              <a:t>2025年6月</a:t>
            </a:r>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6" name="图片 15">
            <a:extLst>
              <a:ext uri="{FF2B5EF4-FFF2-40B4-BE49-F238E27FC236}">
                <a16:creationId xmlns="" xmlns:a16="http://schemas.microsoft.com/office/drawing/2014/main" id="{97FC8AB1-5A8D-5947-1768-CB9A5423142D}"/>
              </a:ext>
            </a:extLst>
          </p:cNvPr>
          <p:cNvPicPr>
            <a:picLocks noChangeAspect="1"/>
          </p:cNvPicPr>
          <p:nvPr/>
        </p:nvPicPr>
        <p:blipFill>
          <a:blip r:embed="rId3"/>
          <a:stretch>
            <a:fillRect/>
          </a:stretch>
        </p:blipFill>
        <p:spPr>
          <a:xfrm>
            <a:off x="8807624" y="3209952"/>
            <a:ext cx="2171716" cy="2050271"/>
          </a:xfrm>
          <a:prstGeom prst="rect">
            <a:avLst/>
          </a:prstGeom>
        </p:spPr>
      </p:pic>
    </p:spTree>
    <p:extLst>
      <p:ext uri="{BB962C8B-B14F-4D97-AF65-F5344CB8AC3E}">
        <p14:creationId xmlns:p14="http://schemas.microsoft.com/office/powerpoint/2010/main" val="81006609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7D04969-B7B0-26BC-EBDD-93113CBCFD09}"/>
            </a:ext>
          </a:extLst>
        </p:cNvPr>
        <p:cNvGrpSpPr/>
        <p:nvPr/>
      </p:nvGrpSpPr>
      <p:grpSpPr>
        <a:xfrm>
          <a:off x="0" y="0"/>
          <a:ext cx="0" cy="0"/>
          <a:chOff x="0" y="0"/>
          <a:chExt cx="0" cy="0"/>
        </a:xfrm>
      </p:grpSpPr>
      <p:sp>
        <p:nvSpPr>
          <p:cNvPr id="4" name="Shape 9">
            <a:extLst>
              <a:ext uri="{FF2B5EF4-FFF2-40B4-BE49-F238E27FC236}">
                <a16:creationId xmlns="" xmlns:a16="http://schemas.microsoft.com/office/drawing/2014/main" id="{69435FD7-ABA8-4DB8-1522-9BBF5034D5A6}"/>
              </a:ext>
            </a:extLst>
          </p:cNvPr>
          <p:cNvSpPr/>
          <p:nvPr/>
        </p:nvSpPr>
        <p:spPr>
          <a:xfrm>
            <a:off x="476250" y="348583"/>
            <a:ext cx="0" cy="342900"/>
          </a:xfrm>
          <a:prstGeom prst="straightConnector1">
            <a:avLst/>
          </a:prstGeom>
          <a:noFill/>
          <a:ln w="50800">
            <a:solidFill>
              <a:srgbClr val="8B1A1A"/>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5" name="Text 10">
            <a:extLst>
              <a:ext uri="{FF2B5EF4-FFF2-40B4-BE49-F238E27FC236}">
                <a16:creationId xmlns="" xmlns:a16="http://schemas.microsoft.com/office/drawing/2014/main" id="{A3569EEF-9039-172A-5254-040B85AE6EE9}"/>
              </a:ext>
            </a:extLst>
          </p:cNvPr>
          <p:cNvSpPr/>
          <p:nvPr/>
        </p:nvSpPr>
        <p:spPr>
          <a:xfrm>
            <a:off x="647700" y="329533"/>
            <a:ext cx="8572500" cy="381000"/>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rgbClr val="8B1A1A"/>
                </a:solidFill>
                <a:effectLst/>
                <a:uLnTx/>
                <a:uFillTx/>
                <a:latin typeface="思源宋体" panose="02010600030101010101" charset="-122"/>
                <a:ea typeface="思源宋体" panose="02010600030101010101" charset="-122"/>
                <a:cs typeface="+mn-cs"/>
              </a:rPr>
              <a:t>类比足球队</a:t>
            </a:r>
            <a:r>
              <a:rPr lang="en-US" altLang="zh-CN" sz="2100" b="1" dirty="0">
                <a:solidFill>
                  <a:srgbClr val="8B1A1A"/>
                </a:solidFill>
                <a:latin typeface="思源宋体" panose="02010600030101010101" charset="-122"/>
                <a:ea typeface="思源宋体" panose="02010600030101010101" charset="-122"/>
              </a:rPr>
              <a:t>…</a:t>
            </a:r>
            <a:endParaRPr kumimoji="0" lang="en-US" sz="2100" b="1" i="0" u="none" strike="noStrike" kern="1200" cap="none" spc="0" normalizeH="0" baseline="0" noProof="0" dirty="0">
              <a:ln>
                <a:noFill/>
              </a:ln>
              <a:solidFill>
                <a:srgbClr val="000000"/>
              </a:solidFill>
              <a:effectLst/>
              <a:uLnTx/>
              <a:uFillTx/>
              <a:latin typeface="思源宋体" panose="02010600030101010101" charset="-122"/>
              <a:ea typeface="思源宋体" panose="02010600030101010101" charset="-122"/>
              <a:cs typeface="+mn-cs"/>
            </a:endParaRPr>
          </a:p>
        </p:txBody>
      </p:sp>
      <p:sp>
        <p:nvSpPr>
          <p:cNvPr id="7" name="Shape 11">
            <a:extLst>
              <a:ext uri="{FF2B5EF4-FFF2-40B4-BE49-F238E27FC236}">
                <a16:creationId xmlns="" xmlns:a16="http://schemas.microsoft.com/office/drawing/2014/main" id="{CD9C80A1-E2C4-49AD-91A9-CEE4DBAE2B52}"/>
              </a:ext>
            </a:extLst>
          </p:cNvPr>
          <p:cNvSpPr/>
          <p:nvPr/>
        </p:nvSpPr>
        <p:spPr>
          <a:xfrm>
            <a:off x="476250" y="786733"/>
            <a:ext cx="11239500" cy="0"/>
          </a:xfrm>
          <a:prstGeom prst="straightConnector1">
            <a:avLst/>
          </a:prstGeom>
          <a:noFill/>
          <a:ln w="12700">
            <a:solidFill>
              <a:srgbClr val="B8860B">
                <a:alpha val="37647"/>
              </a:srgbClr>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grpSp>
        <p:nvGrpSpPr>
          <p:cNvPr id="15" name="组合 14">
            <a:extLst>
              <a:ext uri="{FF2B5EF4-FFF2-40B4-BE49-F238E27FC236}">
                <a16:creationId xmlns="" xmlns:a16="http://schemas.microsoft.com/office/drawing/2014/main" id="{F0C55179-2206-C206-074F-67EA7A271EF8}"/>
              </a:ext>
            </a:extLst>
          </p:cNvPr>
          <p:cNvGrpSpPr/>
          <p:nvPr/>
        </p:nvGrpSpPr>
        <p:grpSpPr>
          <a:xfrm>
            <a:off x="192281" y="1287913"/>
            <a:ext cx="11820438" cy="4083963"/>
            <a:chOff x="156787" y="1236170"/>
            <a:chExt cx="11877387" cy="4183399"/>
          </a:xfrm>
        </p:grpSpPr>
        <p:pic>
          <p:nvPicPr>
            <p:cNvPr id="2" name="图片 1">
              <a:extLst>
                <a:ext uri="{FF2B5EF4-FFF2-40B4-BE49-F238E27FC236}">
                  <a16:creationId xmlns="" xmlns:a16="http://schemas.microsoft.com/office/drawing/2014/main" id="{B91D06A8-BAA0-FCD4-7CD2-44981D3F4860}"/>
                </a:ext>
              </a:extLst>
            </p:cNvPr>
            <p:cNvPicPr>
              <a:picLocks noChangeAspect="1"/>
            </p:cNvPicPr>
            <p:nvPr/>
          </p:nvPicPr>
          <p:blipFill>
            <a:blip r:embed="rId3"/>
            <a:srcRect l="6650" t="20265" r="7112" b="25721"/>
            <a:stretch>
              <a:fillRect/>
            </a:stretch>
          </p:blipFill>
          <p:spPr>
            <a:xfrm>
              <a:off x="156787" y="2482798"/>
              <a:ext cx="5773103" cy="2936771"/>
            </a:xfrm>
            <a:prstGeom prst="rect">
              <a:avLst/>
            </a:prstGeom>
          </p:spPr>
        </p:pic>
        <p:pic>
          <p:nvPicPr>
            <p:cNvPr id="6" name="图片 5">
              <a:extLst>
                <a:ext uri="{FF2B5EF4-FFF2-40B4-BE49-F238E27FC236}">
                  <a16:creationId xmlns="" xmlns:a16="http://schemas.microsoft.com/office/drawing/2014/main" id="{996029A8-A5DD-A0BA-E232-69AD834F842D}"/>
                </a:ext>
              </a:extLst>
            </p:cNvPr>
            <p:cNvPicPr>
              <a:picLocks noChangeAspect="1"/>
            </p:cNvPicPr>
            <p:nvPr/>
          </p:nvPicPr>
          <p:blipFill>
            <a:blip r:embed="rId4"/>
            <a:srcRect l="6289" t="21875" r="6357" b="22000"/>
            <a:stretch>
              <a:fillRect/>
            </a:stretch>
          </p:blipFill>
          <p:spPr>
            <a:xfrm>
              <a:off x="6406226" y="2482798"/>
              <a:ext cx="5627948" cy="2936771"/>
            </a:xfrm>
            <a:prstGeom prst="rect">
              <a:avLst/>
            </a:prstGeom>
          </p:spPr>
        </p:pic>
        <p:sp>
          <p:nvSpPr>
            <p:cNvPr id="9" name="椭圆 8">
              <a:extLst>
                <a:ext uri="{FF2B5EF4-FFF2-40B4-BE49-F238E27FC236}">
                  <a16:creationId xmlns="" xmlns:a16="http://schemas.microsoft.com/office/drawing/2014/main" id="{E02AAF40-525B-06B5-7596-9E52FD5FC348}"/>
                </a:ext>
              </a:extLst>
            </p:cNvPr>
            <p:cNvSpPr/>
            <p:nvPr/>
          </p:nvSpPr>
          <p:spPr>
            <a:xfrm>
              <a:off x="476250" y="1268730"/>
              <a:ext cx="372428" cy="369570"/>
            </a:xfrm>
            <a:prstGeom prst="ellipse">
              <a:avLst/>
            </a:prstGeom>
            <a:solidFill>
              <a:srgbClr val="3498D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FFFFFF"/>
                </a:solidFill>
                <a:effectLst/>
                <a:uLnTx/>
                <a:uFillTx/>
                <a:latin typeface="Calibri" panose="020F0502020204030204"/>
                <a:ea typeface="等线" panose="02010600030101010101" pitchFamily="2" charset="-122"/>
                <a:cs typeface="+mn-cs"/>
              </a:endParaRPr>
            </a:p>
          </p:txBody>
        </p:sp>
        <p:sp>
          <p:nvSpPr>
            <p:cNvPr id="10" name="椭圆 9">
              <a:extLst>
                <a:ext uri="{FF2B5EF4-FFF2-40B4-BE49-F238E27FC236}">
                  <a16:creationId xmlns="" xmlns:a16="http://schemas.microsoft.com/office/drawing/2014/main" id="{05DE9D7C-97A9-F9B5-B535-7E6087F4BA40}"/>
                </a:ext>
              </a:extLst>
            </p:cNvPr>
            <p:cNvSpPr/>
            <p:nvPr/>
          </p:nvSpPr>
          <p:spPr>
            <a:xfrm>
              <a:off x="4151412" y="1270422"/>
              <a:ext cx="372428" cy="369570"/>
            </a:xfrm>
            <a:prstGeom prst="ellipse">
              <a:avLst/>
            </a:prstGeom>
            <a:solidFill>
              <a:srgbClr val="F39C1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FFFFFF"/>
                </a:solidFill>
                <a:effectLst/>
                <a:uLnTx/>
                <a:uFillTx/>
                <a:latin typeface="Calibri" panose="020F0502020204030204"/>
                <a:ea typeface="等线" panose="02010600030101010101" pitchFamily="2" charset="-122"/>
                <a:cs typeface="+mn-cs"/>
              </a:endParaRPr>
            </a:p>
          </p:txBody>
        </p:sp>
        <p:sp>
          <p:nvSpPr>
            <p:cNvPr id="11" name="椭圆 10">
              <a:extLst>
                <a:ext uri="{FF2B5EF4-FFF2-40B4-BE49-F238E27FC236}">
                  <a16:creationId xmlns="" xmlns:a16="http://schemas.microsoft.com/office/drawing/2014/main" id="{4FC67984-ECED-EA81-6625-093E48305167}"/>
                </a:ext>
              </a:extLst>
            </p:cNvPr>
            <p:cNvSpPr/>
            <p:nvPr/>
          </p:nvSpPr>
          <p:spPr>
            <a:xfrm>
              <a:off x="8393869" y="1236170"/>
              <a:ext cx="372428" cy="369570"/>
            </a:xfrm>
            <a:prstGeom prst="ellipse">
              <a:avLst/>
            </a:prstGeom>
            <a:solidFill>
              <a:srgbClr val="E74C3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FFFFFF"/>
                </a:solidFill>
                <a:effectLst/>
                <a:uLnTx/>
                <a:uFillTx/>
                <a:latin typeface="Calibri" panose="020F0502020204030204"/>
                <a:ea typeface="等线" panose="02010600030101010101" pitchFamily="2" charset="-122"/>
                <a:cs typeface="+mn-cs"/>
              </a:endParaRPr>
            </a:p>
          </p:txBody>
        </p:sp>
        <p:sp>
          <p:nvSpPr>
            <p:cNvPr id="12" name="文本框 11">
              <a:extLst>
                <a:ext uri="{FF2B5EF4-FFF2-40B4-BE49-F238E27FC236}">
                  <a16:creationId xmlns="" xmlns:a16="http://schemas.microsoft.com/office/drawing/2014/main" id="{50B801BF-12B3-9E4E-D951-2EF36DF0B554}"/>
                </a:ext>
              </a:extLst>
            </p:cNvPr>
            <p:cNvSpPr txBox="1"/>
            <p:nvPr/>
          </p:nvSpPr>
          <p:spPr>
            <a:xfrm>
              <a:off x="726639" y="1288569"/>
              <a:ext cx="2118426" cy="8039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“后卫”产品</a:t>
              </a:r>
              <a:endParaRPr kumimoji="0" lang="en-US" altLang="zh-CN"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低波生息：国债、黄金</a:t>
              </a:r>
            </a:p>
          </p:txBody>
        </p:sp>
        <p:sp>
          <p:nvSpPr>
            <p:cNvPr id="13" name="文本框 12">
              <a:extLst>
                <a:ext uri="{FF2B5EF4-FFF2-40B4-BE49-F238E27FC236}">
                  <a16:creationId xmlns="" xmlns:a16="http://schemas.microsoft.com/office/drawing/2014/main" id="{F1CCCB6A-BDE3-5AE4-908A-8D7FED66B194}"/>
                </a:ext>
              </a:extLst>
            </p:cNvPr>
            <p:cNvSpPr txBox="1"/>
            <p:nvPr/>
          </p:nvSpPr>
          <p:spPr>
            <a:xfrm>
              <a:off x="8692991" y="1268730"/>
              <a:ext cx="3212497" cy="8039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“前锋”产品</a:t>
              </a:r>
              <a:endParaRPr kumimoji="0" lang="en-US" altLang="zh-CN"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高波</a:t>
              </a:r>
              <a:r>
                <a:rPr lang="zh-CN" altLang="en-US" sz="1500" dirty="0">
                  <a:solidFill>
                    <a:srgbClr val="000000"/>
                  </a:solidFill>
                  <a:latin typeface="微软雅黑" panose="020B0503020204020204" pitchFamily="34" charset="-122"/>
                  <a:ea typeface="微软雅黑" panose="020B0503020204020204" pitchFamily="34" charset="-122"/>
                </a:rPr>
                <a:t>类</a:t>
              </a:r>
              <a:r>
                <a:rPr kumimoji="0" lang="zh-CN" altLang="en-US"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：行业板块</a:t>
              </a:r>
              <a:r>
                <a:rPr kumimoji="0" lang="en-US" altLang="zh-CN"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ETF</a:t>
              </a:r>
              <a:r>
                <a:rPr kumimoji="0" lang="zh-CN" altLang="en-US"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、指数增强等</a:t>
              </a:r>
            </a:p>
          </p:txBody>
        </p:sp>
        <p:sp>
          <p:nvSpPr>
            <p:cNvPr id="14" name="文本框 13">
              <a:extLst>
                <a:ext uri="{FF2B5EF4-FFF2-40B4-BE49-F238E27FC236}">
                  <a16:creationId xmlns="" xmlns:a16="http://schemas.microsoft.com/office/drawing/2014/main" id="{19B5F757-996B-E94D-2384-90B7786BBE3E}"/>
                </a:ext>
              </a:extLst>
            </p:cNvPr>
            <p:cNvSpPr txBox="1"/>
            <p:nvPr/>
          </p:nvSpPr>
          <p:spPr>
            <a:xfrm>
              <a:off x="4523840" y="1270422"/>
              <a:ext cx="3444506" cy="8039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“中场”产品</a:t>
              </a:r>
              <a:endParaRPr kumimoji="0" lang="en-US" altLang="zh-CN"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中波类：指增混合</a:t>
              </a:r>
              <a:r>
                <a:rPr kumimoji="0" lang="en-US" altLang="zh-CN"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CTA</a:t>
              </a:r>
              <a:r>
                <a:rPr kumimoji="0" lang="zh-CN" altLang="en-US" sz="15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、宏观多策略等</a:t>
              </a:r>
            </a:p>
          </p:txBody>
        </p:sp>
      </p:grpSp>
    </p:spTree>
    <p:extLst>
      <p:ext uri="{BB962C8B-B14F-4D97-AF65-F5344CB8AC3E}">
        <p14:creationId xmlns:p14="http://schemas.microsoft.com/office/powerpoint/2010/main" val="260372701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143B2C3-D8FE-8F19-8C76-9E27C4AC596C}"/>
            </a:ext>
          </a:extLst>
        </p:cNvPr>
        <p:cNvGrpSpPr/>
        <p:nvPr/>
      </p:nvGrpSpPr>
      <p:grpSpPr>
        <a:xfrm>
          <a:off x="0" y="0"/>
          <a:ext cx="0" cy="0"/>
          <a:chOff x="0" y="0"/>
          <a:chExt cx="0" cy="0"/>
        </a:xfrm>
      </p:grpSpPr>
      <p:grpSp>
        <p:nvGrpSpPr>
          <p:cNvPr id="13" name="组合 12">
            <a:extLst>
              <a:ext uri="{FF2B5EF4-FFF2-40B4-BE49-F238E27FC236}">
                <a16:creationId xmlns="" xmlns:a16="http://schemas.microsoft.com/office/drawing/2014/main" id="{9D81CE8A-FA6B-93FA-17F7-D116CE177A18}"/>
              </a:ext>
            </a:extLst>
          </p:cNvPr>
          <p:cNvGrpSpPr/>
          <p:nvPr/>
        </p:nvGrpSpPr>
        <p:grpSpPr>
          <a:xfrm>
            <a:off x="5129194" y="3387829"/>
            <a:ext cx="2693405" cy="997039"/>
            <a:chOff x="4052371" y="3299477"/>
            <a:chExt cx="5339067" cy="2119747"/>
          </a:xfrm>
        </p:grpSpPr>
        <p:sp>
          <p:nvSpPr>
            <p:cNvPr id="15" name="流程图: 摘录 14">
              <a:extLst>
                <a:ext uri="{FF2B5EF4-FFF2-40B4-BE49-F238E27FC236}">
                  <a16:creationId xmlns="" xmlns:a16="http://schemas.microsoft.com/office/drawing/2014/main" id="{9B39A045-6DBD-6C8A-EC6A-A54E2745C53C}"/>
                </a:ext>
              </a:extLst>
            </p:cNvPr>
            <p:cNvSpPr/>
            <p:nvPr/>
          </p:nvSpPr>
          <p:spPr>
            <a:xfrm>
              <a:off x="7608200" y="3299477"/>
              <a:ext cx="1783238" cy="2119747"/>
            </a:xfrm>
            <a:prstGeom prst="flowChartExtra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47">
                <a:solidFill>
                  <a:srgbClr val="002060"/>
                </a:solidFill>
              </a:endParaRPr>
            </a:p>
          </p:txBody>
        </p:sp>
        <p:grpSp>
          <p:nvGrpSpPr>
            <p:cNvPr id="19" name="组合 18">
              <a:extLst>
                <a:ext uri="{FF2B5EF4-FFF2-40B4-BE49-F238E27FC236}">
                  <a16:creationId xmlns="" xmlns:a16="http://schemas.microsoft.com/office/drawing/2014/main" id="{F7C3842B-293B-FB59-E257-37CDF0F93350}"/>
                </a:ext>
              </a:extLst>
            </p:cNvPr>
            <p:cNvGrpSpPr/>
            <p:nvPr/>
          </p:nvGrpSpPr>
          <p:grpSpPr>
            <a:xfrm>
              <a:off x="4052371" y="4247919"/>
              <a:ext cx="5287320" cy="750182"/>
              <a:chOff x="1259612" y="2465160"/>
              <a:chExt cx="2566300" cy="319992"/>
            </a:xfrm>
          </p:grpSpPr>
          <p:cxnSp>
            <p:nvCxnSpPr>
              <p:cNvPr id="27" name="Straight Connector 65">
                <a:extLst>
                  <a:ext uri="{FF2B5EF4-FFF2-40B4-BE49-F238E27FC236}">
                    <a16:creationId xmlns="" xmlns:a16="http://schemas.microsoft.com/office/drawing/2014/main" id="{669584F2-2C60-A872-31E5-B76802ACDC75}"/>
                  </a:ext>
                </a:extLst>
              </p:cNvPr>
              <p:cNvCxnSpPr>
                <a:cxnSpLocks/>
              </p:cNvCxnSpPr>
              <p:nvPr/>
            </p:nvCxnSpPr>
            <p:spPr>
              <a:xfrm flipH="1">
                <a:off x="1259612" y="2499063"/>
                <a:ext cx="1510061" cy="0"/>
              </a:xfrm>
              <a:prstGeom prst="line">
                <a:avLst/>
              </a:prstGeom>
              <a:ln w="9525">
                <a:solidFill>
                  <a:srgbClr val="C2996B"/>
                </a:solidFill>
                <a:tailEnd type="ova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3" name="矩形 47">
                <a:extLst>
                  <a:ext uri="{FF2B5EF4-FFF2-40B4-BE49-F238E27FC236}">
                    <a16:creationId xmlns="" xmlns:a16="http://schemas.microsoft.com/office/drawing/2014/main" id="{FB2312F9-BAE8-B362-04C8-3C15413D6781}"/>
                  </a:ext>
                </a:extLst>
              </p:cNvPr>
              <p:cNvSpPr/>
              <p:nvPr/>
            </p:nvSpPr>
            <p:spPr>
              <a:xfrm>
                <a:off x="3010617" y="2465160"/>
                <a:ext cx="815295" cy="319992"/>
              </a:xfrm>
              <a:prstGeom prst="rect">
                <a:avLst/>
              </a:prstGeom>
            </p:spPr>
            <p:txBody>
              <a:bodyPr wrap="square">
                <a:spAutoFit/>
              </a:bodyPr>
              <a:lstStyle/>
              <a:p>
                <a:pPr algn="ctr" defTabSz="430102"/>
                <a:r>
                  <a:rPr lang="zh-CN" altLang="en-US" sz="1693"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增值</a:t>
                </a:r>
              </a:p>
            </p:txBody>
          </p:sp>
        </p:grpSp>
      </p:grpSp>
      <p:sp>
        <p:nvSpPr>
          <p:cNvPr id="2" name="文本框 1">
            <a:extLst>
              <a:ext uri="{FF2B5EF4-FFF2-40B4-BE49-F238E27FC236}">
                <a16:creationId xmlns="" xmlns:a16="http://schemas.microsoft.com/office/drawing/2014/main" id="{D01A96DB-5B72-2675-3DEF-93A08D59CC46}"/>
              </a:ext>
            </a:extLst>
          </p:cNvPr>
          <p:cNvSpPr txBox="1"/>
          <p:nvPr/>
        </p:nvSpPr>
        <p:spPr>
          <a:xfrm>
            <a:off x="657040" y="2517993"/>
            <a:ext cx="4524483" cy="2600135"/>
          </a:xfrm>
          <a:prstGeom prst="rect">
            <a:avLst/>
          </a:prstGeom>
          <a:noFill/>
        </p:spPr>
        <p:txBody>
          <a:bodyPr wrap="square">
            <a:spAutoFit/>
          </a:bodyPr>
          <a:lstStyle/>
          <a:p>
            <a:pPr>
              <a:lnSpc>
                <a:spcPts val="1334"/>
              </a:lnSpc>
              <a:defRPr/>
            </a:pPr>
            <a:r>
              <a:rPr lang="zh-CN" altLang="en-US" sz="1600" b="1" dirty="0">
                <a:solidFill>
                  <a:srgbClr val="002060"/>
                </a:solidFill>
                <a:latin typeface="微软雅黑" panose="020B0503020204020204" pitchFamily="34" charset="-122"/>
                <a:ea typeface="微软雅黑" panose="020B0503020204020204" pitchFamily="34" charset="-122"/>
              </a:rPr>
              <a:t>第</a:t>
            </a:r>
            <a:r>
              <a:rPr lang="en-US" altLang="zh-CN" sz="1600" b="1" dirty="0">
                <a:solidFill>
                  <a:srgbClr val="002060"/>
                </a:solidFill>
                <a:latin typeface="微软雅黑" panose="020B0503020204020204" pitchFamily="34" charset="-122"/>
                <a:ea typeface="微软雅黑" panose="020B0503020204020204" pitchFamily="34" charset="-122"/>
              </a:rPr>
              <a:t>1</a:t>
            </a:r>
            <a:r>
              <a:rPr lang="zh-CN" altLang="en-US" sz="1600" b="1" dirty="0">
                <a:solidFill>
                  <a:srgbClr val="002060"/>
                </a:solidFill>
                <a:latin typeface="微软雅黑" panose="020B0503020204020204" pitchFamily="34" charset="-122"/>
                <a:ea typeface="微软雅黑" panose="020B0503020204020204" pitchFamily="34" charset="-122"/>
              </a:rPr>
              <a:t>步 </a:t>
            </a:r>
            <a:r>
              <a:rPr lang="en-US" altLang="zh-CN" sz="1600" b="1" dirty="0">
                <a:solidFill>
                  <a:srgbClr val="002060"/>
                </a:solidFill>
                <a:latin typeface="微软雅黑" panose="020B0503020204020204" pitchFamily="34" charset="-122"/>
                <a:ea typeface="微软雅黑" panose="020B0503020204020204" pitchFamily="34" charset="-122"/>
              </a:rPr>
              <a:t>— </a:t>
            </a:r>
            <a:r>
              <a:rPr lang="zh-CN" altLang="en-US" sz="1600" b="1" dirty="0">
                <a:solidFill>
                  <a:srgbClr val="002060"/>
                </a:solidFill>
                <a:latin typeface="微软雅黑" panose="020B0503020204020204" pitchFamily="34" charset="-122"/>
                <a:ea typeface="微软雅黑" panose="020B0503020204020204" pitchFamily="34" charset="-122"/>
              </a:rPr>
              <a:t>账户与资金规划</a:t>
            </a:r>
            <a:endParaRPr lang="en-US" altLang="zh-CN" sz="1600"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2070"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r>
              <a:rPr lang="zh-CN" altLang="en-US" sz="2070" b="1" dirty="0">
                <a:solidFill>
                  <a:srgbClr val="002060"/>
                </a:solidFill>
                <a:latin typeface="微软雅黑" panose="020B0503020204020204" pitchFamily="34" charset="-122"/>
                <a:ea typeface="微软雅黑" panose="020B0503020204020204" pitchFamily="34" charset="-122"/>
              </a:rPr>
              <a:t>第</a:t>
            </a:r>
            <a:r>
              <a:rPr lang="en-US" altLang="zh-CN" sz="2070" b="1" dirty="0">
                <a:solidFill>
                  <a:srgbClr val="002060"/>
                </a:solidFill>
                <a:latin typeface="微软雅黑" panose="020B0503020204020204" pitchFamily="34" charset="-122"/>
                <a:ea typeface="微软雅黑" panose="020B0503020204020204" pitchFamily="34" charset="-122"/>
              </a:rPr>
              <a:t>2</a:t>
            </a:r>
            <a:r>
              <a:rPr lang="zh-CN" altLang="en-US" sz="2070" b="1" dirty="0">
                <a:solidFill>
                  <a:srgbClr val="002060"/>
                </a:solidFill>
                <a:latin typeface="微软雅黑" panose="020B0503020204020204" pitchFamily="34" charset="-122"/>
                <a:ea typeface="微软雅黑" panose="020B0503020204020204" pitchFamily="34" charset="-122"/>
              </a:rPr>
              <a:t>步</a:t>
            </a:r>
            <a:r>
              <a:rPr lang="en-US" altLang="zh-CN" sz="2400" b="1" dirty="0">
                <a:solidFill>
                  <a:srgbClr val="002060"/>
                </a:solidFill>
                <a:latin typeface="微软雅黑" panose="020B0503020204020204" pitchFamily="34" charset="-122"/>
                <a:ea typeface="微软雅黑" panose="020B0503020204020204" pitchFamily="34" charset="-122"/>
              </a:rPr>
              <a:t>—</a:t>
            </a:r>
            <a:r>
              <a:rPr lang="zh-CN" altLang="en-US" sz="2070" b="1" dirty="0">
                <a:solidFill>
                  <a:srgbClr val="002060"/>
                </a:solidFill>
                <a:latin typeface="微软雅黑" panose="020B0503020204020204" pitchFamily="34" charset="-122"/>
                <a:ea typeface="微软雅黑" panose="020B0503020204020204" pitchFamily="34" charset="-122"/>
              </a:rPr>
              <a:t>资产与策略配置：增值部分</a:t>
            </a:r>
            <a:endParaRPr lang="en-US" altLang="zh-CN" sz="2070"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317" b="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r>
              <a:rPr lang="zh-CN" altLang="en-US" sz="1317" i="1" dirty="0">
                <a:solidFill>
                  <a:srgbClr val="002060"/>
                </a:solidFill>
                <a:latin typeface="微软雅黑" panose="020B0503020204020204" pitchFamily="34" charset="-122"/>
                <a:ea typeface="微软雅黑" panose="020B0503020204020204" pitchFamily="34" charset="-122"/>
              </a:rPr>
              <a:t>对应高净客户的机会成本，捕捉产业趋势</a:t>
            </a:r>
            <a:endParaRPr lang="en-US" altLang="zh-CN" sz="1317" i="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endParaRPr lang="en-US" altLang="zh-CN" sz="1317" i="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r>
              <a:rPr lang="zh-CN" altLang="en-US" sz="1317" i="1" dirty="0">
                <a:solidFill>
                  <a:srgbClr val="002060"/>
                </a:solidFill>
                <a:latin typeface="微软雅黑" panose="020B0503020204020204" pitchFamily="34" charset="-122"/>
                <a:ea typeface="微软雅黑" panose="020B0503020204020204" pitchFamily="34" charset="-122"/>
              </a:rPr>
              <a:t>期望战胜通胀与货币增速，长期保值增值</a:t>
            </a:r>
            <a:endParaRPr lang="en-US" altLang="zh-CN" sz="1317" i="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endParaRPr lang="en-US" altLang="zh-CN" sz="1317" i="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r>
              <a:rPr lang="zh-CN" altLang="en-US" sz="1317" i="1" dirty="0">
                <a:solidFill>
                  <a:srgbClr val="002060"/>
                </a:solidFill>
                <a:latin typeface="微软雅黑" panose="020B0503020204020204" pitchFamily="34" charset="-122"/>
                <a:ea typeface="微软雅黑" panose="020B0503020204020204" pitchFamily="34" charset="-122"/>
              </a:rPr>
              <a:t>兼顾胜率和赔率，承受波动，追求高收益</a:t>
            </a:r>
            <a:endParaRPr lang="en-US" altLang="zh-CN" sz="1317" i="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693"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r>
              <a:rPr lang="zh-CN" altLang="en-US" sz="1599" b="1" dirty="0">
                <a:solidFill>
                  <a:srgbClr val="002060"/>
                </a:solidFill>
                <a:latin typeface="微软雅黑" panose="020B0503020204020204" pitchFamily="34" charset="-122"/>
                <a:ea typeface="微软雅黑" panose="020B0503020204020204" pitchFamily="34" charset="-122"/>
              </a:rPr>
              <a:t>第</a:t>
            </a:r>
            <a:r>
              <a:rPr lang="en-US" altLang="zh-CN" sz="1599" b="1" dirty="0">
                <a:solidFill>
                  <a:srgbClr val="002060"/>
                </a:solidFill>
                <a:latin typeface="微软雅黑" panose="020B0503020204020204" pitchFamily="34" charset="-122"/>
                <a:ea typeface="微软雅黑" panose="020B0503020204020204" pitchFamily="34" charset="-122"/>
              </a:rPr>
              <a:t>3</a:t>
            </a:r>
            <a:r>
              <a:rPr lang="zh-CN" altLang="en-US" sz="1599" b="1" dirty="0">
                <a:solidFill>
                  <a:srgbClr val="002060"/>
                </a:solidFill>
                <a:latin typeface="微软雅黑" panose="020B0503020204020204" pitchFamily="34" charset="-122"/>
                <a:ea typeface="微软雅黑" panose="020B0503020204020204" pitchFamily="34" charset="-122"/>
              </a:rPr>
              <a:t>步 </a:t>
            </a:r>
            <a:r>
              <a:rPr lang="en-US" altLang="zh-CN" sz="1599" b="1" dirty="0">
                <a:solidFill>
                  <a:srgbClr val="002060"/>
                </a:solidFill>
                <a:latin typeface="微软雅黑" panose="020B0503020204020204" pitchFamily="34" charset="-122"/>
                <a:ea typeface="微软雅黑" panose="020B0503020204020204" pitchFamily="34" charset="-122"/>
              </a:rPr>
              <a:t>— </a:t>
            </a:r>
            <a:r>
              <a:rPr lang="zh-CN" altLang="en-US" sz="1599" b="1" dirty="0">
                <a:solidFill>
                  <a:srgbClr val="002060"/>
                </a:solidFill>
                <a:latin typeface="微软雅黑" panose="020B0503020204020204" pitchFamily="34" charset="-122"/>
                <a:ea typeface="微软雅黑" panose="020B0503020204020204" pitchFamily="34" charset="-122"/>
              </a:rPr>
              <a:t>产品匹配</a:t>
            </a:r>
            <a:endParaRPr lang="en-US" altLang="zh-CN" sz="1599" b="1" dirty="0">
              <a:solidFill>
                <a:srgbClr val="00206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 xmlns:a16="http://schemas.microsoft.com/office/drawing/2014/main" id="{B6D41B00-DC84-A738-5A4A-326986855CAE}"/>
              </a:ext>
            </a:extLst>
          </p:cNvPr>
          <p:cNvSpPr txBox="1"/>
          <p:nvPr/>
        </p:nvSpPr>
        <p:spPr>
          <a:xfrm>
            <a:off x="8132320" y="2726810"/>
            <a:ext cx="3556299" cy="1875257"/>
          </a:xfrm>
          <a:prstGeom prst="rect">
            <a:avLst/>
          </a:prstGeom>
          <a:noFill/>
        </p:spPr>
        <p:txBody>
          <a:bodyPr wrap="square" rtlCol="0">
            <a:spAutoFit/>
          </a:bodyPr>
          <a:lstStyle/>
          <a:p>
            <a:pPr marL="732923" lvl="1" indent="-215067" defTabSz="430102">
              <a:lnSpc>
                <a:spcPct val="200000"/>
              </a:lnSpc>
              <a:buFont typeface="Wingdings" panose="05000000000000000000" pitchFamily="2" charset="2"/>
              <a:buChar char="ü"/>
            </a:pPr>
            <a:r>
              <a:rPr lang="zh-CN" altLang="en-US" sz="1505" b="1" kern="0" spc="63" dirty="0">
                <a:solidFill>
                  <a:srgbClr val="002060"/>
                </a:solidFill>
                <a:latin typeface="微软雅黑" panose="020B0503020204020204" pitchFamily="34" charset="-122"/>
                <a:ea typeface="微软雅黑" panose="020B0503020204020204" pitchFamily="34" charset="-122"/>
              </a:rPr>
              <a:t>宏观产业趋势 </a:t>
            </a:r>
            <a:r>
              <a:rPr lang="en-US" altLang="zh-CN" sz="1505" b="1" kern="0" spc="63" dirty="0">
                <a:solidFill>
                  <a:srgbClr val="002060"/>
                </a:solidFill>
                <a:latin typeface="微软雅黑" panose="020B0503020204020204" pitchFamily="34" charset="-122"/>
                <a:ea typeface="微软雅黑" panose="020B0503020204020204" pitchFamily="34" charset="-122"/>
              </a:rPr>
              <a:t>–</a:t>
            </a:r>
            <a:r>
              <a:rPr lang="zh-CN" altLang="en-US" sz="1505" b="1" kern="0" spc="63" dirty="0">
                <a:solidFill>
                  <a:srgbClr val="002060"/>
                </a:solidFill>
                <a:latin typeface="微软雅黑" panose="020B0503020204020204" pitchFamily="34" charset="-122"/>
                <a:ea typeface="微软雅黑" panose="020B0503020204020204" pitchFamily="34" charset="-122"/>
              </a:rPr>
              <a:t> </a:t>
            </a:r>
            <a:r>
              <a:rPr lang="en-US" altLang="zh-CN" sz="1505" b="1" i="1" kern="0" spc="63" dirty="0">
                <a:solidFill>
                  <a:srgbClr val="002060"/>
                </a:solidFill>
                <a:latin typeface="微软雅黑" panose="020B0503020204020204" pitchFamily="34" charset="-122"/>
                <a:ea typeface="微软雅黑" panose="020B0503020204020204" pitchFamily="34" charset="-122"/>
              </a:rPr>
              <a:t>50%</a:t>
            </a:r>
          </a:p>
          <a:p>
            <a:pPr marL="732923" lvl="1" indent="-215067" defTabSz="430102">
              <a:lnSpc>
                <a:spcPct val="200000"/>
              </a:lnSpc>
              <a:buFont typeface="Wingdings" panose="05000000000000000000" pitchFamily="2" charset="2"/>
              <a:buChar char="ü"/>
            </a:pPr>
            <a:r>
              <a:rPr lang="zh-CN" altLang="en-US" sz="1505" b="1" kern="0" spc="63" dirty="0">
                <a:solidFill>
                  <a:srgbClr val="002060"/>
                </a:solidFill>
                <a:latin typeface="微软雅黑" panose="020B0503020204020204" pitchFamily="34" charset="-122"/>
                <a:ea typeface="微软雅黑" panose="020B0503020204020204" pitchFamily="34" charset="-122"/>
              </a:rPr>
              <a:t>指数及指数增强 </a:t>
            </a:r>
            <a:r>
              <a:rPr lang="en-US" altLang="zh-CN" sz="1505" b="1" i="1" kern="0" spc="63" dirty="0">
                <a:solidFill>
                  <a:srgbClr val="002060"/>
                </a:solidFill>
                <a:latin typeface="微软雅黑" panose="020B0503020204020204" pitchFamily="34" charset="-122"/>
                <a:ea typeface="微软雅黑" panose="020B0503020204020204" pitchFamily="34" charset="-122"/>
              </a:rPr>
              <a:t>– 50%</a:t>
            </a:r>
          </a:p>
          <a:p>
            <a:pPr marL="732923" lvl="1" indent="-215067" defTabSz="430102">
              <a:lnSpc>
                <a:spcPct val="200000"/>
              </a:lnSpc>
              <a:buFont typeface="Wingdings" panose="05000000000000000000" pitchFamily="2" charset="2"/>
              <a:buChar char="ü"/>
            </a:pPr>
            <a:r>
              <a:rPr lang="zh-CN" altLang="en-US" sz="1505" b="1" strike="sngStrike" kern="0" spc="63" dirty="0">
                <a:solidFill>
                  <a:schemeClr val="bg1">
                    <a:lumMod val="50000"/>
                  </a:schemeClr>
                </a:solidFill>
                <a:latin typeface="微软雅黑" panose="020B0503020204020204" pitchFamily="34" charset="-122"/>
                <a:ea typeface="微软雅黑" panose="020B0503020204020204" pitchFamily="34" charset="-122"/>
              </a:rPr>
              <a:t>主观多头策略 </a:t>
            </a:r>
            <a:r>
              <a:rPr lang="en-US" altLang="zh-CN" sz="1505" b="1" strike="sngStrike" kern="0" spc="63" dirty="0">
                <a:solidFill>
                  <a:schemeClr val="bg1">
                    <a:lumMod val="50000"/>
                  </a:schemeClr>
                </a:solidFill>
                <a:latin typeface="微软雅黑" panose="020B0503020204020204" pitchFamily="34" charset="-122"/>
                <a:ea typeface="微软雅黑" panose="020B0503020204020204" pitchFamily="34" charset="-122"/>
              </a:rPr>
              <a:t>– 20%-</a:t>
            </a:r>
            <a:r>
              <a:rPr lang="en-US" altLang="zh-CN" sz="1505" b="1" i="1" strike="sngStrike" kern="0" spc="63" dirty="0">
                <a:solidFill>
                  <a:schemeClr val="bg1">
                    <a:lumMod val="50000"/>
                  </a:schemeClr>
                </a:solidFill>
                <a:latin typeface="微软雅黑" panose="020B0503020204020204" pitchFamily="34" charset="-122"/>
                <a:ea typeface="微软雅黑" panose="020B0503020204020204" pitchFamily="34" charset="-122"/>
              </a:rPr>
              <a:t>30%</a:t>
            </a:r>
          </a:p>
          <a:p>
            <a:pPr marL="732923" lvl="1" indent="-215067" defTabSz="430102">
              <a:lnSpc>
                <a:spcPct val="200000"/>
              </a:lnSpc>
              <a:buFont typeface="Wingdings" panose="05000000000000000000" pitchFamily="2" charset="2"/>
              <a:buChar char="ü"/>
            </a:pPr>
            <a:r>
              <a:rPr lang="zh-CN" altLang="en-US" sz="1505" b="1" strike="sngStrike" kern="0" spc="63" dirty="0">
                <a:solidFill>
                  <a:schemeClr val="bg1">
                    <a:lumMod val="50000"/>
                  </a:schemeClr>
                </a:solidFill>
                <a:latin typeface="微软雅黑" panose="020B0503020204020204" pitchFamily="34" charset="-122"/>
                <a:ea typeface="微软雅黑" panose="020B0503020204020204" pitchFamily="34" charset="-122"/>
              </a:rPr>
              <a:t>多策略及其他 </a:t>
            </a:r>
            <a:r>
              <a:rPr lang="en-US" altLang="zh-CN" sz="1505" b="1" strike="sngStrike" kern="0" spc="63" dirty="0">
                <a:solidFill>
                  <a:schemeClr val="bg1">
                    <a:lumMod val="50000"/>
                  </a:schemeClr>
                </a:solidFill>
                <a:latin typeface="微软雅黑" panose="020B0503020204020204" pitchFamily="34" charset="-122"/>
                <a:ea typeface="微软雅黑" panose="020B0503020204020204" pitchFamily="34" charset="-122"/>
              </a:rPr>
              <a:t>– 10%-</a:t>
            </a:r>
            <a:r>
              <a:rPr lang="en-US" altLang="zh-CN" sz="1505" b="1" i="1" strike="sngStrike" kern="0" spc="63" dirty="0">
                <a:solidFill>
                  <a:schemeClr val="bg1">
                    <a:lumMod val="50000"/>
                  </a:schemeClr>
                </a:solidFill>
                <a:latin typeface="微软雅黑" panose="020B0503020204020204" pitchFamily="34" charset="-122"/>
                <a:ea typeface="微软雅黑" panose="020B0503020204020204" pitchFamily="34" charset="-122"/>
              </a:rPr>
              <a:t>20%</a:t>
            </a:r>
          </a:p>
        </p:txBody>
      </p:sp>
      <p:sp>
        <p:nvSpPr>
          <p:cNvPr id="6" name="Text 1">
            <a:extLst>
              <a:ext uri="{FF2B5EF4-FFF2-40B4-BE49-F238E27FC236}">
                <a16:creationId xmlns="" xmlns:a16="http://schemas.microsoft.com/office/drawing/2014/main" id="{3025E1BA-B370-63AC-0497-FF2C9042CA3E}"/>
              </a:ext>
            </a:extLst>
          </p:cNvPr>
          <p:cNvSpPr/>
          <p:nvPr/>
        </p:nvSpPr>
        <p:spPr>
          <a:xfrm>
            <a:off x="451842" y="438150"/>
            <a:ext cx="323850" cy="266700"/>
          </a:xfrm>
          <a:prstGeom prst="rect">
            <a:avLst/>
          </a:prstGeom>
          <a:noFill/>
          <a:ln/>
        </p:spPr>
        <p:txBody>
          <a:bodyPr wrap="square" lIns="0" tIns="0" rIns="0" bIns="0" rtlCol="0" anchor="ctr"/>
          <a:lstStyle/>
          <a:p>
            <a:pPr>
              <a:lnSpc>
                <a:spcPct val="130000"/>
              </a:lnSpc>
            </a:pPr>
            <a:r>
              <a:rPr lang="en-US" sz="1350" b="1">
                <a:solidFill>
                  <a:srgbClr val="F9FAFB"/>
                </a:solidFill>
                <a:latin typeface="思源宋体" pitchFamily="34" charset="0"/>
                <a:ea typeface="思源宋体" pitchFamily="34" charset="-122"/>
                <a:cs typeface="思源宋体" pitchFamily="34" charset="-120"/>
              </a:rPr>
              <a:t>2.2</a:t>
            </a:r>
            <a:endParaRPr lang="en-US" sz="1600" dirty="0"/>
          </a:p>
        </p:txBody>
      </p:sp>
      <p:sp>
        <p:nvSpPr>
          <p:cNvPr id="9" name="Text 1">
            <a:extLst>
              <a:ext uri="{FF2B5EF4-FFF2-40B4-BE49-F238E27FC236}">
                <a16:creationId xmlns="" xmlns:a16="http://schemas.microsoft.com/office/drawing/2014/main" id="{42C142E2-B7A9-8364-51FB-6999D073F95C}"/>
              </a:ext>
            </a:extLst>
          </p:cNvPr>
          <p:cNvSpPr/>
          <p:nvPr/>
        </p:nvSpPr>
        <p:spPr>
          <a:xfrm>
            <a:off x="502643" y="446611"/>
            <a:ext cx="323850" cy="266700"/>
          </a:xfrm>
          <a:prstGeom prst="rect">
            <a:avLst/>
          </a:prstGeom>
          <a:noFill/>
          <a:ln/>
        </p:spPr>
        <p:txBody>
          <a:bodyPr wrap="square" lIns="0" tIns="0" rIns="0" bIns="0" rtlCol="0" anchor="ctr"/>
          <a:lstStyle/>
          <a:p>
            <a:pPr>
              <a:lnSpc>
                <a:spcPct val="130000"/>
              </a:lnSpc>
            </a:pPr>
            <a:r>
              <a:rPr lang="en-US" sz="1350" b="1" dirty="0">
                <a:solidFill>
                  <a:srgbClr val="F9FAFB"/>
                </a:solidFill>
                <a:latin typeface="思源宋体" pitchFamily="34" charset="0"/>
                <a:ea typeface="思源宋体" pitchFamily="34" charset="-122"/>
                <a:cs typeface="思源宋体" pitchFamily="34" charset="-120"/>
              </a:rPr>
              <a:t>2.3</a:t>
            </a:r>
            <a:endParaRPr lang="en-US" sz="1600" dirty="0"/>
          </a:p>
        </p:txBody>
      </p:sp>
      <p:sp>
        <p:nvSpPr>
          <p:cNvPr id="5" name="标题 1">
            <a:extLst>
              <a:ext uri="{FF2B5EF4-FFF2-40B4-BE49-F238E27FC236}">
                <a16:creationId xmlns="" xmlns:a16="http://schemas.microsoft.com/office/drawing/2014/main" id="{E7AF2ACD-382D-7220-C85C-FB8A6C9CD4DD}"/>
              </a:ext>
            </a:extLst>
          </p:cNvPr>
          <p:cNvSpPr txBox="1">
            <a:spLocks/>
          </p:cNvSpPr>
          <p:nvPr/>
        </p:nvSpPr>
        <p:spPr>
          <a:xfrm>
            <a:off x="652371" y="120161"/>
            <a:ext cx="10625229" cy="1147053"/>
          </a:xfrm>
          <a:prstGeom prst="rect">
            <a:avLst/>
          </a:prstGeom>
        </p:spPr>
        <p:txBody>
          <a:bodyPr/>
          <a:lst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a:lstStyle>
          <a:p>
            <a:r>
              <a:rPr lang="en-US" altLang="zh-CN" dirty="0"/>
              <a:t>10-90</a:t>
            </a:r>
            <a:r>
              <a:rPr lang="zh-CN" altLang="en-US" dirty="0"/>
              <a:t>账户样板间的策略配置</a:t>
            </a:r>
          </a:p>
        </p:txBody>
      </p:sp>
    </p:spTree>
    <p:extLst>
      <p:ext uri="{BB962C8B-B14F-4D97-AF65-F5344CB8AC3E}">
        <p14:creationId xmlns:p14="http://schemas.microsoft.com/office/powerpoint/2010/main" val="3756272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143B2C3-D8FE-8F19-8C76-9E27C4AC596C}"/>
            </a:ext>
          </a:extLst>
        </p:cNvPr>
        <p:cNvGrpSpPr/>
        <p:nvPr/>
      </p:nvGrpSpPr>
      <p:grpSpPr>
        <a:xfrm>
          <a:off x="0" y="0"/>
          <a:ext cx="0" cy="0"/>
          <a:chOff x="0" y="0"/>
          <a:chExt cx="0" cy="0"/>
        </a:xfrm>
      </p:grpSpPr>
      <p:grpSp>
        <p:nvGrpSpPr>
          <p:cNvPr id="13" name="组合 12">
            <a:extLst>
              <a:ext uri="{FF2B5EF4-FFF2-40B4-BE49-F238E27FC236}">
                <a16:creationId xmlns="" xmlns:a16="http://schemas.microsoft.com/office/drawing/2014/main" id="{9D81CE8A-FA6B-93FA-17F7-D116CE177A18}"/>
              </a:ext>
            </a:extLst>
          </p:cNvPr>
          <p:cNvGrpSpPr/>
          <p:nvPr/>
        </p:nvGrpSpPr>
        <p:grpSpPr>
          <a:xfrm>
            <a:off x="5934930" y="3147364"/>
            <a:ext cx="1596046" cy="1420637"/>
            <a:chOff x="6337446" y="7072019"/>
            <a:chExt cx="3777370" cy="3888433"/>
          </a:xfrm>
        </p:grpSpPr>
        <p:sp>
          <p:nvSpPr>
            <p:cNvPr id="14" name="梯形 13">
              <a:extLst>
                <a:ext uri="{FF2B5EF4-FFF2-40B4-BE49-F238E27FC236}">
                  <a16:creationId xmlns="" xmlns:a16="http://schemas.microsoft.com/office/drawing/2014/main" id="{1925DD7A-7842-9ED3-9D74-90EC49350B00}"/>
                </a:ext>
              </a:extLst>
            </p:cNvPr>
            <p:cNvSpPr/>
            <p:nvPr/>
          </p:nvSpPr>
          <p:spPr>
            <a:xfrm>
              <a:off x="6337446" y="7072019"/>
              <a:ext cx="3777370" cy="3888433"/>
            </a:xfrm>
            <a:prstGeom prst="trapezoid">
              <a:avLst>
                <a:gd name="adj" fmla="val 27338"/>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47" dirty="0">
                <a:solidFill>
                  <a:srgbClr val="002060"/>
                </a:solidFill>
              </a:endParaRPr>
            </a:p>
          </p:txBody>
        </p:sp>
        <p:sp>
          <p:nvSpPr>
            <p:cNvPr id="42" name="矩形 47">
              <a:extLst>
                <a:ext uri="{FF2B5EF4-FFF2-40B4-BE49-F238E27FC236}">
                  <a16:creationId xmlns="" xmlns:a16="http://schemas.microsoft.com/office/drawing/2014/main" id="{906BC926-9F12-B222-29E2-FC9A6C9FAC2D}"/>
                </a:ext>
              </a:extLst>
            </p:cNvPr>
            <p:cNvSpPr/>
            <p:nvPr/>
          </p:nvSpPr>
          <p:spPr>
            <a:xfrm>
              <a:off x="6480835" y="8920279"/>
              <a:ext cx="3490587" cy="795378"/>
            </a:xfrm>
            <a:prstGeom prst="rect">
              <a:avLst/>
            </a:prstGeom>
          </p:spPr>
          <p:txBody>
            <a:bodyPr wrap="square">
              <a:spAutoFit/>
            </a:bodyPr>
            <a:lstStyle/>
            <a:p>
              <a:pPr algn="ctr" defTabSz="430102">
                <a:lnSpc>
                  <a:spcPts val="1255"/>
                </a:lnSpc>
              </a:pPr>
              <a:r>
                <a:rPr lang="zh-CN" altLang="en-US" sz="24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生息</a:t>
              </a:r>
            </a:p>
          </p:txBody>
        </p:sp>
      </p:grpSp>
      <p:cxnSp>
        <p:nvCxnSpPr>
          <p:cNvPr id="63" name="Straight Connector 65">
            <a:extLst>
              <a:ext uri="{FF2B5EF4-FFF2-40B4-BE49-F238E27FC236}">
                <a16:creationId xmlns="" xmlns:a16="http://schemas.microsoft.com/office/drawing/2014/main" id="{89728797-BFDD-00A0-4C40-065576DB57DB}"/>
              </a:ext>
            </a:extLst>
          </p:cNvPr>
          <p:cNvCxnSpPr>
            <a:cxnSpLocks/>
          </p:cNvCxnSpPr>
          <p:nvPr/>
        </p:nvCxnSpPr>
        <p:spPr>
          <a:xfrm flipH="1">
            <a:off x="5246881" y="3883339"/>
            <a:ext cx="746795" cy="0"/>
          </a:xfrm>
          <a:prstGeom prst="line">
            <a:avLst/>
          </a:prstGeom>
          <a:ln w="9525">
            <a:solidFill>
              <a:srgbClr val="C2996B"/>
            </a:solidFill>
            <a:tailEnd type="ova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 xmlns:a16="http://schemas.microsoft.com/office/drawing/2014/main" id="{F734DD45-9959-0F3D-9E4B-4D6447DA567A}"/>
              </a:ext>
            </a:extLst>
          </p:cNvPr>
          <p:cNvSpPr txBox="1"/>
          <p:nvPr/>
        </p:nvSpPr>
        <p:spPr>
          <a:xfrm>
            <a:off x="657040" y="2517993"/>
            <a:ext cx="4524483" cy="2766848"/>
          </a:xfrm>
          <a:prstGeom prst="rect">
            <a:avLst/>
          </a:prstGeom>
          <a:noFill/>
        </p:spPr>
        <p:txBody>
          <a:bodyPr wrap="square">
            <a:spAutoFit/>
          </a:bodyPr>
          <a:lstStyle/>
          <a:p>
            <a:pPr>
              <a:lnSpc>
                <a:spcPts val="1334"/>
              </a:lnSpc>
              <a:defRPr/>
            </a:pPr>
            <a:r>
              <a:rPr lang="zh-CN" altLang="en-US" sz="1600" b="1" dirty="0">
                <a:solidFill>
                  <a:srgbClr val="002060"/>
                </a:solidFill>
                <a:latin typeface="微软雅黑" panose="020B0503020204020204" pitchFamily="34" charset="-122"/>
                <a:ea typeface="微软雅黑" panose="020B0503020204020204" pitchFamily="34" charset="-122"/>
              </a:rPr>
              <a:t>第</a:t>
            </a:r>
            <a:r>
              <a:rPr lang="en-US" altLang="zh-CN" sz="1600" b="1" dirty="0">
                <a:solidFill>
                  <a:srgbClr val="002060"/>
                </a:solidFill>
                <a:latin typeface="微软雅黑" panose="020B0503020204020204" pitchFamily="34" charset="-122"/>
                <a:ea typeface="微软雅黑" panose="020B0503020204020204" pitchFamily="34" charset="-122"/>
              </a:rPr>
              <a:t>1</a:t>
            </a:r>
            <a:r>
              <a:rPr lang="zh-CN" altLang="en-US" sz="1600" b="1" dirty="0">
                <a:solidFill>
                  <a:srgbClr val="002060"/>
                </a:solidFill>
                <a:latin typeface="微软雅黑" panose="020B0503020204020204" pitchFamily="34" charset="-122"/>
                <a:ea typeface="微软雅黑" panose="020B0503020204020204" pitchFamily="34" charset="-122"/>
              </a:rPr>
              <a:t>步 </a:t>
            </a:r>
            <a:r>
              <a:rPr lang="en-US" altLang="zh-CN" sz="1600" b="1" dirty="0">
                <a:solidFill>
                  <a:srgbClr val="002060"/>
                </a:solidFill>
                <a:latin typeface="微软雅黑" panose="020B0503020204020204" pitchFamily="34" charset="-122"/>
                <a:ea typeface="微软雅黑" panose="020B0503020204020204" pitchFamily="34" charset="-122"/>
              </a:rPr>
              <a:t>— </a:t>
            </a:r>
            <a:r>
              <a:rPr lang="zh-CN" altLang="en-US" sz="1600" b="1" dirty="0">
                <a:solidFill>
                  <a:srgbClr val="002060"/>
                </a:solidFill>
                <a:latin typeface="微软雅黑" panose="020B0503020204020204" pitchFamily="34" charset="-122"/>
                <a:ea typeface="微软雅黑" panose="020B0503020204020204" pitchFamily="34" charset="-122"/>
              </a:rPr>
              <a:t>账户与资金规划</a:t>
            </a:r>
            <a:endParaRPr lang="en-US" altLang="zh-CN" sz="1600"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600"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2070"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r>
              <a:rPr lang="zh-CN" altLang="en-US" sz="2070" b="1" dirty="0">
                <a:solidFill>
                  <a:srgbClr val="002060"/>
                </a:solidFill>
                <a:latin typeface="微软雅黑" panose="020B0503020204020204" pitchFamily="34" charset="-122"/>
                <a:ea typeface="微软雅黑" panose="020B0503020204020204" pitchFamily="34" charset="-122"/>
              </a:rPr>
              <a:t>第</a:t>
            </a:r>
            <a:r>
              <a:rPr lang="en-US" altLang="zh-CN" sz="2070" b="1" dirty="0">
                <a:solidFill>
                  <a:srgbClr val="002060"/>
                </a:solidFill>
                <a:latin typeface="微软雅黑" panose="020B0503020204020204" pitchFamily="34" charset="-122"/>
                <a:ea typeface="微软雅黑" panose="020B0503020204020204" pitchFamily="34" charset="-122"/>
              </a:rPr>
              <a:t>2</a:t>
            </a:r>
            <a:r>
              <a:rPr lang="zh-CN" altLang="en-US" sz="2070" b="1" dirty="0">
                <a:solidFill>
                  <a:srgbClr val="002060"/>
                </a:solidFill>
                <a:latin typeface="微软雅黑" panose="020B0503020204020204" pitchFamily="34" charset="-122"/>
                <a:ea typeface="微软雅黑" panose="020B0503020204020204" pitchFamily="34" charset="-122"/>
              </a:rPr>
              <a:t>步：资产与策略配置：生息部分</a:t>
            </a:r>
            <a:endParaRPr lang="en-US" altLang="zh-CN" sz="2070"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317" b="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r>
              <a:rPr lang="zh-CN" altLang="en-US" sz="1317" i="1" dirty="0">
                <a:solidFill>
                  <a:srgbClr val="002060"/>
                </a:solidFill>
                <a:latin typeface="微软雅黑" panose="020B0503020204020204" pitchFamily="34" charset="-122"/>
                <a:ea typeface="微软雅黑" panose="020B0503020204020204" pitchFamily="34" charset="-122"/>
              </a:rPr>
              <a:t>追求持续稳定现金流，兼顾流动性和收益性</a:t>
            </a:r>
            <a:endParaRPr lang="en-US" altLang="zh-CN" sz="1317" i="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endParaRPr lang="en-US" altLang="zh-CN" sz="1317" i="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r>
              <a:rPr lang="zh-CN" altLang="en-US" sz="1317" i="1" dirty="0">
                <a:solidFill>
                  <a:srgbClr val="002060"/>
                </a:solidFill>
                <a:latin typeface="微软雅黑" panose="020B0503020204020204" pitchFamily="34" charset="-122"/>
                <a:ea typeface="微软雅黑" panose="020B0503020204020204" pitchFamily="34" charset="-122"/>
              </a:rPr>
              <a:t>胜率优先，以胜率为依据动态调整</a:t>
            </a:r>
            <a:endParaRPr lang="en-US" altLang="zh-CN" sz="1317" i="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endParaRPr lang="en-US" altLang="zh-CN" sz="1317" i="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r>
              <a:rPr lang="zh-CN" altLang="en-US" sz="1317" i="1" dirty="0">
                <a:solidFill>
                  <a:srgbClr val="002060"/>
                </a:solidFill>
                <a:latin typeface="微软雅黑" panose="020B0503020204020204" pitchFamily="34" charset="-122"/>
                <a:ea typeface="微软雅黑" panose="020B0503020204020204" pitchFamily="34" charset="-122"/>
              </a:rPr>
              <a:t>目标：战胜</a:t>
            </a:r>
            <a:r>
              <a:rPr lang="en-US" altLang="zh-CN" sz="1317" i="1" dirty="0">
                <a:solidFill>
                  <a:srgbClr val="002060"/>
                </a:solidFill>
                <a:latin typeface="微软雅黑" panose="020B0503020204020204" pitchFamily="34" charset="-122"/>
                <a:ea typeface="微软雅黑" panose="020B0503020204020204" pitchFamily="34" charset="-122"/>
              </a:rPr>
              <a:t>LC+4</a:t>
            </a:r>
          </a:p>
          <a:p>
            <a:pPr>
              <a:lnSpc>
                <a:spcPts val="1334"/>
              </a:lnSpc>
              <a:defRPr/>
            </a:pPr>
            <a:endParaRPr lang="en-US" altLang="zh-CN" sz="1693"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r>
              <a:rPr lang="zh-CN" altLang="en-US" sz="1600" b="1" dirty="0">
                <a:solidFill>
                  <a:srgbClr val="002060"/>
                </a:solidFill>
                <a:latin typeface="微软雅黑" panose="020B0503020204020204" pitchFamily="34" charset="-122"/>
                <a:ea typeface="微软雅黑" panose="020B0503020204020204" pitchFamily="34" charset="-122"/>
              </a:rPr>
              <a:t>第</a:t>
            </a:r>
            <a:r>
              <a:rPr lang="en-US" altLang="zh-CN" sz="1600" b="1" dirty="0">
                <a:solidFill>
                  <a:srgbClr val="002060"/>
                </a:solidFill>
                <a:latin typeface="微软雅黑" panose="020B0503020204020204" pitchFamily="34" charset="-122"/>
                <a:ea typeface="微软雅黑" panose="020B0503020204020204" pitchFamily="34" charset="-122"/>
              </a:rPr>
              <a:t>3</a:t>
            </a:r>
            <a:r>
              <a:rPr lang="zh-CN" altLang="en-US" sz="1600" b="1" dirty="0">
                <a:solidFill>
                  <a:srgbClr val="002060"/>
                </a:solidFill>
                <a:latin typeface="微软雅黑" panose="020B0503020204020204" pitchFamily="34" charset="-122"/>
                <a:ea typeface="微软雅黑" panose="020B0503020204020204" pitchFamily="34" charset="-122"/>
              </a:rPr>
              <a:t>步 </a:t>
            </a:r>
            <a:r>
              <a:rPr lang="en-US" altLang="zh-CN" sz="1600" b="1" dirty="0">
                <a:solidFill>
                  <a:srgbClr val="002060"/>
                </a:solidFill>
                <a:latin typeface="微软雅黑" panose="020B0503020204020204" pitchFamily="34" charset="-122"/>
                <a:ea typeface="微软雅黑" panose="020B0503020204020204" pitchFamily="34" charset="-122"/>
              </a:rPr>
              <a:t>— </a:t>
            </a:r>
            <a:r>
              <a:rPr lang="zh-CN" altLang="en-US" sz="1600" b="1" dirty="0">
                <a:solidFill>
                  <a:srgbClr val="002060"/>
                </a:solidFill>
                <a:latin typeface="微软雅黑" panose="020B0503020204020204" pitchFamily="34" charset="-122"/>
                <a:ea typeface="微软雅黑" panose="020B0503020204020204" pitchFamily="34" charset="-122"/>
              </a:rPr>
              <a:t>产品匹配</a:t>
            </a:r>
            <a:endParaRPr lang="en-US" altLang="zh-CN" sz="1599" b="1" dirty="0">
              <a:solidFill>
                <a:srgbClr val="002060"/>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 xmlns:a16="http://schemas.microsoft.com/office/drawing/2014/main" id="{117D39C4-EEB1-643F-FDCC-C1D9F9FC556A}"/>
              </a:ext>
            </a:extLst>
          </p:cNvPr>
          <p:cNvSpPr txBox="1"/>
          <p:nvPr/>
        </p:nvSpPr>
        <p:spPr>
          <a:xfrm>
            <a:off x="7743120" y="1569091"/>
            <a:ext cx="3550139" cy="4507068"/>
          </a:xfrm>
          <a:prstGeom prst="rect">
            <a:avLst/>
          </a:prstGeom>
          <a:noFill/>
        </p:spPr>
        <p:txBody>
          <a:bodyPr wrap="square" rtlCol="0">
            <a:spAutoFit/>
          </a:bodyPr>
          <a:lstStyle/>
          <a:p>
            <a:pPr marL="215067" indent="-215067" defTabSz="430102">
              <a:lnSpc>
                <a:spcPct val="150000"/>
              </a:lnSpc>
              <a:spcAft>
                <a:spcPts val="564"/>
              </a:spcAft>
              <a:buFont typeface="Arial" panose="020B0604020202020204" pitchFamily="34" charset="0"/>
              <a:buChar char="•"/>
            </a:pPr>
            <a:r>
              <a:rPr lang="zh-CN" altLang="en-US" sz="1400" b="1" strike="sngStrike" kern="0" spc="63" dirty="0">
                <a:solidFill>
                  <a:schemeClr val="bg1">
                    <a:lumMod val="50000"/>
                  </a:schemeClr>
                </a:solidFill>
                <a:latin typeface="微软雅黑" panose="020B0503020204020204" pitchFamily="34" charset="-122"/>
                <a:ea typeface="微软雅黑" panose="020B0503020204020204" pitchFamily="34" charset="-122"/>
              </a:rPr>
              <a:t>短期生息：流动性管理 </a:t>
            </a:r>
            <a:r>
              <a:rPr lang="en-US" altLang="zh-CN" sz="1400" b="1" i="1" strike="sngStrike" kern="0" spc="63" dirty="0">
                <a:solidFill>
                  <a:schemeClr val="bg1">
                    <a:lumMod val="50000"/>
                  </a:schemeClr>
                </a:solidFill>
                <a:latin typeface="微软雅黑" panose="020B0503020204020204" pitchFamily="34" charset="-122"/>
                <a:ea typeface="微软雅黑" panose="020B0503020204020204" pitchFamily="34" charset="-122"/>
              </a:rPr>
              <a:t>0-20%</a:t>
            </a:r>
          </a:p>
          <a:p>
            <a:pPr marL="215067" indent="-215067" defTabSz="430102">
              <a:lnSpc>
                <a:spcPct val="150000"/>
              </a:lnSpc>
              <a:spcAft>
                <a:spcPts val="564"/>
              </a:spcAft>
              <a:buFont typeface="Arial" panose="020B0604020202020204" pitchFamily="34" charset="0"/>
              <a:buChar char="•"/>
            </a:pPr>
            <a:r>
              <a:rPr lang="zh-CN" altLang="en-US" sz="1400" b="1" kern="0" spc="63" dirty="0">
                <a:solidFill>
                  <a:srgbClr val="002060"/>
                </a:solidFill>
                <a:latin typeface="微软雅黑" panose="020B0503020204020204" pitchFamily="34" charset="-122"/>
                <a:ea typeface="微软雅黑" panose="020B0503020204020204" pitchFamily="34" charset="-122"/>
              </a:rPr>
              <a:t>中期生息：传统债券固收 </a:t>
            </a:r>
            <a:r>
              <a:rPr lang="en-US" altLang="zh-CN" sz="1400" b="1" kern="0" spc="63" dirty="0">
                <a:solidFill>
                  <a:srgbClr val="002060"/>
                </a:solidFill>
                <a:latin typeface="微软雅黑" panose="020B0503020204020204" pitchFamily="34" charset="-122"/>
                <a:ea typeface="微软雅黑" panose="020B0503020204020204" pitchFamily="34" charset="-122"/>
              </a:rPr>
              <a:t>100</a:t>
            </a:r>
            <a:r>
              <a:rPr lang="en-US" altLang="zh-CN" sz="1400" b="1" i="1" kern="0" spc="63" dirty="0">
                <a:solidFill>
                  <a:srgbClr val="002060"/>
                </a:solidFill>
                <a:latin typeface="微软雅黑" panose="020B0503020204020204" pitchFamily="34" charset="-122"/>
                <a:ea typeface="微软雅黑" panose="020B0503020204020204" pitchFamily="34" charset="-122"/>
              </a:rPr>
              <a:t>%</a:t>
            </a:r>
          </a:p>
          <a:p>
            <a:pPr marL="672383" lvl="1" indent="-215067" defTabSz="430102">
              <a:lnSpc>
                <a:spcPct val="150000"/>
              </a:lnSpc>
              <a:spcAft>
                <a:spcPts val="564"/>
              </a:spcAft>
              <a:buFont typeface="Wingdings" panose="05000000000000000000" pitchFamily="2" charset="2"/>
              <a:buChar char="ü"/>
            </a:pPr>
            <a:r>
              <a:rPr lang="zh-CN" altLang="en-US" sz="1200" b="1" kern="0" spc="63" dirty="0">
                <a:solidFill>
                  <a:srgbClr val="002060"/>
                </a:solidFill>
                <a:latin typeface="微软雅黑" panose="020B0503020204020204" pitchFamily="34" charset="-122"/>
                <a:ea typeface="微软雅黑" panose="020B0503020204020204" pitchFamily="34" charset="-122"/>
              </a:rPr>
              <a:t>纯债策略（利率 信用）；</a:t>
            </a:r>
            <a:r>
              <a:rPr lang="zh-CN" altLang="en-US" sz="1200" b="1" strike="sngStrike" kern="0" spc="63" dirty="0">
                <a:solidFill>
                  <a:schemeClr val="bg1">
                    <a:lumMod val="50000"/>
                  </a:schemeClr>
                </a:solidFill>
                <a:latin typeface="微软雅黑" panose="020B0503020204020204" pitchFamily="34" charset="-122"/>
                <a:ea typeface="微软雅黑" panose="020B0503020204020204" pitchFamily="34" charset="-122"/>
              </a:rPr>
              <a:t>多元债券策略（久期 可转等）</a:t>
            </a:r>
            <a:endParaRPr lang="en-US" altLang="zh-CN" sz="1200" b="1" strike="sngStrike" kern="0" spc="63" dirty="0">
              <a:solidFill>
                <a:schemeClr val="bg1">
                  <a:lumMod val="50000"/>
                </a:schemeClr>
              </a:solidFill>
              <a:latin typeface="微软雅黑" panose="020B0503020204020204" pitchFamily="34" charset="-122"/>
              <a:ea typeface="微软雅黑" panose="020B0503020204020204" pitchFamily="34" charset="-122"/>
            </a:endParaRPr>
          </a:p>
          <a:p>
            <a:pPr marL="215067" indent="-215067" defTabSz="430102">
              <a:lnSpc>
                <a:spcPct val="150000"/>
              </a:lnSpc>
              <a:spcAft>
                <a:spcPts val="564"/>
              </a:spcAft>
              <a:buFont typeface="Arial" panose="020B0604020202020204" pitchFamily="34" charset="0"/>
              <a:buChar char="•"/>
            </a:pPr>
            <a:r>
              <a:rPr lang="zh-CN" altLang="en-US" sz="1400" b="1" strike="sngStrike" kern="0" spc="63" dirty="0">
                <a:solidFill>
                  <a:schemeClr val="bg1">
                    <a:lumMod val="50000"/>
                  </a:schemeClr>
                </a:solidFill>
                <a:latin typeface="微软雅黑" panose="020B0503020204020204" pitchFamily="34" charset="-122"/>
                <a:ea typeface="微软雅黑" panose="020B0503020204020204" pitchFamily="34" charset="-122"/>
              </a:rPr>
              <a:t>中期生息：结构化策略 </a:t>
            </a:r>
            <a:r>
              <a:rPr lang="en-US" altLang="zh-CN" sz="1400" b="1" i="1" strike="sngStrike" kern="0" spc="63" dirty="0">
                <a:solidFill>
                  <a:schemeClr val="bg1">
                    <a:lumMod val="50000"/>
                  </a:schemeClr>
                </a:solidFill>
                <a:latin typeface="微软雅黑" panose="020B0503020204020204" pitchFamily="34" charset="-122"/>
                <a:ea typeface="微软雅黑" panose="020B0503020204020204" pitchFamily="34" charset="-122"/>
              </a:rPr>
              <a:t>20-30%</a:t>
            </a:r>
          </a:p>
          <a:p>
            <a:pPr marL="672383" lvl="1" indent="-215067" defTabSz="430102">
              <a:lnSpc>
                <a:spcPct val="150000"/>
              </a:lnSpc>
              <a:spcAft>
                <a:spcPts val="564"/>
              </a:spcAft>
              <a:buFont typeface="Wingdings" panose="05000000000000000000" pitchFamily="2" charset="2"/>
              <a:buChar char="ü"/>
            </a:pPr>
            <a:r>
              <a:rPr lang="zh-CN" altLang="en-US" sz="1200" b="1" kern="0" spc="63" dirty="0">
                <a:solidFill>
                  <a:schemeClr val="bg1">
                    <a:lumMod val="50000"/>
                  </a:schemeClr>
                </a:solidFill>
                <a:latin typeface="微软雅黑" panose="020B0503020204020204" pitchFamily="34" charset="-122"/>
                <a:ea typeface="微软雅黑" panose="020B0503020204020204" pitchFamily="34" charset="-122"/>
              </a:rPr>
              <a:t>派息型结构化策略、雪球；其他波动生息策略</a:t>
            </a:r>
            <a:endParaRPr lang="en-US" altLang="zh-CN" sz="1200" b="1" kern="0" spc="63" dirty="0">
              <a:solidFill>
                <a:schemeClr val="bg1">
                  <a:lumMod val="50000"/>
                </a:schemeClr>
              </a:solidFill>
              <a:latin typeface="微软雅黑" panose="020B0503020204020204" pitchFamily="34" charset="-122"/>
              <a:ea typeface="微软雅黑" panose="020B0503020204020204" pitchFamily="34" charset="-122"/>
            </a:endParaRPr>
          </a:p>
          <a:p>
            <a:pPr marL="215067" indent="-215067" defTabSz="430102">
              <a:lnSpc>
                <a:spcPct val="150000"/>
              </a:lnSpc>
              <a:spcAft>
                <a:spcPts val="564"/>
              </a:spcAft>
              <a:buFont typeface="Arial" panose="020B0604020202020204" pitchFamily="34" charset="0"/>
              <a:buChar char="•"/>
            </a:pPr>
            <a:r>
              <a:rPr lang="zh-CN" altLang="en-US" sz="1400" b="1" strike="sngStrike" kern="0" spc="63" dirty="0">
                <a:solidFill>
                  <a:schemeClr val="bg1">
                    <a:lumMod val="50000"/>
                  </a:schemeClr>
                </a:solidFill>
                <a:latin typeface="微软雅黑" panose="020B0503020204020204" pitchFamily="34" charset="-122"/>
                <a:ea typeface="微软雅黑" panose="020B0503020204020204" pitchFamily="34" charset="-122"/>
              </a:rPr>
              <a:t>中期生息：多资产 </a:t>
            </a:r>
            <a:r>
              <a:rPr lang="en-US" altLang="zh-CN" sz="1400" b="1" i="1" strike="sngStrike" kern="0" spc="63" dirty="0">
                <a:solidFill>
                  <a:schemeClr val="bg1">
                    <a:lumMod val="50000"/>
                  </a:schemeClr>
                </a:solidFill>
                <a:latin typeface="微软雅黑" panose="020B0503020204020204" pitchFamily="34" charset="-122"/>
                <a:ea typeface="微软雅黑" panose="020B0503020204020204" pitchFamily="34" charset="-122"/>
              </a:rPr>
              <a:t>20-30%</a:t>
            </a:r>
          </a:p>
          <a:p>
            <a:pPr marL="672383" lvl="1" indent="-215067" defTabSz="430102">
              <a:lnSpc>
                <a:spcPct val="150000"/>
              </a:lnSpc>
              <a:spcAft>
                <a:spcPts val="564"/>
              </a:spcAft>
              <a:buFont typeface="Wingdings" panose="05000000000000000000" pitchFamily="2" charset="2"/>
              <a:buChar char="ü"/>
            </a:pPr>
            <a:r>
              <a:rPr lang="zh-CN" altLang="en-US" sz="1200" b="1" kern="0" spc="63" dirty="0">
                <a:solidFill>
                  <a:schemeClr val="bg1">
                    <a:lumMod val="50000"/>
                  </a:schemeClr>
                </a:solidFill>
                <a:latin typeface="微软雅黑" panose="020B0503020204020204" pitchFamily="34" charset="-122"/>
                <a:ea typeface="微软雅黑" panose="020B0503020204020204" pitchFamily="34" charset="-122"/>
              </a:rPr>
              <a:t>中低波的多资产“全天候”大类资产配置策略</a:t>
            </a:r>
            <a:endParaRPr lang="en-US" altLang="zh-CN" sz="1200" b="1" kern="0" spc="63" dirty="0">
              <a:solidFill>
                <a:schemeClr val="bg1">
                  <a:lumMod val="50000"/>
                </a:schemeClr>
              </a:solidFill>
              <a:latin typeface="微软雅黑" panose="020B0503020204020204" pitchFamily="34" charset="-122"/>
              <a:ea typeface="微软雅黑" panose="020B0503020204020204" pitchFamily="34" charset="-122"/>
            </a:endParaRPr>
          </a:p>
          <a:p>
            <a:pPr marL="215067" indent="-215067" defTabSz="430102">
              <a:lnSpc>
                <a:spcPct val="150000"/>
              </a:lnSpc>
              <a:spcAft>
                <a:spcPts val="564"/>
              </a:spcAft>
              <a:buFont typeface="Arial" panose="020B0604020202020204" pitchFamily="34" charset="0"/>
              <a:buChar char="•"/>
            </a:pPr>
            <a:r>
              <a:rPr lang="zh-CN" altLang="en-US" sz="1400" b="1" strike="sngStrike" kern="0" spc="63" dirty="0">
                <a:solidFill>
                  <a:schemeClr val="bg1">
                    <a:lumMod val="50000"/>
                  </a:schemeClr>
                </a:solidFill>
                <a:latin typeface="微软雅黑" panose="020B0503020204020204" pitchFamily="34" charset="-122"/>
                <a:ea typeface="微软雅黑" panose="020B0503020204020204" pitchFamily="34" charset="-122"/>
              </a:rPr>
              <a:t>中期生息：多策略 </a:t>
            </a:r>
            <a:r>
              <a:rPr lang="en-US" altLang="zh-CN" sz="1400" b="1" i="1" strike="sngStrike" kern="0" spc="63" dirty="0">
                <a:solidFill>
                  <a:schemeClr val="bg1">
                    <a:lumMod val="50000"/>
                  </a:schemeClr>
                </a:solidFill>
                <a:latin typeface="微软雅黑" panose="020B0503020204020204" pitchFamily="34" charset="-122"/>
                <a:ea typeface="微软雅黑" panose="020B0503020204020204" pitchFamily="34" charset="-122"/>
              </a:rPr>
              <a:t>20-30%</a:t>
            </a:r>
          </a:p>
          <a:p>
            <a:pPr marL="672383" lvl="1" indent="-215067" defTabSz="430102">
              <a:lnSpc>
                <a:spcPct val="150000"/>
              </a:lnSpc>
              <a:spcAft>
                <a:spcPts val="564"/>
              </a:spcAft>
              <a:buFont typeface="Wingdings" panose="05000000000000000000" pitchFamily="2" charset="2"/>
              <a:buChar char="ü"/>
            </a:pPr>
            <a:r>
              <a:rPr lang="zh-CN" altLang="en-US" sz="1200" b="1" kern="0" spc="63" dirty="0">
                <a:solidFill>
                  <a:schemeClr val="bg1">
                    <a:lumMod val="50000"/>
                  </a:schemeClr>
                </a:solidFill>
                <a:latin typeface="微软雅黑" panose="020B0503020204020204" pitchFamily="34" charset="-122"/>
                <a:ea typeface="微软雅黑" panose="020B0503020204020204" pitchFamily="34" charset="-122"/>
              </a:rPr>
              <a:t>绝对收益、市场中性及中低波的多策略</a:t>
            </a:r>
            <a:r>
              <a:rPr lang="en-US" altLang="zh-CN" sz="1200" b="1" kern="0" spc="63" dirty="0">
                <a:solidFill>
                  <a:schemeClr val="bg1">
                    <a:lumMod val="50000"/>
                  </a:schemeClr>
                </a:solidFill>
                <a:latin typeface="微软雅黑" panose="020B0503020204020204" pitchFamily="34" charset="-122"/>
                <a:ea typeface="微软雅黑" panose="020B0503020204020204" pitchFamily="34" charset="-122"/>
              </a:rPr>
              <a:t>FOF</a:t>
            </a:r>
            <a:r>
              <a:rPr lang="zh-CN" altLang="en-US" sz="1200" b="1" kern="0" spc="63" dirty="0">
                <a:solidFill>
                  <a:schemeClr val="bg1">
                    <a:lumMod val="50000"/>
                  </a:schemeClr>
                </a:solidFill>
                <a:latin typeface="微软雅黑" panose="020B0503020204020204" pitchFamily="34" charset="-122"/>
                <a:ea typeface="微软雅黑" panose="020B0503020204020204" pitchFamily="34" charset="-122"/>
              </a:rPr>
              <a:t>基金</a:t>
            </a:r>
            <a:endParaRPr lang="en-US" altLang="zh-CN" sz="1200" b="1" kern="0" spc="63"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 xmlns:a16="http://schemas.microsoft.com/office/drawing/2014/main" id="{B6113C99-6256-0908-B1A9-A78880C0BD7E}"/>
              </a:ext>
            </a:extLst>
          </p:cNvPr>
          <p:cNvSpPr txBox="1">
            <a:spLocks/>
          </p:cNvSpPr>
          <p:nvPr/>
        </p:nvSpPr>
        <p:spPr>
          <a:xfrm>
            <a:off x="622315" y="95162"/>
            <a:ext cx="10625229" cy="1147053"/>
          </a:xfrm>
          <a:prstGeom prst="rect">
            <a:avLst/>
          </a:prstGeom>
        </p:spPr>
        <p:txBody>
          <a:bodyPr/>
          <a:lst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a:lstStyle>
          <a:p>
            <a:r>
              <a:rPr lang="en-US" altLang="zh-CN" dirty="0"/>
              <a:t>10-90</a:t>
            </a:r>
            <a:r>
              <a:rPr lang="zh-CN" altLang="en-US" dirty="0"/>
              <a:t>账户样板间的策略配置</a:t>
            </a:r>
          </a:p>
        </p:txBody>
      </p:sp>
    </p:spTree>
    <p:extLst>
      <p:ext uri="{BB962C8B-B14F-4D97-AF65-F5344CB8AC3E}">
        <p14:creationId xmlns:p14="http://schemas.microsoft.com/office/powerpoint/2010/main" val="1269473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2543409-63B0-8AC1-8C01-0FD7E0187373}"/>
            </a:ext>
          </a:extLst>
        </p:cNvPr>
        <p:cNvGrpSpPr/>
        <p:nvPr/>
      </p:nvGrpSpPr>
      <p:grpSpPr>
        <a:xfrm>
          <a:off x="0" y="0"/>
          <a:ext cx="0" cy="0"/>
          <a:chOff x="0" y="0"/>
          <a:chExt cx="0" cy="0"/>
        </a:xfrm>
      </p:grpSpPr>
      <p:sp>
        <p:nvSpPr>
          <p:cNvPr id="6" name="标题 1">
            <a:extLst>
              <a:ext uri="{FF2B5EF4-FFF2-40B4-BE49-F238E27FC236}">
                <a16:creationId xmlns="" xmlns:a16="http://schemas.microsoft.com/office/drawing/2014/main" id="{088A8F4B-C332-24F4-2262-531C827CCFD9}"/>
              </a:ext>
            </a:extLst>
          </p:cNvPr>
          <p:cNvSpPr txBox="1">
            <a:spLocks/>
          </p:cNvSpPr>
          <p:nvPr/>
        </p:nvSpPr>
        <p:spPr>
          <a:xfrm>
            <a:off x="622315" y="95162"/>
            <a:ext cx="10625229" cy="1147053"/>
          </a:xfrm>
          <a:prstGeom prst="rect">
            <a:avLst/>
          </a:prstGeom>
        </p:spPr>
        <p:txBody>
          <a:bodyPr/>
          <a:lst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a:lstStyle>
          <a:p>
            <a:r>
              <a:rPr lang="en-US" altLang="zh-CN" dirty="0"/>
              <a:t>10-90</a:t>
            </a:r>
            <a:r>
              <a:rPr lang="zh-CN" altLang="en-US" dirty="0"/>
              <a:t>账户样板间的策略配置</a:t>
            </a:r>
          </a:p>
        </p:txBody>
      </p:sp>
      <p:grpSp>
        <p:nvGrpSpPr>
          <p:cNvPr id="2" name="组合 1">
            <a:extLst>
              <a:ext uri="{FF2B5EF4-FFF2-40B4-BE49-F238E27FC236}">
                <a16:creationId xmlns="" xmlns:a16="http://schemas.microsoft.com/office/drawing/2014/main" id="{A3D4A4F9-AA7C-9163-C130-B3ED172579DA}"/>
              </a:ext>
            </a:extLst>
          </p:cNvPr>
          <p:cNvGrpSpPr/>
          <p:nvPr/>
        </p:nvGrpSpPr>
        <p:grpSpPr>
          <a:xfrm>
            <a:off x="5719475" y="3245605"/>
            <a:ext cx="2296991" cy="460839"/>
            <a:chOff x="6056085" y="12522075"/>
            <a:chExt cx="4553266" cy="979760"/>
          </a:xfrm>
        </p:grpSpPr>
        <p:sp>
          <p:nvSpPr>
            <p:cNvPr id="3" name="矩形 47">
              <a:extLst>
                <a:ext uri="{FF2B5EF4-FFF2-40B4-BE49-F238E27FC236}">
                  <a16:creationId xmlns="" xmlns:a16="http://schemas.microsoft.com/office/drawing/2014/main" id="{86A9D5CB-5A47-A6E3-585B-3D2ABF42C0A7}"/>
                </a:ext>
              </a:extLst>
            </p:cNvPr>
            <p:cNvSpPr/>
            <p:nvPr/>
          </p:nvSpPr>
          <p:spPr>
            <a:xfrm>
              <a:off x="7041379" y="12762417"/>
              <a:ext cx="2814080" cy="596406"/>
            </a:xfrm>
            <a:prstGeom prst="rect">
              <a:avLst/>
            </a:prstGeom>
          </p:spPr>
          <p:txBody>
            <a:bodyPr wrap="square">
              <a:spAutoFit/>
            </a:bodyPr>
            <a:lstStyle/>
            <a:p>
              <a:pPr algn="ctr" defTabSz="430102">
                <a:lnSpc>
                  <a:spcPts val="1255"/>
                </a:lnSpc>
              </a:pPr>
              <a:r>
                <a:rPr lang="zh-CN" altLang="en-US" sz="207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保障</a:t>
              </a:r>
            </a:p>
          </p:txBody>
        </p:sp>
        <p:grpSp>
          <p:nvGrpSpPr>
            <p:cNvPr id="4" name="组合 3">
              <a:extLst>
                <a:ext uri="{FF2B5EF4-FFF2-40B4-BE49-F238E27FC236}">
                  <a16:creationId xmlns="" xmlns:a16="http://schemas.microsoft.com/office/drawing/2014/main" id="{77A357EC-5088-3E05-FDDA-266139F4C6D8}"/>
                </a:ext>
              </a:extLst>
            </p:cNvPr>
            <p:cNvGrpSpPr/>
            <p:nvPr/>
          </p:nvGrpSpPr>
          <p:grpSpPr>
            <a:xfrm>
              <a:off x="6056085" y="12522075"/>
              <a:ext cx="4553266" cy="979760"/>
              <a:chOff x="1534687" y="4601228"/>
              <a:chExt cx="1606423" cy="345666"/>
            </a:xfrm>
          </p:grpSpPr>
          <p:sp>
            <p:nvSpPr>
              <p:cNvPr id="7" name="矩形: 圆角 19">
                <a:extLst>
                  <a:ext uri="{FF2B5EF4-FFF2-40B4-BE49-F238E27FC236}">
                    <a16:creationId xmlns="" xmlns:a16="http://schemas.microsoft.com/office/drawing/2014/main" id="{22F9B159-6378-E695-0053-AB0C0C62AB57}"/>
                  </a:ext>
                </a:extLst>
              </p:cNvPr>
              <p:cNvSpPr/>
              <p:nvPr/>
            </p:nvSpPr>
            <p:spPr>
              <a:xfrm>
                <a:off x="1534687" y="4601228"/>
                <a:ext cx="1606423" cy="345666"/>
              </a:xfrm>
              <a:prstGeom prst="trapezoid">
                <a:avLst>
                  <a:gd name="adj" fmla="val 29262"/>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3808"/>
                <a:endParaRPr lang="zh-CN" altLang="en-US" sz="934" b="1" dirty="0">
                  <a:solidFill>
                    <a:srgbClr val="002060"/>
                  </a:solidFill>
                  <a:latin typeface="微软雅黑" panose="020B0503020204020204" pitchFamily="34" charset="-122"/>
                  <a:ea typeface="微软雅黑" panose="020B0503020204020204" pitchFamily="34" charset="-122"/>
                </a:endParaRPr>
              </a:p>
            </p:txBody>
          </p:sp>
          <p:sp>
            <p:nvSpPr>
              <p:cNvPr id="8" name="矩形 47">
                <a:extLst>
                  <a:ext uri="{FF2B5EF4-FFF2-40B4-BE49-F238E27FC236}">
                    <a16:creationId xmlns="" xmlns:a16="http://schemas.microsoft.com/office/drawing/2014/main" id="{FFF9514E-F252-21BF-E524-63E2D4458163}"/>
                  </a:ext>
                </a:extLst>
              </p:cNvPr>
              <p:cNvSpPr/>
              <p:nvPr/>
            </p:nvSpPr>
            <p:spPr>
              <a:xfrm>
                <a:off x="1850676" y="4601228"/>
                <a:ext cx="1024456" cy="307137"/>
              </a:xfrm>
              <a:prstGeom prst="rect">
                <a:avLst/>
              </a:prstGeom>
            </p:spPr>
            <p:txBody>
              <a:bodyPr wrap="square">
                <a:spAutoFit/>
              </a:bodyPr>
              <a:lstStyle/>
              <a:p>
                <a:pPr algn="ctr" defTabSz="914333">
                  <a:lnSpc>
                    <a:spcPts val="2667"/>
                  </a:lnSpc>
                </a:pPr>
                <a:r>
                  <a:rPr lang="zh-CN" altLang="en-US" sz="1882"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保障</a:t>
                </a:r>
              </a:p>
            </p:txBody>
          </p:sp>
        </p:grpSp>
      </p:grpSp>
      <p:cxnSp>
        <p:nvCxnSpPr>
          <p:cNvPr id="10" name="Straight Connector 65">
            <a:extLst>
              <a:ext uri="{FF2B5EF4-FFF2-40B4-BE49-F238E27FC236}">
                <a16:creationId xmlns="" xmlns:a16="http://schemas.microsoft.com/office/drawing/2014/main" id="{19C49E34-C2C8-5FCF-84D6-2D3FDA6A1BF9}"/>
              </a:ext>
            </a:extLst>
          </p:cNvPr>
          <p:cNvCxnSpPr>
            <a:cxnSpLocks/>
          </p:cNvCxnSpPr>
          <p:nvPr/>
        </p:nvCxnSpPr>
        <p:spPr>
          <a:xfrm flipH="1">
            <a:off x="5279004" y="3414968"/>
            <a:ext cx="341228" cy="0"/>
          </a:xfrm>
          <a:prstGeom prst="line">
            <a:avLst/>
          </a:prstGeom>
          <a:ln w="9525">
            <a:solidFill>
              <a:srgbClr val="C2996B"/>
            </a:solidFill>
            <a:tailEnd type="ova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 xmlns:a16="http://schemas.microsoft.com/office/drawing/2014/main" id="{DD6FE37B-DAE4-C267-D0BD-C7B03D4D5A1C}"/>
              </a:ext>
            </a:extLst>
          </p:cNvPr>
          <p:cNvSpPr txBox="1"/>
          <p:nvPr/>
        </p:nvSpPr>
        <p:spPr>
          <a:xfrm>
            <a:off x="657040" y="2517993"/>
            <a:ext cx="4524483" cy="2766848"/>
          </a:xfrm>
          <a:prstGeom prst="rect">
            <a:avLst/>
          </a:prstGeom>
          <a:noFill/>
        </p:spPr>
        <p:txBody>
          <a:bodyPr wrap="square">
            <a:spAutoFit/>
          </a:bodyPr>
          <a:lstStyle/>
          <a:p>
            <a:pPr>
              <a:lnSpc>
                <a:spcPts val="1334"/>
              </a:lnSpc>
              <a:defRPr/>
            </a:pPr>
            <a:r>
              <a:rPr lang="zh-CN" altLang="en-US" sz="1505" b="1" dirty="0">
                <a:solidFill>
                  <a:srgbClr val="002060"/>
                </a:solidFill>
                <a:latin typeface="微软雅黑" panose="020B0503020204020204" pitchFamily="34" charset="-122"/>
                <a:ea typeface="微软雅黑" panose="020B0503020204020204" pitchFamily="34" charset="-122"/>
              </a:rPr>
              <a:t>第</a:t>
            </a:r>
            <a:r>
              <a:rPr lang="en-US" altLang="zh-CN" sz="1505" b="1" dirty="0">
                <a:solidFill>
                  <a:srgbClr val="002060"/>
                </a:solidFill>
                <a:latin typeface="微软雅黑" panose="020B0503020204020204" pitchFamily="34" charset="-122"/>
                <a:ea typeface="微软雅黑" panose="020B0503020204020204" pitchFamily="34" charset="-122"/>
              </a:rPr>
              <a:t>1</a:t>
            </a:r>
            <a:r>
              <a:rPr lang="zh-CN" altLang="en-US" sz="1505" b="1" dirty="0">
                <a:solidFill>
                  <a:srgbClr val="002060"/>
                </a:solidFill>
                <a:latin typeface="微软雅黑" panose="020B0503020204020204" pitchFamily="34" charset="-122"/>
                <a:ea typeface="微软雅黑" panose="020B0503020204020204" pitchFamily="34" charset="-122"/>
              </a:rPr>
              <a:t>步 </a:t>
            </a:r>
            <a:r>
              <a:rPr lang="en-US" altLang="zh-CN" sz="1505" b="1" dirty="0">
                <a:solidFill>
                  <a:srgbClr val="002060"/>
                </a:solidFill>
                <a:latin typeface="微软雅黑" panose="020B0503020204020204" pitchFamily="34" charset="-122"/>
                <a:ea typeface="微软雅黑" panose="020B0503020204020204" pitchFamily="34" charset="-122"/>
              </a:rPr>
              <a:t>— </a:t>
            </a:r>
            <a:r>
              <a:rPr lang="zh-CN" altLang="en-US" sz="1505" b="1" dirty="0">
                <a:solidFill>
                  <a:srgbClr val="002060"/>
                </a:solidFill>
                <a:latin typeface="微软雅黑" panose="020B0503020204020204" pitchFamily="34" charset="-122"/>
                <a:ea typeface="微软雅黑" panose="020B0503020204020204" pitchFamily="34" charset="-122"/>
              </a:rPr>
              <a:t>账户与资金规划</a:t>
            </a:r>
            <a:endParaRPr lang="en-US" altLang="zh-CN" sz="1505"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2070"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r>
              <a:rPr lang="zh-CN" altLang="en-US" sz="2070" b="1" dirty="0">
                <a:solidFill>
                  <a:srgbClr val="002060"/>
                </a:solidFill>
                <a:latin typeface="微软雅黑" panose="020B0503020204020204" pitchFamily="34" charset="-122"/>
                <a:ea typeface="微软雅黑" panose="020B0503020204020204" pitchFamily="34" charset="-122"/>
              </a:rPr>
              <a:t>第</a:t>
            </a:r>
            <a:r>
              <a:rPr lang="en-US" altLang="zh-CN" sz="2070" b="1" dirty="0">
                <a:solidFill>
                  <a:srgbClr val="002060"/>
                </a:solidFill>
                <a:latin typeface="微软雅黑" panose="020B0503020204020204" pitchFamily="34" charset="-122"/>
                <a:ea typeface="微软雅黑" panose="020B0503020204020204" pitchFamily="34" charset="-122"/>
              </a:rPr>
              <a:t>2</a:t>
            </a:r>
            <a:r>
              <a:rPr lang="zh-CN" altLang="en-US" sz="2070" b="1" dirty="0">
                <a:solidFill>
                  <a:srgbClr val="002060"/>
                </a:solidFill>
                <a:latin typeface="微软雅黑" panose="020B0503020204020204" pitchFamily="34" charset="-122"/>
                <a:ea typeface="微软雅黑" panose="020B0503020204020204" pitchFamily="34" charset="-122"/>
              </a:rPr>
              <a:t>步：资产与策略配置：保障部分</a:t>
            </a:r>
            <a:endParaRPr lang="en-US" altLang="zh-CN" sz="2070"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317" b="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r>
              <a:rPr lang="zh-CN" altLang="en-US" sz="1317" i="1" dirty="0">
                <a:solidFill>
                  <a:srgbClr val="002060"/>
                </a:solidFill>
                <a:latin typeface="微软雅黑" panose="020B0503020204020204" pitchFamily="34" charset="-122"/>
                <a:ea typeface="微软雅黑" panose="020B0503020204020204" pitchFamily="34" charset="-122"/>
              </a:rPr>
              <a:t>追底线思维，保障身家，传承财富</a:t>
            </a:r>
            <a:endParaRPr lang="en-US" altLang="zh-CN" sz="1317" i="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endParaRPr lang="en-US" altLang="zh-CN" sz="1317" i="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r>
              <a:rPr lang="zh-CN" altLang="en-US" sz="1317" i="1" dirty="0">
                <a:solidFill>
                  <a:srgbClr val="002060"/>
                </a:solidFill>
                <a:latin typeface="微软雅黑" panose="020B0503020204020204" pitchFamily="34" charset="-122"/>
                <a:ea typeface="微软雅黑" panose="020B0503020204020204" pitchFamily="34" charset="-122"/>
              </a:rPr>
              <a:t>做好极端风险的应对</a:t>
            </a:r>
            <a:endParaRPr lang="en-US" altLang="zh-CN" sz="1317" i="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endParaRPr lang="en-US" altLang="zh-CN" sz="1317" i="1" dirty="0">
              <a:solidFill>
                <a:srgbClr val="002060"/>
              </a:solidFill>
              <a:latin typeface="微软雅黑" panose="020B0503020204020204" pitchFamily="34" charset="-122"/>
              <a:ea typeface="微软雅黑" panose="020B0503020204020204" pitchFamily="34" charset="-122"/>
            </a:endParaRPr>
          </a:p>
          <a:p>
            <a:pPr marL="382341" indent="-215067">
              <a:lnSpc>
                <a:spcPts val="1334"/>
              </a:lnSpc>
              <a:buFont typeface="Wingdings" panose="05000000000000000000" pitchFamily="2" charset="2"/>
              <a:buChar char="ü"/>
              <a:defRPr/>
            </a:pPr>
            <a:r>
              <a:rPr lang="zh-CN" altLang="en-US" sz="1317" i="1" dirty="0">
                <a:solidFill>
                  <a:srgbClr val="002060"/>
                </a:solidFill>
                <a:latin typeface="微软雅黑" panose="020B0503020204020204" pitchFamily="34" charset="-122"/>
                <a:ea typeface="微软雅黑" panose="020B0503020204020204" pitchFamily="34" charset="-122"/>
              </a:rPr>
              <a:t>安全第一、确权</a:t>
            </a:r>
            <a:endParaRPr lang="en-US" altLang="zh-CN" sz="1317" i="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693"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endParaRPr lang="en-US" altLang="zh-CN" sz="1599" b="1" dirty="0">
              <a:solidFill>
                <a:srgbClr val="002060"/>
              </a:solidFill>
              <a:latin typeface="微软雅黑" panose="020B0503020204020204" pitchFamily="34" charset="-122"/>
              <a:ea typeface="微软雅黑" panose="020B0503020204020204" pitchFamily="34" charset="-122"/>
            </a:endParaRPr>
          </a:p>
          <a:p>
            <a:pPr>
              <a:lnSpc>
                <a:spcPts val="1334"/>
              </a:lnSpc>
              <a:defRPr/>
            </a:pPr>
            <a:r>
              <a:rPr lang="zh-CN" altLang="en-US" sz="1599" b="1" dirty="0">
                <a:solidFill>
                  <a:srgbClr val="002060"/>
                </a:solidFill>
                <a:latin typeface="微软雅黑" panose="020B0503020204020204" pitchFamily="34" charset="-122"/>
                <a:ea typeface="微软雅黑" panose="020B0503020204020204" pitchFamily="34" charset="-122"/>
              </a:rPr>
              <a:t>第</a:t>
            </a:r>
            <a:r>
              <a:rPr lang="en-US" altLang="zh-CN" sz="1599" b="1" dirty="0">
                <a:solidFill>
                  <a:srgbClr val="002060"/>
                </a:solidFill>
                <a:latin typeface="微软雅黑" panose="020B0503020204020204" pitchFamily="34" charset="-122"/>
                <a:ea typeface="微软雅黑" panose="020B0503020204020204" pitchFamily="34" charset="-122"/>
              </a:rPr>
              <a:t>3</a:t>
            </a:r>
            <a:r>
              <a:rPr lang="zh-CN" altLang="en-US" sz="1599" b="1" dirty="0">
                <a:solidFill>
                  <a:srgbClr val="002060"/>
                </a:solidFill>
                <a:latin typeface="微软雅黑" panose="020B0503020204020204" pitchFamily="34" charset="-122"/>
                <a:ea typeface="微软雅黑" panose="020B0503020204020204" pitchFamily="34" charset="-122"/>
              </a:rPr>
              <a:t>步 </a:t>
            </a:r>
            <a:r>
              <a:rPr lang="en-US" altLang="zh-CN" sz="1599" b="1" dirty="0">
                <a:solidFill>
                  <a:srgbClr val="002060"/>
                </a:solidFill>
                <a:latin typeface="微软雅黑" panose="020B0503020204020204" pitchFamily="34" charset="-122"/>
                <a:ea typeface="微软雅黑" panose="020B0503020204020204" pitchFamily="34" charset="-122"/>
              </a:rPr>
              <a:t>— </a:t>
            </a:r>
            <a:r>
              <a:rPr lang="zh-CN" altLang="en-US" sz="1599" b="1" dirty="0">
                <a:solidFill>
                  <a:srgbClr val="002060"/>
                </a:solidFill>
                <a:latin typeface="微软雅黑" panose="020B0503020204020204" pitchFamily="34" charset="-122"/>
                <a:ea typeface="微软雅黑" panose="020B0503020204020204" pitchFamily="34" charset="-122"/>
              </a:rPr>
              <a:t>产品匹配</a:t>
            </a:r>
            <a:endParaRPr lang="en-US" altLang="zh-CN" sz="1599" b="1" dirty="0">
              <a:solidFill>
                <a:srgbClr val="00206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 xmlns:a16="http://schemas.microsoft.com/office/drawing/2014/main" id="{9CA50ED4-5830-27B9-27CA-A64B36F55E7C}"/>
              </a:ext>
            </a:extLst>
          </p:cNvPr>
          <p:cNvSpPr txBox="1"/>
          <p:nvPr/>
        </p:nvSpPr>
        <p:spPr>
          <a:xfrm>
            <a:off x="8468292" y="3267032"/>
            <a:ext cx="2432185" cy="323935"/>
          </a:xfrm>
          <a:prstGeom prst="rect">
            <a:avLst/>
          </a:prstGeom>
          <a:noFill/>
        </p:spPr>
        <p:txBody>
          <a:bodyPr wrap="square" rtlCol="0">
            <a:spAutoFit/>
          </a:bodyPr>
          <a:lstStyle/>
          <a:p>
            <a:pPr marL="60540" defTabSz="430102"/>
            <a:r>
              <a:rPr lang="en-US" altLang="zh-CN" sz="1505" b="1" kern="0" spc="63" dirty="0">
                <a:solidFill>
                  <a:srgbClr val="002060"/>
                </a:solidFill>
                <a:latin typeface="微软雅黑" panose="020B0503020204020204" pitchFamily="34" charset="-122"/>
                <a:ea typeface="微软雅黑" panose="020B0503020204020204" pitchFamily="34" charset="-122"/>
              </a:rPr>
              <a:t>· </a:t>
            </a:r>
            <a:r>
              <a:rPr lang="zh-CN" altLang="en-US" sz="1505" b="1" kern="0" spc="63" dirty="0">
                <a:solidFill>
                  <a:srgbClr val="002060"/>
                </a:solidFill>
                <a:latin typeface="微软雅黑" panose="020B0503020204020204" pitchFamily="34" charset="-122"/>
                <a:ea typeface="微软雅黑" panose="020B0503020204020204" pitchFamily="34" charset="-122"/>
              </a:rPr>
              <a:t>黄金</a:t>
            </a:r>
            <a:r>
              <a:rPr lang="en-US" altLang="zh-CN" sz="1505" b="1" kern="0" spc="63" dirty="0">
                <a:solidFill>
                  <a:srgbClr val="002060"/>
                </a:solidFill>
                <a:latin typeface="微软雅黑" panose="020B0503020204020204" pitchFamily="34" charset="-122"/>
                <a:ea typeface="微软雅黑" panose="020B0503020204020204" pitchFamily="34" charset="-122"/>
              </a:rPr>
              <a:t>ETF</a:t>
            </a:r>
            <a:r>
              <a:rPr lang="zh-CN" altLang="en-US" sz="1505" b="1" kern="0" spc="63" dirty="0">
                <a:solidFill>
                  <a:srgbClr val="002060"/>
                </a:solidFill>
                <a:latin typeface="微软雅黑" panose="020B0503020204020204" pitchFamily="34" charset="-122"/>
                <a:ea typeface="微软雅黑" panose="020B0503020204020204" pitchFamily="34" charset="-122"/>
              </a:rPr>
              <a:t> </a:t>
            </a:r>
            <a:r>
              <a:rPr lang="en-US" altLang="zh-CN" sz="1505" b="1" i="1" kern="0" spc="63" dirty="0">
                <a:solidFill>
                  <a:srgbClr val="002060"/>
                </a:solidFill>
                <a:latin typeface="微软雅黑" panose="020B0503020204020204" pitchFamily="34" charset="-122"/>
                <a:ea typeface="微软雅黑" panose="020B0503020204020204" pitchFamily="34" charset="-122"/>
              </a:rPr>
              <a:t>100%</a:t>
            </a:r>
          </a:p>
        </p:txBody>
      </p:sp>
    </p:spTree>
    <p:extLst>
      <p:ext uri="{BB962C8B-B14F-4D97-AF65-F5344CB8AC3E}">
        <p14:creationId xmlns:p14="http://schemas.microsoft.com/office/powerpoint/2010/main" val="3832135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DD8A312-50FE-F7D5-E468-307021F8FB6C}"/>
            </a:ext>
          </a:extLst>
        </p:cNvPr>
        <p:cNvGrpSpPr/>
        <p:nvPr/>
      </p:nvGrpSpPr>
      <p:grpSpPr>
        <a:xfrm>
          <a:off x="0" y="0"/>
          <a:ext cx="0" cy="0"/>
          <a:chOff x="0" y="0"/>
          <a:chExt cx="0" cy="0"/>
        </a:xfrm>
      </p:grpSpPr>
      <p:sp>
        <p:nvSpPr>
          <p:cNvPr id="9" name="椭圆 8" descr="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
            <a:extLst>
              <a:ext uri="{FF2B5EF4-FFF2-40B4-BE49-F238E27FC236}">
                <a16:creationId xmlns="" xmlns:a16="http://schemas.microsoft.com/office/drawing/2014/main" id="{6E774440-E288-446E-B524-53BB01B48147}"/>
              </a:ext>
            </a:extLst>
          </p:cNvPr>
          <p:cNvSpPr/>
          <p:nvPr/>
        </p:nvSpPr>
        <p:spPr>
          <a:xfrm rot="17100000">
            <a:off x="665665" y="160279"/>
            <a:ext cx="1425269" cy="1425269"/>
          </a:xfrm>
          <a:prstGeom prst="ellipse">
            <a:avLst/>
          </a:prstGeom>
          <a:gradFill flip="none" rotWithShape="1">
            <a:gsLst>
              <a:gs pos="34000">
                <a:schemeClr val="accent1">
                  <a:lumMod val="45000"/>
                  <a:lumOff val="55000"/>
                  <a:alpha val="0"/>
                </a:schemeClr>
              </a:gs>
              <a:gs pos="100000">
                <a:schemeClr val="accent1">
                  <a:alpha val="37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8"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ea typeface="HarmonyOS Sans SC Light"/>
              <a:cs typeface="+mn-cs"/>
            </a:endParaRPr>
          </a:p>
        </p:txBody>
      </p:sp>
      <p:cxnSp>
        <p:nvCxnSpPr>
          <p:cNvPr id="3" name="直接连接符 2">
            <a:extLst>
              <a:ext uri="{FF2B5EF4-FFF2-40B4-BE49-F238E27FC236}">
                <a16:creationId xmlns="" xmlns:a16="http://schemas.microsoft.com/office/drawing/2014/main" id="{E36D42F1-B2D9-B24D-11EB-E14242AD8F30}"/>
              </a:ext>
            </a:extLst>
          </p:cNvPr>
          <p:cNvCxnSpPr/>
          <p:nvPr/>
        </p:nvCxnSpPr>
        <p:spPr>
          <a:xfrm>
            <a:off x="582917" y="1141204"/>
            <a:ext cx="1120678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 xmlns:a16="http://schemas.microsoft.com/office/drawing/2014/main" id="{C8583E7A-2B60-02FE-C342-DEBD175CADCA}"/>
              </a:ext>
            </a:extLst>
          </p:cNvPr>
          <p:cNvSpPr/>
          <p:nvPr/>
        </p:nvSpPr>
        <p:spPr>
          <a:xfrm>
            <a:off x="150795" y="6402450"/>
            <a:ext cx="11311862" cy="246862"/>
          </a:xfrm>
          <a:prstGeom prst="rect">
            <a:avLst/>
          </a:prstGeom>
        </p:spPr>
        <p:txBody>
          <a:bodyPr wrap="square">
            <a:spAutoFit/>
          </a:bodyPr>
          <a:lstStyle/>
          <a:p>
            <a:pPr marL="0" marR="0" lvl="0" indent="0" algn="l" defTabSz="609608" rtl="0" eaLnBrk="1" fontAlgn="auto" latinLnBrk="0" hangingPunct="1">
              <a:lnSpc>
                <a:spcPct val="100000"/>
              </a:lnSpc>
              <a:spcBef>
                <a:spcPts val="0"/>
              </a:spcBef>
              <a:spcAft>
                <a:spcPts val="0"/>
              </a:spcAft>
              <a:buClrTx/>
              <a:buSzTx/>
              <a:buFontTx/>
              <a:buNone/>
              <a:tabLst/>
              <a:defRPr/>
            </a:pP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注：数据来源为嘉实财富。策略历史表现不构成对未来业绩的承诺。统计区间为</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2020</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日</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-2026</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29</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日。</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2026/05/29</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的净值（费后）为</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1.4159</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。计算夏普比例时，无风险收益按</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计。</a:t>
            </a:r>
            <a:endParaRPr kumimoji="0" lang="en-US" altLang="zh-CN" sz="1004"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表格 5">
            <a:extLst>
              <a:ext uri="{FF2B5EF4-FFF2-40B4-BE49-F238E27FC236}">
                <a16:creationId xmlns="" xmlns:a16="http://schemas.microsoft.com/office/drawing/2014/main" id="{307C6293-D13C-6137-B526-1A51AB9E4968}"/>
              </a:ext>
            </a:extLst>
          </p:cNvPr>
          <p:cNvGraphicFramePr>
            <a:graphicFrameLocks noGrp="1"/>
          </p:cNvGraphicFramePr>
          <p:nvPr/>
        </p:nvGraphicFramePr>
        <p:xfrm>
          <a:off x="582916" y="1282190"/>
          <a:ext cx="7023947" cy="1476884"/>
        </p:xfrm>
        <a:graphic>
          <a:graphicData uri="http://schemas.openxmlformats.org/drawingml/2006/table">
            <a:tbl>
              <a:tblPr firstRow="1" firstCol="1" bandRow="1">
                <a:tableStyleId>{5C22544A-7EE6-4342-B048-85BDC9FD1C3A}</a:tableStyleId>
              </a:tblPr>
              <a:tblGrid>
                <a:gridCol w="1404789">
                  <a:extLst>
                    <a:ext uri="{9D8B030D-6E8A-4147-A177-3AD203B41FA5}">
                      <a16:colId xmlns="" xmlns:a16="http://schemas.microsoft.com/office/drawing/2014/main" val="3847716533"/>
                    </a:ext>
                  </a:extLst>
                </a:gridCol>
                <a:gridCol w="1617644">
                  <a:extLst>
                    <a:ext uri="{9D8B030D-6E8A-4147-A177-3AD203B41FA5}">
                      <a16:colId xmlns="" xmlns:a16="http://schemas.microsoft.com/office/drawing/2014/main" val="1739439905"/>
                    </a:ext>
                  </a:extLst>
                </a:gridCol>
                <a:gridCol w="1333838">
                  <a:extLst>
                    <a:ext uri="{9D8B030D-6E8A-4147-A177-3AD203B41FA5}">
                      <a16:colId xmlns="" xmlns:a16="http://schemas.microsoft.com/office/drawing/2014/main" val="3802123172"/>
                    </a:ext>
                  </a:extLst>
                </a:gridCol>
                <a:gridCol w="1333838">
                  <a:extLst>
                    <a:ext uri="{9D8B030D-6E8A-4147-A177-3AD203B41FA5}">
                      <a16:colId xmlns="" xmlns:a16="http://schemas.microsoft.com/office/drawing/2014/main" val="2297438570"/>
                    </a:ext>
                  </a:extLst>
                </a:gridCol>
                <a:gridCol w="1333838">
                  <a:extLst>
                    <a:ext uri="{9D8B030D-6E8A-4147-A177-3AD203B41FA5}">
                      <a16:colId xmlns="" xmlns:a16="http://schemas.microsoft.com/office/drawing/2014/main" val="1620483687"/>
                    </a:ext>
                  </a:extLst>
                </a:gridCol>
              </a:tblGrid>
              <a:tr h="369221">
                <a:tc>
                  <a:txBody>
                    <a:bodyPr/>
                    <a:lstStyle/>
                    <a:p>
                      <a:pPr algn="ctr">
                        <a:spcAft>
                          <a:spcPts val="400"/>
                        </a:spcAft>
                        <a:buNone/>
                      </a:pPr>
                      <a:r>
                        <a:rPr lang="en-US" sz="1400" kern="100" dirty="0">
                          <a:solidFill>
                            <a:schemeClr val="tx2"/>
                          </a:solidFill>
                          <a:effectLst/>
                          <a:latin typeface="微软雅黑" panose="020B0503020204020204" pitchFamily="34" charset="-122"/>
                          <a:ea typeface="微软雅黑" panose="020B0503020204020204" pitchFamily="34" charset="-122"/>
                        </a:rPr>
                        <a:t> </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zh-CN" altLang="en-US" sz="1400" b="1" kern="100" dirty="0">
                          <a:solidFill>
                            <a:schemeClr val="tx2"/>
                          </a:solidFill>
                          <a:effectLst/>
                          <a:latin typeface="微软雅黑" panose="020B0503020204020204" pitchFamily="34" charset="-122"/>
                          <a:ea typeface="微软雅黑" panose="020B0503020204020204" pitchFamily="34" charset="-122"/>
                          <a:cs typeface="+mn-cs"/>
                        </a:rPr>
                        <a:t>增值</a:t>
                      </a:r>
                      <a:r>
                        <a:rPr lang="en-US" altLang="zh-CN" sz="1400" b="1" kern="100" dirty="0">
                          <a:solidFill>
                            <a:schemeClr val="tx2"/>
                          </a:solidFill>
                          <a:effectLst/>
                          <a:latin typeface="微软雅黑" panose="020B0503020204020204" pitchFamily="34" charset="-122"/>
                          <a:ea typeface="微软雅黑" panose="020B0503020204020204" pitchFamily="34" charset="-122"/>
                          <a:cs typeface="+mn-cs"/>
                        </a:rPr>
                        <a:t>--</a:t>
                      </a:r>
                      <a:r>
                        <a:rPr lang="zh-CN" altLang="en-US" sz="1400" b="1" kern="100" dirty="0">
                          <a:solidFill>
                            <a:schemeClr val="tx2"/>
                          </a:solidFill>
                          <a:effectLst/>
                          <a:latin typeface="微软雅黑" panose="020B0503020204020204" pitchFamily="34" charset="-122"/>
                          <a:ea typeface="微软雅黑" panose="020B0503020204020204" pitchFamily="34" charset="-122"/>
                          <a:cs typeface="+mn-cs"/>
                        </a:rPr>
                        <a:t>产业趋势</a:t>
                      </a:r>
                    </a:p>
                  </a:txBody>
                  <a:tcPr marT="0" marB="0" anchor="ctr"/>
                </a:tc>
                <a:tc>
                  <a:txBody>
                    <a:bodyPr/>
                    <a:lstStyle/>
                    <a:p>
                      <a:pPr algn="ctr">
                        <a:spcAft>
                          <a:spcPts val="400"/>
                        </a:spcAft>
                        <a:buNone/>
                      </a:pPr>
                      <a:r>
                        <a:rPr lang="zh-CN" altLang="en-US" sz="1400" b="1" kern="100" dirty="0">
                          <a:solidFill>
                            <a:schemeClr val="tx2"/>
                          </a:solidFill>
                          <a:effectLst/>
                          <a:latin typeface="微软雅黑" panose="020B0503020204020204" pitchFamily="34" charset="-122"/>
                          <a:ea typeface="微软雅黑" panose="020B0503020204020204" pitchFamily="34" charset="-122"/>
                          <a:cs typeface="+mn-cs"/>
                        </a:rPr>
                        <a:t>增值</a:t>
                      </a:r>
                      <a:r>
                        <a:rPr lang="en-US" altLang="zh-CN" sz="1400" b="1" kern="100" dirty="0">
                          <a:solidFill>
                            <a:schemeClr val="tx2"/>
                          </a:solidFill>
                          <a:effectLst/>
                          <a:latin typeface="微软雅黑" panose="020B0503020204020204" pitchFamily="34" charset="-122"/>
                          <a:ea typeface="微软雅黑" panose="020B0503020204020204" pitchFamily="34" charset="-122"/>
                          <a:cs typeface="+mn-cs"/>
                        </a:rPr>
                        <a:t>--</a:t>
                      </a:r>
                      <a:r>
                        <a:rPr lang="zh-CN" altLang="en-US" sz="1400" b="1" kern="100" dirty="0">
                          <a:solidFill>
                            <a:schemeClr val="tx2"/>
                          </a:solidFill>
                          <a:effectLst/>
                          <a:latin typeface="微软雅黑" panose="020B0503020204020204" pitchFamily="34" charset="-122"/>
                          <a:ea typeface="微软雅黑" panose="020B0503020204020204" pitchFamily="34" charset="-122"/>
                          <a:cs typeface="+mn-cs"/>
                        </a:rPr>
                        <a:t>指增</a:t>
                      </a:r>
                    </a:p>
                  </a:txBody>
                  <a:tcPr marT="0" marB="0" anchor="ctr"/>
                </a:tc>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rPr>
                        <a:t>生息</a:t>
                      </a:r>
                      <a:r>
                        <a:rPr lang="en-US" altLang="zh-CN" sz="1400" kern="100" dirty="0">
                          <a:solidFill>
                            <a:schemeClr val="tx2"/>
                          </a:solidFill>
                          <a:effectLst/>
                          <a:latin typeface="微软雅黑" panose="020B0503020204020204" pitchFamily="34" charset="-122"/>
                          <a:ea typeface="微软雅黑" panose="020B0503020204020204" pitchFamily="34" charset="-122"/>
                        </a:rPr>
                        <a:t>--</a:t>
                      </a:r>
                      <a:r>
                        <a:rPr lang="zh-CN" altLang="en-US" sz="1400" kern="100" dirty="0">
                          <a:solidFill>
                            <a:schemeClr val="tx2"/>
                          </a:solidFill>
                          <a:effectLst/>
                          <a:latin typeface="微软雅黑" panose="020B0503020204020204" pitchFamily="34" charset="-122"/>
                          <a:ea typeface="微软雅黑" panose="020B0503020204020204" pitchFamily="34" charset="-122"/>
                        </a:rPr>
                        <a:t>中债</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rPr>
                        <a:t>保障</a:t>
                      </a:r>
                      <a:r>
                        <a:rPr lang="en-US" altLang="zh-CN" sz="1400" kern="100" dirty="0">
                          <a:solidFill>
                            <a:schemeClr val="tx2"/>
                          </a:solidFill>
                          <a:effectLst/>
                          <a:latin typeface="微软雅黑" panose="020B0503020204020204" pitchFamily="34" charset="-122"/>
                          <a:ea typeface="微软雅黑" panose="020B0503020204020204" pitchFamily="34" charset="-122"/>
                        </a:rPr>
                        <a:t>--</a:t>
                      </a:r>
                      <a:r>
                        <a:rPr lang="zh-CN" altLang="en-US" sz="1400" kern="100" dirty="0">
                          <a:solidFill>
                            <a:schemeClr val="tx2"/>
                          </a:solidFill>
                          <a:effectLst/>
                          <a:latin typeface="微软雅黑" panose="020B0503020204020204" pitchFamily="34" charset="-122"/>
                          <a:ea typeface="微软雅黑" panose="020B0503020204020204" pitchFamily="34" charset="-122"/>
                        </a:rPr>
                        <a:t>黄金</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3404244492"/>
                  </a:ext>
                </a:extLst>
              </a:tr>
              <a:tr h="369221">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rPr>
                        <a:t>目标</a:t>
                      </a:r>
                      <a:r>
                        <a:rPr lang="zh-CN" sz="1400" kern="100" dirty="0">
                          <a:solidFill>
                            <a:schemeClr val="tx2"/>
                          </a:solidFill>
                          <a:effectLst/>
                          <a:latin typeface="微软雅黑" panose="020B0503020204020204" pitchFamily="34" charset="-122"/>
                          <a:ea typeface="微软雅黑" panose="020B0503020204020204" pitchFamily="34" charset="-122"/>
                        </a:rPr>
                        <a:t>权重</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kern="100" dirty="0">
                          <a:solidFill>
                            <a:schemeClr val="tx2"/>
                          </a:solidFill>
                          <a:effectLst/>
                          <a:latin typeface="微软雅黑" panose="020B0503020204020204" pitchFamily="34" charset="-122"/>
                          <a:ea typeface="微软雅黑" panose="020B0503020204020204" pitchFamily="34" charset="-122"/>
                        </a:rPr>
                        <a:t>5</a:t>
                      </a:r>
                      <a:r>
                        <a:rPr lang="en-US" altLang="zh-CN" sz="1400" kern="100" dirty="0">
                          <a:solidFill>
                            <a:schemeClr val="tx2"/>
                          </a:solidFill>
                          <a:effectLst/>
                          <a:latin typeface="微软雅黑" panose="020B0503020204020204" pitchFamily="34" charset="-122"/>
                          <a:ea typeface="微软雅黑" panose="020B0503020204020204" pitchFamily="34" charset="-122"/>
                        </a:rPr>
                        <a:t>%</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kern="100" dirty="0">
                          <a:solidFill>
                            <a:schemeClr val="tx2"/>
                          </a:solidFill>
                          <a:effectLst/>
                          <a:latin typeface="微软雅黑" panose="020B0503020204020204" pitchFamily="34" charset="-122"/>
                          <a:ea typeface="微软雅黑" panose="020B0503020204020204" pitchFamily="34" charset="-122"/>
                        </a:rPr>
                        <a:t>5</a:t>
                      </a:r>
                      <a:r>
                        <a:rPr lang="en-US" altLang="zh-CN" sz="1400" kern="100" dirty="0">
                          <a:solidFill>
                            <a:schemeClr val="tx2"/>
                          </a:solidFill>
                          <a:effectLst/>
                          <a:latin typeface="微软雅黑" panose="020B0503020204020204" pitchFamily="34" charset="-122"/>
                          <a:ea typeface="微软雅黑" panose="020B0503020204020204" pitchFamily="34" charset="-122"/>
                        </a:rPr>
                        <a:t>%</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kern="100" dirty="0">
                          <a:solidFill>
                            <a:schemeClr val="tx2"/>
                          </a:solidFill>
                          <a:effectLst/>
                          <a:latin typeface="微软雅黑" panose="020B0503020204020204" pitchFamily="34" charset="-122"/>
                          <a:ea typeface="微软雅黑" panose="020B0503020204020204" pitchFamily="34" charset="-122"/>
                        </a:rPr>
                        <a:t>85</a:t>
                      </a:r>
                      <a:r>
                        <a:rPr lang="en-US" altLang="zh-CN" sz="1400" kern="100" dirty="0">
                          <a:solidFill>
                            <a:schemeClr val="tx2"/>
                          </a:solidFill>
                          <a:effectLst/>
                          <a:latin typeface="微软雅黑" panose="020B0503020204020204" pitchFamily="34" charset="-122"/>
                          <a:ea typeface="微软雅黑" panose="020B0503020204020204" pitchFamily="34" charset="-122"/>
                        </a:rPr>
                        <a:t>%</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kern="100" dirty="0">
                          <a:solidFill>
                            <a:schemeClr val="tx2"/>
                          </a:solidFill>
                          <a:effectLst/>
                          <a:latin typeface="微软雅黑" panose="020B0503020204020204" pitchFamily="34" charset="-122"/>
                          <a:ea typeface="微软雅黑" panose="020B0503020204020204" pitchFamily="34" charset="-122"/>
                        </a:rPr>
                        <a:t>5%</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1343833170"/>
                  </a:ext>
                </a:extLst>
              </a:tr>
              <a:tr h="369221">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动平衡规则</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gridSpan="4">
                  <a:txBody>
                    <a:bodyPr/>
                    <a:lstStyle/>
                    <a:p>
                      <a:pPr algn="just">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定期动平衡：频率 </a:t>
                      </a:r>
                      <a:r>
                        <a:rPr lang="en-US" alt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年；定幅动平衡：无</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hMerge="1">
                  <a:txBody>
                    <a:bodyPr/>
                    <a:lstStyle/>
                    <a:p>
                      <a:pPr algn="just">
                        <a:spcAft>
                          <a:spcPts val="400"/>
                        </a:spcAft>
                        <a:buNone/>
                      </a:pPr>
                      <a:endParaRPr lang="zh-CN" sz="1900" kern="100" dirty="0">
                        <a:solidFill>
                          <a:schemeClr val="tx2"/>
                        </a:solidFill>
                        <a:effectLst/>
                        <a:latin typeface="等线" panose="02010600030101010101" pitchFamily="2" charset="-122"/>
                        <a:ea typeface="等线" panose="02010600030101010101" pitchFamily="2" charset="-122"/>
                        <a:cs typeface="Times New Roman" panose="02020603050405020304" pitchFamily="18" charset="0"/>
                      </a:endParaRPr>
                    </a:p>
                  </a:txBody>
                  <a:tcPr marL="121920" marR="121920" marT="0" marB="0" anchor="ctr"/>
                </a:tc>
                <a:tc hMerge="1">
                  <a:txBody>
                    <a:bodyPr/>
                    <a:lstStyle/>
                    <a:p>
                      <a:pPr algn="just">
                        <a:spcAft>
                          <a:spcPts val="400"/>
                        </a:spcAft>
                        <a:buNone/>
                      </a:pPr>
                      <a:endParaRPr lang="zh-CN" sz="1900" kern="100" dirty="0">
                        <a:solidFill>
                          <a:schemeClr val="tx2"/>
                        </a:solidFill>
                        <a:effectLst/>
                        <a:latin typeface="等线" panose="02010600030101010101" pitchFamily="2" charset="-122"/>
                        <a:ea typeface="等线" panose="02010600030101010101" pitchFamily="2" charset="-122"/>
                        <a:cs typeface="Times New Roman" panose="02020603050405020304" pitchFamily="18" charset="0"/>
                      </a:endParaRPr>
                    </a:p>
                  </a:txBody>
                  <a:tcPr marL="121920" marR="121920" marT="0" marB="0" anchor="ctr"/>
                </a:tc>
                <a:tc hMerge="1">
                  <a:txBody>
                    <a:bodyPr/>
                    <a:lstStyle/>
                    <a:p>
                      <a:pPr algn="just">
                        <a:spcAft>
                          <a:spcPts val="400"/>
                        </a:spcAft>
                        <a:buNone/>
                      </a:pPr>
                      <a:endParaRPr lang="zh-CN" sz="1900" kern="100" dirty="0">
                        <a:solidFill>
                          <a:schemeClr val="tx2"/>
                        </a:solidFill>
                        <a:effectLst/>
                        <a:latin typeface="等线" panose="02010600030101010101" pitchFamily="2" charset="-122"/>
                        <a:ea typeface="等线" panose="02010600030101010101" pitchFamily="2" charset="-122"/>
                        <a:cs typeface="Times New Roman" panose="02020603050405020304" pitchFamily="18" charset="0"/>
                      </a:endParaRPr>
                    </a:p>
                  </a:txBody>
                  <a:tcPr marL="121920" marR="121920" marT="0" marB="0" anchor="ctr"/>
                </a:tc>
                <a:extLst>
                  <a:ext uri="{0D108BD9-81ED-4DB2-BD59-A6C34878D82A}">
                    <a16:rowId xmlns="" xmlns:a16="http://schemas.microsoft.com/office/drawing/2014/main" val="181395761"/>
                  </a:ext>
                </a:extLst>
              </a:tr>
              <a:tr h="369221">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费率参数</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gridSpan="4">
                  <a:txBody>
                    <a:bodyPr/>
                    <a:lstStyle/>
                    <a:p>
                      <a:pPr algn="just">
                        <a:spcAft>
                          <a:spcPts val="400"/>
                        </a:spcAft>
                        <a:buNone/>
                      </a:pPr>
                      <a:r>
                        <a:rPr lang="en-US" alt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0.8% </a:t>
                      </a: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年化</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615977605"/>
                  </a:ext>
                </a:extLst>
              </a:tr>
            </a:tbl>
          </a:graphicData>
        </a:graphic>
      </p:graphicFrame>
      <p:graphicFrame>
        <p:nvGraphicFramePr>
          <p:cNvPr id="7" name="表格 6">
            <a:extLst>
              <a:ext uri="{FF2B5EF4-FFF2-40B4-BE49-F238E27FC236}">
                <a16:creationId xmlns="" xmlns:a16="http://schemas.microsoft.com/office/drawing/2014/main" id="{8615E3FE-84B1-1D59-3C34-F30516DC07F7}"/>
              </a:ext>
            </a:extLst>
          </p:cNvPr>
          <p:cNvGraphicFramePr>
            <a:graphicFrameLocks noGrp="1"/>
          </p:cNvGraphicFramePr>
          <p:nvPr/>
        </p:nvGraphicFramePr>
        <p:xfrm>
          <a:off x="7896995" y="1278806"/>
          <a:ext cx="3789504" cy="2571742"/>
        </p:xfrm>
        <a:graphic>
          <a:graphicData uri="http://schemas.openxmlformats.org/drawingml/2006/table">
            <a:tbl>
              <a:tblPr firstRow="1" firstCol="1" bandRow="1">
                <a:tableStyleId>{5C22544A-7EE6-4342-B048-85BDC9FD1C3A}</a:tableStyleId>
              </a:tblPr>
              <a:tblGrid>
                <a:gridCol w="2076787">
                  <a:extLst>
                    <a:ext uri="{9D8B030D-6E8A-4147-A177-3AD203B41FA5}">
                      <a16:colId xmlns="" xmlns:a16="http://schemas.microsoft.com/office/drawing/2014/main" val="1485671215"/>
                    </a:ext>
                  </a:extLst>
                </a:gridCol>
                <a:gridCol w="1712717">
                  <a:extLst>
                    <a:ext uri="{9D8B030D-6E8A-4147-A177-3AD203B41FA5}">
                      <a16:colId xmlns="" xmlns:a16="http://schemas.microsoft.com/office/drawing/2014/main" val="3457273538"/>
                    </a:ext>
                  </a:extLst>
                </a:gridCol>
              </a:tblGrid>
              <a:tr h="414981">
                <a:tc>
                  <a:txBody>
                    <a:bodyPr/>
                    <a:lstStyle/>
                    <a:p>
                      <a:pPr algn="ctr">
                        <a:spcAft>
                          <a:spcPts val="400"/>
                        </a:spcAft>
                        <a:buNone/>
                      </a:pPr>
                      <a:r>
                        <a:rPr lang="zh-CN" sz="1400" kern="100" dirty="0">
                          <a:solidFill>
                            <a:schemeClr val="tx2"/>
                          </a:solidFill>
                          <a:effectLst/>
                          <a:latin typeface="微软雅黑" panose="020B0503020204020204" pitchFamily="34" charset="-122"/>
                          <a:ea typeface="微软雅黑" panose="020B0503020204020204" pitchFamily="34" charset="-122"/>
                        </a:rPr>
                        <a:t>年化收益</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kern="100" dirty="0">
                          <a:solidFill>
                            <a:schemeClr val="tx2"/>
                          </a:solidFill>
                          <a:effectLst/>
                          <a:latin typeface="微软雅黑" panose="020B0503020204020204" pitchFamily="34" charset="-122"/>
                          <a:ea typeface="微软雅黑" panose="020B0503020204020204" pitchFamily="34" charset="-122"/>
                        </a:rPr>
                        <a:t>5.58%</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1432148217"/>
                  </a:ext>
                </a:extLst>
              </a:tr>
              <a:tr h="454569">
                <a:tc>
                  <a:txBody>
                    <a:bodyPr/>
                    <a:lstStyle/>
                    <a:p>
                      <a:pPr algn="ctr">
                        <a:spcAft>
                          <a:spcPts val="400"/>
                        </a:spcAft>
                        <a:buNone/>
                      </a:pPr>
                      <a:r>
                        <a:rPr lang="en-US" altLang="zh-CN" sz="1400" kern="100" dirty="0">
                          <a:solidFill>
                            <a:schemeClr val="tx2"/>
                          </a:solidFill>
                          <a:effectLst/>
                          <a:latin typeface="微软雅黑" panose="020B0503020204020204" pitchFamily="34" charset="-122"/>
                          <a:ea typeface="微软雅黑" panose="020B0503020204020204" pitchFamily="34" charset="-122"/>
                        </a:rPr>
                        <a:t>- </a:t>
                      </a:r>
                      <a:r>
                        <a:rPr lang="zh-CN" sz="1400" kern="100" dirty="0">
                          <a:solidFill>
                            <a:schemeClr val="tx2"/>
                          </a:solidFill>
                          <a:effectLst/>
                          <a:latin typeface="微软雅黑" panose="020B0503020204020204" pitchFamily="34" charset="-122"/>
                          <a:ea typeface="微软雅黑" panose="020B0503020204020204" pitchFamily="34" charset="-122"/>
                        </a:rPr>
                        <a:t>算术平均年收益</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kern="100" dirty="0">
                          <a:solidFill>
                            <a:schemeClr val="tx2"/>
                          </a:solidFill>
                          <a:effectLst/>
                          <a:latin typeface="微软雅黑" panose="020B0503020204020204" pitchFamily="34" charset="-122"/>
                          <a:ea typeface="微软雅黑" panose="020B0503020204020204" pitchFamily="34" charset="-122"/>
                        </a:rPr>
                        <a:t>6.49%</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2493041806"/>
                  </a:ext>
                </a:extLst>
              </a:tr>
              <a:tr h="425548">
                <a:tc>
                  <a:txBody>
                    <a:bodyPr/>
                    <a:lstStyle/>
                    <a:p>
                      <a:pPr algn="ctr">
                        <a:spcAft>
                          <a:spcPts val="400"/>
                        </a:spcAft>
                        <a:buNone/>
                      </a:pPr>
                      <a:r>
                        <a:rPr lang="zh-CN" sz="1400" kern="100" dirty="0">
                          <a:solidFill>
                            <a:schemeClr val="tx2"/>
                          </a:solidFill>
                          <a:effectLst/>
                          <a:latin typeface="微软雅黑" panose="020B0503020204020204" pitchFamily="34" charset="-122"/>
                          <a:ea typeface="微软雅黑" panose="020B0503020204020204" pitchFamily="34" charset="-122"/>
                        </a:rPr>
                        <a:t>年化波动率</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b="1" kern="100" dirty="0">
                          <a:solidFill>
                            <a:schemeClr val="tx2"/>
                          </a:solidFill>
                          <a:effectLst/>
                          <a:latin typeface="微软雅黑" panose="020B0503020204020204" pitchFamily="34" charset="-122"/>
                          <a:ea typeface="微软雅黑" panose="020B0503020204020204" pitchFamily="34" charset="-122"/>
                        </a:rPr>
                        <a:t>2.88%</a:t>
                      </a:r>
                      <a:endParaRPr 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660338269"/>
                  </a:ext>
                </a:extLst>
              </a:tr>
              <a:tr h="425548">
                <a:tc>
                  <a:txBody>
                    <a:bodyPr/>
                    <a:lstStyle/>
                    <a:p>
                      <a:pPr algn="ctr">
                        <a:spcAft>
                          <a:spcPts val="400"/>
                        </a:spcAft>
                        <a:buNone/>
                      </a:pPr>
                      <a:r>
                        <a:rPr lang="zh-CN" sz="1400" kern="100" dirty="0">
                          <a:solidFill>
                            <a:schemeClr val="tx2"/>
                          </a:solidFill>
                          <a:effectLst/>
                          <a:latin typeface="微软雅黑" panose="020B0503020204020204" pitchFamily="34" charset="-122"/>
                          <a:ea typeface="微软雅黑" panose="020B0503020204020204" pitchFamily="34" charset="-122"/>
                        </a:rPr>
                        <a:t>区间最大回撤</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b="1" kern="100" dirty="0">
                          <a:solidFill>
                            <a:schemeClr val="tx2"/>
                          </a:solidFill>
                          <a:effectLst/>
                          <a:latin typeface="微软雅黑" panose="020B0503020204020204" pitchFamily="34" charset="-122"/>
                          <a:ea typeface="微软雅黑" panose="020B0503020204020204" pitchFamily="34" charset="-122"/>
                        </a:rPr>
                        <a:t>2.30%</a:t>
                      </a:r>
                      <a:endParaRPr 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484190667"/>
                  </a:ext>
                </a:extLst>
              </a:tr>
              <a:tr h="425548">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夏普比率*</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1.93</a:t>
                      </a:r>
                      <a:endParaRPr 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812689892"/>
                  </a:ext>
                </a:extLst>
              </a:tr>
              <a:tr h="425548">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动平衡次数</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次</a:t>
                      </a:r>
                      <a:endParaRPr 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2904351624"/>
                  </a:ext>
                </a:extLst>
              </a:tr>
            </a:tbl>
          </a:graphicData>
        </a:graphic>
      </p:graphicFrame>
      <p:graphicFrame>
        <p:nvGraphicFramePr>
          <p:cNvPr id="4" name="图表 3">
            <a:extLst>
              <a:ext uri="{FF2B5EF4-FFF2-40B4-BE49-F238E27FC236}">
                <a16:creationId xmlns="" xmlns:a16="http://schemas.microsoft.com/office/drawing/2014/main" id="{37AE4649-96D6-7F7F-2102-9377E3174BBE}"/>
              </a:ext>
            </a:extLst>
          </p:cNvPr>
          <p:cNvGraphicFramePr>
            <a:graphicFrameLocks/>
          </p:cNvGraphicFramePr>
          <p:nvPr/>
        </p:nvGraphicFramePr>
        <p:xfrm>
          <a:off x="571500" y="2822087"/>
          <a:ext cx="7023946" cy="3446367"/>
        </p:xfrm>
        <a:graphic>
          <a:graphicData uri="http://schemas.openxmlformats.org/drawingml/2006/chart">
            <c:chart xmlns:c="http://schemas.openxmlformats.org/drawingml/2006/chart" xmlns:r="http://schemas.openxmlformats.org/officeDocument/2006/relationships" r:id="rId3"/>
          </a:graphicData>
        </a:graphic>
      </p:graphicFrame>
      <p:sp>
        <p:nvSpPr>
          <p:cNvPr id="2" name="文本占位符 10">
            <a:extLst>
              <a:ext uri="{FF2B5EF4-FFF2-40B4-BE49-F238E27FC236}">
                <a16:creationId xmlns="" xmlns:a16="http://schemas.microsoft.com/office/drawing/2014/main" id="{F738D042-F26E-AF2E-89BD-E6965A96C132}"/>
              </a:ext>
            </a:extLst>
          </p:cNvPr>
          <p:cNvSpPr txBox="1"/>
          <p:nvPr/>
        </p:nvSpPr>
        <p:spPr>
          <a:xfrm>
            <a:off x="899137" y="391454"/>
            <a:ext cx="9841546" cy="508000"/>
          </a:xfrm>
          <a:prstGeom prst="rect">
            <a:avLst/>
          </a:prstGeom>
        </p:spPr>
        <p:txBody>
          <a:bodyPr lIns="0" tIns="0" rIns="0" bIns="0" anchor="ctr" anchorCtr="0"/>
          <a:lstStyle>
            <a:lvl1pPr marL="0" indent="0" algn="l" defTabSz="457200" rtl="0" eaLnBrk="1" latinLnBrk="0" hangingPunct="1">
              <a:lnSpc>
                <a:spcPct val="100000"/>
              </a:lnSpc>
              <a:spcBef>
                <a:spcPts val="2000"/>
              </a:spcBef>
              <a:buFont typeface="Arial" panose="020B0604020202020204" pitchFamily="34" charset="0"/>
              <a:buNone/>
              <a:defRPr lang="zh-CN" altLang="en-US" sz="6000" b="1" kern="1200" spc="1000" dirty="0">
                <a:solidFill>
                  <a:srgbClr val="3B3838"/>
                </a:solidFill>
                <a:latin typeface="+mj-ea"/>
                <a:ea typeface="+mj-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a:solidFill>
                  <a:schemeClr val="tx1"/>
                </a:solidFill>
                <a:latin typeface="+mn-lt"/>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914378" rtl="0" eaLnBrk="1" fontAlgn="auto" latinLnBrk="0" hangingPunct="1">
              <a:lnSpc>
                <a:spcPts val="2143"/>
              </a:lnSpc>
              <a:spcBef>
                <a:spcPts val="1029"/>
              </a:spcBef>
              <a:spcAft>
                <a:spcPts val="1029"/>
              </a:spcAft>
              <a:buClrTx/>
              <a:buSzTx/>
              <a:buFont typeface="Arial" panose="020B0604020202020204" pitchFamily="34" charset="0"/>
              <a:buNone/>
              <a:tabLst/>
              <a:defRPr/>
            </a:pP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基于基金池的业绩模拟：稳健型（</a:t>
            </a:r>
            <a:r>
              <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10/90 </a:t>
            </a: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样板间，风险级别 </a:t>
            </a:r>
            <a:r>
              <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R2</a:t>
            </a: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a:t>
            </a:r>
            <a:endPar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endParaRPr>
          </a:p>
        </p:txBody>
      </p:sp>
      <p:sp>
        <p:nvSpPr>
          <p:cNvPr id="8" name="Shape 0">
            <a:extLst>
              <a:ext uri="{FF2B5EF4-FFF2-40B4-BE49-F238E27FC236}">
                <a16:creationId xmlns="" xmlns:a16="http://schemas.microsoft.com/office/drawing/2014/main" id="{D3E4AE8F-CE4A-B989-22EC-80AC2AE8D1C4}"/>
              </a:ext>
            </a:extLst>
          </p:cNvPr>
          <p:cNvSpPr/>
          <p:nvPr/>
        </p:nvSpPr>
        <p:spPr>
          <a:xfrm>
            <a:off x="381000" y="38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ea typeface="HarmonyOS Sans SC Light"/>
              <a:cs typeface="+mn-cs"/>
            </a:endParaRPr>
          </a:p>
        </p:txBody>
      </p:sp>
      <p:sp>
        <p:nvSpPr>
          <p:cNvPr id="10" name="Text 1">
            <a:extLst>
              <a:ext uri="{FF2B5EF4-FFF2-40B4-BE49-F238E27FC236}">
                <a16:creationId xmlns="" xmlns:a16="http://schemas.microsoft.com/office/drawing/2014/main" id="{5BA58E4A-8E81-E44E-06CD-FBA74AFDAC7C}"/>
              </a:ext>
            </a:extLst>
          </p:cNvPr>
          <p:cNvSpPr/>
          <p:nvPr/>
        </p:nvSpPr>
        <p:spPr>
          <a:xfrm>
            <a:off x="451842" y="438150"/>
            <a:ext cx="323850" cy="266700"/>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lang="en-US" sz="1350" b="1" dirty="0">
                <a:solidFill>
                  <a:srgbClr val="F9FAFB"/>
                </a:solidFill>
                <a:latin typeface="思源宋体" pitchFamily="34" charset="0"/>
                <a:ea typeface="思源宋体" pitchFamily="34" charset="-122"/>
                <a:cs typeface="思源宋体" pitchFamily="34" charset="-120"/>
              </a:rPr>
              <a:t>1</a:t>
            </a:r>
            <a:r>
              <a:rPr kumimoji="0" lang="en-US" sz="1350" b="1" i="0" u="none" strike="noStrike" kern="1200" cap="none" spc="0" normalizeH="0" baseline="0" noProof="0" dirty="0">
                <a:ln>
                  <a:noFill/>
                </a:ln>
                <a:solidFill>
                  <a:srgbClr val="F9FAFB"/>
                </a:solidFill>
                <a:effectLst/>
                <a:uLnTx/>
                <a:uFillTx/>
                <a:latin typeface="思源宋体" pitchFamily="34" charset="0"/>
                <a:ea typeface="思源宋体" pitchFamily="34" charset="-122"/>
                <a:cs typeface="思源宋体" pitchFamily="34" charset="-120"/>
              </a:rPr>
              <a:t>.1</a:t>
            </a:r>
            <a:endParaRPr kumimoji="0" lang="en-US" sz="1600" b="0" i="0" u="none" strike="noStrike" kern="1200" cap="none" spc="0" normalizeH="0" baseline="0" noProof="0" dirty="0">
              <a:ln>
                <a:noFill/>
              </a:ln>
              <a:solidFill>
                <a:prstClr val="black"/>
              </a:solidFill>
              <a:effectLst/>
              <a:uLnTx/>
              <a:uFillTx/>
              <a:ea typeface="HarmonyOS Sans SC Light"/>
              <a:cs typeface="+mn-cs"/>
            </a:endParaRPr>
          </a:p>
        </p:txBody>
      </p:sp>
      <p:grpSp>
        <p:nvGrpSpPr>
          <p:cNvPr id="30" name="组合 29">
            <a:extLst>
              <a:ext uri="{FF2B5EF4-FFF2-40B4-BE49-F238E27FC236}">
                <a16:creationId xmlns="" xmlns:a16="http://schemas.microsoft.com/office/drawing/2014/main" id="{F48E8F3E-2CDF-A623-C8EB-77FCCBEC46B8}"/>
              </a:ext>
            </a:extLst>
          </p:cNvPr>
          <p:cNvGrpSpPr/>
          <p:nvPr/>
        </p:nvGrpSpPr>
        <p:grpSpPr>
          <a:xfrm>
            <a:off x="8088985" y="4039970"/>
            <a:ext cx="3481692" cy="2147806"/>
            <a:chOff x="9214522" y="4481783"/>
            <a:chExt cx="5076266" cy="3481788"/>
          </a:xfrm>
        </p:grpSpPr>
        <p:grpSp>
          <p:nvGrpSpPr>
            <p:cNvPr id="11" name="组合 10">
              <a:extLst>
                <a:ext uri="{FF2B5EF4-FFF2-40B4-BE49-F238E27FC236}">
                  <a16:creationId xmlns="" xmlns:a16="http://schemas.microsoft.com/office/drawing/2014/main" id="{F33BCCDF-14FF-B5EC-E099-B28C781CB72C}"/>
                </a:ext>
              </a:extLst>
            </p:cNvPr>
            <p:cNvGrpSpPr/>
            <p:nvPr/>
          </p:nvGrpSpPr>
          <p:grpSpPr>
            <a:xfrm>
              <a:off x="9214522" y="4481783"/>
              <a:ext cx="2886454" cy="3481788"/>
              <a:chOff x="9671296" y="529928"/>
              <a:chExt cx="1406378" cy="1696237"/>
            </a:xfrm>
          </p:grpSpPr>
          <p:grpSp>
            <p:nvGrpSpPr>
              <p:cNvPr id="14" name="组合 13">
                <a:extLst>
                  <a:ext uri="{FF2B5EF4-FFF2-40B4-BE49-F238E27FC236}">
                    <a16:creationId xmlns="" xmlns:a16="http://schemas.microsoft.com/office/drawing/2014/main" id="{BCA34DDC-7821-6AE9-ABAA-E15746DB1B8B}"/>
                  </a:ext>
                </a:extLst>
              </p:cNvPr>
              <p:cNvGrpSpPr/>
              <p:nvPr/>
            </p:nvGrpSpPr>
            <p:grpSpPr>
              <a:xfrm>
                <a:off x="9671296" y="529928"/>
                <a:ext cx="1406378" cy="1696237"/>
                <a:chOff x="3752250" y="10792389"/>
                <a:chExt cx="3402534" cy="3919905"/>
              </a:xfrm>
            </p:grpSpPr>
            <p:sp>
              <p:nvSpPr>
                <p:cNvPr id="18" name="流程图: 摘录 17">
                  <a:extLst>
                    <a:ext uri="{FF2B5EF4-FFF2-40B4-BE49-F238E27FC236}">
                      <a16:creationId xmlns="" xmlns:a16="http://schemas.microsoft.com/office/drawing/2014/main" id="{7424F9C8-A27A-A078-F891-661DD5DDB6F1}"/>
                    </a:ext>
                  </a:extLst>
                </p:cNvPr>
                <p:cNvSpPr/>
                <p:nvPr/>
              </p:nvSpPr>
              <p:spPr>
                <a:xfrm>
                  <a:off x="4989650" y="10792389"/>
                  <a:ext cx="849448" cy="970066"/>
                </a:xfrm>
                <a:prstGeom prst="flowChartExtra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ea typeface="HarmonyOS Sans SC Light"/>
                    <a:cs typeface="+mn-cs"/>
                  </a:endParaRPr>
                </a:p>
              </p:txBody>
            </p:sp>
            <p:grpSp>
              <p:nvGrpSpPr>
                <p:cNvPr id="19" name="组合 18">
                  <a:extLst>
                    <a:ext uri="{FF2B5EF4-FFF2-40B4-BE49-F238E27FC236}">
                      <a16:creationId xmlns="" xmlns:a16="http://schemas.microsoft.com/office/drawing/2014/main" id="{9DEEE2B1-7D17-7347-C402-8583D1E0C5F6}"/>
                    </a:ext>
                  </a:extLst>
                </p:cNvPr>
                <p:cNvGrpSpPr/>
                <p:nvPr/>
              </p:nvGrpSpPr>
              <p:grpSpPr>
                <a:xfrm>
                  <a:off x="3752250" y="11955574"/>
                  <a:ext cx="3402534" cy="2756720"/>
                  <a:chOff x="1932984" y="12048650"/>
                  <a:chExt cx="3402534" cy="2756720"/>
                </a:xfrm>
              </p:grpSpPr>
              <p:grpSp>
                <p:nvGrpSpPr>
                  <p:cNvPr id="20" name="组合 19">
                    <a:extLst>
                      <a:ext uri="{FF2B5EF4-FFF2-40B4-BE49-F238E27FC236}">
                        <a16:creationId xmlns="" xmlns:a16="http://schemas.microsoft.com/office/drawing/2014/main" id="{F1186756-AF8F-0445-0B80-915B7FD810A9}"/>
                      </a:ext>
                    </a:extLst>
                  </p:cNvPr>
                  <p:cNvGrpSpPr/>
                  <p:nvPr/>
                </p:nvGrpSpPr>
                <p:grpSpPr>
                  <a:xfrm>
                    <a:off x="1993692" y="12048650"/>
                    <a:ext cx="3341826" cy="2756720"/>
                    <a:chOff x="1993692" y="12048650"/>
                    <a:chExt cx="3341826" cy="2756720"/>
                  </a:xfrm>
                </p:grpSpPr>
                <p:grpSp>
                  <p:nvGrpSpPr>
                    <p:cNvPr id="22" name="组合 21">
                      <a:extLst>
                        <a:ext uri="{FF2B5EF4-FFF2-40B4-BE49-F238E27FC236}">
                          <a16:creationId xmlns="" xmlns:a16="http://schemas.microsoft.com/office/drawing/2014/main" id="{E0C1CDE7-9528-4159-CF39-CA2823657ED0}"/>
                        </a:ext>
                      </a:extLst>
                    </p:cNvPr>
                    <p:cNvGrpSpPr/>
                    <p:nvPr/>
                  </p:nvGrpSpPr>
                  <p:grpSpPr>
                    <a:xfrm>
                      <a:off x="1993692" y="13586215"/>
                      <a:ext cx="3341826" cy="1219155"/>
                      <a:chOff x="1553724" y="4043581"/>
                      <a:chExt cx="1872209" cy="1154556"/>
                    </a:xfrm>
                  </p:grpSpPr>
                  <p:sp>
                    <p:nvSpPr>
                      <p:cNvPr id="24" name="矩形: 圆角 19">
                        <a:extLst>
                          <a:ext uri="{FF2B5EF4-FFF2-40B4-BE49-F238E27FC236}">
                            <a16:creationId xmlns="" xmlns:a16="http://schemas.microsoft.com/office/drawing/2014/main" id="{BCCF099F-26E0-39F0-A936-3EDE82208823}"/>
                          </a:ext>
                        </a:extLst>
                      </p:cNvPr>
                      <p:cNvSpPr/>
                      <p:nvPr/>
                    </p:nvSpPr>
                    <p:spPr>
                      <a:xfrm>
                        <a:off x="1631304" y="4111107"/>
                        <a:ext cx="1643586" cy="765202"/>
                      </a:xfrm>
                      <a:prstGeom prst="trapezoid">
                        <a:avLst>
                          <a:gd name="adj" fmla="val 3987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30867" rtl="0" eaLnBrk="1" fontAlgn="auto" latinLnBrk="0" hangingPunct="1">
                          <a:lnSpc>
                            <a:spcPct val="100000"/>
                          </a:lnSpc>
                          <a:spcBef>
                            <a:spcPts val="0"/>
                          </a:spcBef>
                          <a:spcAft>
                            <a:spcPts val="0"/>
                          </a:spcAft>
                          <a:buClrTx/>
                          <a:buSzTx/>
                          <a:buFontTx/>
                          <a:buNone/>
                          <a:tabLst/>
                          <a:defRPr/>
                        </a:pPr>
                        <a:endParaRPr kumimoji="0" lang="zh-CN" altLang="en-US" sz="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5" name="矩形 47">
                        <a:extLst>
                          <a:ext uri="{FF2B5EF4-FFF2-40B4-BE49-F238E27FC236}">
                            <a16:creationId xmlns="" xmlns:a16="http://schemas.microsoft.com/office/drawing/2014/main" id="{31B27A9F-4A29-1034-8ACC-F4EF771A2A14}"/>
                          </a:ext>
                        </a:extLst>
                      </p:cNvPr>
                      <p:cNvSpPr/>
                      <p:nvPr/>
                    </p:nvSpPr>
                    <p:spPr>
                      <a:xfrm>
                        <a:off x="1553724" y="4043581"/>
                        <a:ext cx="1872209" cy="1154556"/>
                      </a:xfrm>
                      <a:prstGeom prst="rect">
                        <a:avLst/>
                      </a:prstGeom>
                    </p:spPr>
                    <p:txBody>
                      <a:bodyPr wrap="square" anchor="ctr">
                        <a:spAutoFit/>
                      </a:bodyPr>
                      <a:lstStyle/>
                      <a:p>
                        <a:pPr marL="0" marR="0" lvl="0" indent="0" algn="ctr" defTabSz="685800" rtl="0" eaLnBrk="1" fontAlgn="auto" latinLnBrk="0" hangingPunct="1">
                          <a:lnSpc>
                            <a:spcPts val="5670"/>
                          </a:lnSpc>
                          <a:spcBef>
                            <a:spcPts val="0"/>
                          </a:spcBef>
                          <a:spcAft>
                            <a:spcPts val="0"/>
                          </a:spcAft>
                          <a:buClrTx/>
                          <a:buSzTx/>
                          <a:buFontTx/>
                          <a:buNone/>
                          <a:tabLst/>
                          <a:defRPr/>
                        </a:pPr>
                        <a:endParaRPr kumimoji="0" lang="zh-CN" altLang="en-US" sz="9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3" name="梯形 22">
                      <a:extLst>
                        <a:ext uri="{FF2B5EF4-FFF2-40B4-BE49-F238E27FC236}">
                          <a16:creationId xmlns="" xmlns:a16="http://schemas.microsoft.com/office/drawing/2014/main" id="{01549B15-779F-BCD7-022A-C603E67F5FA6}"/>
                        </a:ext>
                      </a:extLst>
                    </p:cNvPr>
                    <p:cNvSpPr/>
                    <p:nvPr/>
                  </p:nvSpPr>
                  <p:spPr>
                    <a:xfrm>
                      <a:off x="2528365" y="12048650"/>
                      <a:ext cx="2151065" cy="1443126"/>
                    </a:xfrm>
                    <a:prstGeom prst="trapezoid">
                      <a:avLst>
                        <a:gd name="adj" fmla="val 37673"/>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ea typeface="HarmonyOS Sans SC Light"/>
                        <a:cs typeface="+mn-cs"/>
                      </a:endParaRPr>
                    </a:p>
                  </p:txBody>
                </p:sp>
              </p:grpSp>
              <p:sp>
                <p:nvSpPr>
                  <p:cNvPr id="21" name="矩形 47">
                    <a:extLst>
                      <a:ext uri="{FF2B5EF4-FFF2-40B4-BE49-F238E27FC236}">
                        <a16:creationId xmlns="" xmlns:a16="http://schemas.microsoft.com/office/drawing/2014/main" id="{3208E1B7-40F7-FDF0-A310-9ABF68E25343}"/>
                      </a:ext>
                    </a:extLst>
                  </p:cNvPr>
                  <p:cNvSpPr/>
                  <p:nvPr/>
                </p:nvSpPr>
                <p:spPr>
                  <a:xfrm>
                    <a:off x="1932984" y="12297884"/>
                    <a:ext cx="3341826" cy="1219155"/>
                  </a:xfrm>
                  <a:prstGeom prst="rect">
                    <a:avLst/>
                  </a:prstGeom>
                </p:spPr>
                <p:txBody>
                  <a:bodyPr wrap="square" anchor="ctr">
                    <a:spAutoFit/>
                  </a:bodyPr>
                  <a:lstStyle/>
                  <a:p>
                    <a:pPr marL="0" marR="0" lvl="0" indent="0" algn="ctr" defTabSz="685800" rtl="0" eaLnBrk="1" fontAlgn="auto" latinLnBrk="0" hangingPunct="1">
                      <a:lnSpc>
                        <a:spcPts val="5670"/>
                      </a:lnSpc>
                      <a:spcBef>
                        <a:spcPts val="0"/>
                      </a:spcBef>
                      <a:spcAft>
                        <a:spcPts val="0"/>
                      </a:spcAft>
                      <a:buClrTx/>
                      <a:buSzTx/>
                      <a:buFontTx/>
                      <a:buNone/>
                      <a:tabLst/>
                      <a:defRPr/>
                    </a:pPr>
                    <a:endParaRPr kumimoji="0" lang="zh-CN" altLang="en-US" sz="9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grpSp>
          <p:sp>
            <p:nvSpPr>
              <p:cNvPr id="15" name="矩形: 圆角 14">
                <a:extLst>
                  <a:ext uri="{FF2B5EF4-FFF2-40B4-BE49-F238E27FC236}">
                    <a16:creationId xmlns="" xmlns:a16="http://schemas.microsoft.com/office/drawing/2014/main" id="{39507297-6172-88E4-341E-1FD4DC16A705}"/>
                  </a:ext>
                </a:extLst>
              </p:cNvPr>
              <p:cNvSpPr/>
              <p:nvPr/>
            </p:nvSpPr>
            <p:spPr>
              <a:xfrm>
                <a:off x="9859583" y="1136335"/>
                <a:ext cx="1029804" cy="4286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85%</a:t>
                </a:r>
                <a:endParaRPr kumimoji="0" lang="zh-CN" altLang="en-US" sz="9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矩形: 圆角 15">
                <a:extLst>
                  <a:ext uri="{FF2B5EF4-FFF2-40B4-BE49-F238E27FC236}">
                    <a16:creationId xmlns="" xmlns:a16="http://schemas.microsoft.com/office/drawing/2014/main" id="{532F7204-3DF7-33BB-5A7F-70D25359D54B}"/>
                  </a:ext>
                </a:extLst>
              </p:cNvPr>
              <p:cNvSpPr/>
              <p:nvPr/>
            </p:nvSpPr>
            <p:spPr>
              <a:xfrm>
                <a:off x="9850292" y="1696851"/>
                <a:ext cx="1029804" cy="4286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3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5%</a:t>
                </a:r>
                <a:endParaRPr kumimoji="0" lang="zh-CN" altLang="en-US" sz="13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矩形: 圆角 16">
                <a:extLst>
                  <a:ext uri="{FF2B5EF4-FFF2-40B4-BE49-F238E27FC236}">
                    <a16:creationId xmlns="" xmlns:a16="http://schemas.microsoft.com/office/drawing/2014/main" id="{A8B06278-ABD3-1D0A-2D17-23268442A7C3}"/>
                  </a:ext>
                </a:extLst>
              </p:cNvPr>
              <p:cNvSpPr/>
              <p:nvPr/>
            </p:nvSpPr>
            <p:spPr>
              <a:xfrm>
                <a:off x="10081887" y="560140"/>
                <a:ext cx="566614" cy="4286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10%</a:t>
                </a:r>
                <a:endParaRPr kumimoji="0" lang="zh-CN" altLang="en-US" sz="9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6" name="文本框 25">
              <a:extLst>
                <a:ext uri="{FF2B5EF4-FFF2-40B4-BE49-F238E27FC236}">
                  <a16:creationId xmlns="" xmlns:a16="http://schemas.microsoft.com/office/drawing/2014/main" id="{E9FE7DE0-646C-248D-AC7E-ED91786803E1}"/>
                </a:ext>
              </a:extLst>
            </p:cNvPr>
            <p:cNvSpPr txBox="1"/>
            <p:nvPr/>
          </p:nvSpPr>
          <p:spPr>
            <a:xfrm>
              <a:off x="11852488" y="4702321"/>
              <a:ext cx="2343496" cy="823240"/>
            </a:xfrm>
            <a:prstGeom prst="rect">
              <a:avLst/>
            </a:prstGeom>
            <a:noFill/>
          </p:spPr>
          <p:txBody>
            <a:bodyPr wrap="square" rtlCol="0">
              <a:spAutoFit/>
            </a:bodyPr>
            <a:lstStyle/>
            <a:p>
              <a:pPr marL="285743" marR="0" lvl="0" indent="-285743"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增值组合</a:t>
              </a:r>
              <a:r>
                <a:rPr kumimoji="0" lang="en-US" altLang="zh-CN"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 10%</a:t>
              </a:r>
              <a:endPar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endParaRPr>
            </a:p>
          </p:txBody>
        </p:sp>
        <p:sp>
          <p:nvSpPr>
            <p:cNvPr id="27" name="文本框 26">
              <a:extLst>
                <a:ext uri="{FF2B5EF4-FFF2-40B4-BE49-F238E27FC236}">
                  <a16:creationId xmlns="" xmlns:a16="http://schemas.microsoft.com/office/drawing/2014/main" id="{4B0FCCAB-6862-4179-3DBC-C14C7723FD4D}"/>
                </a:ext>
              </a:extLst>
            </p:cNvPr>
            <p:cNvSpPr txBox="1"/>
            <p:nvPr/>
          </p:nvSpPr>
          <p:spPr>
            <a:xfrm>
              <a:off x="11852488" y="5882999"/>
              <a:ext cx="2438300" cy="823240"/>
            </a:xfrm>
            <a:prstGeom prst="rect">
              <a:avLst/>
            </a:prstGeom>
            <a:noFill/>
          </p:spPr>
          <p:txBody>
            <a:bodyPr wrap="square" rtlCol="0">
              <a:spAutoFit/>
            </a:bodyPr>
            <a:lstStyle/>
            <a:p>
              <a:pPr marL="285743" marR="0" lvl="0" indent="-285743"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生息组合 </a:t>
              </a:r>
              <a:r>
                <a:rPr kumimoji="0" lang="en-US" altLang="zh-CN"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85%</a:t>
              </a:r>
              <a:endPar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endParaRPr>
            </a:p>
          </p:txBody>
        </p:sp>
        <p:sp>
          <p:nvSpPr>
            <p:cNvPr id="28" name="文本框 27">
              <a:extLst>
                <a:ext uri="{FF2B5EF4-FFF2-40B4-BE49-F238E27FC236}">
                  <a16:creationId xmlns="" xmlns:a16="http://schemas.microsoft.com/office/drawing/2014/main" id="{CA55C75B-E0A9-841B-B968-6DE0514A3F17}"/>
                </a:ext>
              </a:extLst>
            </p:cNvPr>
            <p:cNvSpPr txBox="1"/>
            <p:nvPr/>
          </p:nvSpPr>
          <p:spPr>
            <a:xfrm>
              <a:off x="11858411" y="7037906"/>
              <a:ext cx="2394500" cy="486460"/>
            </a:xfrm>
            <a:prstGeom prst="rect">
              <a:avLst/>
            </a:prstGeom>
            <a:noFill/>
          </p:spPr>
          <p:txBody>
            <a:bodyPr wrap="square" rtlCol="0">
              <a:spAutoFit/>
            </a:bodyPr>
            <a:lstStyle/>
            <a:p>
              <a:pPr marL="285743" marR="0" lvl="0" indent="-285743"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保障组合 </a:t>
              </a:r>
              <a:r>
                <a:rPr kumimoji="0" lang="en-US" altLang="zh-CN"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5%</a:t>
              </a:r>
              <a:endPar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endParaRPr>
            </a:p>
          </p:txBody>
        </p:sp>
      </p:grpSp>
    </p:spTree>
    <p:extLst>
      <p:ext uri="{BB962C8B-B14F-4D97-AF65-F5344CB8AC3E}">
        <p14:creationId xmlns:p14="http://schemas.microsoft.com/office/powerpoint/2010/main" val="2846952789"/>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8AF6BC2-C695-2D4F-7275-E3E97571F6B4}"/>
            </a:ext>
          </a:extLst>
        </p:cNvPr>
        <p:cNvGrpSpPr/>
        <p:nvPr/>
      </p:nvGrpSpPr>
      <p:grpSpPr>
        <a:xfrm>
          <a:off x="0" y="0"/>
          <a:ext cx="0" cy="0"/>
          <a:chOff x="0" y="0"/>
          <a:chExt cx="0" cy="0"/>
        </a:xfrm>
      </p:grpSpPr>
      <p:sp>
        <p:nvSpPr>
          <p:cNvPr id="9" name="椭圆 8" descr="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
            <a:extLst>
              <a:ext uri="{FF2B5EF4-FFF2-40B4-BE49-F238E27FC236}">
                <a16:creationId xmlns="" xmlns:a16="http://schemas.microsoft.com/office/drawing/2014/main" id="{E6A5D444-226F-4BE0-4463-824E34DB8B28}"/>
              </a:ext>
            </a:extLst>
          </p:cNvPr>
          <p:cNvSpPr/>
          <p:nvPr/>
        </p:nvSpPr>
        <p:spPr>
          <a:xfrm rot="17100000">
            <a:off x="665665" y="160279"/>
            <a:ext cx="1425269" cy="1425269"/>
          </a:xfrm>
          <a:prstGeom prst="ellipse">
            <a:avLst/>
          </a:prstGeom>
          <a:gradFill flip="none" rotWithShape="1">
            <a:gsLst>
              <a:gs pos="34000">
                <a:schemeClr val="accent1">
                  <a:lumMod val="45000"/>
                  <a:lumOff val="55000"/>
                  <a:alpha val="0"/>
                </a:schemeClr>
              </a:gs>
              <a:gs pos="100000">
                <a:schemeClr val="accent1">
                  <a:alpha val="37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8"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ea typeface="HarmonyOS Sans SC Light"/>
              <a:cs typeface="+mn-cs"/>
            </a:endParaRPr>
          </a:p>
        </p:txBody>
      </p:sp>
      <p:cxnSp>
        <p:nvCxnSpPr>
          <p:cNvPr id="3" name="直接连接符 2">
            <a:extLst>
              <a:ext uri="{FF2B5EF4-FFF2-40B4-BE49-F238E27FC236}">
                <a16:creationId xmlns="" xmlns:a16="http://schemas.microsoft.com/office/drawing/2014/main" id="{A46C9CAC-D039-ECB2-F63E-B786C27AE723}"/>
              </a:ext>
            </a:extLst>
          </p:cNvPr>
          <p:cNvCxnSpPr/>
          <p:nvPr/>
        </p:nvCxnSpPr>
        <p:spPr>
          <a:xfrm>
            <a:off x="582917" y="1141204"/>
            <a:ext cx="1120678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文本占位符 10">
            <a:extLst>
              <a:ext uri="{FF2B5EF4-FFF2-40B4-BE49-F238E27FC236}">
                <a16:creationId xmlns="" xmlns:a16="http://schemas.microsoft.com/office/drawing/2014/main" id="{8F875927-D6C0-4CCD-188D-0FC76A68172D}"/>
              </a:ext>
            </a:extLst>
          </p:cNvPr>
          <p:cNvSpPr txBox="1"/>
          <p:nvPr/>
        </p:nvSpPr>
        <p:spPr>
          <a:xfrm>
            <a:off x="899137" y="391454"/>
            <a:ext cx="9202183" cy="508000"/>
          </a:xfrm>
          <a:prstGeom prst="rect">
            <a:avLst/>
          </a:prstGeom>
        </p:spPr>
        <p:txBody>
          <a:bodyPr lIns="0" tIns="0" rIns="0" bIns="0" anchor="ctr" anchorCtr="0"/>
          <a:lstStyle>
            <a:lvl1pPr marL="0" indent="0" algn="l" defTabSz="457200" rtl="0" eaLnBrk="1" latinLnBrk="0" hangingPunct="1">
              <a:lnSpc>
                <a:spcPct val="100000"/>
              </a:lnSpc>
              <a:spcBef>
                <a:spcPts val="2000"/>
              </a:spcBef>
              <a:buFont typeface="Arial" panose="020B0604020202020204" pitchFamily="34" charset="0"/>
              <a:buNone/>
              <a:defRPr lang="zh-CN" altLang="en-US" sz="6000" b="1" kern="1200" spc="1000" dirty="0">
                <a:solidFill>
                  <a:srgbClr val="3B3838"/>
                </a:solidFill>
                <a:latin typeface="+mj-ea"/>
                <a:ea typeface="+mj-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a:solidFill>
                  <a:schemeClr val="tx1"/>
                </a:solidFill>
                <a:latin typeface="+mn-lt"/>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914378" rtl="0" eaLnBrk="1" fontAlgn="auto" latinLnBrk="0" hangingPunct="1">
              <a:lnSpc>
                <a:spcPts val="2143"/>
              </a:lnSpc>
              <a:spcBef>
                <a:spcPts val="1029"/>
              </a:spcBef>
              <a:spcAft>
                <a:spcPts val="1029"/>
              </a:spcAft>
              <a:buClrTx/>
              <a:buSzTx/>
              <a:buFont typeface="Arial" panose="020B0604020202020204" pitchFamily="34" charset="0"/>
              <a:buNone/>
              <a:tabLst/>
              <a:defRPr/>
            </a:pP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基金池业绩模拟：稳健型（</a:t>
            </a:r>
            <a:r>
              <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10/90 </a:t>
            </a: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样板间）</a:t>
            </a:r>
            <a:endPar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endParaRPr>
          </a:p>
        </p:txBody>
      </p:sp>
      <p:sp>
        <p:nvSpPr>
          <p:cNvPr id="8" name="Shape 0">
            <a:extLst>
              <a:ext uri="{FF2B5EF4-FFF2-40B4-BE49-F238E27FC236}">
                <a16:creationId xmlns="" xmlns:a16="http://schemas.microsoft.com/office/drawing/2014/main" id="{20F797D1-9788-14EA-E835-CDEA9119F2DB}"/>
              </a:ext>
            </a:extLst>
          </p:cNvPr>
          <p:cNvSpPr/>
          <p:nvPr/>
        </p:nvSpPr>
        <p:spPr>
          <a:xfrm>
            <a:off x="381000" y="38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ea typeface="HarmonyOS Sans SC Light"/>
              <a:cs typeface="+mn-cs"/>
            </a:endParaRPr>
          </a:p>
        </p:txBody>
      </p:sp>
      <p:sp>
        <p:nvSpPr>
          <p:cNvPr id="10" name="Text 1">
            <a:extLst>
              <a:ext uri="{FF2B5EF4-FFF2-40B4-BE49-F238E27FC236}">
                <a16:creationId xmlns="" xmlns:a16="http://schemas.microsoft.com/office/drawing/2014/main" id="{E89A3E23-A9BE-B658-C6EE-4FDC4FDEDF05}"/>
              </a:ext>
            </a:extLst>
          </p:cNvPr>
          <p:cNvSpPr/>
          <p:nvPr/>
        </p:nvSpPr>
        <p:spPr>
          <a:xfrm>
            <a:off x="451842" y="438150"/>
            <a:ext cx="323850" cy="266700"/>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lang="en-US" sz="1350" b="1" dirty="0">
                <a:solidFill>
                  <a:srgbClr val="F9FAFB"/>
                </a:solidFill>
                <a:latin typeface="思源宋体" pitchFamily="34" charset="0"/>
                <a:ea typeface="思源宋体" pitchFamily="34" charset="-122"/>
                <a:cs typeface="思源宋体" pitchFamily="34" charset="-120"/>
              </a:rPr>
              <a:t>1</a:t>
            </a:r>
            <a:r>
              <a:rPr kumimoji="0" lang="en-US" sz="1350" b="1" i="0" u="none" strike="noStrike" kern="1200" cap="none" spc="0" normalizeH="0" baseline="0" noProof="0" dirty="0">
                <a:ln>
                  <a:noFill/>
                </a:ln>
                <a:solidFill>
                  <a:srgbClr val="F9FAFB"/>
                </a:solidFill>
                <a:effectLst/>
                <a:uLnTx/>
                <a:uFillTx/>
                <a:latin typeface="思源宋体" pitchFamily="34" charset="0"/>
                <a:ea typeface="思源宋体" pitchFamily="34" charset="-122"/>
                <a:cs typeface="思源宋体" pitchFamily="34" charset="-120"/>
              </a:rPr>
              <a:t>.2</a:t>
            </a:r>
            <a:endParaRPr kumimoji="0" lang="en-US" sz="1600" b="0" i="0" u="none" strike="noStrike" kern="1200" cap="none" spc="0" normalizeH="0" baseline="0" noProof="0" dirty="0">
              <a:ln>
                <a:noFill/>
              </a:ln>
              <a:solidFill>
                <a:prstClr val="black"/>
              </a:solidFill>
              <a:effectLst/>
              <a:uLnTx/>
              <a:uFillTx/>
              <a:ea typeface="HarmonyOS Sans SC Light"/>
              <a:cs typeface="+mn-cs"/>
            </a:endParaRPr>
          </a:p>
        </p:txBody>
      </p:sp>
      <p:graphicFrame>
        <p:nvGraphicFramePr>
          <p:cNvPr id="4" name="表格 3">
            <a:extLst>
              <a:ext uri="{FF2B5EF4-FFF2-40B4-BE49-F238E27FC236}">
                <a16:creationId xmlns="" xmlns:a16="http://schemas.microsoft.com/office/drawing/2014/main" id="{2AD4FE07-801C-DED0-AA8C-E4FFEFB67A47}"/>
              </a:ext>
            </a:extLst>
          </p:cNvPr>
          <p:cNvGraphicFramePr>
            <a:graphicFrameLocks noGrp="1"/>
          </p:cNvGraphicFramePr>
          <p:nvPr/>
        </p:nvGraphicFramePr>
        <p:xfrm>
          <a:off x="613767" y="2190142"/>
          <a:ext cx="10814409" cy="3655490"/>
        </p:xfrm>
        <a:graphic>
          <a:graphicData uri="http://schemas.openxmlformats.org/drawingml/2006/table">
            <a:tbl>
              <a:tblPr/>
              <a:tblGrid>
                <a:gridCol w="684210">
                  <a:extLst>
                    <a:ext uri="{9D8B030D-6E8A-4147-A177-3AD203B41FA5}">
                      <a16:colId xmlns="" xmlns:a16="http://schemas.microsoft.com/office/drawing/2014/main" val="20000"/>
                    </a:ext>
                  </a:extLst>
                </a:gridCol>
                <a:gridCol w="684210">
                  <a:extLst>
                    <a:ext uri="{9D8B030D-6E8A-4147-A177-3AD203B41FA5}">
                      <a16:colId xmlns="" xmlns:a16="http://schemas.microsoft.com/office/drawing/2014/main" val="20001"/>
                    </a:ext>
                  </a:extLst>
                </a:gridCol>
                <a:gridCol w="684210">
                  <a:extLst>
                    <a:ext uri="{9D8B030D-6E8A-4147-A177-3AD203B41FA5}">
                      <a16:colId xmlns="" xmlns:a16="http://schemas.microsoft.com/office/drawing/2014/main" val="20002"/>
                    </a:ext>
                  </a:extLst>
                </a:gridCol>
                <a:gridCol w="684210">
                  <a:extLst>
                    <a:ext uri="{9D8B030D-6E8A-4147-A177-3AD203B41FA5}">
                      <a16:colId xmlns="" xmlns:a16="http://schemas.microsoft.com/office/drawing/2014/main" val="20003"/>
                    </a:ext>
                  </a:extLst>
                </a:gridCol>
                <a:gridCol w="684210">
                  <a:extLst>
                    <a:ext uri="{9D8B030D-6E8A-4147-A177-3AD203B41FA5}">
                      <a16:colId xmlns="" xmlns:a16="http://schemas.microsoft.com/office/drawing/2014/main" val="20004"/>
                    </a:ext>
                  </a:extLst>
                </a:gridCol>
                <a:gridCol w="684210">
                  <a:extLst>
                    <a:ext uri="{9D8B030D-6E8A-4147-A177-3AD203B41FA5}">
                      <a16:colId xmlns="" xmlns:a16="http://schemas.microsoft.com/office/drawing/2014/main" val="20005"/>
                    </a:ext>
                  </a:extLst>
                </a:gridCol>
                <a:gridCol w="684210">
                  <a:extLst>
                    <a:ext uri="{9D8B030D-6E8A-4147-A177-3AD203B41FA5}">
                      <a16:colId xmlns="" xmlns:a16="http://schemas.microsoft.com/office/drawing/2014/main" val="20006"/>
                    </a:ext>
                  </a:extLst>
                </a:gridCol>
                <a:gridCol w="551259">
                  <a:extLst>
                    <a:ext uri="{9D8B030D-6E8A-4147-A177-3AD203B41FA5}">
                      <a16:colId xmlns="" xmlns:a16="http://schemas.microsoft.com/office/drawing/2014/main" val="20007"/>
                    </a:ext>
                  </a:extLst>
                </a:gridCol>
                <a:gridCol w="684210">
                  <a:extLst>
                    <a:ext uri="{9D8B030D-6E8A-4147-A177-3AD203B41FA5}">
                      <a16:colId xmlns="" xmlns:a16="http://schemas.microsoft.com/office/drawing/2014/main" val="20008"/>
                    </a:ext>
                  </a:extLst>
                </a:gridCol>
                <a:gridCol w="684210">
                  <a:extLst>
                    <a:ext uri="{9D8B030D-6E8A-4147-A177-3AD203B41FA5}">
                      <a16:colId xmlns="" xmlns:a16="http://schemas.microsoft.com/office/drawing/2014/main" val="20009"/>
                    </a:ext>
                  </a:extLst>
                </a:gridCol>
                <a:gridCol w="684210">
                  <a:extLst>
                    <a:ext uri="{9D8B030D-6E8A-4147-A177-3AD203B41FA5}">
                      <a16:colId xmlns="" xmlns:a16="http://schemas.microsoft.com/office/drawing/2014/main" val="20010"/>
                    </a:ext>
                  </a:extLst>
                </a:gridCol>
                <a:gridCol w="684210">
                  <a:extLst>
                    <a:ext uri="{9D8B030D-6E8A-4147-A177-3AD203B41FA5}">
                      <a16:colId xmlns="" xmlns:a16="http://schemas.microsoft.com/office/drawing/2014/main" val="20011"/>
                    </a:ext>
                  </a:extLst>
                </a:gridCol>
                <a:gridCol w="684210">
                  <a:extLst>
                    <a:ext uri="{9D8B030D-6E8A-4147-A177-3AD203B41FA5}">
                      <a16:colId xmlns="" xmlns:a16="http://schemas.microsoft.com/office/drawing/2014/main" val="20012"/>
                    </a:ext>
                  </a:extLst>
                </a:gridCol>
                <a:gridCol w="684210">
                  <a:extLst>
                    <a:ext uri="{9D8B030D-6E8A-4147-A177-3AD203B41FA5}">
                      <a16:colId xmlns="" xmlns:a16="http://schemas.microsoft.com/office/drawing/2014/main" val="20013"/>
                    </a:ext>
                  </a:extLst>
                </a:gridCol>
                <a:gridCol w="684210">
                  <a:extLst>
                    <a:ext uri="{9D8B030D-6E8A-4147-A177-3AD203B41FA5}">
                      <a16:colId xmlns="" xmlns:a16="http://schemas.microsoft.com/office/drawing/2014/main" val="20014"/>
                    </a:ext>
                  </a:extLst>
                </a:gridCol>
                <a:gridCol w="684210">
                  <a:extLst>
                    <a:ext uri="{9D8B030D-6E8A-4147-A177-3AD203B41FA5}">
                      <a16:colId xmlns="" xmlns:a16="http://schemas.microsoft.com/office/drawing/2014/main" val="20015"/>
                    </a:ext>
                  </a:extLst>
                </a:gridCol>
              </a:tblGrid>
              <a:tr h="463800">
                <a:tc>
                  <a:txBody>
                    <a:bodyPr/>
                    <a:lstStyle/>
                    <a:p>
                      <a:pPr algn="ctr" fontAlgn="ct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年份</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1</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dirty="0">
                          <a:solidFill>
                            <a:srgbClr val="E7E6E6"/>
                          </a:solidFill>
                          <a:effectLst/>
                          <a:latin typeface="微软雅黑" panose="020B0503020204020204" pitchFamily="34" charset="-122"/>
                          <a:ea typeface="微软雅黑" panose="020B0503020204020204" pitchFamily="34" charset="-122"/>
                        </a:rPr>
                        <a:t>2</a:t>
                      </a: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3</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4</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dirty="0">
                          <a:solidFill>
                            <a:srgbClr val="E7E6E6"/>
                          </a:solidFill>
                          <a:effectLst/>
                          <a:latin typeface="微软雅黑" panose="020B0503020204020204" pitchFamily="34" charset="-122"/>
                          <a:ea typeface="微软雅黑" panose="020B0503020204020204" pitchFamily="34" charset="-122"/>
                        </a:rPr>
                        <a:t>5</a:t>
                      </a: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6</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7</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8</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9</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dirty="0">
                          <a:solidFill>
                            <a:srgbClr val="E7E6E6"/>
                          </a:solidFill>
                          <a:effectLst/>
                          <a:latin typeface="微软雅黑" panose="020B0503020204020204" pitchFamily="34" charset="-122"/>
                          <a:ea typeface="微软雅黑" panose="020B0503020204020204" pitchFamily="34" charset="-122"/>
                        </a:rPr>
                        <a:t>10</a:t>
                      </a: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11</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12</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年收益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月胜率</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最大回撤</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extLst>
                  <a:ext uri="{0D108BD9-81ED-4DB2-BD59-A6C34878D82A}">
                    <a16:rowId xmlns="" xmlns:a16="http://schemas.microsoft.com/office/drawing/2014/main" val="10000"/>
                  </a:ext>
                </a:extLst>
              </a:tr>
              <a:tr h="374825">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1.18%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6C9"/>
                    </a:solid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1.68%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A3A5"/>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7D3A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2.48%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696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-0.76%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ACD9C"/>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0.44%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BF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1.49%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B0B3"/>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1DDB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-0.81%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5CC9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8F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-0.50%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D8B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1.45%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B3B5"/>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6.11%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58.33%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-2.26%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extLst>
                  <a:ext uri="{0D108BD9-81ED-4DB2-BD59-A6C34878D82A}">
                    <a16:rowId xmlns="" xmlns:a16="http://schemas.microsoft.com/office/drawing/2014/main" val="10001"/>
                  </a:ext>
                </a:extLst>
              </a:tr>
              <a:tr h="374825">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0.09%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FE3"/>
                    </a:solid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-0.37%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0DDB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-0.07%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CE8D6"/>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1.02%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2D5"/>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1.29%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BEC1"/>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0.40%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FBF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1.89%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9496"/>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0.27%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F6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-0.75%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BCE9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0.15%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2F1E8"/>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1.18%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6C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5"/>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5.51%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75.00%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-1.74%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2"/>
                  </a:ext>
                </a:extLst>
              </a:tr>
              <a:tr h="374825">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-0.58%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BD4A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0.22%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9F4E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-0.76%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ACE9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-0.53%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0D7B0"/>
                    </a:solid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0.93%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D8D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DF0"/>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0.46%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9FC"/>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0.26%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5F1"/>
                    </a:solid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-0.79%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7CC9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0.51%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6F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-0.50%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3D8B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-0.15%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4E5CF"/>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-0.32%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50.00%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-2.29%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extLst>
                  <a:ext uri="{0D108BD9-81ED-4DB2-BD59-A6C34878D82A}">
                    <a16:rowId xmlns="" xmlns:a16="http://schemas.microsoft.com/office/drawing/2014/main" val="10003"/>
                  </a:ext>
                </a:extLst>
              </a:tr>
              <a:tr h="374825">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0.90%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DADD"/>
                    </a:solid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0.19%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5F2E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1.17%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7C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0.47%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9FC"/>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0.41%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BF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0.43%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CF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-0.09%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AE8D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0.14%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1F1E8"/>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-0.94%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9C78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-0.13%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6D1"/>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FBFC"/>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0.78%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3E6"/>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3.76%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75.00%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-1.90%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4"/>
                  </a:ext>
                </a:extLst>
              </a:tr>
              <a:tr h="374825">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-1.01%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2C488"/>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1.82%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999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0.81%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0E3"/>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9EC"/>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0.15%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2F1E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0.54%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4F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0.55%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3F6"/>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-0.52%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1D7B1"/>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1.88%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949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0.94%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7D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F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1.34%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BBBD"/>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8.05%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83.33%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-1.14%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extLst>
                  <a:ext uri="{0D108BD9-81ED-4DB2-BD59-A6C34878D82A}">
                    <a16:rowId xmlns="" xmlns:a16="http://schemas.microsoft.com/office/drawing/2014/main" val="10005"/>
                  </a:ext>
                </a:extLst>
              </a:tr>
              <a:tr h="374825">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0.53%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5F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0DDB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0.10%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DEFE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0.90%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DAD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-0.02%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1EAD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1.21%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4C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0.94%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7D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888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1.19%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5C8"/>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0.81%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1E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-0.46%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7D9B6"/>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1.03%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1D4"/>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8.18%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75.00%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-1.75%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6"/>
                  </a:ext>
                </a:extLst>
              </a:tr>
              <a:tr h="374825">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898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0.17%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F2E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-1.17%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63BE7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2.12%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8385"/>
                    </a:solidFill>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1.41%</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4.61%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80.00%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-2.30%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extLst>
                  <a:ext uri="{0D108BD9-81ED-4DB2-BD59-A6C34878D82A}">
                    <a16:rowId xmlns="" xmlns:a16="http://schemas.microsoft.com/office/drawing/2014/main" val="10007"/>
                  </a:ext>
                </a:extLst>
              </a:tr>
              <a:tr h="567915">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成立以来</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41.6%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70.13%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-2.30%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8"/>
                  </a:ext>
                </a:extLst>
              </a:tr>
            </a:tbl>
          </a:graphicData>
        </a:graphic>
      </p:graphicFrame>
      <p:sp>
        <p:nvSpPr>
          <p:cNvPr id="5" name="矩形 4">
            <a:extLst>
              <a:ext uri="{FF2B5EF4-FFF2-40B4-BE49-F238E27FC236}">
                <a16:creationId xmlns="" xmlns:a16="http://schemas.microsoft.com/office/drawing/2014/main" id="{5868967F-879C-258C-ED27-7DD9C6FA1F82}"/>
              </a:ext>
            </a:extLst>
          </p:cNvPr>
          <p:cNvSpPr/>
          <p:nvPr/>
        </p:nvSpPr>
        <p:spPr>
          <a:xfrm>
            <a:off x="713045" y="1359439"/>
            <a:ext cx="10579408" cy="715581"/>
          </a:xfrm>
          <a:prstGeom prst="rect">
            <a:avLst/>
          </a:prstGeom>
        </p:spPr>
        <p:txBody>
          <a:bodyPr wrap="square">
            <a:spAutoFit/>
          </a:bodyPr>
          <a:lstStyle/>
          <a:p>
            <a:pPr marL="257175" marR="0" lvl="0" indent="-257175"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个完整年度有</a:t>
            </a: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年为正收益。最高年度收益</a:t>
            </a:r>
            <a:r>
              <a:rPr kumimoji="0" lang="en-US" altLang="zh-CN"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8.18%</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，最低年度收益</a:t>
            </a:r>
            <a:r>
              <a:rPr kumimoji="0" lang="en-US" altLang="zh-CN" sz="135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-0.32%</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，年化收益率</a:t>
            </a:r>
            <a:r>
              <a:rPr kumimoji="0" lang="en-US" altLang="zh-CN"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5.58%</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57175" marR="0" lvl="0" indent="-257175"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77</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个完整月度录得</a:t>
            </a: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54</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个月</a:t>
            </a: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(70.13%)</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正收益。最高月度收益</a:t>
            </a:r>
            <a:r>
              <a:rPr kumimoji="0" lang="en-US" altLang="zh-CN"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2.48%</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，最低月度收益</a:t>
            </a:r>
            <a:r>
              <a:rPr kumimoji="0" lang="en-US" altLang="zh-CN" sz="135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-1.17%</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，平均月度收益</a:t>
            </a:r>
            <a:r>
              <a:rPr kumimoji="0" lang="en-US" altLang="zh-CN"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0.46%</a:t>
            </a:r>
          </a:p>
          <a:p>
            <a:pPr marL="257175" marR="0" lvl="0" indent="-257175"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10-90</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样板间的净值走势与中证</a:t>
            </a: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800</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相关性为 </a:t>
            </a:r>
            <a:r>
              <a:rPr kumimoji="0" lang="en-US" altLang="zh-CN" sz="135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-0.05</a:t>
            </a:r>
            <a:endParaRPr kumimoji="0" lang="zh-CN" altLang="en-US" sz="135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endParaRPr>
          </a:p>
        </p:txBody>
      </p:sp>
      <p:sp>
        <p:nvSpPr>
          <p:cNvPr id="11" name="矩形 10">
            <a:extLst>
              <a:ext uri="{FF2B5EF4-FFF2-40B4-BE49-F238E27FC236}">
                <a16:creationId xmlns="" xmlns:a16="http://schemas.microsoft.com/office/drawing/2014/main" id="{46D9B981-3289-4E75-D191-C7FA1DE50658}"/>
              </a:ext>
            </a:extLst>
          </p:cNvPr>
          <p:cNvSpPr/>
          <p:nvPr/>
        </p:nvSpPr>
        <p:spPr>
          <a:xfrm>
            <a:off x="451842" y="6171595"/>
            <a:ext cx="10579408" cy="369332"/>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数据来源：嘉实财富。回测区间为</a:t>
            </a:r>
            <a:r>
              <a:rPr kumimoji="0" lang="en-US"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2020/1/1-2026/05/29</a:t>
            </a: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。历史回测不代表未来表现，以上涉及的相关数据均为假设条件或虚拟回测，仅为实现策略举例说明之目的、用于投资者教育，不涉及任何具体产品信息及其宜传推介，历史业绩不预示未来表现。</a:t>
            </a:r>
            <a:endParaRPr kumimoji="0" lang="zh-CN" altLang="en-US" sz="9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787508099"/>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69826A-FC52-557C-D79C-6120ED57BEBF}"/>
            </a:ext>
          </a:extLst>
        </p:cNvPr>
        <p:cNvGrpSpPr/>
        <p:nvPr/>
      </p:nvGrpSpPr>
      <p:grpSpPr>
        <a:xfrm>
          <a:off x="0" y="0"/>
          <a:ext cx="0" cy="0"/>
          <a:chOff x="0" y="0"/>
          <a:chExt cx="0" cy="0"/>
        </a:xfrm>
      </p:grpSpPr>
      <p:sp>
        <p:nvSpPr>
          <p:cNvPr id="9" name="椭圆 8" descr="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
            <a:extLst>
              <a:ext uri="{FF2B5EF4-FFF2-40B4-BE49-F238E27FC236}">
                <a16:creationId xmlns="" xmlns:a16="http://schemas.microsoft.com/office/drawing/2014/main" id="{674DBB72-EE92-1D3A-22DD-7F9073E1C3AE}"/>
              </a:ext>
            </a:extLst>
          </p:cNvPr>
          <p:cNvSpPr/>
          <p:nvPr/>
        </p:nvSpPr>
        <p:spPr>
          <a:xfrm rot="17100000">
            <a:off x="665665" y="160279"/>
            <a:ext cx="1425269" cy="1425269"/>
          </a:xfrm>
          <a:prstGeom prst="ellipse">
            <a:avLst/>
          </a:prstGeom>
          <a:gradFill flip="none" rotWithShape="1">
            <a:gsLst>
              <a:gs pos="34000">
                <a:schemeClr val="accent1">
                  <a:lumMod val="45000"/>
                  <a:lumOff val="55000"/>
                  <a:alpha val="0"/>
                </a:schemeClr>
              </a:gs>
              <a:gs pos="100000">
                <a:schemeClr val="accent1">
                  <a:alpha val="37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8"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ea typeface="HarmonyOS Sans SC Light"/>
              <a:cs typeface="+mn-cs"/>
            </a:endParaRPr>
          </a:p>
        </p:txBody>
      </p:sp>
      <p:cxnSp>
        <p:nvCxnSpPr>
          <p:cNvPr id="3" name="直接连接符 2">
            <a:extLst>
              <a:ext uri="{FF2B5EF4-FFF2-40B4-BE49-F238E27FC236}">
                <a16:creationId xmlns="" xmlns:a16="http://schemas.microsoft.com/office/drawing/2014/main" id="{92FDE321-A101-5528-17FE-0BC43E84F33F}"/>
              </a:ext>
            </a:extLst>
          </p:cNvPr>
          <p:cNvCxnSpPr/>
          <p:nvPr/>
        </p:nvCxnSpPr>
        <p:spPr>
          <a:xfrm>
            <a:off x="582917" y="1141204"/>
            <a:ext cx="1120678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 xmlns:a16="http://schemas.microsoft.com/office/drawing/2014/main" id="{8BD46D2A-9FED-324E-9EEB-BA6A77D375F8}"/>
              </a:ext>
            </a:extLst>
          </p:cNvPr>
          <p:cNvSpPr/>
          <p:nvPr/>
        </p:nvSpPr>
        <p:spPr>
          <a:xfrm>
            <a:off x="150794" y="6402450"/>
            <a:ext cx="11272674" cy="246862"/>
          </a:xfrm>
          <a:prstGeom prst="rect">
            <a:avLst/>
          </a:prstGeom>
        </p:spPr>
        <p:txBody>
          <a:bodyPr wrap="square">
            <a:spAutoFit/>
          </a:bodyPr>
          <a:lstStyle/>
          <a:p>
            <a:pPr marL="0" marR="0" lvl="0" indent="0" algn="l" defTabSz="609608" rtl="0" eaLnBrk="1" fontAlgn="auto" latinLnBrk="0" hangingPunct="1">
              <a:lnSpc>
                <a:spcPct val="100000"/>
              </a:lnSpc>
              <a:spcBef>
                <a:spcPts val="0"/>
              </a:spcBef>
              <a:spcAft>
                <a:spcPts val="0"/>
              </a:spcAft>
              <a:buClrTx/>
              <a:buSzTx/>
              <a:buFontTx/>
              <a:buNone/>
              <a:tabLst/>
              <a:defRPr/>
            </a:pP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注：数据来源为嘉实财富。策略历史表现不构成对未来业绩的承诺。统计区间为</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2020</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日</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-2026</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29</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日。</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2026/05/29</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的净值（费后）为</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1.7639</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。计算夏普比例时，无风险收益按</a:t>
            </a:r>
            <a:r>
              <a:rPr kumimoji="0" lang="en-US" altLang="zh-CN"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计</a:t>
            </a:r>
            <a:endParaRPr kumimoji="0" lang="en-US" altLang="zh-CN" sz="1004"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表格 5">
            <a:extLst>
              <a:ext uri="{FF2B5EF4-FFF2-40B4-BE49-F238E27FC236}">
                <a16:creationId xmlns="" xmlns:a16="http://schemas.microsoft.com/office/drawing/2014/main" id="{38DB1AFB-AFA6-C388-D8AA-536C63DF0CB6}"/>
              </a:ext>
            </a:extLst>
          </p:cNvPr>
          <p:cNvGraphicFramePr>
            <a:graphicFrameLocks noGrp="1"/>
          </p:cNvGraphicFramePr>
          <p:nvPr/>
        </p:nvGraphicFramePr>
        <p:xfrm>
          <a:off x="582916" y="1282190"/>
          <a:ext cx="7023947" cy="1493668"/>
        </p:xfrm>
        <a:graphic>
          <a:graphicData uri="http://schemas.openxmlformats.org/drawingml/2006/table">
            <a:tbl>
              <a:tblPr firstRow="1" firstCol="1" bandRow="1">
                <a:tableStyleId>{5C22544A-7EE6-4342-B048-85BDC9FD1C3A}</a:tableStyleId>
              </a:tblPr>
              <a:tblGrid>
                <a:gridCol w="1404789">
                  <a:extLst>
                    <a:ext uri="{9D8B030D-6E8A-4147-A177-3AD203B41FA5}">
                      <a16:colId xmlns="" xmlns:a16="http://schemas.microsoft.com/office/drawing/2014/main" val="3847716533"/>
                    </a:ext>
                  </a:extLst>
                </a:gridCol>
                <a:gridCol w="1617644">
                  <a:extLst>
                    <a:ext uri="{9D8B030D-6E8A-4147-A177-3AD203B41FA5}">
                      <a16:colId xmlns="" xmlns:a16="http://schemas.microsoft.com/office/drawing/2014/main" val="1739439905"/>
                    </a:ext>
                  </a:extLst>
                </a:gridCol>
                <a:gridCol w="1333838">
                  <a:extLst>
                    <a:ext uri="{9D8B030D-6E8A-4147-A177-3AD203B41FA5}">
                      <a16:colId xmlns="" xmlns:a16="http://schemas.microsoft.com/office/drawing/2014/main" val="3802123172"/>
                    </a:ext>
                  </a:extLst>
                </a:gridCol>
                <a:gridCol w="1333838">
                  <a:extLst>
                    <a:ext uri="{9D8B030D-6E8A-4147-A177-3AD203B41FA5}">
                      <a16:colId xmlns="" xmlns:a16="http://schemas.microsoft.com/office/drawing/2014/main" val="2297438570"/>
                    </a:ext>
                  </a:extLst>
                </a:gridCol>
                <a:gridCol w="1333838">
                  <a:extLst>
                    <a:ext uri="{9D8B030D-6E8A-4147-A177-3AD203B41FA5}">
                      <a16:colId xmlns="" xmlns:a16="http://schemas.microsoft.com/office/drawing/2014/main" val="1620483687"/>
                    </a:ext>
                  </a:extLst>
                </a:gridCol>
              </a:tblGrid>
              <a:tr h="373417">
                <a:tc>
                  <a:txBody>
                    <a:bodyPr/>
                    <a:lstStyle/>
                    <a:p>
                      <a:pPr algn="ctr">
                        <a:spcAft>
                          <a:spcPts val="400"/>
                        </a:spcAft>
                        <a:buNone/>
                      </a:pPr>
                      <a:r>
                        <a:rPr lang="en-US" sz="1400" kern="100" dirty="0">
                          <a:solidFill>
                            <a:schemeClr val="tx2"/>
                          </a:solidFill>
                          <a:effectLst/>
                          <a:latin typeface="微软雅黑" panose="020B0503020204020204" pitchFamily="34" charset="-122"/>
                          <a:ea typeface="微软雅黑" panose="020B0503020204020204" pitchFamily="34" charset="-122"/>
                        </a:rPr>
                        <a:t> </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zh-CN" altLang="en-US" sz="1400" b="1" kern="100" dirty="0">
                          <a:solidFill>
                            <a:schemeClr val="tx2"/>
                          </a:solidFill>
                          <a:effectLst/>
                          <a:latin typeface="微软雅黑" panose="020B0503020204020204" pitchFamily="34" charset="-122"/>
                          <a:ea typeface="微软雅黑" panose="020B0503020204020204" pitchFamily="34" charset="-122"/>
                          <a:cs typeface="+mn-cs"/>
                        </a:rPr>
                        <a:t>增值</a:t>
                      </a:r>
                      <a:r>
                        <a:rPr lang="en-US" altLang="zh-CN" sz="1400" b="1" kern="100" dirty="0">
                          <a:solidFill>
                            <a:schemeClr val="tx2"/>
                          </a:solidFill>
                          <a:effectLst/>
                          <a:latin typeface="微软雅黑" panose="020B0503020204020204" pitchFamily="34" charset="-122"/>
                          <a:ea typeface="微软雅黑" panose="020B0503020204020204" pitchFamily="34" charset="-122"/>
                          <a:cs typeface="+mn-cs"/>
                        </a:rPr>
                        <a:t>--</a:t>
                      </a:r>
                      <a:r>
                        <a:rPr lang="zh-CN" altLang="en-US" sz="1400" b="1" kern="100" dirty="0">
                          <a:solidFill>
                            <a:schemeClr val="tx2"/>
                          </a:solidFill>
                          <a:effectLst/>
                          <a:latin typeface="微软雅黑" panose="020B0503020204020204" pitchFamily="34" charset="-122"/>
                          <a:ea typeface="微软雅黑" panose="020B0503020204020204" pitchFamily="34" charset="-122"/>
                          <a:cs typeface="+mn-cs"/>
                        </a:rPr>
                        <a:t>产业趋势</a:t>
                      </a:r>
                    </a:p>
                  </a:txBody>
                  <a:tcPr marT="0" marB="0" anchor="ctr"/>
                </a:tc>
                <a:tc>
                  <a:txBody>
                    <a:bodyPr/>
                    <a:lstStyle/>
                    <a:p>
                      <a:pPr algn="ctr">
                        <a:spcAft>
                          <a:spcPts val="400"/>
                        </a:spcAft>
                        <a:buNone/>
                      </a:pPr>
                      <a:r>
                        <a:rPr lang="zh-CN" altLang="en-US" sz="1400" b="1" kern="100" dirty="0">
                          <a:solidFill>
                            <a:schemeClr val="tx2"/>
                          </a:solidFill>
                          <a:effectLst/>
                          <a:latin typeface="微软雅黑" panose="020B0503020204020204" pitchFamily="34" charset="-122"/>
                          <a:ea typeface="微软雅黑" panose="020B0503020204020204" pitchFamily="34" charset="-122"/>
                          <a:cs typeface="+mn-cs"/>
                        </a:rPr>
                        <a:t>增值</a:t>
                      </a:r>
                      <a:r>
                        <a:rPr lang="en-US" altLang="zh-CN" sz="1400" b="1" kern="100" dirty="0">
                          <a:solidFill>
                            <a:schemeClr val="tx2"/>
                          </a:solidFill>
                          <a:effectLst/>
                          <a:latin typeface="微软雅黑" panose="020B0503020204020204" pitchFamily="34" charset="-122"/>
                          <a:ea typeface="微软雅黑" panose="020B0503020204020204" pitchFamily="34" charset="-122"/>
                          <a:cs typeface="+mn-cs"/>
                        </a:rPr>
                        <a:t>--</a:t>
                      </a:r>
                      <a:r>
                        <a:rPr lang="zh-CN" altLang="en-US" sz="1400" b="1" kern="100" dirty="0">
                          <a:solidFill>
                            <a:schemeClr val="tx2"/>
                          </a:solidFill>
                          <a:effectLst/>
                          <a:latin typeface="微软雅黑" panose="020B0503020204020204" pitchFamily="34" charset="-122"/>
                          <a:ea typeface="微软雅黑" panose="020B0503020204020204" pitchFamily="34" charset="-122"/>
                          <a:cs typeface="+mn-cs"/>
                        </a:rPr>
                        <a:t>指增</a:t>
                      </a:r>
                    </a:p>
                  </a:txBody>
                  <a:tcPr marT="0" marB="0" anchor="ctr"/>
                </a:tc>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rPr>
                        <a:t>生息</a:t>
                      </a:r>
                      <a:r>
                        <a:rPr lang="en-US" altLang="zh-CN" sz="1400" kern="100" dirty="0">
                          <a:solidFill>
                            <a:schemeClr val="tx2"/>
                          </a:solidFill>
                          <a:effectLst/>
                          <a:latin typeface="微软雅黑" panose="020B0503020204020204" pitchFamily="34" charset="-122"/>
                          <a:ea typeface="微软雅黑" panose="020B0503020204020204" pitchFamily="34" charset="-122"/>
                        </a:rPr>
                        <a:t>--</a:t>
                      </a:r>
                      <a:r>
                        <a:rPr lang="zh-CN" altLang="en-US" sz="1400" kern="100" dirty="0">
                          <a:solidFill>
                            <a:schemeClr val="tx2"/>
                          </a:solidFill>
                          <a:effectLst/>
                          <a:latin typeface="微软雅黑" panose="020B0503020204020204" pitchFamily="34" charset="-122"/>
                          <a:ea typeface="微软雅黑" panose="020B0503020204020204" pitchFamily="34" charset="-122"/>
                        </a:rPr>
                        <a:t>中债</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rPr>
                        <a:t>保障</a:t>
                      </a:r>
                      <a:r>
                        <a:rPr lang="en-US" altLang="zh-CN" sz="1400" kern="100" dirty="0">
                          <a:solidFill>
                            <a:schemeClr val="tx2"/>
                          </a:solidFill>
                          <a:effectLst/>
                          <a:latin typeface="微软雅黑" panose="020B0503020204020204" pitchFamily="34" charset="-122"/>
                          <a:ea typeface="微软雅黑" panose="020B0503020204020204" pitchFamily="34" charset="-122"/>
                        </a:rPr>
                        <a:t>--</a:t>
                      </a:r>
                      <a:r>
                        <a:rPr lang="zh-CN" altLang="en-US" sz="1400" kern="100" dirty="0">
                          <a:solidFill>
                            <a:schemeClr val="tx2"/>
                          </a:solidFill>
                          <a:effectLst/>
                          <a:latin typeface="微软雅黑" panose="020B0503020204020204" pitchFamily="34" charset="-122"/>
                          <a:ea typeface="微软雅黑" panose="020B0503020204020204" pitchFamily="34" charset="-122"/>
                        </a:rPr>
                        <a:t>黄金</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3404244492"/>
                  </a:ext>
                </a:extLst>
              </a:tr>
              <a:tr h="373417">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rPr>
                        <a:t>目标</a:t>
                      </a:r>
                      <a:r>
                        <a:rPr lang="zh-CN" sz="1400" kern="100" dirty="0">
                          <a:solidFill>
                            <a:schemeClr val="tx2"/>
                          </a:solidFill>
                          <a:effectLst/>
                          <a:latin typeface="微软雅黑" panose="020B0503020204020204" pitchFamily="34" charset="-122"/>
                          <a:ea typeface="微软雅黑" panose="020B0503020204020204" pitchFamily="34" charset="-122"/>
                        </a:rPr>
                        <a:t>权重</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kern="100" dirty="0">
                          <a:solidFill>
                            <a:schemeClr val="tx2"/>
                          </a:solidFill>
                          <a:effectLst/>
                          <a:latin typeface="微软雅黑" panose="020B0503020204020204" pitchFamily="34" charset="-122"/>
                          <a:ea typeface="微软雅黑" panose="020B0503020204020204" pitchFamily="34" charset="-122"/>
                        </a:rPr>
                        <a:t>15%</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kern="100" dirty="0">
                          <a:solidFill>
                            <a:schemeClr val="tx2"/>
                          </a:solidFill>
                          <a:effectLst/>
                          <a:latin typeface="微软雅黑" panose="020B0503020204020204" pitchFamily="34" charset="-122"/>
                          <a:ea typeface="微软雅黑" panose="020B0503020204020204" pitchFamily="34" charset="-122"/>
                        </a:rPr>
                        <a:t>15%</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kern="100" dirty="0">
                          <a:solidFill>
                            <a:schemeClr val="tx2"/>
                          </a:solidFill>
                          <a:effectLst/>
                          <a:latin typeface="微软雅黑" panose="020B0503020204020204" pitchFamily="34" charset="-122"/>
                          <a:ea typeface="微软雅黑" panose="020B0503020204020204" pitchFamily="34" charset="-122"/>
                        </a:rPr>
                        <a:t>60%</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kern="100" dirty="0">
                          <a:solidFill>
                            <a:schemeClr val="tx2"/>
                          </a:solidFill>
                          <a:effectLst/>
                          <a:latin typeface="微软雅黑" panose="020B0503020204020204" pitchFamily="34" charset="-122"/>
                          <a:ea typeface="微软雅黑" panose="020B0503020204020204" pitchFamily="34" charset="-122"/>
                        </a:rPr>
                        <a:t>10%</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1343833170"/>
                  </a:ext>
                </a:extLst>
              </a:tr>
              <a:tr h="373417">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动平衡规则</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gridSpan="4">
                  <a:txBody>
                    <a:bodyPr/>
                    <a:lstStyle/>
                    <a:p>
                      <a:pPr algn="just">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定期动平衡：频率 </a:t>
                      </a:r>
                      <a:r>
                        <a:rPr lang="en-US" alt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年；定幅动平衡：无</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hMerge="1">
                  <a:txBody>
                    <a:bodyPr/>
                    <a:lstStyle/>
                    <a:p>
                      <a:pPr algn="just">
                        <a:spcAft>
                          <a:spcPts val="400"/>
                        </a:spcAft>
                        <a:buNone/>
                      </a:pPr>
                      <a:endParaRPr lang="zh-CN" sz="1900" kern="100" dirty="0">
                        <a:solidFill>
                          <a:schemeClr val="tx2"/>
                        </a:solidFill>
                        <a:effectLst/>
                        <a:latin typeface="等线" panose="02010600030101010101" pitchFamily="2" charset="-122"/>
                        <a:ea typeface="等线" panose="02010600030101010101" pitchFamily="2" charset="-122"/>
                        <a:cs typeface="Times New Roman" panose="02020603050405020304" pitchFamily="18" charset="0"/>
                      </a:endParaRPr>
                    </a:p>
                  </a:txBody>
                  <a:tcPr marL="121920" marR="121920" marT="0" marB="0" anchor="ctr"/>
                </a:tc>
                <a:tc hMerge="1">
                  <a:txBody>
                    <a:bodyPr/>
                    <a:lstStyle/>
                    <a:p>
                      <a:pPr algn="just">
                        <a:spcAft>
                          <a:spcPts val="400"/>
                        </a:spcAft>
                        <a:buNone/>
                      </a:pPr>
                      <a:endParaRPr lang="zh-CN" sz="1900" kern="100" dirty="0">
                        <a:solidFill>
                          <a:schemeClr val="tx2"/>
                        </a:solidFill>
                        <a:effectLst/>
                        <a:latin typeface="等线" panose="02010600030101010101" pitchFamily="2" charset="-122"/>
                        <a:ea typeface="等线" panose="02010600030101010101" pitchFamily="2" charset="-122"/>
                        <a:cs typeface="Times New Roman" panose="02020603050405020304" pitchFamily="18" charset="0"/>
                      </a:endParaRPr>
                    </a:p>
                  </a:txBody>
                  <a:tcPr marL="121920" marR="121920" marT="0" marB="0" anchor="ctr"/>
                </a:tc>
                <a:tc hMerge="1">
                  <a:txBody>
                    <a:bodyPr/>
                    <a:lstStyle/>
                    <a:p>
                      <a:pPr algn="just">
                        <a:spcAft>
                          <a:spcPts val="400"/>
                        </a:spcAft>
                        <a:buNone/>
                      </a:pPr>
                      <a:endParaRPr lang="zh-CN" sz="1900" kern="100" dirty="0">
                        <a:solidFill>
                          <a:schemeClr val="tx2"/>
                        </a:solidFill>
                        <a:effectLst/>
                        <a:latin typeface="等线" panose="02010600030101010101" pitchFamily="2" charset="-122"/>
                        <a:ea typeface="等线" panose="02010600030101010101" pitchFamily="2" charset="-122"/>
                        <a:cs typeface="Times New Roman" panose="02020603050405020304" pitchFamily="18" charset="0"/>
                      </a:endParaRPr>
                    </a:p>
                  </a:txBody>
                  <a:tcPr marL="121920" marR="121920" marT="0" marB="0" anchor="ctr"/>
                </a:tc>
                <a:extLst>
                  <a:ext uri="{0D108BD9-81ED-4DB2-BD59-A6C34878D82A}">
                    <a16:rowId xmlns="" xmlns:a16="http://schemas.microsoft.com/office/drawing/2014/main" val="181395761"/>
                  </a:ext>
                </a:extLst>
              </a:tr>
              <a:tr h="373417">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费率参数</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gridSpan="4">
                  <a:txBody>
                    <a:bodyPr/>
                    <a:lstStyle/>
                    <a:p>
                      <a:pPr algn="just">
                        <a:spcAft>
                          <a:spcPts val="400"/>
                        </a:spcAft>
                        <a:buNone/>
                      </a:pPr>
                      <a:r>
                        <a:rPr lang="en-US" alt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1.2% </a:t>
                      </a: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年化</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619764872"/>
                  </a:ext>
                </a:extLst>
              </a:tr>
            </a:tbl>
          </a:graphicData>
        </a:graphic>
      </p:graphicFrame>
      <p:graphicFrame>
        <p:nvGraphicFramePr>
          <p:cNvPr id="7" name="表格 6">
            <a:extLst>
              <a:ext uri="{FF2B5EF4-FFF2-40B4-BE49-F238E27FC236}">
                <a16:creationId xmlns="" xmlns:a16="http://schemas.microsoft.com/office/drawing/2014/main" id="{59C9B564-5034-C245-FE52-223429338B21}"/>
              </a:ext>
            </a:extLst>
          </p:cNvPr>
          <p:cNvGraphicFramePr>
            <a:graphicFrameLocks noGrp="1"/>
          </p:cNvGraphicFramePr>
          <p:nvPr/>
        </p:nvGraphicFramePr>
        <p:xfrm>
          <a:off x="7896995" y="1278806"/>
          <a:ext cx="3789504" cy="2527102"/>
        </p:xfrm>
        <a:graphic>
          <a:graphicData uri="http://schemas.openxmlformats.org/drawingml/2006/table">
            <a:tbl>
              <a:tblPr firstRow="1" firstCol="1" bandRow="1">
                <a:tableStyleId>{5C22544A-7EE6-4342-B048-85BDC9FD1C3A}</a:tableStyleId>
              </a:tblPr>
              <a:tblGrid>
                <a:gridCol w="2076787">
                  <a:extLst>
                    <a:ext uri="{9D8B030D-6E8A-4147-A177-3AD203B41FA5}">
                      <a16:colId xmlns="" xmlns:a16="http://schemas.microsoft.com/office/drawing/2014/main" val="1485671215"/>
                    </a:ext>
                  </a:extLst>
                </a:gridCol>
                <a:gridCol w="1712717">
                  <a:extLst>
                    <a:ext uri="{9D8B030D-6E8A-4147-A177-3AD203B41FA5}">
                      <a16:colId xmlns="" xmlns:a16="http://schemas.microsoft.com/office/drawing/2014/main" val="3457273538"/>
                    </a:ext>
                  </a:extLst>
                </a:gridCol>
              </a:tblGrid>
              <a:tr h="407778">
                <a:tc>
                  <a:txBody>
                    <a:bodyPr/>
                    <a:lstStyle/>
                    <a:p>
                      <a:pPr algn="ctr">
                        <a:spcAft>
                          <a:spcPts val="400"/>
                        </a:spcAft>
                        <a:buNone/>
                      </a:pPr>
                      <a:r>
                        <a:rPr lang="zh-CN" sz="1400" kern="100" dirty="0">
                          <a:solidFill>
                            <a:schemeClr val="tx2"/>
                          </a:solidFill>
                          <a:effectLst/>
                          <a:latin typeface="微软雅黑" panose="020B0503020204020204" pitchFamily="34" charset="-122"/>
                          <a:ea typeface="微软雅黑" panose="020B0503020204020204" pitchFamily="34" charset="-122"/>
                        </a:rPr>
                        <a:t>年化收益</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kern="100" dirty="0">
                          <a:solidFill>
                            <a:schemeClr val="tx2"/>
                          </a:solidFill>
                          <a:effectLst/>
                          <a:latin typeface="微软雅黑" panose="020B0503020204020204" pitchFamily="34" charset="-122"/>
                          <a:ea typeface="微软雅黑" panose="020B0503020204020204" pitchFamily="34" charset="-122"/>
                        </a:rPr>
                        <a:t>9.21%</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1432148217"/>
                  </a:ext>
                </a:extLst>
              </a:tr>
              <a:tr h="446680">
                <a:tc>
                  <a:txBody>
                    <a:bodyPr/>
                    <a:lstStyle/>
                    <a:p>
                      <a:pPr algn="ctr">
                        <a:spcAft>
                          <a:spcPts val="400"/>
                        </a:spcAft>
                        <a:buNone/>
                      </a:pPr>
                      <a:r>
                        <a:rPr lang="en-US" altLang="zh-CN" sz="1400" kern="100" dirty="0">
                          <a:solidFill>
                            <a:schemeClr val="tx2"/>
                          </a:solidFill>
                          <a:effectLst/>
                          <a:latin typeface="微软雅黑" panose="020B0503020204020204" pitchFamily="34" charset="-122"/>
                          <a:ea typeface="微软雅黑" panose="020B0503020204020204" pitchFamily="34" charset="-122"/>
                        </a:rPr>
                        <a:t>- </a:t>
                      </a:r>
                      <a:r>
                        <a:rPr lang="zh-CN" sz="1400" kern="100" dirty="0">
                          <a:solidFill>
                            <a:schemeClr val="tx2"/>
                          </a:solidFill>
                          <a:effectLst/>
                          <a:latin typeface="微软雅黑" panose="020B0503020204020204" pitchFamily="34" charset="-122"/>
                          <a:ea typeface="微软雅黑" panose="020B0503020204020204" pitchFamily="34" charset="-122"/>
                        </a:rPr>
                        <a:t>算术平均年收益</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kern="100" dirty="0">
                          <a:solidFill>
                            <a:schemeClr val="tx2"/>
                          </a:solidFill>
                          <a:effectLst/>
                          <a:latin typeface="微软雅黑" panose="020B0503020204020204" pitchFamily="34" charset="-122"/>
                          <a:ea typeface="微软雅黑" panose="020B0503020204020204" pitchFamily="34" charset="-122"/>
                        </a:rPr>
                        <a:t>11.92%</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2493041806"/>
                  </a:ext>
                </a:extLst>
              </a:tr>
              <a:tr h="418161">
                <a:tc>
                  <a:txBody>
                    <a:bodyPr/>
                    <a:lstStyle/>
                    <a:p>
                      <a:pPr algn="ctr">
                        <a:spcAft>
                          <a:spcPts val="400"/>
                        </a:spcAft>
                        <a:buNone/>
                      </a:pPr>
                      <a:r>
                        <a:rPr lang="zh-CN" sz="1400" kern="100" dirty="0">
                          <a:solidFill>
                            <a:schemeClr val="tx2"/>
                          </a:solidFill>
                          <a:effectLst/>
                          <a:latin typeface="微软雅黑" panose="020B0503020204020204" pitchFamily="34" charset="-122"/>
                          <a:ea typeface="微软雅黑" panose="020B0503020204020204" pitchFamily="34" charset="-122"/>
                        </a:rPr>
                        <a:t>年化波动率</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b="1" kern="100" dirty="0">
                          <a:solidFill>
                            <a:schemeClr val="tx2"/>
                          </a:solidFill>
                          <a:effectLst/>
                          <a:latin typeface="微软雅黑" panose="020B0503020204020204" pitchFamily="34" charset="-122"/>
                          <a:ea typeface="微软雅黑" panose="020B0503020204020204" pitchFamily="34" charset="-122"/>
                        </a:rPr>
                        <a:t>7.85%</a:t>
                      </a:r>
                      <a:endParaRPr 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660338269"/>
                  </a:ext>
                </a:extLst>
              </a:tr>
              <a:tr h="418161">
                <a:tc>
                  <a:txBody>
                    <a:bodyPr/>
                    <a:lstStyle/>
                    <a:p>
                      <a:pPr algn="ctr">
                        <a:spcAft>
                          <a:spcPts val="400"/>
                        </a:spcAft>
                        <a:buNone/>
                      </a:pPr>
                      <a:r>
                        <a:rPr lang="zh-CN" sz="1400" kern="100" dirty="0">
                          <a:solidFill>
                            <a:schemeClr val="tx2"/>
                          </a:solidFill>
                          <a:effectLst/>
                          <a:latin typeface="微软雅黑" panose="020B0503020204020204" pitchFamily="34" charset="-122"/>
                          <a:ea typeface="微软雅黑" panose="020B0503020204020204" pitchFamily="34" charset="-122"/>
                        </a:rPr>
                        <a:t>区间最大回撤</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b="1" kern="100" dirty="0">
                          <a:solidFill>
                            <a:schemeClr val="tx2"/>
                          </a:solidFill>
                          <a:effectLst/>
                          <a:latin typeface="微软雅黑" panose="020B0503020204020204" pitchFamily="34" charset="-122"/>
                          <a:ea typeface="微软雅黑" panose="020B0503020204020204" pitchFamily="34" charset="-122"/>
                        </a:rPr>
                        <a:t>9.39%</a:t>
                      </a:r>
                      <a:endParaRPr 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484190667"/>
                  </a:ext>
                </a:extLst>
              </a:tr>
              <a:tr h="418161">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夏普比率*</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1.18</a:t>
                      </a:r>
                      <a:endParaRPr 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2903471811"/>
                  </a:ext>
                </a:extLst>
              </a:tr>
              <a:tr h="418161">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动平衡次数</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次</a:t>
                      </a:r>
                      <a:endParaRPr 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2904351624"/>
                  </a:ext>
                </a:extLst>
              </a:tr>
            </a:tbl>
          </a:graphicData>
        </a:graphic>
      </p:graphicFrame>
      <p:sp>
        <p:nvSpPr>
          <p:cNvPr id="2" name="文本占位符 10">
            <a:extLst>
              <a:ext uri="{FF2B5EF4-FFF2-40B4-BE49-F238E27FC236}">
                <a16:creationId xmlns="" xmlns:a16="http://schemas.microsoft.com/office/drawing/2014/main" id="{48862C8A-4E47-6131-10A0-46CB3257CCCC}"/>
              </a:ext>
            </a:extLst>
          </p:cNvPr>
          <p:cNvSpPr txBox="1"/>
          <p:nvPr/>
        </p:nvSpPr>
        <p:spPr>
          <a:xfrm>
            <a:off x="899137" y="391454"/>
            <a:ext cx="9679768" cy="508000"/>
          </a:xfrm>
          <a:prstGeom prst="rect">
            <a:avLst/>
          </a:prstGeom>
        </p:spPr>
        <p:txBody>
          <a:bodyPr lIns="0" tIns="0" rIns="0" bIns="0" anchor="ctr" anchorCtr="0"/>
          <a:lstStyle>
            <a:lvl1pPr marL="0" indent="0" algn="l" defTabSz="457200" rtl="0" eaLnBrk="1" latinLnBrk="0" hangingPunct="1">
              <a:lnSpc>
                <a:spcPct val="100000"/>
              </a:lnSpc>
              <a:spcBef>
                <a:spcPts val="2000"/>
              </a:spcBef>
              <a:buFont typeface="Arial" panose="020B0604020202020204" pitchFamily="34" charset="0"/>
              <a:buNone/>
              <a:defRPr lang="zh-CN" altLang="en-US" sz="6000" b="1" kern="1200" spc="1000" dirty="0">
                <a:solidFill>
                  <a:srgbClr val="3B3838"/>
                </a:solidFill>
                <a:latin typeface="+mj-ea"/>
                <a:ea typeface="+mj-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a:solidFill>
                  <a:schemeClr val="tx1"/>
                </a:solidFill>
                <a:latin typeface="+mn-lt"/>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914378" rtl="0" eaLnBrk="1" fontAlgn="auto" latinLnBrk="0" hangingPunct="1">
              <a:lnSpc>
                <a:spcPts val="2143"/>
              </a:lnSpc>
              <a:spcBef>
                <a:spcPts val="1029"/>
              </a:spcBef>
              <a:spcAft>
                <a:spcPts val="1029"/>
              </a:spcAft>
              <a:buClrTx/>
              <a:buSzTx/>
              <a:buFont typeface="Arial" panose="020B0604020202020204" pitchFamily="34" charset="0"/>
              <a:buNone/>
              <a:tabLst/>
              <a:defRPr/>
            </a:pP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基于基金池的业绩模拟：稳进型（</a:t>
            </a:r>
            <a:r>
              <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30/70 </a:t>
            </a: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样板间，风险级别 </a:t>
            </a:r>
            <a:r>
              <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R3</a:t>
            </a: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a:t>
            </a:r>
            <a:endPar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endParaRPr>
          </a:p>
        </p:txBody>
      </p:sp>
      <p:sp>
        <p:nvSpPr>
          <p:cNvPr id="8" name="Shape 0">
            <a:extLst>
              <a:ext uri="{FF2B5EF4-FFF2-40B4-BE49-F238E27FC236}">
                <a16:creationId xmlns="" xmlns:a16="http://schemas.microsoft.com/office/drawing/2014/main" id="{593DD09D-6CAB-0EC6-3A64-6F335A7560E5}"/>
              </a:ext>
            </a:extLst>
          </p:cNvPr>
          <p:cNvSpPr/>
          <p:nvPr/>
        </p:nvSpPr>
        <p:spPr>
          <a:xfrm>
            <a:off x="381000" y="38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ea typeface="HarmonyOS Sans SC Light"/>
              <a:cs typeface="+mn-cs"/>
            </a:endParaRPr>
          </a:p>
        </p:txBody>
      </p:sp>
      <p:sp>
        <p:nvSpPr>
          <p:cNvPr id="10" name="Text 1">
            <a:extLst>
              <a:ext uri="{FF2B5EF4-FFF2-40B4-BE49-F238E27FC236}">
                <a16:creationId xmlns="" xmlns:a16="http://schemas.microsoft.com/office/drawing/2014/main" id="{722BFAD3-6DAD-4D00-B548-D47FC8B8F1EC}"/>
              </a:ext>
            </a:extLst>
          </p:cNvPr>
          <p:cNvSpPr/>
          <p:nvPr/>
        </p:nvSpPr>
        <p:spPr>
          <a:xfrm>
            <a:off x="451842" y="438150"/>
            <a:ext cx="323850" cy="266700"/>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lang="en-US" sz="1350" b="1" dirty="0">
                <a:solidFill>
                  <a:srgbClr val="F9FAFB"/>
                </a:solidFill>
                <a:latin typeface="思源宋体" pitchFamily="34" charset="0"/>
                <a:ea typeface="思源宋体" pitchFamily="34" charset="-122"/>
                <a:cs typeface="思源宋体" pitchFamily="34" charset="-120"/>
              </a:rPr>
              <a:t>2</a:t>
            </a:r>
            <a:r>
              <a:rPr kumimoji="0" lang="en-US" sz="1350" b="1" i="0" u="none" strike="noStrike" kern="1200" cap="none" spc="0" normalizeH="0" baseline="0" noProof="0" dirty="0">
                <a:ln>
                  <a:noFill/>
                </a:ln>
                <a:solidFill>
                  <a:srgbClr val="F9FAFB"/>
                </a:solidFill>
                <a:effectLst/>
                <a:uLnTx/>
                <a:uFillTx/>
                <a:latin typeface="思源宋体" pitchFamily="34" charset="0"/>
                <a:ea typeface="思源宋体" pitchFamily="34" charset="-122"/>
                <a:cs typeface="思源宋体" pitchFamily="34" charset="-120"/>
              </a:rPr>
              <a:t>.1</a:t>
            </a:r>
            <a:endParaRPr kumimoji="0" lang="en-US" sz="1600" b="0" i="0" u="none" strike="noStrike" kern="1200" cap="none" spc="0" normalizeH="0" baseline="0" noProof="0" dirty="0">
              <a:ln>
                <a:noFill/>
              </a:ln>
              <a:solidFill>
                <a:prstClr val="black"/>
              </a:solidFill>
              <a:effectLst/>
              <a:uLnTx/>
              <a:uFillTx/>
              <a:ea typeface="HarmonyOS Sans SC Light"/>
              <a:cs typeface="+mn-cs"/>
            </a:endParaRPr>
          </a:p>
        </p:txBody>
      </p:sp>
      <p:grpSp>
        <p:nvGrpSpPr>
          <p:cNvPr id="30" name="组合 29">
            <a:extLst>
              <a:ext uri="{FF2B5EF4-FFF2-40B4-BE49-F238E27FC236}">
                <a16:creationId xmlns="" xmlns:a16="http://schemas.microsoft.com/office/drawing/2014/main" id="{1C4C07DD-BEDC-CE57-9664-9925F32E2C31}"/>
              </a:ext>
            </a:extLst>
          </p:cNvPr>
          <p:cNvGrpSpPr/>
          <p:nvPr/>
        </p:nvGrpSpPr>
        <p:grpSpPr>
          <a:xfrm>
            <a:off x="8088984" y="4039970"/>
            <a:ext cx="3531515" cy="2147806"/>
            <a:chOff x="9214522" y="4481783"/>
            <a:chExt cx="5076266" cy="3481788"/>
          </a:xfrm>
        </p:grpSpPr>
        <p:grpSp>
          <p:nvGrpSpPr>
            <p:cNvPr id="11" name="组合 10">
              <a:extLst>
                <a:ext uri="{FF2B5EF4-FFF2-40B4-BE49-F238E27FC236}">
                  <a16:creationId xmlns="" xmlns:a16="http://schemas.microsoft.com/office/drawing/2014/main" id="{148F23C7-F7FC-950F-9E3C-0BA3856D6742}"/>
                </a:ext>
              </a:extLst>
            </p:cNvPr>
            <p:cNvGrpSpPr/>
            <p:nvPr/>
          </p:nvGrpSpPr>
          <p:grpSpPr>
            <a:xfrm>
              <a:off x="9214522" y="4481783"/>
              <a:ext cx="2886454" cy="3481788"/>
              <a:chOff x="9671296" y="529928"/>
              <a:chExt cx="1406378" cy="1696237"/>
            </a:xfrm>
          </p:grpSpPr>
          <p:grpSp>
            <p:nvGrpSpPr>
              <p:cNvPr id="14" name="组合 13">
                <a:extLst>
                  <a:ext uri="{FF2B5EF4-FFF2-40B4-BE49-F238E27FC236}">
                    <a16:creationId xmlns="" xmlns:a16="http://schemas.microsoft.com/office/drawing/2014/main" id="{C9E39BA6-E15C-6A25-21F1-0BE3A7AA39D0}"/>
                  </a:ext>
                </a:extLst>
              </p:cNvPr>
              <p:cNvGrpSpPr/>
              <p:nvPr/>
            </p:nvGrpSpPr>
            <p:grpSpPr>
              <a:xfrm>
                <a:off x="9671296" y="529928"/>
                <a:ext cx="1406378" cy="1696237"/>
                <a:chOff x="3752250" y="10792389"/>
                <a:chExt cx="3402534" cy="3919905"/>
              </a:xfrm>
            </p:grpSpPr>
            <p:sp>
              <p:nvSpPr>
                <p:cNvPr id="18" name="流程图: 摘录 17">
                  <a:extLst>
                    <a:ext uri="{FF2B5EF4-FFF2-40B4-BE49-F238E27FC236}">
                      <a16:creationId xmlns="" xmlns:a16="http://schemas.microsoft.com/office/drawing/2014/main" id="{74EC56E3-F2C4-F00B-A61E-0F55A81FCB9D}"/>
                    </a:ext>
                  </a:extLst>
                </p:cNvPr>
                <p:cNvSpPr/>
                <p:nvPr/>
              </p:nvSpPr>
              <p:spPr>
                <a:xfrm>
                  <a:off x="4989650" y="10792389"/>
                  <a:ext cx="849448" cy="970066"/>
                </a:xfrm>
                <a:prstGeom prst="flowChartExtra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ea typeface="HarmonyOS Sans SC Light"/>
                    <a:cs typeface="+mn-cs"/>
                  </a:endParaRPr>
                </a:p>
              </p:txBody>
            </p:sp>
            <p:grpSp>
              <p:nvGrpSpPr>
                <p:cNvPr id="19" name="组合 18">
                  <a:extLst>
                    <a:ext uri="{FF2B5EF4-FFF2-40B4-BE49-F238E27FC236}">
                      <a16:creationId xmlns="" xmlns:a16="http://schemas.microsoft.com/office/drawing/2014/main" id="{CACCDD42-20EF-BD7D-F653-DE0A8003C0A8}"/>
                    </a:ext>
                  </a:extLst>
                </p:cNvPr>
                <p:cNvGrpSpPr/>
                <p:nvPr/>
              </p:nvGrpSpPr>
              <p:grpSpPr>
                <a:xfrm>
                  <a:off x="3752250" y="11955574"/>
                  <a:ext cx="3402534" cy="2756720"/>
                  <a:chOff x="1932984" y="12048650"/>
                  <a:chExt cx="3402534" cy="2756720"/>
                </a:xfrm>
              </p:grpSpPr>
              <p:grpSp>
                <p:nvGrpSpPr>
                  <p:cNvPr id="20" name="组合 19">
                    <a:extLst>
                      <a:ext uri="{FF2B5EF4-FFF2-40B4-BE49-F238E27FC236}">
                        <a16:creationId xmlns="" xmlns:a16="http://schemas.microsoft.com/office/drawing/2014/main" id="{E56DDE55-F3E2-2FC1-DED7-A0E48519512E}"/>
                      </a:ext>
                    </a:extLst>
                  </p:cNvPr>
                  <p:cNvGrpSpPr/>
                  <p:nvPr/>
                </p:nvGrpSpPr>
                <p:grpSpPr>
                  <a:xfrm>
                    <a:off x="1993692" y="12048650"/>
                    <a:ext cx="3341826" cy="2756720"/>
                    <a:chOff x="1993692" y="12048650"/>
                    <a:chExt cx="3341826" cy="2756720"/>
                  </a:xfrm>
                </p:grpSpPr>
                <p:grpSp>
                  <p:nvGrpSpPr>
                    <p:cNvPr id="22" name="组合 21">
                      <a:extLst>
                        <a:ext uri="{FF2B5EF4-FFF2-40B4-BE49-F238E27FC236}">
                          <a16:creationId xmlns="" xmlns:a16="http://schemas.microsoft.com/office/drawing/2014/main" id="{AA0E6B52-6818-CF4B-DD46-343D0E11FCBA}"/>
                        </a:ext>
                      </a:extLst>
                    </p:cNvPr>
                    <p:cNvGrpSpPr/>
                    <p:nvPr/>
                  </p:nvGrpSpPr>
                  <p:grpSpPr>
                    <a:xfrm>
                      <a:off x="1993692" y="13586215"/>
                      <a:ext cx="3341826" cy="1219155"/>
                      <a:chOff x="1553724" y="4043581"/>
                      <a:chExt cx="1872209" cy="1154556"/>
                    </a:xfrm>
                  </p:grpSpPr>
                  <p:sp>
                    <p:nvSpPr>
                      <p:cNvPr id="24" name="矩形: 圆角 19">
                        <a:extLst>
                          <a:ext uri="{FF2B5EF4-FFF2-40B4-BE49-F238E27FC236}">
                            <a16:creationId xmlns="" xmlns:a16="http://schemas.microsoft.com/office/drawing/2014/main" id="{0997A000-2A03-F001-013C-247D7FCF5EAB}"/>
                          </a:ext>
                        </a:extLst>
                      </p:cNvPr>
                      <p:cNvSpPr/>
                      <p:nvPr/>
                    </p:nvSpPr>
                    <p:spPr>
                      <a:xfrm>
                        <a:off x="1631304" y="4111107"/>
                        <a:ext cx="1643586" cy="765202"/>
                      </a:xfrm>
                      <a:prstGeom prst="trapezoid">
                        <a:avLst>
                          <a:gd name="adj" fmla="val 3987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30867" rtl="0" eaLnBrk="1" fontAlgn="auto" latinLnBrk="0" hangingPunct="1">
                          <a:lnSpc>
                            <a:spcPct val="100000"/>
                          </a:lnSpc>
                          <a:spcBef>
                            <a:spcPts val="0"/>
                          </a:spcBef>
                          <a:spcAft>
                            <a:spcPts val="0"/>
                          </a:spcAft>
                          <a:buClrTx/>
                          <a:buSzTx/>
                          <a:buFontTx/>
                          <a:buNone/>
                          <a:tabLst/>
                          <a:defRPr/>
                        </a:pPr>
                        <a:endParaRPr kumimoji="0" lang="zh-CN" altLang="en-US" sz="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5" name="矩形 47">
                        <a:extLst>
                          <a:ext uri="{FF2B5EF4-FFF2-40B4-BE49-F238E27FC236}">
                            <a16:creationId xmlns="" xmlns:a16="http://schemas.microsoft.com/office/drawing/2014/main" id="{8E8DA9A2-BA84-2130-94C5-4A30197B162D}"/>
                          </a:ext>
                        </a:extLst>
                      </p:cNvPr>
                      <p:cNvSpPr/>
                      <p:nvPr/>
                    </p:nvSpPr>
                    <p:spPr>
                      <a:xfrm>
                        <a:off x="1553724" y="4043581"/>
                        <a:ext cx="1872209" cy="1154556"/>
                      </a:xfrm>
                      <a:prstGeom prst="rect">
                        <a:avLst/>
                      </a:prstGeom>
                    </p:spPr>
                    <p:txBody>
                      <a:bodyPr wrap="square" anchor="ctr">
                        <a:spAutoFit/>
                      </a:bodyPr>
                      <a:lstStyle/>
                      <a:p>
                        <a:pPr marL="0" marR="0" lvl="0" indent="0" algn="ctr" defTabSz="685800" rtl="0" eaLnBrk="1" fontAlgn="auto" latinLnBrk="0" hangingPunct="1">
                          <a:lnSpc>
                            <a:spcPts val="5670"/>
                          </a:lnSpc>
                          <a:spcBef>
                            <a:spcPts val="0"/>
                          </a:spcBef>
                          <a:spcAft>
                            <a:spcPts val="0"/>
                          </a:spcAft>
                          <a:buClrTx/>
                          <a:buSzTx/>
                          <a:buFontTx/>
                          <a:buNone/>
                          <a:tabLst/>
                          <a:defRPr/>
                        </a:pPr>
                        <a:endParaRPr kumimoji="0" lang="zh-CN" altLang="en-US" sz="9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3" name="梯形 22">
                      <a:extLst>
                        <a:ext uri="{FF2B5EF4-FFF2-40B4-BE49-F238E27FC236}">
                          <a16:creationId xmlns="" xmlns:a16="http://schemas.microsoft.com/office/drawing/2014/main" id="{C0C20CFB-E10E-0C2C-4185-205EDD799319}"/>
                        </a:ext>
                      </a:extLst>
                    </p:cNvPr>
                    <p:cNvSpPr/>
                    <p:nvPr/>
                  </p:nvSpPr>
                  <p:spPr>
                    <a:xfrm>
                      <a:off x="2528365" y="12048650"/>
                      <a:ext cx="2151065" cy="1443126"/>
                    </a:xfrm>
                    <a:prstGeom prst="trapezoid">
                      <a:avLst>
                        <a:gd name="adj" fmla="val 37673"/>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ea typeface="HarmonyOS Sans SC Light"/>
                        <a:cs typeface="+mn-cs"/>
                      </a:endParaRPr>
                    </a:p>
                  </p:txBody>
                </p:sp>
              </p:grpSp>
              <p:sp>
                <p:nvSpPr>
                  <p:cNvPr id="21" name="矩形 47">
                    <a:extLst>
                      <a:ext uri="{FF2B5EF4-FFF2-40B4-BE49-F238E27FC236}">
                        <a16:creationId xmlns="" xmlns:a16="http://schemas.microsoft.com/office/drawing/2014/main" id="{DE6E4B92-71F2-16BA-0F08-735EEF8C9F71}"/>
                      </a:ext>
                    </a:extLst>
                  </p:cNvPr>
                  <p:cNvSpPr/>
                  <p:nvPr/>
                </p:nvSpPr>
                <p:spPr>
                  <a:xfrm>
                    <a:off x="1932984" y="12297884"/>
                    <a:ext cx="3341826" cy="1219155"/>
                  </a:xfrm>
                  <a:prstGeom prst="rect">
                    <a:avLst/>
                  </a:prstGeom>
                </p:spPr>
                <p:txBody>
                  <a:bodyPr wrap="square" anchor="ctr">
                    <a:spAutoFit/>
                  </a:bodyPr>
                  <a:lstStyle/>
                  <a:p>
                    <a:pPr marL="0" marR="0" lvl="0" indent="0" algn="ctr" defTabSz="685800" rtl="0" eaLnBrk="1" fontAlgn="auto" latinLnBrk="0" hangingPunct="1">
                      <a:lnSpc>
                        <a:spcPts val="5670"/>
                      </a:lnSpc>
                      <a:spcBef>
                        <a:spcPts val="0"/>
                      </a:spcBef>
                      <a:spcAft>
                        <a:spcPts val="0"/>
                      </a:spcAft>
                      <a:buClrTx/>
                      <a:buSzTx/>
                      <a:buFontTx/>
                      <a:buNone/>
                      <a:tabLst/>
                      <a:defRPr/>
                    </a:pPr>
                    <a:endParaRPr kumimoji="0" lang="zh-CN" altLang="en-US" sz="9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grpSp>
          <p:sp>
            <p:nvSpPr>
              <p:cNvPr id="15" name="矩形: 圆角 14">
                <a:extLst>
                  <a:ext uri="{FF2B5EF4-FFF2-40B4-BE49-F238E27FC236}">
                    <a16:creationId xmlns="" xmlns:a16="http://schemas.microsoft.com/office/drawing/2014/main" id="{57C7B5BA-2DA5-0FB0-2DB4-678385546286}"/>
                  </a:ext>
                </a:extLst>
              </p:cNvPr>
              <p:cNvSpPr/>
              <p:nvPr/>
            </p:nvSpPr>
            <p:spPr>
              <a:xfrm>
                <a:off x="9859583" y="1136335"/>
                <a:ext cx="1029804" cy="4286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60%</a:t>
                </a:r>
                <a:endParaRPr kumimoji="0" lang="zh-CN" altLang="en-US" sz="9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矩形: 圆角 15">
                <a:extLst>
                  <a:ext uri="{FF2B5EF4-FFF2-40B4-BE49-F238E27FC236}">
                    <a16:creationId xmlns="" xmlns:a16="http://schemas.microsoft.com/office/drawing/2014/main" id="{87C2412A-12E3-3E81-F4BE-2267DFCC2746}"/>
                  </a:ext>
                </a:extLst>
              </p:cNvPr>
              <p:cNvSpPr/>
              <p:nvPr/>
            </p:nvSpPr>
            <p:spPr>
              <a:xfrm>
                <a:off x="9850292" y="1696851"/>
                <a:ext cx="1029804" cy="4286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3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10%</a:t>
                </a:r>
                <a:endParaRPr kumimoji="0" lang="zh-CN" altLang="en-US" sz="13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矩形: 圆角 16">
                <a:extLst>
                  <a:ext uri="{FF2B5EF4-FFF2-40B4-BE49-F238E27FC236}">
                    <a16:creationId xmlns="" xmlns:a16="http://schemas.microsoft.com/office/drawing/2014/main" id="{DC289267-E29C-F891-7AC5-A7C7FF595A28}"/>
                  </a:ext>
                </a:extLst>
              </p:cNvPr>
              <p:cNvSpPr/>
              <p:nvPr/>
            </p:nvSpPr>
            <p:spPr>
              <a:xfrm>
                <a:off x="10081887" y="560140"/>
                <a:ext cx="566614" cy="4286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30%</a:t>
                </a:r>
                <a:endParaRPr kumimoji="0" lang="zh-CN" altLang="en-US" sz="9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6" name="文本框 25">
              <a:extLst>
                <a:ext uri="{FF2B5EF4-FFF2-40B4-BE49-F238E27FC236}">
                  <a16:creationId xmlns="" xmlns:a16="http://schemas.microsoft.com/office/drawing/2014/main" id="{D9FCD145-C479-A1D6-37BE-D11B8C513BD9}"/>
                </a:ext>
              </a:extLst>
            </p:cNvPr>
            <p:cNvSpPr txBox="1"/>
            <p:nvPr/>
          </p:nvSpPr>
          <p:spPr>
            <a:xfrm>
              <a:off x="11852488" y="4702321"/>
              <a:ext cx="2343496" cy="823240"/>
            </a:xfrm>
            <a:prstGeom prst="rect">
              <a:avLst/>
            </a:prstGeom>
            <a:noFill/>
          </p:spPr>
          <p:txBody>
            <a:bodyPr wrap="square" rtlCol="0">
              <a:spAutoFit/>
            </a:bodyPr>
            <a:lstStyle/>
            <a:p>
              <a:pPr marL="285743" marR="0" lvl="0" indent="-285743"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增值组合</a:t>
              </a:r>
              <a:r>
                <a:rPr kumimoji="0" lang="en-US" altLang="zh-CN"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 30%</a:t>
              </a:r>
              <a:endPar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endParaRPr>
            </a:p>
          </p:txBody>
        </p:sp>
        <p:sp>
          <p:nvSpPr>
            <p:cNvPr id="27" name="文本框 26">
              <a:extLst>
                <a:ext uri="{FF2B5EF4-FFF2-40B4-BE49-F238E27FC236}">
                  <a16:creationId xmlns="" xmlns:a16="http://schemas.microsoft.com/office/drawing/2014/main" id="{01AC7B03-C875-89D8-10A3-469514415109}"/>
                </a:ext>
              </a:extLst>
            </p:cNvPr>
            <p:cNvSpPr txBox="1"/>
            <p:nvPr/>
          </p:nvSpPr>
          <p:spPr>
            <a:xfrm>
              <a:off x="11852488" y="5882999"/>
              <a:ext cx="2438300" cy="823240"/>
            </a:xfrm>
            <a:prstGeom prst="rect">
              <a:avLst/>
            </a:prstGeom>
            <a:noFill/>
          </p:spPr>
          <p:txBody>
            <a:bodyPr wrap="square" rtlCol="0">
              <a:spAutoFit/>
            </a:bodyPr>
            <a:lstStyle/>
            <a:p>
              <a:pPr marL="285743" marR="0" lvl="0" indent="-285743"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生息组合 </a:t>
              </a:r>
              <a:r>
                <a:rPr kumimoji="0" lang="en-US" altLang="zh-CN"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60%</a:t>
              </a:r>
              <a:endPar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endParaRPr>
            </a:p>
          </p:txBody>
        </p:sp>
        <p:sp>
          <p:nvSpPr>
            <p:cNvPr id="28" name="文本框 27">
              <a:extLst>
                <a:ext uri="{FF2B5EF4-FFF2-40B4-BE49-F238E27FC236}">
                  <a16:creationId xmlns="" xmlns:a16="http://schemas.microsoft.com/office/drawing/2014/main" id="{097B49C0-D77D-A1E2-704C-81BB1A39A51C}"/>
                </a:ext>
              </a:extLst>
            </p:cNvPr>
            <p:cNvSpPr txBox="1"/>
            <p:nvPr/>
          </p:nvSpPr>
          <p:spPr>
            <a:xfrm>
              <a:off x="11858411" y="7037906"/>
              <a:ext cx="2394500" cy="823240"/>
            </a:xfrm>
            <a:prstGeom prst="rect">
              <a:avLst/>
            </a:prstGeom>
            <a:noFill/>
          </p:spPr>
          <p:txBody>
            <a:bodyPr wrap="square" rtlCol="0">
              <a:spAutoFit/>
            </a:bodyPr>
            <a:lstStyle/>
            <a:p>
              <a:pPr marL="285743" marR="0" lvl="0" indent="-285743"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保障组合 </a:t>
              </a:r>
              <a:r>
                <a:rPr kumimoji="0" lang="en-US" altLang="zh-CN"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10%</a:t>
              </a:r>
              <a:endPar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endParaRPr>
            </a:p>
          </p:txBody>
        </p:sp>
      </p:grpSp>
      <p:graphicFrame>
        <p:nvGraphicFramePr>
          <p:cNvPr id="13" name="图表 12">
            <a:extLst>
              <a:ext uri="{FF2B5EF4-FFF2-40B4-BE49-F238E27FC236}">
                <a16:creationId xmlns="" xmlns:a16="http://schemas.microsoft.com/office/drawing/2014/main" id="{109257BC-1AB5-DECB-9A62-569A11E7256F}"/>
              </a:ext>
            </a:extLst>
          </p:cNvPr>
          <p:cNvGraphicFramePr>
            <a:graphicFrameLocks/>
          </p:cNvGraphicFramePr>
          <p:nvPr/>
        </p:nvGraphicFramePr>
        <p:xfrm>
          <a:off x="571500" y="2847529"/>
          <a:ext cx="7115653" cy="333099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83540424"/>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FF22F9A-CDFB-5338-24E1-604AE006B45D}"/>
            </a:ext>
          </a:extLst>
        </p:cNvPr>
        <p:cNvGrpSpPr/>
        <p:nvPr/>
      </p:nvGrpSpPr>
      <p:grpSpPr>
        <a:xfrm>
          <a:off x="0" y="0"/>
          <a:ext cx="0" cy="0"/>
          <a:chOff x="0" y="0"/>
          <a:chExt cx="0" cy="0"/>
        </a:xfrm>
      </p:grpSpPr>
      <p:sp>
        <p:nvSpPr>
          <p:cNvPr id="9" name="椭圆 8" descr="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
            <a:extLst>
              <a:ext uri="{FF2B5EF4-FFF2-40B4-BE49-F238E27FC236}">
                <a16:creationId xmlns="" xmlns:a16="http://schemas.microsoft.com/office/drawing/2014/main" id="{1CC1E68F-5923-EA8C-AECC-65E2351681EA}"/>
              </a:ext>
            </a:extLst>
          </p:cNvPr>
          <p:cNvSpPr/>
          <p:nvPr/>
        </p:nvSpPr>
        <p:spPr>
          <a:xfrm rot="17100000">
            <a:off x="665665" y="160279"/>
            <a:ext cx="1425269" cy="1425269"/>
          </a:xfrm>
          <a:prstGeom prst="ellipse">
            <a:avLst/>
          </a:prstGeom>
          <a:gradFill flip="none" rotWithShape="1">
            <a:gsLst>
              <a:gs pos="34000">
                <a:schemeClr val="accent1">
                  <a:lumMod val="45000"/>
                  <a:lumOff val="55000"/>
                  <a:alpha val="0"/>
                </a:schemeClr>
              </a:gs>
              <a:gs pos="100000">
                <a:schemeClr val="accent1">
                  <a:alpha val="37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8"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ea typeface="HarmonyOS Sans SC Light"/>
              <a:cs typeface="+mn-cs"/>
            </a:endParaRPr>
          </a:p>
        </p:txBody>
      </p:sp>
      <p:cxnSp>
        <p:nvCxnSpPr>
          <p:cNvPr id="3" name="直接连接符 2">
            <a:extLst>
              <a:ext uri="{FF2B5EF4-FFF2-40B4-BE49-F238E27FC236}">
                <a16:creationId xmlns="" xmlns:a16="http://schemas.microsoft.com/office/drawing/2014/main" id="{19063C18-5A56-3CD5-0FBE-8D19BF73B859}"/>
              </a:ext>
            </a:extLst>
          </p:cNvPr>
          <p:cNvCxnSpPr/>
          <p:nvPr/>
        </p:nvCxnSpPr>
        <p:spPr>
          <a:xfrm>
            <a:off x="582917" y="1141204"/>
            <a:ext cx="1120678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文本占位符 10">
            <a:extLst>
              <a:ext uri="{FF2B5EF4-FFF2-40B4-BE49-F238E27FC236}">
                <a16:creationId xmlns="" xmlns:a16="http://schemas.microsoft.com/office/drawing/2014/main" id="{1E1148D6-7905-5E9D-9B2B-08DC6232E67D}"/>
              </a:ext>
            </a:extLst>
          </p:cNvPr>
          <p:cNvSpPr txBox="1"/>
          <p:nvPr/>
        </p:nvSpPr>
        <p:spPr>
          <a:xfrm>
            <a:off x="899137" y="391454"/>
            <a:ext cx="9202183" cy="508000"/>
          </a:xfrm>
          <a:prstGeom prst="rect">
            <a:avLst/>
          </a:prstGeom>
        </p:spPr>
        <p:txBody>
          <a:bodyPr lIns="0" tIns="0" rIns="0" bIns="0" anchor="ctr" anchorCtr="0"/>
          <a:lstStyle>
            <a:lvl1pPr marL="0" indent="0" algn="l" defTabSz="457200" rtl="0" eaLnBrk="1" latinLnBrk="0" hangingPunct="1">
              <a:lnSpc>
                <a:spcPct val="100000"/>
              </a:lnSpc>
              <a:spcBef>
                <a:spcPts val="2000"/>
              </a:spcBef>
              <a:buFont typeface="Arial" panose="020B0604020202020204" pitchFamily="34" charset="0"/>
              <a:buNone/>
              <a:defRPr lang="zh-CN" altLang="en-US" sz="6000" b="1" kern="1200" spc="1000" dirty="0">
                <a:solidFill>
                  <a:srgbClr val="3B3838"/>
                </a:solidFill>
                <a:latin typeface="+mj-ea"/>
                <a:ea typeface="+mj-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a:solidFill>
                  <a:schemeClr val="tx1"/>
                </a:solidFill>
                <a:latin typeface="+mn-lt"/>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914378" rtl="0" eaLnBrk="1" fontAlgn="auto" latinLnBrk="0" hangingPunct="1">
              <a:lnSpc>
                <a:spcPts val="2143"/>
              </a:lnSpc>
              <a:spcBef>
                <a:spcPts val="1029"/>
              </a:spcBef>
              <a:spcAft>
                <a:spcPts val="1029"/>
              </a:spcAft>
              <a:buClrTx/>
              <a:buSzTx/>
              <a:buFont typeface="Arial" panose="020B0604020202020204" pitchFamily="34" charset="0"/>
              <a:buNone/>
              <a:tabLst/>
              <a:defRPr/>
            </a:pP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基金池业绩模拟：稳进型（</a:t>
            </a:r>
            <a:r>
              <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30/70 </a:t>
            </a: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样板间）</a:t>
            </a:r>
            <a:endPar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endParaRPr>
          </a:p>
        </p:txBody>
      </p:sp>
      <p:sp>
        <p:nvSpPr>
          <p:cNvPr id="8" name="Shape 0">
            <a:extLst>
              <a:ext uri="{FF2B5EF4-FFF2-40B4-BE49-F238E27FC236}">
                <a16:creationId xmlns="" xmlns:a16="http://schemas.microsoft.com/office/drawing/2014/main" id="{C2EA9578-9EE6-8521-D643-FEA4868A9324}"/>
              </a:ext>
            </a:extLst>
          </p:cNvPr>
          <p:cNvSpPr/>
          <p:nvPr/>
        </p:nvSpPr>
        <p:spPr>
          <a:xfrm>
            <a:off x="381000" y="38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ea typeface="HarmonyOS Sans SC Light"/>
              <a:cs typeface="+mn-cs"/>
            </a:endParaRPr>
          </a:p>
        </p:txBody>
      </p:sp>
      <p:sp>
        <p:nvSpPr>
          <p:cNvPr id="10" name="Text 1">
            <a:extLst>
              <a:ext uri="{FF2B5EF4-FFF2-40B4-BE49-F238E27FC236}">
                <a16:creationId xmlns="" xmlns:a16="http://schemas.microsoft.com/office/drawing/2014/main" id="{1A387DEC-BD09-ECB9-889E-07215E26F3C4}"/>
              </a:ext>
            </a:extLst>
          </p:cNvPr>
          <p:cNvSpPr/>
          <p:nvPr/>
        </p:nvSpPr>
        <p:spPr>
          <a:xfrm>
            <a:off x="451842" y="438150"/>
            <a:ext cx="323850" cy="266700"/>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lang="en-US" sz="1350" b="1" dirty="0">
                <a:solidFill>
                  <a:srgbClr val="F9FAFB"/>
                </a:solidFill>
                <a:latin typeface="思源宋体" pitchFamily="34" charset="0"/>
                <a:ea typeface="思源宋体" pitchFamily="34" charset="-122"/>
                <a:cs typeface="思源宋体" pitchFamily="34" charset="-120"/>
              </a:rPr>
              <a:t>2</a:t>
            </a:r>
            <a:r>
              <a:rPr kumimoji="0" lang="en-US" sz="1350" b="1" i="0" u="none" strike="noStrike" kern="1200" cap="none" spc="0" normalizeH="0" baseline="0" noProof="0" dirty="0">
                <a:ln>
                  <a:noFill/>
                </a:ln>
                <a:solidFill>
                  <a:srgbClr val="F9FAFB"/>
                </a:solidFill>
                <a:effectLst/>
                <a:uLnTx/>
                <a:uFillTx/>
                <a:latin typeface="思源宋体" pitchFamily="34" charset="0"/>
                <a:ea typeface="思源宋体" pitchFamily="34" charset="-122"/>
                <a:cs typeface="思源宋体" pitchFamily="34" charset="-120"/>
              </a:rPr>
              <a:t>.2</a:t>
            </a:r>
            <a:endParaRPr kumimoji="0" lang="en-US" sz="1600" b="0" i="0" u="none" strike="noStrike" kern="1200" cap="none" spc="0" normalizeH="0" baseline="0" noProof="0" dirty="0">
              <a:ln>
                <a:noFill/>
              </a:ln>
              <a:solidFill>
                <a:prstClr val="black"/>
              </a:solidFill>
              <a:effectLst/>
              <a:uLnTx/>
              <a:uFillTx/>
              <a:ea typeface="HarmonyOS Sans SC Light"/>
              <a:cs typeface="+mn-cs"/>
            </a:endParaRPr>
          </a:p>
        </p:txBody>
      </p:sp>
      <p:sp>
        <p:nvSpPr>
          <p:cNvPr id="7" name="矩形 6">
            <a:extLst>
              <a:ext uri="{FF2B5EF4-FFF2-40B4-BE49-F238E27FC236}">
                <a16:creationId xmlns="" xmlns:a16="http://schemas.microsoft.com/office/drawing/2014/main" id="{903A31C3-F70E-1C23-6A99-58DCE67451E3}"/>
              </a:ext>
            </a:extLst>
          </p:cNvPr>
          <p:cNvSpPr/>
          <p:nvPr/>
        </p:nvSpPr>
        <p:spPr>
          <a:xfrm>
            <a:off x="713045" y="1359439"/>
            <a:ext cx="10579408" cy="715581"/>
          </a:xfrm>
          <a:prstGeom prst="rect">
            <a:avLst/>
          </a:prstGeom>
        </p:spPr>
        <p:txBody>
          <a:bodyPr wrap="square">
            <a:spAutoFit/>
          </a:bodyPr>
          <a:lstStyle/>
          <a:p>
            <a:pPr marL="257175" marR="0" lvl="0" indent="-257175"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个完整年度有</a:t>
            </a: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年为正收益。最高年度收益</a:t>
            </a:r>
            <a:r>
              <a:rPr kumimoji="0" lang="en-US" altLang="zh-CN"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22.61%</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，最低年度收益</a:t>
            </a:r>
            <a:r>
              <a:rPr kumimoji="0" lang="en-US" altLang="zh-CN" sz="135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-5.48%</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，年化收益率</a:t>
            </a:r>
            <a:r>
              <a:rPr kumimoji="0" lang="en-US" altLang="zh-CN"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8.81%</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57175" marR="0" lvl="0" indent="-257175"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77</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个完整月度录得</a:t>
            </a: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52</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个月</a:t>
            </a: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(67.5%)</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正收益。最高月度收益</a:t>
            </a:r>
            <a:r>
              <a:rPr kumimoji="0" lang="en-US" altLang="zh-CN"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6.84%</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，最低月度收益</a:t>
            </a:r>
            <a:r>
              <a:rPr kumimoji="0" lang="en-US" altLang="zh-CN" sz="1350" b="1"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-4.59%</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，平均月度收益</a:t>
            </a:r>
            <a:r>
              <a:rPr kumimoji="0" lang="en-US" altLang="zh-CN"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0.76%</a:t>
            </a:r>
          </a:p>
          <a:p>
            <a:pPr marL="257175" marR="0" lvl="0" indent="-257175"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30-70</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样板间的净值走势与中证</a:t>
            </a: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800</a:t>
            </a:r>
            <a:r>
              <a:rPr kumimoji="0" lang="zh-CN" altLang="en-US"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相关性为 </a:t>
            </a:r>
            <a:r>
              <a:rPr kumimoji="0" lang="en-US" altLang="zh-CN"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+0.25</a:t>
            </a:r>
            <a:endParaRPr kumimoji="0" lang="zh-CN" altLang="en-US" sz="13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1" name="矩形 10">
            <a:extLst>
              <a:ext uri="{FF2B5EF4-FFF2-40B4-BE49-F238E27FC236}">
                <a16:creationId xmlns="" xmlns:a16="http://schemas.microsoft.com/office/drawing/2014/main" id="{8C61AF5B-14B8-5C06-8941-D23A19C5D19D}"/>
              </a:ext>
            </a:extLst>
          </p:cNvPr>
          <p:cNvSpPr/>
          <p:nvPr/>
        </p:nvSpPr>
        <p:spPr>
          <a:xfrm>
            <a:off x="451842" y="6171595"/>
            <a:ext cx="10579408" cy="369332"/>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数据来源：嘉实财富。回测区间为</a:t>
            </a:r>
            <a:r>
              <a:rPr kumimoji="0" lang="en-US"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2020/1/1-2026/05/29</a:t>
            </a: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。历史回测不代表未来表现，以上涉及的相关数据均为假设条件或虚拟回测，仅为实现策略举例说明之目的、用于投资者教育，不涉及任何具体产品信息及其宜传推介，历史业绩不预示未来表现。</a:t>
            </a:r>
            <a:endParaRPr kumimoji="0" lang="zh-CN" altLang="en-US" sz="9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4" name="表格 3">
            <a:extLst>
              <a:ext uri="{FF2B5EF4-FFF2-40B4-BE49-F238E27FC236}">
                <a16:creationId xmlns="" xmlns:a16="http://schemas.microsoft.com/office/drawing/2014/main" id="{15B75D9F-A431-E05D-7692-5538CD21878C}"/>
              </a:ext>
            </a:extLst>
          </p:cNvPr>
          <p:cNvGraphicFramePr>
            <a:graphicFrameLocks noGrp="1"/>
          </p:cNvGraphicFramePr>
          <p:nvPr/>
        </p:nvGraphicFramePr>
        <p:xfrm>
          <a:off x="571500" y="2257798"/>
          <a:ext cx="10515600" cy="3509451"/>
        </p:xfrm>
        <a:graphic>
          <a:graphicData uri="http://schemas.openxmlformats.org/drawingml/2006/table">
            <a:tbl>
              <a:tblPr/>
              <a:tblGrid>
                <a:gridCol w="657225">
                  <a:extLst>
                    <a:ext uri="{9D8B030D-6E8A-4147-A177-3AD203B41FA5}">
                      <a16:colId xmlns="" xmlns:a16="http://schemas.microsoft.com/office/drawing/2014/main" val="20000"/>
                    </a:ext>
                  </a:extLst>
                </a:gridCol>
                <a:gridCol w="657225">
                  <a:extLst>
                    <a:ext uri="{9D8B030D-6E8A-4147-A177-3AD203B41FA5}">
                      <a16:colId xmlns="" xmlns:a16="http://schemas.microsoft.com/office/drawing/2014/main" val="20001"/>
                    </a:ext>
                  </a:extLst>
                </a:gridCol>
                <a:gridCol w="657225">
                  <a:extLst>
                    <a:ext uri="{9D8B030D-6E8A-4147-A177-3AD203B41FA5}">
                      <a16:colId xmlns="" xmlns:a16="http://schemas.microsoft.com/office/drawing/2014/main" val="20002"/>
                    </a:ext>
                  </a:extLst>
                </a:gridCol>
                <a:gridCol w="657225">
                  <a:extLst>
                    <a:ext uri="{9D8B030D-6E8A-4147-A177-3AD203B41FA5}">
                      <a16:colId xmlns="" xmlns:a16="http://schemas.microsoft.com/office/drawing/2014/main" val="20003"/>
                    </a:ext>
                  </a:extLst>
                </a:gridCol>
                <a:gridCol w="657225">
                  <a:extLst>
                    <a:ext uri="{9D8B030D-6E8A-4147-A177-3AD203B41FA5}">
                      <a16:colId xmlns="" xmlns:a16="http://schemas.microsoft.com/office/drawing/2014/main" val="20004"/>
                    </a:ext>
                  </a:extLst>
                </a:gridCol>
                <a:gridCol w="657225">
                  <a:extLst>
                    <a:ext uri="{9D8B030D-6E8A-4147-A177-3AD203B41FA5}">
                      <a16:colId xmlns="" xmlns:a16="http://schemas.microsoft.com/office/drawing/2014/main" val="20005"/>
                    </a:ext>
                  </a:extLst>
                </a:gridCol>
                <a:gridCol w="657225">
                  <a:extLst>
                    <a:ext uri="{9D8B030D-6E8A-4147-A177-3AD203B41FA5}">
                      <a16:colId xmlns="" xmlns:a16="http://schemas.microsoft.com/office/drawing/2014/main" val="20006"/>
                    </a:ext>
                  </a:extLst>
                </a:gridCol>
                <a:gridCol w="657225">
                  <a:extLst>
                    <a:ext uri="{9D8B030D-6E8A-4147-A177-3AD203B41FA5}">
                      <a16:colId xmlns="" xmlns:a16="http://schemas.microsoft.com/office/drawing/2014/main" val="20007"/>
                    </a:ext>
                  </a:extLst>
                </a:gridCol>
                <a:gridCol w="657225">
                  <a:extLst>
                    <a:ext uri="{9D8B030D-6E8A-4147-A177-3AD203B41FA5}">
                      <a16:colId xmlns="" xmlns:a16="http://schemas.microsoft.com/office/drawing/2014/main" val="20008"/>
                    </a:ext>
                  </a:extLst>
                </a:gridCol>
                <a:gridCol w="657225">
                  <a:extLst>
                    <a:ext uri="{9D8B030D-6E8A-4147-A177-3AD203B41FA5}">
                      <a16:colId xmlns="" xmlns:a16="http://schemas.microsoft.com/office/drawing/2014/main" val="20009"/>
                    </a:ext>
                  </a:extLst>
                </a:gridCol>
                <a:gridCol w="657225">
                  <a:extLst>
                    <a:ext uri="{9D8B030D-6E8A-4147-A177-3AD203B41FA5}">
                      <a16:colId xmlns="" xmlns:a16="http://schemas.microsoft.com/office/drawing/2014/main" val="20010"/>
                    </a:ext>
                  </a:extLst>
                </a:gridCol>
                <a:gridCol w="657225">
                  <a:extLst>
                    <a:ext uri="{9D8B030D-6E8A-4147-A177-3AD203B41FA5}">
                      <a16:colId xmlns="" xmlns:a16="http://schemas.microsoft.com/office/drawing/2014/main" val="20011"/>
                    </a:ext>
                  </a:extLst>
                </a:gridCol>
                <a:gridCol w="657225">
                  <a:extLst>
                    <a:ext uri="{9D8B030D-6E8A-4147-A177-3AD203B41FA5}">
                      <a16:colId xmlns="" xmlns:a16="http://schemas.microsoft.com/office/drawing/2014/main" val="20012"/>
                    </a:ext>
                  </a:extLst>
                </a:gridCol>
                <a:gridCol w="657225">
                  <a:extLst>
                    <a:ext uri="{9D8B030D-6E8A-4147-A177-3AD203B41FA5}">
                      <a16:colId xmlns="" xmlns:a16="http://schemas.microsoft.com/office/drawing/2014/main" val="20013"/>
                    </a:ext>
                  </a:extLst>
                </a:gridCol>
                <a:gridCol w="657225">
                  <a:extLst>
                    <a:ext uri="{9D8B030D-6E8A-4147-A177-3AD203B41FA5}">
                      <a16:colId xmlns="" xmlns:a16="http://schemas.microsoft.com/office/drawing/2014/main" val="20014"/>
                    </a:ext>
                  </a:extLst>
                </a:gridCol>
                <a:gridCol w="657225">
                  <a:extLst>
                    <a:ext uri="{9D8B030D-6E8A-4147-A177-3AD203B41FA5}">
                      <a16:colId xmlns="" xmlns:a16="http://schemas.microsoft.com/office/drawing/2014/main" val="20015"/>
                    </a:ext>
                  </a:extLst>
                </a:gridCol>
              </a:tblGrid>
              <a:tr h="389939">
                <a:tc>
                  <a:txBody>
                    <a:bodyPr/>
                    <a:lstStyle/>
                    <a:p>
                      <a:pPr algn="ctr" fontAlgn="ct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年份</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1</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2</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3</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4</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5</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6</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7</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8</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9</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10</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11</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12</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年收益</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月胜率</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最大回撤</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extLst>
                  <a:ext uri="{0D108BD9-81ED-4DB2-BD59-A6C34878D82A}">
                    <a16:rowId xmlns="" xmlns:a16="http://schemas.microsoft.com/office/drawing/2014/main" val="10000"/>
                  </a:ext>
                </a:extLst>
              </a:tr>
              <a:tr h="3899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2.17%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4D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2.54%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BC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-3.01%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3D1A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3.89%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ADA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-0.28%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F3E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3.42%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B7B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4.88%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9698"/>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FE3"/>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-2.24%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BDBB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0.23%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AF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-0.17%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5F0"/>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2.20%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3D6"/>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13.43%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58.33%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-6.90%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extLst>
                  <a:ext uri="{0D108BD9-81ED-4DB2-BD59-A6C34878D82A}">
                    <a16:rowId xmlns="" xmlns:a16="http://schemas.microsoft.com/office/drawing/2014/main" val="10001"/>
                  </a:ext>
                </a:extLst>
              </a:tr>
              <a:tr h="3899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0.18%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9F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-1.09%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EE9D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-1.22%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AE7D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1.95%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D9DC"/>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2.54%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BC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1.25%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9EC"/>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2.90%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3C6"/>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0.40%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CF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-1.83%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7E0C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0.41%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CF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1.96%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D9D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-0.28%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F3ED"/>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7.29%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66.67%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-4.89%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2"/>
                  </a:ext>
                </a:extLst>
              </a:tr>
              <a:tr h="3899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-2.97%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4D2A5"/>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1.09%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CE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-2.18%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DDCB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-2.68%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DD5A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1.81%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DCD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2.30%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1D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0.03%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1F7F5"/>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DEFE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-2.25%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ADBB8"/>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0.41%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CF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BF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-0.74%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DE1"/>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-5.48%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50.00%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-8.11%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extLst>
                  <a:ext uri="{0D108BD9-81ED-4DB2-BD59-A6C34878D82A}">
                    <a16:rowId xmlns="" xmlns:a16="http://schemas.microsoft.com/office/drawing/2014/main" val="10003"/>
                  </a:ext>
                </a:extLst>
              </a:tr>
              <a:tr h="3899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2.34%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0D3"/>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0.11%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8F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7D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0.18%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9F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-0.03%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F6F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6F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-0.87%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5ECD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-0.83%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CD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-1.50%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1E4CC"/>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-0.47%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1F1E8"/>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0.50%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AF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BFE"/>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2.47%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58.33%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-6.14%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4"/>
                  </a:ext>
                </a:extLst>
              </a:tr>
              <a:tr h="3899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-4.59%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63BE7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4.14%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A7A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1.67%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DFE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1.20%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AE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F2E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FBF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0.24%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AF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-1.44%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3E5C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5.90%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7F81"/>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6D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BF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0.92%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0F3"/>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10.53%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75.00%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-5.27%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extLst>
                  <a:ext uri="{0D108BD9-81ED-4DB2-BD59-A6C34878D82A}">
                    <a16:rowId xmlns="" xmlns:a16="http://schemas.microsoft.com/office/drawing/2014/main" val="10005"/>
                  </a:ext>
                </a:extLst>
              </a:tr>
              <a:tr h="3899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0.80%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3F6"/>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8F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0.27%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FAF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CF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0.07%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8F6"/>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2.79%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6C8"/>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3.15%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BEC0"/>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6.84%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696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3.56%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B4B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0.77%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4F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-1.11%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DE9D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2.69%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8CB"/>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22.61%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91.67%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-4.93%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6"/>
                  </a:ext>
                </a:extLst>
              </a:tr>
              <a:tr h="3899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4.43%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A0A3"/>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BF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-3.37%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8CD9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5.48%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898B"/>
                    </a:solid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3.39%</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10.44%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80.00%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-5.46%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extLst>
                  <a:ext uri="{0D108BD9-81ED-4DB2-BD59-A6C34878D82A}">
                    <a16:rowId xmlns="" xmlns:a16="http://schemas.microsoft.com/office/drawing/2014/main" val="10007"/>
                  </a:ext>
                </a:extLst>
              </a:tr>
              <a:tr h="389939">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成立以来</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76.39%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67.53%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-9.39%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8"/>
                  </a:ext>
                </a:extLst>
              </a:tr>
            </a:tbl>
          </a:graphicData>
        </a:graphic>
      </p:graphicFrame>
    </p:spTree>
    <p:extLst>
      <p:ext uri="{BB962C8B-B14F-4D97-AF65-F5344CB8AC3E}">
        <p14:creationId xmlns:p14="http://schemas.microsoft.com/office/powerpoint/2010/main" val="3605942395"/>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86CD49-E481-F44B-F6FB-279899A69EFE}"/>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3F2EEFE4-6202-C54B-A681-79CB498E356F}"/>
              </a:ext>
            </a:extLst>
          </p:cNvPr>
          <p:cNvSpPr/>
          <p:nvPr/>
        </p:nvSpPr>
        <p:spPr>
          <a:xfrm>
            <a:off x="381000" y="220979"/>
            <a:ext cx="76200"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Box 2">
            <a:extLst>
              <a:ext uri="{FF2B5EF4-FFF2-40B4-BE49-F238E27FC236}">
                <a16:creationId xmlns="" xmlns:a16="http://schemas.microsoft.com/office/drawing/2014/main" id="{8EC7DCAC-7D2F-56A2-3CCF-E1DAAAB72668}"/>
              </a:ext>
            </a:extLst>
          </p:cNvPr>
          <p:cNvSpPr txBox="1"/>
          <p:nvPr/>
        </p:nvSpPr>
        <p:spPr>
          <a:xfrm>
            <a:off x="630265" y="185388"/>
            <a:ext cx="10500000" cy="381000"/>
          </a:xfrm>
          <a:prstGeom prst="rect">
            <a:avLst/>
          </a:prstGeom>
          <a:noFill/>
        </p:spPr>
        <p:txBody>
          <a:bodyPr wrap="square"/>
          <a:lstStyle/>
          <a:p>
            <a:pPr lvl="0" defTabSz="685800">
              <a:lnSpc>
                <a:spcPct val="120000"/>
              </a:lnSpc>
              <a:defRPr sz="2800" b="1">
                <a:solidFill>
                  <a:srgbClr val="1A3C6E"/>
                </a:solidFill>
                <a:latin typeface="微软雅黑" panose="020B0503020204020204" charset="-122"/>
              </a:defRPr>
            </a:pPr>
            <a:r>
              <a:rPr kumimoji="0" lang="zh-CN" altLang="en-US" sz="2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示范</a:t>
            </a:r>
            <a:r>
              <a:rPr kumimoji="0" lang="en-US" altLang="zh-CN" sz="2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2</a:t>
            </a:r>
            <a:r>
              <a:rPr kumimoji="0" lang="zh-CN" altLang="en-US" sz="2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a:t>
            </a:r>
            <a:r>
              <a:rPr lang="zh-CN" altLang="en-US" sz="2400" b="1" dirty="0">
                <a:solidFill>
                  <a:srgbClr val="4472C4">
                    <a:lumMod val="50000"/>
                  </a:srgbClr>
                </a:solidFill>
                <a:latin typeface="微软雅黑" panose="020B0503020204020204" pitchFamily="34" charset="-122"/>
                <a:ea typeface="微软雅黑" panose="020B0503020204020204" pitchFamily="34" charset="-122"/>
              </a:rPr>
              <a:t>挑“全能型”基金，不如在各类资产的 </a:t>
            </a:r>
            <a:r>
              <a:rPr lang="en-US" altLang="zh-CN" sz="2400" b="1" dirty="0">
                <a:solidFill>
                  <a:srgbClr val="4472C4">
                    <a:lumMod val="50000"/>
                  </a:srgbClr>
                </a:solidFill>
                <a:latin typeface="微软雅黑" panose="020B0503020204020204" pitchFamily="34" charset="-122"/>
                <a:ea typeface="微软雅黑" panose="020B0503020204020204" pitchFamily="34" charset="-122"/>
              </a:rPr>
              <a:t>β </a:t>
            </a:r>
            <a:r>
              <a:rPr lang="zh-CN" altLang="en-US" sz="2400" b="1" dirty="0">
                <a:solidFill>
                  <a:srgbClr val="4472C4">
                    <a:lumMod val="50000"/>
                  </a:srgbClr>
                </a:solidFill>
                <a:latin typeface="微软雅黑" panose="020B0503020204020204" pitchFamily="34" charset="-122"/>
                <a:ea typeface="微软雅黑" panose="020B0503020204020204" pitchFamily="34" charset="-122"/>
              </a:rPr>
              <a:t>下选“各司其职”的工具</a:t>
            </a:r>
            <a:endParaRPr sz="2400" b="1" dirty="0">
              <a:solidFill>
                <a:srgbClr val="4472C4">
                  <a:lumMod val="50000"/>
                </a:srgbClr>
              </a:solidFill>
              <a:latin typeface="微软雅黑" panose="020B0503020204020204" pitchFamily="34" charset="-122"/>
              <a:ea typeface="微软雅黑" panose="020B0503020204020204" pitchFamily="34" charset="-122"/>
            </a:endParaRPr>
          </a:p>
        </p:txBody>
      </p:sp>
      <p:sp>
        <p:nvSpPr>
          <p:cNvPr id="49" name="TextBox 3">
            <a:extLst>
              <a:ext uri="{FF2B5EF4-FFF2-40B4-BE49-F238E27FC236}">
                <a16:creationId xmlns="" xmlns:a16="http://schemas.microsoft.com/office/drawing/2014/main" id="{2570BF59-FE1F-32D9-4778-D1D7E853DC00}"/>
              </a:ext>
            </a:extLst>
          </p:cNvPr>
          <p:cNvSpPr txBox="1"/>
          <p:nvPr/>
        </p:nvSpPr>
        <p:spPr>
          <a:xfrm>
            <a:off x="609600" y="655877"/>
            <a:ext cx="10500000" cy="266700"/>
          </a:xfrm>
          <a:prstGeom prst="rect">
            <a:avLst/>
          </a:prstGeom>
          <a:noFill/>
        </p:spPr>
        <p:txBody>
          <a:bodyPr wrap="square"/>
          <a:lstStyle/>
          <a:p>
            <a:pPr marL="0" marR="0" lvl="0" indent="0" algn="l" defTabSz="685800" rtl="0" eaLnBrk="1" fontAlgn="auto" latinLnBrk="0" hangingPunct="1">
              <a:lnSpc>
                <a:spcPct val="120000"/>
              </a:lnSpc>
              <a:spcBef>
                <a:spcPts val="0"/>
              </a:spcBef>
              <a:spcAft>
                <a:spcPts val="0"/>
              </a:spcAft>
              <a:buClrTx/>
              <a:buSzTx/>
              <a:buFontTx/>
              <a:buNone/>
              <a:tabLst/>
              <a:defRPr sz="1600" b="0">
                <a:solidFill>
                  <a:srgbClr val="666666"/>
                </a:solidFill>
                <a:latin typeface="微软雅黑" panose="020B0503020204020204" charset="-122"/>
              </a:defRPr>
            </a:pPr>
            <a:r>
              <a:rPr kumimoji="0" lang="zh-CN" altLang="en-US"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rPr>
              <a:t>传统思路 </a:t>
            </a:r>
            <a:r>
              <a:rPr kumimoji="0" lang="en-US" altLang="zh-CN"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rPr>
              <a:t>– </a:t>
            </a:r>
            <a:r>
              <a:rPr kumimoji="0" lang="zh-CN" altLang="en-US"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rPr>
              <a:t>人；</a:t>
            </a:r>
            <a:r>
              <a:rPr kumimoji="0" lang="en-US" altLang="zh-CN"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rPr>
              <a:t>FOF</a:t>
            </a:r>
            <a:r>
              <a:rPr kumimoji="0" lang="zh-CN" altLang="en-US"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rPr>
              <a:t>基金经理的思路 </a:t>
            </a:r>
            <a:r>
              <a:rPr kumimoji="0" lang="en-US" altLang="zh-CN"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rPr>
              <a:t>– </a:t>
            </a:r>
            <a:r>
              <a:rPr kumimoji="0" lang="zh-CN" altLang="en-US"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rPr>
              <a:t>稳；我们的思路 </a:t>
            </a:r>
            <a:r>
              <a:rPr kumimoji="0" lang="en-US" altLang="zh-CN"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rPr>
              <a:t>– </a:t>
            </a:r>
            <a:r>
              <a:rPr kumimoji="0" lang="zh-CN" altLang="en-US"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rPr>
              <a:t>锐；</a:t>
            </a:r>
            <a:endParaRPr kumimoji="0"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endParaRPr>
          </a:p>
        </p:txBody>
      </p:sp>
      <p:sp>
        <p:nvSpPr>
          <p:cNvPr id="6" name="Shape 3">
            <a:extLst>
              <a:ext uri="{FF2B5EF4-FFF2-40B4-BE49-F238E27FC236}">
                <a16:creationId xmlns="" xmlns:a16="http://schemas.microsoft.com/office/drawing/2014/main" id="{B38AFE43-5110-1C5D-1544-A072CC27B268}"/>
              </a:ext>
            </a:extLst>
          </p:cNvPr>
          <p:cNvSpPr/>
          <p:nvPr/>
        </p:nvSpPr>
        <p:spPr>
          <a:xfrm>
            <a:off x="476250" y="1028700"/>
            <a:ext cx="11239500" cy="0"/>
          </a:xfrm>
          <a:prstGeom prst="straightConnector1">
            <a:avLst/>
          </a:prstGeom>
          <a:noFill/>
          <a:ln w="12700">
            <a:solidFill>
              <a:srgbClr val="B8860B">
                <a:alpha val="37647"/>
              </a:srgbClr>
            </a:solidFill>
            <a:prstDash val="solid"/>
            <a:headEnd type="none"/>
            <a:tailEnd type="none"/>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24" name="椭圆 23" descr="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
            <a:extLst>
              <a:ext uri="{FF2B5EF4-FFF2-40B4-BE49-F238E27FC236}">
                <a16:creationId xmlns="" xmlns:a16="http://schemas.microsoft.com/office/drawing/2014/main" id="{0E7C63FA-658E-C9B0-474F-0AA4EBC3798C}"/>
              </a:ext>
            </a:extLst>
          </p:cNvPr>
          <p:cNvSpPr/>
          <p:nvPr/>
        </p:nvSpPr>
        <p:spPr>
          <a:xfrm rot="17100000">
            <a:off x="665665" y="160279"/>
            <a:ext cx="1425269" cy="1425269"/>
          </a:xfrm>
          <a:prstGeom prst="ellipse">
            <a:avLst/>
          </a:prstGeom>
          <a:gradFill flip="none" rotWithShape="1">
            <a:gsLst>
              <a:gs pos="34000">
                <a:schemeClr val="accent1">
                  <a:lumMod val="45000"/>
                  <a:lumOff val="55000"/>
                  <a:alpha val="0"/>
                </a:schemeClr>
              </a:gs>
              <a:gs pos="100000">
                <a:schemeClr val="accent1">
                  <a:alpha val="37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8"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latin typeface="Calibri"/>
              <a:ea typeface="HarmonyOS Sans SC Light"/>
              <a:cs typeface="+mn-cs"/>
            </a:endParaRPr>
          </a:p>
        </p:txBody>
      </p:sp>
      <p:sp>
        <p:nvSpPr>
          <p:cNvPr id="32" name="Shape 4">
            <a:extLst>
              <a:ext uri="{FF2B5EF4-FFF2-40B4-BE49-F238E27FC236}">
                <a16:creationId xmlns="" xmlns:a16="http://schemas.microsoft.com/office/drawing/2014/main" id="{9FC94FC5-6022-038F-7364-DDB65E8B9B05}"/>
              </a:ext>
            </a:extLst>
          </p:cNvPr>
          <p:cNvSpPr/>
          <p:nvPr/>
        </p:nvSpPr>
        <p:spPr>
          <a:xfrm>
            <a:off x="389166" y="1181100"/>
            <a:ext cx="3619500" cy="381000"/>
          </a:xfrm>
          <a:prstGeom prst="rect">
            <a:avLst/>
          </a:prstGeom>
          <a:solidFill>
            <a:srgbClr val="0669AC">
              <a:lumMod val="75000"/>
            </a:srgbClr>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33" name="Text 5">
            <a:extLst>
              <a:ext uri="{FF2B5EF4-FFF2-40B4-BE49-F238E27FC236}">
                <a16:creationId xmlns="" xmlns:a16="http://schemas.microsoft.com/office/drawing/2014/main" id="{15BF969A-8A1E-1DBF-64AF-439543AB5A12}"/>
              </a:ext>
            </a:extLst>
          </p:cNvPr>
          <p:cNvSpPr/>
          <p:nvPr/>
        </p:nvSpPr>
        <p:spPr>
          <a:xfrm>
            <a:off x="389166" y="1181100"/>
            <a:ext cx="3619500" cy="381000"/>
          </a:xfrm>
          <a:prstGeom prst="rect">
            <a:avLst/>
          </a:prstGeom>
          <a:noFill/>
          <a:ln/>
        </p:spPr>
        <p:txBody>
          <a:bodyPr wrap="none"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0" normalizeH="0" baseline="0" noProof="0" dirty="0" err="1">
                <a:ln>
                  <a:noFill/>
                </a:ln>
                <a:solidFill>
                  <a:srgbClr val="FFFFFF"/>
                </a:solidFill>
                <a:effectLst/>
                <a:uLnTx/>
                <a:uFillTx/>
                <a:latin typeface="Quattrocento Sans" pitchFamily="34" charset="0"/>
                <a:ea typeface="Quattrocento Sans" pitchFamily="34" charset="-122"/>
                <a:cs typeface="Quattrocento Sans" pitchFamily="34" charset="-120"/>
              </a:rPr>
              <a:t>传统</a:t>
            </a:r>
            <a:r>
              <a:rPr kumimoji="0" lang="zh-CN" altLang="en-US" sz="1500" b="1" i="0" u="none" strike="noStrike" kern="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的选基</a:t>
            </a:r>
            <a:r>
              <a:rPr kumimoji="0" lang="en-US" sz="1500" b="1" i="0" u="none" strike="noStrike" kern="0" cap="none" spc="0" normalizeH="0" baseline="0" noProof="0" dirty="0" err="1">
                <a:ln>
                  <a:noFill/>
                </a:ln>
                <a:solidFill>
                  <a:srgbClr val="FFFFFF"/>
                </a:solidFill>
                <a:effectLst/>
                <a:uLnTx/>
                <a:uFillTx/>
                <a:latin typeface="Quattrocento Sans" pitchFamily="34" charset="0"/>
                <a:ea typeface="Quattrocento Sans" pitchFamily="34" charset="-122"/>
                <a:cs typeface="Quattrocento Sans" pitchFamily="34" charset="-120"/>
              </a:rPr>
              <a:t>思路</a:t>
            </a:r>
            <a:r>
              <a:rPr kumimoji="0" lang="en-US" sz="1500" b="1" i="0" u="none" strike="noStrike" kern="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 </a:t>
            </a:r>
            <a:r>
              <a:rPr kumimoji="0" lang="en-US" altLang="zh-CN" sz="1500" b="1" i="0" u="none" strike="noStrike" kern="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 </a:t>
            </a:r>
            <a:r>
              <a:rPr kumimoji="0" lang="zh-CN" altLang="en-US" sz="1500" b="1" i="0" u="none" strike="noStrike" kern="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自下而上</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p:txBody>
      </p:sp>
      <p:sp>
        <p:nvSpPr>
          <p:cNvPr id="34" name="Shape 6">
            <a:extLst>
              <a:ext uri="{FF2B5EF4-FFF2-40B4-BE49-F238E27FC236}">
                <a16:creationId xmlns="" xmlns:a16="http://schemas.microsoft.com/office/drawing/2014/main" id="{1F5F63D6-18EB-9468-7971-8BB64EBEAE37}"/>
              </a:ext>
            </a:extLst>
          </p:cNvPr>
          <p:cNvSpPr/>
          <p:nvPr/>
        </p:nvSpPr>
        <p:spPr>
          <a:xfrm>
            <a:off x="389166" y="1562100"/>
            <a:ext cx="3619500" cy="4857750"/>
          </a:xfrm>
          <a:prstGeom prst="rect">
            <a:avLst/>
          </a:prstGeom>
          <a:solidFill>
            <a:srgbClr val="F3F2EF"/>
          </a:solidFill>
          <a:ln w="25400">
            <a:solidFill>
              <a:srgbClr val="0669AC">
                <a:lumMod val="75000"/>
              </a:srgbClr>
            </a:solidFill>
            <a:prstDash val="solid"/>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35" name="Text 7">
            <a:extLst>
              <a:ext uri="{FF2B5EF4-FFF2-40B4-BE49-F238E27FC236}">
                <a16:creationId xmlns="" xmlns:a16="http://schemas.microsoft.com/office/drawing/2014/main" id="{ADF123A3-5BC1-43DF-B5D9-1A65BDC3C6DD}"/>
              </a:ext>
            </a:extLst>
          </p:cNvPr>
          <p:cNvSpPr/>
          <p:nvPr/>
        </p:nvSpPr>
        <p:spPr>
          <a:xfrm>
            <a:off x="579666" y="1714500"/>
            <a:ext cx="3238500" cy="4552950"/>
          </a:xfrm>
          <a:prstGeom prst="rect">
            <a:avLst/>
          </a:prstGeom>
          <a:noFill/>
          <a:ln/>
        </p:spPr>
        <p:txBody>
          <a:bodyPr wrap="square" lIns="0" tIns="0" rIns="0" bIns="0" rtlCol="0" anchor="ctr"/>
          <a:lstStyle/>
          <a:p>
            <a:pPr marL="0" marR="0" lvl="0" indent="0" algn="l" defTabSz="685800" rtl="0" eaLnBrk="1" fontAlgn="auto" latinLnBrk="0" hangingPunct="1">
              <a:lnSpc>
                <a:spcPct val="160000"/>
              </a:lnSpc>
              <a:spcBef>
                <a:spcPts val="0"/>
              </a:spcBef>
              <a:spcAft>
                <a:spcPts val="0"/>
              </a:spcAft>
              <a:buClrTx/>
              <a:buSzTx/>
              <a:buFontTx/>
              <a:buNone/>
              <a:tabLst/>
              <a:defRPr/>
            </a:pPr>
            <a:r>
              <a:rPr kumimoji="0" lang="zh-CN" altLang="en-US" sz="1350" b="1" i="0" u="none" strike="noStrike" kern="0" cap="none" spc="0" normalizeH="0" baseline="0" noProof="0" dirty="0">
                <a:ln>
                  <a:noFill/>
                </a:ln>
                <a:solidFill>
                  <a:srgbClr val="0669AC">
                    <a:lumMod val="50000"/>
                  </a:srgbClr>
                </a:solidFill>
                <a:effectLst/>
                <a:uLnTx/>
                <a:uFillTx/>
                <a:latin typeface="Quattrocento Sans" pitchFamily="34" charset="0"/>
                <a:ea typeface="Quattrocento Sans" pitchFamily="34" charset="-122"/>
                <a:cs typeface="Quattrocento Sans" pitchFamily="34" charset="-120"/>
              </a:rPr>
              <a:t>相信什么？</a:t>
            </a:r>
            <a:endParaRPr kumimoji="0" lang="en-US" sz="1200" b="0" i="0" u="none" strike="noStrike" kern="0" cap="none" spc="0" normalizeH="0" baseline="0" noProof="0" dirty="0">
              <a:ln>
                <a:noFill/>
              </a:ln>
              <a:solidFill>
                <a:srgbClr val="0669AC">
                  <a:lumMod val="50000"/>
                </a:srgbClr>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选基就是选人</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 </a:t>
            </a:r>
            <a:r>
              <a:rPr kumimoji="0" lang="en-US" altLang="zh-CN"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 人的能力可以穿越周期</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600"/>
              </a:spcBef>
              <a:spcAft>
                <a:spcPts val="0"/>
              </a:spcAft>
              <a:buClrTx/>
              <a:buSzTx/>
              <a:buFontTx/>
              <a:buNone/>
              <a:tabLst/>
              <a:defRPr/>
            </a:pPr>
            <a:r>
              <a:rPr kumimoji="0" lang="en-US" sz="1350" b="1" i="0" u="none" strike="noStrike" kern="0" cap="none" spc="0" normalizeH="0" baseline="0" noProof="0" dirty="0">
                <a:ln>
                  <a:noFill/>
                </a:ln>
                <a:solidFill>
                  <a:srgbClr val="0669AC">
                    <a:lumMod val="50000"/>
                  </a:srgbClr>
                </a:solidFill>
                <a:effectLst/>
                <a:uLnTx/>
                <a:uFillTx/>
                <a:latin typeface="Quattrocento Sans" pitchFamily="34" charset="0"/>
                <a:ea typeface="Quattrocento Sans" pitchFamily="34" charset="-122"/>
                <a:cs typeface="Quattrocento Sans" pitchFamily="34" charset="-120"/>
              </a:rPr>
              <a:t>方法论</a:t>
            </a:r>
            <a:endParaRPr kumimoji="0" lang="en-US" sz="1200" b="0" i="0" u="none" strike="noStrike" kern="0" cap="none" spc="0" normalizeH="0" baseline="0" noProof="0" dirty="0">
              <a:ln>
                <a:noFill/>
              </a:ln>
              <a:solidFill>
                <a:srgbClr val="0669AC">
                  <a:lumMod val="50000"/>
                </a:srgbClr>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基于人的方法论</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600"/>
              </a:spcBef>
              <a:spcAft>
                <a:spcPts val="0"/>
              </a:spcAft>
              <a:buClrTx/>
              <a:buSzTx/>
              <a:buFontTx/>
              <a:buNone/>
              <a:tabLst/>
              <a:defRPr/>
            </a:pPr>
            <a:r>
              <a:rPr kumimoji="0" lang="zh-CN" altLang="en-US" sz="1350" b="1" i="0" u="none" strike="noStrike" kern="0" cap="none" spc="0" normalizeH="0" baseline="0" noProof="0" dirty="0">
                <a:ln>
                  <a:noFill/>
                </a:ln>
                <a:solidFill>
                  <a:srgbClr val="0669AC">
                    <a:lumMod val="50000"/>
                  </a:srgbClr>
                </a:solidFill>
                <a:effectLst/>
                <a:uLnTx/>
                <a:uFillTx/>
                <a:latin typeface="Quattrocento Sans" pitchFamily="34" charset="0"/>
                <a:ea typeface="Quattrocento Sans" pitchFamily="34" charset="-122"/>
                <a:cs typeface="Quattrocento Sans" pitchFamily="34" charset="-120"/>
              </a:rPr>
              <a:t>研究思路</a:t>
            </a:r>
            <a:endParaRPr kumimoji="0" lang="en-US" sz="1200" b="0" i="0" u="none" strike="noStrike" kern="0" cap="none" spc="0" normalizeH="0" baseline="0" noProof="0" dirty="0">
              <a:ln>
                <a:noFill/>
              </a:ln>
              <a:solidFill>
                <a:srgbClr val="0669AC">
                  <a:lumMod val="50000"/>
                </a:srgbClr>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强调自下而上</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的基金经理跟踪与尽调</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600"/>
              </a:spcBef>
              <a:spcAft>
                <a:spcPts val="0"/>
              </a:spcAft>
              <a:buClrTx/>
              <a:buSzTx/>
              <a:buFontTx/>
              <a:buNone/>
              <a:tabLst/>
              <a:defRPr/>
            </a:pPr>
            <a:r>
              <a:rPr kumimoji="0" lang="zh-CN" altLang="en-US" sz="1350" b="1" i="0" u="none" strike="noStrike" kern="0" cap="none" spc="0" normalizeH="0" baseline="0" noProof="0" dirty="0">
                <a:ln>
                  <a:noFill/>
                </a:ln>
                <a:solidFill>
                  <a:srgbClr val="0669AC">
                    <a:lumMod val="50000"/>
                  </a:srgbClr>
                </a:solidFill>
                <a:effectLst/>
                <a:uLnTx/>
                <a:uFillTx/>
                <a:latin typeface="Quattrocento Sans" pitchFamily="34" charset="0"/>
                <a:ea typeface="Quattrocento Sans" pitchFamily="34" charset="-122"/>
                <a:cs typeface="Quattrocento Sans" pitchFamily="34" charset="-120"/>
              </a:rPr>
              <a:t>关注变量</a:t>
            </a:r>
            <a:endParaRPr kumimoji="0" lang="en-US" sz="1200" b="0" i="0" u="none" strike="noStrike" kern="0" cap="none" spc="0" normalizeH="0" baseline="0" noProof="0" dirty="0">
              <a:ln>
                <a:noFill/>
              </a:ln>
              <a:solidFill>
                <a:srgbClr val="0669AC">
                  <a:lumMod val="50000"/>
                </a:srgbClr>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人 </a:t>
            </a:r>
            <a:r>
              <a:rPr kumimoji="0" lang="en-US" altLang="zh-CN"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 </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基金经理的alpha能力</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600"/>
              </a:spcBef>
              <a:spcAft>
                <a:spcPts val="0"/>
              </a:spcAft>
              <a:buClrTx/>
              <a:buSzTx/>
              <a:buFontTx/>
              <a:buNone/>
              <a:tabLst/>
              <a:defRPr/>
            </a:pPr>
            <a:r>
              <a:rPr kumimoji="0" lang="zh-CN" altLang="en-US" sz="1350" b="1" i="0" u="none" strike="noStrike" kern="0" cap="none" spc="0" normalizeH="0" baseline="0" noProof="0" dirty="0">
                <a:ln>
                  <a:noFill/>
                </a:ln>
                <a:solidFill>
                  <a:srgbClr val="0669AC">
                    <a:lumMod val="50000"/>
                  </a:srgbClr>
                </a:solidFill>
                <a:effectLst/>
                <a:uLnTx/>
                <a:uFillTx/>
                <a:latin typeface="Quattrocento Sans" pitchFamily="34" charset="0"/>
                <a:ea typeface="Quattrocento Sans" pitchFamily="34" charset="-122"/>
                <a:cs typeface="Quattrocento Sans" pitchFamily="34" charset="-120"/>
              </a:rPr>
              <a:t>评价 </a:t>
            </a:r>
            <a:r>
              <a:rPr kumimoji="0" lang="en-US" altLang="zh-CN" sz="1350" b="1" i="0" u="none" strike="noStrike" kern="0" cap="none" spc="0" normalizeH="0" baseline="0" noProof="0" dirty="0">
                <a:ln>
                  <a:noFill/>
                </a:ln>
                <a:solidFill>
                  <a:srgbClr val="0669AC">
                    <a:lumMod val="50000"/>
                  </a:srgbClr>
                </a:solidFill>
                <a:effectLst/>
                <a:uLnTx/>
                <a:uFillTx/>
                <a:latin typeface="Quattrocento Sans" pitchFamily="34" charset="0"/>
                <a:ea typeface="Quattrocento Sans" pitchFamily="34" charset="-122"/>
                <a:cs typeface="Quattrocento Sans" pitchFamily="34" charset="-120"/>
              </a:rPr>
              <a:t>– alpha </a:t>
            </a:r>
            <a:r>
              <a:rPr kumimoji="0" lang="zh-CN" altLang="en-US" sz="1350" b="1" i="0" u="none" strike="noStrike" kern="0" cap="none" spc="0" normalizeH="0" baseline="0" noProof="0" dirty="0">
                <a:ln>
                  <a:noFill/>
                </a:ln>
                <a:solidFill>
                  <a:srgbClr val="0669AC">
                    <a:lumMod val="50000"/>
                  </a:srgbClr>
                </a:solidFill>
                <a:effectLst/>
                <a:uLnTx/>
                <a:uFillTx/>
                <a:latin typeface="Quattrocento Sans" pitchFamily="34" charset="0"/>
                <a:ea typeface="Quattrocento Sans" pitchFamily="34" charset="-122"/>
                <a:cs typeface="Quattrocento Sans" pitchFamily="34" charset="-120"/>
              </a:rPr>
              <a:t>的高低</a:t>
            </a:r>
            <a:endParaRPr kumimoji="0" lang="en-US" sz="1200" b="0" i="0" u="none" strike="noStrike" kern="0" cap="none" spc="0" normalizeH="0" baseline="0" noProof="0" dirty="0">
              <a:ln>
                <a:noFill/>
              </a:ln>
              <a:solidFill>
                <a:srgbClr val="0669AC">
                  <a:lumMod val="50000"/>
                </a:srgbClr>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基金经理个人能力、</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mn-ea"/>
                <a:cs typeface="+mn-cs"/>
              </a:rPr>
              <a:t>历史业绩、投资理念</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等线" panose="02010600030101010101" pitchFamily="2" charset="-122"/>
                <a:cs typeface="+mn-cs"/>
              </a:rPr>
              <a:t>，采用</a:t>
            </a:r>
            <a:r>
              <a:rPr kumimoji="0" lang="en-US" altLang="zh-CN" sz="1350" b="0" i="0" u="none" strike="noStrike" kern="0" cap="none" spc="0" normalizeH="0" baseline="0" noProof="0" dirty="0">
                <a:ln>
                  <a:noFill/>
                </a:ln>
                <a:solidFill>
                  <a:srgbClr val="2C2C2C"/>
                </a:solidFill>
                <a:effectLst/>
                <a:uLnTx/>
                <a:uFillTx/>
                <a:latin typeface="Quattrocento Sans" panose="020B0502050000020003" pitchFamily="34" charset="0"/>
                <a:ea typeface="等线" panose="02010600030101010101" pitchFamily="2" charset="-122"/>
                <a:cs typeface="+mn-cs"/>
              </a:rPr>
              <a:t>Brinson</a:t>
            </a:r>
            <a:r>
              <a:rPr kumimoji="0" lang="zh-CN" altLang="en-US" sz="1350" b="0" i="0" u="none" strike="noStrike" kern="0" cap="none" spc="0" normalizeH="0" baseline="0" noProof="0" dirty="0">
                <a:ln>
                  <a:noFill/>
                </a:ln>
                <a:solidFill>
                  <a:srgbClr val="2C2C2C"/>
                </a:solidFill>
                <a:effectLst/>
                <a:uLnTx/>
                <a:uFillTx/>
                <a:latin typeface="Quattrocento Sans" panose="020B0502050000020003" pitchFamily="34" charset="0"/>
                <a:ea typeface="等线" panose="02010600030101010101" pitchFamily="2" charset="-122"/>
                <a:cs typeface="+mn-cs"/>
              </a:rPr>
              <a:t>分析，对基金经理的选股、配置、交易等做比对</a:t>
            </a:r>
            <a:endParaRPr kumimoji="0" lang="en-US" sz="1350" b="0" i="0" u="none" strike="noStrike" kern="0" cap="none" spc="0" normalizeH="0" baseline="0" noProof="0" dirty="0">
              <a:ln>
                <a:noFill/>
              </a:ln>
              <a:solidFill>
                <a:srgbClr val="2C2C2C"/>
              </a:solidFill>
              <a:effectLst/>
              <a:uLnTx/>
              <a:uFillTx/>
              <a:latin typeface="Quattrocento Sans" panose="020B0502050000020003" pitchFamily="34" charset="0"/>
              <a:ea typeface="+mn-ea"/>
              <a:cs typeface="+mn-cs"/>
            </a:endParaRPr>
          </a:p>
        </p:txBody>
      </p:sp>
      <p:sp>
        <p:nvSpPr>
          <p:cNvPr id="36" name="Shape 8">
            <a:extLst>
              <a:ext uri="{FF2B5EF4-FFF2-40B4-BE49-F238E27FC236}">
                <a16:creationId xmlns="" xmlns:a16="http://schemas.microsoft.com/office/drawing/2014/main" id="{D91448FE-366F-AA4C-E4F2-FC9F352A7205}"/>
              </a:ext>
            </a:extLst>
          </p:cNvPr>
          <p:cNvSpPr/>
          <p:nvPr/>
        </p:nvSpPr>
        <p:spPr>
          <a:xfrm>
            <a:off x="4199166" y="1181100"/>
            <a:ext cx="3619500" cy="381000"/>
          </a:xfrm>
          <a:prstGeom prst="rect">
            <a:avLst/>
          </a:prstGeom>
          <a:solidFill>
            <a:srgbClr val="B8860B"/>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37" name="Text 9">
            <a:extLst>
              <a:ext uri="{FF2B5EF4-FFF2-40B4-BE49-F238E27FC236}">
                <a16:creationId xmlns="" xmlns:a16="http://schemas.microsoft.com/office/drawing/2014/main" id="{4E2BE876-0F54-7944-B525-45B23A1D2F47}"/>
              </a:ext>
            </a:extLst>
          </p:cNvPr>
          <p:cNvSpPr/>
          <p:nvPr/>
        </p:nvSpPr>
        <p:spPr>
          <a:xfrm>
            <a:off x="4199166" y="1181100"/>
            <a:ext cx="3619500" cy="381000"/>
          </a:xfrm>
          <a:prstGeom prst="rect">
            <a:avLst/>
          </a:prstGeom>
          <a:noFill/>
          <a:ln/>
        </p:spPr>
        <p:txBody>
          <a:bodyPr wrap="none"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FOF</a:t>
            </a:r>
            <a:r>
              <a:rPr kumimoji="0" lang="zh-CN" altLang="en-US" sz="1500" b="1" i="0" u="none" strike="noStrike" kern="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选基</a:t>
            </a:r>
            <a:r>
              <a:rPr kumimoji="0" lang="en-US" sz="1500" b="1" i="0" u="none" strike="noStrike" kern="0" cap="none" spc="0" normalizeH="0" baseline="0" noProof="0" dirty="0" err="1">
                <a:ln>
                  <a:noFill/>
                </a:ln>
                <a:solidFill>
                  <a:srgbClr val="FFFFFF"/>
                </a:solidFill>
                <a:effectLst/>
                <a:uLnTx/>
                <a:uFillTx/>
                <a:latin typeface="Quattrocento Sans" pitchFamily="34" charset="0"/>
                <a:ea typeface="Quattrocento Sans" pitchFamily="34" charset="-122"/>
                <a:cs typeface="Quattrocento Sans" pitchFamily="34" charset="-120"/>
              </a:rPr>
              <a:t>的思路</a:t>
            </a:r>
            <a:r>
              <a:rPr kumimoji="0" lang="en-US" sz="1500" b="1" i="0" u="none" strike="noStrike" kern="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 </a:t>
            </a:r>
            <a:r>
              <a:rPr kumimoji="0" lang="en-US" altLang="zh-CN" sz="1500" b="1" i="0" u="none" strike="noStrike" kern="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 </a:t>
            </a:r>
            <a:r>
              <a:rPr kumimoji="0" lang="zh-CN" altLang="en-US" sz="1500" b="1" i="0" u="none" strike="noStrike" kern="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自上而下</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p:txBody>
      </p:sp>
      <p:sp>
        <p:nvSpPr>
          <p:cNvPr id="38" name="Shape 10">
            <a:extLst>
              <a:ext uri="{FF2B5EF4-FFF2-40B4-BE49-F238E27FC236}">
                <a16:creationId xmlns="" xmlns:a16="http://schemas.microsoft.com/office/drawing/2014/main" id="{B9D4E83A-EBAB-5849-1658-81DCD5E4BD05}"/>
              </a:ext>
            </a:extLst>
          </p:cNvPr>
          <p:cNvSpPr/>
          <p:nvPr/>
        </p:nvSpPr>
        <p:spPr>
          <a:xfrm>
            <a:off x="4199166" y="1562100"/>
            <a:ext cx="3619500" cy="4857750"/>
          </a:xfrm>
          <a:prstGeom prst="rect">
            <a:avLst/>
          </a:prstGeom>
          <a:solidFill>
            <a:srgbClr val="FFF8E6"/>
          </a:solidFill>
          <a:ln w="25400">
            <a:solidFill>
              <a:srgbClr val="B8860B"/>
            </a:solidFill>
            <a:prstDash val="solid"/>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39" name="Text 11">
            <a:extLst>
              <a:ext uri="{FF2B5EF4-FFF2-40B4-BE49-F238E27FC236}">
                <a16:creationId xmlns="" xmlns:a16="http://schemas.microsoft.com/office/drawing/2014/main" id="{2CFF378D-0972-F13D-7DB6-3F3C172C31A5}"/>
              </a:ext>
            </a:extLst>
          </p:cNvPr>
          <p:cNvSpPr/>
          <p:nvPr/>
        </p:nvSpPr>
        <p:spPr>
          <a:xfrm>
            <a:off x="4389666" y="1714500"/>
            <a:ext cx="3238500" cy="4552950"/>
          </a:xfrm>
          <a:prstGeom prst="rect">
            <a:avLst/>
          </a:prstGeom>
          <a:noFill/>
          <a:ln/>
        </p:spPr>
        <p:txBody>
          <a:bodyPr wrap="square" lIns="0" tIns="0" rIns="0" bIns="0" rtlCol="0" anchor="ctr"/>
          <a:lstStyle/>
          <a:p>
            <a:pPr marL="0" marR="0" lvl="0" indent="0" algn="l" defTabSz="685800" rtl="0" eaLnBrk="1" fontAlgn="auto" latinLnBrk="0" hangingPunct="1">
              <a:lnSpc>
                <a:spcPct val="160000"/>
              </a:lnSpc>
              <a:spcBef>
                <a:spcPts val="0"/>
              </a:spcBef>
              <a:spcAft>
                <a:spcPts val="0"/>
              </a:spcAft>
              <a:buClrTx/>
              <a:buSzTx/>
              <a:buFontTx/>
              <a:buNone/>
              <a:tabLst/>
              <a:defRPr/>
            </a:pPr>
            <a:r>
              <a:rPr kumimoji="0" lang="zh-CN" altLang="en-US" sz="1350" b="1" i="0" u="none" strike="noStrike" kern="0" cap="none" spc="0" normalizeH="0" baseline="0" noProof="0" dirty="0">
                <a:ln>
                  <a:noFill/>
                </a:ln>
                <a:solidFill>
                  <a:srgbClr val="B8860B"/>
                </a:solidFill>
                <a:effectLst/>
                <a:uLnTx/>
                <a:uFillTx/>
                <a:latin typeface="Quattrocento Sans" pitchFamily="34" charset="0"/>
                <a:ea typeface="Quattrocento Sans" pitchFamily="34" charset="-122"/>
                <a:cs typeface="Quattrocento Sans" pitchFamily="34" charset="-120"/>
              </a:rPr>
              <a:t>相信什么？</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选基就是选风格</a:t>
            </a:r>
            <a:r>
              <a:rPr kumimoji="0" 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 — </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成长、价值、均衡</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，稳定的风格可以穿越周期</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600"/>
              </a:spcBef>
              <a:spcAft>
                <a:spcPts val="0"/>
              </a:spcAft>
              <a:buClrTx/>
              <a:buSzTx/>
              <a:buFontTx/>
              <a:buNone/>
              <a:tabLst/>
              <a:defRPr/>
            </a:pPr>
            <a:r>
              <a:rPr kumimoji="0" lang="en-US" sz="1350" b="1" i="0" u="none" strike="noStrike" kern="0" cap="none" spc="0" normalizeH="0" baseline="0" noProof="0" dirty="0">
                <a:ln>
                  <a:noFill/>
                </a:ln>
                <a:solidFill>
                  <a:srgbClr val="B8860B"/>
                </a:solidFill>
                <a:effectLst/>
                <a:uLnTx/>
                <a:uFillTx/>
                <a:latin typeface="Quattrocento Sans" pitchFamily="34" charset="0"/>
                <a:ea typeface="Quattrocento Sans" pitchFamily="34" charset="-122"/>
                <a:cs typeface="Quattrocento Sans" pitchFamily="34" charset="-120"/>
              </a:rPr>
              <a:t>方法论</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基于宏观和资配的方法论</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600"/>
              </a:spcBef>
              <a:spcAft>
                <a:spcPts val="0"/>
              </a:spcAft>
              <a:buClrTx/>
              <a:buSzTx/>
              <a:buFontTx/>
              <a:buNone/>
              <a:tabLst/>
              <a:defRPr/>
            </a:pPr>
            <a:r>
              <a:rPr kumimoji="0" lang="zh-CN" altLang="en-US" sz="1350" b="1" i="0" u="none" strike="noStrike" kern="0" cap="none" spc="0" normalizeH="0" baseline="0" noProof="0" dirty="0">
                <a:ln>
                  <a:noFill/>
                </a:ln>
                <a:solidFill>
                  <a:srgbClr val="B8860B"/>
                </a:solidFill>
                <a:effectLst/>
                <a:uLnTx/>
                <a:uFillTx/>
                <a:latin typeface="Quattrocento Sans" pitchFamily="34" charset="0"/>
                <a:ea typeface="Quattrocento Sans" pitchFamily="34" charset="-122"/>
                <a:cs typeface="Quattrocento Sans" pitchFamily="34" charset="-120"/>
              </a:rPr>
              <a:t>研究思路</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强调</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自上而下</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的资配观点</a:t>
            </a:r>
            <a:r>
              <a:rPr kumimoji="0" 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 + </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自下而上</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选人</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600"/>
              </a:spcBef>
              <a:spcAft>
                <a:spcPts val="0"/>
              </a:spcAft>
              <a:buClrTx/>
              <a:buSzTx/>
              <a:buFontTx/>
              <a:buNone/>
              <a:tabLst/>
              <a:defRPr/>
            </a:pPr>
            <a:r>
              <a:rPr kumimoji="0" lang="en-US" sz="1350" b="1" i="0" u="none" strike="noStrike" kern="0" cap="none" spc="0" normalizeH="0" baseline="0" noProof="0" dirty="0">
                <a:ln>
                  <a:noFill/>
                </a:ln>
                <a:solidFill>
                  <a:srgbClr val="B8860B"/>
                </a:solidFill>
                <a:effectLst/>
                <a:uLnTx/>
                <a:uFillTx/>
                <a:latin typeface="Quattrocento Sans" pitchFamily="34" charset="0"/>
                <a:ea typeface="Quattrocento Sans" pitchFamily="34" charset="-122"/>
                <a:cs typeface="Quattrocento Sans" pitchFamily="34" charset="-120"/>
              </a:rPr>
              <a:t>关注变量</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平稳 </a:t>
            </a:r>
            <a:r>
              <a:rPr kumimoji="0" lang="en-US" altLang="zh-CN"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 </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经济周期、宏观变量、货币政策、市场风格切换</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600"/>
              </a:spcBef>
              <a:spcAft>
                <a:spcPts val="0"/>
              </a:spcAft>
              <a:buClrTx/>
              <a:buSzTx/>
              <a:buFontTx/>
              <a:buNone/>
              <a:tabLst/>
              <a:defRPr/>
            </a:pPr>
            <a:r>
              <a:rPr kumimoji="0" lang="zh-CN" altLang="en-US" sz="1350" b="1" i="0" u="none" strike="noStrike" kern="0" cap="none" spc="0" normalizeH="0" baseline="0" noProof="0" dirty="0">
                <a:ln>
                  <a:noFill/>
                </a:ln>
                <a:solidFill>
                  <a:srgbClr val="B8860B"/>
                </a:solidFill>
                <a:effectLst/>
                <a:uLnTx/>
                <a:uFillTx/>
                <a:latin typeface="Quattrocento Sans" pitchFamily="34" charset="0"/>
                <a:ea typeface="Quattrocento Sans" pitchFamily="34" charset="-122"/>
                <a:cs typeface="Quattrocento Sans" pitchFamily="34" charset="-120"/>
              </a:rPr>
              <a:t>评价 </a:t>
            </a:r>
            <a:r>
              <a:rPr kumimoji="0" lang="en-US" altLang="zh-CN" sz="1350" b="1" i="0" u="none" strike="noStrike" kern="0" cap="none" spc="0" normalizeH="0" baseline="0" noProof="0" dirty="0">
                <a:ln>
                  <a:noFill/>
                </a:ln>
                <a:solidFill>
                  <a:srgbClr val="B8860B"/>
                </a:solidFill>
                <a:effectLst/>
                <a:uLnTx/>
                <a:uFillTx/>
                <a:latin typeface="Quattrocento Sans" pitchFamily="34" charset="0"/>
                <a:ea typeface="Quattrocento Sans" pitchFamily="34" charset="-122"/>
                <a:cs typeface="Quattrocento Sans" pitchFamily="34" charset="-120"/>
              </a:rPr>
              <a:t>–</a:t>
            </a:r>
            <a:r>
              <a:rPr kumimoji="0" lang="zh-CN" altLang="en-US" sz="1350" b="1" i="0" u="none" strike="noStrike" kern="0" cap="none" spc="0" normalizeH="0" baseline="0" noProof="0" dirty="0">
                <a:ln>
                  <a:noFill/>
                </a:ln>
                <a:solidFill>
                  <a:srgbClr val="B8860B"/>
                </a:solidFill>
                <a:effectLst/>
                <a:uLnTx/>
                <a:uFillTx/>
                <a:latin typeface="Quattrocento Sans" pitchFamily="34" charset="0"/>
                <a:ea typeface="Quattrocento Sans" pitchFamily="34" charset="-122"/>
                <a:cs typeface="Quattrocento Sans" pitchFamily="34" charset="-120"/>
              </a:rPr>
              <a:t> 风格是否漂移</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关注</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在不同类型市场中，坚持</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风格</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一致性</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p:txBody>
      </p:sp>
      <p:sp>
        <p:nvSpPr>
          <p:cNvPr id="40" name="Shape 12">
            <a:extLst>
              <a:ext uri="{FF2B5EF4-FFF2-40B4-BE49-F238E27FC236}">
                <a16:creationId xmlns="" xmlns:a16="http://schemas.microsoft.com/office/drawing/2014/main" id="{22BBEB99-2B92-F8F9-08F9-878A75A552CF}"/>
              </a:ext>
            </a:extLst>
          </p:cNvPr>
          <p:cNvSpPr/>
          <p:nvPr/>
        </p:nvSpPr>
        <p:spPr>
          <a:xfrm>
            <a:off x="8009165" y="1181100"/>
            <a:ext cx="3790949" cy="381000"/>
          </a:xfrm>
          <a:prstGeom prst="rect">
            <a:avLst/>
          </a:prstGeom>
          <a:solidFill>
            <a:srgbClr val="6D0E0E"/>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41" name="Text 13">
            <a:extLst>
              <a:ext uri="{FF2B5EF4-FFF2-40B4-BE49-F238E27FC236}">
                <a16:creationId xmlns="" xmlns:a16="http://schemas.microsoft.com/office/drawing/2014/main" id="{8FFEDF9D-719D-AF8D-860A-83C7A7A4DB4B}"/>
              </a:ext>
            </a:extLst>
          </p:cNvPr>
          <p:cNvSpPr/>
          <p:nvPr/>
        </p:nvSpPr>
        <p:spPr>
          <a:xfrm>
            <a:off x="8009166" y="1181100"/>
            <a:ext cx="3790950" cy="381000"/>
          </a:xfrm>
          <a:prstGeom prst="rect">
            <a:avLst/>
          </a:prstGeom>
          <a:noFill/>
          <a:ln/>
        </p:spPr>
        <p:txBody>
          <a:bodyPr wrap="none"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en-US" sz="1500" b="1" kern="0" dirty="0">
                <a:solidFill>
                  <a:srgbClr val="FFFFFF"/>
                </a:solidFill>
                <a:latin typeface="等线" panose="02010600030101010101" pitchFamily="2" charset="-122"/>
                <a:ea typeface="等线" panose="02010600030101010101" pitchFamily="2" charset="-122"/>
                <a:cs typeface="Quattrocento Sans" pitchFamily="34" charset="-120"/>
              </a:rPr>
              <a:t>★</a:t>
            </a:r>
            <a:r>
              <a:rPr kumimoji="0" lang="zh-CN" altLang="en-US" sz="1500" b="1" i="0" u="none" strike="noStrike" kern="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样板间选基</a:t>
            </a:r>
            <a:r>
              <a:rPr lang="en-US" altLang="zh-CN" sz="1500" b="1" kern="0" dirty="0">
                <a:solidFill>
                  <a:srgbClr val="FFFFFF"/>
                </a:solidFill>
                <a:latin typeface="Quattrocento Sans" pitchFamily="34" charset="0"/>
                <a:ea typeface="Quattrocento Sans" pitchFamily="34" charset="-122"/>
                <a:cs typeface="Quattrocento Sans" pitchFamily="34" charset="-120"/>
              </a:rPr>
              <a:t> - </a:t>
            </a:r>
            <a:r>
              <a:rPr kumimoji="0" lang="zh-CN" altLang="en-US" sz="1500" b="1" i="0" u="none" strike="noStrike" kern="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产品各司其职，服务于账户</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p:txBody>
      </p:sp>
      <p:sp>
        <p:nvSpPr>
          <p:cNvPr id="42" name="Shape 14">
            <a:extLst>
              <a:ext uri="{FF2B5EF4-FFF2-40B4-BE49-F238E27FC236}">
                <a16:creationId xmlns="" xmlns:a16="http://schemas.microsoft.com/office/drawing/2014/main" id="{0942C901-9F3C-5108-AEF6-F8EB7C57A2AC}"/>
              </a:ext>
            </a:extLst>
          </p:cNvPr>
          <p:cNvSpPr/>
          <p:nvPr/>
        </p:nvSpPr>
        <p:spPr>
          <a:xfrm>
            <a:off x="8009166" y="1562100"/>
            <a:ext cx="3790950" cy="4857750"/>
          </a:xfrm>
          <a:prstGeom prst="rect">
            <a:avLst/>
          </a:prstGeom>
          <a:solidFill>
            <a:srgbClr val="FFF5F5"/>
          </a:solidFill>
          <a:ln w="25400">
            <a:solidFill>
              <a:srgbClr val="6D0E0E"/>
            </a:solidFill>
            <a:prstDash val="solid"/>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43" name="Text 15">
            <a:extLst>
              <a:ext uri="{FF2B5EF4-FFF2-40B4-BE49-F238E27FC236}">
                <a16:creationId xmlns="" xmlns:a16="http://schemas.microsoft.com/office/drawing/2014/main" id="{B2EC5C28-D208-B2BC-5D97-220A4458BC08}"/>
              </a:ext>
            </a:extLst>
          </p:cNvPr>
          <p:cNvSpPr/>
          <p:nvPr/>
        </p:nvSpPr>
        <p:spPr>
          <a:xfrm>
            <a:off x="8199665" y="1714500"/>
            <a:ext cx="3391903" cy="4552950"/>
          </a:xfrm>
          <a:prstGeom prst="rect">
            <a:avLst/>
          </a:prstGeom>
          <a:noFill/>
          <a:ln/>
        </p:spPr>
        <p:txBody>
          <a:bodyPr wrap="square" lIns="0" tIns="0" rIns="0" bIns="0" rtlCol="0" anchor="ctr"/>
          <a:lstStyle/>
          <a:p>
            <a:pPr marL="0" marR="0" lvl="0" indent="0" algn="l" defTabSz="685800" rtl="0" eaLnBrk="1" fontAlgn="auto" latinLnBrk="0" hangingPunct="1">
              <a:lnSpc>
                <a:spcPct val="160000"/>
              </a:lnSpc>
              <a:spcBef>
                <a:spcPts val="0"/>
              </a:spcBef>
              <a:spcAft>
                <a:spcPts val="0"/>
              </a:spcAft>
              <a:buClrTx/>
              <a:buSzTx/>
              <a:buFontTx/>
              <a:buNone/>
              <a:tabLst/>
              <a:defRPr/>
            </a:pPr>
            <a:r>
              <a:rPr kumimoji="0" lang="zh-CN" altLang="en-US" sz="1350" b="1" i="0" u="none" strike="noStrike" kern="0" cap="none" spc="0" normalizeH="0" baseline="0" noProof="0" dirty="0">
                <a:ln>
                  <a:noFill/>
                </a:ln>
                <a:solidFill>
                  <a:srgbClr val="6D0E0E"/>
                </a:solidFill>
                <a:effectLst/>
                <a:uLnTx/>
                <a:uFillTx/>
                <a:latin typeface="Quattrocento Sans" pitchFamily="34" charset="0"/>
                <a:ea typeface="Quattrocento Sans" pitchFamily="34" charset="-122"/>
                <a:cs typeface="Quattrocento Sans" pitchFamily="34" charset="-120"/>
              </a:rPr>
              <a:t>相信什么？</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lvl="0" defTabSz="685800">
              <a:lnSpc>
                <a:spcPct val="160000"/>
              </a:lnSpc>
              <a:defRPr/>
            </a:pP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以产业趋势部分的选品为例 </a:t>
            </a:r>
            <a:r>
              <a:rPr kumimoji="0" lang="en-US" altLang="zh-CN"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 </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目标是增锐，所以</a:t>
            </a:r>
            <a:r>
              <a:rPr kumimoji="0" 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β比α</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重要</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a:t>
            </a:r>
            <a:r>
              <a:rPr lang="zh-CN" altLang="en-US" sz="1350" kern="0" dirty="0">
                <a:solidFill>
                  <a:srgbClr val="2C2C2C"/>
                </a:solidFill>
                <a:latin typeface="Quattrocento Sans" pitchFamily="34" charset="0"/>
                <a:ea typeface="Quattrocento Sans" pitchFamily="34" charset="-122"/>
                <a:cs typeface="Quattrocento Sans" pitchFamily="34" charset="-120"/>
              </a:rPr>
              <a:t>产品是跟踪趋势的工具</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600"/>
              </a:spcBef>
              <a:spcAft>
                <a:spcPts val="0"/>
              </a:spcAft>
              <a:buClrTx/>
              <a:buSzTx/>
              <a:buFontTx/>
              <a:buNone/>
              <a:tabLst/>
              <a:defRPr/>
            </a:pPr>
            <a:r>
              <a:rPr kumimoji="0" lang="en-US" sz="1350" b="1" i="0" u="none" strike="noStrike" kern="0" cap="none" spc="0" normalizeH="0" baseline="0" noProof="0" dirty="0">
                <a:ln>
                  <a:noFill/>
                </a:ln>
                <a:solidFill>
                  <a:srgbClr val="6D0E0E"/>
                </a:solidFill>
                <a:effectLst/>
                <a:uLnTx/>
                <a:uFillTx/>
                <a:latin typeface="Quattrocento Sans" pitchFamily="34" charset="0"/>
                <a:ea typeface="Quattrocento Sans" pitchFamily="34" charset="-122"/>
                <a:cs typeface="Quattrocento Sans" pitchFamily="34" charset="-120"/>
              </a:rPr>
              <a:t>方法论</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基于产业趋势投资的方法论</a:t>
            </a:r>
            <a:r>
              <a:rPr kumimoji="0" lang="en-US" altLang="zh-CN"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匹配产品工具</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600"/>
              </a:spcBef>
              <a:spcAft>
                <a:spcPts val="0"/>
              </a:spcAft>
              <a:buClrTx/>
              <a:buSzTx/>
              <a:buFontTx/>
              <a:buNone/>
              <a:tabLst/>
              <a:defRPr/>
            </a:pPr>
            <a:r>
              <a:rPr kumimoji="0" lang="zh-CN" altLang="en-US" sz="1350" b="1" i="0" u="none" strike="noStrike" kern="0" cap="none" spc="0" normalizeH="0" baseline="0" noProof="0" dirty="0">
                <a:ln>
                  <a:noFill/>
                </a:ln>
                <a:solidFill>
                  <a:srgbClr val="6D0E0E"/>
                </a:solidFill>
                <a:effectLst/>
                <a:uLnTx/>
                <a:uFillTx/>
                <a:latin typeface="Quattrocento Sans" pitchFamily="34" charset="0"/>
                <a:ea typeface="Quattrocento Sans" pitchFamily="34" charset="-122"/>
                <a:cs typeface="Quattrocento Sans" pitchFamily="34" charset="-120"/>
              </a:rPr>
              <a:t>研究思路</a:t>
            </a:r>
            <a:endParaRPr kumimoji="0" lang="en-US" altLang="zh-CN" sz="1200" b="0" i="0" u="none" strike="noStrike" kern="0" cap="none" spc="0" normalizeH="0" baseline="0" noProof="0" dirty="0">
              <a:ln>
                <a:noFill/>
              </a:ln>
              <a:solidFill>
                <a:srgbClr val="000000"/>
              </a:solidFill>
              <a:effectLst/>
              <a:uLnTx/>
              <a:uFillTx/>
              <a:latin typeface="Calibri" panose="020F0502020204030204"/>
              <a:ea typeface="等线" panose="02010600030101010101" pitchFamily="2" charset="-122"/>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景气度入手，寻找</a:t>
            </a:r>
            <a:r>
              <a:rPr kumimoji="0" lang="en-US" altLang="zh-CN"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在资本市场</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的</a:t>
            </a:r>
            <a:r>
              <a:rPr kumimoji="0" lang="en-US" altLang="zh-CN"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板块映射</a:t>
            </a:r>
            <a:endParaRPr kumimoji="0" lang="en-US" altLang="zh-CN"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zh-CN" altLang="en-US" sz="1350" b="1" i="0" u="none" strike="noStrike" kern="0" cap="none" spc="0" normalizeH="0" baseline="0" noProof="0" dirty="0">
                <a:ln>
                  <a:noFill/>
                </a:ln>
                <a:solidFill>
                  <a:srgbClr val="6D0E0E"/>
                </a:solidFill>
                <a:effectLst/>
                <a:uLnTx/>
                <a:uFillTx/>
                <a:latin typeface="Quattrocento Sans" pitchFamily="34" charset="0"/>
                <a:ea typeface="Quattrocento Sans" pitchFamily="34" charset="-122"/>
                <a:cs typeface="Quattrocento Sans" pitchFamily="34" charset="-120"/>
              </a:rPr>
              <a:t>关注变量</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锐 </a:t>
            </a:r>
            <a:r>
              <a:rPr kumimoji="0" lang="en-US" altLang="zh-CN"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 </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关注产业链结构、链主、瓶颈、增速，将</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经济、货币、地缘</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政治</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信号视为</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噪音</a:t>
            </a:r>
            <a:r>
              <a:rPr kumimoji="0" 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项</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600"/>
              </a:spcBef>
              <a:spcAft>
                <a:spcPts val="0"/>
              </a:spcAft>
              <a:buClrTx/>
              <a:buSzTx/>
              <a:buFontTx/>
              <a:buNone/>
              <a:tabLst/>
              <a:defRPr/>
            </a:pPr>
            <a:r>
              <a:rPr kumimoji="0" lang="zh-CN" altLang="en-US" sz="1350" b="1" i="0" u="none" strike="noStrike" kern="0" cap="none" spc="0" normalizeH="0" baseline="0" noProof="0" dirty="0">
                <a:ln>
                  <a:noFill/>
                </a:ln>
                <a:solidFill>
                  <a:srgbClr val="6D0E0E"/>
                </a:solidFill>
                <a:effectLst/>
                <a:uLnTx/>
                <a:uFillTx/>
                <a:latin typeface="Quattrocento Sans" pitchFamily="34" charset="0"/>
                <a:ea typeface="Quattrocento Sans" pitchFamily="34" charset="-122"/>
                <a:cs typeface="Quattrocento Sans" pitchFamily="34" charset="-120"/>
              </a:rPr>
              <a:t>评价 </a:t>
            </a:r>
            <a:r>
              <a:rPr kumimoji="0" lang="en-US" altLang="zh-CN" sz="1350" b="1" i="0" u="none" strike="noStrike" kern="0" cap="none" spc="0" normalizeH="0" baseline="0" noProof="0" dirty="0">
                <a:ln>
                  <a:noFill/>
                </a:ln>
                <a:solidFill>
                  <a:srgbClr val="6D0E0E"/>
                </a:solidFill>
                <a:effectLst/>
                <a:uLnTx/>
                <a:uFillTx/>
                <a:latin typeface="Quattrocento Sans" pitchFamily="34" charset="0"/>
                <a:ea typeface="Quattrocento Sans" pitchFamily="34" charset="-122"/>
                <a:cs typeface="Quattrocento Sans" pitchFamily="34" charset="-120"/>
              </a:rPr>
              <a:t>–</a:t>
            </a:r>
            <a:r>
              <a:rPr kumimoji="0" lang="zh-CN" altLang="en-US" sz="1350" b="1" i="0" u="none" strike="noStrike" kern="0" cap="none" spc="0" normalizeH="0" baseline="0" noProof="0" dirty="0">
                <a:ln>
                  <a:noFill/>
                </a:ln>
                <a:solidFill>
                  <a:srgbClr val="6D0E0E"/>
                </a:solidFill>
                <a:effectLst/>
                <a:uLnTx/>
                <a:uFillTx/>
                <a:latin typeface="Quattrocento Sans" pitchFamily="34" charset="0"/>
                <a:ea typeface="Quattrocento Sans" pitchFamily="34" charset="-122"/>
                <a:cs typeface="Quattrocento Sans" pitchFamily="34" charset="-120"/>
              </a:rPr>
              <a:t> 是否具备选出“赢家”的敏锐</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685800" rtl="0" eaLnBrk="1" fontAlgn="auto" latinLnBrk="0" hangingPunct="1">
              <a:lnSpc>
                <a:spcPct val="160000"/>
              </a:lnSpc>
              <a:spcBef>
                <a:spcPts val="0"/>
              </a:spcBef>
              <a:spcAft>
                <a:spcPts val="0"/>
              </a:spcAft>
              <a:buClrTx/>
              <a:buSzTx/>
              <a:buFontTx/>
              <a:buNone/>
              <a:tabLst/>
              <a:defRPr/>
            </a:pPr>
            <a:r>
              <a:rPr kumimoji="0" 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用</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行业的景气度指导</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配置</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方向</a:t>
            </a:r>
            <a:r>
              <a:rPr kumimoji="0" 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用基金经理</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选股</a:t>
            </a:r>
            <a:r>
              <a:rPr kumimoji="0" lang="en-US" sz="1350" b="0" i="0" u="none" strike="noStrike" kern="0" cap="none" spc="0" normalizeH="0" baseline="0" noProof="0" dirty="0" err="1">
                <a:ln>
                  <a:noFill/>
                </a:ln>
                <a:solidFill>
                  <a:srgbClr val="2C2C2C"/>
                </a:solidFill>
                <a:effectLst/>
                <a:uLnTx/>
                <a:uFillTx/>
                <a:latin typeface="Quattrocento Sans" pitchFamily="34" charset="0"/>
                <a:ea typeface="Quattrocento Sans" pitchFamily="34" charset="-122"/>
                <a:cs typeface="Quattrocento Sans" pitchFamily="34" charset="-120"/>
              </a:rPr>
              <a:t>作为</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给指数或</a:t>
            </a:r>
            <a:r>
              <a:rPr kumimoji="0" lang="en-US" altLang="zh-CN"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ETF</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增锐</a:t>
            </a:r>
            <a:r>
              <a:rPr kumimoji="0" 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的</a:t>
            </a:r>
            <a:r>
              <a:rPr kumimoji="0" lang="zh-CN" altLang="en-US" sz="1350" b="0" i="0" u="none" strike="noStrike" kern="0" cap="none" spc="0" normalizeH="0" baseline="0" noProof="0" dirty="0">
                <a:ln>
                  <a:noFill/>
                </a:ln>
                <a:solidFill>
                  <a:srgbClr val="2C2C2C"/>
                </a:solidFill>
                <a:effectLst/>
                <a:uLnTx/>
                <a:uFillTx/>
                <a:latin typeface="Quattrocento Sans" pitchFamily="34" charset="0"/>
                <a:ea typeface="Quattrocento Sans" pitchFamily="34" charset="-122"/>
                <a:cs typeface="Quattrocento Sans" pitchFamily="34" charset="-120"/>
              </a:rPr>
              <a:t>箭头</a:t>
            </a:r>
            <a:endParaRPr kumimoji="0" lang="en-US" sz="1200" b="0" i="0" u="none" strike="noStrike" kern="0" cap="none" spc="0" normalizeH="0" baseline="0" noProof="0" dirty="0">
              <a:ln>
                <a:noFill/>
              </a:ln>
              <a:solidFill>
                <a:srgbClr val="000000"/>
              </a:solidFill>
              <a:effectLst/>
              <a:uLnTx/>
              <a:uFillTx/>
              <a:latin typeface="Calibri" panose="020F0502020204030204"/>
              <a:ea typeface="+mn-ea"/>
              <a:cs typeface="+mn-cs"/>
            </a:endParaRPr>
          </a:p>
        </p:txBody>
      </p:sp>
      <p:sp>
        <p:nvSpPr>
          <p:cNvPr id="44" name="Shape 16">
            <a:extLst>
              <a:ext uri="{FF2B5EF4-FFF2-40B4-BE49-F238E27FC236}">
                <a16:creationId xmlns="" xmlns:a16="http://schemas.microsoft.com/office/drawing/2014/main" id="{CDE8950B-9C19-3791-E5FD-37909295ACBC}"/>
              </a:ext>
            </a:extLst>
          </p:cNvPr>
          <p:cNvSpPr/>
          <p:nvPr/>
        </p:nvSpPr>
        <p:spPr>
          <a:xfrm>
            <a:off x="0" y="6724650"/>
            <a:ext cx="12192000" cy="0"/>
          </a:xfrm>
          <a:prstGeom prst="straightConnector1">
            <a:avLst/>
          </a:prstGeom>
          <a:noFill/>
          <a:ln w="25400">
            <a:solidFill>
              <a:srgbClr val="B8860B"/>
            </a:solidFill>
            <a:prstDash val="solid"/>
            <a:headEnd type="none"/>
            <a:tailEnd type="none"/>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2235967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166E127-853F-B140-FA89-00538F5E44C6}"/>
            </a:ext>
          </a:extLst>
        </p:cNvPr>
        <p:cNvGrpSpPr/>
        <p:nvPr/>
      </p:nvGrpSpPr>
      <p:grpSpPr>
        <a:xfrm>
          <a:off x="0" y="0"/>
          <a:ext cx="0" cy="0"/>
          <a:chOff x="0" y="0"/>
          <a:chExt cx="0" cy="0"/>
        </a:xfrm>
      </p:grpSpPr>
      <p:sp>
        <p:nvSpPr>
          <p:cNvPr id="51" name="Shape 3">
            <a:extLst>
              <a:ext uri="{FF2B5EF4-FFF2-40B4-BE49-F238E27FC236}">
                <a16:creationId xmlns="" xmlns:a16="http://schemas.microsoft.com/office/drawing/2014/main" id="{25E89326-2773-56F3-BD01-230584CC7B37}"/>
              </a:ext>
            </a:extLst>
          </p:cNvPr>
          <p:cNvSpPr/>
          <p:nvPr/>
        </p:nvSpPr>
        <p:spPr>
          <a:xfrm>
            <a:off x="457200" y="793099"/>
            <a:ext cx="11239500" cy="342900"/>
          </a:xfrm>
          <a:prstGeom prst="rect">
            <a:avLst/>
          </a:prstGeom>
          <a:solidFill>
            <a:srgbClr val="002060"/>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52" name="Text 4">
            <a:extLst>
              <a:ext uri="{FF2B5EF4-FFF2-40B4-BE49-F238E27FC236}">
                <a16:creationId xmlns="" xmlns:a16="http://schemas.microsoft.com/office/drawing/2014/main" id="{1AA5CE6D-8743-1AD4-6C91-DE5BF36522D8}"/>
              </a:ext>
            </a:extLst>
          </p:cNvPr>
          <p:cNvSpPr/>
          <p:nvPr/>
        </p:nvSpPr>
        <p:spPr>
          <a:xfrm>
            <a:off x="571500" y="798683"/>
            <a:ext cx="11049000" cy="342900"/>
          </a:xfrm>
          <a:prstGeom prst="rect">
            <a:avLst/>
          </a:prstGeom>
          <a:noFill/>
          <a:ln/>
        </p:spPr>
        <p:txBody>
          <a:bodyPr wrap="none" lIns="0" tIns="0" rIns="0" bIns="0"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产业趋势投资框架的核心：</a:t>
            </a:r>
            <a:r>
              <a:rPr kumimoji="0" lang="en-US" sz="1200" b="0" i="0" u="none" strike="noStrike" kern="1200" cap="none" spc="0" normalizeH="0" baseline="0" noProof="0" dirty="0">
                <a:ln>
                  <a:noFill/>
                </a:ln>
                <a:solidFill>
                  <a:srgbClr val="FFFFFF"/>
                </a:solidFill>
                <a:effectLst/>
                <a:uLnTx/>
                <a:uFillTx/>
                <a:latin typeface="Quattrocento Sans" pitchFamily="34" charset="0"/>
                <a:ea typeface="Quattrocento Sans" pitchFamily="34" charset="-122"/>
                <a:cs typeface="Quattrocento Sans" pitchFamily="34" charset="-120"/>
              </a:rPr>
              <a:t>在产业趋势确立初期建仓，沿景气曲线持有，在景气度见顶时退出，切换至下一轮高景气赛道</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9" name="图片 8">
            <a:extLst>
              <a:ext uri="{FF2B5EF4-FFF2-40B4-BE49-F238E27FC236}">
                <a16:creationId xmlns="" xmlns:a16="http://schemas.microsoft.com/office/drawing/2014/main" id="{B0A04C02-2F14-177D-2E6E-2C4C56C176E9}"/>
              </a:ext>
            </a:extLst>
          </p:cNvPr>
          <p:cNvPicPr>
            <a:picLocks noChangeAspect="1"/>
          </p:cNvPicPr>
          <p:nvPr/>
        </p:nvPicPr>
        <p:blipFill>
          <a:blip r:embed="rId2"/>
          <a:srcRect l="4695" t="8791" r="4836" b="10003"/>
          <a:stretch>
            <a:fillRect/>
          </a:stretch>
        </p:blipFill>
        <p:spPr>
          <a:xfrm>
            <a:off x="229570" y="2455738"/>
            <a:ext cx="4627211" cy="2332115"/>
          </a:xfrm>
          <a:prstGeom prst="rect">
            <a:avLst/>
          </a:prstGeom>
        </p:spPr>
      </p:pic>
      <p:sp>
        <p:nvSpPr>
          <p:cNvPr id="10" name="文本框 9">
            <a:extLst>
              <a:ext uri="{FF2B5EF4-FFF2-40B4-BE49-F238E27FC236}">
                <a16:creationId xmlns="" xmlns:a16="http://schemas.microsoft.com/office/drawing/2014/main" id="{4A303DF2-A7AD-DAC5-E231-5CCD5E994002}"/>
              </a:ext>
            </a:extLst>
          </p:cNvPr>
          <p:cNvSpPr txBox="1"/>
          <p:nvPr/>
        </p:nvSpPr>
        <p:spPr>
          <a:xfrm>
            <a:off x="229569" y="1748303"/>
            <a:ext cx="3445174" cy="369332"/>
          </a:xfrm>
          <a:prstGeom prst="rect">
            <a:avLst/>
          </a:prstGeom>
          <a:noFill/>
        </p:spPr>
        <p:txBody>
          <a:bodyPr wrap="none" rtlCol="0">
            <a:spAutoFit/>
          </a:bodyPr>
          <a:lstStyle/>
          <a:p>
            <a:pPr marL="257175" marR="0" lvl="0" indent="-257175"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1" i="0" u="none" strike="noStrike" kern="1200" cap="none" spc="0" normalizeH="0" baseline="0" noProof="0" dirty="0">
                <a:ln>
                  <a:noFill/>
                </a:ln>
                <a:solidFill>
                  <a:srgbClr val="1A3C6E"/>
                </a:solidFill>
                <a:effectLst/>
                <a:uLnTx/>
                <a:uFillTx/>
                <a:latin typeface="微软雅黑" panose="020B0503020204020204" pitchFamily="34" charset="-122"/>
                <a:ea typeface="微软雅黑" panose="020B0503020204020204" pitchFamily="34" charset="-122"/>
                <a:cs typeface="+mn-cs"/>
              </a:rPr>
              <a:t>传统基金筛选方法：自下而上</a:t>
            </a:r>
          </a:p>
        </p:txBody>
      </p:sp>
      <p:sp>
        <p:nvSpPr>
          <p:cNvPr id="13" name="文本框 12">
            <a:extLst>
              <a:ext uri="{FF2B5EF4-FFF2-40B4-BE49-F238E27FC236}">
                <a16:creationId xmlns="" xmlns:a16="http://schemas.microsoft.com/office/drawing/2014/main" id="{C226B275-27B5-CA2E-FD31-333E68EAC8A6}"/>
              </a:ext>
            </a:extLst>
          </p:cNvPr>
          <p:cNvSpPr txBox="1"/>
          <p:nvPr/>
        </p:nvSpPr>
        <p:spPr>
          <a:xfrm>
            <a:off x="5787391" y="1748303"/>
            <a:ext cx="5237331" cy="369332"/>
          </a:xfrm>
          <a:prstGeom prst="rect">
            <a:avLst/>
          </a:prstGeom>
          <a:noFill/>
        </p:spPr>
        <p:txBody>
          <a:bodyPr wrap="none" rtlCol="0">
            <a:spAutoFit/>
          </a:bodyPr>
          <a:lstStyle/>
          <a:p>
            <a:pPr marL="257175" marR="0" lvl="0" indent="-257175"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b="1" dirty="0">
                <a:solidFill>
                  <a:srgbClr val="1A3C6E"/>
                </a:solidFill>
                <a:latin typeface="微软雅黑" panose="020B0503020204020204" pitchFamily="34" charset="-122"/>
                <a:ea typeface="微软雅黑" panose="020B0503020204020204" pitchFamily="34" charset="-122"/>
              </a:rPr>
              <a:t>基于</a:t>
            </a:r>
            <a:r>
              <a:rPr kumimoji="0" lang="zh-CN" altLang="en-US" sz="1800" b="1" i="0" u="none" strike="noStrike" kern="1200" cap="none" spc="0" normalizeH="0" baseline="0" noProof="0" dirty="0">
                <a:ln>
                  <a:noFill/>
                </a:ln>
                <a:solidFill>
                  <a:srgbClr val="1A3C6E"/>
                </a:solidFill>
                <a:effectLst/>
                <a:uLnTx/>
                <a:uFillTx/>
                <a:latin typeface="微软雅黑" panose="020B0503020204020204" pitchFamily="34" charset="-122"/>
                <a:ea typeface="微软雅黑" panose="020B0503020204020204" pitchFamily="34" charset="-122"/>
                <a:cs typeface="+mn-cs"/>
              </a:rPr>
              <a:t>产业趋势投资的选基：自上而下</a:t>
            </a:r>
            <a:r>
              <a:rPr kumimoji="0" lang="en-US" altLang="zh-CN" sz="1800" b="1" i="0" u="none" strike="noStrike" kern="1200" cap="none" spc="0" normalizeH="0" baseline="0" noProof="0" dirty="0">
                <a:ln>
                  <a:noFill/>
                </a:ln>
                <a:solidFill>
                  <a:srgbClr val="1A3C6E"/>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1A3C6E"/>
                </a:solidFill>
                <a:effectLst/>
                <a:uLnTx/>
                <a:uFillTx/>
                <a:latin typeface="微软雅黑" panose="020B0503020204020204" pitchFamily="34" charset="-122"/>
                <a:ea typeface="微软雅黑" panose="020B0503020204020204" pitchFamily="34" charset="-122"/>
                <a:cs typeface="+mn-cs"/>
              </a:rPr>
              <a:t>自下而上</a:t>
            </a:r>
          </a:p>
        </p:txBody>
      </p:sp>
      <p:grpSp>
        <p:nvGrpSpPr>
          <p:cNvPr id="2" name="组合 1">
            <a:extLst>
              <a:ext uri="{FF2B5EF4-FFF2-40B4-BE49-F238E27FC236}">
                <a16:creationId xmlns="" xmlns:a16="http://schemas.microsoft.com/office/drawing/2014/main" id="{5D9569DB-80D0-ACC3-2407-08D849EEB5CD}"/>
              </a:ext>
            </a:extLst>
          </p:cNvPr>
          <p:cNvGrpSpPr/>
          <p:nvPr/>
        </p:nvGrpSpPr>
        <p:grpSpPr>
          <a:xfrm>
            <a:off x="5479869" y="2325189"/>
            <a:ext cx="6015446" cy="4056017"/>
            <a:chOff x="711607" y="3219161"/>
            <a:chExt cx="7458169" cy="4978323"/>
          </a:xfrm>
        </p:grpSpPr>
        <p:sp>
          <p:nvSpPr>
            <p:cNvPr id="4" name="矩形 3">
              <a:extLst>
                <a:ext uri="{FF2B5EF4-FFF2-40B4-BE49-F238E27FC236}">
                  <a16:creationId xmlns="" xmlns:a16="http://schemas.microsoft.com/office/drawing/2014/main" id="{2986096E-7854-1DB9-80F9-B40657065F39}"/>
                </a:ext>
              </a:extLst>
            </p:cNvPr>
            <p:cNvSpPr/>
            <p:nvPr/>
          </p:nvSpPr>
          <p:spPr>
            <a:xfrm>
              <a:off x="1977390" y="3362594"/>
              <a:ext cx="2045970" cy="61722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350" b="1" i="0" u="none" strike="noStrike" kern="1200" cap="none" spc="0" normalizeH="0" baseline="0" noProof="0" dirty="0">
                  <a:ln>
                    <a:noFill/>
                  </a:ln>
                  <a:solidFill>
                    <a:srgbClr val="FFFFFF"/>
                  </a:solidFill>
                  <a:effectLst/>
                  <a:uLnTx/>
                  <a:uFillTx/>
                  <a:latin typeface="Calibri"/>
                  <a:ea typeface="等线" panose="02010600030101010101" pitchFamily="2" charset="-122"/>
                  <a:cs typeface="+mn-cs"/>
                </a:rPr>
                <a:t>1. </a:t>
              </a:r>
              <a:r>
                <a:rPr kumimoji="0" lang="zh-CN" altLang="en-US" sz="1350" b="1" i="0" u="none" strike="noStrike" kern="1200" cap="none" spc="0" normalizeH="0" baseline="0" noProof="0" dirty="0">
                  <a:ln>
                    <a:noFill/>
                  </a:ln>
                  <a:solidFill>
                    <a:srgbClr val="FFFFFF"/>
                  </a:solidFill>
                  <a:effectLst/>
                  <a:uLnTx/>
                  <a:uFillTx/>
                  <a:latin typeface="Calibri"/>
                  <a:ea typeface="等线" panose="02010600030101010101" pitchFamily="2" charset="-122"/>
                  <a:cs typeface="+mn-cs"/>
                </a:rPr>
                <a:t>产业链分析</a:t>
              </a:r>
            </a:p>
          </p:txBody>
        </p:sp>
        <p:sp>
          <p:nvSpPr>
            <p:cNvPr id="5" name="矩形 4">
              <a:extLst>
                <a:ext uri="{FF2B5EF4-FFF2-40B4-BE49-F238E27FC236}">
                  <a16:creationId xmlns="" xmlns:a16="http://schemas.microsoft.com/office/drawing/2014/main" id="{BFB65701-5571-862A-C9FB-D327A3DAC7AB}"/>
                </a:ext>
              </a:extLst>
            </p:cNvPr>
            <p:cNvSpPr/>
            <p:nvPr/>
          </p:nvSpPr>
          <p:spPr>
            <a:xfrm>
              <a:off x="1977390" y="4408732"/>
              <a:ext cx="2045970" cy="61722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350" b="1" i="0" u="none" strike="noStrike" kern="1200" cap="none" spc="0" normalizeH="0" baseline="0" noProof="0" dirty="0">
                  <a:ln>
                    <a:noFill/>
                  </a:ln>
                  <a:solidFill>
                    <a:srgbClr val="FFFFFF"/>
                  </a:solidFill>
                  <a:effectLst/>
                  <a:uLnTx/>
                  <a:uFillTx/>
                  <a:latin typeface="Calibri"/>
                  <a:ea typeface="等线" panose="02010600030101010101" pitchFamily="2" charset="-122"/>
                  <a:cs typeface="+mn-cs"/>
                </a:rPr>
                <a:t>2. </a:t>
              </a:r>
              <a:r>
                <a:rPr kumimoji="0" lang="zh-CN" altLang="en-US" sz="1350" b="1" i="0" u="none" strike="noStrike" kern="1200" cap="none" spc="0" normalizeH="0" baseline="0" noProof="0" dirty="0">
                  <a:ln>
                    <a:noFill/>
                  </a:ln>
                  <a:solidFill>
                    <a:srgbClr val="FFFFFF"/>
                  </a:solidFill>
                  <a:effectLst/>
                  <a:uLnTx/>
                  <a:uFillTx/>
                  <a:latin typeface="Calibri"/>
                  <a:ea typeface="等线" panose="02010600030101010101" pitchFamily="2" charset="-122"/>
                  <a:cs typeface="+mn-cs"/>
                </a:rPr>
                <a:t>景气度追踪</a:t>
              </a:r>
            </a:p>
          </p:txBody>
        </p:sp>
        <p:cxnSp>
          <p:nvCxnSpPr>
            <p:cNvPr id="7" name="直接箭头连接符 6">
              <a:extLst>
                <a:ext uri="{FF2B5EF4-FFF2-40B4-BE49-F238E27FC236}">
                  <a16:creationId xmlns="" xmlns:a16="http://schemas.microsoft.com/office/drawing/2014/main" id="{808344F8-79CB-A33B-B943-C2EB01D2180E}"/>
                </a:ext>
              </a:extLst>
            </p:cNvPr>
            <p:cNvCxnSpPr>
              <a:stCxn id="4" idx="2"/>
              <a:endCxn id="5" idx="0"/>
            </p:cNvCxnSpPr>
            <p:nvPr/>
          </p:nvCxnSpPr>
          <p:spPr>
            <a:xfrm>
              <a:off x="3000375" y="3979814"/>
              <a:ext cx="0" cy="428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 xmlns:a16="http://schemas.microsoft.com/office/drawing/2014/main" id="{DF4940F6-2564-B4D7-2B5C-CDE05FD91685}"/>
                </a:ext>
              </a:extLst>
            </p:cNvPr>
            <p:cNvSpPr/>
            <p:nvPr/>
          </p:nvSpPr>
          <p:spPr>
            <a:xfrm>
              <a:off x="1657350" y="5454870"/>
              <a:ext cx="2674620" cy="61722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350" b="1" i="0" u="none" strike="noStrike" kern="1200" cap="none" spc="0" normalizeH="0" baseline="0" noProof="0" dirty="0">
                  <a:ln>
                    <a:noFill/>
                  </a:ln>
                  <a:solidFill>
                    <a:srgbClr val="FFFFFF"/>
                  </a:solidFill>
                  <a:effectLst/>
                  <a:uLnTx/>
                  <a:uFillTx/>
                  <a:latin typeface="Calibri"/>
                  <a:ea typeface="等线" panose="02010600030101010101" pitchFamily="2" charset="-122"/>
                  <a:cs typeface="+mn-cs"/>
                </a:rPr>
                <a:t>3. </a:t>
              </a:r>
              <a:r>
                <a:rPr kumimoji="0" lang="zh-CN" altLang="en-US" sz="1350" b="1" i="0" u="none" strike="noStrike" kern="1200" cap="none" spc="0" normalizeH="0" baseline="0" noProof="0" dirty="0">
                  <a:ln>
                    <a:noFill/>
                  </a:ln>
                  <a:solidFill>
                    <a:srgbClr val="FFFFFF"/>
                  </a:solidFill>
                  <a:effectLst/>
                  <a:uLnTx/>
                  <a:uFillTx/>
                  <a:latin typeface="Calibri"/>
                  <a:ea typeface="等线" panose="02010600030101010101" pitchFamily="2" charset="-122"/>
                  <a:cs typeface="+mn-cs"/>
                </a:rPr>
                <a:t>细分行业及指数</a:t>
              </a:r>
              <a:r>
                <a:rPr kumimoji="0" lang="en-US" altLang="zh-CN" sz="1350" b="1" i="0" u="none" strike="noStrike" kern="1200" cap="none" spc="0" normalizeH="0" baseline="0" noProof="0" dirty="0">
                  <a:ln>
                    <a:noFill/>
                  </a:ln>
                  <a:solidFill>
                    <a:srgbClr val="FFFFFF"/>
                  </a:solidFill>
                  <a:effectLst/>
                  <a:uLnTx/>
                  <a:uFillTx/>
                  <a:latin typeface="Calibri"/>
                  <a:ea typeface="等线" panose="02010600030101010101" pitchFamily="2" charset="-122"/>
                  <a:cs typeface="+mn-cs"/>
                </a:rPr>
                <a:t>β</a:t>
              </a:r>
              <a:r>
                <a:rPr kumimoji="0" lang="zh-CN" altLang="en-US" sz="1350" b="1" i="0" u="none" strike="noStrike" kern="1200" cap="none" spc="0" normalizeH="0" baseline="0" noProof="0" dirty="0">
                  <a:ln>
                    <a:noFill/>
                  </a:ln>
                  <a:solidFill>
                    <a:srgbClr val="FFFFFF"/>
                  </a:solidFill>
                  <a:effectLst/>
                  <a:uLnTx/>
                  <a:uFillTx/>
                  <a:latin typeface="Calibri"/>
                  <a:ea typeface="等线" panose="02010600030101010101" pitchFamily="2" charset="-122"/>
                  <a:cs typeface="+mn-cs"/>
                </a:rPr>
                <a:t>刻画</a:t>
              </a:r>
            </a:p>
          </p:txBody>
        </p:sp>
        <p:cxnSp>
          <p:nvCxnSpPr>
            <p:cNvPr id="11" name="直接箭头连接符 10">
              <a:extLst>
                <a:ext uri="{FF2B5EF4-FFF2-40B4-BE49-F238E27FC236}">
                  <a16:creationId xmlns="" xmlns:a16="http://schemas.microsoft.com/office/drawing/2014/main" id="{4D7BAC9A-E948-1A5F-87DE-0C3375723837}"/>
                </a:ext>
              </a:extLst>
            </p:cNvPr>
            <p:cNvCxnSpPr>
              <a:cxnSpLocks/>
              <a:endCxn id="8" idx="0"/>
            </p:cNvCxnSpPr>
            <p:nvPr/>
          </p:nvCxnSpPr>
          <p:spPr>
            <a:xfrm flipH="1">
              <a:off x="2994660" y="5025952"/>
              <a:ext cx="5715" cy="428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 xmlns:a16="http://schemas.microsoft.com/office/drawing/2014/main" id="{49C3B791-954E-3802-71A8-E1462719917B}"/>
                </a:ext>
              </a:extLst>
            </p:cNvPr>
            <p:cNvSpPr/>
            <p:nvPr/>
          </p:nvSpPr>
          <p:spPr>
            <a:xfrm>
              <a:off x="5669280" y="5454870"/>
              <a:ext cx="2045970" cy="617220"/>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350" b="1" dirty="0">
                  <a:solidFill>
                    <a:srgbClr val="FFFFFF"/>
                  </a:solidFill>
                  <a:latin typeface="Calibri"/>
                  <a:ea typeface="等线" panose="02010600030101010101" pitchFamily="2" charset="-122"/>
                </a:rPr>
                <a:t>4</a:t>
              </a:r>
              <a:r>
                <a:rPr kumimoji="0" lang="en-US" altLang="zh-CN" sz="1350" b="1" i="0" u="none" strike="noStrike" kern="1200" cap="none" spc="0" normalizeH="0" baseline="0" noProof="0" dirty="0">
                  <a:ln>
                    <a:noFill/>
                  </a:ln>
                  <a:solidFill>
                    <a:srgbClr val="FFFFFF"/>
                  </a:solidFill>
                  <a:effectLst/>
                  <a:uLnTx/>
                  <a:uFillTx/>
                  <a:latin typeface="Calibri"/>
                  <a:ea typeface="等线" panose="02010600030101010101" pitchFamily="2" charset="-122"/>
                  <a:cs typeface="+mn-cs"/>
                </a:rPr>
                <a:t>. </a:t>
              </a:r>
              <a:r>
                <a:rPr kumimoji="0" lang="zh-CN" altLang="en-US" sz="1350" b="1" i="0" u="none" strike="noStrike" kern="1200" cap="none" spc="0" normalizeH="0" baseline="0" noProof="0" dirty="0">
                  <a:ln>
                    <a:noFill/>
                  </a:ln>
                  <a:solidFill>
                    <a:srgbClr val="FFFFFF"/>
                  </a:solidFill>
                  <a:effectLst/>
                  <a:uLnTx/>
                  <a:uFillTx/>
                  <a:latin typeface="Calibri"/>
                  <a:ea typeface="等线" panose="02010600030101010101" pitchFamily="2" charset="-122"/>
                  <a:cs typeface="+mn-cs"/>
                </a:rPr>
                <a:t>分析匹配基金</a:t>
              </a:r>
            </a:p>
          </p:txBody>
        </p:sp>
        <p:sp>
          <p:nvSpPr>
            <p:cNvPr id="22" name="矩形 21">
              <a:extLst>
                <a:ext uri="{FF2B5EF4-FFF2-40B4-BE49-F238E27FC236}">
                  <a16:creationId xmlns="" xmlns:a16="http://schemas.microsoft.com/office/drawing/2014/main" id="{859A70BB-4D2B-53B5-D551-DCD66CC1A8C6}"/>
                </a:ext>
              </a:extLst>
            </p:cNvPr>
            <p:cNvSpPr/>
            <p:nvPr/>
          </p:nvSpPr>
          <p:spPr>
            <a:xfrm>
              <a:off x="4112895" y="6421583"/>
              <a:ext cx="2045970" cy="617220"/>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350" b="1" i="0" u="none" strike="noStrike" kern="1200" cap="none" spc="0" normalizeH="0" baseline="0" noProof="0" dirty="0">
                  <a:ln>
                    <a:noFill/>
                  </a:ln>
                  <a:solidFill>
                    <a:srgbClr val="FFFFFF"/>
                  </a:solidFill>
                  <a:effectLst/>
                  <a:uLnTx/>
                  <a:uFillTx/>
                  <a:latin typeface="Calibri"/>
                  <a:ea typeface="等线" panose="02010600030101010101" pitchFamily="2" charset="-122"/>
                  <a:cs typeface="+mn-cs"/>
                </a:rPr>
                <a:t>5. </a:t>
              </a:r>
              <a:r>
                <a:rPr kumimoji="0" lang="zh-CN" altLang="en-US" sz="1350" b="1" i="0" u="none" strike="noStrike" kern="1200" cap="none" spc="0" normalizeH="0" baseline="0" noProof="0" dirty="0">
                  <a:ln>
                    <a:noFill/>
                  </a:ln>
                  <a:solidFill>
                    <a:srgbClr val="FFFFFF"/>
                  </a:solidFill>
                  <a:effectLst/>
                  <a:uLnTx/>
                  <a:uFillTx/>
                  <a:latin typeface="Calibri"/>
                  <a:ea typeface="等线" panose="02010600030101010101" pitchFamily="2" charset="-122"/>
                  <a:cs typeface="+mn-cs"/>
                </a:rPr>
                <a:t>尽调与比较</a:t>
              </a:r>
            </a:p>
          </p:txBody>
        </p:sp>
        <p:cxnSp>
          <p:nvCxnSpPr>
            <p:cNvPr id="23" name="直接箭头连接符 22">
              <a:extLst>
                <a:ext uri="{FF2B5EF4-FFF2-40B4-BE49-F238E27FC236}">
                  <a16:creationId xmlns="" xmlns:a16="http://schemas.microsoft.com/office/drawing/2014/main" id="{369D8471-2762-4574-6154-C5F02AAF12B9}"/>
                </a:ext>
              </a:extLst>
            </p:cNvPr>
            <p:cNvCxnSpPr>
              <a:cxnSpLocks/>
            </p:cNvCxnSpPr>
            <p:nvPr/>
          </p:nvCxnSpPr>
          <p:spPr>
            <a:xfrm>
              <a:off x="5000625" y="5763480"/>
              <a:ext cx="0" cy="644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 xmlns:a16="http://schemas.microsoft.com/office/drawing/2014/main" id="{A6CAAB50-DBE9-5C96-9374-12CBE549EA3C}"/>
                </a:ext>
              </a:extLst>
            </p:cNvPr>
            <p:cNvSpPr/>
            <p:nvPr/>
          </p:nvSpPr>
          <p:spPr>
            <a:xfrm>
              <a:off x="1154430" y="3219161"/>
              <a:ext cx="3554730" cy="2966642"/>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FFFFFF"/>
                </a:solidFill>
                <a:effectLst/>
                <a:uLnTx/>
                <a:uFillTx/>
                <a:latin typeface="Calibri"/>
                <a:ea typeface="等线" panose="02010600030101010101" pitchFamily="2" charset="-122"/>
                <a:cs typeface="+mn-cs"/>
              </a:endParaRPr>
            </a:p>
          </p:txBody>
        </p:sp>
        <p:cxnSp>
          <p:nvCxnSpPr>
            <p:cNvPr id="27" name="直接箭头连接符 26">
              <a:extLst>
                <a:ext uri="{FF2B5EF4-FFF2-40B4-BE49-F238E27FC236}">
                  <a16:creationId xmlns="" xmlns:a16="http://schemas.microsoft.com/office/drawing/2014/main" id="{80243B19-07BB-4280-CFCF-A7838A426F29}"/>
                </a:ext>
              </a:extLst>
            </p:cNvPr>
            <p:cNvCxnSpPr>
              <a:stCxn id="8" idx="3"/>
              <a:endCxn id="16" idx="1"/>
            </p:cNvCxnSpPr>
            <p:nvPr/>
          </p:nvCxnSpPr>
          <p:spPr>
            <a:xfrm>
              <a:off x="4331970" y="5763480"/>
              <a:ext cx="133731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 xmlns:a16="http://schemas.microsoft.com/office/drawing/2014/main" id="{DB34CB12-BE5F-8D79-6BD3-DA58E285195E}"/>
                </a:ext>
              </a:extLst>
            </p:cNvPr>
            <p:cNvSpPr/>
            <p:nvPr/>
          </p:nvSpPr>
          <p:spPr>
            <a:xfrm>
              <a:off x="711607" y="5351414"/>
              <a:ext cx="7458169" cy="28460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FFFFFF"/>
                </a:solidFill>
                <a:effectLst/>
                <a:uLnTx/>
                <a:uFillTx/>
                <a:latin typeface="Calibri"/>
                <a:ea typeface="等线" panose="02010600030101010101" pitchFamily="2" charset="-122"/>
                <a:cs typeface="+mn-cs"/>
              </a:endParaRPr>
            </a:p>
          </p:txBody>
        </p:sp>
        <p:sp>
          <p:nvSpPr>
            <p:cNvPr id="33" name="文本框 32">
              <a:extLst>
                <a:ext uri="{FF2B5EF4-FFF2-40B4-BE49-F238E27FC236}">
                  <a16:creationId xmlns="" xmlns:a16="http://schemas.microsoft.com/office/drawing/2014/main" id="{B1B4C364-48B4-6DEA-D383-8E3EAC90B53C}"/>
                </a:ext>
              </a:extLst>
            </p:cNvPr>
            <p:cNvSpPr txBox="1"/>
            <p:nvPr/>
          </p:nvSpPr>
          <p:spPr>
            <a:xfrm flipH="1">
              <a:off x="4719953" y="4056152"/>
              <a:ext cx="3449823" cy="368318"/>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350" b="0" i="0" u="none" strike="noStrike" kern="1200" cap="none" spc="0" normalizeH="0" baseline="0" noProof="0" dirty="0">
                  <a:ln>
                    <a:noFill/>
                  </a:ln>
                  <a:solidFill>
                    <a:srgbClr val="70AD47">
                      <a:lumMod val="75000"/>
                    </a:srgbClr>
                  </a:solidFill>
                  <a:effectLst/>
                  <a:uLnTx/>
                  <a:uFillTx/>
                  <a:latin typeface="微软雅黑" panose="020B0503020204020204" pitchFamily="34" charset="-122"/>
                  <a:ea typeface="微软雅黑" panose="020B0503020204020204" pitchFamily="34" charset="-122"/>
                  <a:cs typeface="+mn-cs"/>
                </a:rPr>
                <a:t>↓↓ 自上而下，追踪景气度</a:t>
              </a:r>
            </a:p>
          </p:txBody>
        </p:sp>
        <p:sp>
          <p:nvSpPr>
            <p:cNvPr id="34" name="矩形 33">
              <a:extLst>
                <a:ext uri="{FF2B5EF4-FFF2-40B4-BE49-F238E27FC236}">
                  <a16:creationId xmlns="" xmlns:a16="http://schemas.microsoft.com/office/drawing/2014/main" id="{063503B8-1A91-ED84-3959-0E995E467BD3}"/>
                </a:ext>
              </a:extLst>
            </p:cNvPr>
            <p:cNvSpPr/>
            <p:nvPr/>
          </p:nvSpPr>
          <p:spPr>
            <a:xfrm>
              <a:off x="4240530" y="7411061"/>
              <a:ext cx="1645919" cy="61722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350" b="0" i="0" u="none" strike="noStrike" kern="1200" cap="none" spc="0" normalizeH="0" baseline="0" noProof="0" dirty="0">
                  <a:ln>
                    <a:noFill/>
                  </a:ln>
                  <a:solidFill>
                    <a:srgbClr val="000000"/>
                  </a:solidFill>
                  <a:effectLst/>
                  <a:uLnTx/>
                  <a:uFillTx/>
                  <a:latin typeface="Calibri"/>
                  <a:ea typeface="等线" panose="02010600030101010101" pitchFamily="2" charset="-122"/>
                  <a:cs typeface="+mn-cs"/>
                </a:rPr>
                <a:t>基金池</a:t>
              </a:r>
              <a:endParaRPr kumimoji="0" lang="en-US" altLang="zh-CN" sz="1350" b="0" i="0" u="none" strike="noStrike" kern="1200" cap="none" spc="0" normalizeH="0" baseline="0" noProof="0" dirty="0">
                <a:ln>
                  <a:noFill/>
                </a:ln>
                <a:solidFill>
                  <a:srgbClr val="000000"/>
                </a:solidFill>
                <a:effectLst/>
                <a:uLnTx/>
                <a:uFillTx/>
                <a:latin typeface="Calibri"/>
                <a:ea typeface="等线" panose="02010600030101010101" pitchFamily="2"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350" b="0" i="0" u="none" strike="noStrike" kern="1200" cap="none" spc="0" normalizeH="0" baseline="0" noProof="0" dirty="0">
                  <a:ln>
                    <a:noFill/>
                  </a:ln>
                  <a:solidFill>
                    <a:srgbClr val="000000"/>
                  </a:solidFill>
                  <a:effectLst/>
                  <a:uLnTx/>
                  <a:uFillTx/>
                  <a:latin typeface="Calibri"/>
                  <a:ea typeface="等线" panose="02010600030101010101" pitchFamily="2" charset="-122"/>
                  <a:cs typeface="+mn-cs"/>
                </a:rPr>
                <a:t>（主动</a:t>
              </a:r>
              <a:r>
                <a:rPr kumimoji="0" lang="en-US" altLang="zh-CN" sz="1350" b="0" i="0" u="none" strike="noStrike" kern="1200" cap="none" spc="0" normalizeH="0" baseline="0" noProof="0" dirty="0">
                  <a:ln>
                    <a:noFill/>
                  </a:ln>
                  <a:solidFill>
                    <a:srgbClr val="000000"/>
                  </a:solidFill>
                  <a:effectLst/>
                  <a:uLnTx/>
                  <a:uFillTx/>
                  <a:latin typeface="Calibri"/>
                  <a:ea typeface="等线" panose="02010600030101010101" pitchFamily="2" charset="-122"/>
                  <a:cs typeface="+mn-cs"/>
                </a:rPr>
                <a:t>+</a:t>
              </a:r>
              <a:r>
                <a:rPr kumimoji="0" lang="zh-CN" altLang="en-US" sz="1350" b="0" i="0" u="none" strike="noStrike" kern="1200" cap="none" spc="0" normalizeH="0" baseline="0" noProof="0" dirty="0">
                  <a:ln>
                    <a:noFill/>
                  </a:ln>
                  <a:solidFill>
                    <a:srgbClr val="000000"/>
                  </a:solidFill>
                  <a:effectLst/>
                  <a:uLnTx/>
                  <a:uFillTx/>
                  <a:latin typeface="Calibri"/>
                  <a:ea typeface="等线" panose="02010600030101010101" pitchFamily="2" charset="-122"/>
                  <a:cs typeface="+mn-cs"/>
                </a:rPr>
                <a:t>被动）</a:t>
              </a:r>
            </a:p>
          </p:txBody>
        </p:sp>
        <p:cxnSp>
          <p:nvCxnSpPr>
            <p:cNvPr id="35" name="直接箭头连接符 34">
              <a:extLst>
                <a:ext uri="{FF2B5EF4-FFF2-40B4-BE49-F238E27FC236}">
                  <a16:creationId xmlns="" xmlns:a16="http://schemas.microsoft.com/office/drawing/2014/main" id="{D2CD3BF7-9260-9721-D3EF-E49F8C35F81D}"/>
                </a:ext>
              </a:extLst>
            </p:cNvPr>
            <p:cNvCxnSpPr>
              <a:cxnSpLocks/>
            </p:cNvCxnSpPr>
            <p:nvPr/>
          </p:nvCxnSpPr>
          <p:spPr>
            <a:xfrm>
              <a:off x="5063490" y="7061567"/>
              <a:ext cx="0" cy="349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 xmlns:a16="http://schemas.microsoft.com/office/drawing/2014/main" id="{7C020B66-2512-1846-CC75-E2350CE80F7F}"/>
                </a:ext>
              </a:extLst>
            </p:cNvPr>
            <p:cNvSpPr txBox="1"/>
            <p:nvPr/>
          </p:nvSpPr>
          <p:spPr>
            <a:xfrm flipH="1">
              <a:off x="1396577" y="6560199"/>
              <a:ext cx="2716318" cy="368318"/>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35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 自下而上，基金匹配</a:t>
              </a:r>
            </a:p>
          </p:txBody>
        </p:sp>
      </p:grpSp>
      <p:sp>
        <p:nvSpPr>
          <p:cNvPr id="6" name="Rectangle 1">
            <a:extLst>
              <a:ext uri="{FF2B5EF4-FFF2-40B4-BE49-F238E27FC236}">
                <a16:creationId xmlns="" xmlns:a16="http://schemas.microsoft.com/office/drawing/2014/main" id="{AC3C5E01-3142-ABAD-17EC-113796E2328E}"/>
              </a:ext>
            </a:extLst>
          </p:cNvPr>
          <p:cNvSpPr/>
          <p:nvPr/>
        </p:nvSpPr>
        <p:spPr>
          <a:xfrm>
            <a:off x="381000" y="220979"/>
            <a:ext cx="76200"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FFFFF"/>
              </a:solidFill>
              <a:effectLst/>
              <a:uLnTx/>
              <a:uFillTx/>
              <a:latin typeface="Calibri"/>
              <a:ea typeface="+mn-ea"/>
              <a:cs typeface="+mn-cs"/>
            </a:endParaRPr>
          </a:p>
        </p:txBody>
      </p:sp>
      <p:sp>
        <p:nvSpPr>
          <p:cNvPr id="12" name="TextBox 2">
            <a:extLst>
              <a:ext uri="{FF2B5EF4-FFF2-40B4-BE49-F238E27FC236}">
                <a16:creationId xmlns="" xmlns:a16="http://schemas.microsoft.com/office/drawing/2014/main" id="{3200A3E3-E3EF-D45A-BB8C-4F4BE209134C}"/>
              </a:ext>
            </a:extLst>
          </p:cNvPr>
          <p:cNvSpPr txBox="1"/>
          <p:nvPr/>
        </p:nvSpPr>
        <p:spPr>
          <a:xfrm>
            <a:off x="630265" y="185388"/>
            <a:ext cx="10500000" cy="381000"/>
          </a:xfrm>
          <a:prstGeom prst="rect">
            <a:avLst/>
          </a:prstGeom>
          <a:noFill/>
        </p:spPr>
        <p:txBody>
          <a:bodyPr wrap="square"/>
          <a:lstStyle/>
          <a:p>
            <a:pPr lvl="0" defTabSz="685800">
              <a:lnSpc>
                <a:spcPct val="120000"/>
              </a:lnSpc>
              <a:defRPr sz="2800" b="1">
                <a:solidFill>
                  <a:srgbClr val="1A3C6E"/>
                </a:solidFill>
                <a:latin typeface="微软雅黑" panose="020B0503020204020204" charset="-122"/>
              </a:defRPr>
            </a:pPr>
            <a:r>
              <a:rPr lang="zh-CN" altLang="en-US" sz="2400" b="1" dirty="0">
                <a:solidFill>
                  <a:srgbClr val="4472C4">
                    <a:lumMod val="50000"/>
                  </a:srgbClr>
                </a:solidFill>
                <a:latin typeface="微软雅黑" panose="020B0503020204020204" pitchFamily="34" charset="-122"/>
                <a:ea typeface="微软雅黑" panose="020B0503020204020204" pitchFamily="34" charset="-122"/>
              </a:rPr>
              <a:t>借力集团投研的赋能，迭代选基方法论</a:t>
            </a:r>
            <a:endParaRPr kumimoji="0" sz="2400" b="1" i="0" u="none" strike="noStrike" kern="1200" cap="none" spc="0" normalizeH="0" baseline="0" noProof="0" dirty="0">
              <a:ln>
                <a:noFill/>
              </a:ln>
              <a:solidFill>
                <a:srgbClr val="1A3C6E"/>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124391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6FA07A6-1E24-CEE9-4035-BE3F364BBE97}"/>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2D68807E-A2D7-AE48-C7EC-D851AF334939}"/>
              </a:ext>
            </a:extLst>
          </p:cNvPr>
          <p:cNvSpPr/>
          <p:nvPr/>
        </p:nvSpPr>
        <p:spPr>
          <a:xfrm>
            <a:off x="381000" y="364669"/>
            <a:ext cx="76200"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Box 2">
            <a:extLst>
              <a:ext uri="{FF2B5EF4-FFF2-40B4-BE49-F238E27FC236}">
                <a16:creationId xmlns="" xmlns:a16="http://schemas.microsoft.com/office/drawing/2014/main" id="{9FF20308-DC84-C8F4-9335-3CAA1D41E12D}"/>
              </a:ext>
            </a:extLst>
          </p:cNvPr>
          <p:cNvSpPr txBox="1"/>
          <p:nvPr/>
        </p:nvSpPr>
        <p:spPr>
          <a:xfrm>
            <a:off x="630264" y="293908"/>
            <a:ext cx="10980711" cy="381000"/>
          </a:xfrm>
          <a:prstGeom prst="rect">
            <a:avLst/>
          </a:prstGeom>
          <a:noFill/>
        </p:spPr>
        <p:txBody>
          <a:bodyPr wrap="square"/>
          <a:lstStyle/>
          <a:p>
            <a:pPr marL="0" marR="0" lvl="0" indent="0" algn="l" defTabSz="685800" rtl="0" eaLnBrk="1" fontAlgn="auto" latinLnBrk="0" hangingPunct="1">
              <a:lnSpc>
                <a:spcPct val="120000"/>
              </a:lnSpc>
              <a:spcBef>
                <a:spcPts val="0"/>
              </a:spcBef>
              <a:spcAft>
                <a:spcPts val="0"/>
              </a:spcAft>
              <a:buClrTx/>
              <a:buSzTx/>
              <a:buFontTx/>
              <a:buNone/>
              <a:tabLst/>
              <a:defRPr sz="2800" b="1">
                <a:solidFill>
                  <a:srgbClr val="1A3C6E"/>
                </a:solidFill>
                <a:latin typeface="微软雅黑" panose="020B0503020204020204" charset="-122"/>
              </a:defRPr>
            </a:pPr>
            <a:r>
              <a:rPr kumimoji="0" lang="zh-CN" altLang="en-US" sz="2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获取</a:t>
            </a:r>
            <a:r>
              <a:rPr lang="en-US" altLang="zh-CN" sz="2400" b="1" dirty="0">
                <a:solidFill>
                  <a:srgbClr val="4472C4">
                    <a:lumMod val="50000"/>
                  </a:srgbClr>
                </a:solidFill>
                <a:latin typeface="微软雅黑" panose="020B0503020204020204" pitchFamily="34" charset="-122"/>
                <a:ea typeface="微软雅黑" panose="020B0503020204020204" pitchFamily="34" charset="-122"/>
              </a:rPr>
              <a:t>AI</a:t>
            </a:r>
            <a:r>
              <a:rPr kumimoji="0" lang="zh-CN" altLang="en-US" sz="2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产业趋势下的资本市场红利，公募基金大有可为</a:t>
            </a:r>
            <a:endParaRPr kumimoji="0" sz="2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endParaRPr>
          </a:p>
        </p:txBody>
      </p:sp>
      <p:grpSp>
        <p:nvGrpSpPr>
          <p:cNvPr id="5" name="组合 4">
            <a:extLst>
              <a:ext uri="{FF2B5EF4-FFF2-40B4-BE49-F238E27FC236}">
                <a16:creationId xmlns="" xmlns:a16="http://schemas.microsoft.com/office/drawing/2014/main" id="{34D0D1FA-94D6-45DC-CF69-456698E6DA99}"/>
              </a:ext>
            </a:extLst>
          </p:cNvPr>
          <p:cNvGrpSpPr/>
          <p:nvPr/>
        </p:nvGrpSpPr>
        <p:grpSpPr>
          <a:xfrm>
            <a:off x="385763" y="1169530"/>
            <a:ext cx="11420475" cy="5396825"/>
            <a:chOff x="514350" y="1733550"/>
            <a:chExt cx="15227300" cy="6921501"/>
          </a:xfrm>
        </p:grpSpPr>
        <p:sp>
          <p:nvSpPr>
            <p:cNvPr id="6" name="Shape 3">
              <a:extLst>
                <a:ext uri="{FF2B5EF4-FFF2-40B4-BE49-F238E27FC236}">
                  <a16:creationId xmlns="" xmlns:a16="http://schemas.microsoft.com/office/drawing/2014/main" id="{144DAE13-4F75-DEF1-3134-51DF74676E4B}"/>
                </a:ext>
              </a:extLst>
            </p:cNvPr>
            <p:cNvSpPr/>
            <p:nvPr/>
          </p:nvSpPr>
          <p:spPr>
            <a:xfrm>
              <a:off x="514350" y="1733550"/>
              <a:ext cx="15227300" cy="2273300"/>
            </a:xfrm>
            <a:prstGeom prst="roundRect">
              <a:avLst>
                <a:gd name="adj" fmla="val 6704"/>
              </a:avLst>
            </a:prstGeom>
            <a:solidFill>
              <a:schemeClr val="accent5">
                <a:lumMod val="20000"/>
                <a:lumOff val="80000"/>
              </a:schemeClr>
            </a:solidFill>
            <a:ln w="12700">
              <a:solidFill>
                <a:srgbClr val="333333"/>
              </a:solidFill>
              <a:prstDash val="solid"/>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7" name="Shape 4">
              <a:extLst>
                <a:ext uri="{FF2B5EF4-FFF2-40B4-BE49-F238E27FC236}">
                  <a16:creationId xmlns="" xmlns:a16="http://schemas.microsoft.com/office/drawing/2014/main" id="{28690419-5CAD-A42D-1BD7-DD1BE7672FD6}"/>
                </a:ext>
              </a:extLst>
            </p:cNvPr>
            <p:cNvSpPr/>
            <p:nvPr/>
          </p:nvSpPr>
          <p:spPr>
            <a:xfrm>
              <a:off x="825500" y="2044700"/>
              <a:ext cx="1955800" cy="101600"/>
            </a:xfrm>
            <a:prstGeom prst="roundRect">
              <a:avLst>
                <a:gd name="adj" fmla="val 50000"/>
              </a:avLst>
            </a:prstGeom>
            <a:solidFill>
              <a:srgbClr val="6366F1"/>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8" name="Text 5">
              <a:extLst>
                <a:ext uri="{FF2B5EF4-FFF2-40B4-BE49-F238E27FC236}">
                  <a16:creationId xmlns="" xmlns:a16="http://schemas.microsoft.com/office/drawing/2014/main" id="{C2ADB229-A8A5-F4BE-53F4-EE59B66B7103}"/>
                </a:ext>
              </a:extLst>
            </p:cNvPr>
            <p:cNvSpPr/>
            <p:nvPr/>
          </p:nvSpPr>
          <p:spPr>
            <a:xfrm>
              <a:off x="781050" y="2298700"/>
              <a:ext cx="2044700" cy="254000"/>
            </a:xfrm>
            <a:prstGeom prst="rect">
              <a:avLst/>
            </a:prstGeom>
            <a:no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6366F1"/>
                  </a:solidFill>
                  <a:effectLst/>
                  <a:uLnTx/>
                  <a:uFillTx/>
                  <a:latin typeface="MiSans" pitchFamily="34" charset="0"/>
                  <a:ea typeface="MiSans" pitchFamily="34" charset="-122"/>
                  <a:cs typeface="MiSans" pitchFamily="34" charset="-120"/>
                </a:rPr>
                <a:t>2005-2007</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9" name="Text 6">
              <a:extLst>
                <a:ext uri="{FF2B5EF4-FFF2-40B4-BE49-F238E27FC236}">
                  <a16:creationId xmlns="" xmlns:a16="http://schemas.microsoft.com/office/drawing/2014/main" id="{7A0534E2-B421-3F0E-3E9B-EACE5062CEB3}"/>
                </a:ext>
              </a:extLst>
            </p:cNvPr>
            <p:cNvSpPr/>
            <p:nvPr/>
          </p:nvSpPr>
          <p:spPr>
            <a:xfrm>
              <a:off x="774700" y="2603500"/>
              <a:ext cx="2057400" cy="304800"/>
            </a:xfrm>
            <a:prstGeom prst="rect">
              <a:avLst/>
            </a:prstGeom>
            <a:solidFill>
              <a:schemeClr val="tx2">
                <a:lumMod val="75000"/>
              </a:schemeClr>
            </a:solidFill>
            <a:ln/>
          </p:spPr>
          <p:txBody>
            <a:bodyPr wrap="square" lIns="0" tIns="0" rIns="0" bIns="0" rtlCol="0" anchor="ctr"/>
            <a:lstStyle/>
            <a:p>
              <a:pPr marL="0" marR="0" lvl="0" indent="0" algn="ctr"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城镇化</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0" name="Text 7">
              <a:extLst>
                <a:ext uri="{FF2B5EF4-FFF2-40B4-BE49-F238E27FC236}">
                  <a16:creationId xmlns="" xmlns:a16="http://schemas.microsoft.com/office/drawing/2014/main" id="{CA3DE77D-C8E5-EA4D-A93F-D5DDEF018755}"/>
                </a:ext>
              </a:extLst>
            </p:cNvPr>
            <p:cNvSpPr/>
            <p:nvPr/>
          </p:nvSpPr>
          <p:spPr>
            <a:xfrm>
              <a:off x="781050" y="3055185"/>
              <a:ext cx="2044700" cy="254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地产/基建</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1" name="Text 8">
              <a:extLst>
                <a:ext uri="{FF2B5EF4-FFF2-40B4-BE49-F238E27FC236}">
                  <a16:creationId xmlns="" xmlns:a16="http://schemas.microsoft.com/office/drawing/2014/main" id="{F0535A31-C515-94A3-4557-4BC9A11618F7}"/>
                </a:ext>
              </a:extLst>
            </p:cNvPr>
            <p:cNvSpPr/>
            <p:nvPr/>
          </p:nvSpPr>
          <p:spPr>
            <a:xfrm>
              <a:off x="787400" y="3455131"/>
              <a:ext cx="2032000" cy="381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渗透率：城镇化率 40%→50%</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2" name="Shape 9">
              <a:extLst>
                <a:ext uri="{FF2B5EF4-FFF2-40B4-BE49-F238E27FC236}">
                  <a16:creationId xmlns="" xmlns:a16="http://schemas.microsoft.com/office/drawing/2014/main" id="{60738036-41AF-9858-C100-BF30A60A5EBC}"/>
                </a:ext>
              </a:extLst>
            </p:cNvPr>
            <p:cNvSpPr/>
            <p:nvPr/>
          </p:nvSpPr>
          <p:spPr>
            <a:xfrm>
              <a:off x="2933700" y="2044700"/>
              <a:ext cx="1955800" cy="101600"/>
            </a:xfrm>
            <a:prstGeom prst="roundRect">
              <a:avLst>
                <a:gd name="adj" fmla="val 50000"/>
              </a:avLst>
            </a:prstGeom>
            <a:solidFill>
              <a:srgbClr val="10B981"/>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13" name="Text 10">
              <a:extLst>
                <a:ext uri="{FF2B5EF4-FFF2-40B4-BE49-F238E27FC236}">
                  <a16:creationId xmlns="" xmlns:a16="http://schemas.microsoft.com/office/drawing/2014/main" id="{71E596D6-D821-1AC5-A9E9-2AEED0F5A04F}"/>
                </a:ext>
              </a:extLst>
            </p:cNvPr>
            <p:cNvSpPr/>
            <p:nvPr/>
          </p:nvSpPr>
          <p:spPr>
            <a:xfrm>
              <a:off x="2889250" y="2298700"/>
              <a:ext cx="2044700" cy="254000"/>
            </a:xfrm>
            <a:prstGeom prst="rect">
              <a:avLst/>
            </a:prstGeom>
            <a:no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0B981"/>
                  </a:solidFill>
                  <a:effectLst/>
                  <a:uLnTx/>
                  <a:uFillTx/>
                  <a:latin typeface="MiSans" pitchFamily="34" charset="0"/>
                  <a:ea typeface="MiSans" pitchFamily="34" charset="-122"/>
                  <a:cs typeface="MiSans" pitchFamily="34" charset="-120"/>
                </a:rPr>
                <a:t>2009-2010</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4" name="Text 11">
              <a:extLst>
                <a:ext uri="{FF2B5EF4-FFF2-40B4-BE49-F238E27FC236}">
                  <a16:creationId xmlns="" xmlns:a16="http://schemas.microsoft.com/office/drawing/2014/main" id="{DEC23541-7402-47C5-DF93-C526EBCB9855}"/>
                </a:ext>
              </a:extLst>
            </p:cNvPr>
            <p:cNvSpPr/>
            <p:nvPr/>
          </p:nvSpPr>
          <p:spPr>
            <a:xfrm>
              <a:off x="2882900" y="2603500"/>
              <a:ext cx="2057400" cy="304800"/>
            </a:xfrm>
            <a:prstGeom prst="rect">
              <a:avLst/>
            </a:prstGeom>
            <a:solidFill>
              <a:schemeClr val="tx2">
                <a:lumMod val="75000"/>
              </a:schemeClr>
            </a:solidFill>
            <a:ln/>
          </p:spPr>
          <p:txBody>
            <a:bodyPr wrap="square" lIns="0" tIns="0" rIns="0" bIns="0" rtlCol="0" anchor="ctr"/>
            <a:lstStyle/>
            <a:p>
              <a:pPr marL="0" marR="0" lvl="0" indent="0" algn="ctr"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4万亿刺激</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5" name="Text 12">
              <a:extLst>
                <a:ext uri="{FF2B5EF4-FFF2-40B4-BE49-F238E27FC236}">
                  <a16:creationId xmlns="" xmlns:a16="http://schemas.microsoft.com/office/drawing/2014/main" id="{4CC18A05-D0F1-8402-B4A1-9D05D82EE829}"/>
                </a:ext>
              </a:extLst>
            </p:cNvPr>
            <p:cNvSpPr/>
            <p:nvPr/>
          </p:nvSpPr>
          <p:spPr>
            <a:xfrm>
              <a:off x="2889250" y="3055185"/>
              <a:ext cx="2044700" cy="254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基建/有色</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6" name="Text 13">
              <a:extLst>
                <a:ext uri="{FF2B5EF4-FFF2-40B4-BE49-F238E27FC236}">
                  <a16:creationId xmlns="" xmlns:a16="http://schemas.microsoft.com/office/drawing/2014/main" id="{059D378F-1EF5-17DB-6210-1BFEC328EE83}"/>
                </a:ext>
              </a:extLst>
            </p:cNvPr>
            <p:cNvSpPr/>
            <p:nvPr/>
          </p:nvSpPr>
          <p:spPr>
            <a:xfrm>
              <a:off x="2895600" y="3455131"/>
              <a:ext cx="2032000" cy="381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政策驱动型周期景气</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7" name="Shape 14">
              <a:extLst>
                <a:ext uri="{FF2B5EF4-FFF2-40B4-BE49-F238E27FC236}">
                  <a16:creationId xmlns="" xmlns:a16="http://schemas.microsoft.com/office/drawing/2014/main" id="{381E78AD-57EF-3A18-C2FF-378E93B8939F}"/>
                </a:ext>
              </a:extLst>
            </p:cNvPr>
            <p:cNvSpPr/>
            <p:nvPr/>
          </p:nvSpPr>
          <p:spPr>
            <a:xfrm>
              <a:off x="5041900" y="2044700"/>
              <a:ext cx="1955800" cy="101600"/>
            </a:xfrm>
            <a:prstGeom prst="roundRect">
              <a:avLst>
                <a:gd name="adj" fmla="val 50000"/>
              </a:avLst>
            </a:prstGeom>
            <a:solidFill>
              <a:srgbClr val="F59E0B"/>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18" name="Text 15">
              <a:extLst>
                <a:ext uri="{FF2B5EF4-FFF2-40B4-BE49-F238E27FC236}">
                  <a16:creationId xmlns="" xmlns:a16="http://schemas.microsoft.com/office/drawing/2014/main" id="{7B532A8D-B7EA-9D48-26F4-119DD03AA119}"/>
                </a:ext>
              </a:extLst>
            </p:cNvPr>
            <p:cNvSpPr/>
            <p:nvPr/>
          </p:nvSpPr>
          <p:spPr>
            <a:xfrm>
              <a:off x="4997450" y="2298700"/>
              <a:ext cx="2044700" cy="254000"/>
            </a:xfrm>
            <a:prstGeom prst="rect">
              <a:avLst/>
            </a:prstGeom>
            <a:no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59E0B"/>
                  </a:solidFill>
                  <a:effectLst/>
                  <a:uLnTx/>
                  <a:uFillTx/>
                  <a:latin typeface="MiSans" pitchFamily="34" charset="0"/>
                  <a:ea typeface="MiSans" pitchFamily="34" charset="-122"/>
                  <a:cs typeface="MiSans" pitchFamily="34" charset="-120"/>
                </a:rPr>
                <a:t>2013-2015</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19" name="Text 16">
              <a:extLst>
                <a:ext uri="{FF2B5EF4-FFF2-40B4-BE49-F238E27FC236}">
                  <a16:creationId xmlns="" xmlns:a16="http://schemas.microsoft.com/office/drawing/2014/main" id="{11A0FE32-921E-C70E-73F8-758CB1168A1B}"/>
                </a:ext>
              </a:extLst>
            </p:cNvPr>
            <p:cNvSpPr/>
            <p:nvPr/>
          </p:nvSpPr>
          <p:spPr>
            <a:xfrm>
              <a:off x="4991100" y="2603500"/>
              <a:ext cx="2057400" cy="304800"/>
            </a:xfrm>
            <a:prstGeom prst="rect">
              <a:avLst/>
            </a:prstGeom>
            <a:solidFill>
              <a:schemeClr val="tx2">
                <a:lumMod val="75000"/>
              </a:schemeClr>
            </a:solidFill>
            <a:ln/>
          </p:spPr>
          <p:txBody>
            <a:bodyPr wrap="square" lIns="0" tIns="0" rIns="0" bIns="0" rtlCol="0" anchor="ctr"/>
            <a:lstStyle/>
            <a:p>
              <a:pPr marL="0" marR="0" lvl="0" indent="0" algn="ctr"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移动互联网</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0" name="Text 17">
              <a:extLst>
                <a:ext uri="{FF2B5EF4-FFF2-40B4-BE49-F238E27FC236}">
                  <a16:creationId xmlns="" xmlns:a16="http://schemas.microsoft.com/office/drawing/2014/main" id="{F429DC36-BA61-8BBA-DEB9-DA7F28F91E67}"/>
                </a:ext>
              </a:extLst>
            </p:cNvPr>
            <p:cNvSpPr/>
            <p:nvPr/>
          </p:nvSpPr>
          <p:spPr>
            <a:xfrm>
              <a:off x="4997450" y="3055185"/>
              <a:ext cx="2044700" cy="254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TMT牛市</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Text 18">
              <a:extLst>
                <a:ext uri="{FF2B5EF4-FFF2-40B4-BE49-F238E27FC236}">
                  <a16:creationId xmlns="" xmlns:a16="http://schemas.microsoft.com/office/drawing/2014/main" id="{62E8926F-AAF9-FA78-7669-607C16206894}"/>
                </a:ext>
              </a:extLst>
            </p:cNvPr>
            <p:cNvSpPr/>
            <p:nvPr/>
          </p:nvSpPr>
          <p:spPr>
            <a:xfrm>
              <a:off x="5003800" y="3455131"/>
              <a:ext cx="2032000" cy="381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智能手机渗透率 30%→70%</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2" name="Shape 19">
              <a:extLst>
                <a:ext uri="{FF2B5EF4-FFF2-40B4-BE49-F238E27FC236}">
                  <a16:creationId xmlns="" xmlns:a16="http://schemas.microsoft.com/office/drawing/2014/main" id="{1B34931D-0B3D-766C-4961-C34C78DFB483}"/>
                </a:ext>
              </a:extLst>
            </p:cNvPr>
            <p:cNvSpPr/>
            <p:nvPr/>
          </p:nvSpPr>
          <p:spPr>
            <a:xfrm>
              <a:off x="7150100" y="2044700"/>
              <a:ext cx="1955800" cy="101600"/>
            </a:xfrm>
            <a:prstGeom prst="roundRect">
              <a:avLst>
                <a:gd name="adj" fmla="val 50000"/>
              </a:avLst>
            </a:prstGeom>
            <a:solidFill>
              <a:srgbClr val="EF4444"/>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23" name="Text 20">
              <a:extLst>
                <a:ext uri="{FF2B5EF4-FFF2-40B4-BE49-F238E27FC236}">
                  <a16:creationId xmlns="" xmlns:a16="http://schemas.microsoft.com/office/drawing/2014/main" id="{A92D8415-49B5-D7C3-44A6-96FF3FCDD95F}"/>
                </a:ext>
              </a:extLst>
            </p:cNvPr>
            <p:cNvSpPr/>
            <p:nvPr/>
          </p:nvSpPr>
          <p:spPr>
            <a:xfrm>
              <a:off x="7105650" y="2298700"/>
              <a:ext cx="2044700" cy="254000"/>
            </a:xfrm>
            <a:prstGeom prst="rect">
              <a:avLst/>
            </a:prstGeom>
            <a:no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EF4444"/>
                  </a:solidFill>
                  <a:effectLst/>
                  <a:uLnTx/>
                  <a:uFillTx/>
                  <a:latin typeface="MiSans" pitchFamily="34" charset="0"/>
                  <a:ea typeface="MiSans" pitchFamily="34" charset="-122"/>
                  <a:cs typeface="MiSans" pitchFamily="34" charset="-120"/>
                </a:rPr>
                <a:t>2016-2017</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4" name="Text 21">
              <a:extLst>
                <a:ext uri="{FF2B5EF4-FFF2-40B4-BE49-F238E27FC236}">
                  <a16:creationId xmlns="" xmlns:a16="http://schemas.microsoft.com/office/drawing/2014/main" id="{9CD44335-4DF5-5536-B941-1EFCB09F7BC2}"/>
                </a:ext>
              </a:extLst>
            </p:cNvPr>
            <p:cNvSpPr/>
            <p:nvPr/>
          </p:nvSpPr>
          <p:spPr>
            <a:xfrm>
              <a:off x="7099300" y="2603500"/>
              <a:ext cx="2057400" cy="304800"/>
            </a:xfrm>
            <a:prstGeom prst="rect">
              <a:avLst/>
            </a:prstGeom>
            <a:solidFill>
              <a:schemeClr val="tx2">
                <a:lumMod val="75000"/>
              </a:schemeClr>
            </a:solidFill>
            <a:ln/>
          </p:spPr>
          <p:txBody>
            <a:bodyPr wrap="square" lIns="0" tIns="0" rIns="0" bIns="0" rtlCol="0" anchor="ctr"/>
            <a:lstStyle/>
            <a:p>
              <a:pPr marL="0" marR="0" lvl="0" indent="0" algn="ctr"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供给侧改革</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5" name="Text 22">
              <a:extLst>
                <a:ext uri="{FF2B5EF4-FFF2-40B4-BE49-F238E27FC236}">
                  <a16:creationId xmlns="" xmlns:a16="http://schemas.microsoft.com/office/drawing/2014/main" id="{C4620B1E-6D25-2519-61BB-B00D3458F661}"/>
                </a:ext>
              </a:extLst>
            </p:cNvPr>
            <p:cNvSpPr/>
            <p:nvPr/>
          </p:nvSpPr>
          <p:spPr>
            <a:xfrm>
              <a:off x="7105650" y="3055185"/>
              <a:ext cx="2044700" cy="254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周期股复苏</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6" name="Text 23">
              <a:extLst>
                <a:ext uri="{FF2B5EF4-FFF2-40B4-BE49-F238E27FC236}">
                  <a16:creationId xmlns="" xmlns:a16="http://schemas.microsoft.com/office/drawing/2014/main" id="{C2DC2318-4687-5DBB-E77D-CDFEA4FB1968}"/>
                </a:ext>
              </a:extLst>
            </p:cNvPr>
            <p:cNvSpPr/>
            <p:nvPr/>
          </p:nvSpPr>
          <p:spPr>
            <a:xfrm>
              <a:off x="7112000" y="3455131"/>
              <a:ext cx="2032000" cy="381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钢铁/煤炭产能出清</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7" name="Shape 24">
              <a:extLst>
                <a:ext uri="{FF2B5EF4-FFF2-40B4-BE49-F238E27FC236}">
                  <a16:creationId xmlns="" xmlns:a16="http://schemas.microsoft.com/office/drawing/2014/main" id="{12564ABC-544D-7533-9AEB-530340B2A78F}"/>
                </a:ext>
              </a:extLst>
            </p:cNvPr>
            <p:cNvSpPr/>
            <p:nvPr/>
          </p:nvSpPr>
          <p:spPr>
            <a:xfrm>
              <a:off x="9258300" y="2044700"/>
              <a:ext cx="1955800" cy="101600"/>
            </a:xfrm>
            <a:prstGeom prst="roundRect">
              <a:avLst>
                <a:gd name="adj" fmla="val 50000"/>
              </a:avLst>
            </a:prstGeom>
            <a:solidFill>
              <a:srgbClr val="8B5CF6"/>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28" name="Text 25">
              <a:extLst>
                <a:ext uri="{FF2B5EF4-FFF2-40B4-BE49-F238E27FC236}">
                  <a16:creationId xmlns="" xmlns:a16="http://schemas.microsoft.com/office/drawing/2014/main" id="{041E2838-A1C8-C568-86E3-949573A6A1C0}"/>
                </a:ext>
              </a:extLst>
            </p:cNvPr>
            <p:cNvSpPr/>
            <p:nvPr/>
          </p:nvSpPr>
          <p:spPr>
            <a:xfrm>
              <a:off x="9213850" y="2298700"/>
              <a:ext cx="2044700" cy="254000"/>
            </a:xfrm>
            <a:prstGeom prst="rect">
              <a:avLst/>
            </a:prstGeom>
            <a:no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8B5CF6"/>
                  </a:solidFill>
                  <a:effectLst/>
                  <a:uLnTx/>
                  <a:uFillTx/>
                  <a:latin typeface="MiSans" pitchFamily="34" charset="0"/>
                  <a:ea typeface="MiSans" pitchFamily="34" charset="-122"/>
                  <a:cs typeface="MiSans" pitchFamily="34" charset="-120"/>
                </a:rPr>
                <a:t>2019-2021</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9" name="Text 26">
              <a:extLst>
                <a:ext uri="{FF2B5EF4-FFF2-40B4-BE49-F238E27FC236}">
                  <a16:creationId xmlns="" xmlns:a16="http://schemas.microsoft.com/office/drawing/2014/main" id="{BDBCFFDE-3523-538D-191D-13BAE5173EA7}"/>
                </a:ext>
              </a:extLst>
            </p:cNvPr>
            <p:cNvSpPr/>
            <p:nvPr/>
          </p:nvSpPr>
          <p:spPr>
            <a:xfrm>
              <a:off x="9207500" y="2603500"/>
              <a:ext cx="2057400" cy="304800"/>
            </a:xfrm>
            <a:prstGeom prst="rect">
              <a:avLst/>
            </a:prstGeom>
            <a:solidFill>
              <a:schemeClr val="tx2">
                <a:lumMod val="75000"/>
              </a:schemeClr>
            </a:solidFill>
            <a:ln/>
          </p:spPr>
          <p:txBody>
            <a:bodyPr wrap="square" lIns="0" tIns="0" rIns="0" bIns="0" rtlCol="0" anchor="ctr"/>
            <a:lstStyle/>
            <a:p>
              <a:pPr marL="0" marR="0" lvl="0" indent="0" algn="ctr"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新能源革命</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0" name="Text 27">
              <a:extLst>
                <a:ext uri="{FF2B5EF4-FFF2-40B4-BE49-F238E27FC236}">
                  <a16:creationId xmlns="" xmlns:a16="http://schemas.microsoft.com/office/drawing/2014/main" id="{BB81042D-9C68-22E2-F84E-287BDF0066CA}"/>
                </a:ext>
              </a:extLst>
            </p:cNvPr>
            <p:cNvSpPr/>
            <p:nvPr/>
          </p:nvSpPr>
          <p:spPr>
            <a:xfrm>
              <a:off x="9213850" y="3055185"/>
              <a:ext cx="2044700" cy="254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光伏/锂电/EV</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1" name="Text 28">
              <a:extLst>
                <a:ext uri="{FF2B5EF4-FFF2-40B4-BE49-F238E27FC236}">
                  <a16:creationId xmlns="" xmlns:a16="http://schemas.microsoft.com/office/drawing/2014/main" id="{5C09091F-13AB-96CF-95D0-D8C938E00468}"/>
                </a:ext>
              </a:extLst>
            </p:cNvPr>
            <p:cNvSpPr/>
            <p:nvPr/>
          </p:nvSpPr>
          <p:spPr>
            <a:xfrm>
              <a:off x="9220200" y="3455131"/>
              <a:ext cx="2032000" cy="381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EV渗透率 5%→25%</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2" name="Shape 29">
              <a:extLst>
                <a:ext uri="{FF2B5EF4-FFF2-40B4-BE49-F238E27FC236}">
                  <a16:creationId xmlns="" xmlns:a16="http://schemas.microsoft.com/office/drawing/2014/main" id="{BAB952CD-ED8A-2419-5EAC-080C9DFA84C1}"/>
                </a:ext>
              </a:extLst>
            </p:cNvPr>
            <p:cNvSpPr/>
            <p:nvPr/>
          </p:nvSpPr>
          <p:spPr>
            <a:xfrm>
              <a:off x="11366500" y="2044700"/>
              <a:ext cx="1955800" cy="101600"/>
            </a:xfrm>
            <a:prstGeom prst="roundRect">
              <a:avLst>
                <a:gd name="adj" fmla="val 50000"/>
              </a:avLst>
            </a:prstGeom>
            <a:solidFill>
              <a:srgbClr val="06B6D4"/>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33" name="Text 30">
              <a:extLst>
                <a:ext uri="{FF2B5EF4-FFF2-40B4-BE49-F238E27FC236}">
                  <a16:creationId xmlns="" xmlns:a16="http://schemas.microsoft.com/office/drawing/2014/main" id="{CEC0051E-95C0-2328-386C-5AB375D7F10F}"/>
                </a:ext>
              </a:extLst>
            </p:cNvPr>
            <p:cNvSpPr/>
            <p:nvPr/>
          </p:nvSpPr>
          <p:spPr>
            <a:xfrm>
              <a:off x="11322050" y="2298700"/>
              <a:ext cx="2044700" cy="254000"/>
            </a:xfrm>
            <a:prstGeom prst="rect">
              <a:avLst/>
            </a:prstGeom>
            <a:no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6B6D4"/>
                  </a:solidFill>
                  <a:effectLst/>
                  <a:uLnTx/>
                  <a:uFillTx/>
                  <a:latin typeface="MiSans" pitchFamily="34" charset="0"/>
                  <a:ea typeface="MiSans" pitchFamily="34" charset="-122"/>
                  <a:cs typeface="MiSans" pitchFamily="34" charset="-120"/>
                </a:rPr>
                <a:t>2021-2022</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4" name="Text 31">
              <a:extLst>
                <a:ext uri="{FF2B5EF4-FFF2-40B4-BE49-F238E27FC236}">
                  <a16:creationId xmlns="" xmlns:a16="http://schemas.microsoft.com/office/drawing/2014/main" id="{C93C2236-A90A-B37D-E0AA-CFE9302757F6}"/>
                </a:ext>
              </a:extLst>
            </p:cNvPr>
            <p:cNvSpPr/>
            <p:nvPr/>
          </p:nvSpPr>
          <p:spPr>
            <a:xfrm>
              <a:off x="11315700" y="2603500"/>
              <a:ext cx="2057400" cy="304800"/>
            </a:xfrm>
            <a:prstGeom prst="rect">
              <a:avLst/>
            </a:prstGeom>
            <a:solidFill>
              <a:schemeClr val="tx2">
                <a:lumMod val="75000"/>
              </a:schemeClr>
            </a:solidFill>
            <a:ln/>
          </p:spPr>
          <p:txBody>
            <a:bodyPr wrap="square" lIns="0" tIns="0" rIns="0" bIns="0" rtlCol="0" anchor="ctr"/>
            <a:lstStyle/>
            <a:p>
              <a:pPr marL="0" marR="0" lvl="0" indent="0" algn="ctr"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半导体国产化</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5" name="Text 32">
              <a:extLst>
                <a:ext uri="{FF2B5EF4-FFF2-40B4-BE49-F238E27FC236}">
                  <a16:creationId xmlns="" xmlns:a16="http://schemas.microsoft.com/office/drawing/2014/main" id="{73E50AFC-B486-1A88-67AD-C9CF1F6E1424}"/>
                </a:ext>
              </a:extLst>
            </p:cNvPr>
            <p:cNvSpPr/>
            <p:nvPr/>
          </p:nvSpPr>
          <p:spPr>
            <a:xfrm>
              <a:off x="11322050" y="3055185"/>
              <a:ext cx="2044700" cy="254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芯片设备</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6" name="Text 33">
              <a:extLst>
                <a:ext uri="{FF2B5EF4-FFF2-40B4-BE49-F238E27FC236}">
                  <a16:creationId xmlns="" xmlns:a16="http://schemas.microsoft.com/office/drawing/2014/main" id="{96FF11C5-41E5-9A86-FACD-8C515AF75BC2}"/>
                </a:ext>
              </a:extLst>
            </p:cNvPr>
            <p:cNvSpPr/>
            <p:nvPr/>
          </p:nvSpPr>
          <p:spPr>
            <a:xfrm>
              <a:off x="11328400" y="3455131"/>
              <a:ext cx="2032000" cy="381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自主可控政策驱动</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37" name="Shape 34">
              <a:extLst>
                <a:ext uri="{FF2B5EF4-FFF2-40B4-BE49-F238E27FC236}">
                  <a16:creationId xmlns="" xmlns:a16="http://schemas.microsoft.com/office/drawing/2014/main" id="{8F02D732-6A7C-A779-9304-C52F28481382}"/>
                </a:ext>
              </a:extLst>
            </p:cNvPr>
            <p:cNvSpPr/>
            <p:nvPr/>
          </p:nvSpPr>
          <p:spPr>
            <a:xfrm>
              <a:off x="13474700" y="2044700"/>
              <a:ext cx="1955800" cy="101600"/>
            </a:xfrm>
            <a:prstGeom prst="roundRect">
              <a:avLst>
                <a:gd name="adj" fmla="val 50000"/>
              </a:avLst>
            </a:prstGeom>
            <a:solidFill>
              <a:srgbClr val="6366F1"/>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38" name="Text 35">
              <a:extLst>
                <a:ext uri="{FF2B5EF4-FFF2-40B4-BE49-F238E27FC236}">
                  <a16:creationId xmlns="" xmlns:a16="http://schemas.microsoft.com/office/drawing/2014/main" id="{2BD8E4FE-CBA7-E2EA-751B-8C19B7CC1DF1}"/>
                </a:ext>
              </a:extLst>
            </p:cNvPr>
            <p:cNvSpPr/>
            <p:nvPr/>
          </p:nvSpPr>
          <p:spPr>
            <a:xfrm>
              <a:off x="13430250" y="2298700"/>
              <a:ext cx="2044700" cy="254000"/>
            </a:xfrm>
            <a:prstGeom prst="rect">
              <a:avLst/>
            </a:prstGeom>
            <a:no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6366F1"/>
                  </a:solidFill>
                  <a:effectLst/>
                  <a:uLnTx/>
                  <a:uFillTx/>
                  <a:latin typeface="MiSans" pitchFamily="34" charset="0"/>
                  <a:ea typeface="MiSans" pitchFamily="34" charset="-122"/>
                  <a:cs typeface="MiSans" pitchFamily="34" charset="-120"/>
                </a:rPr>
                <a:t>2023-今</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9" name="Text 36">
              <a:extLst>
                <a:ext uri="{FF2B5EF4-FFF2-40B4-BE49-F238E27FC236}">
                  <a16:creationId xmlns="" xmlns:a16="http://schemas.microsoft.com/office/drawing/2014/main" id="{14F50BE6-1E71-DA49-7883-331B1ACE0349}"/>
                </a:ext>
              </a:extLst>
            </p:cNvPr>
            <p:cNvSpPr/>
            <p:nvPr/>
          </p:nvSpPr>
          <p:spPr>
            <a:xfrm>
              <a:off x="13423900" y="2603500"/>
              <a:ext cx="2057400" cy="304800"/>
            </a:xfrm>
            <a:prstGeom prst="rect">
              <a:avLst/>
            </a:prstGeom>
            <a:solidFill>
              <a:schemeClr val="tx2">
                <a:lumMod val="75000"/>
              </a:schemeClr>
            </a:solidFill>
            <a:ln/>
          </p:spPr>
          <p:txBody>
            <a:bodyPr wrap="square" lIns="0" tIns="0" rIns="0" bIns="0" rtlCol="0" anchor="ctr"/>
            <a:lstStyle/>
            <a:p>
              <a:pPr marL="0" marR="0" lvl="0" indent="0" algn="ctr"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AI</a:t>
              </a:r>
              <a:r>
                <a:rPr kumimoji="0" lang="zh-CN" altLang="en-US"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革命</a:t>
              </a:r>
              <a:r>
                <a:rPr kumimoji="0" lang="en-US" altLang="zh-CN"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a:t>
              </a:r>
              <a:r>
                <a:rPr kumimoji="0" lang="zh-CN" altLang="en-US"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算力浪潮</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40" name="Text 37">
              <a:extLst>
                <a:ext uri="{FF2B5EF4-FFF2-40B4-BE49-F238E27FC236}">
                  <a16:creationId xmlns="" xmlns:a16="http://schemas.microsoft.com/office/drawing/2014/main" id="{856379FE-AFFF-3613-7699-68C89954019E}"/>
                </a:ext>
              </a:extLst>
            </p:cNvPr>
            <p:cNvSpPr/>
            <p:nvPr/>
          </p:nvSpPr>
          <p:spPr>
            <a:xfrm>
              <a:off x="13430250" y="3055185"/>
              <a:ext cx="2044700" cy="254000"/>
            </a:xfrm>
            <a:prstGeom prst="rect">
              <a:avLst/>
            </a:prstGeom>
            <a:solidFill>
              <a:schemeClr val="accent5">
                <a:lumMod val="60000"/>
                <a:lumOff val="40000"/>
              </a:schemeClr>
            </a:solidFill>
            <a:ln/>
          </p:spPr>
          <p:txBody>
            <a:bodyPr wrap="square" lIns="0" tIns="0" rIns="0" bIns="0" rtlCol="0" anchor="ctr"/>
            <a:lstStyle/>
            <a:p>
              <a:pPr marL="0" marR="0" lvl="0" indent="0" algn="ctr" defTabSz="6858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FFFFFF"/>
                  </a:solidFill>
                  <a:effectLst/>
                  <a:uLnTx/>
                  <a:uFillTx/>
                  <a:latin typeface="MiSans" pitchFamily="34" charset="0"/>
                  <a:ea typeface="MiSans" pitchFamily="34" charset="-122"/>
                  <a:cs typeface="MiSans" pitchFamily="34" charset="-120"/>
                </a:rPr>
                <a:t>光模块</a:t>
              </a: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a:t>
              </a:r>
              <a:r>
                <a:rPr kumimoji="0" lang="zh-CN" alt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存储</a:t>
              </a:r>
              <a:r>
                <a:rPr kumimoji="0" lang="en-US" sz="1050" b="0" i="0" u="none" strike="noStrike" kern="1200" cap="none" spc="0" normalizeH="0" baseline="0" noProof="0" dirty="0" err="1">
                  <a:ln>
                    <a:noFill/>
                  </a:ln>
                  <a:solidFill>
                    <a:srgbClr val="FFFFFF"/>
                  </a:solidFill>
                  <a:effectLst/>
                  <a:uLnTx/>
                  <a:uFillTx/>
                  <a:latin typeface="MiSans" pitchFamily="34" charset="0"/>
                  <a:ea typeface="MiSans" pitchFamily="34" charset="-122"/>
                  <a:cs typeface="MiSans" pitchFamily="34" charset="-120"/>
                </a:rPr>
                <a:t>芯片</a:t>
              </a: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a:t>
              </a:r>
              <a:r>
                <a:rPr kumimoji="0" lang="zh-CN" alt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封测</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1" name="Text 38">
              <a:extLst>
                <a:ext uri="{FF2B5EF4-FFF2-40B4-BE49-F238E27FC236}">
                  <a16:creationId xmlns="" xmlns:a16="http://schemas.microsoft.com/office/drawing/2014/main" id="{2AB86C36-FEB1-4382-F951-190C60E628CE}"/>
                </a:ext>
              </a:extLst>
            </p:cNvPr>
            <p:cNvSpPr/>
            <p:nvPr/>
          </p:nvSpPr>
          <p:spPr>
            <a:xfrm>
              <a:off x="13436600" y="3455131"/>
              <a:ext cx="2032000" cy="381000"/>
            </a:xfrm>
            <a:prstGeom prst="rect">
              <a:avLst/>
            </a:prstGeom>
            <a:noFill/>
            <a:ln/>
          </p:spPr>
          <p:txBody>
            <a:bodyPr wrap="square" lIns="0" tIns="0" rIns="0" bIns="0" rtlCol="0" anchor="ctr"/>
            <a:lstStyle/>
            <a:p>
              <a:pPr marL="0" marR="0" lvl="0" indent="0" algn="ctr" defTabSz="6858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6366F1"/>
                  </a:solidFill>
                  <a:effectLst/>
                  <a:uLnTx/>
                  <a:uFillTx/>
                  <a:latin typeface="MiSans" pitchFamily="34" charset="0"/>
                  <a:ea typeface="MiSans" pitchFamily="34" charset="-122"/>
                  <a:cs typeface="MiSans" pitchFamily="34" charset="-120"/>
                </a:rPr>
                <a:t>AI渗透率加速突破期</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42" name="Shape 39">
              <a:extLst>
                <a:ext uri="{FF2B5EF4-FFF2-40B4-BE49-F238E27FC236}">
                  <a16:creationId xmlns="" xmlns:a16="http://schemas.microsoft.com/office/drawing/2014/main" id="{A46B0E19-633C-7D75-D636-11C63FF792EF}"/>
                </a:ext>
              </a:extLst>
            </p:cNvPr>
            <p:cNvSpPr/>
            <p:nvPr/>
          </p:nvSpPr>
          <p:spPr>
            <a:xfrm>
              <a:off x="514350" y="4318001"/>
              <a:ext cx="7454900" cy="4337050"/>
            </a:xfrm>
            <a:prstGeom prst="roundRect">
              <a:avLst>
                <a:gd name="adj" fmla="val 3647"/>
              </a:avLst>
            </a:prstGeom>
            <a:solidFill>
              <a:schemeClr val="accent5">
                <a:lumMod val="20000"/>
                <a:lumOff val="80000"/>
              </a:schemeClr>
            </a:solidFill>
            <a:ln w="12700">
              <a:solidFill>
                <a:srgbClr val="333333"/>
              </a:solidFill>
              <a:prstDash val="solid"/>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43" name="Shape 40">
              <a:extLst>
                <a:ext uri="{FF2B5EF4-FFF2-40B4-BE49-F238E27FC236}">
                  <a16:creationId xmlns="" xmlns:a16="http://schemas.microsoft.com/office/drawing/2014/main" id="{FC754105-FC6A-FD43-FB1A-FE58A572EFB1}"/>
                </a:ext>
              </a:extLst>
            </p:cNvPr>
            <p:cNvSpPr/>
            <p:nvPr/>
          </p:nvSpPr>
          <p:spPr>
            <a:xfrm>
              <a:off x="806450" y="4620364"/>
              <a:ext cx="254000" cy="254000"/>
            </a:xfrm>
            <a:custGeom>
              <a:avLst/>
              <a:gdLst/>
              <a:ahLst/>
              <a:cxnLst/>
              <a:rect l="l" t="t" r="r" b="b"/>
              <a:pathLst>
                <a:path w="254000" h="254000">
                  <a:moveTo>
                    <a:pt x="166688" y="174625"/>
                  </a:moveTo>
                  <a:cubicBezTo>
                    <a:pt x="214908" y="174625"/>
                    <a:pt x="254000" y="135533"/>
                    <a:pt x="254000" y="87313"/>
                  </a:cubicBezTo>
                  <a:cubicBezTo>
                    <a:pt x="254000" y="39092"/>
                    <a:pt x="214908" y="0"/>
                    <a:pt x="166688" y="0"/>
                  </a:cubicBezTo>
                  <a:cubicBezTo>
                    <a:pt x="118467" y="0"/>
                    <a:pt x="79375" y="39092"/>
                    <a:pt x="79375" y="87313"/>
                  </a:cubicBezTo>
                  <a:cubicBezTo>
                    <a:pt x="79375" y="96589"/>
                    <a:pt x="80814" y="105569"/>
                    <a:pt x="83493" y="113953"/>
                  </a:cubicBezTo>
                  <a:lnTo>
                    <a:pt x="3473" y="193973"/>
                  </a:lnTo>
                  <a:cubicBezTo>
                    <a:pt x="1240" y="196205"/>
                    <a:pt x="0" y="199231"/>
                    <a:pt x="0" y="202406"/>
                  </a:cubicBezTo>
                  <a:lnTo>
                    <a:pt x="0" y="242094"/>
                  </a:lnTo>
                  <a:cubicBezTo>
                    <a:pt x="0" y="248692"/>
                    <a:pt x="5308" y="254000"/>
                    <a:pt x="11906" y="254000"/>
                  </a:cubicBezTo>
                  <a:lnTo>
                    <a:pt x="51594" y="254000"/>
                  </a:lnTo>
                  <a:cubicBezTo>
                    <a:pt x="58192" y="254000"/>
                    <a:pt x="63500" y="248692"/>
                    <a:pt x="63500" y="242094"/>
                  </a:cubicBezTo>
                  <a:lnTo>
                    <a:pt x="63500" y="222250"/>
                  </a:lnTo>
                  <a:lnTo>
                    <a:pt x="83344" y="222250"/>
                  </a:lnTo>
                  <a:cubicBezTo>
                    <a:pt x="89942" y="222250"/>
                    <a:pt x="95250" y="216942"/>
                    <a:pt x="95250" y="210344"/>
                  </a:cubicBezTo>
                  <a:lnTo>
                    <a:pt x="95250" y="190500"/>
                  </a:lnTo>
                  <a:lnTo>
                    <a:pt x="115094" y="190500"/>
                  </a:lnTo>
                  <a:cubicBezTo>
                    <a:pt x="118269" y="190500"/>
                    <a:pt x="121295" y="189260"/>
                    <a:pt x="123527" y="187027"/>
                  </a:cubicBezTo>
                  <a:lnTo>
                    <a:pt x="140047" y="170507"/>
                  </a:lnTo>
                  <a:cubicBezTo>
                    <a:pt x="148431" y="173186"/>
                    <a:pt x="157411" y="174625"/>
                    <a:pt x="166688" y="174625"/>
                  </a:cubicBezTo>
                  <a:close/>
                  <a:moveTo>
                    <a:pt x="186531" y="47625"/>
                  </a:moveTo>
                  <a:cubicBezTo>
                    <a:pt x="197483" y="47625"/>
                    <a:pt x="206375" y="56517"/>
                    <a:pt x="206375" y="67469"/>
                  </a:cubicBezTo>
                  <a:cubicBezTo>
                    <a:pt x="206375" y="78421"/>
                    <a:pt x="197483" y="87313"/>
                    <a:pt x="186531" y="87313"/>
                  </a:cubicBezTo>
                  <a:cubicBezTo>
                    <a:pt x="175579" y="87313"/>
                    <a:pt x="166688" y="78421"/>
                    <a:pt x="166688" y="67469"/>
                  </a:cubicBezTo>
                  <a:cubicBezTo>
                    <a:pt x="166688" y="56517"/>
                    <a:pt x="175579" y="47625"/>
                    <a:pt x="186531" y="47625"/>
                  </a:cubicBezTo>
                  <a:close/>
                </a:path>
              </a:pathLst>
            </a:custGeom>
            <a:solidFill>
              <a:srgbClr val="6366F1"/>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44" name="Text 41">
              <a:extLst>
                <a:ext uri="{FF2B5EF4-FFF2-40B4-BE49-F238E27FC236}">
                  <a16:creationId xmlns="" xmlns:a16="http://schemas.microsoft.com/office/drawing/2014/main" id="{FABC63A9-60D1-CAB7-2072-B8BD8500F4DC}"/>
                </a:ext>
              </a:extLst>
            </p:cNvPr>
            <p:cNvSpPr/>
            <p:nvPr/>
          </p:nvSpPr>
          <p:spPr>
            <a:xfrm>
              <a:off x="1244599" y="4446062"/>
              <a:ext cx="2558997" cy="733350"/>
            </a:xfrm>
            <a:prstGeom prst="rect">
              <a:avLst/>
            </a:prstGeom>
            <a:noFill/>
            <a:ln/>
          </p:spPr>
          <p:txBody>
            <a:bodyPr wrap="square" lIns="0" tIns="0" rIns="0" bIns="0" rtlCol="0" anchor="ctr"/>
            <a:lstStyle/>
            <a:p>
              <a:pPr marL="0" marR="0" lvl="0" indent="0" algn="l" defTabSz="685800" rtl="0" eaLnBrk="1" fontAlgn="auto" latinLnBrk="0" hangingPunct="1">
                <a:lnSpc>
                  <a:spcPct val="120000"/>
                </a:lnSpc>
                <a:spcBef>
                  <a:spcPts val="0"/>
                </a:spcBef>
                <a:spcAft>
                  <a:spcPts val="0"/>
                </a:spcAft>
                <a:buClrTx/>
                <a:buSzTx/>
                <a:buFontTx/>
                <a:buNone/>
                <a:tabLst/>
                <a:defRPr/>
              </a:pPr>
              <a:r>
                <a:rPr kumimoji="0" lang="zh-CN" altLang="en-US" sz="1350" b="1" i="0" u="none" strike="noStrike" kern="1200" cap="none" spc="0" normalizeH="0" baseline="0" noProof="0" dirty="0">
                  <a:ln>
                    <a:noFill/>
                  </a:ln>
                  <a:solidFill>
                    <a:srgbClr val="000000"/>
                  </a:solidFill>
                  <a:effectLst/>
                  <a:uLnTx/>
                  <a:uFillTx/>
                  <a:latin typeface="思源宋体" panose="02010600030101010101" charset="-122"/>
                  <a:ea typeface="思源宋体" panose="02010600030101010101" charset="-122"/>
                  <a:cs typeface="MiSans" pitchFamily="34" charset="-120"/>
                </a:rPr>
                <a:t>弱者思维，感知资本市场告诉我们什么？</a:t>
              </a:r>
              <a:endParaRPr kumimoji="0" lang="en-US" sz="1050" b="0" i="0" u="none" strike="noStrike" kern="1200" cap="none" spc="0" normalizeH="0" baseline="0" noProof="0" dirty="0">
                <a:ln>
                  <a:noFill/>
                </a:ln>
                <a:solidFill>
                  <a:srgbClr val="000000"/>
                </a:solidFill>
                <a:effectLst/>
                <a:uLnTx/>
                <a:uFillTx/>
                <a:latin typeface="思源宋体" panose="02010600030101010101" charset="-122"/>
                <a:ea typeface="思源宋体" panose="02010600030101010101" charset="-122"/>
                <a:cs typeface="+mn-cs"/>
              </a:endParaRPr>
            </a:p>
          </p:txBody>
        </p:sp>
        <p:sp>
          <p:nvSpPr>
            <p:cNvPr id="45" name="Shape 42">
              <a:extLst>
                <a:ext uri="{FF2B5EF4-FFF2-40B4-BE49-F238E27FC236}">
                  <a16:creationId xmlns="" xmlns:a16="http://schemas.microsoft.com/office/drawing/2014/main" id="{0002D11B-7119-0C27-B77E-4C94976BA69C}"/>
                </a:ext>
              </a:extLst>
            </p:cNvPr>
            <p:cNvSpPr/>
            <p:nvPr/>
          </p:nvSpPr>
          <p:spPr>
            <a:xfrm>
              <a:off x="720912" y="5454339"/>
              <a:ext cx="406400" cy="406400"/>
            </a:xfrm>
            <a:prstGeom prst="roundRect">
              <a:avLst>
                <a:gd name="adj" fmla="val 25000"/>
              </a:avLst>
            </a:prstGeom>
            <a:solidFill>
              <a:srgbClr val="6366F1">
                <a:alpha val="20000"/>
              </a:srgbClr>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46" name="Text 43">
              <a:extLst>
                <a:ext uri="{FF2B5EF4-FFF2-40B4-BE49-F238E27FC236}">
                  <a16:creationId xmlns="" xmlns:a16="http://schemas.microsoft.com/office/drawing/2014/main" id="{C5072858-6F6B-51DF-E960-F4DB2D915F78}"/>
                </a:ext>
              </a:extLst>
            </p:cNvPr>
            <p:cNvSpPr/>
            <p:nvPr/>
          </p:nvSpPr>
          <p:spPr>
            <a:xfrm>
              <a:off x="881250" y="5505140"/>
              <a:ext cx="190500" cy="304800"/>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366F1"/>
                  </a:solidFill>
                  <a:effectLst/>
                  <a:uLnTx/>
                  <a:uFillTx/>
                  <a:latin typeface="MiSans" pitchFamily="34" charset="0"/>
                  <a:ea typeface="MiSans" pitchFamily="34" charset="-122"/>
                  <a:cs typeface="MiSans" pitchFamily="34" charset="-120"/>
                </a:rPr>
                <a:t>1</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47" name="Text 44">
              <a:extLst>
                <a:ext uri="{FF2B5EF4-FFF2-40B4-BE49-F238E27FC236}">
                  <a16:creationId xmlns="" xmlns:a16="http://schemas.microsoft.com/office/drawing/2014/main" id="{84DCAE8A-9914-2A12-C177-FCB9E1CD7A27}"/>
                </a:ext>
              </a:extLst>
            </p:cNvPr>
            <p:cNvSpPr/>
            <p:nvPr/>
          </p:nvSpPr>
          <p:spPr>
            <a:xfrm>
              <a:off x="1287650" y="5337600"/>
              <a:ext cx="2515947" cy="650765"/>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C00000"/>
                  </a:solidFill>
                  <a:effectLst/>
                  <a:uLnTx/>
                  <a:uFillTx/>
                  <a:latin typeface="MiSans" pitchFamily="34" charset="0"/>
                  <a:ea typeface="MiSans" pitchFamily="34" charset="-122"/>
                  <a:cs typeface="MiSans" pitchFamily="34" charset="-120"/>
                </a:rPr>
                <a:t>类比电气化、信息化革命</a:t>
              </a:r>
              <a:endParaRPr kumimoji="0" lang="en-US" altLang="zh-CN" sz="1200" b="1" i="0" u="none" strike="noStrike" kern="1200" cap="none" spc="0" normalizeH="0" baseline="0" noProof="0" dirty="0">
                <a:ln>
                  <a:noFill/>
                </a:ln>
                <a:solidFill>
                  <a:srgbClr val="C00000"/>
                </a:solidFill>
                <a:effectLst/>
                <a:uLnTx/>
                <a:uFillTx/>
                <a:latin typeface="MiSans" pitchFamily="34" charset="0"/>
                <a:ea typeface="MiSans" pitchFamily="34" charset="-122"/>
                <a:cs typeface="MiSans" pitchFamily="34" charset="-120"/>
              </a:endParaRPr>
            </a:p>
            <a:p>
              <a:pPr marL="0" marR="0" lvl="0" indent="0" algn="l"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err="1">
                  <a:ln>
                    <a:noFill/>
                  </a:ln>
                  <a:solidFill>
                    <a:srgbClr val="C00000"/>
                  </a:solidFill>
                  <a:effectLst/>
                  <a:uLnTx/>
                  <a:uFillTx/>
                  <a:latin typeface="MiSans" pitchFamily="34" charset="0"/>
                  <a:ea typeface="MiSans" pitchFamily="34" charset="-122"/>
                  <a:cs typeface="MiSans" pitchFamily="34" charset="-120"/>
                </a:rPr>
                <a:t>投资</a:t>
              </a:r>
              <a:r>
                <a:rPr kumimoji="0" lang="zh-CN" altLang="en-US" sz="1200" b="1" i="0" u="none" strike="noStrike" kern="1200" cap="none" spc="0" normalizeH="0" baseline="0" noProof="0" dirty="0">
                  <a:ln>
                    <a:noFill/>
                  </a:ln>
                  <a:solidFill>
                    <a:srgbClr val="C00000"/>
                  </a:solidFill>
                  <a:effectLst/>
                  <a:uLnTx/>
                  <a:uFillTx/>
                  <a:latin typeface="MiSans" pitchFamily="34" charset="0"/>
                  <a:ea typeface="MiSans" pitchFamily="34" charset="-122"/>
                  <a:cs typeface="MiSans" pitchFamily="34" charset="-120"/>
                </a:rPr>
                <a:t>窗口仍未关闭</a:t>
              </a:r>
              <a:endParaRPr kumimoji="0" lang="en-US" sz="1200" b="0" i="0" u="none" strike="noStrike" kern="1200" cap="none" spc="0" normalizeH="0" baseline="0" noProof="0" dirty="0">
                <a:ln>
                  <a:noFill/>
                </a:ln>
                <a:solidFill>
                  <a:srgbClr val="C00000"/>
                </a:solidFill>
                <a:effectLst/>
                <a:uLnTx/>
                <a:uFillTx/>
                <a:latin typeface="Calibri"/>
                <a:ea typeface="+mn-ea"/>
                <a:cs typeface="+mn-cs"/>
              </a:endParaRPr>
            </a:p>
          </p:txBody>
        </p:sp>
        <p:sp>
          <p:nvSpPr>
            <p:cNvPr id="48" name="Text 45">
              <a:extLst>
                <a:ext uri="{FF2B5EF4-FFF2-40B4-BE49-F238E27FC236}">
                  <a16:creationId xmlns="" xmlns:a16="http://schemas.microsoft.com/office/drawing/2014/main" id="{D1B13448-EB0E-9429-675B-5FC424E4FA8A}"/>
                </a:ext>
              </a:extLst>
            </p:cNvPr>
            <p:cNvSpPr/>
            <p:nvPr/>
          </p:nvSpPr>
          <p:spPr>
            <a:xfrm>
              <a:off x="840353" y="6070950"/>
              <a:ext cx="2428883" cy="2436449"/>
            </a:xfrm>
            <a:prstGeom prst="rect">
              <a:avLst/>
            </a:prstGeom>
            <a:noFill/>
            <a:ln/>
          </p:spPr>
          <p:txBody>
            <a:bodyPr wrap="square" lIns="0" tIns="0" rIns="0" bIns="0" rtlCol="0" anchor="ctr"/>
            <a:lstStyle/>
            <a:p>
              <a:pPr marL="214313" marR="0" lvl="0" indent="-214313" algn="l" defTabSz="6858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en-US" sz="1125"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对应渗透率从5%到30%的加速阶段</a:t>
              </a:r>
              <a:r>
                <a:rPr kumimoji="0" lang="zh-CN" altLang="en-US" sz="1125"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，后续可能进入算力先涨，</a:t>
              </a:r>
              <a:r>
                <a:rPr kumimoji="0" lang="en-US" altLang="zh-CN" sz="1125"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AI</a:t>
              </a:r>
              <a:r>
                <a:rPr kumimoji="0" lang="zh-CN" altLang="en-US" sz="1125"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设备和应用补涨的轮动阶段</a:t>
              </a:r>
              <a:endParaRPr kumimoji="0" lang="en-US" altLang="zh-CN" sz="1125"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endParaRPr>
            </a:p>
            <a:p>
              <a:pPr marL="214313" marR="0" lvl="0" indent="-214313" algn="l" defTabSz="6858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0" lang="en-US" altLang="zh-CN" sz="1125"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endParaRPr>
            </a:p>
            <a:p>
              <a:pPr marL="214313" marR="0" lvl="0" indent="-214313" algn="l" defTabSz="6858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1125"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科创芯片、半导体设备、云计算</a:t>
              </a:r>
              <a:r>
                <a:rPr kumimoji="0" lang="en-US" altLang="zh-CN" sz="1125"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3</a:t>
              </a:r>
              <a:r>
                <a:rPr kumimoji="0" lang="zh-CN" altLang="en-US" sz="1125"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个</a:t>
              </a:r>
              <a:r>
                <a:rPr kumimoji="0" lang="en-US" altLang="zh-CN" sz="1125"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ETF</a:t>
              </a:r>
              <a:r>
                <a:rPr kumimoji="0" lang="zh-CN" altLang="en-US" sz="1125"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，分别对应算力链、设备链、应用链</a:t>
              </a:r>
              <a:endParaRPr kumimoji="0" lang="en-US" sz="1125" b="0"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endParaRPr>
            </a:p>
          </p:txBody>
        </p:sp>
        <p:sp>
          <p:nvSpPr>
            <p:cNvPr id="57" name="Shape 54">
              <a:extLst>
                <a:ext uri="{FF2B5EF4-FFF2-40B4-BE49-F238E27FC236}">
                  <a16:creationId xmlns="" xmlns:a16="http://schemas.microsoft.com/office/drawing/2014/main" id="{360B369D-699F-53D8-A244-A63E361FA2F6}"/>
                </a:ext>
              </a:extLst>
            </p:cNvPr>
            <p:cNvSpPr/>
            <p:nvPr/>
          </p:nvSpPr>
          <p:spPr>
            <a:xfrm>
              <a:off x="8286750" y="4318001"/>
              <a:ext cx="7454900" cy="4337050"/>
            </a:xfrm>
            <a:prstGeom prst="roundRect">
              <a:avLst>
                <a:gd name="adj" fmla="val 3647"/>
              </a:avLst>
            </a:prstGeom>
            <a:solidFill>
              <a:schemeClr val="accent5">
                <a:lumMod val="20000"/>
                <a:lumOff val="80000"/>
              </a:schemeClr>
            </a:solidFill>
            <a:ln w="12700">
              <a:solidFill>
                <a:srgbClr val="333333"/>
              </a:solidFill>
              <a:prstDash val="solid"/>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58" name="Shape 55">
              <a:extLst>
                <a:ext uri="{FF2B5EF4-FFF2-40B4-BE49-F238E27FC236}">
                  <a16:creationId xmlns="" xmlns:a16="http://schemas.microsoft.com/office/drawing/2014/main" id="{792B45CC-B8E3-C412-D945-748D5E694C0A}"/>
                </a:ext>
              </a:extLst>
            </p:cNvPr>
            <p:cNvSpPr/>
            <p:nvPr/>
          </p:nvSpPr>
          <p:spPr>
            <a:xfrm>
              <a:off x="8578850" y="4603606"/>
              <a:ext cx="254000" cy="254000"/>
            </a:xfrm>
            <a:custGeom>
              <a:avLst/>
              <a:gdLst/>
              <a:ahLst/>
              <a:cxnLst/>
              <a:rect l="l" t="t" r="r" b="b"/>
              <a:pathLst>
                <a:path w="254000" h="254000">
                  <a:moveTo>
                    <a:pt x="15875" y="15875"/>
                  </a:moveTo>
                  <a:cubicBezTo>
                    <a:pt x="24656" y="15875"/>
                    <a:pt x="31750" y="22969"/>
                    <a:pt x="31750" y="31750"/>
                  </a:cubicBezTo>
                  <a:lnTo>
                    <a:pt x="31750" y="198438"/>
                  </a:lnTo>
                  <a:cubicBezTo>
                    <a:pt x="31750" y="202803"/>
                    <a:pt x="35322" y="206375"/>
                    <a:pt x="39688" y="206375"/>
                  </a:cubicBezTo>
                  <a:lnTo>
                    <a:pt x="238125" y="206375"/>
                  </a:lnTo>
                  <a:cubicBezTo>
                    <a:pt x="246906" y="206375"/>
                    <a:pt x="254000" y="213469"/>
                    <a:pt x="254000" y="222250"/>
                  </a:cubicBezTo>
                  <a:cubicBezTo>
                    <a:pt x="254000" y="231031"/>
                    <a:pt x="246906" y="238125"/>
                    <a:pt x="238125" y="238125"/>
                  </a:cubicBezTo>
                  <a:lnTo>
                    <a:pt x="39688" y="238125"/>
                  </a:lnTo>
                  <a:cubicBezTo>
                    <a:pt x="17760" y="238125"/>
                    <a:pt x="0" y="220365"/>
                    <a:pt x="0" y="198438"/>
                  </a:cubicBezTo>
                  <a:lnTo>
                    <a:pt x="0" y="31750"/>
                  </a:lnTo>
                  <a:cubicBezTo>
                    <a:pt x="0" y="22969"/>
                    <a:pt x="7094" y="15875"/>
                    <a:pt x="15875" y="15875"/>
                  </a:cubicBezTo>
                  <a:close/>
                  <a:moveTo>
                    <a:pt x="63500" y="47625"/>
                  </a:moveTo>
                  <a:cubicBezTo>
                    <a:pt x="63500" y="38844"/>
                    <a:pt x="70594" y="31750"/>
                    <a:pt x="79375" y="31750"/>
                  </a:cubicBezTo>
                  <a:lnTo>
                    <a:pt x="174625" y="31750"/>
                  </a:lnTo>
                  <a:cubicBezTo>
                    <a:pt x="183406" y="31750"/>
                    <a:pt x="190500" y="38844"/>
                    <a:pt x="190500" y="47625"/>
                  </a:cubicBezTo>
                  <a:cubicBezTo>
                    <a:pt x="190500" y="56406"/>
                    <a:pt x="183406" y="63500"/>
                    <a:pt x="174625" y="63500"/>
                  </a:cubicBezTo>
                  <a:lnTo>
                    <a:pt x="79375" y="63500"/>
                  </a:lnTo>
                  <a:cubicBezTo>
                    <a:pt x="70594" y="63500"/>
                    <a:pt x="63500" y="56406"/>
                    <a:pt x="63500" y="47625"/>
                  </a:cubicBezTo>
                  <a:close/>
                  <a:moveTo>
                    <a:pt x="79375" y="87313"/>
                  </a:moveTo>
                  <a:lnTo>
                    <a:pt x="142875" y="87313"/>
                  </a:lnTo>
                  <a:cubicBezTo>
                    <a:pt x="151656" y="87313"/>
                    <a:pt x="158750" y="94407"/>
                    <a:pt x="158750" y="103188"/>
                  </a:cubicBezTo>
                  <a:cubicBezTo>
                    <a:pt x="158750" y="111968"/>
                    <a:pt x="151656" y="119063"/>
                    <a:pt x="142875" y="119063"/>
                  </a:cubicBezTo>
                  <a:lnTo>
                    <a:pt x="79375" y="119063"/>
                  </a:lnTo>
                  <a:cubicBezTo>
                    <a:pt x="70594" y="119063"/>
                    <a:pt x="63500" y="111968"/>
                    <a:pt x="63500" y="103188"/>
                  </a:cubicBezTo>
                  <a:cubicBezTo>
                    <a:pt x="63500" y="94407"/>
                    <a:pt x="70594" y="87313"/>
                    <a:pt x="79375" y="87313"/>
                  </a:cubicBezTo>
                  <a:close/>
                  <a:moveTo>
                    <a:pt x="79375" y="142875"/>
                  </a:moveTo>
                  <a:lnTo>
                    <a:pt x="206375" y="142875"/>
                  </a:lnTo>
                  <a:cubicBezTo>
                    <a:pt x="215156" y="142875"/>
                    <a:pt x="222250" y="149969"/>
                    <a:pt x="222250" y="158750"/>
                  </a:cubicBezTo>
                  <a:cubicBezTo>
                    <a:pt x="222250" y="167531"/>
                    <a:pt x="215156" y="174625"/>
                    <a:pt x="206375" y="174625"/>
                  </a:cubicBezTo>
                  <a:lnTo>
                    <a:pt x="79375" y="174625"/>
                  </a:lnTo>
                  <a:cubicBezTo>
                    <a:pt x="70594" y="174625"/>
                    <a:pt x="63500" y="167531"/>
                    <a:pt x="63500" y="158750"/>
                  </a:cubicBezTo>
                  <a:cubicBezTo>
                    <a:pt x="63500" y="149969"/>
                    <a:pt x="70594" y="142875"/>
                    <a:pt x="79375" y="142875"/>
                  </a:cubicBezTo>
                  <a:close/>
                </a:path>
              </a:pathLst>
            </a:custGeom>
            <a:solidFill>
              <a:srgbClr val="6366F1"/>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59" name="Text 56">
              <a:extLst>
                <a:ext uri="{FF2B5EF4-FFF2-40B4-BE49-F238E27FC236}">
                  <a16:creationId xmlns="" xmlns:a16="http://schemas.microsoft.com/office/drawing/2014/main" id="{6B2D31B2-276A-5249-568B-80B58B8CF61F}"/>
                </a:ext>
              </a:extLst>
            </p:cNvPr>
            <p:cNvSpPr/>
            <p:nvPr/>
          </p:nvSpPr>
          <p:spPr>
            <a:xfrm>
              <a:off x="9017000" y="4552806"/>
              <a:ext cx="1689100" cy="355600"/>
            </a:xfrm>
            <a:prstGeom prst="rect">
              <a:avLst/>
            </a:prstGeom>
            <a:noFill/>
            <a:ln/>
          </p:spPr>
          <p:txBody>
            <a:bodyPr wrap="square" lIns="0" tIns="0" rIns="0" bIns="0" rtlCol="0" anchor="ctr"/>
            <a:lstStyle/>
            <a:p>
              <a:pPr marL="0" marR="0" lvl="0" indent="0" algn="l" defTabSz="685800" rtl="0" eaLnBrk="1" fontAlgn="auto" latinLnBrk="0" hangingPunct="1">
                <a:lnSpc>
                  <a:spcPct val="12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典型案例数据</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60" name="Shape 57">
              <a:extLst>
                <a:ext uri="{FF2B5EF4-FFF2-40B4-BE49-F238E27FC236}">
                  <a16:creationId xmlns="" xmlns:a16="http://schemas.microsoft.com/office/drawing/2014/main" id="{C1B4F1C6-6606-E040-C36C-4E4A918AFA36}"/>
                </a:ext>
              </a:extLst>
            </p:cNvPr>
            <p:cNvSpPr/>
            <p:nvPr/>
          </p:nvSpPr>
          <p:spPr>
            <a:xfrm>
              <a:off x="8547100" y="5111607"/>
              <a:ext cx="6934200" cy="914400"/>
            </a:xfrm>
            <a:prstGeom prst="roundRect">
              <a:avLst>
                <a:gd name="adj" fmla="val 11111"/>
              </a:avLst>
            </a:prstGeom>
            <a:solidFill>
              <a:schemeClr val="accent5">
                <a:lumMod val="75000"/>
              </a:schemeClr>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61" name="Text 58">
              <a:extLst>
                <a:ext uri="{FF2B5EF4-FFF2-40B4-BE49-F238E27FC236}">
                  <a16:creationId xmlns="" xmlns:a16="http://schemas.microsoft.com/office/drawing/2014/main" id="{32AD65EA-E626-DDE1-1F8E-E18902268D92}"/>
                </a:ext>
              </a:extLst>
            </p:cNvPr>
            <p:cNvSpPr/>
            <p:nvPr/>
          </p:nvSpPr>
          <p:spPr>
            <a:xfrm>
              <a:off x="8699500" y="5289406"/>
              <a:ext cx="2413000" cy="304800"/>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新能源车（2019-2022）</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62" name="Text 59">
              <a:extLst>
                <a:ext uri="{FF2B5EF4-FFF2-40B4-BE49-F238E27FC236}">
                  <a16:creationId xmlns="" xmlns:a16="http://schemas.microsoft.com/office/drawing/2014/main" id="{68802B3E-B004-D910-AD95-EBED8920160B}"/>
                </a:ext>
              </a:extLst>
            </p:cNvPr>
            <p:cNvSpPr/>
            <p:nvPr/>
          </p:nvSpPr>
          <p:spPr>
            <a:xfrm>
              <a:off x="8699500" y="5594208"/>
              <a:ext cx="2400300" cy="254000"/>
            </a:xfrm>
            <a:prstGeom prst="rect">
              <a:avLst/>
            </a:prstGeom>
            <a:noFill/>
            <a:ln/>
          </p:spPr>
          <p:txBody>
            <a:bodyPr wrap="square" lIns="0" tIns="0" rIns="0" bIns="0" rtlCol="0" anchor="ctr"/>
            <a:lstStyle/>
            <a:p>
              <a:pPr marL="0" marR="0" lvl="0" indent="0" algn="l" defTabSz="6858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渗透率 5%→25%</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3" name="Text 60">
              <a:extLst>
                <a:ext uri="{FF2B5EF4-FFF2-40B4-BE49-F238E27FC236}">
                  <a16:creationId xmlns="" xmlns:a16="http://schemas.microsoft.com/office/drawing/2014/main" id="{9587B045-F5BC-6494-AB04-2276E3AC9787}"/>
                </a:ext>
              </a:extLst>
            </p:cNvPr>
            <p:cNvSpPr/>
            <p:nvPr/>
          </p:nvSpPr>
          <p:spPr>
            <a:xfrm>
              <a:off x="13601700" y="5264007"/>
              <a:ext cx="1727200" cy="355600"/>
            </a:xfrm>
            <a:prstGeom prst="rect">
              <a:avLst/>
            </a:prstGeom>
            <a:noFill/>
            <a:ln/>
          </p:spPr>
          <p:txBody>
            <a:bodyPr wrap="square" lIns="0" tIns="0" rIns="0" bIns="0" rtlCol="0" anchor="ctr"/>
            <a:lstStyle/>
            <a:p>
              <a:pPr marL="0" marR="0" lvl="0" indent="0" algn="r" defTabSz="685800" rtl="0" eaLnBrk="1" fontAlgn="auto" latinLnBrk="0" hangingPunct="1">
                <a:lnSpc>
                  <a:spcPct val="12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ED7D31"/>
                  </a:solidFill>
                  <a:effectLst/>
                  <a:uLnTx/>
                  <a:uFillTx/>
                  <a:latin typeface="MiSans" pitchFamily="34" charset="0"/>
                  <a:ea typeface="MiSans" pitchFamily="34" charset="-122"/>
                  <a:cs typeface="MiSans" pitchFamily="34" charset="-120"/>
                </a:rPr>
                <a:t>黄金三年</a:t>
              </a:r>
              <a:endParaRPr kumimoji="0" lang="en-US" sz="1200" b="0" i="0" u="none" strike="noStrike" kern="1200" cap="none" spc="0" normalizeH="0" baseline="0" noProof="0" dirty="0">
                <a:ln>
                  <a:noFill/>
                </a:ln>
                <a:solidFill>
                  <a:srgbClr val="ED7D31"/>
                </a:solidFill>
                <a:effectLst/>
                <a:uLnTx/>
                <a:uFillTx/>
                <a:latin typeface="Calibri"/>
                <a:ea typeface="+mn-ea"/>
                <a:cs typeface="+mn-cs"/>
              </a:endParaRPr>
            </a:p>
          </p:txBody>
        </p:sp>
        <p:sp>
          <p:nvSpPr>
            <p:cNvPr id="64" name="Text 61">
              <a:extLst>
                <a:ext uri="{FF2B5EF4-FFF2-40B4-BE49-F238E27FC236}">
                  <a16:creationId xmlns="" xmlns:a16="http://schemas.microsoft.com/office/drawing/2014/main" id="{93FD1EEF-C3F1-BD84-E753-9201994EA2B8}"/>
                </a:ext>
              </a:extLst>
            </p:cNvPr>
            <p:cNvSpPr/>
            <p:nvPr/>
          </p:nvSpPr>
          <p:spPr>
            <a:xfrm>
              <a:off x="13639800" y="5619607"/>
              <a:ext cx="1689100" cy="254000"/>
            </a:xfrm>
            <a:prstGeom prst="rect">
              <a:avLst/>
            </a:prstGeom>
            <a:noFill/>
            <a:ln/>
          </p:spPr>
          <p:txBody>
            <a:bodyPr wrap="square" lIns="0" tIns="0" rIns="0" bIns="0" rtlCol="0" anchor="ctr"/>
            <a:lstStyle/>
            <a:p>
              <a:pPr marL="0" marR="0" lvl="0" indent="0" algn="r" defTabSz="6858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宁德时代市值破万亿</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5" name="Shape 62">
              <a:extLst>
                <a:ext uri="{FF2B5EF4-FFF2-40B4-BE49-F238E27FC236}">
                  <a16:creationId xmlns="" xmlns:a16="http://schemas.microsoft.com/office/drawing/2014/main" id="{A9864D5B-46D7-4A8F-95CF-40259DD26EE1}"/>
                </a:ext>
              </a:extLst>
            </p:cNvPr>
            <p:cNvSpPr/>
            <p:nvPr/>
          </p:nvSpPr>
          <p:spPr>
            <a:xfrm>
              <a:off x="8547100" y="6262177"/>
              <a:ext cx="6934200" cy="914400"/>
            </a:xfrm>
            <a:prstGeom prst="roundRect">
              <a:avLst>
                <a:gd name="adj" fmla="val 11111"/>
              </a:avLst>
            </a:prstGeom>
            <a:solidFill>
              <a:schemeClr val="accent5">
                <a:lumMod val="75000"/>
              </a:schemeClr>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66" name="Text 63">
              <a:extLst>
                <a:ext uri="{FF2B5EF4-FFF2-40B4-BE49-F238E27FC236}">
                  <a16:creationId xmlns="" xmlns:a16="http://schemas.microsoft.com/office/drawing/2014/main" id="{CB2D44BC-3642-947A-77F8-9AC17B6FE066}"/>
                </a:ext>
              </a:extLst>
            </p:cNvPr>
            <p:cNvSpPr/>
            <p:nvPr/>
          </p:nvSpPr>
          <p:spPr>
            <a:xfrm>
              <a:off x="8699500" y="6439978"/>
              <a:ext cx="2832100" cy="304800"/>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半导体国产化（2019-2022）</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67" name="Text 64">
              <a:extLst>
                <a:ext uri="{FF2B5EF4-FFF2-40B4-BE49-F238E27FC236}">
                  <a16:creationId xmlns="" xmlns:a16="http://schemas.microsoft.com/office/drawing/2014/main" id="{A7F08879-24A9-E2C9-5665-2D2B11F74173}"/>
                </a:ext>
              </a:extLst>
            </p:cNvPr>
            <p:cNvSpPr/>
            <p:nvPr/>
          </p:nvSpPr>
          <p:spPr>
            <a:xfrm>
              <a:off x="8699500" y="6744777"/>
              <a:ext cx="2819400" cy="254000"/>
            </a:xfrm>
            <a:prstGeom prst="rect">
              <a:avLst/>
            </a:prstGeom>
            <a:noFill/>
            <a:ln/>
          </p:spPr>
          <p:txBody>
            <a:bodyPr wrap="square" lIns="0" tIns="0" rIns="0" bIns="0" rtlCol="0" anchor="ctr"/>
            <a:lstStyle/>
            <a:p>
              <a:pPr marL="0" marR="0" lvl="0" indent="0" algn="l" defTabSz="6858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自主可控逻辑</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8" name="Text 65">
              <a:extLst>
                <a:ext uri="{FF2B5EF4-FFF2-40B4-BE49-F238E27FC236}">
                  <a16:creationId xmlns="" xmlns:a16="http://schemas.microsoft.com/office/drawing/2014/main" id="{3CA75D49-F402-7403-0976-B279B1964ACC}"/>
                </a:ext>
              </a:extLst>
            </p:cNvPr>
            <p:cNvSpPr/>
            <p:nvPr/>
          </p:nvSpPr>
          <p:spPr>
            <a:xfrm>
              <a:off x="13896578" y="6414576"/>
              <a:ext cx="1435100" cy="355600"/>
            </a:xfrm>
            <a:prstGeom prst="rect">
              <a:avLst/>
            </a:prstGeom>
            <a:noFill/>
            <a:ln/>
          </p:spPr>
          <p:txBody>
            <a:bodyPr wrap="square" lIns="0" tIns="0" rIns="0" bIns="0" rtlCol="0" anchor="ctr"/>
            <a:lstStyle/>
            <a:p>
              <a:pPr marL="0" marR="0" lvl="0" indent="0" algn="r" defTabSz="685800" rtl="0" eaLnBrk="1" fontAlgn="auto" latinLnBrk="0" hangingPunct="1">
                <a:lnSpc>
                  <a:spcPct val="12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59E0B"/>
                  </a:solidFill>
                  <a:effectLst/>
                  <a:uLnTx/>
                  <a:uFillTx/>
                  <a:latin typeface="MiSans" pitchFamily="34" charset="0"/>
                  <a:ea typeface="MiSans" pitchFamily="34" charset="-122"/>
                  <a:cs typeface="MiSans" pitchFamily="34" charset="-120"/>
                </a:rPr>
                <a:t>结构性牛市</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69" name="Text 66">
              <a:extLst>
                <a:ext uri="{FF2B5EF4-FFF2-40B4-BE49-F238E27FC236}">
                  <a16:creationId xmlns="" xmlns:a16="http://schemas.microsoft.com/office/drawing/2014/main" id="{60925ED7-7AE5-3111-FCB0-AC79F881C30C}"/>
                </a:ext>
              </a:extLst>
            </p:cNvPr>
            <p:cNvSpPr/>
            <p:nvPr/>
          </p:nvSpPr>
          <p:spPr>
            <a:xfrm>
              <a:off x="13934678" y="6770177"/>
              <a:ext cx="1397000" cy="254000"/>
            </a:xfrm>
            <a:prstGeom prst="rect">
              <a:avLst/>
            </a:prstGeom>
            <a:noFill/>
            <a:ln/>
          </p:spPr>
          <p:txBody>
            <a:bodyPr wrap="square" lIns="0" tIns="0" rIns="0" bIns="0" rtlCol="0" anchor="ctr"/>
            <a:lstStyle/>
            <a:p>
              <a:pPr marL="0" marR="0" lvl="0" indent="0" algn="r" defTabSz="6858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设备厂订单爆发</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0" name="Shape 67">
              <a:extLst>
                <a:ext uri="{FF2B5EF4-FFF2-40B4-BE49-F238E27FC236}">
                  <a16:creationId xmlns="" xmlns:a16="http://schemas.microsoft.com/office/drawing/2014/main" id="{E749CEC2-D760-B8E0-4E92-BA9D48B231FF}"/>
                </a:ext>
              </a:extLst>
            </p:cNvPr>
            <p:cNvSpPr/>
            <p:nvPr/>
          </p:nvSpPr>
          <p:spPr>
            <a:xfrm>
              <a:off x="8559800" y="7442200"/>
              <a:ext cx="6908800" cy="939800"/>
            </a:xfrm>
            <a:prstGeom prst="roundRect">
              <a:avLst>
                <a:gd name="adj" fmla="val 10811"/>
              </a:avLst>
            </a:prstGeom>
            <a:solidFill>
              <a:schemeClr val="accent5">
                <a:lumMod val="75000"/>
              </a:schemeClr>
            </a:solidFill>
            <a:ln w="25400">
              <a:solidFill>
                <a:srgbClr val="6366F1"/>
              </a:solidFill>
              <a:prstDash val="solid"/>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71" name="Text 68">
              <a:extLst>
                <a:ext uri="{FF2B5EF4-FFF2-40B4-BE49-F238E27FC236}">
                  <a16:creationId xmlns="" xmlns:a16="http://schemas.microsoft.com/office/drawing/2014/main" id="{17918BC9-19C7-D90A-D099-8E9D4FFF2E5D}"/>
                </a:ext>
              </a:extLst>
            </p:cNvPr>
            <p:cNvSpPr/>
            <p:nvPr/>
          </p:nvSpPr>
          <p:spPr>
            <a:xfrm>
              <a:off x="8724900" y="7632700"/>
              <a:ext cx="2463800" cy="304800"/>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FEFEF"/>
                  </a:solidFill>
                  <a:effectLst/>
                  <a:uLnTx/>
                  <a:uFillTx/>
                  <a:latin typeface="MiSans" pitchFamily="34" charset="0"/>
                  <a:ea typeface="MiSans" pitchFamily="34" charset="-122"/>
                  <a:cs typeface="MiSans" pitchFamily="34" charset="-120"/>
                </a:rPr>
                <a:t>AI算力浪潮（2023至今）</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72" name="Text 69">
              <a:extLst>
                <a:ext uri="{FF2B5EF4-FFF2-40B4-BE49-F238E27FC236}">
                  <a16:creationId xmlns="" xmlns:a16="http://schemas.microsoft.com/office/drawing/2014/main" id="{6A83BCEA-D056-A513-6C39-D7652CC1040A}"/>
                </a:ext>
              </a:extLst>
            </p:cNvPr>
            <p:cNvSpPr/>
            <p:nvPr/>
          </p:nvSpPr>
          <p:spPr>
            <a:xfrm>
              <a:off x="8724900" y="7937500"/>
              <a:ext cx="2451100" cy="254000"/>
            </a:xfrm>
            <a:prstGeom prst="rect">
              <a:avLst/>
            </a:prstGeom>
            <a:noFill/>
            <a:ln/>
          </p:spPr>
          <p:txBody>
            <a:bodyPr wrap="square" lIns="0" tIns="0" rIns="0" bIns="0" rtlCol="0" anchor="ctr"/>
            <a:lstStyle/>
            <a:p>
              <a:pPr marL="0" marR="0" lvl="0" indent="0" algn="l" defTabSz="6858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渗透率 5-15% 黄金窗口</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73" name="Text 70">
              <a:extLst>
                <a:ext uri="{FF2B5EF4-FFF2-40B4-BE49-F238E27FC236}">
                  <a16:creationId xmlns="" xmlns:a16="http://schemas.microsoft.com/office/drawing/2014/main" id="{F1A9F36B-3D16-9759-F11A-FFF13877DA90}"/>
                </a:ext>
              </a:extLst>
            </p:cNvPr>
            <p:cNvSpPr/>
            <p:nvPr/>
          </p:nvSpPr>
          <p:spPr>
            <a:xfrm>
              <a:off x="13279041" y="7607300"/>
              <a:ext cx="2019300" cy="355600"/>
            </a:xfrm>
            <a:prstGeom prst="rect">
              <a:avLst/>
            </a:prstGeom>
            <a:noFill/>
            <a:ln/>
          </p:spPr>
          <p:txBody>
            <a:bodyPr wrap="square" lIns="0" tIns="0" rIns="0" bIns="0" rtlCol="0" anchor="ctr"/>
            <a:lstStyle/>
            <a:p>
              <a:pPr marL="0" marR="0" lvl="0" indent="0" algn="r" defTabSz="685800" rtl="0" eaLnBrk="1" fontAlgn="auto" latinLnBrk="0" hangingPunct="1">
                <a:lnSpc>
                  <a:spcPct val="120000"/>
                </a:lnSpc>
                <a:spcBef>
                  <a:spcPts val="0"/>
                </a:spcBef>
                <a:spcAft>
                  <a:spcPts val="0"/>
                </a:spcAft>
                <a:buClrTx/>
                <a:buSzTx/>
                <a:buFontTx/>
                <a:buNone/>
                <a:tabLst/>
                <a:defRPr/>
              </a:pPr>
              <a:r>
                <a:rPr kumimoji="0" lang="zh-CN" altLang="en-US" sz="1500" b="1" i="0" u="none" strike="noStrike" kern="1200" cap="none" spc="0" normalizeH="0" baseline="0" noProof="0" dirty="0">
                  <a:ln>
                    <a:noFill/>
                  </a:ln>
                  <a:solidFill>
                    <a:srgbClr val="C00000"/>
                  </a:solidFill>
                  <a:effectLst/>
                  <a:uLnTx/>
                  <a:uFillTx/>
                  <a:latin typeface="MiSans" pitchFamily="34" charset="0"/>
                  <a:ea typeface="MiSans" pitchFamily="34" charset="-122"/>
                  <a:cs typeface="MiSans" pitchFamily="34" charset="-120"/>
                </a:rPr>
                <a:t>正在</a:t>
              </a:r>
              <a:r>
                <a:rPr kumimoji="0" lang="en-US" sz="1500" b="1" i="0" u="none" strike="noStrike" kern="1200" cap="none" spc="0" normalizeH="0" baseline="0" noProof="0" dirty="0" err="1">
                  <a:ln>
                    <a:noFill/>
                  </a:ln>
                  <a:solidFill>
                    <a:srgbClr val="C00000"/>
                  </a:solidFill>
                  <a:effectLst/>
                  <a:uLnTx/>
                  <a:uFillTx/>
                  <a:latin typeface="MiSans" pitchFamily="34" charset="0"/>
                  <a:ea typeface="MiSans" pitchFamily="34" charset="-122"/>
                  <a:cs typeface="MiSans" pitchFamily="34" charset="-120"/>
                </a:rPr>
                <a:t>进行</a:t>
              </a:r>
              <a:r>
                <a:rPr kumimoji="0" lang="zh-CN" altLang="en-US" sz="1500" b="1" i="0" u="none" strike="noStrike" kern="1200" cap="none" spc="0" normalizeH="0" baseline="0" noProof="0" dirty="0">
                  <a:ln>
                    <a:noFill/>
                  </a:ln>
                  <a:solidFill>
                    <a:srgbClr val="C00000"/>
                  </a:solidFill>
                  <a:effectLst/>
                  <a:uLnTx/>
                  <a:uFillTx/>
                  <a:latin typeface="MiSans" pitchFamily="34" charset="0"/>
                  <a:ea typeface="MiSans" pitchFamily="34" charset="-122"/>
                  <a:cs typeface="MiSans" pitchFamily="34" charset="-120"/>
                </a:rPr>
                <a:t>时</a:t>
              </a:r>
              <a:endParaRPr kumimoji="0" lang="en-US" sz="1200" b="0" i="0" u="none" strike="noStrike" kern="1200" cap="none" spc="0" normalizeH="0" baseline="0" noProof="0" dirty="0">
                <a:ln>
                  <a:noFill/>
                </a:ln>
                <a:solidFill>
                  <a:srgbClr val="C00000"/>
                </a:solidFill>
                <a:effectLst/>
                <a:uLnTx/>
                <a:uFillTx/>
                <a:latin typeface="Calibri"/>
                <a:ea typeface="+mn-ea"/>
                <a:cs typeface="+mn-cs"/>
              </a:endParaRPr>
            </a:p>
          </p:txBody>
        </p:sp>
        <p:sp>
          <p:nvSpPr>
            <p:cNvPr id="74" name="Text 71">
              <a:extLst>
                <a:ext uri="{FF2B5EF4-FFF2-40B4-BE49-F238E27FC236}">
                  <a16:creationId xmlns="" xmlns:a16="http://schemas.microsoft.com/office/drawing/2014/main" id="{05386FF7-743E-EEA2-EBEB-767187FAF127}"/>
                </a:ext>
              </a:extLst>
            </p:cNvPr>
            <p:cNvSpPr/>
            <p:nvPr/>
          </p:nvSpPr>
          <p:spPr>
            <a:xfrm>
              <a:off x="12086985" y="7962900"/>
              <a:ext cx="3211356" cy="355600"/>
            </a:xfrm>
            <a:prstGeom prst="rect">
              <a:avLst/>
            </a:prstGeom>
            <a:noFill/>
            <a:ln/>
          </p:spPr>
          <p:txBody>
            <a:bodyPr wrap="square" lIns="0" tIns="0" rIns="0" bIns="0" rtlCol="0" anchor="ctr"/>
            <a:lstStyle/>
            <a:p>
              <a:pPr marL="0" marR="0" lvl="0" indent="0" algn="r" defTabSz="685800" rtl="0" eaLnBrk="1" fontAlgn="auto" latinLnBrk="0" hangingPunct="1">
                <a:lnSpc>
                  <a:spcPct val="120000"/>
                </a:lnSpc>
                <a:spcBef>
                  <a:spcPts val="0"/>
                </a:spcBef>
                <a:spcAft>
                  <a:spcPts val="0"/>
                </a:spcAft>
                <a:buClrTx/>
                <a:buSzTx/>
                <a:buFontTx/>
                <a:buNone/>
                <a:tabLst/>
                <a:defRPr/>
              </a:pPr>
              <a:r>
                <a:rPr kumimoji="0" lang="zh-CN" alt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海外算力</a:t>
              </a:r>
              <a:r>
                <a:rPr kumimoji="0" lang="en-US" altLang="zh-CN"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a:t>
              </a:r>
              <a:r>
                <a:rPr kumimoji="0" lang="en-US" sz="1050" b="0" i="0" u="none" strike="noStrike" kern="1200" cap="none" spc="0" normalizeH="0" baseline="0" noProof="0" dirty="0" err="1">
                  <a:ln>
                    <a:noFill/>
                  </a:ln>
                  <a:solidFill>
                    <a:srgbClr val="FFFFFF"/>
                  </a:solidFill>
                  <a:effectLst/>
                  <a:uLnTx/>
                  <a:uFillTx/>
                  <a:latin typeface="MiSans" pitchFamily="34" charset="0"/>
                  <a:ea typeface="MiSans" pitchFamily="34" charset="-122"/>
                  <a:cs typeface="MiSans" pitchFamily="34" charset="-120"/>
                </a:rPr>
                <a:t>国产算力</a:t>
              </a:r>
              <a:r>
                <a:rPr kumimoji="0" lang="en-US" altLang="zh-CN" sz="1050" b="0" i="0" u="none" strike="noStrike" kern="1200" cap="none" spc="0" normalizeH="0" baseline="0" noProof="0" dirty="0" err="1">
                  <a:ln>
                    <a:noFill/>
                  </a:ln>
                  <a:solidFill>
                    <a:srgbClr val="FFFFFF"/>
                  </a:solidFill>
                  <a:effectLst/>
                  <a:uLnTx/>
                  <a:uFillTx/>
                  <a:latin typeface="MiSans" pitchFamily="34" charset="0"/>
                  <a:ea typeface="MiSans" pitchFamily="34" charset="-122"/>
                  <a:cs typeface="MiSans" pitchFamily="34" charset="-120"/>
                </a:rPr>
                <a:t>+AI</a:t>
              </a:r>
              <a:r>
                <a:rPr kumimoji="0" lang="zh-CN" altLang="en-US" sz="105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基础设施</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grpSp>
      <p:sp>
        <p:nvSpPr>
          <p:cNvPr id="49" name="TextBox 3">
            <a:extLst>
              <a:ext uri="{FF2B5EF4-FFF2-40B4-BE49-F238E27FC236}">
                <a16:creationId xmlns="" xmlns:a16="http://schemas.microsoft.com/office/drawing/2014/main" id="{08D40E28-A777-DF95-F7DB-82BE600CAB76}"/>
              </a:ext>
            </a:extLst>
          </p:cNvPr>
          <p:cNvSpPr txBox="1"/>
          <p:nvPr/>
        </p:nvSpPr>
        <p:spPr>
          <a:xfrm>
            <a:off x="609600" y="734254"/>
            <a:ext cx="10500000" cy="266700"/>
          </a:xfrm>
          <a:prstGeom prst="rect">
            <a:avLst/>
          </a:prstGeom>
          <a:noFill/>
        </p:spPr>
        <p:txBody>
          <a:bodyPr wrap="square"/>
          <a:lstStyle/>
          <a:p>
            <a:pPr marL="0" marR="0" lvl="0" indent="0" algn="l" defTabSz="685800" rtl="0" eaLnBrk="1" fontAlgn="auto" latinLnBrk="0" hangingPunct="1">
              <a:lnSpc>
                <a:spcPct val="120000"/>
              </a:lnSpc>
              <a:spcBef>
                <a:spcPts val="0"/>
              </a:spcBef>
              <a:spcAft>
                <a:spcPts val="0"/>
              </a:spcAft>
              <a:buClrTx/>
              <a:buSzTx/>
              <a:buFontTx/>
              <a:buNone/>
              <a:tabLst/>
              <a:defRPr sz="1600" b="0">
                <a:solidFill>
                  <a:srgbClr val="666666"/>
                </a:solidFill>
                <a:latin typeface="微软雅黑" panose="020B0503020204020204" charset="-122"/>
              </a:defRPr>
            </a:pPr>
            <a:r>
              <a:rPr kumimoji="0" lang="zh-CN" altLang="en-US"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rPr>
              <a:t>产业趋势是增值配置中提升客户获得感的重要工具</a:t>
            </a:r>
            <a:endParaRPr kumimoji="0"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endParaRPr>
          </a:p>
        </p:txBody>
      </p:sp>
      <p:pic>
        <p:nvPicPr>
          <p:cNvPr id="50" name="图片 49">
            <a:extLst>
              <a:ext uri="{FF2B5EF4-FFF2-40B4-BE49-F238E27FC236}">
                <a16:creationId xmlns="" xmlns:a16="http://schemas.microsoft.com/office/drawing/2014/main" id="{F3D33ECB-3C55-83C5-6A50-03FB64401211}"/>
              </a:ext>
            </a:extLst>
          </p:cNvPr>
          <p:cNvPicPr>
            <a:picLocks noChangeAspect="1"/>
          </p:cNvPicPr>
          <p:nvPr/>
        </p:nvPicPr>
        <p:blipFill>
          <a:blip r:embed="rId2"/>
          <a:stretch>
            <a:fillRect/>
          </a:stretch>
        </p:blipFill>
        <p:spPr>
          <a:xfrm>
            <a:off x="3184879" y="3673885"/>
            <a:ext cx="2177696" cy="2666504"/>
          </a:xfrm>
          <a:prstGeom prst="rect">
            <a:avLst/>
          </a:prstGeom>
        </p:spPr>
      </p:pic>
      <p:sp>
        <p:nvSpPr>
          <p:cNvPr id="51" name="Text 44">
            <a:extLst>
              <a:ext uri="{FF2B5EF4-FFF2-40B4-BE49-F238E27FC236}">
                <a16:creationId xmlns="" xmlns:a16="http://schemas.microsoft.com/office/drawing/2014/main" id="{1A7AEC78-7CC8-522D-40B0-01147E21B361}"/>
              </a:ext>
            </a:extLst>
          </p:cNvPr>
          <p:cNvSpPr/>
          <p:nvPr/>
        </p:nvSpPr>
        <p:spPr>
          <a:xfrm>
            <a:off x="3627587" y="3296411"/>
            <a:ext cx="1886960" cy="205798"/>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思源宋体" panose="02010600030101010101" charset="-122"/>
                <a:cs typeface="+mn-cs"/>
              </a:rPr>
              <a:t>追踪产业趋势，</a:t>
            </a:r>
            <a:r>
              <a:rPr kumimoji="0" lang="en-US" altLang="zh-CN" sz="1200" b="1" i="0" u="none" strike="noStrike" kern="1200" cap="none" spc="0" normalizeH="0" baseline="0" noProof="0" dirty="0">
                <a:ln>
                  <a:noFill/>
                </a:ln>
                <a:solidFill>
                  <a:srgbClr val="C00000"/>
                </a:solidFill>
                <a:effectLst/>
                <a:uLnTx/>
                <a:uFillTx/>
                <a:latin typeface="微软雅黑" panose="020B0503020204020204" pitchFamily="34" charset="-122"/>
                <a:ea typeface="思源宋体" panose="02010600030101010101" charset="-122"/>
                <a:cs typeface="+mn-cs"/>
              </a:rPr>
              <a:t>β</a:t>
            </a:r>
            <a:r>
              <a:rPr kumimoji="0" lang="zh-CN" altLang="en-US" sz="1200" b="1" i="0" u="none" strike="noStrike" kern="1200" cap="none" spc="0" normalizeH="0" baseline="0" noProof="0" dirty="0">
                <a:ln>
                  <a:noFill/>
                </a:ln>
                <a:solidFill>
                  <a:srgbClr val="C00000"/>
                </a:solidFill>
                <a:effectLst/>
                <a:uLnTx/>
                <a:uFillTx/>
                <a:latin typeface="思源宋体" panose="02010600030101010101" charset="-122"/>
                <a:ea typeface="思源宋体" panose="02010600030101010101" charset="-122"/>
                <a:cs typeface="+mn-cs"/>
              </a:rPr>
              <a:t>比</a:t>
            </a:r>
            <a:r>
              <a:rPr kumimoji="0" lang="en-US" altLang="zh-CN" sz="1200" b="1" i="0" u="none" strike="noStrike" kern="1200" cap="none" spc="0" normalizeH="0" baseline="0" noProof="0" dirty="0">
                <a:ln>
                  <a:noFill/>
                </a:ln>
                <a:solidFill>
                  <a:srgbClr val="C00000"/>
                </a:solidFill>
                <a:effectLst/>
                <a:uLnTx/>
                <a:uFillTx/>
                <a:latin typeface="思源宋体" panose="02010600030101010101" charset="-122"/>
                <a:ea typeface="思源宋体" panose="02010600030101010101" charset="-122"/>
                <a:cs typeface="+mn-cs"/>
              </a:rPr>
              <a:t>α</a:t>
            </a:r>
            <a:r>
              <a:rPr kumimoji="0" lang="zh-CN" altLang="en-US" sz="1200" b="1" i="0" u="none" strike="noStrike" kern="1200" cap="none" spc="0" normalizeH="0" baseline="0" noProof="0" dirty="0">
                <a:ln>
                  <a:noFill/>
                </a:ln>
                <a:solidFill>
                  <a:srgbClr val="C00000"/>
                </a:solidFill>
                <a:effectLst/>
                <a:uLnTx/>
                <a:uFillTx/>
                <a:latin typeface="思源宋体" panose="02010600030101010101" charset="-122"/>
                <a:ea typeface="思源宋体" panose="02010600030101010101" charset="-122"/>
                <a:cs typeface="+mn-cs"/>
              </a:rPr>
              <a:t>重要</a:t>
            </a:r>
            <a:endParaRPr kumimoji="0" lang="en-US" sz="1200" b="0" i="0" u="none" strike="noStrike" kern="1200" cap="none" spc="0" normalizeH="0" baseline="0" noProof="0" dirty="0">
              <a:ln>
                <a:noFill/>
              </a:ln>
              <a:solidFill>
                <a:srgbClr val="C00000"/>
              </a:solidFill>
              <a:effectLst/>
              <a:uLnTx/>
              <a:uFillTx/>
              <a:latin typeface="思源宋体" panose="02010600030101010101" charset="-122"/>
              <a:ea typeface="思源宋体" panose="02010600030101010101" charset="-122"/>
              <a:cs typeface="+mn-cs"/>
            </a:endParaRPr>
          </a:p>
        </p:txBody>
      </p:sp>
      <p:sp>
        <p:nvSpPr>
          <p:cNvPr id="52" name="Shape 42">
            <a:extLst>
              <a:ext uri="{FF2B5EF4-FFF2-40B4-BE49-F238E27FC236}">
                <a16:creationId xmlns="" xmlns:a16="http://schemas.microsoft.com/office/drawing/2014/main" id="{D06FE1A0-CFA5-F8A0-4682-1565D0991FC9}"/>
              </a:ext>
            </a:extLst>
          </p:cNvPr>
          <p:cNvSpPr/>
          <p:nvPr/>
        </p:nvSpPr>
        <p:spPr>
          <a:xfrm>
            <a:off x="3176121" y="3270596"/>
            <a:ext cx="304800" cy="316878"/>
          </a:xfrm>
          <a:prstGeom prst="roundRect">
            <a:avLst>
              <a:gd name="adj" fmla="val 25000"/>
            </a:avLst>
          </a:prstGeom>
          <a:solidFill>
            <a:srgbClr val="6366F1">
              <a:alpha val="20000"/>
            </a:srgbClr>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Calibri"/>
              <a:ea typeface="等线" panose="02010600030101010101" pitchFamily="2" charset="-122"/>
              <a:cs typeface="+mn-cs"/>
            </a:endParaRPr>
          </a:p>
        </p:txBody>
      </p:sp>
      <p:sp>
        <p:nvSpPr>
          <p:cNvPr id="53" name="Text 43">
            <a:extLst>
              <a:ext uri="{FF2B5EF4-FFF2-40B4-BE49-F238E27FC236}">
                <a16:creationId xmlns="" xmlns:a16="http://schemas.microsoft.com/office/drawing/2014/main" id="{9C9F5A70-492D-0D4E-A822-57D5F5412CF0}"/>
              </a:ext>
            </a:extLst>
          </p:cNvPr>
          <p:cNvSpPr/>
          <p:nvPr/>
        </p:nvSpPr>
        <p:spPr>
          <a:xfrm>
            <a:off x="3296375" y="3310207"/>
            <a:ext cx="142875" cy="237659"/>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366F1"/>
                </a:solidFill>
                <a:effectLst/>
                <a:uLnTx/>
                <a:uFillTx/>
                <a:latin typeface="MiSans" pitchFamily="34" charset="0"/>
                <a:ea typeface="MiSans" pitchFamily="34" charset="-122"/>
                <a:cs typeface="+mn-cs"/>
              </a:rPr>
              <a:t>2</a:t>
            </a:r>
            <a:endParaRPr kumimoji="0" lang="en-US" sz="1200" b="0" i="0" u="none" strike="noStrike" kern="1200" cap="none" spc="0" normalizeH="0" baseline="0" noProof="0" dirty="0">
              <a:ln>
                <a:noFill/>
              </a:ln>
              <a:solidFill>
                <a:srgbClr val="000000"/>
              </a:solidFill>
              <a:effectLst/>
              <a:uLnTx/>
              <a:uFillTx/>
              <a:latin typeface="Calibri"/>
              <a:ea typeface="+mn-ea"/>
              <a:cs typeface="+mn-cs"/>
            </a:endParaRPr>
          </a:p>
        </p:txBody>
      </p:sp>
      <p:sp>
        <p:nvSpPr>
          <p:cNvPr id="54" name="Text 44">
            <a:extLst>
              <a:ext uri="{FF2B5EF4-FFF2-40B4-BE49-F238E27FC236}">
                <a16:creationId xmlns="" xmlns:a16="http://schemas.microsoft.com/office/drawing/2014/main" id="{E2029E31-3466-47C2-8635-B9A1EAE460FB}"/>
              </a:ext>
            </a:extLst>
          </p:cNvPr>
          <p:cNvSpPr/>
          <p:nvPr/>
        </p:nvSpPr>
        <p:spPr>
          <a:xfrm>
            <a:off x="4845718" y="3690636"/>
            <a:ext cx="402557" cy="233888"/>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latin typeface="微软雅黑" panose="020B0503020204020204" pitchFamily="34" charset="-122"/>
                <a:ea typeface="思源宋体" panose="02010600030101010101" charset="-122"/>
                <a:cs typeface="+mn-cs"/>
              </a:rPr>
              <a:t>YTD</a:t>
            </a: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思源宋体" panose="02010600030101010101" charset="-122"/>
                <a:cs typeface="+mn-cs"/>
              </a:rPr>
              <a:t>*</a:t>
            </a:r>
            <a:endParaRPr kumimoji="0" lang="en-US" sz="1050" b="0" i="0" u="none" strike="noStrike" kern="1200" cap="none" spc="0" normalizeH="0" baseline="0" noProof="0" dirty="0">
              <a:ln>
                <a:noFill/>
              </a:ln>
              <a:solidFill>
                <a:srgbClr val="000000"/>
              </a:solidFill>
              <a:effectLst/>
              <a:uLnTx/>
              <a:uFillTx/>
              <a:latin typeface="思源宋体" panose="02010600030101010101" charset="-122"/>
              <a:ea typeface="思源宋体" panose="02010600030101010101" charset="-122"/>
              <a:cs typeface="+mn-cs"/>
            </a:endParaRPr>
          </a:p>
        </p:txBody>
      </p:sp>
      <p:sp>
        <p:nvSpPr>
          <p:cNvPr id="55" name="Text 56">
            <a:extLst>
              <a:ext uri="{FF2B5EF4-FFF2-40B4-BE49-F238E27FC236}">
                <a16:creationId xmlns="" xmlns:a16="http://schemas.microsoft.com/office/drawing/2014/main" id="{69F85305-8932-9F04-7C01-05467ABD0942}"/>
              </a:ext>
            </a:extLst>
          </p:cNvPr>
          <p:cNvSpPr/>
          <p:nvPr/>
        </p:nvSpPr>
        <p:spPr>
          <a:xfrm>
            <a:off x="3221841" y="6330637"/>
            <a:ext cx="2338426" cy="262856"/>
          </a:xfrm>
          <a:prstGeom prst="rect">
            <a:avLst/>
          </a:prstGeom>
          <a:noFill/>
          <a:ln/>
        </p:spPr>
        <p:txBody>
          <a:bodyPr wrap="square" lIns="0" tIns="0" rIns="0" bIns="0" rtlCol="0" anchor="ctr"/>
          <a:lstStyle/>
          <a:p>
            <a:pPr marL="0" marR="0" lvl="0" indent="0" algn="l" defTabSz="685800" rtl="0" eaLnBrk="1" fontAlgn="auto" latinLnBrk="0" hangingPunct="1">
              <a:lnSpc>
                <a:spcPct val="120000"/>
              </a:lnSpc>
              <a:spcBef>
                <a:spcPts val="0"/>
              </a:spcBef>
              <a:spcAft>
                <a:spcPts val="0"/>
              </a:spcAft>
              <a:buClrTx/>
              <a:buSzTx/>
              <a:buFontTx/>
              <a:buNone/>
              <a:tabLst/>
              <a:defRPr/>
            </a:pPr>
            <a:r>
              <a:rPr kumimoji="0" lang="zh-CN" altLang="en-US" sz="825" b="0" i="0" u="none" strike="noStrike" kern="1200" cap="none" spc="0" normalizeH="0" baseline="0" noProof="0" dirty="0">
                <a:ln>
                  <a:noFill/>
                </a:ln>
                <a:solidFill>
                  <a:srgbClr val="000000"/>
                </a:solidFill>
                <a:effectLst/>
                <a:uLnTx/>
                <a:uFillTx/>
                <a:latin typeface="思源宋体" panose="02010600030101010101" charset="-122"/>
                <a:ea typeface="思源宋体" panose="02010600030101010101" charset="-122"/>
                <a:cs typeface="MiSans" pitchFamily="34" charset="-120"/>
              </a:rPr>
              <a:t>数据来源：同花顺，截至</a:t>
            </a:r>
            <a:r>
              <a:rPr kumimoji="0" lang="en-US" altLang="zh-CN" sz="825" b="0" i="0" u="none" strike="noStrike" kern="1200" cap="none" spc="0" normalizeH="0" baseline="0" noProof="0" dirty="0">
                <a:ln>
                  <a:noFill/>
                </a:ln>
                <a:solidFill>
                  <a:srgbClr val="000000"/>
                </a:solidFill>
                <a:effectLst/>
                <a:uLnTx/>
                <a:uFillTx/>
                <a:latin typeface="思源宋体" panose="02010600030101010101" charset="-122"/>
                <a:ea typeface="思源宋体" panose="02010600030101010101" charset="-122"/>
                <a:cs typeface="MiSans" pitchFamily="34" charset="-120"/>
              </a:rPr>
              <a:t>2026</a:t>
            </a:r>
            <a:r>
              <a:rPr kumimoji="0" lang="zh-CN" altLang="en-US" sz="825" b="0" i="0" u="none" strike="noStrike" kern="1200" cap="none" spc="0" normalizeH="0" baseline="0" noProof="0" dirty="0">
                <a:ln>
                  <a:noFill/>
                </a:ln>
                <a:solidFill>
                  <a:srgbClr val="000000"/>
                </a:solidFill>
                <a:effectLst/>
                <a:uLnTx/>
                <a:uFillTx/>
                <a:latin typeface="思源宋体" panose="02010600030101010101" charset="-122"/>
                <a:ea typeface="思源宋体" panose="02010600030101010101" charset="-122"/>
                <a:cs typeface="MiSans" pitchFamily="34" charset="-120"/>
              </a:rPr>
              <a:t>年</a:t>
            </a:r>
            <a:r>
              <a:rPr kumimoji="0" lang="en-US" altLang="zh-CN" sz="825" b="0" i="0" u="none" strike="noStrike" kern="1200" cap="none" spc="0" normalizeH="0" baseline="0" noProof="0" dirty="0">
                <a:ln>
                  <a:noFill/>
                </a:ln>
                <a:solidFill>
                  <a:srgbClr val="000000"/>
                </a:solidFill>
                <a:effectLst/>
                <a:uLnTx/>
                <a:uFillTx/>
                <a:latin typeface="思源宋体" panose="02010600030101010101" charset="-122"/>
                <a:ea typeface="思源宋体" panose="02010600030101010101" charset="-122"/>
                <a:cs typeface="MiSans" pitchFamily="34" charset="-120"/>
              </a:rPr>
              <a:t>6</a:t>
            </a:r>
            <a:r>
              <a:rPr kumimoji="0" lang="zh-CN" altLang="en-US" sz="825" b="0" i="0" u="none" strike="noStrike" kern="1200" cap="none" spc="0" normalizeH="0" baseline="0" noProof="0" dirty="0">
                <a:ln>
                  <a:noFill/>
                </a:ln>
                <a:solidFill>
                  <a:srgbClr val="000000"/>
                </a:solidFill>
                <a:effectLst/>
                <a:uLnTx/>
                <a:uFillTx/>
                <a:latin typeface="思源宋体" panose="02010600030101010101" charset="-122"/>
                <a:ea typeface="思源宋体" panose="02010600030101010101" charset="-122"/>
                <a:cs typeface="MiSans" pitchFamily="34" charset="-120"/>
              </a:rPr>
              <a:t>月</a:t>
            </a:r>
            <a:r>
              <a:rPr kumimoji="0" lang="en-US" altLang="zh-CN" sz="825" b="0" i="0" u="none" strike="noStrike" kern="1200" cap="none" spc="0" normalizeH="0" baseline="0" noProof="0" dirty="0">
                <a:ln>
                  <a:noFill/>
                </a:ln>
                <a:solidFill>
                  <a:srgbClr val="000000"/>
                </a:solidFill>
                <a:effectLst/>
                <a:uLnTx/>
                <a:uFillTx/>
                <a:latin typeface="思源宋体" panose="02010600030101010101" charset="-122"/>
                <a:ea typeface="思源宋体" panose="02010600030101010101" charset="-122"/>
                <a:cs typeface="MiSans" pitchFamily="34" charset="-120"/>
              </a:rPr>
              <a:t>9</a:t>
            </a:r>
            <a:r>
              <a:rPr kumimoji="0" lang="zh-CN" altLang="en-US" sz="825" b="0" i="0" u="none" strike="noStrike" kern="1200" cap="none" spc="0" normalizeH="0" baseline="0" noProof="0" dirty="0">
                <a:ln>
                  <a:noFill/>
                </a:ln>
                <a:solidFill>
                  <a:srgbClr val="000000"/>
                </a:solidFill>
                <a:effectLst/>
                <a:uLnTx/>
                <a:uFillTx/>
                <a:latin typeface="思源宋体" panose="02010600030101010101" charset="-122"/>
                <a:ea typeface="思源宋体" panose="02010600030101010101" charset="-122"/>
                <a:cs typeface="MiSans" pitchFamily="34" charset="-120"/>
              </a:rPr>
              <a:t>日</a:t>
            </a:r>
            <a:endParaRPr kumimoji="0" lang="en-US" sz="750" b="0" i="0" u="none" strike="noStrike" kern="1200" cap="none" spc="0" normalizeH="0" baseline="0" noProof="0" dirty="0">
              <a:ln>
                <a:noFill/>
              </a:ln>
              <a:solidFill>
                <a:srgbClr val="000000"/>
              </a:solidFill>
              <a:effectLst/>
              <a:uLnTx/>
              <a:uFillTx/>
              <a:latin typeface="思源宋体" panose="02010600030101010101" charset="-122"/>
              <a:ea typeface="思源宋体" panose="02010600030101010101" charset="-122"/>
              <a:cs typeface="+mn-cs"/>
            </a:endParaRPr>
          </a:p>
        </p:txBody>
      </p:sp>
      <p:sp>
        <p:nvSpPr>
          <p:cNvPr id="56" name="椭圆 55" descr="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
            <a:extLst>
              <a:ext uri="{FF2B5EF4-FFF2-40B4-BE49-F238E27FC236}">
                <a16:creationId xmlns="" xmlns:a16="http://schemas.microsoft.com/office/drawing/2014/main" id="{4E5F3A4F-62AF-344F-BFAE-0818D839E1E8}"/>
              </a:ext>
            </a:extLst>
          </p:cNvPr>
          <p:cNvSpPr/>
          <p:nvPr/>
        </p:nvSpPr>
        <p:spPr>
          <a:xfrm rot="17100000">
            <a:off x="665665" y="160279"/>
            <a:ext cx="1425269" cy="1425269"/>
          </a:xfrm>
          <a:prstGeom prst="ellipse">
            <a:avLst/>
          </a:prstGeom>
          <a:gradFill flip="none" rotWithShape="1">
            <a:gsLst>
              <a:gs pos="34000">
                <a:schemeClr val="accent1">
                  <a:lumMod val="45000"/>
                  <a:lumOff val="55000"/>
                  <a:alpha val="0"/>
                </a:schemeClr>
              </a:gs>
              <a:gs pos="100000">
                <a:schemeClr val="accent1">
                  <a:alpha val="37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8"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latin typeface="Calibri"/>
              <a:ea typeface="HarmonyOS Sans SC Light"/>
              <a:cs typeface="+mn-cs"/>
            </a:endParaRPr>
          </a:p>
        </p:txBody>
      </p:sp>
    </p:spTree>
    <p:extLst>
      <p:ext uri="{BB962C8B-B14F-4D97-AF65-F5344CB8AC3E}">
        <p14:creationId xmlns:p14="http://schemas.microsoft.com/office/powerpoint/2010/main" val="2186084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8576738-C835-9395-7604-9270F8885C89}"/>
            </a:ext>
          </a:extLst>
        </p:cNvPr>
        <p:cNvGrpSpPr/>
        <p:nvPr/>
      </p:nvGrpSpPr>
      <p:grpSpPr>
        <a:xfrm>
          <a:off x="0" y="0"/>
          <a:ext cx="0" cy="0"/>
          <a:chOff x="0" y="0"/>
          <a:chExt cx="0" cy="0"/>
        </a:xfrm>
      </p:grpSpPr>
      <p:sp>
        <p:nvSpPr>
          <p:cNvPr id="9" name="椭圆 8" descr="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
            <a:extLst>
              <a:ext uri="{FF2B5EF4-FFF2-40B4-BE49-F238E27FC236}">
                <a16:creationId xmlns="" xmlns:a16="http://schemas.microsoft.com/office/drawing/2014/main" id="{2DE1685C-11AB-6F8D-4475-F7FCC46C1549}"/>
              </a:ext>
            </a:extLst>
          </p:cNvPr>
          <p:cNvSpPr/>
          <p:nvPr/>
        </p:nvSpPr>
        <p:spPr>
          <a:xfrm rot="17100000">
            <a:off x="665665" y="160279"/>
            <a:ext cx="1425269" cy="1425269"/>
          </a:xfrm>
          <a:prstGeom prst="ellipse">
            <a:avLst/>
          </a:prstGeom>
          <a:gradFill flip="none" rotWithShape="1">
            <a:gsLst>
              <a:gs pos="34000">
                <a:schemeClr val="accent1">
                  <a:lumMod val="45000"/>
                  <a:lumOff val="55000"/>
                  <a:alpha val="0"/>
                </a:schemeClr>
              </a:gs>
              <a:gs pos="100000">
                <a:schemeClr val="accent1">
                  <a:alpha val="37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8"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ea typeface="HarmonyOS Sans SC Light"/>
              <a:cs typeface="+mn-cs"/>
            </a:endParaRPr>
          </a:p>
        </p:txBody>
      </p:sp>
      <p:cxnSp>
        <p:nvCxnSpPr>
          <p:cNvPr id="3" name="直接连接符 2">
            <a:extLst>
              <a:ext uri="{FF2B5EF4-FFF2-40B4-BE49-F238E27FC236}">
                <a16:creationId xmlns="" xmlns:a16="http://schemas.microsoft.com/office/drawing/2014/main" id="{DEB14078-3B4D-4AED-50C4-DDEB8CDE74DA}"/>
              </a:ext>
            </a:extLst>
          </p:cNvPr>
          <p:cNvCxnSpPr/>
          <p:nvPr/>
        </p:nvCxnSpPr>
        <p:spPr>
          <a:xfrm>
            <a:off x="582917" y="1141204"/>
            <a:ext cx="1120678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文本占位符 10">
            <a:extLst>
              <a:ext uri="{FF2B5EF4-FFF2-40B4-BE49-F238E27FC236}">
                <a16:creationId xmlns="" xmlns:a16="http://schemas.microsoft.com/office/drawing/2014/main" id="{AEFF2AB2-8033-AB42-FFA8-50D9318AB9A9}"/>
              </a:ext>
            </a:extLst>
          </p:cNvPr>
          <p:cNvSpPr txBox="1"/>
          <p:nvPr/>
        </p:nvSpPr>
        <p:spPr>
          <a:xfrm>
            <a:off x="899137" y="391454"/>
            <a:ext cx="10003325" cy="508000"/>
          </a:xfrm>
          <a:prstGeom prst="rect">
            <a:avLst/>
          </a:prstGeom>
        </p:spPr>
        <p:txBody>
          <a:bodyPr lIns="0" tIns="0" rIns="0" bIns="0" anchor="ctr" anchorCtr="0"/>
          <a:lstStyle>
            <a:lvl1pPr marL="0" indent="0" algn="l" defTabSz="457200" rtl="0" eaLnBrk="1" latinLnBrk="0" hangingPunct="1">
              <a:lnSpc>
                <a:spcPct val="100000"/>
              </a:lnSpc>
              <a:spcBef>
                <a:spcPts val="2000"/>
              </a:spcBef>
              <a:buFont typeface="Arial" panose="020B0604020202020204" pitchFamily="34" charset="0"/>
              <a:buNone/>
              <a:defRPr lang="zh-CN" altLang="en-US" sz="6000" b="1" kern="1200" spc="1000" dirty="0">
                <a:solidFill>
                  <a:srgbClr val="3B3838"/>
                </a:solidFill>
                <a:latin typeface="+mj-ea"/>
                <a:ea typeface="+mj-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a:solidFill>
                  <a:schemeClr val="tx1"/>
                </a:solidFill>
                <a:latin typeface="+mn-lt"/>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914378" rtl="0" eaLnBrk="1" fontAlgn="auto" latinLnBrk="0" hangingPunct="1">
              <a:lnSpc>
                <a:spcPts val="2143"/>
              </a:lnSpc>
              <a:spcBef>
                <a:spcPts val="1029"/>
              </a:spcBef>
              <a:spcAft>
                <a:spcPts val="1029"/>
              </a:spcAft>
              <a:buClrTx/>
              <a:buSzTx/>
              <a:buFont typeface="Arial" panose="020B0604020202020204" pitchFamily="34" charset="0"/>
              <a:buNone/>
              <a:tabLst/>
              <a:defRPr/>
            </a:pP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基于基金池的业绩模拟：进取型（产业趋势样板间，风险级别 </a:t>
            </a:r>
            <a:r>
              <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R4</a:t>
            </a: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a:t>
            </a:r>
            <a:endPar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endParaRPr>
          </a:p>
        </p:txBody>
      </p:sp>
      <p:sp>
        <p:nvSpPr>
          <p:cNvPr id="8" name="Shape 0">
            <a:extLst>
              <a:ext uri="{FF2B5EF4-FFF2-40B4-BE49-F238E27FC236}">
                <a16:creationId xmlns="" xmlns:a16="http://schemas.microsoft.com/office/drawing/2014/main" id="{AA6AE44C-7697-317B-8886-2E0BCEA08C43}"/>
              </a:ext>
            </a:extLst>
          </p:cNvPr>
          <p:cNvSpPr/>
          <p:nvPr/>
        </p:nvSpPr>
        <p:spPr>
          <a:xfrm>
            <a:off x="381000" y="38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ea typeface="HarmonyOS Sans SC Light"/>
              <a:cs typeface="+mn-cs"/>
            </a:endParaRPr>
          </a:p>
        </p:txBody>
      </p:sp>
      <p:sp>
        <p:nvSpPr>
          <p:cNvPr id="10" name="Text 1">
            <a:extLst>
              <a:ext uri="{FF2B5EF4-FFF2-40B4-BE49-F238E27FC236}">
                <a16:creationId xmlns="" xmlns:a16="http://schemas.microsoft.com/office/drawing/2014/main" id="{28FD945A-66DC-CF08-238C-43179AB8154F}"/>
              </a:ext>
            </a:extLst>
          </p:cNvPr>
          <p:cNvSpPr/>
          <p:nvPr/>
        </p:nvSpPr>
        <p:spPr>
          <a:xfrm>
            <a:off x="451842" y="438150"/>
            <a:ext cx="323850" cy="266700"/>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9FAFB"/>
                </a:solidFill>
                <a:effectLst/>
                <a:uLnTx/>
                <a:uFillTx/>
                <a:latin typeface="思源宋体" pitchFamily="34" charset="0"/>
                <a:ea typeface="思源宋体" pitchFamily="34" charset="-122"/>
                <a:cs typeface="思源宋体" pitchFamily="34" charset="-120"/>
              </a:rPr>
              <a:t>3.1</a:t>
            </a:r>
            <a:endParaRPr kumimoji="0" lang="en-US" sz="1600" b="0" i="0" u="none" strike="noStrike" kern="1200" cap="none" spc="0" normalizeH="0" baseline="0" noProof="0" dirty="0">
              <a:ln>
                <a:noFill/>
              </a:ln>
              <a:solidFill>
                <a:prstClr val="black"/>
              </a:solidFill>
              <a:effectLst/>
              <a:uLnTx/>
              <a:uFillTx/>
              <a:ea typeface="HarmonyOS Sans SC Light"/>
              <a:cs typeface="+mn-cs"/>
            </a:endParaRPr>
          </a:p>
        </p:txBody>
      </p:sp>
      <p:sp>
        <p:nvSpPr>
          <p:cNvPr id="101" name="矩形 4">
            <a:extLst>
              <a:ext uri="{FF2B5EF4-FFF2-40B4-BE49-F238E27FC236}">
                <a16:creationId xmlns="" xmlns:a16="http://schemas.microsoft.com/office/drawing/2014/main" id="{E94EA000-6E0F-E4EA-3257-EE197E8C9163}"/>
              </a:ext>
            </a:extLst>
          </p:cNvPr>
          <p:cNvSpPr/>
          <p:nvPr/>
        </p:nvSpPr>
        <p:spPr>
          <a:xfrm>
            <a:off x="150794" y="6402450"/>
            <a:ext cx="11272674" cy="246862"/>
          </a:xfrm>
          <a:prstGeom prst="rect">
            <a:avLst/>
          </a:prstGeom>
        </p:spPr>
        <p:txBody>
          <a:bodyPr wrap="square">
            <a:spAutoFit/>
          </a:bodyPr>
          <a:lstStyle/>
          <a:p>
            <a:pPr marL="0" marR="0" lvl="0" indent="0" algn="l" defTabSz="609608" rtl="0" eaLnBrk="1" fontAlgn="auto" latinLnBrk="0" hangingPunct="1">
              <a:lnSpc>
                <a:spcPct val="100000"/>
              </a:lnSpc>
              <a:spcBef>
                <a:spcPts val="0"/>
              </a:spcBef>
              <a:spcAft>
                <a:spcPts val="0"/>
              </a:spcAft>
              <a:buClrTx/>
              <a:buSzTx/>
              <a:buFontTx/>
              <a:buNone/>
              <a:tabLst/>
              <a:defRPr/>
            </a:pP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注：数据来源为嘉实财富。策略历史表现不构成对未来业绩的承诺。统计区间为2019年12月31日-2026年5月29日。 2026/05/29的净值为4.5486。计算夏普比例时，无风险收益按0%计</a:t>
            </a:r>
            <a:endParaRPr kumimoji="0" lang="en-US" altLang="zh-CN" sz="1004"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02" name="表格 5">
            <a:extLst>
              <a:ext uri="{FF2B5EF4-FFF2-40B4-BE49-F238E27FC236}">
                <a16:creationId xmlns="" xmlns:a16="http://schemas.microsoft.com/office/drawing/2014/main" id="{860D3AD3-B90C-33FF-71B3-D0C2625534A0}"/>
              </a:ext>
            </a:extLst>
          </p:cNvPr>
          <p:cNvGraphicFramePr>
            <a:graphicFrameLocks noGrp="1"/>
          </p:cNvGraphicFramePr>
          <p:nvPr>
            <p:extLst>
              <p:ext uri="{D42A27DB-BD31-4B8C-83A1-F6EECF244321}">
                <p14:modId xmlns:p14="http://schemas.microsoft.com/office/powerpoint/2010/main" val="3055411215"/>
              </p:ext>
            </p:extLst>
          </p:nvPr>
        </p:nvGraphicFramePr>
        <p:xfrm>
          <a:off x="613767" y="1485527"/>
          <a:ext cx="6627252" cy="1120251"/>
        </p:xfrm>
        <a:graphic>
          <a:graphicData uri="http://schemas.openxmlformats.org/drawingml/2006/table">
            <a:tbl>
              <a:tblPr firstRow="1" firstCol="1" bandRow="1">
                <a:tableStyleId>{5C22544A-7EE6-4342-B048-85BDC9FD1C3A}</a:tableStyleId>
              </a:tblPr>
              <a:tblGrid>
                <a:gridCol w="2137124">
                  <a:extLst>
                    <a:ext uri="{9D8B030D-6E8A-4147-A177-3AD203B41FA5}">
                      <a16:colId xmlns="" xmlns:a16="http://schemas.microsoft.com/office/drawing/2014/main" val="3847716533"/>
                    </a:ext>
                  </a:extLst>
                </a:gridCol>
                <a:gridCol w="2460943">
                  <a:extLst>
                    <a:ext uri="{9D8B030D-6E8A-4147-A177-3AD203B41FA5}">
                      <a16:colId xmlns="" xmlns:a16="http://schemas.microsoft.com/office/drawing/2014/main" val="1739439905"/>
                    </a:ext>
                  </a:extLst>
                </a:gridCol>
                <a:gridCol w="2029185">
                  <a:extLst>
                    <a:ext uri="{9D8B030D-6E8A-4147-A177-3AD203B41FA5}">
                      <a16:colId xmlns="" xmlns:a16="http://schemas.microsoft.com/office/drawing/2014/main" val="3802123172"/>
                    </a:ext>
                  </a:extLst>
                </a:gridCol>
              </a:tblGrid>
              <a:tr h="373417">
                <a:tc>
                  <a:txBody>
                    <a:bodyPr/>
                    <a:lstStyle/>
                    <a:p>
                      <a:pPr algn="ctr">
                        <a:spcAft>
                          <a:spcPts val="400"/>
                        </a:spcAft>
                        <a:buNone/>
                      </a:pPr>
                      <a:r>
                        <a:rPr lang="en-US" sz="1400" kern="100" dirty="0">
                          <a:solidFill>
                            <a:schemeClr val="tx2"/>
                          </a:solidFill>
                          <a:effectLst/>
                          <a:latin typeface="微软雅黑" panose="020B0503020204020204" pitchFamily="34" charset="-122"/>
                          <a:ea typeface="微软雅黑" panose="020B0503020204020204" pitchFamily="34" charset="-122"/>
                        </a:rPr>
                        <a:t> </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zh-CN" altLang="en-US" sz="1400" b="1" kern="100" dirty="0">
                          <a:solidFill>
                            <a:schemeClr val="tx2"/>
                          </a:solidFill>
                          <a:effectLst/>
                          <a:latin typeface="微软雅黑" panose="020B0503020204020204" pitchFamily="34" charset="-122"/>
                          <a:ea typeface="微软雅黑" panose="020B0503020204020204" pitchFamily="34" charset="-122"/>
                          <a:cs typeface="+mn-cs"/>
                        </a:rPr>
                        <a:t>增值</a:t>
                      </a:r>
                      <a:r>
                        <a:rPr lang="en-US" altLang="zh-CN" sz="1400" b="1" kern="100" dirty="0">
                          <a:solidFill>
                            <a:schemeClr val="tx2"/>
                          </a:solidFill>
                          <a:effectLst/>
                          <a:latin typeface="微软雅黑" panose="020B0503020204020204" pitchFamily="34" charset="-122"/>
                          <a:ea typeface="微软雅黑" panose="020B0503020204020204" pitchFamily="34" charset="-122"/>
                          <a:cs typeface="+mn-cs"/>
                        </a:rPr>
                        <a:t>--</a:t>
                      </a:r>
                      <a:r>
                        <a:rPr lang="zh-CN" altLang="en-US" sz="1400" b="1" kern="100" dirty="0">
                          <a:solidFill>
                            <a:schemeClr val="tx2"/>
                          </a:solidFill>
                          <a:effectLst/>
                          <a:latin typeface="微软雅黑" panose="020B0503020204020204" pitchFamily="34" charset="-122"/>
                          <a:ea typeface="微软雅黑" panose="020B0503020204020204" pitchFamily="34" charset="-122"/>
                          <a:cs typeface="+mn-cs"/>
                        </a:rPr>
                        <a:t>产业趋势</a:t>
                      </a:r>
                    </a:p>
                  </a:txBody>
                  <a:tcPr marT="0" marB="0" anchor="ctr"/>
                </a:tc>
                <a:tc>
                  <a:txBody>
                    <a:bodyPr/>
                    <a:lstStyle/>
                    <a:p>
                      <a:pPr algn="ctr">
                        <a:spcAft>
                          <a:spcPts val="400"/>
                        </a:spcAft>
                        <a:buNone/>
                      </a:pPr>
                      <a:r>
                        <a:rPr lang="zh-CN" altLang="en-US" sz="1400" b="1" kern="100" dirty="0">
                          <a:solidFill>
                            <a:schemeClr val="tx2"/>
                          </a:solidFill>
                          <a:effectLst/>
                          <a:latin typeface="微软雅黑" panose="020B0503020204020204" pitchFamily="34" charset="-122"/>
                          <a:ea typeface="微软雅黑" panose="020B0503020204020204" pitchFamily="34" charset="-122"/>
                          <a:cs typeface="+mn-cs"/>
                        </a:rPr>
                        <a:t>增值</a:t>
                      </a:r>
                      <a:r>
                        <a:rPr lang="en-US" altLang="zh-CN" sz="1400" b="1" kern="100" dirty="0">
                          <a:solidFill>
                            <a:schemeClr val="tx2"/>
                          </a:solidFill>
                          <a:effectLst/>
                          <a:latin typeface="微软雅黑" panose="020B0503020204020204" pitchFamily="34" charset="-122"/>
                          <a:ea typeface="微软雅黑" panose="020B0503020204020204" pitchFamily="34" charset="-122"/>
                          <a:cs typeface="+mn-cs"/>
                        </a:rPr>
                        <a:t>--</a:t>
                      </a:r>
                      <a:r>
                        <a:rPr lang="zh-CN" altLang="en-US" sz="1400" b="1" kern="100" dirty="0">
                          <a:solidFill>
                            <a:schemeClr val="tx2"/>
                          </a:solidFill>
                          <a:effectLst/>
                          <a:latin typeface="微软雅黑" panose="020B0503020204020204" pitchFamily="34" charset="-122"/>
                          <a:ea typeface="微软雅黑" panose="020B0503020204020204" pitchFamily="34" charset="-122"/>
                          <a:cs typeface="+mn-cs"/>
                        </a:rPr>
                        <a:t>指增</a:t>
                      </a:r>
                    </a:p>
                  </a:txBody>
                  <a:tcPr marT="0" marB="0" anchor="ctr"/>
                </a:tc>
                <a:extLst>
                  <a:ext uri="{0D108BD9-81ED-4DB2-BD59-A6C34878D82A}">
                    <a16:rowId xmlns="" xmlns:a16="http://schemas.microsoft.com/office/drawing/2014/main" val="3404244492"/>
                  </a:ext>
                </a:extLst>
              </a:tr>
              <a:tr h="373417">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rPr>
                        <a:t>目标</a:t>
                      </a:r>
                      <a:r>
                        <a:rPr lang="zh-CN" sz="1400" kern="100" dirty="0">
                          <a:solidFill>
                            <a:schemeClr val="tx2"/>
                          </a:solidFill>
                          <a:effectLst/>
                          <a:latin typeface="微软雅黑" panose="020B0503020204020204" pitchFamily="34" charset="-122"/>
                          <a:ea typeface="微软雅黑" panose="020B0503020204020204" pitchFamily="34" charset="-122"/>
                        </a:rPr>
                        <a:t>权重</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kern="100" dirty="0">
                          <a:solidFill>
                            <a:schemeClr val="tx2"/>
                          </a:solidFill>
                          <a:effectLst/>
                          <a:latin typeface="微软雅黑" panose="020B0503020204020204" pitchFamily="34" charset="-122"/>
                          <a:ea typeface="微软雅黑" panose="020B0503020204020204" pitchFamily="34" charset="-122"/>
                        </a:rPr>
                        <a:t>100%</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kern="100" dirty="0">
                          <a:solidFill>
                            <a:schemeClr val="tx2"/>
                          </a:solidFill>
                          <a:effectLst/>
                          <a:latin typeface="微软雅黑" panose="020B0503020204020204" pitchFamily="34" charset="-122"/>
                          <a:ea typeface="微软雅黑" panose="020B0503020204020204" pitchFamily="34" charset="-122"/>
                        </a:rPr>
                        <a:t>0%</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1343833170"/>
                  </a:ext>
                </a:extLst>
              </a:tr>
              <a:tr h="373417">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动平衡规则</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gridSpan="2">
                  <a:txBody>
                    <a:bodyPr/>
                    <a:lstStyle/>
                    <a:p>
                      <a:pPr algn="just">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定期动平衡：频率 </a:t>
                      </a:r>
                      <a:r>
                        <a:rPr lang="en-US" alt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年；定幅动平衡：无</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hMerge="1">
                  <a:txBody>
                    <a:bodyPr/>
                    <a:lstStyle/>
                    <a:p>
                      <a:pPr algn="just">
                        <a:spcAft>
                          <a:spcPts val="400"/>
                        </a:spcAft>
                        <a:buNone/>
                      </a:pPr>
                      <a:endParaRPr lang="zh-CN" sz="1900" kern="100" dirty="0">
                        <a:solidFill>
                          <a:schemeClr val="tx2"/>
                        </a:solidFill>
                        <a:effectLst/>
                        <a:latin typeface="等线" panose="02010600030101010101" pitchFamily="2" charset="-122"/>
                        <a:ea typeface="等线" panose="02010600030101010101" pitchFamily="2" charset="-122"/>
                        <a:cs typeface="Times New Roman" panose="02020603050405020304" pitchFamily="18" charset="0"/>
                      </a:endParaRPr>
                    </a:p>
                  </a:txBody>
                  <a:tcPr marL="121920" marR="121920" marT="0" marB="0" anchor="ctr"/>
                </a:tc>
                <a:extLst>
                  <a:ext uri="{0D108BD9-81ED-4DB2-BD59-A6C34878D82A}">
                    <a16:rowId xmlns="" xmlns:a16="http://schemas.microsoft.com/office/drawing/2014/main" val="181395761"/>
                  </a:ext>
                </a:extLst>
              </a:tr>
            </a:tbl>
          </a:graphicData>
        </a:graphic>
      </p:graphicFrame>
      <p:graphicFrame>
        <p:nvGraphicFramePr>
          <p:cNvPr id="103" name="表格 6">
            <a:extLst>
              <a:ext uri="{FF2B5EF4-FFF2-40B4-BE49-F238E27FC236}">
                <a16:creationId xmlns="" xmlns:a16="http://schemas.microsoft.com/office/drawing/2014/main" id="{B183BBFA-28FB-056B-0381-24E211303378}"/>
              </a:ext>
            </a:extLst>
          </p:cNvPr>
          <p:cNvGraphicFramePr>
            <a:graphicFrameLocks noGrp="1"/>
          </p:cNvGraphicFramePr>
          <p:nvPr/>
        </p:nvGraphicFramePr>
        <p:xfrm>
          <a:off x="7896995" y="1278806"/>
          <a:ext cx="3789504" cy="2080422"/>
        </p:xfrm>
        <a:graphic>
          <a:graphicData uri="http://schemas.openxmlformats.org/drawingml/2006/table">
            <a:tbl>
              <a:tblPr firstRow="1" firstCol="1" bandRow="1">
                <a:tableStyleId>{5C22544A-7EE6-4342-B048-85BDC9FD1C3A}</a:tableStyleId>
              </a:tblPr>
              <a:tblGrid>
                <a:gridCol w="2076787">
                  <a:extLst>
                    <a:ext uri="{9D8B030D-6E8A-4147-A177-3AD203B41FA5}">
                      <a16:colId xmlns="" xmlns:a16="http://schemas.microsoft.com/office/drawing/2014/main" val="1485671215"/>
                    </a:ext>
                  </a:extLst>
                </a:gridCol>
                <a:gridCol w="1712717">
                  <a:extLst>
                    <a:ext uri="{9D8B030D-6E8A-4147-A177-3AD203B41FA5}">
                      <a16:colId xmlns="" xmlns:a16="http://schemas.microsoft.com/office/drawing/2014/main" val="3457273538"/>
                    </a:ext>
                  </a:extLst>
                </a:gridCol>
              </a:tblGrid>
              <a:tr h="407778">
                <a:tc>
                  <a:txBody>
                    <a:bodyPr/>
                    <a:lstStyle/>
                    <a:p>
                      <a:pPr algn="ctr">
                        <a:spcAft>
                          <a:spcPts val="400"/>
                        </a:spcAft>
                        <a:buNone/>
                      </a:pPr>
                      <a:r>
                        <a:rPr lang="zh-CN" sz="1400" kern="100" dirty="0">
                          <a:solidFill>
                            <a:schemeClr val="tx2"/>
                          </a:solidFill>
                          <a:effectLst/>
                          <a:latin typeface="微软雅黑" panose="020B0503020204020204" pitchFamily="34" charset="-122"/>
                          <a:ea typeface="微软雅黑" panose="020B0503020204020204" pitchFamily="34" charset="-122"/>
                        </a:rPr>
                        <a:t>年化收益</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kern="100" dirty="0">
                          <a:solidFill>
                            <a:schemeClr val="tx2"/>
                          </a:solidFill>
                          <a:effectLst/>
                          <a:latin typeface="微软雅黑" panose="020B0503020204020204" pitchFamily="34" charset="-122"/>
                          <a:ea typeface="微软雅黑" panose="020B0503020204020204" pitchFamily="34" charset="-122"/>
                        </a:rPr>
                        <a:t>26.66%</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1432148217"/>
                  </a:ext>
                </a:extLst>
              </a:tr>
              <a:tr h="418161">
                <a:tc>
                  <a:txBody>
                    <a:bodyPr/>
                    <a:lstStyle/>
                    <a:p>
                      <a:pPr algn="ctr">
                        <a:spcAft>
                          <a:spcPts val="400"/>
                        </a:spcAft>
                        <a:buNone/>
                      </a:pPr>
                      <a:r>
                        <a:rPr lang="zh-CN" sz="1400" kern="100" dirty="0">
                          <a:solidFill>
                            <a:schemeClr val="tx2"/>
                          </a:solidFill>
                          <a:effectLst/>
                          <a:latin typeface="微软雅黑" panose="020B0503020204020204" pitchFamily="34" charset="-122"/>
                          <a:ea typeface="微软雅黑" panose="020B0503020204020204" pitchFamily="34" charset="-122"/>
                        </a:rPr>
                        <a:t>年化波动率</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b="1" kern="100" dirty="0">
                          <a:solidFill>
                            <a:schemeClr val="tx2"/>
                          </a:solidFill>
                          <a:effectLst/>
                          <a:latin typeface="微软雅黑" panose="020B0503020204020204" pitchFamily="34" charset="-122"/>
                          <a:ea typeface="微软雅黑" panose="020B0503020204020204" pitchFamily="34" charset="-122"/>
                        </a:rPr>
                        <a:t>29.76%</a:t>
                      </a:r>
                      <a:endParaRPr 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660338269"/>
                  </a:ext>
                </a:extLst>
              </a:tr>
              <a:tr h="418161">
                <a:tc>
                  <a:txBody>
                    <a:bodyPr/>
                    <a:lstStyle/>
                    <a:p>
                      <a:pPr algn="ctr">
                        <a:spcAft>
                          <a:spcPts val="400"/>
                        </a:spcAft>
                        <a:buNone/>
                      </a:pPr>
                      <a:r>
                        <a:rPr lang="zh-CN" sz="1400" kern="100" dirty="0">
                          <a:solidFill>
                            <a:schemeClr val="tx2"/>
                          </a:solidFill>
                          <a:effectLst/>
                          <a:latin typeface="微软雅黑" panose="020B0503020204020204" pitchFamily="34" charset="-122"/>
                          <a:ea typeface="微软雅黑" panose="020B0503020204020204" pitchFamily="34" charset="-122"/>
                        </a:rPr>
                        <a:t>区间最大回撤</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sz="1400" b="1" kern="100" dirty="0">
                          <a:solidFill>
                            <a:schemeClr val="tx2"/>
                          </a:solidFill>
                          <a:effectLst/>
                          <a:latin typeface="微软雅黑" panose="020B0503020204020204" pitchFamily="34" charset="-122"/>
                          <a:ea typeface="微软雅黑" panose="020B0503020204020204" pitchFamily="34" charset="-122"/>
                        </a:rPr>
                        <a:t>45.04%</a:t>
                      </a:r>
                      <a:endParaRPr 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484190667"/>
                  </a:ext>
                </a:extLst>
              </a:tr>
              <a:tr h="418161">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夏普比率*</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0.90</a:t>
                      </a:r>
                      <a:endParaRPr 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2903471811"/>
                  </a:ext>
                </a:extLst>
              </a:tr>
              <a:tr h="418161">
                <a:tc>
                  <a:txBody>
                    <a:bodyPr/>
                    <a:lstStyle/>
                    <a:p>
                      <a:pPr algn="ctr">
                        <a:spcAft>
                          <a:spcPts val="400"/>
                        </a:spcAft>
                        <a:buNone/>
                      </a:pPr>
                      <a:r>
                        <a:rPr lang="zh-CN" altLang="en-US"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动平衡次数</a:t>
                      </a:r>
                      <a:endParaRPr lang="zh-CN" sz="14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tc>
                  <a:txBody>
                    <a:bodyPr/>
                    <a:lstStyle/>
                    <a:p>
                      <a:pPr algn="ctr">
                        <a:spcAft>
                          <a:spcPts val="400"/>
                        </a:spcAft>
                        <a:buNone/>
                      </a:pPr>
                      <a:r>
                        <a:rPr lang="en-US" alt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rPr>
                        <a:t>6次</a:t>
                      </a:r>
                      <a:endParaRPr lang="zh-CN" sz="1400" b="1"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0" marB="0" anchor="ctr"/>
                </a:tc>
                <a:extLst>
                  <a:ext uri="{0D108BD9-81ED-4DB2-BD59-A6C34878D82A}">
                    <a16:rowId xmlns="" xmlns:a16="http://schemas.microsoft.com/office/drawing/2014/main" val="2904351624"/>
                  </a:ext>
                </a:extLst>
              </a:tr>
            </a:tbl>
          </a:graphicData>
        </a:graphic>
      </p:graphicFrame>
      <p:graphicFrame>
        <p:nvGraphicFramePr>
          <p:cNvPr id="104" name="图表 12">
            <a:extLst>
              <a:ext uri="{FF2B5EF4-FFF2-40B4-BE49-F238E27FC236}">
                <a16:creationId xmlns="" xmlns:a16="http://schemas.microsoft.com/office/drawing/2014/main" id="{7493066A-5631-D746-58B8-B55AA59965A9}"/>
              </a:ext>
            </a:extLst>
          </p:cNvPr>
          <p:cNvGraphicFramePr>
            <a:graphicFrameLocks/>
          </p:cNvGraphicFramePr>
          <p:nvPr>
            <p:extLst>
              <p:ext uri="{D42A27DB-BD31-4B8C-83A1-F6EECF244321}">
                <p14:modId xmlns:p14="http://schemas.microsoft.com/office/powerpoint/2010/main" val="1936539752"/>
              </p:ext>
            </p:extLst>
          </p:nvPr>
        </p:nvGraphicFramePr>
        <p:xfrm>
          <a:off x="571500" y="2847529"/>
          <a:ext cx="7115653" cy="3330997"/>
        </p:xfrm>
        <a:graphic>
          <a:graphicData uri="http://schemas.openxmlformats.org/drawingml/2006/chart">
            <c:chart xmlns:c="http://schemas.openxmlformats.org/drawingml/2006/chart" xmlns:r="http://schemas.openxmlformats.org/officeDocument/2006/relationships" r:id="rId3"/>
          </a:graphicData>
        </a:graphic>
      </p:graphicFrame>
      <p:grpSp>
        <p:nvGrpSpPr>
          <p:cNvPr id="4" name="组合 3">
            <a:extLst>
              <a:ext uri="{FF2B5EF4-FFF2-40B4-BE49-F238E27FC236}">
                <a16:creationId xmlns="" xmlns:a16="http://schemas.microsoft.com/office/drawing/2014/main" id="{4F8E7413-57B6-9C62-1595-F1F3F8DA4908}"/>
              </a:ext>
            </a:extLst>
          </p:cNvPr>
          <p:cNvGrpSpPr/>
          <p:nvPr/>
        </p:nvGrpSpPr>
        <p:grpSpPr>
          <a:xfrm>
            <a:off x="8025989" y="4358068"/>
            <a:ext cx="3531515" cy="1439878"/>
            <a:chOff x="9214522" y="4485057"/>
            <a:chExt cx="5076266" cy="2334172"/>
          </a:xfrm>
        </p:grpSpPr>
        <p:grpSp>
          <p:nvGrpSpPr>
            <p:cNvPr id="5" name="组合 4">
              <a:extLst>
                <a:ext uri="{FF2B5EF4-FFF2-40B4-BE49-F238E27FC236}">
                  <a16:creationId xmlns="" xmlns:a16="http://schemas.microsoft.com/office/drawing/2014/main" id="{61160F59-B75A-DF9F-4A9B-3EBB74232D53}"/>
                </a:ext>
              </a:extLst>
            </p:cNvPr>
            <p:cNvGrpSpPr/>
            <p:nvPr/>
          </p:nvGrpSpPr>
          <p:grpSpPr>
            <a:xfrm>
              <a:off x="9214522" y="4485057"/>
              <a:ext cx="2834953" cy="2334172"/>
              <a:chOff x="9671296" y="531523"/>
              <a:chExt cx="1381285" cy="1137148"/>
            </a:xfrm>
          </p:grpSpPr>
          <p:grpSp>
            <p:nvGrpSpPr>
              <p:cNvPr id="12" name="组合 11">
                <a:extLst>
                  <a:ext uri="{FF2B5EF4-FFF2-40B4-BE49-F238E27FC236}">
                    <a16:creationId xmlns="" xmlns:a16="http://schemas.microsoft.com/office/drawing/2014/main" id="{5DA90CF7-C019-A0F3-9B8C-58E46C269497}"/>
                  </a:ext>
                </a:extLst>
              </p:cNvPr>
              <p:cNvGrpSpPr/>
              <p:nvPr/>
            </p:nvGrpSpPr>
            <p:grpSpPr>
              <a:xfrm>
                <a:off x="9671296" y="531523"/>
                <a:ext cx="1381285" cy="1137148"/>
                <a:chOff x="3752250" y="10796079"/>
                <a:chExt cx="3341826" cy="2627884"/>
              </a:xfrm>
            </p:grpSpPr>
            <p:sp>
              <p:nvSpPr>
                <p:cNvPr id="16" name="流程图: 摘录 15">
                  <a:extLst>
                    <a:ext uri="{FF2B5EF4-FFF2-40B4-BE49-F238E27FC236}">
                      <a16:creationId xmlns="" xmlns:a16="http://schemas.microsoft.com/office/drawing/2014/main" id="{78C32040-0EE3-877F-609B-F4B1F98162C5}"/>
                    </a:ext>
                  </a:extLst>
                </p:cNvPr>
                <p:cNvSpPr/>
                <p:nvPr/>
              </p:nvSpPr>
              <p:spPr>
                <a:xfrm>
                  <a:off x="4487052" y="10796079"/>
                  <a:ext cx="1872218" cy="2113512"/>
                </a:xfrm>
                <a:prstGeom prst="flowChartExtra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ea typeface="HarmonyOS Sans SC Light"/>
                    <a:cs typeface="+mn-cs"/>
                  </a:endParaRPr>
                </a:p>
              </p:txBody>
            </p:sp>
            <p:sp>
              <p:nvSpPr>
                <p:cNvPr id="19" name="矩形 47">
                  <a:extLst>
                    <a:ext uri="{FF2B5EF4-FFF2-40B4-BE49-F238E27FC236}">
                      <a16:creationId xmlns="" xmlns:a16="http://schemas.microsoft.com/office/drawing/2014/main" id="{DD09C2E9-E18D-86CF-3FDA-48049B8CF0B0}"/>
                    </a:ext>
                  </a:extLst>
                </p:cNvPr>
                <p:cNvSpPr/>
                <p:nvPr/>
              </p:nvSpPr>
              <p:spPr>
                <a:xfrm>
                  <a:off x="3752250" y="12204808"/>
                  <a:ext cx="3341826" cy="1219155"/>
                </a:xfrm>
                <a:prstGeom prst="rect">
                  <a:avLst/>
                </a:prstGeom>
              </p:spPr>
              <p:txBody>
                <a:bodyPr wrap="square" anchor="ctr">
                  <a:spAutoFit/>
                </a:bodyPr>
                <a:lstStyle/>
                <a:p>
                  <a:pPr marL="0" marR="0" lvl="0" indent="0" algn="ctr" defTabSz="685800" rtl="0" eaLnBrk="1" fontAlgn="auto" latinLnBrk="0" hangingPunct="1">
                    <a:lnSpc>
                      <a:spcPts val="5670"/>
                    </a:lnSpc>
                    <a:spcBef>
                      <a:spcPts val="0"/>
                    </a:spcBef>
                    <a:spcAft>
                      <a:spcPts val="0"/>
                    </a:spcAft>
                    <a:buClrTx/>
                    <a:buSzTx/>
                    <a:buFontTx/>
                    <a:buNone/>
                    <a:tabLst/>
                    <a:defRPr/>
                  </a:pPr>
                  <a:endParaRPr kumimoji="0" lang="zh-CN" altLang="en-US" sz="9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5" name="矩形: 圆角 14">
                <a:extLst>
                  <a:ext uri="{FF2B5EF4-FFF2-40B4-BE49-F238E27FC236}">
                    <a16:creationId xmlns="" xmlns:a16="http://schemas.microsoft.com/office/drawing/2014/main" id="{C41D782A-A6EE-2ABC-CA94-90563F97E0A5}"/>
                  </a:ext>
                </a:extLst>
              </p:cNvPr>
              <p:cNvSpPr/>
              <p:nvPr/>
            </p:nvSpPr>
            <p:spPr>
              <a:xfrm>
                <a:off x="10078631" y="837899"/>
                <a:ext cx="566614" cy="4286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100%</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6" name="文本框 5">
              <a:extLst>
                <a:ext uri="{FF2B5EF4-FFF2-40B4-BE49-F238E27FC236}">
                  <a16:creationId xmlns="" xmlns:a16="http://schemas.microsoft.com/office/drawing/2014/main" id="{C2E8562E-2DB0-EBF1-A05F-CD20ECA54C81}"/>
                </a:ext>
              </a:extLst>
            </p:cNvPr>
            <p:cNvSpPr txBox="1"/>
            <p:nvPr/>
          </p:nvSpPr>
          <p:spPr>
            <a:xfrm>
              <a:off x="11852487" y="4702320"/>
              <a:ext cx="2343496" cy="823240"/>
            </a:xfrm>
            <a:prstGeom prst="rect">
              <a:avLst/>
            </a:prstGeom>
            <a:noFill/>
          </p:spPr>
          <p:txBody>
            <a:bodyPr wrap="square" rtlCol="0">
              <a:spAutoFit/>
            </a:bodyPr>
            <a:lstStyle/>
            <a:p>
              <a:pPr marL="285743" marR="0" lvl="0" indent="-285743"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350" b="1" dirty="0">
                  <a:solidFill>
                    <a:srgbClr val="8B0000"/>
                  </a:solidFill>
                  <a:latin typeface="思源宋体" panose="02010600030101010101" charset="-122"/>
                  <a:ea typeface="思源宋体" panose="02010600030101010101" charset="-122"/>
                </a:rPr>
                <a:t>产业趋势</a:t>
              </a:r>
              <a:r>
                <a:rPr kumimoji="0" lang="en-US" altLang="zh-CN"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 100%</a:t>
              </a:r>
              <a:endPar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endParaRPr>
            </a:p>
          </p:txBody>
        </p:sp>
        <p:sp>
          <p:nvSpPr>
            <p:cNvPr id="7" name="文本框 6">
              <a:extLst>
                <a:ext uri="{FF2B5EF4-FFF2-40B4-BE49-F238E27FC236}">
                  <a16:creationId xmlns="" xmlns:a16="http://schemas.microsoft.com/office/drawing/2014/main" id="{32A9AFC7-ABDA-5C10-ABEA-4D67206FB501}"/>
                </a:ext>
              </a:extLst>
            </p:cNvPr>
            <p:cNvSpPr txBox="1"/>
            <p:nvPr/>
          </p:nvSpPr>
          <p:spPr>
            <a:xfrm>
              <a:off x="11852487" y="5882998"/>
              <a:ext cx="2438301" cy="486460"/>
            </a:xfrm>
            <a:prstGeom prst="rect">
              <a:avLst/>
            </a:prstGeom>
            <a:noFill/>
          </p:spPr>
          <p:txBody>
            <a:bodyPr wrap="square" rtlCol="0">
              <a:spAutoFit/>
            </a:bodyPr>
            <a:lstStyle/>
            <a:p>
              <a:pPr marL="285743" marR="0" lvl="0" indent="-285743"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350" b="1" dirty="0">
                  <a:solidFill>
                    <a:srgbClr val="8B0000"/>
                  </a:solidFill>
                  <a:latin typeface="思源宋体" panose="02010600030101010101" charset="-122"/>
                  <a:ea typeface="思源宋体" panose="02010600030101010101" charset="-122"/>
                </a:rPr>
                <a:t>指数增强</a:t>
              </a:r>
              <a:r>
                <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 </a:t>
              </a:r>
              <a:r>
                <a:rPr kumimoji="0" lang="en-US" altLang="zh-CN"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rPr>
                <a:t>0%</a:t>
              </a:r>
              <a:endParaRPr kumimoji="0" lang="zh-CN" altLang="en-US" sz="135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endParaRPr>
            </a:p>
          </p:txBody>
        </p:sp>
      </p:grpSp>
    </p:spTree>
    <p:extLst>
      <p:ext uri="{BB962C8B-B14F-4D97-AF65-F5344CB8AC3E}">
        <p14:creationId xmlns:p14="http://schemas.microsoft.com/office/powerpoint/2010/main" val="2919575848"/>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039A8F5-4641-72BA-1842-BB1337843EF9}"/>
            </a:ext>
          </a:extLst>
        </p:cNvPr>
        <p:cNvGrpSpPr/>
        <p:nvPr/>
      </p:nvGrpSpPr>
      <p:grpSpPr>
        <a:xfrm>
          <a:off x="0" y="0"/>
          <a:ext cx="0" cy="0"/>
          <a:chOff x="0" y="0"/>
          <a:chExt cx="0" cy="0"/>
        </a:xfrm>
      </p:grpSpPr>
      <p:sp>
        <p:nvSpPr>
          <p:cNvPr id="9" name="椭圆 8" descr="e7d195523061f1c09e9d68d7cf438b91ef959ecb14fc25d26BBA7F7DBC18E55DFF4014AF651F0BF2569D4B6C1DA7F1A4683A481403BD872FC687266AD13265C1DE7C373772FD8728ABDD69ADD03BFF5BE2862BC891DBB79E9B09246D0C8BFFDB55F97A4A197D0CE4F3CC54D8F058F49BF06ED5DD0827EC15F885F59D78ED9CA97EDB289E7349ADC0E6738A5D5DC345652D152AAC3F32854D">
            <a:extLst>
              <a:ext uri="{FF2B5EF4-FFF2-40B4-BE49-F238E27FC236}">
                <a16:creationId xmlns="" xmlns:a16="http://schemas.microsoft.com/office/drawing/2014/main" id="{7FA1FA1E-CE0F-06FB-4610-4E7BCB695596}"/>
              </a:ext>
            </a:extLst>
          </p:cNvPr>
          <p:cNvSpPr/>
          <p:nvPr/>
        </p:nvSpPr>
        <p:spPr>
          <a:xfrm rot="17100000">
            <a:off x="665665" y="160279"/>
            <a:ext cx="1425269" cy="1425269"/>
          </a:xfrm>
          <a:prstGeom prst="ellipse">
            <a:avLst/>
          </a:prstGeom>
          <a:gradFill flip="none" rotWithShape="1">
            <a:gsLst>
              <a:gs pos="34000">
                <a:schemeClr val="accent1">
                  <a:lumMod val="45000"/>
                  <a:lumOff val="55000"/>
                  <a:alpha val="0"/>
                </a:schemeClr>
              </a:gs>
              <a:gs pos="100000">
                <a:schemeClr val="accent1">
                  <a:alpha val="37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8"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white"/>
              </a:solidFill>
              <a:effectLst/>
              <a:uLnTx/>
              <a:uFillTx/>
              <a:ea typeface="HarmonyOS Sans SC Light"/>
              <a:cs typeface="+mn-cs"/>
            </a:endParaRPr>
          </a:p>
        </p:txBody>
      </p:sp>
      <p:cxnSp>
        <p:nvCxnSpPr>
          <p:cNvPr id="3" name="直接连接符 2">
            <a:extLst>
              <a:ext uri="{FF2B5EF4-FFF2-40B4-BE49-F238E27FC236}">
                <a16:creationId xmlns="" xmlns:a16="http://schemas.microsoft.com/office/drawing/2014/main" id="{A0F6FF9C-2510-B107-6AB5-40D3049FC021}"/>
              </a:ext>
            </a:extLst>
          </p:cNvPr>
          <p:cNvCxnSpPr/>
          <p:nvPr/>
        </p:nvCxnSpPr>
        <p:spPr>
          <a:xfrm>
            <a:off x="582917" y="1141204"/>
            <a:ext cx="1120678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文本占位符 10">
            <a:extLst>
              <a:ext uri="{FF2B5EF4-FFF2-40B4-BE49-F238E27FC236}">
                <a16:creationId xmlns="" xmlns:a16="http://schemas.microsoft.com/office/drawing/2014/main" id="{50DB59DD-D6D3-2D9F-37FC-49E64F31510A}"/>
              </a:ext>
            </a:extLst>
          </p:cNvPr>
          <p:cNvSpPr txBox="1"/>
          <p:nvPr/>
        </p:nvSpPr>
        <p:spPr>
          <a:xfrm>
            <a:off x="899137" y="391454"/>
            <a:ext cx="9202183" cy="508000"/>
          </a:xfrm>
          <a:prstGeom prst="rect">
            <a:avLst/>
          </a:prstGeom>
        </p:spPr>
        <p:txBody>
          <a:bodyPr lIns="0" tIns="0" rIns="0" bIns="0" anchor="ctr" anchorCtr="0"/>
          <a:lstStyle>
            <a:lvl1pPr marL="0" indent="0" algn="l" defTabSz="457200" rtl="0" eaLnBrk="1" latinLnBrk="0" hangingPunct="1">
              <a:lnSpc>
                <a:spcPct val="100000"/>
              </a:lnSpc>
              <a:spcBef>
                <a:spcPts val="2000"/>
              </a:spcBef>
              <a:buFont typeface="Arial" panose="020B0604020202020204" pitchFamily="34" charset="0"/>
              <a:buNone/>
              <a:defRPr lang="zh-CN" altLang="en-US" sz="6000" b="1" kern="1200" spc="1000" dirty="0">
                <a:solidFill>
                  <a:srgbClr val="3B3838"/>
                </a:solidFill>
                <a:latin typeface="+mj-ea"/>
                <a:ea typeface="+mj-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a:solidFill>
                  <a:schemeClr val="tx1"/>
                </a:solidFill>
                <a:latin typeface="+mn-lt"/>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914378" rtl="0" eaLnBrk="1" fontAlgn="auto" latinLnBrk="0" hangingPunct="1">
              <a:lnSpc>
                <a:spcPts val="2143"/>
              </a:lnSpc>
              <a:spcBef>
                <a:spcPts val="1029"/>
              </a:spcBef>
              <a:spcAft>
                <a:spcPts val="1029"/>
              </a:spcAft>
              <a:buClrTx/>
              <a:buSzTx/>
              <a:buFont typeface="Arial" panose="020B0604020202020204" pitchFamily="34" charset="0"/>
              <a:buNone/>
              <a:tabLst/>
              <a:defRPr/>
            </a:pPr>
            <a:r>
              <a:rPr kumimoji="0" lang="zh-CN" altLang="en-US"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rPr>
              <a:t>基于基金池业绩模拟：进取型（产业趋势样板间）</a:t>
            </a:r>
            <a:endParaRPr kumimoji="0" lang="en-US" altLang="zh-CN" sz="2700" b="1" i="0" u="none" strike="noStrike" kern="1200" cap="none" spc="0" normalizeH="0" baseline="0" noProof="0" dirty="0">
              <a:ln>
                <a:noFill/>
              </a:ln>
              <a:solidFill>
                <a:srgbClr val="8B0000"/>
              </a:solidFill>
              <a:effectLst/>
              <a:uLnTx/>
              <a:uFillTx/>
              <a:latin typeface="思源宋体" panose="02010600030101010101" charset="-122"/>
              <a:ea typeface="思源宋体" panose="02010600030101010101" charset="-122"/>
              <a:cs typeface="+mn-cs"/>
              <a:sym typeface="Helvetica Neue"/>
            </a:endParaRPr>
          </a:p>
        </p:txBody>
      </p:sp>
      <p:sp>
        <p:nvSpPr>
          <p:cNvPr id="8" name="Shape 0">
            <a:extLst>
              <a:ext uri="{FF2B5EF4-FFF2-40B4-BE49-F238E27FC236}">
                <a16:creationId xmlns="" xmlns:a16="http://schemas.microsoft.com/office/drawing/2014/main" id="{276E792F-63B6-8B31-CE64-259ACC25C960}"/>
              </a:ext>
            </a:extLst>
          </p:cNvPr>
          <p:cNvSpPr/>
          <p:nvPr/>
        </p:nvSpPr>
        <p:spPr>
          <a:xfrm>
            <a:off x="381000" y="38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ea typeface="HarmonyOS Sans SC Light"/>
              <a:cs typeface="+mn-cs"/>
            </a:endParaRPr>
          </a:p>
        </p:txBody>
      </p:sp>
      <p:sp>
        <p:nvSpPr>
          <p:cNvPr id="10" name="Text 1">
            <a:extLst>
              <a:ext uri="{FF2B5EF4-FFF2-40B4-BE49-F238E27FC236}">
                <a16:creationId xmlns="" xmlns:a16="http://schemas.microsoft.com/office/drawing/2014/main" id="{A228F4EF-4A30-76CD-A273-E872DD35DAFC}"/>
              </a:ext>
            </a:extLst>
          </p:cNvPr>
          <p:cNvSpPr/>
          <p:nvPr/>
        </p:nvSpPr>
        <p:spPr>
          <a:xfrm>
            <a:off x="451842" y="438150"/>
            <a:ext cx="323850" cy="266700"/>
          </a:xfrm>
          <a:prstGeom prst="rect">
            <a:avLst/>
          </a:prstGeom>
          <a:noFill/>
          <a:ln/>
        </p:spPr>
        <p:txBody>
          <a:bodyPr wrap="square" lIns="0" tIns="0" rIns="0" bIns="0" rtlCol="0" anchor="ctr"/>
          <a:lstStyle/>
          <a:p>
            <a:pPr marL="0" marR="0" lvl="0" indent="0" algn="l" defTabSz="685800" rtl="0" eaLnBrk="1" fontAlgn="auto" latinLnBrk="0" hangingPunct="1">
              <a:lnSpc>
                <a:spcPct val="13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9FAFB"/>
                </a:solidFill>
                <a:effectLst/>
                <a:uLnTx/>
                <a:uFillTx/>
                <a:latin typeface="思源宋体" pitchFamily="34" charset="0"/>
                <a:ea typeface="思源宋体" pitchFamily="34" charset="-122"/>
                <a:cs typeface="思源宋体" pitchFamily="34" charset="-120"/>
              </a:rPr>
              <a:t>3.2</a:t>
            </a:r>
            <a:endParaRPr kumimoji="0" lang="en-US" sz="1600" b="0" i="0" u="none" strike="noStrike" kern="1200" cap="none" spc="0" normalizeH="0" baseline="0" noProof="0" dirty="0">
              <a:ln>
                <a:noFill/>
              </a:ln>
              <a:solidFill>
                <a:prstClr val="black"/>
              </a:solidFill>
              <a:effectLst/>
              <a:uLnTx/>
              <a:uFillTx/>
              <a:ea typeface="HarmonyOS Sans SC Light"/>
              <a:cs typeface="+mn-cs"/>
            </a:endParaRPr>
          </a:p>
        </p:txBody>
      </p:sp>
      <p:sp>
        <p:nvSpPr>
          <p:cNvPr id="201" name="矩形 6">
            <a:extLst>
              <a:ext uri="{FF2B5EF4-FFF2-40B4-BE49-F238E27FC236}">
                <a16:creationId xmlns="" xmlns:a16="http://schemas.microsoft.com/office/drawing/2014/main" id="{DCA0A70D-8F2D-0E51-C1C9-CCA7EE4B9B4A}"/>
              </a:ext>
            </a:extLst>
          </p:cNvPr>
          <p:cNvSpPr/>
          <p:nvPr/>
        </p:nvSpPr>
        <p:spPr>
          <a:xfrm>
            <a:off x="713045" y="1359439"/>
            <a:ext cx="10579408" cy="715581"/>
          </a:xfrm>
          <a:prstGeom prst="rect">
            <a:avLst/>
          </a:prstGeom>
        </p:spPr>
        <p:txBody>
          <a:bodyPr wrap="square">
            <a:spAutoFit/>
          </a:bodyPr>
          <a:lstStyle/>
          <a:p>
            <a:pPr marL="257175" marR="0" lvl="0" indent="-257175"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6个完整年度有4年为正收益。最高年度收益82.79%，最低年度收益-26.62%，年化收益率26.66%。</a:t>
            </a:r>
          </a:p>
          <a:p>
            <a:pPr marL="257175" marR="0" lvl="0" indent="-257175"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3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77个完整月度录得42个月(54.5%)正收益。最高月度收益32.22%，最低月度收益-18.59%，平均月度收益2.36%</a:t>
            </a:r>
          </a:p>
        </p:txBody>
      </p:sp>
      <p:sp>
        <p:nvSpPr>
          <p:cNvPr id="202" name="矩形 10">
            <a:extLst>
              <a:ext uri="{FF2B5EF4-FFF2-40B4-BE49-F238E27FC236}">
                <a16:creationId xmlns="" xmlns:a16="http://schemas.microsoft.com/office/drawing/2014/main" id="{8C61B359-D582-2B03-BF84-C53EBBF6F73A}"/>
              </a:ext>
            </a:extLst>
          </p:cNvPr>
          <p:cNvSpPr/>
          <p:nvPr/>
        </p:nvSpPr>
        <p:spPr>
          <a:xfrm>
            <a:off x="451842" y="6171595"/>
            <a:ext cx="10579408" cy="369332"/>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数据来源：嘉实财富。回测区间为</a:t>
            </a:r>
            <a:r>
              <a:rPr kumimoji="0" lang="en-US"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2019/12/31-2026/05/29</a:t>
            </a: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。历史回测不代表未来表现，以上涉及的相关数据均为假设条件或虚拟回测，仅为实现策略举例说明之目的、用于投资者教育，不涉及任何具体产品信息及其宜传推介，历史业绩不预示未来表现。</a:t>
            </a:r>
            <a:endParaRPr kumimoji="0" lang="zh-CN" altLang="en-US" sz="9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03" name="表格 3">
            <a:extLst>
              <a:ext uri="{FF2B5EF4-FFF2-40B4-BE49-F238E27FC236}">
                <a16:creationId xmlns="" xmlns:a16="http://schemas.microsoft.com/office/drawing/2014/main" id="{7656CAB7-63AC-81D8-438F-C984DAB8D890}"/>
              </a:ext>
            </a:extLst>
          </p:cNvPr>
          <p:cNvGraphicFramePr>
            <a:graphicFrameLocks noGrp="1"/>
          </p:cNvGraphicFramePr>
          <p:nvPr/>
        </p:nvGraphicFramePr>
        <p:xfrm>
          <a:off x="451842" y="2075020"/>
          <a:ext cx="11161248" cy="3729051"/>
        </p:xfrm>
        <a:graphic>
          <a:graphicData uri="http://schemas.openxmlformats.org/drawingml/2006/table">
            <a:tbl>
              <a:tblPr/>
              <a:tblGrid>
                <a:gridCol w="697578">
                  <a:extLst>
                    <a:ext uri="{9D8B030D-6E8A-4147-A177-3AD203B41FA5}">
                      <a16:colId xmlns="" xmlns:a16="http://schemas.microsoft.com/office/drawing/2014/main" val="20000"/>
                    </a:ext>
                  </a:extLst>
                </a:gridCol>
                <a:gridCol w="697578">
                  <a:extLst>
                    <a:ext uri="{9D8B030D-6E8A-4147-A177-3AD203B41FA5}">
                      <a16:colId xmlns="" xmlns:a16="http://schemas.microsoft.com/office/drawing/2014/main" val="20001"/>
                    </a:ext>
                  </a:extLst>
                </a:gridCol>
                <a:gridCol w="697578">
                  <a:extLst>
                    <a:ext uri="{9D8B030D-6E8A-4147-A177-3AD203B41FA5}">
                      <a16:colId xmlns="" xmlns:a16="http://schemas.microsoft.com/office/drawing/2014/main" val="20002"/>
                    </a:ext>
                  </a:extLst>
                </a:gridCol>
                <a:gridCol w="697578">
                  <a:extLst>
                    <a:ext uri="{9D8B030D-6E8A-4147-A177-3AD203B41FA5}">
                      <a16:colId xmlns="" xmlns:a16="http://schemas.microsoft.com/office/drawing/2014/main" val="20003"/>
                    </a:ext>
                  </a:extLst>
                </a:gridCol>
                <a:gridCol w="697578">
                  <a:extLst>
                    <a:ext uri="{9D8B030D-6E8A-4147-A177-3AD203B41FA5}">
                      <a16:colId xmlns="" xmlns:a16="http://schemas.microsoft.com/office/drawing/2014/main" val="20004"/>
                    </a:ext>
                  </a:extLst>
                </a:gridCol>
                <a:gridCol w="697578">
                  <a:extLst>
                    <a:ext uri="{9D8B030D-6E8A-4147-A177-3AD203B41FA5}">
                      <a16:colId xmlns="" xmlns:a16="http://schemas.microsoft.com/office/drawing/2014/main" val="20005"/>
                    </a:ext>
                  </a:extLst>
                </a:gridCol>
                <a:gridCol w="697578">
                  <a:extLst>
                    <a:ext uri="{9D8B030D-6E8A-4147-A177-3AD203B41FA5}">
                      <a16:colId xmlns="" xmlns:a16="http://schemas.microsoft.com/office/drawing/2014/main" val="20006"/>
                    </a:ext>
                  </a:extLst>
                </a:gridCol>
                <a:gridCol w="697578">
                  <a:extLst>
                    <a:ext uri="{9D8B030D-6E8A-4147-A177-3AD203B41FA5}">
                      <a16:colId xmlns="" xmlns:a16="http://schemas.microsoft.com/office/drawing/2014/main" val="20007"/>
                    </a:ext>
                  </a:extLst>
                </a:gridCol>
                <a:gridCol w="697578">
                  <a:extLst>
                    <a:ext uri="{9D8B030D-6E8A-4147-A177-3AD203B41FA5}">
                      <a16:colId xmlns="" xmlns:a16="http://schemas.microsoft.com/office/drawing/2014/main" val="20008"/>
                    </a:ext>
                  </a:extLst>
                </a:gridCol>
                <a:gridCol w="697578">
                  <a:extLst>
                    <a:ext uri="{9D8B030D-6E8A-4147-A177-3AD203B41FA5}">
                      <a16:colId xmlns="" xmlns:a16="http://schemas.microsoft.com/office/drawing/2014/main" val="20009"/>
                    </a:ext>
                  </a:extLst>
                </a:gridCol>
                <a:gridCol w="697578">
                  <a:extLst>
                    <a:ext uri="{9D8B030D-6E8A-4147-A177-3AD203B41FA5}">
                      <a16:colId xmlns="" xmlns:a16="http://schemas.microsoft.com/office/drawing/2014/main" val="20010"/>
                    </a:ext>
                  </a:extLst>
                </a:gridCol>
                <a:gridCol w="697578">
                  <a:extLst>
                    <a:ext uri="{9D8B030D-6E8A-4147-A177-3AD203B41FA5}">
                      <a16:colId xmlns="" xmlns:a16="http://schemas.microsoft.com/office/drawing/2014/main" val="20011"/>
                    </a:ext>
                  </a:extLst>
                </a:gridCol>
                <a:gridCol w="697578">
                  <a:extLst>
                    <a:ext uri="{9D8B030D-6E8A-4147-A177-3AD203B41FA5}">
                      <a16:colId xmlns="" xmlns:a16="http://schemas.microsoft.com/office/drawing/2014/main" val="20012"/>
                    </a:ext>
                  </a:extLst>
                </a:gridCol>
                <a:gridCol w="697578">
                  <a:extLst>
                    <a:ext uri="{9D8B030D-6E8A-4147-A177-3AD203B41FA5}">
                      <a16:colId xmlns="" xmlns:a16="http://schemas.microsoft.com/office/drawing/2014/main" val="20013"/>
                    </a:ext>
                  </a:extLst>
                </a:gridCol>
                <a:gridCol w="697578">
                  <a:extLst>
                    <a:ext uri="{9D8B030D-6E8A-4147-A177-3AD203B41FA5}">
                      <a16:colId xmlns="" xmlns:a16="http://schemas.microsoft.com/office/drawing/2014/main" val="20014"/>
                    </a:ext>
                  </a:extLst>
                </a:gridCol>
                <a:gridCol w="697578">
                  <a:extLst>
                    <a:ext uri="{9D8B030D-6E8A-4147-A177-3AD203B41FA5}">
                      <a16:colId xmlns="" xmlns:a16="http://schemas.microsoft.com/office/drawing/2014/main" val="20015"/>
                    </a:ext>
                  </a:extLst>
                </a:gridCol>
              </a:tblGrid>
              <a:tr h="414339">
                <a:tc>
                  <a:txBody>
                    <a:bodyPr/>
                    <a:lstStyle/>
                    <a:p>
                      <a:pPr algn="ctr" fontAlgn="ct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年份</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1</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2</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3</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4</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5</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6</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7</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dirty="0">
                          <a:solidFill>
                            <a:srgbClr val="E7E6E6"/>
                          </a:solidFill>
                          <a:effectLst/>
                          <a:latin typeface="微软雅黑" panose="020B0503020204020204" pitchFamily="34" charset="-122"/>
                          <a:ea typeface="微软雅黑" panose="020B0503020204020204" pitchFamily="34" charset="-122"/>
                        </a:rPr>
                        <a:t>8</a:t>
                      </a: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9</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10</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11</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en-US" altLang="zh-CN" sz="1200" b="1" i="0" u="none" strike="noStrike">
                          <a:solidFill>
                            <a:srgbClr val="E7E6E6"/>
                          </a:solidFill>
                          <a:effectLst/>
                          <a:latin typeface="微软雅黑" panose="020B0503020204020204" pitchFamily="34" charset="-122"/>
                          <a:ea typeface="微软雅黑" panose="020B0503020204020204" pitchFamily="34" charset="-122"/>
                        </a:rPr>
                        <a:t>12</a:t>
                      </a: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月</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年收益</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zh-CN" altLang="en-US" sz="1200" b="1" i="0" u="none" strike="noStrike" dirty="0">
                          <a:solidFill>
                            <a:srgbClr val="E7E6E6"/>
                          </a:solidFill>
                          <a:effectLst/>
                          <a:latin typeface="微软雅黑" panose="020B0503020204020204" pitchFamily="34" charset="-122"/>
                          <a:ea typeface="微软雅黑" panose="020B0503020204020204" pitchFamily="34" charset="-122"/>
                        </a:rPr>
                        <a:t>月胜率</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tc>
                  <a:txBody>
                    <a:bodyPr/>
                    <a:lstStyle/>
                    <a:p>
                      <a:pPr algn="ctr" fontAlgn="ctr"/>
                      <a:r>
                        <a:rPr lang="zh-CN" altLang="en-US" sz="1200" b="1" i="0" u="none" strike="noStrike">
                          <a:solidFill>
                            <a:srgbClr val="E7E6E6"/>
                          </a:solidFill>
                          <a:effectLst/>
                          <a:latin typeface="微软雅黑" panose="020B0503020204020204" pitchFamily="34" charset="-122"/>
                          <a:ea typeface="微软雅黑" panose="020B0503020204020204" pitchFamily="34" charset="-122"/>
                        </a:rPr>
                        <a:t>最大回撤</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472C4"/>
                    </a:solidFill>
                  </a:tcPr>
                </a:tc>
                <a:extLst>
                  <a:ext uri="{0D108BD9-81ED-4DB2-BD59-A6C34878D82A}">
                    <a16:rowId xmlns="" xmlns:a16="http://schemas.microsoft.com/office/drawing/2014/main" val="10000"/>
                  </a:ext>
                </a:extLst>
              </a:tr>
              <a:tr h="4143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14.03%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4D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7.18%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BC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-13.87%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3D1A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11.69%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ADA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F3E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16.79%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B7B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11.30%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9698"/>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-3.49%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FE3"/>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-3.93%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BDBB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0.96%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AF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5F0"/>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5.23%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3D6"/>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53.15%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66.67%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-23.88%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extLst>
                  <a:ext uri="{0D108BD9-81ED-4DB2-BD59-A6C34878D82A}">
                    <a16:rowId xmlns="" xmlns:a16="http://schemas.microsoft.com/office/drawing/2014/main" val="10001"/>
                  </a:ext>
                </a:extLst>
              </a:tr>
              <a:tr h="4143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3.58%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9F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-4.52%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EE9D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-6.91%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AE7D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7.27%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D9DC"/>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6.78%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BC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8.86%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9EC"/>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11.26%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3C6"/>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-2.78%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CF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-5.46%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7E0C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2.99%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CF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5.06%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D9D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-4.15%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F3ED"/>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21.77%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58.33%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-19.71%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2"/>
                  </a:ext>
                </a:extLst>
              </a:tr>
              <a:tr h="4143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-10.77%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4D2A5"/>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2.11%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CE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-8.65%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DDCB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-12.16%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DD5A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6.70%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DCD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11.74%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1D4"/>
                    </a:solid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-0.65%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1F7F5"/>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-4.20%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DEFE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-9.37%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ADBB8"/>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1.04%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CF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-0.19%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BF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-3.24%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DE1"/>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-26.62%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33.33%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-31.78%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extLst>
                  <a:ext uri="{0D108BD9-81ED-4DB2-BD59-A6C34878D82A}">
                    <a16:rowId xmlns="" xmlns:a16="http://schemas.microsoft.com/office/drawing/2014/main" val="10003"/>
                  </a:ext>
                </a:extLst>
              </a:tr>
              <a:tr h="4143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6.94%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0D3"/>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-0.20%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8F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8.64%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7D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0.59%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9F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-0.76%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F6F4"/>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1.94%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6F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-7.04%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5ECD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-4.27%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CD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-4.45%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1E4CC"/>
                    </a:solid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-4.08%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1F1E8"/>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0.87%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AF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-0.21%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BFE"/>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-3.13%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41.67%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-26.98%</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4"/>
                  </a:ext>
                </a:extLst>
              </a:tr>
              <a:tr h="4143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-18.59%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63BE7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20.74%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A7A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2.93%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DFE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3.01%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AE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-4.12%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F2EA"/>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5.01%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FBFD"/>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-1.35%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AF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-7.12%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3E5C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21.72%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7F81"/>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6.64%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D6D9"/>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-0.63%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BF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0.34%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0F3"/>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24.43%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58.33%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-17.33%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extLst>
                  <a:ext uri="{0D108BD9-81ED-4DB2-BD59-A6C34878D82A}">
                    <a16:rowId xmlns="" xmlns:a16="http://schemas.microsoft.com/office/drawing/2014/main" val="10005"/>
                  </a:ext>
                </a:extLst>
              </a:tr>
              <a:tr h="4143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1.81%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3F6"/>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1.00%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8F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-4.70%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FAF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-3.85%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CFF"/>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-1.02%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8F6"/>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12.86%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6C8"/>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15.40%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BEC0"/>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32.22%</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696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10.87%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B4B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-1.04%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4F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-4.65%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DE9D7"/>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8.80%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C8CB"/>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82.79%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58.33%</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a:solidFill>
                            <a:srgbClr val="000000"/>
                          </a:solidFill>
                          <a:effectLst/>
                          <a:latin typeface="微软雅黑" panose="020B0503020204020204" pitchFamily="34" charset="-122"/>
                          <a:ea typeface="微软雅黑" panose="020B0503020204020204" pitchFamily="34" charset="-122"/>
                        </a:rPr>
                        <a:t>-23.50%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6"/>
                  </a:ext>
                </a:extLst>
              </a:tr>
              <a:tr h="414339">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2026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6.86%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A0A3"/>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0.27%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BFE"/>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-5.39%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8CD9B"/>
                    </a:solidFill>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25.57%</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898B"/>
                    </a:solid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18.51%</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50.86%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80.00%</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-8.39%</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E1F2"/>
                    </a:solidFill>
                  </a:tcPr>
                </a:tc>
                <a:extLst>
                  <a:ext uri="{0D108BD9-81ED-4DB2-BD59-A6C34878D82A}">
                    <a16:rowId xmlns="" xmlns:a16="http://schemas.microsoft.com/office/drawing/2014/main" val="10007"/>
                  </a:ext>
                </a:extLst>
              </a:tr>
              <a:tr h="414339">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成立以来</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dirty="0">
                          <a:solidFill>
                            <a:srgbClr val="8B0000"/>
                          </a:solidFill>
                          <a:effectLst/>
                          <a:latin typeface="微软雅黑" panose="020B0503020204020204" pitchFamily="34" charset="-122"/>
                          <a:ea typeface="微软雅黑" panose="020B0503020204020204" pitchFamily="34" charset="-122"/>
                        </a:rPr>
                        <a:t>354.86%</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54.55%</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-45.04%</a:t>
                      </a:r>
                    </a:p>
                  </a:txBody>
                  <a:tcPr marL="4564" marR="4564" marT="4564"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8"/>
                  </a:ext>
                </a:extLst>
              </a:tr>
            </a:tbl>
          </a:graphicData>
        </a:graphic>
      </p:graphicFrame>
    </p:spTree>
    <p:extLst>
      <p:ext uri="{BB962C8B-B14F-4D97-AF65-F5344CB8AC3E}">
        <p14:creationId xmlns:p14="http://schemas.microsoft.com/office/powerpoint/2010/main" val="1461486152"/>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BB8D09D-FE02-CD26-7B55-0271242B4EBC}"/>
            </a:ext>
          </a:extLst>
        </p:cNvPr>
        <p:cNvGrpSpPr/>
        <p:nvPr/>
      </p:nvGrpSpPr>
      <p:grpSpPr>
        <a:xfrm>
          <a:off x="0" y="0"/>
          <a:ext cx="0" cy="0"/>
          <a:chOff x="0" y="0"/>
          <a:chExt cx="0" cy="0"/>
        </a:xfrm>
      </p:grpSpPr>
      <p:sp>
        <p:nvSpPr>
          <p:cNvPr id="4" name="Text 2">
            <a:extLst>
              <a:ext uri="{FF2B5EF4-FFF2-40B4-BE49-F238E27FC236}">
                <a16:creationId xmlns="" xmlns:a16="http://schemas.microsoft.com/office/drawing/2014/main" id="{FC09CDB4-C898-A31C-9272-67CC5B576BD8}"/>
              </a:ext>
            </a:extLst>
          </p:cNvPr>
          <p:cNvSpPr/>
          <p:nvPr/>
        </p:nvSpPr>
        <p:spPr>
          <a:xfrm>
            <a:off x="462769" y="338817"/>
            <a:ext cx="10351226" cy="476250"/>
          </a:xfrm>
          <a:prstGeom prst="rect">
            <a:avLst/>
          </a:prstGeom>
          <a:noFill/>
          <a:ln/>
        </p:spPr>
        <p:txBody>
          <a:bodyPr wrap="none" lIns="0" tIns="0" rIns="0" bIns="0" rtlCol="0" anchor="ctr"/>
          <a:lstStyle/>
          <a:p>
            <a:pPr>
              <a:lnSpc>
                <a:spcPct val="90000"/>
              </a:lnSpc>
            </a:pPr>
            <a:r>
              <a:rPr lang="zh-CN" altLang="en-US" sz="2700" b="1" dirty="0">
                <a:solidFill>
                  <a:srgbClr val="8B0000"/>
                </a:solidFill>
                <a:latin typeface="思源宋体" panose="02010600030101010101" charset="-122"/>
                <a:ea typeface="思源宋体" panose="02010600030101010101" charset="-122"/>
                <a:cs typeface="MiSans" pitchFamily="34" charset="-120"/>
              </a:rPr>
              <a:t>示范</a:t>
            </a:r>
            <a:r>
              <a:rPr lang="en-US" altLang="zh-CN" sz="2700" b="1" dirty="0">
                <a:solidFill>
                  <a:srgbClr val="8B0000"/>
                </a:solidFill>
                <a:latin typeface="思源宋体" panose="02010600030101010101" charset="-122"/>
                <a:ea typeface="思源宋体" panose="02010600030101010101" charset="-122"/>
                <a:cs typeface="MiSans" pitchFamily="34" charset="-120"/>
              </a:rPr>
              <a:t>3</a:t>
            </a:r>
            <a:r>
              <a:rPr lang="zh-CN" altLang="en-US" sz="2700" b="1" dirty="0">
                <a:solidFill>
                  <a:srgbClr val="8B0000"/>
                </a:solidFill>
                <a:latin typeface="思源宋体" panose="02010600030101010101" charset="-122"/>
                <a:ea typeface="思源宋体" panose="02010600030101010101" charset="-122"/>
                <a:cs typeface="MiSans" pitchFamily="34" charset="-120"/>
              </a:rPr>
              <a:t>：搭好账户，只需要简单而纯粹的工具，辅以纪律性的动平衡</a:t>
            </a:r>
            <a:endParaRPr lang="en-US" sz="2700" dirty="0">
              <a:latin typeface="思源宋体" panose="02010600030101010101" charset="-122"/>
              <a:ea typeface="思源宋体" panose="02010600030101010101" charset="-122"/>
            </a:endParaRPr>
          </a:p>
        </p:txBody>
      </p:sp>
      <p:sp>
        <p:nvSpPr>
          <p:cNvPr id="38" name="Shape 12">
            <a:extLst>
              <a:ext uri="{FF2B5EF4-FFF2-40B4-BE49-F238E27FC236}">
                <a16:creationId xmlns="" xmlns:a16="http://schemas.microsoft.com/office/drawing/2014/main" id="{CE4E0C0D-E8AE-140F-74C3-35010E8277DB}"/>
              </a:ext>
            </a:extLst>
          </p:cNvPr>
          <p:cNvSpPr/>
          <p:nvPr/>
        </p:nvSpPr>
        <p:spPr>
          <a:xfrm>
            <a:off x="476250" y="1775102"/>
            <a:ext cx="11239500" cy="457200"/>
          </a:xfrm>
          <a:prstGeom prst="rect">
            <a:avLst/>
          </a:prstGeom>
          <a:solidFill>
            <a:srgbClr val="8B1A1A"/>
          </a:solidFill>
          <a:ln/>
        </p:spPr>
        <p:txBody>
          <a:bodyPr/>
          <a:lstStyle/>
          <a:p>
            <a:endParaRPr lang="zh-CN" altLang="en-US" sz="1350"/>
          </a:p>
        </p:txBody>
      </p:sp>
      <p:sp>
        <p:nvSpPr>
          <p:cNvPr id="39" name="Text 13">
            <a:extLst>
              <a:ext uri="{FF2B5EF4-FFF2-40B4-BE49-F238E27FC236}">
                <a16:creationId xmlns="" xmlns:a16="http://schemas.microsoft.com/office/drawing/2014/main" id="{732F46F1-6053-CAB9-0BD8-6E205E07C485}"/>
              </a:ext>
            </a:extLst>
          </p:cNvPr>
          <p:cNvSpPr/>
          <p:nvPr/>
        </p:nvSpPr>
        <p:spPr>
          <a:xfrm>
            <a:off x="666750" y="1775102"/>
            <a:ext cx="10858500" cy="457200"/>
          </a:xfrm>
          <a:prstGeom prst="rect">
            <a:avLst/>
          </a:prstGeom>
          <a:noFill/>
          <a:ln/>
        </p:spPr>
        <p:txBody>
          <a:bodyPr wrap="none" lIns="0" tIns="0" rIns="0" bIns="0" rtlCol="0" anchor="ctr"/>
          <a:lstStyle/>
          <a:p>
            <a:pPr>
              <a:lnSpc>
                <a:spcPct val="100000"/>
              </a:lnSpc>
            </a:pPr>
            <a:r>
              <a:rPr lang="en-US" sz="1350" b="1" dirty="0" err="1">
                <a:solidFill>
                  <a:srgbClr val="FFFFFF"/>
                </a:solidFill>
                <a:latin typeface="思源宋体" panose="02010600030101010101" charset="-122"/>
                <a:ea typeface="思源宋体" panose="02010600030101010101" charset="-122"/>
                <a:cs typeface="Quattrocento Sans" pitchFamily="34" charset="-120"/>
              </a:rPr>
              <a:t>核心策略：</a:t>
            </a:r>
            <a:r>
              <a:rPr lang="en-US" sz="1350" dirty="0" err="1">
                <a:solidFill>
                  <a:srgbClr val="FFFFFF"/>
                </a:solidFill>
                <a:latin typeface="思源宋体" panose="02010600030101010101" charset="-122"/>
                <a:ea typeface="思源宋体" panose="02010600030101010101" charset="-122"/>
                <a:cs typeface="Quattrocento Sans" pitchFamily="34" charset="-120"/>
              </a:rPr>
              <a:t>从公募基金开始</a:t>
            </a:r>
            <a:r>
              <a:rPr lang="en-US" sz="1350" dirty="0">
                <a:solidFill>
                  <a:srgbClr val="FFFFFF"/>
                </a:solidFill>
                <a:latin typeface="思源宋体" panose="02010600030101010101" charset="-122"/>
                <a:ea typeface="思源宋体" panose="02010600030101010101" charset="-122"/>
                <a:cs typeface="Quattrocento Sans" pitchFamily="34" charset="-120"/>
              </a:rPr>
              <a:t>，</a:t>
            </a:r>
            <a:r>
              <a:rPr lang="zh-CN" altLang="en-US" sz="1350" dirty="0">
                <a:solidFill>
                  <a:srgbClr val="FFFFFF"/>
                </a:solidFill>
                <a:latin typeface="思源宋体" panose="02010600030101010101" charset="-122"/>
                <a:ea typeface="思源宋体" panose="02010600030101010101" charset="-122"/>
                <a:cs typeface="Quattrocento Sans" pitchFamily="34" charset="-120"/>
              </a:rPr>
              <a:t>我们坚信</a:t>
            </a:r>
            <a:r>
              <a:rPr lang="en-US" sz="1350" dirty="0" err="1">
                <a:solidFill>
                  <a:srgbClr val="FFFFFF"/>
                </a:solidFill>
                <a:latin typeface="思源宋体" panose="02010600030101010101" charset="-122"/>
                <a:ea typeface="思源宋体" panose="02010600030101010101" charset="-122"/>
                <a:cs typeface="Quattrocento Sans" pitchFamily="34" charset="-120"/>
              </a:rPr>
              <a:t>用最简单的工具（指数</a:t>
            </a:r>
            <a:r>
              <a:rPr lang="en-US" sz="1350" dirty="0">
                <a:solidFill>
                  <a:srgbClr val="FFFFFF"/>
                </a:solidFill>
                <a:latin typeface="思源宋体" panose="02010600030101010101" charset="-122"/>
                <a:ea typeface="思源宋体" panose="02010600030101010101" charset="-122"/>
                <a:cs typeface="Quattrocento Sans" pitchFamily="34" charset="-120"/>
              </a:rPr>
              <a:t>/ETF）</a:t>
            </a:r>
            <a:r>
              <a:rPr lang="zh-CN" altLang="en-US" sz="1350" dirty="0">
                <a:solidFill>
                  <a:srgbClr val="FFFFFF"/>
                </a:solidFill>
                <a:latin typeface="思源宋体" panose="02010600030101010101" charset="-122"/>
                <a:ea typeface="思源宋体" panose="02010600030101010101" charset="-122"/>
                <a:cs typeface="Quattrocento Sans" pitchFamily="34" charset="-120"/>
              </a:rPr>
              <a:t>就能</a:t>
            </a:r>
            <a:r>
              <a:rPr lang="en-US" sz="1350" dirty="0" err="1">
                <a:solidFill>
                  <a:srgbClr val="FFFFFF"/>
                </a:solidFill>
                <a:latin typeface="思源宋体" panose="02010600030101010101" charset="-122"/>
                <a:ea typeface="思源宋体" panose="02010600030101010101" charset="-122"/>
                <a:cs typeface="Quattrocento Sans" pitchFamily="34" charset="-120"/>
              </a:rPr>
              <a:t>搭出很好的效果</a:t>
            </a:r>
            <a:r>
              <a:rPr lang="en-US" sz="1350" dirty="0">
                <a:solidFill>
                  <a:srgbClr val="FFFFFF"/>
                </a:solidFill>
                <a:latin typeface="思源宋体" panose="02010600030101010101" charset="-122"/>
                <a:ea typeface="思源宋体" panose="02010600030101010101" charset="-122"/>
                <a:cs typeface="Quattrocento Sans" pitchFamily="34" charset="-120"/>
              </a:rPr>
              <a:t>——</a:t>
            </a:r>
            <a:r>
              <a:rPr lang="en-US" sz="1350" dirty="0" err="1">
                <a:solidFill>
                  <a:srgbClr val="FFFFFF"/>
                </a:solidFill>
                <a:latin typeface="思源宋体" panose="02010600030101010101" charset="-122"/>
                <a:ea typeface="思源宋体" panose="02010600030101010101" charset="-122"/>
                <a:cs typeface="Quattrocento Sans" pitchFamily="34" charset="-120"/>
              </a:rPr>
              <a:t>产品不重要，重要的是</a:t>
            </a:r>
            <a:r>
              <a:rPr lang="zh-CN" altLang="en-US" sz="1350" dirty="0">
                <a:solidFill>
                  <a:srgbClr val="FFFFFF"/>
                </a:solidFill>
                <a:latin typeface="思源宋体" panose="02010600030101010101" charset="-122"/>
                <a:ea typeface="思源宋体" panose="02010600030101010101" charset="-122"/>
                <a:cs typeface="Quattrocento Sans" pitchFamily="34" charset="-120"/>
              </a:rPr>
              <a:t>账户和动平衡！</a:t>
            </a:r>
            <a:endParaRPr lang="en-US" sz="1200" dirty="0">
              <a:latin typeface="思源宋体" panose="02010600030101010101" charset="-122"/>
              <a:ea typeface="思源宋体" panose="02010600030101010101" charset="-122"/>
            </a:endParaRPr>
          </a:p>
        </p:txBody>
      </p:sp>
      <p:sp>
        <p:nvSpPr>
          <p:cNvPr id="40" name="Shape 14">
            <a:extLst>
              <a:ext uri="{FF2B5EF4-FFF2-40B4-BE49-F238E27FC236}">
                <a16:creationId xmlns="" xmlns:a16="http://schemas.microsoft.com/office/drawing/2014/main" id="{0A4572B9-87A3-9BFC-2755-74B672B37D19}"/>
              </a:ext>
            </a:extLst>
          </p:cNvPr>
          <p:cNvSpPr/>
          <p:nvPr/>
        </p:nvSpPr>
        <p:spPr>
          <a:xfrm>
            <a:off x="476250" y="2384702"/>
            <a:ext cx="5429250" cy="1905000"/>
          </a:xfrm>
          <a:prstGeom prst="rect">
            <a:avLst/>
          </a:prstGeom>
          <a:solidFill>
            <a:srgbClr val="FFF5F5"/>
          </a:solidFill>
          <a:ln w="25400">
            <a:solidFill>
              <a:srgbClr val="8B1A1A"/>
            </a:solidFill>
            <a:prstDash val="solid"/>
          </a:ln>
        </p:spPr>
        <p:txBody>
          <a:bodyPr/>
          <a:lstStyle/>
          <a:p>
            <a:endParaRPr lang="zh-CN" altLang="en-US" sz="1350">
              <a:latin typeface="思源宋体" panose="02010600030101010101" charset="-122"/>
              <a:ea typeface="思源宋体" panose="02010600030101010101" charset="-122"/>
            </a:endParaRPr>
          </a:p>
        </p:txBody>
      </p:sp>
      <p:sp>
        <p:nvSpPr>
          <p:cNvPr id="41" name="Shape 15">
            <a:extLst>
              <a:ext uri="{FF2B5EF4-FFF2-40B4-BE49-F238E27FC236}">
                <a16:creationId xmlns="" xmlns:a16="http://schemas.microsoft.com/office/drawing/2014/main" id="{75637065-04AC-0066-0E16-93AEA7C344E1}"/>
              </a:ext>
            </a:extLst>
          </p:cNvPr>
          <p:cNvSpPr/>
          <p:nvPr/>
        </p:nvSpPr>
        <p:spPr>
          <a:xfrm>
            <a:off x="476250" y="2384702"/>
            <a:ext cx="495300" cy="495300"/>
          </a:xfrm>
          <a:prstGeom prst="rect">
            <a:avLst/>
          </a:prstGeom>
          <a:solidFill>
            <a:srgbClr val="8B1A1A"/>
          </a:solidFill>
          <a:ln/>
        </p:spPr>
        <p:txBody>
          <a:bodyPr/>
          <a:lstStyle/>
          <a:p>
            <a:endParaRPr lang="zh-CN" altLang="en-US" sz="1350">
              <a:latin typeface="思源宋体" panose="02010600030101010101" charset="-122"/>
              <a:ea typeface="思源宋体" panose="02010600030101010101" charset="-122"/>
            </a:endParaRPr>
          </a:p>
        </p:txBody>
      </p:sp>
      <p:sp>
        <p:nvSpPr>
          <p:cNvPr id="42" name="Text 16">
            <a:extLst>
              <a:ext uri="{FF2B5EF4-FFF2-40B4-BE49-F238E27FC236}">
                <a16:creationId xmlns="" xmlns:a16="http://schemas.microsoft.com/office/drawing/2014/main" id="{EBE2BA41-0C2E-8840-F40A-5527F9B856E2}"/>
              </a:ext>
            </a:extLst>
          </p:cNvPr>
          <p:cNvSpPr/>
          <p:nvPr/>
        </p:nvSpPr>
        <p:spPr>
          <a:xfrm>
            <a:off x="476250" y="2384702"/>
            <a:ext cx="495300" cy="495300"/>
          </a:xfrm>
          <a:prstGeom prst="rect">
            <a:avLst/>
          </a:prstGeom>
          <a:noFill/>
          <a:ln/>
        </p:spPr>
        <p:txBody>
          <a:bodyPr wrap="none" lIns="0" tIns="0" rIns="0" bIns="0" rtlCol="0" anchor="ctr"/>
          <a:lstStyle/>
          <a:p>
            <a:pPr algn="ctr">
              <a:lnSpc>
                <a:spcPct val="100000"/>
              </a:lnSpc>
            </a:pPr>
            <a:r>
              <a:rPr lang="en-US" b="1" dirty="0">
                <a:solidFill>
                  <a:srgbClr val="FFFFFF"/>
                </a:solidFill>
                <a:latin typeface="思源宋体" panose="02010600030101010101" charset="-122"/>
                <a:ea typeface="思源宋体" panose="02010600030101010101" charset="-122"/>
                <a:cs typeface="Quattrocento Sans" pitchFamily="34" charset="-120"/>
              </a:rPr>
              <a:t>01</a:t>
            </a:r>
            <a:endParaRPr lang="en-US" sz="1200" dirty="0">
              <a:latin typeface="思源宋体" panose="02010600030101010101" charset="-122"/>
              <a:ea typeface="思源宋体" panose="02010600030101010101" charset="-122"/>
            </a:endParaRPr>
          </a:p>
        </p:txBody>
      </p:sp>
      <p:sp>
        <p:nvSpPr>
          <p:cNvPr id="43" name="Text 17">
            <a:extLst>
              <a:ext uri="{FF2B5EF4-FFF2-40B4-BE49-F238E27FC236}">
                <a16:creationId xmlns="" xmlns:a16="http://schemas.microsoft.com/office/drawing/2014/main" id="{7D4C2BF7-B2B3-113E-C0FB-8866F3808288}"/>
              </a:ext>
            </a:extLst>
          </p:cNvPr>
          <p:cNvSpPr/>
          <p:nvPr/>
        </p:nvSpPr>
        <p:spPr>
          <a:xfrm>
            <a:off x="1104900" y="2460902"/>
            <a:ext cx="4572000" cy="266700"/>
          </a:xfrm>
          <a:prstGeom prst="rect">
            <a:avLst/>
          </a:prstGeom>
          <a:noFill/>
          <a:ln/>
        </p:spPr>
        <p:txBody>
          <a:bodyPr wrap="none" lIns="0" tIns="0" rIns="0" bIns="0" rtlCol="0" anchor="ctr"/>
          <a:lstStyle/>
          <a:p>
            <a:pPr>
              <a:lnSpc>
                <a:spcPct val="100000"/>
              </a:lnSpc>
            </a:pPr>
            <a:r>
              <a:rPr lang="en-US" sz="1350" b="1" dirty="0" err="1">
                <a:solidFill>
                  <a:srgbClr val="8B1A1A"/>
                </a:solidFill>
                <a:latin typeface="思源宋体" panose="02010600030101010101" charset="-122"/>
                <a:ea typeface="思源宋体" panose="02010600030101010101" charset="-122"/>
                <a:cs typeface="Quattrocento Sans" pitchFamily="34" charset="-120"/>
              </a:rPr>
              <a:t>增值</a:t>
            </a:r>
            <a:r>
              <a:rPr lang="zh-CN" altLang="en-US" sz="1350" b="1" dirty="0">
                <a:solidFill>
                  <a:srgbClr val="8B1A1A"/>
                </a:solidFill>
                <a:latin typeface="思源宋体" panose="02010600030101010101" charset="-122"/>
                <a:ea typeface="思源宋体" panose="02010600030101010101" charset="-122"/>
                <a:cs typeface="Quattrocento Sans" pitchFamily="34" charset="-120"/>
              </a:rPr>
              <a:t>部分</a:t>
            </a:r>
            <a:endParaRPr lang="en-US" sz="1200" dirty="0">
              <a:latin typeface="思源宋体" panose="02010600030101010101" charset="-122"/>
              <a:ea typeface="思源宋体" panose="02010600030101010101" charset="-122"/>
            </a:endParaRPr>
          </a:p>
        </p:txBody>
      </p:sp>
      <p:sp>
        <p:nvSpPr>
          <p:cNvPr id="44" name="Text 18">
            <a:extLst>
              <a:ext uri="{FF2B5EF4-FFF2-40B4-BE49-F238E27FC236}">
                <a16:creationId xmlns="" xmlns:a16="http://schemas.microsoft.com/office/drawing/2014/main" id="{E07DE878-3396-1E5E-BF96-AD0D989DDC25}"/>
              </a:ext>
            </a:extLst>
          </p:cNvPr>
          <p:cNvSpPr/>
          <p:nvPr/>
        </p:nvSpPr>
        <p:spPr>
          <a:xfrm>
            <a:off x="628650" y="2975252"/>
            <a:ext cx="5086350" cy="1238250"/>
          </a:xfrm>
          <a:prstGeom prst="rect">
            <a:avLst/>
          </a:prstGeom>
          <a:noFill/>
          <a:ln/>
        </p:spPr>
        <p:txBody>
          <a:bodyPr wrap="square" lIns="0" tIns="0" rIns="0" bIns="0" rtlCol="0" anchor="ctr"/>
          <a:lstStyle/>
          <a:p>
            <a:pPr>
              <a:lnSpc>
                <a:spcPct val="170000"/>
              </a:lnSpc>
            </a:pPr>
            <a:r>
              <a:rPr lang="en-US" altLang="zh-CN"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对标市场指数，可以选取宽基指数</a:t>
            </a:r>
            <a:r>
              <a:rPr lang="en-US" altLang="zh-CN" sz="1200" dirty="0">
                <a:solidFill>
                  <a:srgbClr val="2C2C2C"/>
                </a:solidFill>
                <a:latin typeface="思源宋体" panose="02010600030101010101" charset="-122"/>
                <a:ea typeface="思源宋体" panose="02010600030101010101" charset="-122"/>
                <a:cs typeface="Quattrocento Sans" pitchFamily="34" charset="-120"/>
              </a:rPr>
              <a:t>ETF</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或指增基金</a:t>
            </a:r>
            <a:endParaRPr lang="en-US" altLang="zh-CN" sz="1200" dirty="0">
              <a:solidFill>
                <a:srgbClr val="2C2C2C"/>
              </a:solidFill>
              <a:latin typeface="思源宋体" panose="02010600030101010101" charset="-122"/>
              <a:ea typeface="思源宋体" panose="02010600030101010101" charset="-122"/>
              <a:cs typeface="Quattrocento Sans" pitchFamily="34" charset="-120"/>
            </a:endParaRPr>
          </a:p>
          <a:p>
            <a:pPr>
              <a:lnSpc>
                <a:spcPct val="170000"/>
              </a:lnSpc>
            </a:pPr>
            <a:r>
              <a:rPr lang="en-US"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对标产业趋势，可进一步提升锐度，捕捉</a:t>
            </a:r>
            <a:r>
              <a:rPr lang="en-US" sz="1200" dirty="0">
                <a:solidFill>
                  <a:srgbClr val="2C2C2C"/>
                </a:solidFill>
                <a:latin typeface="思源宋体" panose="02010600030101010101" charset="-122"/>
                <a:ea typeface="思源宋体" panose="02010600030101010101" charset="-122"/>
                <a:cs typeface="Quattrocento Sans" pitchFamily="34" charset="-120"/>
              </a:rPr>
              <a:t>AI</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革命带来的科技红利，采用</a:t>
            </a:r>
            <a:r>
              <a:rPr lang="en-US" altLang="zh-CN" sz="1200" dirty="0" err="1">
                <a:solidFill>
                  <a:srgbClr val="2C2C2C"/>
                </a:solidFill>
                <a:latin typeface="思源宋体" panose="02010600030101010101" charset="-122"/>
                <a:ea typeface="思源宋体" panose="02010600030101010101" charset="-122"/>
                <a:cs typeface="Quattrocento Sans" pitchFamily="34" charset="-120"/>
              </a:rPr>
              <a:t>公募指数基金</a:t>
            </a:r>
            <a:r>
              <a:rPr lang="en-US" altLang="zh-CN" sz="1200" dirty="0">
                <a:solidFill>
                  <a:srgbClr val="2C2C2C"/>
                </a:solidFill>
                <a:latin typeface="思源宋体" panose="02010600030101010101" charset="-122"/>
                <a:ea typeface="思源宋体" panose="02010600030101010101" charset="-122"/>
                <a:cs typeface="Quattrocento Sans" pitchFamily="34" charset="-120"/>
              </a:rPr>
              <a:t>（</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例</a:t>
            </a:r>
            <a:r>
              <a:rPr lang="en-US" altLang="zh-CN" sz="1200" dirty="0" err="1">
                <a:solidFill>
                  <a:srgbClr val="2C2C2C"/>
                </a:solidFill>
                <a:latin typeface="思源宋体" panose="02010600030101010101" charset="-122"/>
                <a:ea typeface="思源宋体" panose="02010600030101010101" charset="-122"/>
                <a:cs typeface="Quattrocento Sans" pitchFamily="34" charset="-120"/>
              </a:rPr>
              <a:t>如科创芯片ETF</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等</a:t>
            </a:r>
            <a:r>
              <a:rPr lang="en-US" altLang="zh-CN" sz="1200" dirty="0">
                <a:solidFill>
                  <a:srgbClr val="2C2C2C"/>
                </a:solidFill>
                <a:latin typeface="思源宋体" panose="02010600030101010101" charset="-122"/>
                <a:ea typeface="思源宋体" panose="02010600030101010101" charset="-122"/>
                <a:cs typeface="Quattrocento Sans" pitchFamily="34" charset="-120"/>
              </a:rPr>
              <a:t>）</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或精选优质主观策略管理人</a:t>
            </a:r>
            <a:endParaRPr lang="en-US" altLang="zh-CN" sz="1200" dirty="0">
              <a:solidFill>
                <a:srgbClr val="2C2C2C"/>
              </a:solidFill>
              <a:latin typeface="思源宋体" panose="02010600030101010101" charset="-122"/>
              <a:ea typeface="思源宋体" panose="02010600030101010101" charset="-122"/>
              <a:cs typeface="Quattrocento Sans" pitchFamily="34" charset="-120"/>
            </a:endParaRPr>
          </a:p>
          <a:p>
            <a:pPr lvl="0">
              <a:lnSpc>
                <a:spcPct val="170000"/>
              </a:lnSpc>
              <a:defRPr/>
            </a:pPr>
            <a:r>
              <a:rPr lang="en-US" altLang="zh-CN"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借力集团投研，深挖产业链最具稀缺性的机会，覆盖增值配置的机会成本</a:t>
            </a:r>
            <a:endParaRPr lang="en-US" altLang="zh-CN" sz="1200" dirty="0">
              <a:solidFill>
                <a:srgbClr val="2C2C2C"/>
              </a:solidFill>
              <a:latin typeface="思源宋体" panose="02010600030101010101" charset="-122"/>
              <a:ea typeface="思源宋体" panose="02010600030101010101" charset="-122"/>
              <a:cs typeface="Quattrocento Sans" pitchFamily="34" charset="-120"/>
            </a:endParaRPr>
          </a:p>
        </p:txBody>
      </p:sp>
      <p:sp>
        <p:nvSpPr>
          <p:cNvPr id="45" name="Shape 19">
            <a:extLst>
              <a:ext uri="{FF2B5EF4-FFF2-40B4-BE49-F238E27FC236}">
                <a16:creationId xmlns="" xmlns:a16="http://schemas.microsoft.com/office/drawing/2014/main" id="{35EBFEB0-C7A8-4A6C-1BE6-3F03C7DCFB09}"/>
              </a:ext>
            </a:extLst>
          </p:cNvPr>
          <p:cNvSpPr/>
          <p:nvPr/>
        </p:nvSpPr>
        <p:spPr>
          <a:xfrm>
            <a:off x="6286500" y="2384702"/>
            <a:ext cx="5429250" cy="1905000"/>
          </a:xfrm>
          <a:prstGeom prst="rect">
            <a:avLst/>
          </a:prstGeom>
          <a:solidFill>
            <a:srgbClr val="FFF8E6"/>
          </a:solidFill>
          <a:ln w="25400">
            <a:solidFill>
              <a:srgbClr val="B8860B"/>
            </a:solidFill>
            <a:prstDash val="solid"/>
          </a:ln>
        </p:spPr>
        <p:txBody>
          <a:bodyPr/>
          <a:lstStyle/>
          <a:p>
            <a:endParaRPr lang="zh-CN" altLang="en-US" sz="1350">
              <a:latin typeface="思源宋体" panose="02010600030101010101" charset="-122"/>
              <a:ea typeface="思源宋体" panose="02010600030101010101" charset="-122"/>
            </a:endParaRPr>
          </a:p>
        </p:txBody>
      </p:sp>
      <p:sp>
        <p:nvSpPr>
          <p:cNvPr id="46" name="Shape 20">
            <a:extLst>
              <a:ext uri="{FF2B5EF4-FFF2-40B4-BE49-F238E27FC236}">
                <a16:creationId xmlns="" xmlns:a16="http://schemas.microsoft.com/office/drawing/2014/main" id="{08EA37BA-2438-484D-2A6A-8D206F04E42C}"/>
              </a:ext>
            </a:extLst>
          </p:cNvPr>
          <p:cNvSpPr/>
          <p:nvPr/>
        </p:nvSpPr>
        <p:spPr>
          <a:xfrm>
            <a:off x="6286500" y="2384702"/>
            <a:ext cx="495300" cy="495300"/>
          </a:xfrm>
          <a:prstGeom prst="rect">
            <a:avLst/>
          </a:prstGeom>
          <a:solidFill>
            <a:srgbClr val="B8860B"/>
          </a:solidFill>
          <a:ln/>
        </p:spPr>
        <p:txBody>
          <a:bodyPr/>
          <a:lstStyle/>
          <a:p>
            <a:endParaRPr lang="zh-CN" altLang="en-US" sz="1350">
              <a:latin typeface="思源宋体" panose="02010600030101010101" charset="-122"/>
              <a:ea typeface="思源宋体" panose="02010600030101010101" charset="-122"/>
            </a:endParaRPr>
          </a:p>
        </p:txBody>
      </p:sp>
      <p:sp>
        <p:nvSpPr>
          <p:cNvPr id="47" name="Text 21">
            <a:extLst>
              <a:ext uri="{FF2B5EF4-FFF2-40B4-BE49-F238E27FC236}">
                <a16:creationId xmlns="" xmlns:a16="http://schemas.microsoft.com/office/drawing/2014/main" id="{519306DE-81A3-7D2E-5BEF-3EE3DDD3D634}"/>
              </a:ext>
            </a:extLst>
          </p:cNvPr>
          <p:cNvSpPr/>
          <p:nvPr/>
        </p:nvSpPr>
        <p:spPr>
          <a:xfrm>
            <a:off x="6286500" y="2384702"/>
            <a:ext cx="495300" cy="495300"/>
          </a:xfrm>
          <a:prstGeom prst="rect">
            <a:avLst/>
          </a:prstGeom>
          <a:noFill/>
          <a:ln/>
        </p:spPr>
        <p:txBody>
          <a:bodyPr wrap="none" lIns="0" tIns="0" rIns="0" bIns="0" rtlCol="0" anchor="ctr"/>
          <a:lstStyle/>
          <a:p>
            <a:pPr algn="ctr">
              <a:lnSpc>
                <a:spcPct val="100000"/>
              </a:lnSpc>
            </a:pPr>
            <a:r>
              <a:rPr lang="en-US" b="1" dirty="0">
                <a:solidFill>
                  <a:srgbClr val="FFFFFF"/>
                </a:solidFill>
                <a:latin typeface="思源宋体" panose="02010600030101010101" charset="-122"/>
                <a:ea typeface="思源宋体" panose="02010600030101010101" charset="-122"/>
                <a:cs typeface="Quattrocento Sans" pitchFamily="34" charset="-120"/>
              </a:rPr>
              <a:t>02</a:t>
            </a:r>
            <a:endParaRPr lang="en-US" sz="1200" dirty="0">
              <a:latin typeface="思源宋体" panose="02010600030101010101" charset="-122"/>
              <a:ea typeface="思源宋体" panose="02010600030101010101" charset="-122"/>
            </a:endParaRPr>
          </a:p>
        </p:txBody>
      </p:sp>
      <p:sp>
        <p:nvSpPr>
          <p:cNvPr id="48" name="Text 22">
            <a:extLst>
              <a:ext uri="{FF2B5EF4-FFF2-40B4-BE49-F238E27FC236}">
                <a16:creationId xmlns="" xmlns:a16="http://schemas.microsoft.com/office/drawing/2014/main" id="{98E0CE94-446B-70F1-14FA-87F6CCE9ED5A}"/>
              </a:ext>
            </a:extLst>
          </p:cNvPr>
          <p:cNvSpPr/>
          <p:nvPr/>
        </p:nvSpPr>
        <p:spPr>
          <a:xfrm>
            <a:off x="6915150" y="2460902"/>
            <a:ext cx="4572000" cy="266700"/>
          </a:xfrm>
          <a:prstGeom prst="rect">
            <a:avLst/>
          </a:prstGeom>
          <a:noFill/>
          <a:ln/>
        </p:spPr>
        <p:txBody>
          <a:bodyPr wrap="none" lIns="0" tIns="0" rIns="0" bIns="0" rtlCol="0" anchor="ctr"/>
          <a:lstStyle/>
          <a:p>
            <a:pPr>
              <a:lnSpc>
                <a:spcPct val="100000"/>
              </a:lnSpc>
            </a:pPr>
            <a:r>
              <a:rPr lang="en-US" sz="1350" b="1" dirty="0" err="1">
                <a:solidFill>
                  <a:srgbClr val="6D4C00"/>
                </a:solidFill>
                <a:latin typeface="思源宋体" panose="02010600030101010101" charset="-122"/>
                <a:ea typeface="思源宋体" panose="02010600030101010101" charset="-122"/>
                <a:cs typeface="Quattrocento Sans" pitchFamily="34" charset="-120"/>
              </a:rPr>
              <a:t>生息</a:t>
            </a:r>
            <a:r>
              <a:rPr lang="zh-CN" altLang="en-US" sz="1350" b="1" dirty="0">
                <a:solidFill>
                  <a:srgbClr val="6D4C00"/>
                </a:solidFill>
                <a:latin typeface="思源宋体" panose="02010600030101010101" charset="-122"/>
                <a:ea typeface="思源宋体" panose="02010600030101010101" charset="-122"/>
                <a:cs typeface="Quattrocento Sans" pitchFamily="34" charset="-120"/>
              </a:rPr>
              <a:t>部分</a:t>
            </a:r>
            <a:endParaRPr lang="en-US" sz="1200" dirty="0">
              <a:latin typeface="思源宋体" panose="02010600030101010101" charset="-122"/>
              <a:ea typeface="思源宋体" panose="02010600030101010101" charset="-122"/>
            </a:endParaRPr>
          </a:p>
        </p:txBody>
      </p:sp>
      <p:sp>
        <p:nvSpPr>
          <p:cNvPr id="49" name="Text 23">
            <a:extLst>
              <a:ext uri="{FF2B5EF4-FFF2-40B4-BE49-F238E27FC236}">
                <a16:creationId xmlns="" xmlns:a16="http://schemas.microsoft.com/office/drawing/2014/main" id="{4DDB55AF-4556-8147-9879-46D83A8D2F7F}"/>
              </a:ext>
            </a:extLst>
          </p:cNvPr>
          <p:cNvSpPr/>
          <p:nvPr/>
        </p:nvSpPr>
        <p:spPr>
          <a:xfrm>
            <a:off x="6438900" y="2918102"/>
            <a:ext cx="5086350" cy="1238250"/>
          </a:xfrm>
          <a:prstGeom prst="rect">
            <a:avLst/>
          </a:prstGeom>
          <a:noFill/>
          <a:ln/>
        </p:spPr>
        <p:txBody>
          <a:bodyPr wrap="square" lIns="0" tIns="0" rIns="0" bIns="0" rtlCol="0" anchor="ctr"/>
          <a:lstStyle/>
          <a:p>
            <a:pPr>
              <a:lnSpc>
                <a:spcPct val="170000"/>
              </a:lnSpc>
            </a:pPr>
            <a:r>
              <a:rPr lang="en-US"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回归生息的本原</a:t>
            </a:r>
            <a:endParaRPr lang="en-US" sz="1200" dirty="0">
              <a:solidFill>
                <a:srgbClr val="2C2C2C"/>
              </a:solidFill>
              <a:latin typeface="思源宋体" panose="02010600030101010101" charset="-122"/>
              <a:ea typeface="思源宋体" panose="02010600030101010101" charset="-122"/>
              <a:cs typeface="Quattrocento Sans" pitchFamily="34" charset="-120"/>
            </a:endParaRPr>
          </a:p>
          <a:p>
            <a:pPr>
              <a:lnSpc>
                <a:spcPct val="170000"/>
              </a:lnSpc>
            </a:pPr>
            <a:r>
              <a:rPr lang="en-US" altLang="zh-CN"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最简单的</a:t>
            </a:r>
            <a:r>
              <a:rPr lang="en-US" sz="1200" dirty="0" err="1">
                <a:solidFill>
                  <a:srgbClr val="2C2C2C"/>
                </a:solidFill>
                <a:latin typeface="思源宋体" panose="02010600030101010101" charset="-122"/>
                <a:ea typeface="思源宋体" panose="02010600030101010101" charset="-122"/>
                <a:cs typeface="Quattrocento Sans" pitchFamily="34" charset="-120"/>
              </a:rPr>
              <a:t>债券类公募产品</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即能满足配置要求</a:t>
            </a:r>
            <a:endParaRPr lang="en-US" sz="1200" dirty="0">
              <a:latin typeface="思源宋体" panose="02010600030101010101" charset="-122"/>
              <a:ea typeface="思源宋体" panose="02010600030101010101" charset="-122"/>
            </a:endParaRPr>
          </a:p>
          <a:p>
            <a:pPr>
              <a:lnSpc>
                <a:spcPct val="170000"/>
              </a:lnSpc>
            </a:pPr>
            <a:r>
              <a:rPr lang="en-US"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生息模块更为纯粹，体现生息资产的稳定性特质</a:t>
            </a:r>
            <a:endParaRPr lang="en-US" sz="1200" dirty="0">
              <a:latin typeface="思源宋体" panose="02010600030101010101" charset="-122"/>
              <a:ea typeface="思源宋体" panose="02010600030101010101" charset="-122"/>
            </a:endParaRPr>
          </a:p>
        </p:txBody>
      </p:sp>
      <p:sp>
        <p:nvSpPr>
          <p:cNvPr id="50" name="Shape 24">
            <a:extLst>
              <a:ext uri="{FF2B5EF4-FFF2-40B4-BE49-F238E27FC236}">
                <a16:creationId xmlns="" xmlns:a16="http://schemas.microsoft.com/office/drawing/2014/main" id="{8D54EDBC-E902-64F1-F94B-4ECD91869679}"/>
              </a:ext>
            </a:extLst>
          </p:cNvPr>
          <p:cNvSpPr/>
          <p:nvPr/>
        </p:nvSpPr>
        <p:spPr>
          <a:xfrm>
            <a:off x="476250" y="4480202"/>
            <a:ext cx="5429250" cy="1905000"/>
          </a:xfrm>
          <a:prstGeom prst="rect">
            <a:avLst/>
          </a:prstGeom>
          <a:solidFill>
            <a:srgbClr val="FFF5F5"/>
          </a:solidFill>
          <a:ln w="25400">
            <a:solidFill>
              <a:srgbClr val="6D0E0E"/>
            </a:solidFill>
            <a:prstDash val="solid"/>
          </a:ln>
        </p:spPr>
        <p:txBody>
          <a:bodyPr/>
          <a:lstStyle/>
          <a:p>
            <a:endParaRPr lang="zh-CN" altLang="en-US" sz="1350">
              <a:latin typeface="思源宋体" panose="02010600030101010101" charset="-122"/>
              <a:ea typeface="思源宋体" panose="02010600030101010101" charset="-122"/>
            </a:endParaRPr>
          </a:p>
        </p:txBody>
      </p:sp>
      <p:sp>
        <p:nvSpPr>
          <p:cNvPr id="51" name="Shape 25">
            <a:extLst>
              <a:ext uri="{FF2B5EF4-FFF2-40B4-BE49-F238E27FC236}">
                <a16:creationId xmlns="" xmlns:a16="http://schemas.microsoft.com/office/drawing/2014/main" id="{4A9353A8-9A16-9F00-5F43-635095F75ECF}"/>
              </a:ext>
            </a:extLst>
          </p:cNvPr>
          <p:cNvSpPr/>
          <p:nvPr/>
        </p:nvSpPr>
        <p:spPr>
          <a:xfrm>
            <a:off x="476250" y="4480202"/>
            <a:ext cx="495300" cy="495300"/>
          </a:xfrm>
          <a:prstGeom prst="rect">
            <a:avLst/>
          </a:prstGeom>
          <a:solidFill>
            <a:srgbClr val="6D0E0E"/>
          </a:solidFill>
          <a:ln/>
        </p:spPr>
        <p:txBody>
          <a:bodyPr/>
          <a:lstStyle/>
          <a:p>
            <a:endParaRPr lang="zh-CN" altLang="en-US" sz="1350">
              <a:latin typeface="思源宋体" panose="02010600030101010101" charset="-122"/>
              <a:ea typeface="思源宋体" panose="02010600030101010101" charset="-122"/>
            </a:endParaRPr>
          </a:p>
        </p:txBody>
      </p:sp>
      <p:sp>
        <p:nvSpPr>
          <p:cNvPr id="52" name="Text 26">
            <a:extLst>
              <a:ext uri="{FF2B5EF4-FFF2-40B4-BE49-F238E27FC236}">
                <a16:creationId xmlns="" xmlns:a16="http://schemas.microsoft.com/office/drawing/2014/main" id="{292079E4-0B94-AD62-0BC0-16BB629C57F6}"/>
              </a:ext>
            </a:extLst>
          </p:cNvPr>
          <p:cNvSpPr/>
          <p:nvPr/>
        </p:nvSpPr>
        <p:spPr>
          <a:xfrm>
            <a:off x="476250" y="4480202"/>
            <a:ext cx="495300" cy="495300"/>
          </a:xfrm>
          <a:prstGeom prst="rect">
            <a:avLst/>
          </a:prstGeom>
          <a:noFill/>
          <a:ln/>
        </p:spPr>
        <p:txBody>
          <a:bodyPr wrap="none" lIns="0" tIns="0" rIns="0" bIns="0" rtlCol="0" anchor="ctr"/>
          <a:lstStyle/>
          <a:p>
            <a:pPr algn="ctr">
              <a:lnSpc>
                <a:spcPct val="100000"/>
              </a:lnSpc>
            </a:pPr>
            <a:r>
              <a:rPr lang="en-US" b="1" dirty="0">
                <a:solidFill>
                  <a:srgbClr val="FFFFFF"/>
                </a:solidFill>
                <a:latin typeface="思源宋体" panose="02010600030101010101" charset="-122"/>
                <a:ea typeface="思源宋体" panose="02010600030101010101" charset="-122"/>
                <a:cs typeface="Quattrocento Sans" pitchFamily="34" charset="-120"/>
              </a:rPr>
              <a:t>03</a:t>
            </a:r>
            <a:endParaRPr lang="en-US" sz="1200" dirty="0">
              <a:latin typeface="思源宋体" panose="02010600030101010101" charset="-122"/>
              <a:ea typeface="思源宋体" panose="02010600030101010101" charset="-122"/>
            </a:endParaRPr>
          </a:p>
        </p:txBody>
      </p:sp>
      <p:sp>
        <p:nvSpPr>
          <p:cNvPr id="53" name="Text 27">
            <a:extLst>
              <a:ext uri="{FF2B5EF4-FFF2-40B4-BE49-F238E27FC236}">
                <a16:creationId xmlns="" xmlns:a16="http://schemas.microsoft.com/office/drawing/2014/main" id="{06801E66-C8AF-F49C-6D7D-180949A4EB20}"/>
              </a:ext>
            </a:extLst>
          </p:cNvPr>
          <p:cNvSpPr/>
          <p:nvPr/>
        </p:nvSpPr>
        <p:spPr>
          <a:xfrm>
            <a:off x="1104900" y="4556402"/>
            <a:ext cx="4572000" cy="266700"/>
          </a:xfrm>
          <a:prstGeom prst="rect">
            <a:avLst/>
          </a:prstGeom>
          <a:noFill/>
          <a:ln/>
        </p:spPr>
        <p:txBody>
          <a:bodyPr wrap="none" lIns="0" tIns="0" rIns="0" bIns="0" rtlCol="0" anchor="ctr"/>
          <a:lstStyle/>
          <a:p>
            <a:pPr>
              <a:lnSpc>
                <a:spcPct val="100000"/>
              </a:lnSpc>
            </a:pPr>
            <a:r>
              <a:rPr lang="en-US" sz="1350" b="1" dirty="0" err="1">
                <a:solidFill>
                  <a:srgbClr val="6D0E0E"/>
                </a:solidFill>
                <a:latin typeface="思源宋体" panose="02010600030101010101" charset="-122"/>
                <a:ea typeface="思源宋体" panose="02010600030101010101" charset="-122"/>
                <a:cs typeface="Quattrocento Sans" pitchFamily="34" charset="-120"/>
              </a:rPr>
              <a:t>保障</a:t>
            </a:r>
            <a:r>
              <a:rPr lang="zh-CN" altLang="en-US" sz="1350" b="1" dirty="0">
                <a:solidFill>
                  <a:srgbClr val="6D0E0E"/>
                </a:solidFill>
                <a:latin typeface="思源宋体" panose="02010600030101010101" charset="-122"/>
                <a:ea typeface="思源宋体" panose="02010600030101010101" charset="-122"/>
                <a:cs typeface="Quattrocento Sans" pitchFamily="34" charset="-120"/>
              </a:rPr>
              <a:t>部分</a:t>
            </a:r>
            <a:endParaRPr lang="en-US" sz="1200" dirty="0">
              <a:latin typeface="思源宋体" panose="02010600030101010101" charset="-122"/>
              <a:ea typeface="思源宋体" panose="02010600030101010101" charset="-122"/>
            </a:endParaRPr>
          </a:p>
        </p:txBody>
      </p:sp>
      <p:sp>
        <p:nvSpPr>
          <p:cNvPr id="54" name="Text 28">
            <a:extLst>
              <a:ext uri="{FF2B5EF4-FFF2-40B4-BE49-F238E27FC236}">
                <a16:creationId xmlns="" xmlns:a16="http://schemas.microsoft.com/office/drawing/2014/main" id="{C59DE543-0F77-FA69-1063-7A14B3EEC516}"/>
              </a:ext>
            </a:extLst>
          </p:cNvPr>
          <p:cNvSpPr/>
          <p:nvPr/>
        </p:nvSpPr>
        <p:spPr>
          <a:xfrm>
            <a:off x="628650" y="5013602"/>
            <a:ext cx="5086350" cy="1238250"/>
          </a:xfrm>
          <a:prstGeom prst="rect">
            <a:avLst/>
          </a:prstGeom>
          <a:noFill/>
          <a:ln/>
        </p:spPr>
        <p:txBody>
          <a:bodyPr wrap="square" lIns="0" tIns="0" rIns="0" bIns="0" rtlCol="0" anchor="ctr"/>
          <a:lstStyle/>
          <a:p>
            <a:pPr>
              <a:lnSpc>
                <a:spcPct val="170000"/>
              </a:lnSpc>
            </a:pPr>
            <a:r>
              <a:rPr lang="en-US"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实物金及</a:t>
            </a:r>
            <a:r>
              <a:rPr lang="en-US" sz="1200" dirty="0" err="1">
                <a:solidFill>
                  <a:srgbClr val="2C2C2C"/>
                </a:solidFill>
                <a:latin typeface="思源宋体" panose="02010600030101010101" charset="-122"/>
                <a:ea typeface="思源宋体" panose="02010600030101010101" charset="-122"/>
                <a:cs typeface="Quattrocento Sans" pitchFamily="34" charset="-120"/>
              </a:rPr>
              <a:t>黄金</a:t>
            </a:r>
            <a:r>
              <a:rPr lang="en-US" altLang="zh-CN" sz="1200" dirty="0" err="1">
                <a:solidFill>
                  <a:srgbClr val="2C2C2C"/>
                </a:solidFill>
                <a:latin typeface="思源宋体" panose="02010600030101010101" charset="-122"/>
                <a:ea typeface="思源宋体" panose="02010600030101010101" charset="-122"/>
                <a:cs typeface="Quattrocento Sans" pitchFamily="34" charset="-120"/>
              </a:rPr>
              <a:t>ETF</a:t>
            </a:r>
            <a:r>
              <a:rPr lang="en-US" altLang="zh-CN"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等替代工具</a:t>
            </a:r>
            <a:endParaRPr lang="en-US" sz="1200" dirty="0">
              <a:latin typeface="思源宋体" panose="02010600030101010101" charset="-122"/>
              <a:ea typeface="思源宋体" panose="02010600030101010101" charset="-122"/>
            </a:endParaRPr>
          </a:p>
          <a:p>
            <a:pPr>
              <a:lnSpc>
                <a:spcPct val="170000"/>
              </a:lnSpc>
            </a:pPr>
            <a:r>
              <a:rPr lang="en-US"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超长久期国债</a:t>
            </a:r>
            <a:endParaRPr lang="en-US" sz="1200" dirty="0">
              <a:latin typeface="思源宋体" panose="02010600030101010101" charset="-122"/>
              <a:ea typeface="思源宋体" panose="02010600030101010101" charset="-122"/>
            </a:endParaRPr>
          </a:p>
          <a:p>
            <a:pPr>
              <a:lnSpc>
                <a:spcPct val="170000"/>
              </a:lnSpc>
            </a:pPr>
            <a:r>
              <a:rPr lang="en-US"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对超高净值客户的而言，其本人往往就是最值钱的资产，应具备灾备意识</a:t>
            </a:r>
            <a:endParaRPr lang="en-US" sz="1200" dirty="0">
              <a:latin typeface="思源宋体" panose="02010600030101010101" charset="-122"/>
              <a:ea typeface="思源宋体" panose="02010600030101010101" charset="-122"/>
            </a:endParaRPr>
          </a:p>
        </p:txBody>
      </p:sp>
      <p:sp>
        <p:nvSpPr>
          <p:cNvPr id="55" name="Shape 29">
            <a:extLst>
              <a:ext uri="{FF2B5EF4-FFF2-40B4-BE49-F238E27FC236}">
                <a16:creationId xmlns="" xmlns:a16="http://schemas.microsoft.com/office/drawing/2014/main" id="{CC1AEE43-9F9A-FB83-BDC5-5A99EE252CE8}"/>
              </a:ext>
            </a:extLst>
          </p:cNvPr>
          <p:cNvSpPr/>
          <p:nvPr/>
        </p:nvSpPr>
        <p:spPr>
          <a:xfrm>
            <a:off x="6286500" y="4480202"/>
            <a:ext cx="5429250" cy="1905000"/>
          </a:xfrm>
          <a:prstGeom prst="rect">
            <a:avLst/>
          </a:prstGeom>
          <a:solidFill>
            <a:srgbClr val="FFF8E6"/>
          </a:solidFill>
          <a:ln w="25400">
            <a:solidFill>
              <a:srgbClr val="B8860B"/>
            </a:solidFill>
            <a:prstDash val="solid"/>
          </a:ln>
        </p:spPr>
        <p:txBody>
          <a:bodyPr/>
          <a:lstStyle/>
          <a:p>
            <a:endParaRPr lang="zh-CN" altLang="en-US" sz="1350">
              <a:latin typeface="思源宋体" panose="02010600030101010101" charset="-122"/>
              <a:ea typeface="思源宋体" panose="02010600030101010101" charset="-122"/>
            </a:endParaRPr>
          </a:p>
        </p:txBody>
      </p:sp>
      <p:sp>
        <p:nvSpPr>
          <p:cNvPr id="56" name="Shape 30">
            <a:extLst>
              <a:ext uri="{FF2B5EF4-FFF2-40B4-BE49-F238E27FC236}">
                <a16:creationId xmlns="" xmlns:a16="http://schemas.microsoft.com/office/drawing/2014/main" id="{1FFDBD3D-B78A-EDCA-47E7-B1C551AFDB5E}"/>
              </a:ext>
            </a:extLst>
          </p:cNvPr>
          <p:cNvSpPr/>
          <p:nvPr/>
        </p:nvSpPr>
        <p:spPr>
          <a:xfrm>
            <a:off x="6286500" y="4480202"/>
            <a:ext cx="495300" cy="495300"/>
          </a:xfrm>
          <a:prstGeom prst="rect">
            <a:avLst/>
          </a:prstGeom>
          <a:solidFill>
            <a:srgbClr val="B8860B"/>
          </a:solidFill>
          <a:ln/>
        </p:spPr>
        <p:txBody>
          <a:bodyPr/>
          <a:lstStyle/>
          <a:p>
            <a:endParaRPr lang="zh-CN" altLang="en-US" sz="1350">
              <a:latin typeface="思源宋体" panose="02010600030101010101" charset="-122"/>
              <a:ea typeface="思源宋体" panose="02010600030101010101" charset="-122"/>
            </a:endParaRPr>
          </a:p>
        </p:txBody>
      </p:sp>
      <p:sp>
        <p:nvSpPr>
          <p:cNvPr id="57" name="Text 31">
            <a:extLst>
              <a:ext uri="{FF2B5EF4-FFF2-40B4-BE49-F238E27FC236}">
                <a16:creationId xmlns="" xmlns:a16="http://schemas.microsoft.com/office/drawing/2014/main" id="{78F8B22B-CE0F-13F5-FB3C-43C16834124C}"/>
              </a:ext>
            </a:extLst>
          </p:cNvPr>
          <p:cNvSpPr/>
          <p:nvPr/>
        </p:nvSpPr>
        <p:spPr>
          <a:xfrm>
            <a:off x="6286500" y="4480202"/>
            <a:ext cx="495300" cy="495300"/>
          </a:xfrm>
          <a:prstGeom prst="rect">
            <a:avLst/>
          </a:prstGeom>
          <a:noFill/>
          <a:ln/>
        </p:spPr>
        <p:txBody>
          <a:bodyPr wrap="none" lIns="0" tIns="0" rIns="0" bIns="0" rtlCol="0" anchor="ctr"/>
          <a:lstStyle/>
          <a:p>
            <a:pPr algn="ctr">
              <a:lnSpc>
                <a:spcPct val="100000"/>
              </a:lnSpc>
            </a:pPr>
            <a:r>
              <a:rPr lang="en-US" b="1" dirty="0">
                <a:solidFill>
                  <a:srgbClr val="FFFFFF"/>
                </a:solidFill>
                <a:latin typeface="思源宋体" panose="02010600030101010101" charset="-122"/>
                <a:ea typeface="思源宋体" panose="02010600030101010101" charset="-122"/>
                <a:cs typeface="Quattrocento Sans" pitchFamily="34" charset="-120"/>
              </a:rPr>
              <a:t>04</a:t>
            </a:r>
            <a:endParaRPr lang="en-US" sz="1200" dirty="0">
              <a:latin typeface="思源宋体" panose="02010600030101010101" charset="-122"/>
              <a:ea typeface="思源宋体" panose="02010600030101010101" charset="-122"/>
            </a:endParaRPr>
          </a:p>
        </p:txBody>
      </p:sp>
      <p:sp>
        <p:nvSpPr>
          <p:cNvPr id="58" name="Text 32">
            <a:extLst>
              <a:ext uri="{FF2B5EF4-FFF2-40B4-BE49-F238E27FC236}">
                <a16:creationId xmlns="" xmlns:a16="http://schemas.microsoft.com/office/drawing/2014/main" id="{49E6A7E4-3CF7-5042-B6CC-94373EE1E994}"/>
              </a:ext>
            </a:extLst>
          </p:cNvPr>
          <p:cNvSpPr/>
          <p:nvPr/>
        </p:nvSpPr>
        <p:spPr>
          <a:xfrm>
            <a:off x="6915150" y="4556402"/>
            <a:ext cx="4572000" cy="266700"/>
          </a:xfrm>
          <a:prstGeom prst="rect">
            <a:avLst/>
          </a:prstGeom>
          <a:noFill/>
          <a:ln/>
        </p:spPr>
        <p:txBody>
          <a:bodyPr wrap="none" lIns="0" tIns="0" rIns="0" bIns="0" rtlCol="0" anchor="ctr"/>
          <a:lstStyle/>
          <a:p>
            <a:pPr>
              <a:lnSpc>
                <a:spcPct val="100000"/>
              </a:lnSpc>
            </a:pPr>
            <a:r>
              <a:rPr lang="zh-CN" altLang="en-US" sz="1350" b="1" dirty="0">
                <a:solidFill>
                  <a:srgbClr val="B8860B"/>
                </a:solidFill>
                <a:latin typeface="思源宋体" panose="02010600030101010101" charset="-122"/>
                <a:ea typeface="思源宋体" panose="02010600030101010101" charset="-122"/>
              </a:rPr>
              <a:t>纪律性动平衡</a:t>
            </a:r>
            <a:endParaRPr lang="en-US" sz="1200" dirty="0">
              <a:latin typeface="思源宋体" panose="02010600030101010101" charset="-122"/>
              <a:ea typeface="思源宋体" panose="02010600030101010101" charset="-122"/>
            </a:endParaRPr>
          </a:p>
        </p:txBody>
      </p:sp>
      <p:sp>
        <p:nvSpPr>
          <p:cNvPr id="59" name="Text 33">
            <a:extLst>
              <a:ext uri="{FF2B5EF4-FFF2-40B4-BE49-F238E27FC236}">
                <a16:creationId xmlns="" xmlns:a16="http://schemas.microsoft.com/office/drawing/2014/main" id="{C7C244AB-2CE6-B18D-E369-61520ECD52FA}"/>
              </a:ext>
            </a:extLst>
          </p:cNvPr>
          <p:cNvSpPr/>
          <p:nvPr/>
        </p:nvSpPr>
        <p:spPr>
          <a:xfrm>
            <a:off x="6438900" y="5013602"/>
            <a:ext cx="5086350" cy="1238250"/>
          </a:xfrm>
          <a:prstGeom prst="rect">
            <a:avLst/>
          </a:prstGeom>
          <a:noFill/>
          <a:ln/>
        </p:spPr>
        <p:txBody>
          <a:bodyPr wrap="square" lIns="0" tIns="0" rIns="0" bIns="0" rtlCol="0" anchor="ctr"/>
          <a:lstStyle/>
          <a:p>
            <a:pPr>
              <a:lnSpc>
                <a:spcPct val="170000"/>
              </a:lnSpc>
            </a:pPr>
            <a:r>
              <a:rPr lang="en-US"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打造</a:t>
            </a:r>
            <a:r>
              <a:rPr lang="en-US" sz="1200" dirty="0">
                <a:solidFill>
                  <a:srgbClr val="2C2C2C"/>
                </a:solidFill>
                <a:latin typeface="思源宋体" panose="02010600030101010101" charset="-122"/>
                <a:ea typeface="思源宋体" panose="02010600030101010101" charset="-122"/>
                <a:cs typeface="Quattrocento Sans" pitchFamily="34" charset="-120"/>
              </a:rPr>
              <a:t>10/90</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a:t>
            </a:r>
            <a:r>
              <a:rPr lang="en-US" sz="1200" dirty="0">
                <a:solidFill>
                  <a:srgbClr val="2C2C2C"/>
                </a:solidFill>
                <a:latin typeface="思源宋体" panose="02010600030101010101" charset="-122"/>
                <a:ea typeface="思源宋体" panose="02010600030101010101" charset="-122"/>
                <a:cs typeface="Quattrocento Sans" pitchFamily="34" charset="-120"/>
              </a:rPr>
              <a:t>20/80</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a:t>
            </a:r>
            <a:r>
              <a:rPr lang="en-US" sz="1200" dirty="0">
                <a:solidFill>
                  <a:srgbClr val="2C2C2C"/>
                </a:solidFill>
                <a:latin typeface="思源宋体" panose="02010600030101010101" charset="-122"/>
                <a:ea typeface="思源宋体" panose="02010600030101010101" charset="-122"/>
                <a:cs typeface="Quattrocento Sans" pitchFamily="34" charset="-120"/>
              </a:rPr>
              <a:t>30/70</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等系列样板间，匹配一定的中枢水平</a:t>
            </a:r>
            <a:endParaRPr lang="en-US" sz="1200" dirty="0">
              <a:latin typeface="思源宋体" panose="02010600030101010101" charset="-122"/>
              <a:ea typeface="思源宋体" panose="02010600030101010101" charset="-122"/>
            </a:endParaRPr>
          </a:p>
          <a:p>
            <a:pPr>
              <a:lnSpc>
                <a:spcPct val="170000"/>
              </a:lnSpc>
            </a:pPr>
            <a:r>
              <a:rPr lang="en-US" altLang="zh-CN"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仓位调整应尽量避免从观点出发，纪律性的年度动平衡，足够增厚回报</a:t>
            </a:r>
            <a:endParaRPr lang="en-US" altLang="zh-CN" sz="1200" dirty="0">
              <a:solidFill>
                <a:srgbClr val="2C2C2C"/>
              </a:solidFill>
              <a:latin typeface="思源宋体" panose="02010600030101010101" charset="-122"/>
              <a:ea typeface="思源宋体" panose="02010600030101010101" charset="-122"/>
              <a:cs typeface="Quattrocento Sans" pitchFamily="34" charset="-120"/>
            </a:endParaRPr>
          </a:p>
          <a:p>
            <a:pPr>
              <a:lnSpc>
                <a:spcPct val="170000"/>
              </a:lnSpc>
            </a:pPr>
            <a:r>
              <a:rPr lang="en-US" sz="1200" dirty="0">
                <a:solidFill>
                  <a:srgbClr val="2C2C2C"/>
                </a:solidFill>
                <a:latin typeface="思源宋体" panose="02010600030101010101" charset="-122"/>
                <a:ea typeface="思源宋体" panose="02010600030101010101" charset="-122"/>
                <a:cs typeface="Quattrocento Sans" pitchFamily="34" charset="-120"/>
              </a:rPr>
              <a:t>• </a:t>
            </a:r>
            <a:r>
              <a:rPr lang="zh-CN" altLang="en-US" sz="1200" dirty="0">
                <a:solidFill>
                  <a:srgbClr val="2C2C2C"/>
                </a:solidFill>
                <a:latin typeface="思源宋体" panose="02010600030101010101" charset="-122"/>
                <a:ea typeface="思源宋体" panose="02010600030101010101" charset="-122"/>
                <a:cs typeface="Quattrocento Sans" pitchFamily="34" charset="-120"/>
              </a:rPr>
              <a:t>透明厨房，每一步操作都遵循账户思维的原理，公开操作记录</a:t>
            </a:r>
            <a:endParaRPr lang="en-US" sz="1200" dirty="0">
              <a:latin typeface="思源宋体" panose="02010600030101010101" charset="-122"/>
              <a:ea typeface="思源宋体" panose="02010600030101010101" charset="-122"/>
            </a:endParaRPr>
          </a:p>
        </p:txBody>
      </p:sp>
      <p:sp>
        <p:nvSpPr>
          <p:cNvPr id="60" name="Shape 9">
            <a:extLst>
              <a:ext uri="{FF2B5EF4-FFF2-40B4-BE49-F238E27FC236}">
                <a16:creationId xmlns="" xmlns:a16="http://schemas.microsoft.com/office/drawing/2014/main" id="{616EA457-58D7-1B15-6474-6FDE08776BC2}"/>
              </a:ext>
            </a:extLst>
          </p:cNvPr>
          <p:cNvSpPr/>
          <p:nvPr/>
        </p:nvSpPr>
        <p:spPr>
          <a:xfrm>
            <a:off x="476250" y="1001728"/>
            <a:ext cx="0" cy="342900"/>
          </a:xfrm>
          <a:prstGeom prst="straightConnector1">
            <a:avLst/>
          </a:prstGeom>
          <a:noFill/>
          <a:ln w="50800">
            <a:solidFill>
              <a:srgbClr val="8B1A1A"/>
            </a:solidFill>
            <a:prstDash val="solid"/>
            <a:headEnd type="none"/>
            <a:tailEnd type="none"/>
          </a:ln>
        </p:spPr>
        <p:txBody>
          <a:bodyPr/>
          <a:lstStyle/>
          <a:p>
            <a:endParaRPr lang="zh-CN" altLang="en-US" sz="1350"/>
          </a:p>
        </p:txBody>
      </p:sp>
      <p:sp>
        <p:nvSpPr>
          <p:cNvPr id="61" name="Text 10">
            <a:extLst>
              <a:ext uri="{FF2B5EF4-FFF2-40B4-BE49-F238E27FC236}">
                <a16:creationId xmlns="" xmlns:a16="http://schemas.microsoft.com/office/drawing/2014/main" id="{AAA7BFFC-FAFF-6AF5-B625-974C6552C612}"/>
              </a:ext>
            </a:extLst>
          </p:cNvPr>
          <p:cNvSpPr/>
          <p:nvPr/>
        </p:nvSpPr>
        <p:spPr>
          <a:xfrm>
            <a:off x="647700" y="982678"/>
            <a:ext cx="8572500" cy="381000"/>
          </a:xfrm>
          <a:prstGeom prst="rect">
            <a:avLst/>
          </a:prstGeom>
          <a:noFill/>
          <a:ln/>
        </p:spPr>
        <p:txBody>
          <a:bodyPr wrap="none" lIns="0" tIns="0" rIns="0" bIns="0" rtlCol="0" anchor="ctr"/>
          <a:lstStyle/>
          <a:p>
            <a:pPr>
              <a:lnSpc>
                <a:spcPct val="100000"/>
              </a:lnSpc>
            </a:pPr>
            <a:r>
              <a:rPr lang="zh-CN" altLang="en-US" sz="2100" dirty="0">
                <a:solidFill>
                  <a:srgbClr val="8B1A1A"/>
                </a:solidFill>
                <a:latin typeface="思源宋体" panose="02010600030101010101" charset="-122"/>
                <a:ea typeface="思源宋体" panose="02010600030101010101" charset="-122"/>
                <a:cs typeface="QuattrocentoSans" pitchFamily="34" charset="-120"/>
              </a:rPr>
              <a:t>以</a:t>
            </a:r>
            <a:r>
              <a:rPr lang="en-US" sz="2100" dirty="0" err="1">
                <a:solidFill>
                  <a:srgbClr val="8B1A1A"/>
                </a:solidFill>
                <a:latin typeface="思源宋体" panose="02010600030101010101" charset="-122"/>
                <a:ea typeface="思源宋体" panose="02010600030101010101" charset="-122"/>
                <a:cs typeface="QuattrocentoSans" pitchFamily="34" charset="-120"/>
              </a:rPr>
              <a:t>公募</a:t>
            </a:r>
            <a:r>
              <a:rPr lang="zh-CN" altLang="en-US" sz="2100" dirty="0">
                <a:solidFill>
                  <a:srgbClr val="8B1A1A"/>
                </a:solidFill>
                <a:latin typeface="思源宋体" panose="02010600030101010101" charset="-122"/>
                <a:ea typeface="思源宋体" panose="02010600030101010101" charset="-122"/>
                <a:cs typeface="QuattrocentoSans" pitchFamily="34" charset="-120"/>
              </a:rPr>
              <a:t>或被动</a:t>
            </a:r>
            <a:r>
              <a:rPr lang="en-US" altLang="zh-CN" sz="2100" dirty="0">
                <a:solidFill>
                  <a:srgbClr val="8B1A1A"/>
                </a:solidFill>
                <a:latin typeface="思源宋体" panose="02010600030101010101" charset="-122"/>
                <a:ea typeface="思源宋体" panose="02010600030101010101" charset="-122"/>
                <a:cs typeface="QuattrocentoSans" pitchFamily="34" charset="-120"/>
              </a:rPr>
              <a:t>/</a:t>
            </a:r>
            <a:r>
              <a:rPr lang="zh-CN" altLang="en-US" sz="2100" dirty="0">
                <a:solidFill>
                  <a:srgbClr val="8B1A1A"/>
                </a:solidFill>
                <a:latin typeface="思源宋体" panose="02010600030101010101" charset="-122"/>
                <a:ea typeface="思源宋体" panose="02010600030101010101" charset="-122"/>
                <a:cs typeface="QuattrocentoSans" pitchFamily="34" charset="-120"/>
              </a:rPr>
              <a:t>指数产品做为“砖瓦”，尝试最透明、</a:t>
            </a:r>
            <a:r>
              <a:rPr lang="en-US" sz="2100" dirty="0" err="1">
                <a:solidFill>
                  <a:srgbClr val="8B1A1A"/>
                </a:solidFill>
                <a:latin typeface="思源宋体" panose="02010600030101010101" charset="-122"/>
                <a:ea typeface="思源宋体" panose="02010600030101010101" charset="-122"/>
                <a:cs typeface="QuattrocentoSans" pitchFamily="34" charset="-120"/>
              </a:rPr>
              <a:t>标准化</a:t>
            </a:r>
            <a:r>
              <a:rPr lang="zh-CN" altLang="en-US" sz="2100" dirty="0">
                <a:solidFill>
                  <a:srgbClr val="8B1A1A"/>
                </a:solidFill>
                <a:latin typeface="思源宋体" panose="02010600030101010101" charset="-122"/>
                <a:ea typeface="思源宋体" panose="02010600030101010101" charset="-122"/>
                <a:cs typeface="QuattrocentoSans" pitchFamily="34" charset="-120"/>
              </a:rPr>
              <a:t>的模块完成账户搭建，实施动平衡</a:t>
            </a:r>
            <a:endParaRPr lang="en-US" sz="2100" dirty="0">
              <a:latin typeface="思源宋体" panose="02010600030101010101" charset="-122"/>
              <a:ea typeface="思源宋体" panose="02010600030101010101" charset="-122"/>
            </a:endParaRPr>
          </a:p>
        </p:txBody>
      </p:sp>
      <p:sp>
        <p:nvSpPr>
          <p:cNvPr id="62" name="Shape 11">
            <a:extLst>
              <a:ext uri="{FF2B5EF4-FFF2-40B4-BE49-F238E27FC236}">
                <a16:creationId xmlns="" xmlns:a16="http://schemas.microsoft.com/office/drawing/2014/main" id="{69716114-A882-59C5-ACD7-62FE91780231}"/>
              </a:ext>
            </a:extLst>
          </p:cNvPr>
          <p:cNvSpPr/>
          <p:nvPr/>
        </p:nvSpPr>
        <p:spPr>
          <a:xfrm>
            <a:off x="476250" y="1439878"/>
            <a:ext cx="11239500" cy="0"/>
          </a:xfrm>
          <a:prstGeom prst="straightConnector1">
            <a:avLst/>
          </a:prstGeom>
          <a:noFill/>
          <a:ln w="12700">
            <a:solidFill>
              <a:srgbClr val="B8860B">
                <a:alpha val="37647"/>
              </a:srgbClr>
            </a:solidFill>
            <a:prstDash val="solid"/>
            <a:headEnd type="none"/>
            <a:tailEnd type="none"/>
          </a:ln>
        </p:spPr>
        <p:txBody>
          <a:bodyPr/>
          <a:lstStyle/>
          <a:p>
            <a:endParaRPr lang="zh-CN" altLang="en-US" sz="1350"/>
          </a:p>
        </p:txBody>
      </p:sp>
    </p:spTree>
    <p:extLst>
      <p:ext uri="{BB962C8B-B14F-4D97-AF65-F5344CB8AC3E}">
        <p14:creationId xmlns:p14="http://schemas.microsoft.com/office/powerpoint/2010/main" val="135003159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143B2C3-D8FE-8F19-8C76-9E27C4AC596C}"/>
            </a:ext>
          </a:extLst>
        </p:cNvPr>
        <p:cNvGrpSpPr/>
        <p:nvPr/>
      </p:nvGrpSpPr>
      <p:grpSpPr>
        <a:xfrm>
          <a:off x="0" y="0"/>
          <a:ext cx="0" cy="0"/>
          <a:chOff x="0" y="0"/>
          <a:chExt cx="0" cy="0"/>
        </a:xfrm>
      </p:grpSpPr>
      <p:sp>
        <p:nvSpPr>
          <p:cNvPr id="6" name="标题 1">
            <a:extLst>
              <a:ext uri="{FF2B5EF4-FFF2-40B4-BE49-F238E27FC236}">
                <a16:creationId xmlns="" xmlns:a16="http://schemas.microsoft.com/office/drawing/2014/main" id="{B6113C99-6256-0908-B1A9-A78880C0BD7E}"/>
              </a:ext>
            </a:extLst>
          </p:cNvPr>
          <p:cNvSpPr txBox="1">
            <a:spLocks/>
          </p:cNvSpPr>
          <p:nvPr/>
        </p:nvSpPr>
        <p:spPr>
          <a:xfrm>
            <a:off x="569152" y="0"/>
            <a:ext cx="8729593" cy="1447801"/>
          </a:xfrm>
          <a:prstGeom prst="rect">
            <a:avLst/>
          </a:prstGeom>
        </p:spPr>
        <p:txBody>
          <a:bodyPr vert="horz" lIns="91440" tIns="45720" rIns="91440" bIns="45720" rtlCol="0" anchor="b">
            <a:normAutofit/>
          </a:bodyPr>
          <a:lst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a:lstStyle>
          <a:p>
            <a:pPr>
              <a:spcAft>
                <a:spcPts val="600"/>
              </a:spcAft>
            </a:pPr>
            <a:r>
              <a:rPr lang="zh-CN" altLang="en-US" dirty="0"/>
              <a:t>样板间的</a:t>
            </a:r>
            <a:r>
              <a:rPr lang="zh-CN" altLang="en-US" kern="1200" cap="all" spc="300" baseline="0" dirty="0">
                <a:highlight>
                  <a:srgbClr val="000000"/>
                </a:highlight>
                <a:latin typeface="+mj-lt"/>
                <a:ea typeface="+mj-ea"/>
                <a:cs typeface="+mj-cs"/>
              </a:rPr>
              <a:t>动平衡机制（以</a:t>
            </a:r>
            <a:r>
              <a:rPr lang="en-US" altLang="zh-CN" kern="1200" cap="all" spc="300" baseline="0" dirty="0">
                <a:highlight>
                  <a:srgbClr val="000000"/>
                </a:highlight>
                <a:latin typeface="+mj-lt"/>
                <a:ea typeface="+mj-ea"/>
                <a:cs typeface="+mj-cs"/>
              </a:rPr>
              <a:t>10-90</a:t>
            </a:r>
            <a:r>
              <a:rPr lang="zh-CN" altLang="en-US" kern="1200" cap="all" spc="300" baseline="0" dirty="0">
                <a:highlight>
                  <a:srgbClr val="000000"/>
                </a:highlight>
                <a:latin typeface="+mj-lt"/>
                <a:ea typeface="+mj-ea"/>
                <a:cs typeface="+mj-cs"/>
              </a:rPr>
              <a:t>为例）</a:t>
            </a:r>
          </a:p>
        </p:txBody>
      </p:sp>
      <p:sp>
        <p:nvSpPr>
          <p:cNvPr id="3" name="文本框 2">
            <a:extLst>
              <a:ext uri="{FF2B5EF4-FFF2-40B4-BE49-F238E27FC236}">
                <a16:creationId xmlns="" xmlns:a16="http://schemas.microsoft.com/office/drawing/2014/main" id="{0A16A79D-4341-714F-1A27-1D1B09E07998}"/>
              </a:ext>
            </a:extLst>
          </p:cNvPr>
          <p:cNvSpPr txBox="1"/>
          <p:nvPr/>
        </p:nvSpPr>
        <p:spPr>
          <a:xfrm>
            <a:off x="0" y="1883855"/>
            <a:ext cx="5301563" cy="3832454"/>
          </a:xfrm>
          <a:prstGeom prst="rect">
            <a:avLst/>
          </a:prstGeom>
        </p:spPr>
        <p:txBody>
          <a:bodyPr vert="horz" lIns="91440" tIns="45720" rIns="91440" bIns="45720" rtlCol="0">
            <a:normAutofit/>
          </a:bodyPr>
          <a:lstStyle/>
          <a:p>
            <a:pPr lvl="1" indent="-228600">
              <a:lnSpc>
                <a:spcPct val="110000"/>
              </a:lnSpc>
              <a:spcAft>
                <a:spcPts val="600"/>
              </a:spcAft>
              <a:buClr>
                <a:schemeClr val="tx1"/>
              </a:buClr>
              <a:buSzPct val="75000"/>
              <a:buFont typeface="Arial" panose="020B0604020202020204" pitchFamily="34" charset="0"/>
              <a:buChar char="•"/>
            </a:pPr>
            <a:r>
              <a:rPr lang="zh-CN" altLang="en-US" sz="1600" b="1" dirty="0"/>
              <a:t>设置投委会，监督动平衡的执行。动平衡的</a:t>
            </a:r>
            <a:r>
              <a:rPr lang="en-US" altLang="zh-CN" sz="1600" b="1" dirty="0"/>
              <a:t>3</a:t>
            </a:r>
            <a:r>
              <a:rPr lang="zh-CN" altLang="en-US" sz="1600" b="1" dirty="0"/>
              <a:t>个层次：</a:t>
            </a:r>
            <a:endParaRPr lang="en-US" altLang="zh-CN" sz="1600" b="1" dirty="0"/>
          </a:p>
          <a:p>
            <a:pPr lvl="1" indent="-228600">
              <a:lnSpc>
                <a:spcPct val="110000"/>
              </a:lnSpc>
              <a:spcAft>
                <a:spcPts val="600"/>
              </a:spcAft>
              <a:buClr>
                <a:schemeClr val="tx1"/>
              </a:buClr>
              <a:buSzPct val="75000"/>
              <a:buFont typeface="Arial" panose="020B0604020202020204" pitchFamily="34" charset="0"/>
              <a:buChar char="•"/>
            </a:pPr>
            <a:endParaRPr lang="en-US" altLang="zh-CN" sz="1600" dirty="0"/>
          </a:p>
          <a:p>
            <a:pPr marL="742950" lvl="1" indent="-228600">
              <a:lnSpc>
                <a:spcPct val="110000"/>
              </a:lnSpc>
              <a:spcAft>
                <a:spcPts val="600"/>
              </a:spcAft>
              <a:buClr>
                <a:schemeClr val="tx1"/>
              </a:buClr>
              <a:buSzPct val="75000"/>
              <a:buFont typeface="Arial" panose="020B0604020202020204" pitchFamily="34" charset="0"/>
              <a:buChar char="•"/>
            </a:pPr>
            <a:r>
              <a:rPr lang="zh-CN" altLang="en-US" sz="1600" dirty="0"/>
              <a:t>增值生息的动平衡 </a:t>
            </a:r>
            <a:r>
              <a:rPr lang="en-US" altLang="zh-CN" sz="1600" dirty="0"/>
              <a:t>– </a:t>
            </a:r>
            <a:r>
              <a:rPr lang="zh-CN" altLang="en-US" sz="1600" dirty="0"/>
              <a:t>动态维持</a:t>
            </a:r>
            <a:r>
              <a:rPr lang="en-US" altLang="zh-CN" sz="1600" dirty="0"/>
              <a:t>10</a:t>
            </a:r>
            <a:r>
              <a:rPr lang="zh-CN" altLang="en-US" sz="1600" dirty="0"/>
              <a:t>：</a:t>
            </a:r>
            <a:r>
              <a:rPr lang="en-US" altLang="zh-CN" sz="1600" dirty="0"/>
              <a:t>90</a:t>
            </a:r>
            <a:r>
              <a:rPr lang="zh-CN" altLang="en-US" sz="1600" dirty="0"/>
              <a:t>的比例</a:t>
            </a:r>
            <a:endParaRPr lang="en-US" altLang="zh-CN" sz="1600" dirty="0"/>
          </a:p>
          <a:p>
            <a:pPr marL="742950" lvl="1" indent="-228600">
              <a:lnSpc>
                <a:spcPct val="110000"/>
              </a:lnSpc>
              <a:spcAft>
                <a:spcPts val="600"/>
              </a:spcAft>
              <a:buClr>
                <a:schemeClr val="tx1"/>
              </a:buClr>
              <a:buSzPct val="75000"/>
              <a:buFont typeface="Arial" panose="020B0604020202020204" pitchFamily="34" charset="0"/>
              <a:buChar char="•"/>
            </a:pPr>
            <a:endParaRPr lang="en-US" altLang="zh-CN" sz="1600" dirty="0"/>
          </a:p>
          <a:p>
            <a:pPr marL="742950" lvl="1" indent="-228600">
              <a:lnSpc>
                <a:spcPct val="110000"/>
              </a:lnSpc>
              <a:spcAft>
                <a:spcPts val="600"/>
              </a:spcAft>
              <a:buClr>
                <a:schemeClr val="tx1"/>
              </a:buClr>
              <a:buSzPct val="75000"/>
              <a:buFont typeface="Arial" panose="020B0604020202020204" pitchFamily="34" charset="0"/>
              <a:buChar char="•"/>
            </a:pPr>
            <a:r>
              <a:rPr lang="zh-CN" altLang="en-US" sz="1600" dirty="0"/>
              <a:t>增值生息内部的动平衡 </a:t>
            </a:r>
            <a:r>
              <a:rPr lang="en-US" altLang="zh-CN" sz="1600" dirty="0"/>
              <a:t>– </a:t>
            </a:r>
            <a:r>
              <a:rPr lang="zh-CN" altLang="en-US" sz="1600" dirty="0"/>
              <a:t>根据基金季报，结合投委会观点，调入</a:t>
            </a:r>
            <a:r>
              <a:rPr lang="en-US" altLang="zh-CN" sz="1600" dirty="0"/>
              <a:t>/</a:t>
            </a:r>
            <a:r>
              <a:rPr lang="zh-CN" altLang="en-US" sz="1600" dirty="0"/>
              <a:t>调出主动基金。同时，每季度在产业趋势模块与指数增强模块之间做削峰填谷，保持产业趋势</a:t>
            </a:r>
            <a:r>
              <a:rPr lang="en-US" altLang="zh-CN" sz="1600" dirty="0"/>
              <a:t>:</a:t>
            </a:r>
            <a:r>
              <a:rPr lang="zh-CN" altLang="en-US" sz="1600" dirty="0"/>
              <a:t>指增 </a:t>
            </a:r>
            <a:r>
              <a:rPr lang="en-US" altLang="zh-CN" sz="1600" dirty="0"/>
              <a:t>= 1:1</a:t>
            </a:r>
            <a:r>
              <a:rPr lang="zh-CN" altLang="en-US" sz="1600" dirty="0"/>
              <a:t>的比例</a:t>
            </a:r>
            <a:endParaRPr lang="en-US" altLang="zh-CN" sz="1600" dirty="0"/>
          </a:p>
          <a:p>
            <a:pPr marL="742950" lvl="1" indent="-228600">
              <a:lnSpc>
                <a:spcPct val="110000"/>
              </a:lnSpc>
              <a:spcAft>
                <a:spcPts val="600"/>
              </a:spcAft>
              <a:buClr>
                <a:schemeClr val="tx1"/>
              </a:buClr>
              <a:buSzPct val="75000"/>
              <a:buFont typeface="Arial" panose="020B0604020202020204" pitchFamily="34" charset="0"/>
              <a:buChar char="•"/>
            </a:pPr>
            <a:endParaRPr lang="en-US" altLang="zh-CN" sz="1600" dirty="0"/>
          </a:p>
          <a:p>
            <a:pPr marL="742950" lvl="1" indent="-228600">
              <a:lnSpc>
                <a:spcPct val="110000"/>
              </a:lnSpc>
              <a:spcAft>
                <a:spcPts val="600"/>
              </a:spcAft>
              <a:buClr>
                <a:schemeClr val="tx1"/>
              </a:buClr>
              <a:buSzPct val="75000"/>
              <a:buFont typeface="Arial" panose="020B0604020202020204" pitchFamily="34" charset="0"/>
              <a:buChar char="•"/>
            </a:pPr>
            <a:r>
              <a:rPr lang="zh-CN" altLang="en-US" sz="1600" dirty="0"/>
              <a:t>选品的动平衡 </a:t>
            </a:r>
            <a:r>
              <a:rPr lang="en-US" altLang="zh-CN" sz="1600" dirty="0"/>
              <a:t>– </a:t>
            </a:r>
            <a:r>
              <a:rPr lang="zh-CN" altLang="en-US" sz="1600" dirty="0"/>
              <a:t>定期检视策略和资产的选品，结合</a:t>
            </a:r>
            <a:r>
              <a:rPr lang="en-US" altLang="zh-CN" sz="1600" dirty="0"/>
              <a:t>House View</a:t>
            </a:r>
            <a:r>
              <a:rPr lang="zh-CN" altLang="en-US" sz="1600" dirty="0"/>
              <a:t>市场观点，做动态置换</a:t>
            </a:r>
          </a:p>
        </p:txBody>
      </p:sp>
      <p:pic>
        <p:nvPicPr>
          <p:cNvPr id="7" name="图片 6">
            <a:extLst>
              <a:ext uri="{FF2B5EF4-FFF2-40B4-BE49-F238E27FC236}">
                <a16:creationId xmlns="" xmlns:a16="http://schemas.microsoft.com/office/drawing/2014/main" id="{09B45CEB-EDEF-8287-039C-3836C526E5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73736" y="1719869"/>
            <a:ext cx="6718264" cy="3745430"/>
          </a:xfrm>
          <a:prstGeom prst="rect">
            <a:avLst/>
          </a:prstGeom>
        </p:spPr>
      </p:pic>
    </p:spTree>
    <p:extLst>
      <p:ext uri="{BB962C8B-B14F-4D97-AF65-F5344CB8AC3E}">
        <p14:creationId xmlns:p14="http://schemas.microsoft.com/office/powerpoint/2010/main" val="3311103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D3231BF-B239-EAFE-213B-D4B468A864A1}"/>
            </a:ext>
          </a:extLst>
        </p:cNvPr>
        <p:cNvGrpSpPr/>
        <p:nvPr/>
      </p:nvGrpSpPr>
      <p:grpSpPr>
        <a:xfrm>
          <a:off x="0" y="0"/>
          <a:ext cx="0" cy="0"/>
          <a:chOff x="0" y="0"/>
          <a:chExt cx="0" cy="0"/>
        </a:xfrm>
      </p:grpSpPr>
      <p:sp>
        <p:nvSpPr>
          <p:cNvPr id="29" name="文本占位符 10">
            <a:extLst>
              <a:ext uri="{FF2B5EF4-FFF2-40B4-BE49-F238E27FC236}">
                <a16:creationId xmlns="" xmlns:a16="http://schemas.microsoft.com/office/drawing/2014/main" id="{8F77D019-2385-809B-FEC4-40B4849B9890}"/>
              </a:ext>
            </a:extLst>
          </p:cNvPr>
          <p:cNvSpPr txBox="1"/>
          <p:nvPr/>
        </p:nvSpPr>
        <p:spPr>
          <a:xfrm>
            <a:off x="899137" y="391454"/>
            <a:ext cx="10759463" cy="508000"/>
          </a:xfrm>
          <a:prstGeom prst="rect">
            <a:avLst/>
          </a:prstGeom>
        </p:spPr>
        <p:txBody>
          <a:bodyPr lIns="0" tIns="0" rIns="0" bIns="0" anchor="ctr" anchorCtr="0"/>
          <a:lstStyle>
            <a:lvl1pPr marL="0" indent="0" algn="l" defTabSz="457200" rtl="0" eaLnBrk="1" latinLnBrk="0" hangingPunct="1">
              <a:lnSpc>
                <a:spcPct val="100000"/>
              </a:lnSpc>
              <a:spcBef>
                <a:spcPts val="2000"/>
              </a:spcBef>
              <a:buFont typeface="Arial" panose="020B0604020202020204" pitchFamily="34" charset="0"/>
              <a:buNone/>
              <a:defRPr lang="zh-CN" altLang="en-US" sz="6000" b="1" kern="1200" spc="1000" dirty="0">
                <a:solidFill>
                  <a:srgbClr val="3B3838"/>
                </a:solidFill>
                <a:latin typeface="+mj-ea"/>
                <a:ea typeface="+mj-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a:solidFill>
                  <a:schemeClr val="tx1"/>
                </a:solidFill>
                <a:latin typeface="+mn-lt"/>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defTabSz="914378">
              <a:lnSpc>
                <a:spcPts val="2143"/>
              </a:lnSpc>
              <a:spcBef>
                <a:spcPts val="1029"/>
              </a:spcBef>
              <a:spcAft>
                <a:spcPts val="1029"/>
              </a:spcAft>
              <a:defRPr/>
            </a:pPr>
            <a:r>
              <a:rPr lang="zh-CN" altLang="en-US" sz="2400" spc="0" dirty="0">
                <a:solidFill>
                  <a:srgbClr val="8B0000"/>
                </a:solidFill>
                <a:latin typeface="微软雅黑" panose="020B0503020204020204" pitchFamily="34" charset="-122"/>
                <a:ea typeface="微软雅黑" panose="020B0503020204020204" pitchFamily="34" charset="-122"/>
                <a:sym typeface="Helvetica Neue"/>
              </a:rPr>
              <a:t>样板间组合运行看板（</a:t>
            </a:r>
            <a:r>
              <a:rPr lang="en-US" altLang="zh-CN" sz="2400" spc="0" dirty="0">
                <a:solidFill>
                  <a:srgbClr val="8B0000"/>
                </a:solidFill>
                <a:latin typeface="微软雅黑" panose="020B0503020204020204" pitchFamily="34" charset="-122"/>
                <a:ea typeface="微软雅黑" panose="020B0503020204020204" pitchFamily="34" charset="-122"/>
                <a:sym typeface="Helvetica Neue"/>
              </a:rPr>
              <a:t>6</a:t>
            </a:r>
            <a:r>
              <a:rPr lang="zh-CN" altLang="en-US" sz="2400" spc="0" dirty="0">
                <a:solidFill>
                  <a:srgbClr val="8B0000"/>
                </a:solidFill>
                <a:latin typeface="微软雅黑" panose="020B0503020204020204" pitchFamily="34" charset="-122"/>
                <a:ea typeface="微软雅黑" panose="020B0503020204020204" pitchFamily="34" charset="-122"/>
                <a:sym typeface="Helvetica Neue"/>
              </a:rPr>
              <a:t>月</a:t>
            </a:r>
            <a:r>
              <a:rPr lang="en-US" altLang="zh-CN" sz="2400" spc="0" dirty="0">
                <a:solidFill>
                  <a:srgbClr val="8B0000"/>
                </a:solidFill>
                <a:latin typeface="微软雅黑" panose="020B0503020204020204" pitchFamily="34" charset="-122"/>
                <a:ea typeface="微软雅黑" panose="020B0503020204020204" pitchFamily="34" charset="-122"/>
                <a:sym typeface="Helvetica Neue"/>
              </a:rPr>
              <a:t>1</a:t>
            </a:r>
            <a:r>
              <a:rPr lang="zh-CN" altLang="en-US" sz="2400" spc="0" dirty="0">
                <a:solidFill>
                  <a:srgbClr val="8B0000"/>
                </a:solidFill>
                <a:latin typeface="微软雅黑" panose="020B0503020204020204" pitchFamily="34" charset="-122"/>
                <a:ea typeface="微软雅黑" panose="020B0503020204020204" pitchFamily="34" charset="-122"/>
                <a:sym typeface="Helvetica Neue"/>
              </a:rPr>
              <a:t>日以来）</a:t>
            </a:r>
          </a:p>
        </p:txBody>
      </p:sp>
      <p:sp>
        <p:nvSpPr>
          <p:cNvPr id="4" name="Shape 0">
            <a:extLst>
              <a:ext uri="{FF2B5EF4-FFF2-40B4-BE49-F238E27FC236}">
                <a16:creationId xmlns="" xmlns:a16="http://schemas.microsoft.com/office/drawing/2014/main" id="{132302E8-112D-A3A2-AEAC-06DA2791D9B6}"/>
              </a:ext>
            </a:extLst>
          </p:cNvPr>
          <p:cNvSpPr/>
          <p:nvPr/>
        </p:nvSpPr>
        <p:spPr>
          <a:xfrm>
            <a:off x="381000" y="38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txBody>
          <a:bodyPr/>
          <a:lstStyle/>
          <a:p>
            <a:endParaRPr lang="zh-CN" altLang="en-US"/>
          </a:p>
        </p:txBody>
      </p:sp>
      <p:sp>
        <p:nvSpPr>
          <p:cNvPr id="5" name="Text 1">
            <a:extLst>
              <a:ext uri="{FF2B5EF4-FFF2-40B4-BE49-F238E27FC236}">
                <a16:creationId xmlns="" xmlns:a16="http://schemas.microsoft.com/office/drawing/2014/main" id="{76DF2853-13DC-97D8-C24A-543E087AF03E}"/>
              </a:ext>
            </a:extLst>
          </p:cNvPr>
          <p:cNvSpPr/>
          <p:nvPr/>
        </p:nvSpPr>
        <p:spPr>
          <a:xfrm>
            <a:off x="451842" y="438150"/>
            <a:ext cx="323850" cy="266700"/>
          </a:xfrm>
          <a:prstGeom prst="rect">
            <a:avLst/>
          </a:prstGeom>
          <a:noFill/>
          <a:ln/>
        </p:spPr>
        <p:txBody>
          <a:bodyPr wrap="square" lIns="0" tIns="0" rIns="0" bIns="0" rtlCol="0" anchor="ctr"/>
          <a:lstStyle/>
          <a:p>
            <a:pPr>
              <a:lnSpc>
                <a:spcPct val="130000"/>
              </a:lnSpc>
            </a:pPr>
            <a:r>
              <a:rPr lang="zh-CN" altLang="en-US" sz="1350" b="1" dirty="0">
                <a:solidFill>
                  <a:srgbClr val="F9FAFB"/>
                </a:solidFill>
                <a:latin typeface="思源宋体" pitchFamily="34" charset="0"/>
                <a:ea typeface="思源宋体" pitchFamily="34" charset="-122"/>
              </a:rPr>
              <a:t>附</a:t>
            </a:r>
            <a:r>
              <a:rPr lang="en-US" altLang="zh-CN" sz="1350" b="1" dirty="0">
                <a:solidFill>
                  <a:srgbClr val="F9FAFB"/>
                </a:solidFill>
                <a:latin typeface="思源宋体" pitchFamily="34" charset="0"/>
                <a:ea typeface="思源宋体" pitchFamily="34" charset="-122"/>
              </a:rPr>
              <a:t>1</a:t>
            </a:r>
            <a:endParaRPr lang="en-US" sz="1600" dirty="0"/>
          </a:p>
        </p:txBody>
      </p:sp>
      <p:graphicFrame>
        <p:nvGraphicFramePr>
          <p:cNvPr id="7" name="表格 6">
            <a:extLst>
              <a:ext uri="{FF2B5EF4-FFF2-40B4-BE49-F238E27FC236}">
                <a16:creationId xmlns="" xmlns:a16="http://schemas.microsoft.com/office/drawing/2014/main" id="{A08AAE72-FCA5-1CEF-4865-6BDB2499048C}"/>
              </a:ext>
            </a:extLst>
          </p:cNvPr>
          <p:cNvGraphicFramePr>
            <a:graphicFrameLocks noGrp="1"/>
          </p:cNvGraphicFramePr>
          <p:nvPr/>
        </p:nvGraphicFramePr>
        <p:xfrm>
          <a:off x="5467101" y="1467896"/>
          <a:ext cx="6212244" cy="838334"/>
        </p:xfrm>
        <a:graphic>
          <a:graphicData uri="http://schemas.openxmlformats.org/drawingml/2006/table">
            <a:tbl>
              <a:tblPr/>
              <a:tblGrid>
                <a:gridCol w="1035374">
                  <a:extLst>
                    <a:ext uri="{9D8B030D-6E8A-4147-A177-3AD203B41FA5}">
                      <a16:colId xmlns="" xmlns:a16="http://schemas.microsoft.com/office/drawing/2014/main" val="20000"/>
                    </a:ext>
                  </a:extLst>
                </a:gridCol>
                <a:gridCol w="1035374">
                  <a:extLst>
                    <a:ext uri="{9D8B030D-6E8A-4147-A177-3AD203B41FA5}">
                      <a16:colId xmlns="" xmlns:a16="http://schemas.microsoft.com/office/drawing/2014/main" val="20001"/>
                    </a:ext>
                  </a:extLst>
                </a:gridCol>
                <a:gridCol w="1035374">
                  <a:extLst>
                    <a:ext uri="{9D8B030D-6E8A-4147-A177-3AD203B41FA5}">
                      <a16:colId xmlns="" xmlns:a16="http://schemas.microsoft.com/office/drawing/2014/main" val="20002"/>
                    </a:ext>
                  </a:extLst>
                </a:gridCol>
                <a:gridCol w="1035374">
                  <a:extLst>
                    <a:ext uri="{9D8B030D-6E8A-4147-A177-3AD203B41FA5}">
                      <a16:colId xmlns="" xmlns:a16="http://schemas.microsoft.com/office/drawing/2014/main" val="20003"/>
                    </a:ext>
                  </a:extLst>
                </a:gridCol>
                <a:gridCol w="1035374">
                  <a:extLst>
                    <a:ext uri="{9D8B030D-6E8A-4147-A177-3AD203B41FA5}">
                      <a16:colId xmlns="" xmlns:a16="http://schemas.microsoft.com/office/drawing/2014/main" val="20004"/>
                    </a:ext>
                  </a:extLst>
                </a:gridCol>
                <a:gridCol w="1035374">
                  <a:extLst>
                    <a:ext uri="{9D8B030D-6E8A-4147-A177-3AD203B41FA5}">
                      <a16:colId xmlns="" xmlns:a16="http://schemas.microsoft.com/office/drawing/2014/main" val="20005"/>
                    </a:ext>
                  </a:extLst>
                </a:gridCol>
              </a:tblGrid>
              <a:tr h="419167">
                <a:tc gridSpan="6">
                  <a:txBody>
                    <a:bodyPr/>
                    <a:lstStyle/>
                    <a:p>
                      <a:pPr algn="l" fontAlgn="ctr"/>
                      <a:r>
                        <a:rPr lang="zh-CN" altLang="en-US" sz="1800" b="1" i="0" u="none" strike="noStrike" dirty="0">
                          <a:solidFill>
                            <a:srgbClr val="FFFFFF"/>
                          </a:solidFill>
                          <a:effectLst/>
                          <a:latin typeface="微软雅黑" panose="020B0503020204020204" pitchFamily="34" charset="-122"/>
                          <a:ea typeface="微软雅黑" panose="020B0503020204020204" pitchFamily="34" charset="-122"/>
                        </a:rPr>
                        <a:t> 组合运作情况 </a:t>
                      </a:r>
                      <a:r>
                        <a:rPr lang="en-US" altLang="zh-CN" sz="1800" b="1" i="0" u="none" strike="noStrike" dirty="0">
                          <a:solidFill>
                            <a:srgbClr val="FFFFFF"/>
                          </a:solidFill>
                          <a:effectLst/>
                          <a:latin typeface="微软雅黑" panose="020B0503020204020204" pitchFamily="34" charset="-122"/>
                          <a:ea typeface="微软雅黑" panose="020B0503020204020204" pitchFamily="34" charset="-122"/>
                        </a:rPr>
                        <a:t>· </a:t>
                      </a:r>
                      <a:r>
                        <a:rPr lang="zh-CN" altLang="en-US" sz="1800" b="1" i="0" u="none" strike="noStrike" dirty="0">
                          <a:solidFill>
                            <a:srgbClr val="FFFFFF"/>
                          </a:solidFill>
                          <a:effectLst/>
                          <a:latin typeface="微软雅黑" panose="020B0503020204020204" pitchFamily="34" charset="-122"/>
                          <a:ea typeface="微软雅黑" panose="020B0503020204020204" pitchFamily="34" charset="-122"/>
                        </a:rPr>
                        <a:t>组合累积净值</a:t>
                      </a:r>
                    </a:p>
                  </a:txBody>
                  <a:tcPr marL="0" marR="0" marT="0" marB="0" anchor="ctr">
                    <a:lnL>
                      <a:noFill/>
                    </a:lnL>
                    <a:lnR>
                      <a:noFill/>
                    </a:lnR>
                    <a:lnT>
                      <a:noFill/>
                    </a:lnT>
                    <a:lnB>
                      <a:noFill/>
                    </a:lnB>
                    <a:solidFill>
                      <a:srgbClr val="06184A"/>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0"/>
                  </a:ext>
                </a:extLst>
              </a:tr>
              <a:tr h="419167">
                <a:tc>
                  <a:txBody>
                    <a:bodyPr/>
                    <a:lstStyle/>
                    <a:p>
                      <a:pPr algn="l" fontAlgn="b"/>
                      <a:endParaRPr lang="zh-CN" altLang="en-US" sz="14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extLst>
                  <a:ext uri="{0D108BD9-81ED-4DB2-BD59-A6C34878D82A}">
                    <a16:rowId xmlns="" xmlns:a16="http://schemas.microsoft.com/office/drawing/2014/main" val="10001"/>
                  </a:ext>
                </a:extLst>
              </a:tr>
            </a:tbl>
          </a:graphicData>
        </a:graphic>
      </p:graphicFrame>
      <p:graphicFrame>
        <p:nvGraphicFramePr>
          <p:cNvPr id="8" name="表格 7">
            <a:extLst>
              <a:ext uri="{FF2B5EF4-FFF2-40B4-BE49-F238E27FC236}">
                <a16:creationId xmlns="" xmlns:a16="http://schemas.microsoft.com/office/drawing/2014/main" id="{C4203DFB-311C-9F4E-10BF-8107E61CC104}"/>
              </a:ext>
            </a:extLst>
          </p:cNvPr>
          <p:cNvGraphicFramePr>
            <a:graphicFrameLocks noGrp="1"/>
          </p:cNvGraphicFramePr>
          <p:nvPr>
            <p:extLst>
              <p:ext uri="{D42A27DB-BD31-4B8C-83A1-F6EECF244321}">
                <p14:modId xmlns:p14="http://schemas.microsoft.com/office/powerpoint/2010/main" val="4111309895"/>
              </p:ext>
            </p:extLst>
          </p:nvPr>
        </p:nvGraphicFramePr>
        <p:xfrm>
          <a:off x="518984" y="1481559"/>
          <a:ext cx="4528623" cy="4328934"/>
        </p:xfrm>
        <a:graphic>
          <a:graphicData uri="http://schemas.openxmlformats.org/drawingml/2006/table">
            <a:tbl>
              <a:tblPr/>
              <a:tblGrid>
                <a:gridCol w="774018">
                  <a:extLst>
                    <a:ext uri="{9D8B030D-6E8A-4147-A177-3AD203B41FA5}">
                      <a16:colId xmlns="" xmlns:a16="http://schemas.microsoft.com/office/drawing/2014/main" val="20000"/>
                    </a:ext>
                  </a:extLst>
                </a:gridCol>
                <a:gridCol w="750921">
                  <a:extLst>
                    <a:ext uri="{9D8B030D-6E8A-4147-A177-3AD203B41FA5}">
                      <a16:colId xmlns="" xmlns:a16="http://schemas.microsoft.com/office/drawing/2014/main" val="20001"/>
                    </a:ext>
                  </a:extLst>
                </a:gridCol>
                <a:gridCol w="750921">
                  <a:extLst>
                    <a:ext uri="{9D8B030D-6E8A-4147-A177-3AD203B41FA5}">
                      <a16:colId xmlns="" xmlns:a16="http://schemas.microsoft.com/office/drawing/2014/main" val="20002"/>
                    </a:ext>
                  </a:extLst>
                </a:gridCol>
                <a:gridCol w="750921">
                  <a:extLst>
                    <a:ext uri="{9D8B030D-6E8A-4147-A177-3AD203B41FA5}">
                      <a16:colId xmlns="" xmlns:a16="http://schemas.microsoft.com/office/drawing/2014/main" val="20003"/>
                    </a:ext>
                  </a:extLst>
                </a:gridCol>
                <a:gridCol w="750921">
                  <a:extLst>
                    <a:ext uri="{9D8B030D-6E8A-4147-A177-3AD203B41FA5}">
                      <a16:colId xmlns="" xmlns:a16="http://schemas.microsoft.com/office/drawing/2014/main" val="20004"/>
                    </a:ext>
                  </a:extLst>
                </a:gridCol>
                <a:gridCol w="750921">
                  <a:extLst>
                    <a:ext uri="{9D8B030D-6E8A-4147-A177-3AD203B41FA5}">
                      <a16:colId xmlns="" xmlns:a16="http://schemas.microsoft.com/office/drawing/2014/main" val="20005"/>
                    </a:ext>
                  </a:extLst>
                </a:gridCol>
              </a:tblGrid>
              <a:tr h="433250">
                <a:tc gridSpan="6">
                  <a:txBody>
                    <a:bodyPr/>
                    <a:lstStyle/>
                    <a:p>
                      <a:pPr algn="l" fontAlgn="ctr"/>
                      <a:r>
                        <a:rPr lang="en-US" altLang="zh-CN" sz="1400" b="1" i="0" u="none" strike="noStrike" dirty="0">
                          <a:solidFill>
                            <a:srgbClr val="FFFFFF"/>
                          </a:solidFill>
                          <a:effectLst/>
                          <a:latin typeface="微软雅黑" panose="020B0503020204020204" pitchFamily="34" charset="-122"/>
                          <a:ea typeface="微软雅黑" panose="020B0503020204020204" pitchFamily="34" charset="-122"/>
                        </a:rPr>
                        <a:t>10/90</a:t>
                      </a: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组合业绩表现</a:t>
                      </a:r>
                    </a:p>
                  </a:txBody>
                  <a:tcPr marL="0" marR="0" marT="0" marB="0" anchor="ctr">
                    <a:lnL>
                      <a:noFill/>
                    </a:lnL>
                    <a:lnR>
                      <a:noFill/>
                    </a:lnR>
                    <a:lnT>
                      <a:noFill/>
                    </a:lnT>
                    <a:lnB w="6350" cap="flat" cmpd="sng" algn="ctr">
                      <a:solidFill>
                        <a:srgbClr val="BFBFBF"/>
                      </a:solidFill>
                      <a:prstDash val="solid"/>
                      <a:round/>
                      <a:headEnd type="none" w="med" len="med"/>
                      <a:tailEnd type="none" w="med" len="med"/>
                    </a:lnB>
                    <a:solidFill>
                      <a:srgbClr val="06184A"/>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0"/>
                  </a:ext>
                </a:extLst>
              </a:tr>
              <a:tr h="314106">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最新净值</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累计收益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年化收益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年化波动率</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最大回撤</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夏普比率</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extLst>
                  <a:ext uri="{0D108BD9-81ED-4DB2-BD59-A6C34878D82A}">
                    <a16:rowId xmlns="" xmlns:a16="http://schemas.microsoft.com/office/drawing/2014/main" val="10001"/>
                  </a:ext>
                </a:extLst>
              </a:tr>
              <a:tr h="601133">
                <a:tc>
                  <a:txBody>
                    <a:bodyPr/>
                    <a:lstStyle/>
                    <a:p>
                      <a:pPr algn="ctr" fontAlgn="ctr"/>
                      <a:r>
                        <a:rPr lang="en-US" altLang="zh-CN" sz="1600" b="1" i="0" u="none" strike="noStrike">
                          <a:solidFill>
                            <a:srgbClr val="1F3864"/>
                          </a:solidFill>
                          <a:effectLst/>
                          <a:latin typeface="微软雅黑" panose="020B0503020204020204" pitchFamily="34" charset="-122"/>
                          <a:ea typeface="微软雅黑" panose="020B0503020204020204" pitchFamily="34" charset="-122"/>
                        </a:rPr>
                        <a:t>1.0039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a:solidFill>
                            <a:srgbClr val="9C0006"/>
                          </a:solidFill>
                          <a:effectLst/>
                          <a:latin typeface="微软雅黑" panose="020B0503020204020204" pitchFamily="34" charset="-122"/>
                          <a:ea typeface="微软雅黑" panose="020B0503020204020204" pitchFamily="34" charset="-122"/>
                        </a:rPr>
                        <a:t>0.39%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dirty="0" smtClean="0">
                          <a:solidFill>
                            <a:srgbClr val="9C0006"/>
                          </a:solidFill>
                          <a:effectLst/>
                          <a:latin typeface="微软雅黑" panose="020B0503020204020204" pitchFamily="34" charset="-122"/>
                          <a:ea typeface="微软雅黑" panose="020B0503020204020204" pitchFamily="34" charset="-122"/>
                        </a:rPr>
                        <a:t>-</a:t>
                      </a:r>
                      <a:endParaRPr lang="en-US" altLang="zh-CN" sz="1600" b="1" i="0" u="none" strike="noStrike" dirty="0">
                        <a:solidFill>
                          <a:srgbClr val="9C0006"/>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dirty="0" smtClean="0">
                          <a:solidFill>
                            <a:srgbClr val="1F3864"/>
                          </a:solidFill>
                          <a:effectLst/>
                          <a:latin typeface="微软雅黑" panose="020B0503020204020204" pitchFamily="34" charset="-122"/>
                          <a:ea typeface="微软雅黑" panose="020B0503020204020204" pitchFamily="34" charset="-122"/>
                        </a:rPr>
                        <a:t>-</a:t>
                      </a:r>
                      <a:endParaRPr lang="en-US" altLang="zh-CN" sz="1600" b="1" i="0" u="none" strike="noStrike" dirty="0">
                        <a:solidFill>
                          <a:srgbClr val="1F3864"/>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a:solidFill>
                            <a:srgbClr val="00B050"/>
                          </a:solidFill>
                          <a:effectLst/>
                          <a:latin typeface="微软雅黑" panose="020B0503020204020204" pitchFamily="34" charset="-122"/>
                          <a:ea typeface="微软雅黑" panose="020B0503020204020204" pitchFamily="34" charset="-122"/>
                        </a:rPr>
                        <a:t>-0.99%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dirty="0" smtClean="0">
                          <a:solidFill>
                            <a:srgbClr val="1F3864"/>
                          </a:solidFill>
                          <a:effectLst/>
                          <a:latin typeface="微软雅黑" panose="020B0503020204020204" pitchFamily="34" charset="-122"/>
                          <a:ea typeface="微软雅黑" panose="020B0503020204020204" pitchFamily="34" charset="-122"/>
                        </a:rPr>
                        <a:t>-</a:t>
                      </a:r>
                      <a:endParaRPr lang="en-US" altLang="zh-CN" sz="1600" b="1" i="0" u="none" strike="noStrike" dirty="0">
                        <a:solidFill>
                          <a:srgbClr val="1F3864"/>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2"/>
                  </a:ext>
                </a:extLst>
              </a:tr>
              <a:tr h="314106">
                <a:tc>
                  <a:txBody>
                    <a:bodyPr/>
                    <a:lstStyle/>
                    <a:p>
                      <a:pPr algn="ctr" fontAlgn="b"/>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ctr" fontAlgn="b"/>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ctr" fontAlgn="b"/>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ctr" fontAlgn="b"/>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ctr" fontAlgn="b"/>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l" fontAlgn="b"/>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extLst>
                  <a:ext uri="{0D108BD9-81ED-4DB2-BD59-A6C34878D82A}">
                    <a16:rowId xmlns="" xmlns:a16="http://schemas.microsoft.com/office/drawing/2014/main" val="10003"/>
                  </a:ext>
                </a:extLst>
              </a:tr>
              <a:tr h="314106">
                <a:tc gridSpan="3">
                  <a:txBody>
                    <a:bodyPr/>
                    <a:lstStyle/>
                    <a:p>
                      <a:pPr algn="ctr"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收益表现</a:t>
                      </a:r>
                    </a:p>
                  </a:txBody>
                  <a:tcPr marL="0" marR="0" marT="0" marB="0" anchor="ctr">
                    <a:lnL>
                      <a:noFill/>
                    </a:lnL>
                    <a:lnR>
                      <a:noFill/>
                    </a:lnR>
                    <a:lnT>
                      <a:noFill/>
                    </a:lnT>
                    <a:lnB w="6350" cap="flat" cmpd="sng" algn="ctr">
                      <a:solidFill>
                        <a:srgbClr val="BFBFBF"/>
                      </a:solidFill>
                      <a:prstDash val="solid"/>
                      <a:round/>
                      <a:headEnd type="none" w="med" len="med"/>
                      <a:tailEnd type="none" w="med" len="med"/>
                    </a:lnB>
                    <a:solidFill>
                      <a:srgbClr val="06184A"/>
                    </a:solidFill>
                  </a:tcP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风险特征</a:t>
                      </a:r>
                    </a:p>
                  </a:txBody>
                  <a:tcPr marL="0" marR="0" marT="0" marB="0" anchor="ctr">
                    <a:lnL>
                      <a:noFill/>
                    </a:lnL>
                    <a:lnR>
                      <a:noFill/>
                    </a:lnR>
                    <a:lnT>
                      <a:noFill/>
                    </a:lnT>
                    <a:lnB w="6350" cap="flat" cmpd="sng" algn="ctr">
                      <a:solidFill>
                        <a:srgbClr val="BFBFBF"/>
                      </a:solidFill>
                      <a:prstDash val="solid"/>
                      <a:round/>
                      <a:headEnd type="none" w="med" len="med"/>
                      <a:tailEnd type="none" w="med" len="med"/>
                    </a:lnB>
                    <a:solidFill>
                      <a:srgbClr val="06184A"/>
                    </a:solidFill>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4"/>
                  </a:ext>
                </a:extLst>
              </a:tr>
              <a:tr h="324937">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区间</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累计收益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年化收益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tc gridSpan="2">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指标</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tc hMerge="1">
                  <a:txBody>
                    <a:bodyPr/>
                    <a:lstStyle/>
                    <a:p>
                      <a:endParaRPr lang="zh-CN" altLang="en-US"/>
                    </a:p>
                  </a:txBody>
                  <a:tcPr/>
                </a:tc>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数值</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extLst>
                  <a:ext uri="{0D108BD9-81ED-4DB2-BD59-A6C34878D82A}">
                    <a16:rowId xmlns="" xmlns:a16="http://schemas.microsoft.com/office/drawing/2014/main" val="10005"/>
                  </a:ext>
                </a:extLst>
              </a:tr>
              <a:tr h="314106">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起始以来</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400" b="0" i="0" u="none" strike="noStrike">
                          <a:solidFill>
                            <a:srgbClr val="9C0006"/>
                          </a:solidFill>
                          <a:effectLst/>
                          <a:latin typeface="微软雅黑" panose="020B0503020204020204" pitchFamily="34" charset="-122"/>
                          <a:ea typeface="微软雅黑" panose="020B0503020204020204" pitchFamily="34" charset="-122"/>
                        </a:rPr>
                        <a:t>0.39%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400" b="0" i="0" u="none" strike="noStrike" dirty="0" smtClean="0">
                          <a:solidFill>
                            <a:srgbClr val="9C0006"/>
                          </a:solidFill>
                          <a:effectLst/>
                          <a:latin typeface="微软雅黑" panose="020B0503020204020204" pitchFamily="34" charset="-122"/>
                          <a:ea typeface="微软雅黑" panose="020B0503020204020204" pitchFamily="34" charset="-122"/>
                        </a:rPr>
                        <a:t>-</a:t>
                      </a:r>
                      <a:endParaRPr lang="en-US" altLang="zh-CN" sz="1400" b="0" i="0" u="none" strike="noStrike" dirty="0">
                        <a:solidFill>
                          <a:srgbClr val="9C0006"/>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最大回撤</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a:solidFill>
                            <a:srgbClr val="00B050"/>
                          </a:solidFill>
                          <a:effectLst/>
                          <a:latin typeface="微软雅黑" panose="020B0503020204020204" pitchFamily="34" charset="-122"/>
                          <a:ea typeface="微软雅黑" panose="020B0503020204020204" pitchFamily="34" charset="-122"/>
                        </a:rPr>
                        <a:t>-0.99%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6"/>
                  </a:ext>
                </a:extLst>
              </a:tr>
              <a:tr h="456766">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2026YTD</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回撤修复天数</a:t>
                      </a: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未创新高</a:t>
                      </a: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7"/>
                  </a:ext>
                </a:extLst>
              </a:tr>
              <a:tr h="314106">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近</a:t>
                      </a:r>
                      <a:r>
                        <a:rPr lang="en-US" altLang="zh-CN" sz="1100" b="1" i="0" u="none" strike="noStrike">
                          <a:solidFill>
                            <a:srgbClr val="000000"/>
                          </a:solidFill>
                          <a:effectLst/>
                          <a:latin typeface="微软雅黑" panose="020B0503020204020204" pitchFamily="34" charset="-122"/>
                          <a:ea typeface="微软雅黑" panose="020B0503020204020204" pitchFamily="34" charset="-122"/>
                        </a:rPr>
                        <a:t>3</a:t>
                      </a: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个月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正收益占比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62.5%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8"/>
                  </a:ext>
                </a:extLst>
              </a:tr>
              <a:tr h="314106">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近</a:t>
                      </a:r>
                      <a:r>
                        <a:rPr lang="en-US" altLang="zh-CN" sz="1100" b="1" i="0" u="none" strike="noStrike">
                          <a:solidFill>
                            <a:srgbClr val="000000"/>
                          </a:solidFill>
                          <a:effectLst/>
                          <a:latin typeface="微软雅黑" panose="020B0503020204020204" pitchFamily="34" charset="-122"/>
                          <a:ea typeface="微软雅黑" panose="020B0503020204020204" pitchFamily="34" charset="-122"/>
                        </a:rPr>
                        <a:t>6</a:t>
                      </a: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个月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年化波动率</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dirty="0" smtClean="0">
                          <a:solidFill>
                            <a:srgbClr val="000000"/>
                          </a:solidFill>
                          <a:effectLst/>
                          <a:latin typeface="微软雅黑" panose="020B0503020204020204" pitchFamily="34" charset="-122"/>
                          <a:ea typeface="微软雅黑" panose="020B0503020204020204" pitchFamily="34" charset="-122"/>
                        </a:rPr>
                        <a:t>-</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9"/>
                  </a:ext>
                </a:extLst>
              </a:tr>
              <a:tr h="314106">
                <a:tc>
                  <a:txBody>
                    <a:bodyPr/>
                    <a:lstStyle/>
                    <a:p>
                      <a:pPr algn="l"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近</a:t>
                      </a: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年</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夏普比率</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dirty="0" smtClean="0">
                          <a:solidFill>
                            <a:srgbClr val="000000"/>
                          </a:solidFill>
                          <a:effectLst/>
                          <a:latin typeface="微软雅黑" panose="020B0503020204020204" pitchFamily="34" charset="-122"/>
                          <a:ea typeface="微软雅黑" panose="020B0503020204020204" pitchFamily="34" charset="-122"/>
                        </a:rPr>
                        <a:t>-</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10"/>
                  </a:ext>
                </a:extLst>
              </a:tr>
              <a:tr h="314106">
                <a:tc>
                  <a:txBody>
                    <a:bodyPr/>
                    <a:lstStyle/>
                    <a:p>
                      <a:pPr algn="l" fontAlgn="b"/>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l" fontAlgn="b"/>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l" fontAlgn="b"/>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lnL>
                      <a:noFill/>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tcPr>
                </a:tc>
                <a:tc gridSpan="2">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卡玛比率</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dirty="0" smtClean="0">
                          <a:solidFill>
                            <a:srgbClr val="000000"/>
                          </a:solidFill>
                          <a:effectLst/>
                          <a:latin typeface="微软雅黑" panose="020B0503020204020204" pitchFamily="34" charset="-122"/>
                          <a:ea typeface="微软雅黑" panose="020B0503020204020204" pitchFamily="34" charset="-122"/>
                        </a:rPr>
                        <a:t>-</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11"/>
                  </a:ext>
                </a:extLst>
              </a:tr>
            </a:tbl>
          </a:graphicData>
        </a:graphic>
      </p:graphicFrame>
      <p:sp>
        <p:nvSpPr>
          <p:cNvPr id="10" name="TextBox 3">
            <a:extLst>
              <a:ext uri="{FF2B5EF4-FFF2-40B4-BE49-F238E27FC236}">
                <a16:creationId xmlns="" xmlns:a16="http://schemas.microsoft.com/office/drawing/2014/main" id="{2F60F4AC-13F8-270C-2B33-675794D6343C}"/>
              </a:ext>
            </a:extLst>
          </p:cNvPr>
          <p:cNvSpPr txBox="1"/>
          <p:nvPr/>
        </p:nvSpPr>
        <p:spPr>
          <a:xfrm>
            <a:off x="262148" y="6151377"/>
            <a:ext cx="9553184" cy="325623"/>
          </a:xfrm>
          <a:prstGeom prst="rect">
            <a:avLst/>
          </a:prstGeom>
          <a:noFill/>
        </p:spPr>
        <p:txBody>
          <a:bodyPr wrap="square"/>
          <a:lstStyle/>
          <a:p>
            <a:pPr marL="171450" indent="-171450">
              <a:lnSpc>
                <a:spcPct val="120000"/>
              </a:lnSpc>
              <a:spcAft>
                <a:spcPts val="0"/>
              </a:spcAft>
              <a:buFont typeface="Arial" panose="020B0604020202020204" pitchFamily="34" charset="0"/>
              <a:buChar char="•"/>
              <a:defRPr sz="1600" b="0">
                <a:solidFill>
                  <a:srgbClr val="666666"/>
                </a:solidFill>
                <a:latin typeface="微软雅黑" panose="020B0503020204020204" charset="-122"/>
              </a:defRPr>
            </a:pPr>
            <a:r>
              <a:rPr lang="zh-CN" altLang="en-US" sz="1200" dirty="0">
                <a:latin typeface="华文中宋" panose="02010600040101010101" pitchFamily="2" charset="-122"/>
                <a:ea typeface="华文中宋" panose="02010600040101010101" pitchFamily="2" charset="-122"/>
              </a:rPr>
              <a:t>数据统计区间</a:t>
            </a:r>
            <a:r>
              <a:rPr lang="en-US" altLang="zh-CN" sz="1200" dirty="0" smtClean="0">
                <a:latin typeface="华文中宋" panose="02010600040101010101" pitchFamily="2" charset="-122"/>
                <a:ea typeface="华文中宋" panose="02010600040101010101" pitchFamily="2" charset="-122"/>
              </a:rPr>
              <a:t>2026/6/1-7/3</a:t>
            </a:r>
            <a:r>
              <a:rPr lang="zh-CN" altLang="en-US" sz="1200" dirty="0" smtClean="0">
                <a:latin typeface="华文中宋" panose="02010600040101010101" pitchFamily="2" charset="-122"/>
                <a:ea typeface="华文中宋" panose="02010600040101010101" pitchFamily="2" charset="-122"/>
              </a:rPr>
              <a:t>，</a:t>
            </a:r>
            <a:r>
              <a:rPr lang="zh-CN" altLang="en-US" sz="1200" dirty="0">
                <a:latin typeface="华文中宋" panose="02010600040101010101" pitchFamily="2" charset="-122"/>
                <a:ea typeface="华文中宋" panose="02010600040101010101" pitchFamily="2" charset="-122"/>
              </a:rPr>
              <a:t>组合费率</a:t>
            </a:r>
            <a:r>
              <a:rPr lang="en-US" altLang="zh-CN" sz="1200" dirty="0">
                <a:latin typeface="华文中宋" panose="02010600040101010101" pitchFamily="2" charset="-122"/>
                <a:ea typeface="华文中宋" panose="02010600040101010101" pitchFamily="2" charset="-122"/>
              </a:rPr>
              <a:t>0.8%/</a:t>
            </a:r>
            <a:r>
              <a:rPr lang="zh-CN" altLang="en-US" sz="1200" dirty="0">
                <a:latin typeface="华文中宋" panose="02010600040101010101" pitchFamily="2" charset="-122"/>
                <a:ea typeface="华文中宋" panose="02010600040101010101" pitchFamily="2" charset="-122"/>
              </a:rPr>
              <a:t>年</a:t>
            </a:r>
          </a:p>
        </p:txBody>
      </p:sp>
      <p:pic>
        <p:nvPicPr>
          <p:cNvPr id="2" name="图片 1"/>
          <p:cNvPicPr>
            <a:picLocks noChangeAspect="1"/>
          </p:cNvPicPr>
          <p:nvPr/>
        </p:nvPicPr>
        <p:blipFill>
          <a:blip r:embed="rId3"/>
          <a:stretch>
            <a:fillRect/>
          </a:stretch>
        </p:blipFill>
        <p:spPr>
          <a:xfrm>
            <a:off x="5329510" y="2306230"/>
            <a:ext cx="6487425" cy="3072650"/>
          </a:xfrm>
          <a:prstGeom prst="rect">
            <a:avLst/>
          </a:prstGeom>
        </p:spPr>
      </p:pic>
    </p:spTree>
    <p:extLst>
      <p:ext uri="{BB962C8B-B14F-4D97-AF65-F5344CB8AC3E}">
        <p14:creationId xmlns:p14="http://schemas.microsoft.com/office/powerpoint/2010/main" val="3382518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D3231BF-B239-EAFE-213B-D4B468A864A1}"/>
            </a:ext>
          </a:extLst>
        </p:cNvPr>
        <p:cNvGrpSpPr/>
        <p:nvPr/>
      </p:nvGrpSpPr>
      <p:grpSpPr>
        <a:xfrm>
          <a:off x="0" y="0"/>
          <a:ext cx="0" cy="0"/>
          <a:chOff x="0" y="0"/>
          <a:chExt cx="0" cy="0"/>
        </a:xfrm>
      </p:grpSpPr>
      <p:sp>
        <p:nvSpPr>
          <p:cNvPr id="29" name="文本占位符 10">
            <a:extLst>
              <a:ext uri="{FF2B5EF4-FFF2-40B4-BE49-F238E27FC236}">
                <a16:creationId xmlns="" xmlns:a16="http://schemas.microsoft.com/office/drawing/2014/main" id="{8F77D019-2385-809B-FEC4-40B4849B9890}"/>
              </a:ext>
            </a:extLst>
          </p:cNvPr>
          <p:cNvSpPr txBox="1"/>
          <p:nvPr/>
        </p:nvSpPr>
        <p:spPr>
          <a:xfrm>
            <a:off x="899137" y="391454"/>
            <a:ext cx="10759463" cy="508000"/>
          </a:xfrm>
          <a:prstGeom prst="rect">
            <a:avLst/>
          </a:prstGeom>
        </p:spPr>
        <p:txBody>
          <a:bodyPr lIns="0" tIns="0" rIns="0" bIns="0" anchor="ctr" anchorCtr="0"/>
          <a:lstStyle>
            <a:lvl1pPr marL="0" indent="0" algn="l" defTabSz="457200" rtl="0" eaLnBrk="1" latinLnBrk="0" hangingPunct="1">
              <a:lnSpc>
                <a:spcPct val="100000"/>
              </a:lnSpc>
              <a:spcBef>
                <a:spcPts val="2000"/>
              </a:spcBef>
              <a:buFont typeface="Arial" panose="020B0604020202020204" pitchFamily="34" charset="0"/>
              <a:buNone/>
              <a:defRPr lang="zh-CN" altLang="en-US" sz="6000" b="1" kern="1200" spc="1000" dirty="0">
                <a:solidFill>
                  <a:srgbClr val="3B3838"/>
                </a:solidFill>
                <a:latin typeface="+mj-ea"/>
                <a:ea typeface="+mj-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a:solidFill>
                  <a:schemeClr val="tx1"/>
                </a:solidFill>
                <a:latin typeface="+mn-lt"/>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defTabSz="914378">
              <a:lnSpc>
                <a:spcPts val="2143"/>
              </a:lnSpc>
              <a:spcBef>
                <a:spcPts val="1029"/>
              </a:spcBef>
              <a:spcAft>
                <a:spcPts val="1029"/>
              </a:spcAft>
              <a:defRPr/>
            </a:pPr>
            <a:r>
              <a:rPr lang="zh-CN" altLang="en-US" sz="2400" spc="0" dirty="0">
                <a:solidFill>
                  <a:srgbClr val="8B0000"/>
                </a:solidFill>
                <a:latin typeface="微软雅黑" panose="020B0503020204020204" pitchFamily="34" charset="-122"/>
                <a:ea typeface="微软雅黑" panose="020B0503020204020204" pitchFamily="34" charset="-122"/>
                <a:sym typeface="Helvetica Neue"/>
              </a:rPr>
              <a:t>样板间组合运行看板（</a:t>
            </a:r>
            <a:r>
              <a:rPr lang="en-US" altLang="zh-CN" sz="2400" spc="0" dirty="0">
                <a:solidFill>
                  <a:srgbClr val="8B0000"/>
                </a:solidFill>
                <a:latin typeface="微软雅黑" panose="020B0503020204020204" pitchFamily="34" charset="-122"/>
                <a:ea typeface="微软雅黑" panose="020B0503020204020204" pitchFamily="34" charset="-122"/>
                <a:sym typeface="Helvetica Neue"/>
              </a:rPr>
              <a:t>6</a:t>
            </a:r>
            <a:r>
              <a:rPr lang="zh-CN" altLang="en-US" sz="2400" spc="0" dirty="0">
                <a:solidFill>
                  <a:srgbClr val="8B0000"/>
                </a:solidFill>
                <a:latin typeface="微软雅黑" panose="020B0503020204020204" pitchFamily="34" charset="-122"/>
                <a:ea typeface="微软雅黑" panose="020B0503020204020204" pitchFamily="34" charset="-122"/>
                <a:sym typeface="Helvetica Neue"/>
              </a:rPr>
              <a:t>月</a:t>
            </a:r>
            <a:r>
              <a:rPr lang="en-US" altLang="zh-CN" sz="2400" spc="0" dirty="0">
                <a:solidFill>
                  <a:srgbClr val="8B0000"/>
                </a:solidFill>
                <a:latin typeface="微软雅黑" panose="020B0503020204020204" pitchFamily="34" charset="-122"/>
                <a:ea typeface="微软雅黑" panose="020B0503020204020204" pitchFamily="34" charset="-122"/>
                <a:sym typeface="Helvetica Neue"/>
              </a:rPr>
              <a:t>1</a:t>
            </a:r>
            <a:r>
              <a:rPr lang="zh-CN" altLang="en-US" sz="2400" spc="0" dirty="0">
                <a:solidFill>
                  <a:srgbClr val="8B0000"/>
                </a:solidFill>
                <a:latin typeface="微软雅黑" panose="020B0503020204020204" pitchFamily="34" charset="-122"/>
                <a:ea typeface="微软雅黑" panose="020B0503020204020204" pitchFamily="34" charset="-122"/>
                <a:sym typeface="Helvetica Neue"/>
              </a:rPr>
              <a:t>日以来）</a:t>
            </a:r>
          </a:p>
        </p:txBody>
      </p:sp>
      <p:sp>
        <p:nvSpPr>
          <p:cNvPr id="4" name="Shape 0">
            <a:extLst>
              <a:ext uri="{FF2B5EF4-FFF2-40B4-BE49-F238E27FC236}">
                <a16:creationId xmlns="" xmlns:a16="http://schemas.microsoft.com/office/drawing/2014/main" id="{132302E8-112D-A3A2-AEAC-06DA2791D9B6}"/>
              </a:ext>
            </a:extLst>
          </p:cNvPr>
          <p:cNvSpPr/>
          <p:nvPr/>
        </p:nvSpPr>
        <p:spPr>
          <a:xfrm>
            <a:off x="381000" y="38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txBody>
          <a:bodyPr/>
          <a:lstStyle/>
          <a:p>
            <a:endParaRPr lang="zh-CN" altLang="en-US"/>
          </a:p>
        </p:txBody>
      </p:sp>
      <p:sp>
        <p:nvSpPr>
          <p:cNvPr id="5" name="Text 1">
            <a:extLst>
              <a:ext uri="{FF2B5EF4-FFF2-40B4-BE49-F238E27FC236}">
                <a16:creationId xmlns="" xmlns:a16="http://schemas.microsoft.com/office/drawing/2014/main" id="{76DF2853-13DC-97D8-C24A-543E087AF03E}"/>
              </a:ext>
            </a:extLst>
          </p:cNvPr>
          <p:cNvSpPr/>
          <p:nvPr/>
        </p:nvSpPr>
        <p:spPr>
          <a:xfrm>
            <a:off x="451842" y="438150"/>
            <a:ext cx="323850" cy="266700"/>
          </a:xfrm>
          <a:prstGeom prst="rect">
            <a:avLst/>
          </a:prstGeom>
          <a:noFill/>
          <a:ln/>
        </p:spPr>
        <p:txBody>
          <a:bodyPr wrap="square" lIns="0" tIns="0" rIns="0" bIns="0" rtlCol="0" anchor="ctr"/>
          <a:lstStyle/>
          <a:p>
            <a:pPr>
              <a:lnSpc>
                <a:spcPct val="130000"/>
              </a:lnSpc>
            </a:pPr>
            <a:r>
              <a:rPr lang="zh-CN" altLang="en-US" sz="1350" b="1" dirty="0">
                <a:solidFill>
                  <a:srgbClr val="F9FAFB"/>
                </a:solidFill>
                <a:latin typeface="思源宋体" pitchFamily="34" charset="0"/>
                <a:ea typeface="思源宋体" pitchFamily="34" charset="-122"/>
              </a:rPr>
              <a:t>附</a:t>
            </a:r>
            <a:r>
              <a:rPr lang="en-US" altLang="zh-CN" sz="1350" b="1" dirty="0">
                <a:solidFill>
                  <a:srgbClr val="F9FAFB"/>
                </a:solidFill>
                <a:latin typeface="思源宋体" pitchFamily="34" charset="0"/>
                <a:ea typeface="思源宋体" pitchFamily="34" charset="-122"/>
              </a:rPr>
              <a:t>2</a:t>
            </a:r>
            <a:endParaRPr lang="en-US" sz="1600" dirty="0"/>
          </a:p>
        </p:txBody>
      </p:sp>
      <p:graphicFrame>
        <p:nvGraphicFramePr>
          <p:cNvPr id="7" name="表格 6">
            <a:extLst>
              <a:ext uri="{FF2B5EF4-FFF2-40B4-BE49-F238E27FC236}">
                <a16:creationId xmlns="" xmlns:a16="http://schemas.microsoft.com/office/drawing/2014/main" id="{A08AAE72-FCA5-1CEF-4865-6BDB2499048C}"/>
              </a:ext>
            </a:extLst>
          </p:cNvPr>
          <p:cNvGraphicFramePr>
            <a:graphicFrameLocks noGrp="1"/>
          </p:cNvGraphicFramePr>
          <p:nvPr/>
        </p:nvGraphicFramePr>
        <p:xfrm>
          <a:off x="5467101" y="1467896"/>
          <a:ext cx="6212244" cy="838334"/>
        </p:xfrm>
        <a:graphic>
          <a:graphicData uri="http://schemas.openxmlformats.org/drawingml/2006/table">
            <a:tbl>
              <a:tblPr/>
              <a:tblGrid>
                <a:gridCol w="1035374">
                  <a:extLst>
                    <a:ext uri="{9D8B030D-6E8A-4147-A177-3AD203B41FA5}">
                      <a16:colId xmlns="" xmlns:a16="http://schemas.microsoft.com/office/drawing/2014/main" val="20000"/>
                    </a:ext>
                  </a:extLst>
                </a:gridCol>
                <a:gridCol w="1035374">
                  <a:extLst>
                    <a:ext uri="{9D8B030D-6E8A-4147-A177-3AD203B41FA5}">
                      <a16:colId xmlns="" xmlns:a16="http://schemas.microsoft.com/office/drawing/2014/main" val="20001"/>
                    </a:ext>
                  </a:extLst>
                </a:gridCol>
                <a:gridCol w="1035374">
                  <a:extLst>
                    <a:ext uri="{9D8B030D-6E8A-4147-A177-3AD203B41FA5}">
                      <a16:colId xmlns="" xmlns:a16="http://schemas.microsoft.com/office/drawing/2014/main" val="20002"/>
                    </a:ext>
                  </a:extLst>
                </a:gridCol>
                <a:gridCol w="1035374">
                  <a:extLst>
                    <a:ext uri="{9D8B030D-6E8A-4147-A177-3AD203B41FA5}">
                      <a16:colId xmlns="" xmlns:a16="http://schemas.microsoft.com/office/drawing/2014/main" val="20003"/>
                    </a:ext>
                  </a:extLst>
                </a:gridCol>
                <a:gridCol w="1035374">
                  <a:extLst>
                    <a:ext uri="{9D8B030D-6E8A-4147-A177-3AD203B41FA5}">
                      <a16:colId xmlns="" xmlns:a16="http://schemas.microsoft.com/office/drawing/2014/main" val="20004"/>
                    </a:ext>
                  </a:extLst>
                </a:gridCol>
                <a:gridCol w="1035374">
                  <a:extLst>
                    <a:ext uri="{9D8B030D-6E8A-4147-A177-3AD203B41FA5}">
                      <a16:colId xmlns="" xmlns:a16="http://schemas.microsoft.com/office/drawing/2014/main" val="20005"/>
                    </a:ext>
                  </a:extLst>
                </a:gridCol>
              </a:tblGrid>
              <a:tr h="419167">
                <a:tc gridSpan="6">
                  <a:txBody>
                    <a:bodyPr/>
                    <a:lstStyle/>
                    <a:p>
                      <a:pPr algn="l" fontAlgn="ctr"/>
                      <a:r>
                        <a:rPr lang="zh-CN" altLang="en-US" sz="1800" b="1" i="0" u="none" strike="noStrike" dirty="0">
                          <a:solidFill>
                            <a:srgbClr val="FFFFFF"/>
                          </a:solidFill>
                          <a:effectLst/>
                          <a:latin typeface="微软雅黑" panose="020B0503020204020204" pitchFamily="34" charset="-122"/>
                          <a:ea typeface="微软雅黑" panose="020B0503020204020204" pitchFamily="34" charset="-122"/>
                        </a:rPr>
                        <a:t> 组合运作情况 </a:t>
                      </a:r>
                      <a:r>
                        <a:rPr lang="en-US" altLang="zh-CN" sz="1800" b="1" i="0" u="none" strike="noStrike" dirty="0">
                          <a:solidFill>
                            <a:srgbClr val="FFFFFF"/>
                          </a:solidFill>
                          <a:effectLst/>
                          <a:latin typeface="微软雅黑" panose="020B0503020204020204" pitchFamily="34" charset="-122"/>
                          <a:ea typeface="微软雅黑" panose="020B0503020204020204" pitchFamily="34" charset="-122"/>
                        </a:rPr>
                        <a:t>· </a:t>
                      </a:r>
                      <a:r>
                        <a:rPr lang="zh-CN" altLang="en-US" sz="1800" b="1" i="0" u="none" strike="noStrike" dirty="0">
                          <a:solidFill>
                            <a:srgbClr val="FFFFFF"/>
                          </a:solidFill>
                          <a:effectLst/>
                          <a:latin typeface="微软雅黑" panose="020B0503020204020204" pitchFamily="34" charset="-122"/>
                          <a:ea typeface="微软雅黑" panose="020B0503020204020204" pitchFamily="34" charset="-122"/>
                        </a:rPr>
                        <a:t>组合累积净值</a:t>
                      </a:r>
                    </a:p>
                  </a:txBody>
                  <a:tcPr marL="0" marR="0" marT="0" marB="0" anchor="ctr">
                    <a:lnL>
                      <a:noFill/>
                    </a:lnL>
                    <a:lnR>
                      <a:noFill/>
                    </a:lnR>
                    <a:lnT>
                      <a:noFill/>
                    </a:lnT>
                    <a:lnB>
                      <a:noFill/>
                    </a:lnB>
                    <a:solidFill>
                      <a:srgbClr val="06184A"/>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0"/>
                  </a:ext>
                </a:extLst>
              </a:tr>
              <a:tr h="419167">
                <a:tc>
                  <a:txBody>
                    <a:bodyPr/>
                    <a:lstStyle/>
                    <a:p>
                      <a:pPr algn="l" fontAlgn="b"/>
                      <a:endParaRPr lang="zh-CN" altLang="en-US" sz="14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extLst>
                  <a:ext uri="{0D108BD9-81ED-4DB2-BD59-A6C34878D82A}">
                    <a16:rowId xmlns="" xmlns:a16="http://schemas.microsoft.com/office/drawing/2014/main" val="10001"/>
                  </a:ext>
                </a:extLst>
              </a:tr>
            </a:tbl>
          </a:graphicData>
        </a:graphic>
      </p:graphicFrame>
      <p:graphicFrame>
        <p:nvGraphicFramePr>
          <p:cNvPr id="8" name="表格 7">
            <a:extLst>
              <a:ext uri="{FF2B5EF4-FFF2-40B4-BE49-F238E27FC236}">
                <a16:creationId xmlns="" xmlns:a16="http://schemas.microsoft.com/office/drawing/2014/main" id="{C4203DFB-311C-9F4E-10BF-8107E61CC104}"/>
              </a:ext>
            </a:extLst>
          </p:cNvPr>
          <p:cNvGraphicFramePr>
            <a:graphicFrameLocks noGrp="1"/>
          </p:cNvGraphicFramePr>
          <p:nvPr>
            <p:extLst>
              <p:ext uri="{D42A27DB-BD31-4B8C-83A1-F6EECF244321}">
                <p14:modId xmlns:p14="http://schemas.microsoft.com/office/powerpoint/2010/main" val="3510939803"/>
              </p:ext>
            </p:extLst>
          </p:nvPr>
        </p:nvGraphicFramePr>
        <p:xfrm>
          <a:off x="542081" y="1481559"/>
          <a:ext cx="4505526" cy="4328934"/>
        </p:xfrm>
        <a:graphic>
          <a:graphicData uri="http://schemas.openxmlformats.org/drawingml/2006/table">
            <a:tbl>
              <a:tblPr/>
              <a:tblGrid>
                <a:gridCol w="750921">
                  <a:extLst>
                    <a:ext uri="{9D8B030D-6E8A-4147-A177-3AD203B41FA5}">
                      <a16:colId xmlns="" xmlns:a16="http://schemas.microsoft.com/office/drawing/2014/main" val="20000"/>
                    </a:ext>
                  </a:extLst>
                </a:gridCol>
                <a:gridCol w="750921">
                  <a:extLst>
                    <a:ext uri="{9D8B030D-6E8A-4147-A177-3AD203B41FA5}">
                      <a16:colId xmlns="" xmlns:a16="http://schemas.microsoft.com/office/drawing/2014/main" val="20001"/>
                    </a:ext>
                  </a:extLst>
                </a:gridCol>
                <a:gridCol w="750921">
                  <a:extLst>
                    <a:ext uri="{9D8B030D-6E8A-4147-A177-3AD203B41FA5}">
                      <a16:colId xmlns="" xmlns:a16="http://schemas.microsoft.com/office/drawing/2014/main" val="20002"/>
                    </a:ext>
                  </a:extLst>
                </a:gridCol>
                <a:gridCol w="750921">
                  <a:extLst>
                    <a:ext uri="{9D8B030D-6E8A-4147-A177-3AD203B41FA5}">
                      <a16:colId xmlns="" xmlns:a16="http://schemas.microsoft.com/office/drawing/2014/main" val="20003"/>
                    </a:ext>
                  </a:extLst>
                </a:gridCol>
                <a:gridCol w="750921">
                  <a:extLst>
                    <a:ext uri="{9D8B030D-6E8A-4147-A177-3AD203B41FA5}">
                      <a16:colId xmlns="" xmlns:a16="http://schemas.microsoft.com/office/drawing/2014/main" val="20004"/>
                    </a:ext>
                  </a:extLst>
                </a:gridCol>
                <a:gridCol w="750921">
                  <a:extLst>
                    <a:ext uri="{9D8B030D-6E8A-4147-A177-3AD203B41FA5}">
                      <a16:colId xmlns="" xmlns:a16="http://schemas.microsoft.com/office/drawing/2014/main" val="20005"/>
                    </a:ext>
                  </a:extLst>
                </a:gridCol>
              </a:tblGrid>
              <a:tr h="433250">
                <a:tc gridSpan="6">
                  <a:txBody>
                    <a:bodyPr/>
                    <a:lstStyle/>
                    <a:p>
                      <a:pPr algn="l" fontAlgn="ctr"/>
                      <a:r>
                        <a:rPr lang="en-US" altLang="zh-CN" sz="1400" b="1" i="0" u="none" strike="noStrike" dirty="0">
                          <a:solidFill>
                            <a:srgbClr val="FFFFFF"/>
                          </a:solidFill>
                          <a:effectLst/>
                          <a:latin typeface="微软雅黑" panose="020B0503020204020204" pitchFamily="34" charset="-122"/>
                          <a:ea typeface="微软雅黑" panose="020B0503020204020204" pitchFamily="34" charset="-122"/>
                        </a:rPr>
                        <a:t>30/70</a:t>
                      </a: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组合业绩表现</a:t>
                      </a:r>
                    </a:p>
                  </a:txBody>
                  <a:tcPr marL="0" marR="0" marT="0" marB="0" anchor="ctr">
                    <a:lnL>
                      <a:noFill/>
                    </a:lnL>
                    <a:lnR>
                      <a:noFill/>
                    </a:lnR>
                    <a:lnT>
                      <a:noFill/>
                    </a:lnT>
                    <a:lnB w="6350" cap="flat" cmpd="sng" algn="ctr">
                      <a:solidFill>
                        <a:srgbClr val="BFBFBF"/>
                      </a:solidFill>
                      <a:prstDash val="solid"/>
                      <a:round/>
                      <a:headEnd type="none" w="med" len="med"/>
                      <a:tailEnd type="none" w="med" len="med"/>
                    </a:lnB>
                    <a:solidFill>
                      <a:srgbClr val="06184A"/>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0"/>
                  </a:ext>
                </a:extLst>
              </a:tr>
              <a:tr h="314106">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最新净值</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累计收益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年化收益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年化波动率</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最大回撤</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夏普比率</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extLst>
                  <a:ext uri="{0D108BD9-81ED-4DB2-BD59-A6C34878D82A}">
                    <a16:rowId xmlns="" xmlns:a16="http://schemas.microsoft.com/office/drawing/2014/main" val="10001"/>
                  </a:ext>
                </a:extLst>
              </a:tr>
              <a:tr h="601133">
                <a:tc>
                  <a:txBody>
                    <a:bodyPr/>
                    <a:lstStyle/>
                    <a:p>
                      <a:pPr algn="ctr" fontAlgn="ctr"/>
                      <a:r>
                        <a:rPr lang="en-US" altLang="zh-CN" sz="1600" b="1" i="0" u="none" strike="noStrike">
                          <a:solidFill>
                            <a:srgbClr val="1F3864"/>
                          </a:solidFill>
                          <a:effectLst/>
                          <a:latin typeface="微软雅黑" panose="020B0503020204020204" pitchFamily="34" charset="-122"/>
                          <a:ea typeface="微软雅黑" panose="020B0503020204020204" pitchFamily="34" charset="-122"/>
                        </a:rPr>
                        <a:t>1.0152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a:solidFill>
                            <a:srgbClr val="9C0006"/>
                          </a:solidFill>
                          <a:effectLst/>
                          <a:latin typeface="微软雅黑" panose="020B0503020204020204" pitchFamily="34" charset="-122"/>
                          <a:ea typeface="微软雅黑" panose="020B0503020204020204" pitchFamily="34" charset="-122"/>
                        </a:rPr>
                        <a:t>1.52%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dirty="0" smtClean="0">
                          <a:solidFill>
                            <a:srgbClr val="9C0006"/>
                          </a:solidFill>
                          <a:effectLst/>
                          <a:latin typeface="微软雅黑" panose="020B0503020204020204" pitchFamily="34" charset="-122"/>
                          <a:ea typeface="微软雅黑" panose="020B0503020204020204" pitchFamily="34" charset="-122"/>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dirty="0" smtClean="0">
                          <a:solidFill>
                            <a:srgbClr val="1F3864"/>
                          </a:solidFill>
                          <a:effectLst/>
                          <a:latin typeface="微软雅黑" panose="020B0503020204020204" pitchFamily="34" charset="-122"/>
                          <a:ea typeface="微软雅黑" panose="020B0503020204020204" pitchFamily="34" charset="-122"/>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a:solidFill>
                            <a:srgbClr val="00B050"/>
                          </a:solidFill>
                          <a:effectLst/>
                          <a:latin typeface="微软雅黑" panose="020B0503020204020204" pitchFamily="34" charset="-122"/>
                          <a:ea typeface="微软雅黑" panose="020B0503020204020204" pitchFamily="34" charset="-122"/>
                        </a:rPr>
                        <a:t>-2.45%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dirty="0" smtClean="0">
                          <a:solidFill>
                            <a:srgbClr val="1F3864"/>
                          </a:solidFill>
                          <a:effectLst/>
                          <a:latin typeface="微软雅黑" panose="020B0503020204020204" pitchFamily="34" charset="-122"/>
                          <a:ea typeface="微软雅黑" panose="020B0503020204020204" pitchFamily="34" charset="-122"/>
                        </a:rPr>
                        <a:t>-</a:t>
                      </a:r>
                      <a:endParaRPr lang="en-US" altLang="zh-CN" sz="1600" b="1" i="0" u="none" strike="noStrike" dirty="0">
                        <a:solidFill>
                          <a:srgbClr val="1F3864"/>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2"/>
                  </a:ext>
                </a:extLst>
              </a:tr>
              <a:tr h="314106">
                <a:tc>
                  <a:txBody>
                    <a:bodyPr/>
                    <a:lstStyle/>
                    <a:p>
                      <a:pPr algn="ctr" fontAlgn="b"/>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ctr" fontAlgn="b"/>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ctr" fontAlgn="b"/>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ctr" fontAlgn="b"/>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ctr" fontAlgn="b"/>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l" fontAlgn="b"/>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extLst>
                  <a:ext uri="{0D108BD9-81ED-4DB2-BD59-A6C34878D82A}">
                    <a16:rowId xmlns="" xmlns:a16="http://schemas.microsoft.com/office/drawing/2014/main" val="10003"/>
                  </a:ext>
                </a:extLst>
              </a:tr>
              <a:tr h="314106">
                <a:tc gridSpan="3">
                  <a:txBody>
                    <a:bodyPr/>
                    <a:lstStyle/>
                    <a:p>
                      <a:pPr algn="ctr"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收益表现</a:t>
                      </a:r>
                    </a:p>
                  </a:txBody>
                  <a:tcPr marL="0" marR="0" marT="0" marB="0" anchor="ctr">
                    <a:lnL>
                      <a:noFill/>
                    </a:lnL>
                    <a:lnR>
                      <a:noFill/>
                    </a:lnR>
                    <a:lnT>
                      <a:noFill/>
                    </a:lnT>
                    <a:lnB w="6350" cap="flat" cmpd="sng" algn="ctr">
                      <a:solidFill>
                        <a:srgbClr val="BFBFBF"/>
                      </a:solidFill>
                      <a:prstDash val="solid"/>
                      <a:round/>
                      <a:headEnd type="none" w="med" len="med"/>
                      <a:tailEnd type="none" w="med" len="med"/>
                    </a:lnB>
                    <a:solidFill>
                      <a:srgbClr val="06184A"/>
                    </a:solidFill>
                  </a:tcP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风险特征</a:t>
                      </a:r>
                    </a:p>
                  </a:txBody>
                  <a:tcPr marL="0" marR="0" marT="0" marB="0" anchor="ctr">
                    <a:lnL>
                      <a:noFill/>
                    </a:lnL>
                    <a:lnR>
                      <a:noFill/>
                    </a:lnR>
                    <a:lnT>
                      <a:noFill/>
                    </a:lnT>
                    <a:lnB w="6350" cap="flat" cmpd="sng" algn="ctr">
                      <a:solidFill>
                        <a:srgbClr val="BFBFBF"/>
                      </a:solidFill>
                      <a:prstDash val="solid"/>
                      <a:round/>
                      <a:headEnd type="none" w="med" len="med"/>
                      <a:tailEnd type="none" w="med" len="med"/>
                    </a:lnB>
                    <a:solidFill>
                      <a:srgbClr val="06184A"/>
                    </a:solidFill>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4"/>
                  </a:ext>
                </a:extLst>
              </a:tr>
              <a:tr h="324937">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区间</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累计收益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年化收益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tc gridSpan="2">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指标</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tc hMerge="1">
                  <a:txBody>
                    <a:bodyPr/>
                    <a:lstStyle/>
                    <a:p>
                      <a:endParaRPr lang="zh-CN" altLang="en-US"/>
                    </a:p>
                  </a:txBody>
                  <a:tcPr/>
                </a:tc>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数值</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extLst>
                  <a:ext uri="{0D108BD9-81ED-4DB2-BD59-A6C34878D82A}">
                    <a16:rowId xmlns="" xmlns:a16="http://schemas.microsoft.com/office/drawing/2014/main" val="10005"/>
                  </a:ext>
                </a:extLst>
              </a:tr>
              <a:tr h="314106">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起始以来</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0" i="0" u="none" strike="noStrike">
                          <a:solidFill>
                            <a:srgbClr val="9C0006"/>
                          </a:solidFill>
                          <a:effectLst/>
                          <a:latin typeface="微软雅黑" panose="020B0503020204020204" pitchFamily="34" charset="-122"/>
                          <a:ea typeface="微软雅黑" panose="020B0503020204020204" pitchFamily="34" charset="-122"/>
                        </a:rPr>
                        <a:t>1.52%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200" b="0" i="0" u="none" strike="noStrike" dirty="0" smtClean="0">
                          <a:solidFill>
                            <a:srgbClr val="9C0006"/>
                          </a:solidFill>
                          <a:effectLst/>
                          <a:latin typeface="微软雅黑" panose="020B0503020204020204" pitchFamily="34" charset="-122"/>
                          <a:ea typeface="微软雅黑" panose="020B0503020204020204" pitchFamily="34" charset="-122"/>
                        </a:rPr>
                        <a:t>-</a:t>
                      </a:r>
                      <a:endParaRPr lang="en-US" altLang="zh-CN" sz="1200" b="0" i="0" u="none" strike="noStrike" dirty="0">
                        <a:solidFill>
                          <a:srgbClr val="9C0006"/>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最大回撤</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a:solidFill>
                            <a:srgbClr val="00B050"/>
                          </a:solidFill>
                          <a:effectLst/>
                          <a:latin typeface="微软雅黑" panose="020B0503020204020204" pitchFamily="34" charset="-122"/>
                          <a:ea typeface="微软雅黑" panose="020B0503020204020204" pitchFamily="34" charset="-122"/>
                        </a:rPr>
                        <a:t>-2.45%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6"/>
                  </a:ext>
                </a:extLst>
              </a:tr>
              <a:tr h="456766">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2026YTD</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回撤修复天数</a:t>
                      </a: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未创新高</a:t>
                      </a: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7"/>
                  </a:ext>
                </a:extLst>
              </a:tr>
              <a:tr h="314106">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近</a:t>
                      </a:r>
                      <a:r>
                        <a:rPr lang="en-US" altLang="zh-CN" sz="1100" b="1" i="0" u="none" strike="noStrike">
                          <a:solidFill>
                            <a:srgbClr val="000000"/>
                          </a:solidFill>
                          <a:effectLst/>
                          <a:latin typeface="微软雅黑" panose="020B0503020204020204" pitchFamily="34" charset="-122"/>
                          <a:ea typeface="微软雅黑" panose="020B0503020204020204" pitchFamily="34" charset="-122"/>
                        </a:rPr>
                        <a:t>3</a:t>
                      </a: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个月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正收益占比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62.5%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8"/>
                  </a:ext>
                </a:extLst>
              </a:tr>
              <a:tr h="314106">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近</a:t>
                      </a:r>
                      <a:r>
                        <a:rPr lang="en-US" altLang="zh-CN" sz="1100" b="1" i="0" u="none" strike="noStrike">
                          <a:solidFill>
                            <a:srgbClr val="000000"/>
                          </a:solidFill>
                          <a:effectLst/>
                          <a:latin typeface="微软雅黑" panose="020B0503020204020204" pitchFamily="34" charset="-122"/>
                          <a:ea typeface="微软雅黑" panose="020B0503020204020204" pitchFamily="34" charset="-122"/>
                        </a:rPr>
                        <a:t>6</a:t>
                      </a: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个月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年化波动率</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dirty="0" smtClean="0">
                          <a:solidFill>
                            <a:srgbClr val="000000"/>
                          </a:solidFill>
                          <a:effectLst/>
                          <a:latin typeface="微软雅黑" panose="020B0503020204020204" pitchFamily="34" charset="-122"/>
                          <a:ea typeface="微软雅黑" panose="020B0503020204020204" pitchFamily="34" charset="-122"/>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9"/>
                  </a:ext>
                </a:extLst>
              </a:tr>
              <a:tr h="314106">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近</a:t>
                      </a:r>
                      <a:r>
                        <a:rPr lang="en-US" altLang="zh-CN" sz="1100" b="1" i="0" u="none" strike="noStrike">
                          <a:solidFill>
                            <a:srgbClr val="000000"/>
                          </a:solidFill>
                          <a:effectLst/>
                          <a:latin typeface="微软雅黑" panose="020B0503020204020204" pitchFamily="34" charset="-122"/>
                          <a:ea typeface="微软雅黑" panose="020B0503020204020204" pitchFamily="34" charset="-122"/>
                        </a:rPr>
                        <a:t>1</a:t>
                      </a: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年</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夏普比率</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dirty="0" smtClean="0">
                          <a:solidFill>
                            <a:srgbClr val="000000"/>
                          </a:solidFill>
                          <a:effectLst/>
                          <a:latin typeface="微软雅黑" panose="020B0503020204020204" pitchFamily="34" charset="-122"/>
                          <a:ea typeface="微软雅黑" panose="020B0503020204020204" pitchFamily="34" charset="-122"/>
                        </a:rPr>
                        <a:t>-</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10"/>
                  </a:ext>
                </a:extLst>
              </a:tr>
              <a:tr h="314106">
                <a:tc>
                  <a:txBody>
                    <a:bodyPr/>
                    <a:lstStyle/>
                    <a:p>
                      <a:pPr algn="l" fontAlgn="b"/>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l" fontAlgn="b"/>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l" fontAlgn="b"/>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lnL>
                      <a:noFill/>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tcPr>
                </a:tc>
                <a:tc gridSpan="2">
                  <a:txBody>
                    <a:bodyPr/>
                    <a:lstStyle/>
                    <a:p>
                      <a:pPr algn="l"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卡玛比率</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dirty="0" smtClean="0">
                          <a:solidFill>
                            <a:srgbClr val="000000"/>
                          </a:solidFill>
                          <a:effectLst/>
                          <a:latin typeface="微软雅黑" panose="020B0503020204020204" pitchFamily="34" charset="-122"/>
                          <a:ea typeface="微软雅黑" panose="020B0503020204020204" pitchFamily="34" charset="-122"/>
                        </a:rPr>
                        <a:t>-</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11"/>
                  </a:ext>
                </a:extLst>
              </a:tr>
            </a:tbl>
          </a:graphicData>
        </a:graphic>
      </p:graphicFrame>
      <p:sp>
        <p:nvSpPr>
          <p:cNvPr id="6" name="TextBox 3">
            <a:extLst>
              <a:ext uri="{FF2B5EF4-FFF2-40B4-BE49-F238E27FC236}">
                <a16:creationId xmlns="" xmlns:a16="http://schemas.microsoft.com/office/drawing/2014/main" id="{AF4D8CFE-1905-0E0D-EC98-7163F655FBA4}"/>
              </a:ext>
            </a:extLst>
          </p:cNvPr>
          <p:cNvSpPr txBox="1"/>
          <p:nvPr/>
        </p:nvSpPr>
        <p:spPr>
          <a:xfrm>
            <a:off x="262148" y="6151377"/>
            <a:ext cx="9553184" cy="325623"/>
          </a:xfrm>
          <a:prstGeom prst="rect">
            <a:avLst/>
          </a:prstGeom>
          <a:noFill/>
        </p:spPr>
        <p:txBody>
          <a:bodyPr wrap="square"/>
          <a:lstStyle/>
          <a:p>
            <a:pPr marL="171450" indent="-171450">
              <a:lnSpc>
                <a:spcPct val="120000"/>
              </a:lnSpc>
              <a:spcAft>
                <a:spcPts val="0"/>
              </a:spcAft>
              <a:buFont typeface="Arial" panose="020B0604020202020204" pitchFamily="34" charset="0"/>
              <a:buChar char="•"/>
              <a:defRPr sz="1600" b="0">
                <a:solidFill>
                  <a:srgbClr val="666666"/>
                </a:solidFill>
                <a:latin typeface="微软雅黑" panose="020B0503020204020204" charset="-122"/>
              </a:defRPr>
            </a:pPr>
            <a:r>
              <a:rPr lang="zh-CN" altLang="en-US" sz="1200" dirty="0">
                <a:latin typeface="华文中宋" panose="02010600040101010101" pitchFamily="2" charset="-122"/>
                <a:ea typeface="华文中宋" panose="02010600040101010101" pitchFamily="2" charset="-122"/>
              </a:rPr>
              <a:t>数据统计区间</a:t>
            </a:r>
            <a:r>
              <a:rPr lang="en-US" altLang="zh-CN" sz="1200" dirty="0" smtClean="0">
                <a:latin typeface="华文中宋" panose="02010600040101010101" pitchFamily="2" charset="-122"/>
                <a:ea typeface="华文中宋" panose="02010600040101010101" pitchFamily="2" charset="-122"/>
              </a:rPr>
              <a:t>2026/6/1-7/3</a:t>
            </a:r>
            <a:r>
              <a:rPr lang="zh-CN" altLang="en-US" sz="1200" dirty="0" smtClean="0">
                <a:latin typeface="华文中宋" panose="02010600040101010101" pitchFamily="2" charset="-122"/>
                <a:ea typeface="华文中宋" panose="02010600040101010101" pitchFamily="2" charset="-122"/>
              </a:rPr>
              <a:t>，</a:t>
            </a:r>
            <a:r>
              <a:rPr lang="zh-CN" altLang="en-US" sz="1200" dirty="0">
                <a:latin typeface="华文中宋" panose="02010600040101010101" pitchFamily="2" charset="-122"/>
                <a:ea typeface="华文中宋" panose="02010600040101010101" pitchFamily="2" charset="-122"/>
              </a:rPr>
              <a:t>组合费率</a:t>
            </a:r>
            <a:r>
              <a:rPr lang="en-US" altLang="zh-CN" sz="1200" dirty="0">
                <a:latin typeface="华文中宋" panose="02010600040101010101" pitchFamily="2" charset="-122"/>
                <a:ea typeface="华文中宋" panose="02010600040101010101" pitchFamily="2" charset="-122"/>
              </a:rPr>
              <a:t>1.0%/</a:t>
            </a:r>
            <a:r>
              <a:rPr lang="zh-CN" altLang="en-US" sz="1200" dirty="0">
                <a:latin typeface="华文中宋" panose="02010600040101010101" pitchFamily="2" charset="-122"/>
                <a:ea typeface="华文中宋" panose="02010600040101010101" pitchFamily="2" charset="-122"/>
              </a:rPr>
              <a:t>年</a:t>
            </a:r>
          </a:p>
        </p:txBody>
      </p:sp>
      <p:pic>
        <p:nvPicPr>
          <p:cNvPr id="2" name="图片 1"/>
          <p:cNvPicPr>
            <a:picLocks noChangeAspect="1"/>
          </p:cNvPicPr>
          <p:nvPr/>
        </p:nvPicPr>
        <p:blipFill>
          <a:blip r:embed="rId3"/>
          <a:stretch>
            <a:fillRect/>
          </a:stretch>
        </p:blipFill>
        <p:spPr>
          <a:xfrm>
            <a:off x="5357346" y="2306230"/>
            <a:ext cx="6628708" cy="3072650"/>
          </a:xfrm>
          <a:prstGeom prst="rect">
            <a:avLst/>
          </a:prstGeom>
        </p:spPr>
      </p:pic>
    </p:spTree>
    <p:extLst>
      <p:ext uri="{BB962C8B-B14F-4D97-AF65-F5344CB8AC3E}">
        <p14:creationId xmlns:p14="http://schemas.microsoft.com/office/powerpoint/2010/main" val="3950305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D3231BF-B239-EAFE-213B-D4B468A864A1}"/>
            </a:ext>
          </a:extLst>
        </p:cNvPr>
        <p:cNvGrpSpPr/>
        <p:nvPr/>
      </p:nvGrpSpPr>
      <p:grpSpPr>
        <a:xfrm>
          <a:off x="0" y="0"/>
          <a:ext cx="0" cy="0"/>
          <a:chOff x="0" y="0"/>
          <a:chExt cx="0" cy="0"/>
        </a:xfrm>
      </p:grpSpPr>
      <p:sp>
        <p:nvSpPr>
          <p:cNvPr id="29" name="文本占位符 10">
            <a:extLst>
              <a:ext uri="{FF2B5EF4-FFF2-40B4-BE49-F238E27FC236}">
                <a16:creationId xmlns="" xmlns:a16="http://schemas.microsoft.com/office/drawing/2014/main" id="{8F77D019-2385-809B-FEC4-40B4849B9890}"/>
              </a:ext>
            </a:extLst>
          </p:cNvPr>
          <p:cNvSpPr txBox="1"/>
          <p:nvPr/>
        </p:nvSpPr>
        <p:spPr>
          <a:xfrm>
            <a:off x="899137" y="391454"/>
            <a:ext cx="10759463" cy="508000"/>
          </a:xfrm>
          <a:prstGeom prst="rect">
            <a:avLst/>
          </a:prstGeom>
        </p:spPr>
        <p:txBody>
          <a:bodyPr lIns="0" tIns="0" rIns="0" bIns="0" anchor="ctr" anchorCtr="0"/>
          <a:lstStyle>
            <a:lvl1pPr marL="0" indent="0" algn="l" defTabSz="457200" rtl="0" eaLnBrk="1" latinLnBrk="0" hangingPunct="1">
              <a:lnSpc>
                <a:spcPct val="100000"/>
              </a:lnSpc>
              <a:spcBef>
                <a:spcPts val="2000"/>
              </a:spcBef>
              <a:buFont typeface="Arial" panose="020B0604020202020204" pitchFamily="34" charset="0"/>
              <a:buNone/>
              <a:defRPr lang="zh-CN" altLang="en-US" sz="6000" b="1" kern="1200" spc="1000" dirty="0">
                <a:solidFill>
                  <a:srgbClr val="3B3838"/>
                </a:solidFill>
                <a:latin typeface="+mj-ea"/>
                <a:ea typeface="+mj-ea"/>
                <a:cs typeface="+mn-cs"/>
              </a:defRPr>
            </a:lvl1pPr>
            <a:lvl2pPr marL="914400" indent="0" algn="l" defTabSz="1828800" rtl="0" eaLnBrk="1" latinLnBrk="0" hangingPunct="1">
              <a:lnSpc>
                <a:spcPct val="90000"/>
              </a:lnSpc>
              <a:spcBef>
                <a:spcPts val="1000"/>
              </a:spcBef>
              <a:buFont typeface="Arial" panose="020B0604020202020204" pitchFamily="34" charset="0"/>
              <a:buNone/>
              <a:defRPr sz="4800" kern="1200">
                <a:solidFill>
                  <a:schemeClr val="tx1"/>
                </a:solidFill>
                <a:latin typeface="+mn-lt"/>
                <a:ea typeface="+mn-ea"/>
                <a:cs typeface="+mn-cs"/>
              </a:defRPr>
            </a:lvl2pPr>
            <a:lvl3pPr marL="1828800" indent="0" algn="l" defTabSz="1828800"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3pPr>
            <a:lvl4pPr marL="27432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4pPr>
            <a:lvl5pPr marL="3657600" indent="0" algn="l"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defTabSz="914378">
              <a:lnSpc>
                <a:spcPts val="2143"/>
              </a:lnSpc>
              <a:spcBef>
                <a:spcPts val="1029"/>
              </a:spcBef>
              <a:spcAft>
                <a:spcPts val="1029"/>
              </a:spcAft>
              <a:defRPr/>
            </a:pPr>
            <a:r>
              <a:rPr lang="zh-CN" altLang="en-US" sz="2400" spc="0" dirty="0">
                <a:solidFill>
                  <a:srgbClr val="8B0000"/>
                </a:solidFill>
                <a:latin typeface="微软雅黑" panose="020B0503020204020204" pitchFamily="34" charset="-122"/>
                <a:ea typeface="微软雅黑" panose="020B0503020204020204" pitchFamily="34" charset="-122"/>
                <a:sym typeface="Helvetica Neue"/>
              </a:rPr>
              <a:t>样板间组合运行看板（</a:t>
            </a:r>
            <a:r>
              <a:rPr lang="en-US" altLang="zh-CN" sz="2400" spc="0" dirty="0">
                <a:solidFill>
                  <a:srgbClr val="8B0000"/>
                </a:solidFill>
                <a:latin typeface="微软雅黑" panose="020B0503020204020204" pitchFamily="34" charset="-122"/>
                <a:ea typeface="微软雅黑" panose="020B0503020204020204" pitchFamily="34" charset="-122"/>
                <a:sym typeface="Helvetica Neue"/>
              </a:rPr>
              <a:t>6</a:t>
            </a:r>
            <a:r>
              <a:rPr lang="zh-CN" altLang="en-US" sz="2400" spc="0" dirty="0">
                <a:solidFill>
                  <a:srgbClr val="8B0000"/>
                </a:solidFill>
                <a:latin typeface="微软雅黑" panose="020B0503020204020204" pitchFamily="34" charset="-122"/>
                <a:ea typeface="微软雅黑" panose="020B0503020204020204" pitchFamily="34" charset="-122"/>
                <a:sym typeface="Helvetica Neue"/>
              </a:rPr>
              <a:t>月</a:t>
            </a:r>
            <a:r>
              <a:rPr lang="en-US" altLang="zh-CN" sz="2400" spc="0" dirty="0">
                <a:solidFill>
                  <a:srgbClr val="8B0000"/>
                </a:solidFill>
                <a:latin typeface="微软雅黑" panose="020B0503020204020204" pitchFamily="34" charset="-122"/>
                <a:ea typeface="微软雅黑" panose="020B0503020204020204" pitchFamily="34" charset="-122"/>
                <a:sym typeface="Helvetica Neue"/>
              </a:rPr>
              <a:t>1</a:t>
            </a:r>
            <a:r>
              <a:rPr lang="zh-CN" altLang="en-US" sz="2400" spc="0" dirty="0">
                <a:solidFill>
                  <a:srgbClr val="8B0000"/>
                </a:solidFill>
                <a:latin typeface="微软雅黑" panose="020B0503020204020204" pitchFamily="34" charset="-122"/>
                <a:ea typeface="微软雅黑" panose="020B0503020204020204" pitchFamily="34" charset="-122"/>
                <a:sym typeface="Helvetica Neue"/>
              </a:rPr>
              <a:t>日以来）</a:t>
            </a:r>
          </a:p>
        </p:txBody>
      </p:sp>
      <p:sp>
        <p:nvSpPr>
          <p:cNvPr id="4" name="Shape 0">
            <a:extLst>
              <a:ext uri="{FF2B5EF4-FFF2-40B4-BE49-F238E27FC236}">
                <a16:creationId xmlns="" xmlns:a16="http://schemas.microsoft.com/office/drawing/2014/main" id="{132302E8-112D-A3A2-AEAC-06DA2791D9B6}"/>
              </a:ext>
            </a:extLst>
          </p:cNvPr>
          <p:cNvSpPr/>
          <p:nvPr/>
        </p:nvSpPr>
        <p:spPr>
          <a:xfrm>
            <a:off x="381000" y="38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txBody>
          <a:bodyPr/>
          <a:lstStyle/>
          <a:p>
            <a:endParaRPr lang="zh-CN" altLang="en-US"/>
          </a:p>
        </p:txBody>
      </p:sp>
      <p:sp>
        <p:nvSpPr>
          <p:cNvPr id="5" name="Text 1">
            <a:extLst>
              <a:ext uri="{FF2B5EF4-FFF2-40B4-BE49-F238E27FC236}">
                <a16:creationId xmlns="" xmlns:a16="http://schemas.microsoft.com/office/drawing/2014/main" id="{76DF2853-13DC-97D8-C24A-543E087AF03E}"/>
              </a:ext>
            </a:extLst>
          </p:cNvPr>
          <p:cNvSpPr/>
          <p:nvPr/>
        </p:nvSpPr>
        <p:spPr>
          <a:xfrm>
            <a:off x="451842" y="438150"/>
            <a:ext cx="323850" cy="266700"/>
          </a:xfrm>
          <a:prstGeom prst="rect">
            <a:avLst/>
          </a:prstGeom>
          <a:noFill/>
          <a:ln/>
        </p:spPr>
        <p:txBody>
          <a:bodyPr wrap="square" lIns="0" tIns="0" rIns="0" bIns="0" rtlCol="0" anchor="ctr"/>
          <a:lstStyle/>
          <a:p>
            <a:pPr>
              <a:lnSpc>
                <a:spcPct val="130000"/>
              </a:lnSpc>
            </a:pPr>
            <a:r>
              <a:rPr lang="zh-CN" altLang="en-US" sz="1350" b="1" dirty="0">
                <a:solidFill>
                  <a:srgbClr val="F9FAFB"/>
                </a:solidFill>
                <a:latin typeface="思源宋体" pitchFamily="34" charset="0"/>
                <a:ea typeface="思源宋体" pitchFamily="34" charset="-122"/>
              </a:rPr>
              <a:t>附</a:t>
            </a:r>
            <a:r>
              <a:rPr lang="en-US" altLang="zh-CN" sz="1350" b="1" dirty="0">
                <a:solidFill>
                  <a:srgbClr val="F9FAFB"/>
                </a:solidFill>
                <a:latin typeface="思源宋体" pitchFamily="34" charset="0"/>
                <a:ea typeface="思源宋体" pitchFamily="34" charset="-122"/>
              </a:rPr>
              <a:t>3</a:t>
            </a:r>
            <a:endParaRPr lang="en-US" sz="1600" dirty="0"/>
          </a:p>
        </p:txBody>
      </p:sp>
      <p:graphicFrame>
        <p:nvGraphicFramePr>
          <p:cNvPr id="7" name="表格 6">
            <a:extLst>
              <a:ext uri="{FF2B5EF4-FFF2-40B4-BE49-F238E27FC236}">
                <a16:creationId xmlns="" xmlns:a16="http://schemas.microsoft.com/office/drawing/2014/main" id="{A08AAE72-FCA5-1CEF-4865-6BDB2499048C}"/>
              </a:ext>
            </a:extLst>
          </p:cNvPr>
          <p:cNvGraphicFramePr>
            <a:graphicFrameLocks noGrp="1"/>
          </p:cNvGraphicFramePr>
          <p:nvPr/>
        </p:nvGraphicFramePr>
        <p:xfrm>
          <a:off x="5467101" y="1467896"/>
          <a:ext cx="6212244" cy="838334"/>
        </p:xfrm>
        <a:graphic>
          <a:graphicData uri="http://schemas.openxmlformats.org/drawingml/2006/table">
            <a:tbl>
              <a:tblPr/>
              <a:tblGrid>
                <a:gridCol w="1035374">
                  <a:extLst>
                    <a:ext uri="{9D8B030D-6E8A-4147-A177-3AD203B41FA5}">
                      <a16:colId xmlns="" xmlns:a16="http://schemas.microsoft.com/office/drawing/2014/main" val="20000"/>
                    </a:ext>
                  </a:extLst>
                </a:gridCol>
                <a:gridCol w="1035374">
                  <a:extLst>
                    <a:ext uri="{9D8B030D-6E8A-4147-A177-3AD203B41FA5}">
                      <a16:colId xmlns="" xmlns:a16="http://schemas.microsoft.com/office/drawing/2014/main" val="20001"/>
                    </a:ext>
                  </a:extLst>
                </a:gridCol>
                <a:gridCol w="1035374">
                  <a:extLst>
                    <a:ext uri="{9D8B030D-6E8A-4147-A177-3AD203B41FA5}">
                      <a16:colId xmlns="" xmlns:a16="http://schemas.microsoft.com/office/drawing/2014/main" val="20002"/>
                    </a:ext>
                  </a:extLst>
                </a:gridCol>
                <a:gridCol w="1035374">
                  <a:extLst>
                    <a:ext uri="{9D8B030D-6E8A-4147-A177-3AD203B41FA5}">
                      <a16:colId xmlns="" xmlns:a16="http://schemas.microsoft.com/office/drawing/2014/main" val="20003"/>
                    </a:ext>
                  </a:extLst>
                </a:gridCol>
                <a:gridCol w="1035374">
                  <a:extLst>
                    <a:ext uri="{9D8B030D-6E8A-4147-A177-3AD203B41FA5}">
                      <a16:colId xmlns="" xmlns:a16="http://schemas.microsoft.com/office/drawing/2014/main" val="20004"/>
                    </a:ext>
                  </a:extLst>
                </a:gridCol>
                <a:gridCol w="1035374">
                  <a:extLst>
                    <a:ext uri="{9D8B030D-6E8A-4147-A177-3AD203B41FA5}">
                      <a16:colId xmlns="" xmlns:a16="http://schemas.microsoft.com/office/drawing/2014/main" val="20005"/>
                    </a:ext>
                  </a:extLst>
                </a:gridCol>
              </a:tblGrid>
              <a:tr h="419167">
                <a:tc gridSpan="6">
                  <a:txBody>
                    <a:bodyPr/>
                    <a:lstStyle/>
                    <a:p>
                      <a:pPr algn="l" fontAlgn="ctr"/>
                      <a:r>
                        <a:rPr lang="zh-CN" altLang="en-US" sz="1800" b="1" i="0" u="none" strike="noStrike" dirty="0">
                          <a:solidFill>
                            <a:srgbClr val="FFFFFF"/>
                          </a:solidFill>
                          <a:effectLst/>
                          <a:latin typeface="微软雅黑" panose="020B0503020204020204" pitchFamily="34" charset="-122"/>
                          <a:ea typeface="微软雅黑" panose="020B0503020204020204" pitchFamily="34" charset="-122"/>
                        </a:rPr>
                        <a:t> 组合运作情况 </a:t>
                      </a:r>
                      <a:r>
                        <a:rPr lang="en-US" altLang="zh-CN" sz="1800" b="1" i="0" u="none" strike="noStrike" dirty="0">
                          <a:solidFill>
                            <a:srgbClr val="FFFFFF"/>
                          </a:solidFill>
                          <a:effectLst/>
                          <a:latin typeface="微软雅黑" panose="020B0503020204020204" pitchFamily="34" charset="-122"/>
                          <a:ea typeface="微软雅黑" panose="020B0503020204020204" pitchFamily="34" charset="-122"/>
                        </a:rPr>
                        <a:t>· </a:t>
                      </a:r>
                      <a:r>
                        <a:rPr lang="zh-CN" altLang="en-US" sz="1800" b="1" i="0" u="none" strike="noStrike" dirty="0">
                          <a:solidFill>
                            <a:srgbClr val="FFFFFF"/>
                          </a:solidFill>
                          <a:effectLst/>
                          <a:latin typeface="微软雅黑" panose="020B0503020204020204" pitchFamily="34" charset="-122"/>
                          <a:ea typeface="微软雅黑" panose="020B0503020204020204" pitchFamily="34" charset="-122"/>
                        </a:rPr>
                        <a:t>组合累积净值</a:t>
                      </a:r>
                    </a:p>
                  </a:txBody>
                  <a:tcPr marL="0" marR="0" marT="0" marB="0" anchor="ctr">
                    <a:lnL>
                      <a:noFill/>
                    </a:lnL>
                    <a:lnR>
                      <a:noFill/>
                    </a:lnR>
                    <a:lnT>
                      <a:noFill/>
                    </a:lnT>
                    <a:lnB>
                      <a:noFill/>
                    </a:lnB>
                    <a:solidFill>
                      <a:srgbClr val="06184A"/>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0"/>
                  </a:ext>
                </a:extLst>
              </a:tr>
              <a:tr h="419167">
                <a:tc>
                  <a:txBody>
                    <a:bodyPr/>
                    <a:lstStyle/>
                    <a:p>
                      <a:pPr algn="l" fontAlgn="b"/>
                      <a:endParaRPr lang="zh-CN" altLang="en-US" sz="14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zh-CN" altLang="en-US" sz="14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extLst>
                  <a:ext uri="{0D108BD9-81ED-4DB2-BD59-A6C34878D82A}">
                    <a16:rowId xmlns="" xmlns:a16="http://schemas.microsoft.com/office/drawing/2014/main" val="10001"/>
                  </a:ext>
                </a:extLst>
              </a:tr>
            </a:tbl>
          </a:graphicData>
        </a:graphic>
      </p:graphicFrame>
      <p:graphicFrame>
        <p:nvGraphicFramePr>
          <p:cNvPr id="8" name="表格 7">
            <a:extLst>
              <a:ext uri="{FF2B5EF4-FFF2-40B4-BE49-F238E27FC236}">
                <a16:creationId xmlns="" xmlns:a16="http://schemas.microsoft.com/office/drawing/2014/main" id="{C4203DFB-311C-9F4E-10BF-8107E61CC104}"/>
              </a:ext>
            </a:extLst>
          </p:cNvPr>
          <p:cNvGraphicFramePr>
            <a:graphicFrameLocks noGrp="1"/>
          </p:cNvGraphicFramePr>
          <p:nvPr>
            <p:extLst>
              <p:ext uri="{D42A27DB-BD31-4B8C-83A1-F6EECF244321}">
                <p14:modId xmlns:p14="http://schemas.microsoft.com/office/powerpoint/2010/main" val="2804833103"/>
              </p:ext>
            </p:extLst>
          </p:nvPr>
        </p:nvGraphicFramePr>
        <p:xfrm>
          <a:off x="542081" y="1481559"/>
          <a:ext cx="4768254" cy="4328934"/>
        </p:xfrm>
        <a:graphic>
          <a:graphicData uri="http://schemas.openxmlformats.org/drawingml/2006/table">
            <a:tbl>
              <a:tblPr/>
              <a:tblGrid>
                <a:gridCol w="750921">
                  <a:extLst>
                    <a:ext uri="{9D8B030D-6E8A-4147-A177-3AD203B41FA5}">
                      <a16:colId xmlns="" xmlns:a16="http://schemas.microsoft.com/office/drawing/2014/main" val="20000"/>
                    </a:ext>
                  </a:extLst>
                </a:gridCol>
                <a:gridCol w="822325">
                  <a:extLst>
                    <a:ext uri="{9D8B030D-6E8A-4147-A177-3AD203B41FA5}">
                      <a16:colId xmlns="" xmlns:a16="http://schemas.microsoft.com/office/drawing/2014/main" val="20001"/>
                    </a:ext>
                  </a:extLst>
                </a:gridCol>
                <a:gridCol w="750921">
                  <a:extLst>
                    <a:ext uri="{9D8B030D-6E8A-4147-A177-3AD203B41FA5}">
                      <a16:colId xmlns="" xmlns:a16="http://schemas.microsoft.com/office/drawing/2014/main" val="20002"/>
                    </a:ext>
                  </a:extLst>
                </a:gridCol>
                <a:gridCol w="750921">
                  <a:extLst>
                    <a:ext uri="{9D8B030D-6E8A-4147-A177-3AD203B41FA5}">
                      <a16:colId xmlns="" xmlns:a16="http://schemas.microsoft.com/office/drawing/2014/main" val="20003"/>
                    </a:ext>
                  </a:extLst>
                </a:gridCol>
                <a:gridCol w="911225">
                  <a:extLst>
                    <a:ext uri="{9D8B030D-6E8A-4147-A177-3AD203B41FA5}">
                      <a16:colId xmlns="" xmlns:a16="http://schemas.microsoft.com/office/drawing/2014/main" val="20004"/>
                    </a:ext>
                  </a:extLst>
                </a:gridCol>
                <a:gridCol w="781941">
                  <a:extLst>
                    <a:ext uri="{9D8B030D-6E8A-4147-A177-3AD203B41FA5}">
                      <a16:colId xmlns="" xmlns:a16="http://schemas.microsoft.com/office/drawing/2014/main" val="20005"/>
                    </a:ext>
                  </a:extLst>
                </a:gridCol>
              </a:tblGrid>
              <a:tr h="433250">
                <a:tc gridSpan="6">
                  <a:txBody>
                    <a:bodyPr/>
                    <a:lstStyle/>
                    <a:p>
                      <a:pPr algn="l"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产业趋势组合业绩表现</a:t>
                      </a:r>
                    </a:p>
                  </a:txBody>
                  <a:tcPr marL="0" marR="0" marT="0" marB="0" anchor="ctr">
                    <a:lnL>
                      <a:noFill/>
                    </a:lnL>
                    <a:lnR>
                      <a:noFill/>
                    </a:lnR>
                    <a:lnT>
                      <a:noFill/>
                    </a:lnT>
                    <a:lnB w="6350" cap="flat" cmpd="sng" algn="ctr">
                      <a:solidFill>
                        <a:srgbClr val="BFBFBF"/>
                      </a:solidFill>
                      <a:prstDash val="solid"/>
                      <a:round/>
                      <a:headEnd type="none" w="med" len="med"/>
                      <a:tailEnd type="none" w="med" len="med"/>
                    </a:lnB>
                    <a:solidFill>
                      <a:srgbClr val="06184A"/>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0"/>
                  </a:ext>
                </a:extLst>
              </a:tr>
              <a:tr h="314106">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最新净值</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累计收益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年化收益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年化波动率</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最大回撤</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tc>
                  <a:txBody>
                    <a:bodyPr/>
                    <a:lstStyle/>
                    <a:p>
                      <a:pPr algn="ctr" fontAlgn="ctr"/>
                      <a:r>
                        <a:rPr lang="zh-CN" altLang="en-US" sz="1050" b="1" i="0" u="none" strike="noStrike" dirty="0">
                          <a:solidFill>
                            <a:srgbClr val="000000"/>
                          </a:solidFill>
                          <a:effectLst/>
                          <a:latin typeface="微软雅黑" panose="020B0503020204020204" pitchFamily="34" charset="-122"/>
                          <a:ea typeface="微软雅黑" panose="020B0503020204020204" pitchFamily="34" charset="-122"/>
                        </a:rPr>
                        <a:t>夏普比率</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4F8"/>
                    </a:solidFill>
                  </a:tcPr>
                </a:tc>
                <a:extLst>
                  <a:ext uri="{0D108BD9-81ED-4DB2-BD59-A6C34878D82A}">
                    <a16:rowId xmlns="" xmlns:a16="http://schemas.microsoft.com/office/drawing/2014/main" val="10001"/>
                  </a:ext>
                </a:extLst>
              </a:tr>
              <a:tr h="601133">
                <a:tc>
                  <a:txBody>
                    <a:bodyPr/>
                    <a:lstStyle/>
                    <a:p>
                      <a:pPr algn="ctr" fontAlgn="ctr"/>
                      <a:r>
                        <a:rPr lang="en-US" altLang="zh-CN" sz="1600" b="1" i="0" u="none" strike="noStrike">
                          <a:solidFill>
                            <a:srgbClr val="1F3864"/>
                          </a:solidFill>
                          <a:effectLst/>
                          <a:latin typeface="微软雅黑" panose="020B0503020204020204" pitchFamily="34" charset="-122"/>
                          <a:ea typeface="微软雅黑" panose="020B0503020204020204" pitchFamily="34" charset="-122"/>
                        </a:rPr>
                        <a:t>1.1316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dirty="0">
                          <a:solidFill>
                            <a:srgbClr val="9C0006"/>
                          </a:solidFill>
                          <a:effectLst/>
                          <a:latin typeface="微软雅黑" panose="020B0503020204020204" pitchFamily="34" charset="-122"/>
                          <a:ea typeface="微软雅黑" panose="020B0503020204020204" pitchFamily="34" charset="-122"/>
                        </a:rPr>
                        <a:t>13.16%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dirty="0" smtClean="0">
                          <a:solidFill>
                            <a:srgbClr val="9C0006"/>
                          </a:solidFill>
                          <a:effectLst/>
                          <a:latin typeface="微软雅黑" panose="020B0503020204020204" pitchFamily="34" charset="-122"/>
                          <a:ea typeface="微软雅黑" panose="020B0503020204020204" pitchFamily="34" charset="-122"/>
                        </a:rPr>
                        <a:t>-</a:t>
                      </a:r>
                      <a:endParaRPr lang="en-US" altLang="zh-CN" sz="1600" b="1" i="0" u="none" strike="noStrike" dirty="0">
                        <a:solidFill>
                          <a:srgbClr val="9C0006"/>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dirty="0" smtClean="0">
                          <a:solidFill>
                            <a:srgbClr val="1F3864"/>
                          </a:solidFill>
                          <a:effectLst/>
                          <a:latin typeface="微软雅黑" panose="020B0503020204020204" pitchFamily="34" charset="-122"/>
                          <a:ea typeface="微软雅黑" panose="020B0503020204020204" pitchFamily="34" charset="-122"/>
                        </a:rPr>
                        <a:t>-</a:t>
                      </a:r>
                      <a:endParaRPr lang="en-US" altLang="zh-CN" sz="1600" b="1" i="0" u="none" strike="noStrike" dirty="0">
                        <a:solidFill>
                          <a:srgbClr val="1F3864"/>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dirty="0" smtClean="0">
                          <a:solidFill>
                            <a:srgbClr val="00B050"/>
                          </a:solidFill>
                          <a:effectLst/>
                          <a:latin typeface="微软雅黑" panose="020B0503020204020204" pitchFamily="34" charset="-122"/>
                          <a:ea typeface="微软雅黑" panose="020B0503020204020204" pitchFamily="34" charset="-122"/>
                        </a:rPr>
                        <a:t>-12.25</a:t>
                      </a:r>
                      <a:r>
                        <a:rPr lang="en-US" altLang="zh-CN" sz="1600" b="1" i="0" u="none" strike="noStrike" dirty="0">
                          <a:solidFill>
                            <a:srgbClr val="00B050"/>
                          </a:solidFill>
                          <a:effectLst/>
                          <a:latin typeface="微软雅黑" panose="020B0503020204020204" pitchFamily="34" charset="-122"/>
                          <a:ea typeface="微软雅黑" panose="020B0503020204020204" pitchFamily="34" charset="-122"/>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1" i="0" u="none" strike="noStrike" dirty="0" smtClean="0">
                          <a:solidFill>
                            <a:srgbClr val="1F3864"/>
                          </a:solidFill>
                          <a:effectLst/>
                          <a:latin typeface="微软雅黑" panose="020B0503020204020204" pitchFamily="34" charset="-122"/>
                          <a:ea typeface="微软雅黑" panose="020B0503020204020204" pitchFamily="34" charset="-122"/>
                        </a:rPr>
                        <a:t>-</a:t>
                      </a:r>
                      <a:endParaRPr lang="en-US" altLang="zh-CN" sz="1600" b="1" i="0" u="none" strike="noStrike" dirty="0">
                        <a:solidFill>
                          <a:srgbClr val="1F3864"/>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2"/>
                  </a:ext>
                </a:extLst>
              </a:tr>
              <a:tr h="314106">
                <a:tc>
                  <a:txBody>
                    <a:bodyPr/>
                    <a:lstStyle/>
                    <a:p>
                      <a:pPr algn="ctr" fontAlgn="b"/>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ctr" fontAlgn="b"/>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ctr" fontAlgn="b"/>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ctr" fontAlgn="b"/>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ctr" fontAlgn="b"/>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l" fontAlgn="b"/>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b">
                    <a:lnL>
                      <a:noFill/>
                    </a:lnL>
                    <a:lnR>
                      <a:noFill/>
                    </a:lnR>
                    <a:lnT w="6350" cap="flat" cmpd="sng" algn="ctr">
                      <a:solidFill>
                        <a:srgbClr val="BFBFBF"/>
                      </a:solidFill>
                      <a:prstDash val="solid"/>
                      <a:round/>
                      <a:headEnd type="none" w="med" len="med"/>
                      <a:tailEnd type="none" w="med" len="med"/>
                    </a:lnT>
                    <a:lnB>
                      <a:noFill/>
                    </a:lnB>
                  </a:tcPr>
                </a:tc>
                <a:extLst>
                  <a:ext uri="{0D108BD9-81ED-4DB2-BD59-A6C34878D82A}">
                    <a16:rowId xmlns="" xmlns:a16="http://schemas.microsoft.com/office/drawing/2014/main" val="10003"/>
                  </a:ext>
                </a:extLst>
              </a:tr>
              <a:tr h="314106">
                <a:tc gridSpan="3">
                  <a:txBody>
                    <a:bodyPr/>
                    <a:lstStyle/>
                    <a:p>
                      <a:pPr algn="ctr"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收益表现</a:t>
                      </a:r>
                    </a:p>
                  </a:txBody>
                  <a:tcPr marL="0" marR="0" marT="0" marB="0" anchor="ctr">
                    <a:lnL>
                      <a:noFill/>
                    </a:lnL>
                    <a:lnR>
                      <a:noFill/>
                    </a:lnR>
                    <a:lnT>
                      <a:noFill/>
                    </a:lnT>
                    <a:lnB w="6350" cap="flat" cmpd="sng" algn="ctr">
                      <a:solidFill>
                        <a:srgbClr val="BFBFBF"/>
                      </a:solidFill>
                      <a:prstDash val="solid"/>
                      <a:round/>
                      <a:headEnd type="none" w="med" len="med"/>
                      <a:tailEnd type="none" w="med" len="med"/>
                    </a:lnB>
                    <a:solidFill>
                      <a:srgbClr val="06184A"/>
                    </a:solidFill>
                  </a:tcP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1400" b="1" i="0" u="none" strike="noStrike" dirty="0">
                          <a:solidFill>
                            <a:srgbClr val="FFFFFF"/>
                          </a:solidFill>
                          <a:effectLst/>
                          <a:latin typeface="微软雅黑" panose="020B0503020204020204" pitchFamily="34" charset="-122"/>
                          <a:ea typeface="微软雅黑" panose="020B0503020204020204" pitchFamily="34" charset="-122"/>
                        </a:rPr>
                        <a:t>风险特征</a:t>
                      </a:r>
                    </a:p>
                  </a:txBody>
                  <a:tcPr marL="0" marR="0" marT="0" marB="0" anchor="ctr">
                    <a:lnL>
                      <a:noFill/>
                    </a:lnL>
                    <a:lnR>
                      <a:noFill/>
                    </a:lnR>
                    <a:lnT>
                      <a:noFill/>
                    </a:lnT>
                    <a:lnB w="6350" cap="flat" cmpd="sng" algn="ctr">
                      <a:solidFill>
                        <a:srgbClr val="BFBFBF"/>
                      </a:solidFill>
                      <a:prstDash val="solid"/>
                      <a:round/>
                      <a:headEnd type="none" w="med" len="med"/>
                      <a:tailEnd type="none" w="med" len="med"/>
                    </a:lnB>
                    <a:solidFill>
                      <a:srgbClr val="06184A"/>
                    </a:solidFill>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4"/>
                  </a:ext>
                </a:extLst>
              </a:tr>
              <a:tr h="324937">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区间</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累计收益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年化收益</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tc gridSpan="2">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指标</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tc hMerge="1">
                  <a:txBody>
                    <a:bodyPr/>
                    <a:lstStyle/>
                    <a:p>
                      <a:endParaRPr lang="zh-CN" altLang="en-US"/>
                    </a:p>
                  </a:txBody>
                  <a:tcPr/>
                </a:tc>
                <a:tc>
                  <a:txBody>
                    <a:bodyPr/>
                    <a:lstStyle/>
                    <a:p>
                      <a:pPr algn="ctr"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数值</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6184A"/>
                    </a:solidFill>
                  </a:tcPr>
                </a:tc>
                <a:extLst>
                  <a:ext uri="{0D108BD9-81ED-4DB2-BD59-A6C34878D82A}">
                    <a16:rowId xmlns="" xmlns:a16="http://schemas.microsoft.com/office/drawing/2014/main" val="10005"/>
                  </a:ext>
                </a:extLst>
              </a:tr>
              <a:tr h="314106">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起始以来</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0" i="0" u="none" strike="noStrike">
                          <a:solidFill>
                            <a:srgbClr val="9C0006"/>
                          </a:solidFill>
                          <a:effectLst/>
                          <a:latin typeface="微软雅黑" panose="020B0503020204020204" pitchFamily="34" charset="-122"/>
                          <a:ea typeface="微软雅黑" panose="020B0503020204020204" pitchFamily="34" charset="-122"/>
                        </a:rPr>
                        <a:t>13.16%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en-US" altLang="zh-CN" sz="1600" b="0" i="0" u="none" strike="noStrike" dirty="0" smtClean="0">
                          <a:solidFill>
                            <a:srgbClr val="9C0006"/>
                          </a:solidFill>
                          <a:effectLst/>
                          <a:latin typeface="微软雅黑" panose="020B0503020204020204" pitchFamily="34" charset="-122"/>
                          <a:ea typeface="微软雅黑" panose="020B0503020204020204" pitchFamily="34" charset="-122"/>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最大回撤</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a:solidFill>
                            <a:srgbClr val="00B050"/>
                          </a:solidFill>
                          <a:effectLst/>
                          <a:latin typeface="微软雅黑" panose="020B0503020204020204" pitchFamily="34" charset="-122"/>
                          <a:ea typeface="微软雅黑" panose="020B0503020204020204" pitchFamily="34" charset="-122"/>
                        </a:rPr>
                        <a:t>-12.25%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6"/>
                  </a:ext>
                </a:extLst>
              </a:tr>
              <a:tr h="456766">
                <a:tc>
                  <a:txBody>
                    <a:bodyPr/>
                    <a:lstStyle/>
                    <a:p>
                      <a:pPr algn="l" fontAlgn="ctr"/>
                      <a:r>
                        <a:rPr lang="en-US" sz="1100" b="1" i="0" u="none" strike="noStrike">
                          <a:solidFill>
                            <a:srgbClr val="000000"/>
                          </a:solidFill>
                          <a:effectLst/>
                          <a:latin typeface="微软雅黑" panose="020B0503020204020204" pitchFamily="34" charset="-122"/>
                          <a:ea typeface="微软雅黑" panose="020B0503020204020204" pitchFamily="34" charset="-122"/>
                        </a:rPr>
                        <a:t>2026YTD</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回撤修复天数</a:t>
                      </a:r>
                      <a:r>
                        <a:rPr lang="en-US" altLang="zh-CN" sz="1100" b="1"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未创新高</a:t>
                      </a:r>
                      <a:r>
                        <a:rPr lang="en-US" altLang="zh-CN" sz="1100" b="1" i="0" u="none" strike="noStrike">
                          <a:solidFill>
                            <a:srgbClr val="000000"/>
                          </a:solidFill>
                          <a:effectLst/>
                          <a:latin typeface="微软雅黑" panose="020B0503020204020204" pitchFamily="34" charset="-122"/>
                          <a:ea typeface="微软雅黑" panose="020B0503020204020204" pitchFamily="34" charset="-122"/>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7"/>
                  </a:ext>
                </a:extLst>
              </a:tr>
              <a:tr h="314106">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近</a:t>
                      </a:r>
                      <a:r>
                        <a:rPr lang="en-US" altLang="zh-CN" sz="1100" b="1" i="0" u="none" strike="noStrike">
                          <a:solidFill>
                            <a:srgbClr val="000000"/>
                          </a:solidFill>
                          <a:effectLst/>
                          <a:latin typeface="微软雅黑" panose="020B0503020204020204" pitchFamily="34" charset="-122"/>
                          <a:ea typeface="微软雅黑" panose="020B0503020204020204" pitchFamily="34" charset="-122"/>
                        </a:rPr>
                        <a:t>3</a:t>
                      </a: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个月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正收益占比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58.3%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8"/>
                  </a:ext>
                </a:extLst>
              </a:tr>
              <a:tr h="314106">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近</a:t>
                      </a:r>
                      <a:r>
                        <a:rPr lang="en-US" altLang="zh-CN" sz="1100" b="1" i="0" u="none" strike="noStrike">
                          <a:solidFill>
                            <a:srgbClr val="000000"/>
                          </a:solidFill>
                          <a:effectLst/>
                          <a:latin typeface="微软雅黑" panose="020B0503020204020204" pitchFamily="34" charset="-122"/>
                          <a:ea typeface="微软雅黑" panose="020B0503020204020204" pitchFamily="34" charset="-122"/>
                        </a:rPr>
                        <a:t>6</a:t>
                      </a: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个月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年化波动率</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09"/>
                  </a:ext>
                </a:extLst>
              </a:tr>
              <a:tr h="314106">
                <a:tc>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近</a:t>
                      </a:r>
                      <a:r>
                        <a:rPr lang="en-US" altLang="zh-CN" sz="1100" b="1" i="0" u="none" strike="noStrike">
                          <a:solidFill>
                            <a:srgbClr val="000000"/>
                          </a:solidFill>
                          <a:effectLst/>
                          <a:latin typeface="微软雅黑" panose="020B0503020204020204" pitchFamily="34" charset="-122"/>
                          <a:ea typeface="微软雅黑" panose="020B0503020204020204" pitchFamily="34" charset="-122"/>
                        </a:rPr>
                        <a:t>1</a:t>
                      </a: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年</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fontAlgn="ct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gridSpan="2">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夏普比率</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10"/>
                  </a:ext>
                </a:extLst>
              </a:tr>
              <a:tr h="314106">
                <a:tc>
                  <a:txBody>
                    <a:bodyPr/>
                    <a:lstStyle/>
                    <a:p>
                      <a:pPr algn="l" fontAlgn="b"/>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l" fontAlgn="b"/>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lnL>
                      <a:noFill/>
                    </a:lnL>
                    <a:lnR>
                      <a:noFill/>
                    </a:lnR>
                    <a:lnT w="6350" cap="flat" cmpd="sng" algn="ctr">
                      <a:solidFill>
                        <a:srgbClr val="BFBFBF"/>
                      </a:solidFill>
                      <a:prstDash val="solid"/>
                      <a:round/>
                      <a:headEnd type="none" w="med" len="med"/>
                      <a:tailEnd type="none" w="med" len="med"/>
                    </a:lnT>
                    <a:lnB>
                      <a:noFill/>
                    </a:lnB>
                  </a:tcPr>
                </a:tc>
                <a:tc>
                  <a:txBody>
                    <a:bodyPr/>
                    <a:lstStyle/>
                    <a:p>
                      <a:pPr algn="l" fontAlgn="b"/>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lnL>
                      <a:noFill/>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tcPr>
                </a:tc>
                <a:tc gridSpan="2">
                  <a:txBody>
                    <a:bodyPr/>
                    <a:lstStyle/>
                    <a:p>
                      <a:pPr algn="l" fontAlgn="ctr"/>
                      <a:r>
                        <a:rPr lang="zh-CN" altLang="en-US" sz="1100" b="1" i="0" u="none" strike="noStrike">
                          <a:solidFill>
                            <a:srgbClr val="000000"/>
                          </a:solidFill>
                          <a:effectLst/>
                          <a:latin typeface="微软雅黑" panose="020B0503020204020204" pitchFamily="34" charset="-122"/>
                          <a:ea typeface="微软雅黑" panose="020B0503020204020204" pitchFamily="34" charset="-122"/>
                        </a:rPr>
                        <a:t>卡玛比率</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 xmlns:a16="http://schemas.microsoft.com/office/drawing/2014/main" val="10011"/>
                  </a:ext>
                </a:extLst>
              </a:tr>
            </a:tbl>
          </a:graphicData>
        </a:graphic>
      </p:graphicFrame>
      <p:sp>
        <p:nvSpPr>
          <p:cNvPr id="9" name="TextBox 3">
            <a:extLst>
              <a:ext uri="{FF2B5EF4-FFF2-40B4-BE49-F238E27FC236}">
                <a16:creationId xmlns="" xmlns:a16="http://schemas.microsoft.com/office/drawing/2014/main" id="{575BE477-10E8-E0CC-232B-DAD440FCBB25}"/>
              </a:ext>
            </a:extLst>
          </p:cNvPr>
          <p:cNvSpPr txBox="1"/>
          <p:nvPr/>
        </p:nvSpPr>
        <p:spPr>
          <a:xfrm>
            <a:off x="262148" y="6151377"/>
            <a:ext cx="9553184" cy="325623"/>
          </a:xfrm>
          <a:prstGeom prst="rect">
            <a:avLst/>
          </a:prstGeom>
          <a:noFill/>
        </p:spPr>
        <p:txBody>
          <a:bodyPr wrap="square"/>
          <a:lstStyle/>
          <a:p>
            <a:pPr marL="171450" indent="-171450">
              <a:lnSpc>
                <a:spcPct val="120000"/>
              </a:lnSpc>
              <a:spcAft>
                <a:spcPts val="0"/>
              </a:spcAft>
              <a:buFont typeface="Arial" panose="020B0604020202020204" pitchFamily="34" charset="0"/>
              <a:buChar char="•"/>
              <a:defRPr sz="1600" b="0">
                <a:solidFill>
                  <a:srgbClr val="666666"/>
                </a:solidFill>
                <a:latin typeface="微软雅黑" panose="020B0503020204020204" charset="-122"/>
              </a:defRPr>
            </a:pPr>
            <a:r>
              <a:rPr lang="zh-CN" altLang="en-US" sz="1200" dirty="0">
                <a:latin typeface="华文中宋" panose="02010600040101010101" pitchFamily="2" charset="-122"/>
                <a:ea typeface="华文中宋" panose="02010600040101010101" pitchFamily="2" charset="-122"/>
              </a:rPr>
              <a:t>数据统计区间</a:t>
            </a:r>
            <a:r>
              <a:rPr lang="en-US" altLang="zh-CN" sz="1200" dirty="0" smtClean="0">
                <a:latin typeface="华文中宋" panose="02010600040101010101" pitchFamily="2" charset="-122"/>
                <a:ea typeface="华文中宋" panose="02010600040101010101" pitchFamily="2" charset="-122"/>
              </a:rPr>
              <a:t>2026/6/1-7/3</a:t>
            </a:r>
            <a:r>
              <a:rPr lang="zh-CN" altLang="en-US" sz="1200" dirty="0" smtClean="0">
                <a:latin typeface="华文中宋" panose="02010600040101010101" pitchFamily="2" charset="-122"/>
                <a:ea typeface="华文中宋" panose="02010600040101010101" pitchFamily="2" charset="-122"/>
              </a:rPr>
              <a:t>，</a:t>
            </a:r>
            <a:r>
              <a:rPr lang="zh-CN" altLang="en-US" sz="1200" dirty="0">
                <a:latin typeface="华文中宋" panose="02010600040101010101" pitchFamily="2" charset="-122"/>
                <a:ea typeface="华文中宋" panose="02010600040101010101" pitchFamily="2" charset="-122"/>
              </a:rPr>
              <a:t>组合费率</a:t>
            </a:r>
            <a:r>
              <a:rPr lang="en-US" altLang="zh-CN" sz="1200" dirty="0">
                <a:latin typeface="华文中宋" panose="02010600040101010101" pitchFamily="2" charset="-122"/>
                <a:ea typeface="华文中宋" panose="02010600040101010101" pitchFamily="2" charset="-122"/>
              </a:rPr>
              <a:t>1.5%/</a:t>
            </a:r>
            <a:r>
              <a:rPr lang="zh-CN" altLang="en-US" sz="1200" dirty="0">
                <a:latin typeface="华文中宋" panose="02010600040101010101" pitchFamily="2" charset="-122"/>
                <a:ea typeface="华文中宋" panose="02010600040101010101" pitchFamily="2" charset="-122"/>
              </a:rPr>
              <a:t>年</a:t>
            </a:r>
          </a:p>
        </p:txBody>
      </p:sp>
      <p:pic>
        <p:nvPicPr>
          <p:cNvPr id="2" name="图片 1"/>
          <p:cNvPicPr>
            <a:picLocks noChangeAspect="1"/>
          </p:cNvPicPr>
          <p:nvPr/>
        </p:nvPicPr>
        <p:blipFill>
          <a:blip r:embed="rId3"/>
          <a:stretch>
            <a:fillRect/>
          </a:stretch>
        </p:blipFill>
        <p:spPr>
          <a:xfrm>
            <a:off x="5467101" y="2368410"/>
            <a:ext cx="6568380" cy="3072650"/>
          </a:xfrm>
          <a:prstGeom prst="rect">
            <a:avLst/>
          </a:prstGeom>
        </p:spPr>
      </p:pic>
    </p:spTree>
    <p:extLst>
      <p:ext uri="{BB962C8B-B14F-4D97-AF65-F5344CB8AC3E}">
        <p14:creationId xmlns:p14="http://schemas.microsoft.com/office/powerpoint/2010/main" val="2152718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143B2C3-D8FE-8F19-8C76-9E27C4AC596C}"/>
            </a:ext>
          </a:extLst>
        </p:cNvPr>
        <p:cNvGrpSpPr/>
        <p:nvPr/>
      </p:nvGrpSpPr>
      <p:grpSpPr>
        <a:xfrm>
          <a:off x="0" y="0"/>
          <a:ext cx="0" cy="0"/>
          <a:chOff x="0" y="0"/>
          <a:chExt cx="0" cy="0"/>
        </a:xfrm>
      </p:grpSpPr>
      <p:sp>
        <p:nvSpPr>
          <p:cNvPr id="6" name="标题 1">
            <a:extLst>
              <a:ext uri="{FF2B5EF4-FFF2-40B4-BE49-F238E27FC236}">
                <a16:creationId xmlns="" xmlns:a16="http://schemas.microsoft.com/office/drawing/2014/main" id="{B6113C99-6256-0908-B1A9-A78880C0BD7E}"/>
              </a:ext>
            </a:extLst>
          </p:cNvPr>
          <p:cNvSpPr txBox="1">
            <a:spLocks/>
          </p:cNvSpPr>
          <p:nvPr/>
        </p:nvSpPr>
        <p:spPr>
          <a:xfrm>
            <a:off x="569152" y="0"/>
            <a:ext cx="8729593" cy="1447801"/>
          </a:xfrm>
          <a:prstGeom prst="rect">
            <a:avLst/>
          </a:prstGeom>
        </p:spPr>
        <p:txBody>
          <a:bodyPr vert="horz" lIns="91440" tIns="45720" rIns="91440" bIns="45720" rtlCol="0" anchor="b">
            <a:normAutofit/>
          </a:bodyPr>
          <a:lst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a:lstStyle>
          <a:p>
            <a:pPr>
              <a:spcAft>
                <a:spcPts val="600"/>
              </a:spcAft>
            </a:pPr>
            <a:r>
              <a:rPr lang="zh-CN" altLang="en-US" dirty="0"/>
              <a:t>样板间的</a:t>
            </a:r>
            <a:r>
              <a:rPr lang="zh-CN" altLang="en-US" kern="1200" cap="all" spc="300" baseline="0" dirty="0">
                <a:highlight>
                  <a:srgbClr val="000000"/>
                </a:highlight>
                <a:latin typeface="+mj-lt"/>
                <a:ea typeface="+mj-ea"/>
                <a:cs typeface="+mj-cs"/>
              </a:rPr>
              <a:t>动平衡机制（以</a:t>
            </a:r>
            <a:r>
              <a:rPr lang="en-US" altLang="zh-CN" kern="1200" cap="all" spc="300" baseline="0" dirty="0">
                <a:highlight>
                  <a:srgbClr val="000000"/>
                </a:highlight>
                <a:latin typeface="+mj-lt"/>
                <a:ea typeface="+mj-ea"/>
                <a:cs typeface="+mj-cs"/>
              </a:rPr>
              <a:t>10-90</a:t>
            </a:r>
            <a:r>
              <a:rPr lang="zh-CN" altLang="en-US" kern="1200" cap="all" spc="300" baseline="0" dirty="0">
                <a:highlight>
                  <a:srgbClr val="000000"/>
                </a:highlight>
                <a:latin typeface="+mj-lt"/>
                <a:ea typeface="+mj-ea"/>
                <a:cs typeface="+mj-cs"/>
              </a:rPr>
              <a:t>为例）</a:t>
            </a:r>
          </a:p>
        </p:txBody>
      </p:sp>
      <p:sp>
        <p:nvSpPr>
          <p:cNvPr id="3" name="文本框 2">
            <a:extLst>
              <a:ext uri="{FF2B5EF4-FFF2-40B4-BE49-F238E27FC236}">
                <a16:creationId xmlns="" xmlns:a16="http://schemas.microsoft.com/office/drawing/2014/main" id="{0A16A79D-4341-714F-1A27-1D1B09E07998}"/>
              </a:ext>
            </a:extLst>
          </p:cNvPr>
          <p:cNvSpPr txBox="1"/>
          <p:nvPr/>
        </p:nvSpPr>
        <p:spPr>
          <a:xfrm>
            <a:off x="0" y="1883855"/>
            <a:ext cx="5301563" cy="3832454"/>
          </a:xfrm>
          <a:prstGeom prst="rect">
            <a:avLst/>
          </a:prstGeom>
        </p:spPr>
        <p:txBody>
          <a:bodyPr vert="horz" lIns="91440" tIns="45720" rIns="91440" bIns="45720" rtlCol="0">
            <a:normAutofit/>
          </a:bodyPr>
          <a:lstStyle/>
          <a:p>
            <a:pPr lvl="1" indent="-228600">
              <a:lnSpc>
                <a:spcPct val="110000"/>
              </a:lnSpc>
              <a:spcAft>
                <a:spcPts val="600"/>
              </a:spcAft>
              <a:buClr>
                <a:schemeClr val="tx1"/>
              </a:buClr>
              <a:buSzPct val="75000"/>
              <a:buFont typeface="Arial" panose="020B0604020202020204" pitchFamily="34" charset="0"/>
              <a:buChar char="•"/>
            </a:pPr>
            <a:r>
              <a:rPr lang="zh-CN" altLang="en-US" sz="1600" b="1" dirty="0"/>
              <a:t>设置投委会，监督动平衡的执行。动平衡的</a:t>
            </a:r>
            <a:r>
              <a:rPr lang="en-US" altLang="zh-CN" sz="1600" b="1" dirty="0"/>
              <a:t>3</a:t>
            </a:r>
            <a:r>
              <a:rPr lang="zh-CN" altLang="en-US" sz="1600" b="1" dirty="0"/>
              <a:t>个层次：</a:t>
            </a:r>
            <a:endParaRPr lang="en-US" altLang="zh-CN" sz="1600" b="1" dirty="0"/>
          </a:p>
          <a:p>
            <a:pPr lvl="1" indent="-228600">
              <a:lnSpc>
                <a:spcPct val="110000"/>
              </a:lnSpc>
              <a:spcAft>
                <a:spcPts val="600"/>
              </a:spcAft>
              <a:buClr>
                <a:schemeClr val="tx1"/>
              </a:buClr>
              <a:buSzPct val="75000"/>
              <a:buFont typeface="Arial" panose="020B0604020202020204" pitchFamily="34" charset="0"/>
              <a:buChar char="•"/>
            </a:pPr>
            <a:endParaRPr lang="en-US" altLang="zh-CN" sz="1600" dirty="0"/>
          </a:p>
          <a:p>
            <a:pPr marL="742950" lvl="1" indent="-228600">
              <a:lnSpc>
                <a:spcPct val="110000"/>
              </a:lnSpc>
              <a:spcAft>
                <a:spcPts val="600"/>
              </a:spcAft>
              <a:buClr>
                <a:schemeClr val="tx1"/>
              </a:buClr>
              <a:buSzPct val="75000"/>
              <a:buFont typeface="Arial" panose="020B0604020202020204" pitchFamily="34" charset="0"/>
              <a:buChar char="•"/>
            </a:pPr>
            <a:r>
              <a:rPr lang="zh-CN" altLang="en-US" sz="1600" dirty="0"/>
              <a:t>增值生息的动平衡 </a:t>
            </a:r>
            <a:r>
              <a:rPr lang="en-US" altLang="zh-CN" sz="1600" dirty="0"/>
              <a:t>– </a:t>
            </a:r>
            <a:r>
              <a:rPr lang="zh-CN" altLang="en-US" sz="1600" dirty="0"/>
              <a:t>动态维持</a:t>
            </a:r>
            <a:r>
              <a:rPr lang="en-US" altLang="zh-CN" sz="1600" dirty="0"/>
              <a:t>10</a:t>
            </a:r>
            <a:r>
              <a:rPr lang="zh-CN" altLang="en-US" sz="1600" dirty="0"/>
              <a:t>：</a:t>
            </a:r>
            <a:r>
              <a:rPr lang="en-US" altLang="zh-CN" sz="1600" dirty="0"/>
              <a:t>90</a:t>
            </a:r>
            <a:r>
              <a:rPr lang="zh-CN" altLang="en-US" sz="1600" dirty="0"/>
              <a:t>的比例</a:t>
            </a:r>
            <a:endParaRPr lang="en-US" altLang="zh-CN" sz="1600" dirty="0"/>
          </a:p>
          <a:p>
            <a:pPr marL="742950" lvl="1" indent="-228600">
              <a:lnSpc>
                <a:spcPct val="110000"/>
              </a:lnSpc>
              <a:spcAft>
                <a:spcPts val="600"/>
              </a:spcAft>
              <a:buClr>
                <a:schemeClr val="tx1"/>
              </a:buClr>
              <a:buSzPct val="75000"/>
              <a:buFont typeface="Arial" panose="020B0604020202020204" pitchFamily="34" charset="0"/>
              <a:buChar char="•"/>
            </a:pPr>
            <a:endParaRPr lang="en-US" altLang="zh-CN" sz="1600" dirty="0"/>
          </a:p>
          <a:p>
            <a:pPr marL="742950" lvl="1" indent="-228600">
              <a:lnSpc>
                <a:spcPct val="110000"/>
              </a:lnSpc>
              <a:spcAft>
                <a:spcPts val="600"/>
              </a:spcAft>
              <a:buClr>
                <a:schemeClr val="tx1"/>
              </a:buClr>
              <a:buSzPct val="75000"/>
              <a:buFont typeface="Arial" panose="020B0604020202020204" pitchFamily="34" charset="0"/>
              <a:buChar char="•"/>
            </a:pPr>
            <a:r>
              <a:rPr lang="zh-CN" altLang="en-US" sz="1600" dirty="0"/>
              <a:t>增值生息内部的动平衡 </a:t>
            </a:r>
            <a:r>
              <a:rPr lang="en-US" altLang="zh-CN" sz="1600" dirty="0"/>
              <a:t>– </a:t>
            </a:r>
            <a:r>
              <a:rPr lang="zh-CN" altLang="en-US" sz="1600" dirty="0"/>
              <a:t>根据基金季报，结合投委会观点，调入</a:t>
            </a:r>
            <a:r>
              <a:rPr lang="en-US" altLang="zh-CN" sz="1600" dirty="0"/>
              <a:t>/</a:t>
            </a:r>
            <a:r>
              <a:rPr lang="zh-CN" altLang="en-US" sz="1600" dirty="0"/>
              <a:t>调出主动基金。同时，每季度在产业趋势模块与指数增强模块之间做削峰填谷，保持产业趋势</a:t>
            </a:r>
            <a:r>
              <a:rPr lang="en-US" altLang="zh-CN" sz="1600" dirty="0"/>
              <a:t>:</a:t>
            </a:r>
            <a:r>
              <a:rPr lang="zh-CN" altLang="en-US" sz="1600" dirty="0"/>
              <a:t>指增 </a:t>
            </a:r>
            <a:r>
              <a:rPr lang="en-US" altLang="zh-CN" sz="1600" dirty="0"/>
              <a:t>= 1:1</a:t>
            </a:r>
            <a:r>
              <a:rPr lang="zh-CN" altLang="en-US" sz="1600" dirty="0"/>
              <a:t>的比例</a:t>
            </a:r>
            <a:endParaRPr lang="en-US" altLang="zh-CN" sz="1600" dirty="0"/>
          </a:p>
          <a:p>
            <a:pPr marL="742950" lvl="1" indent="-228600">
              <a:lnSpc>
                <a:spcPct val="110000"/>
              </a:lnSpc>
              <a:spcAft>
                <a:spcPts val="600"/>
              </a:spcAft>
              <a:buClr>
                <a:schemeClr val="tx1"/>
              </a:buClr>
              <a:buSzPct val="75000"/>
              <a:buFont typeface="Arial" panose="020B0604020202020204" pitchFamily="34" charset="0"/>
              <a:buChar char="•"/>
            </a:pPr>
            <a:endParaRPr lang="en-US" altLang="zh-CN" sz="1600" dirty="0"/>
          </a:p>
          <a:p>
            <a:pPr marL="742950" lvl="1" indent="-228600">
              <a:lnSpc>
                <a:spcPct val="110000"/>
              </a:lnSpc>
              <a:spcAft>
                <a:spcPts val="600"/>
              </a:spcAft>
              <a:buClr>
                <a:schemeClr val="tx1"/>
              </a:buClr>
              <a:buSzPct val="75000"/>
              <a:buFont typeface="Arial" panose="020B0604020202020204" pitchFamily="34" charset="0"/>
              <a:buChar char="•"/>
            </a:pPr>
            <a:r>
              <a:rPr lang="zh-CN" altLang="en-US" sz="1600" dirty="0"/>
              <a:t>选品的动平衡 </a:t>
            </a:r>
            <a:r>
              <a:rPr lang="en-US" altLang="zh-CN" sz="1600" dirty="0"/>
              <a:t>– </a:t>
            </a:r>
            <a:r>
              <a:rPr lang="zh-CN" altLang="en-US" sz="1600" dirty="0"/>
              <a:t>定期检视策略和资产的选品，结合</a:t>
            </a:r>
            <a:r>
              <a:rPr lang="en-US" altLang="zh-CN" sz="1600" dirty="0"/>
              <a:t>House View</a:t>
            </a:r>
            <a:r>
              <a:rPr lang="zh-CN" altLang="en-US" sz="1600" dirty="0"/>
              <a:t>市场观点，做动态置换</a:t>
            </a:r>
          </a:p>
        </p:txBody>
      </p:sp>
      <p:pic>
        <p:nvPicPr>
          <p:cNvPr id="7" name="图片 6">
            <a:extLst>
              <a:ext uri="{FF2B5EF4-FFF2-40B4-BE49-F238E27FC236}">
                <a16:creationId xmlns="" xmlns:a16="http://schemas.microsoft.com/office/drawing/2014/main" id="{09B45CEB-EDEF-8287-039C-3836C526E5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73736" y="1719869"/>
            <a:ext cx="6718264" cy="3745430"/>
          </a:xfrm>
          <a:prstGeom prst="rect">
            <a:avLst/>
          </a:prstGeom>
        </p:spPr>
      </p:pic>
    </p:spTree>
    <p:extLst>
      <p:ext uri="{BB962C8B-B14F-4D97-AF65-F5344CB8AC3E}">
        <p14:creationId xmlns:p14="http://schemas.microsoft.com/office/powerpoint/2010/main" val="2737999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143B2C3-D8FE-8F19-8C76-9E27C4AC596C}"/>
            </a:ext>
          </a:extLst>
        </p:cNvPr>
        <p:cNvGrpSpPr/>
        <p:nvPr/>
      </p:nvGrpSpPr>
      <p:grpSpPr>
        <a:xfrm>
          <a:off x="0" y="0"/>
          <a:ext cx="0" cy="0"/>
          <a:chOff x="0" y="0"/>
          <a:chExt cx="0" cy="0"/>
        </a:xfrm>
      </p:grpSpPr>
      <p:sp>
        <p:nvSpPr>
          <p:cNvPr id="6" name="标题 1">
            <a:extLst>
              <a:ext uri="{FF2B5EF4-FFF2-40B4-BE49-F238E27FC236}">
                <a16:creationId xmlns="" xmlns:a16="http://schemas.microsoft.com/office/drawing/2014/main" id="{B6113C99-6256-0908-B1A9-A78880C0BD7E}"/>
              </a:ext>
            </a:extLst>
          </p:cNvPr>
          <p:cNvSpPr txBox="1">
            <a:spLocks/>
          </p:cNvSpPr>
          <p:nvPr/>
        </p:nvSpPr>
        <p:spPr>
          <a:xfrm>
            <a:off x="569152" y="0"/>
            <a:ext cx="8729593" cy="1447801"/>
          </a:xfrm>
          <a:prstGeom prst="rect">
            <a:avLst/>
          </a:prstGeom>
        </p:spPr>
        <p:txBody>
          <a:bodyPr vert="horz" lIns="91440" tIns="45720" rIns="91440" bIns="45720" rtlCol="0" anchor="b">
            <a:normAutofit/>
          </a:bodyPr>
          <a:lst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a:lstStyle>
          <a:p>
            <a:pPr>
              <a:spcAft>
                <a:spcPts val="600"/>
              </a:spcAft>
            </a:pPr>
            <a:r>
              <a:rPr lang="zh-CN" altLang="en-US" dirty="0"/>
              <a:t>样板间投顾组合的投委会制度</a:t>
            </a:r>
            <a:endParaRPr lang="zh-CN" altLang="en-US" kern="1200" cap="all" spc="300" baseline="0" dirty="0">
              <a:highlight>
                <a:srgbClr val="000000"/>
              </a:highlight>
              <a:latin typeface="+mj-lt"/>
              <a:ea typeface="+mj-ea"/>
              <a:cs typeface="+mj-cs"/>
            </a:endParaRPr>
          </a:p>
        </p:txBody>
      </p:sp>
      <p:sp>
        <p:nvSpPr>
          <p:cNvPr id="2" name="文本框 1">
            <a:extLst>
              <a:ext uri="{FF2B5EF4-FFF2-40B4-BE49-F238E27FC236}">
                <a16:creationId xmlns="" xmlns:a16="http://schemas.microsoft.com/office/drawing/2014/main" id="{39ED5E1E-EAC8-D961-81AA-321621D7C55B}"/>
              </a:ext>
            </a:extLst>
          </p:cNvPr>
          <p:cNvSpPr txBox="1"/>
          <p:nvPr/>
        </p:nvSpPr>
        <p:spPr>
          <a:xfrm>
            <a:off x="569152" y="1504949"/>
            <a:ext cx="10956098" cy="3269485"/>
          </a:xfrm>
          <a:prstGeom prst="rect">
            <a:avLst/>
          </a:prstGeom>
          <a:noFill/>
        </p:spPr>
        <p:txBody>
          <a:bodyPr wrap="square" rtlCol="0">
            <a:spAutoFit/>
          </a:bodyPr>
          <a:lstStyle/>
          <a:p>
            <a:pPr marL="457200" indent="-457200">
              <a:lnSpc>
                <a:spcPct val="150000"/>
              </a:lnSpc>
              <a:buFont typeface="+mj-lt"/>
              <a:buAutoNum type="arabicPeriod"/>
            </a:pPr>
            <a:r>
              <a:rPr lang="zh-CN" altLang="en-US" sz="2000" dirty="0">
                <a:latin typeface="华文中宋" panose="02010600040101010101" pitchFamily="2" charset="-122"/>
                <a:ea typeface="华文中宋" panose="02010600040101010101" pitchFamily="2" charset="-122"/>
              </a:rPr>
              <a:t>频率：按时召集会议，月度、季度、不定期</a:t>
            </a:r>
          </a:p>
          <a:p>
            <a:pPr marL="457200" indent="-457200">
              <a:lnSpc>
                <a:spcPct val="150000"/>
              </a:lnSpc>
              <a:buFont typeface="+mj-lt"/>
              <a:buAutoNum type="arabicPeriod"/>
            </a:pPr>
            <a:r>
              <a:rPr lang="zh-CN" altLang="en-US" sz="2000" dirty="0">
                <a:latin typeface="华文中宋" panose="02010600040101010101" pitchFamily="2" charset="-122"/>
                <a:ea typeface="华文中宋" panose="02010600040101010101" pitchFamily="2" charset="-122"/>
              </a:rPr>
              <a:t>内容</a:t>
            </a:r>
            <a:endParaRPr lang="en-US" altLang="zh-CN" sz="2000" dirty="0">
              <a:latin typeface="华文中宋" panose="02010600040101010101" pitchFamily="2" charset="-122"/>
              <a:ea typeface="华文中宋" panose="02010600040101010101" pitchFamily="2" charset="-122"/>
            </a:endParaRPr>
          </a:p>
          <a:p>
            <a:pPr marL="914400" lvl="1" indent="-457200">
              <a:lnSpc>
                <a:spcPct val="150000"/>
              </a:lnSpc>
              <a:buFont typeface="+mj-ea"/>
              <a:buAutoNum type="circleNumDbPlain"/>
            </a:pPr>
            <a:r>
              <a:rPr lang="zh-CN" altLang="en-US" sz="2000" dirty="0">
                <a:latin typeface="华文中宋" panose="02010600040101010101" pitchFamily="2" charset="-122"/>
                <a:ea typeface="华文中宋" panose="02010600040101010101" pitchFamily="2" charset="-122"/>
              </a:rPr>
              <a:t>根据集团观点、</a:t>
            </a:r>
            <a:r>
              <a:rPr lang="en-US" altLang="zh-CN" sz="2000" dirty="0" err="1">
                <a:latin typeface="华文中宋" panose="02010600040101010101" pitchFamily="2" charset="-122"/>
                <a:ea typeface="华文中宋" panose="02010600040101010101" pitchFamily="2" charset="-122"/>
              </a:rPr>
              <a:t>Houseview</a:t>
            </a:r>
            <a:r>
              <a:rPr lang="zh-CN" altLang="en-US" sz="2000" dirty="0">
                <a:latin typeface="华文中宋" panose="02010600040101010101" pitchFamily="2" charset="-122"/>
                <a:ea typeface="华文中宋" panose="02010600040101010101" pitchFamily="2" charset="-122"/>
              </a:rPr>
              <a:t>、基金经理跟踪等，对产业变化，持仓基金的绩效、持仓、基金规模、基金经理状态等进行评估</a:t>
            </a:r>
            <a:endParaRPr lang="en-US" altLang="zh-CN" sz="2000" dirty="0">
              <a:latin typeface="华文中宋" panose="02010600040101010101" pitchFamily="2" charset="-122"/>
              <a:ea typeface="华文中宋" panose="02010600040101010101" pitchFamily="2" charset="-122"/>
            </a:endParaRPr>
          </a:p>
          <a:p>
            <a:pPr marL="914400" lvl="1" indent="-457200">
              <a:lnSpc>
                <a:spcPct val="150000"/>
              </a:lnSpc>
              <a:buFont typeface="+mj-ea"/>
              <a:buAutoNum type="circleNumDbPlain"/>
            </a:pPr>
            <a:r>
              <a:rPr lang="zh-CN" altLang="en-US" sz="2000" dirty="0">
                <a:latin typeface="华文中宋" panose="02010600040101010101" pitchFamily="2" charset="-122"/>
                <a:ea typeface="华文中宋" panose="02010600040101010101" pitchFamily="2" charset="-122"/>
              </a:rPr>
              <a:t>基金池：回顾基金池表现，主理人提出建议、投委会决策，完成基金出入池维护</a:t>
            </a:r>
            <a:endParaRPr lang="en-US" altLang="zh-CN" sz="2000" dirty="0">
              <a:latin typeface="华文中宋" panose="02010600040101010101" pitchFamily="2" charset="-122"/>
              <a:ea typeface="华文中宋" panose="02010600040101010101" pitchFamily="2" charset="-122"/>
            </a:endParaRPr>
          </a:p>
          <a:p>
            <a:pPr marL="914400" lvl="1" indent="-457200">
              <a:lnSpc>
                <a:spcPct val="150000"/>
              </a:lnSpc>
              <a:buFont typeface="+mj-ea"/>
              <a:buAutoNum type="circleNumDbPlain"/>
            </a:pPr>
            <a:r>
              <a:rPr lang="zh-CN" altLang="en-US" sz="2000" dirty="0">
                <a:latin typeface="华文中宋" panose="02010600040101010101" pitchFamily="2" charset="-122"/>
                <a:ea typeface="华文中宋" panose="02010600040101010101" pitchFamily="2" charset="-122"/>
              </a:rPr>
              <a:t>结合贝塔判断和基金经理的评估，形成组合的调仓决议</a:t>
            </a:r>
            <a:endParaRPr lang="en-US" altLang="zh-CN" sz="2000" dirty="0">
              <a:latin typeface="华文中宋" panose="02010600040101010101" pitchFamily="2" charset="-122"/>
              <a:ea typeface="华文中宋" panose="02010600040101010101" pitchFamily="2" charset="-122"/>
            </a:endParaRPr>
          </a:p>
          <a:p>
            <a:pPr marL="914400" lvl="1" indent="-457200">
              <a:lnSpc>
                <a:spcPct val="150000"/>
              </a:lnSpc>
              <a:buFont typeface="+mj-ea"/>
              <a:buAutoNum type="circleNumDbPlain"/>
            </a:pPr>
            <a:r>
              <a:rPr lang="zh-CN" altLang="en-US" sz="2000" dirty="0">
                <a:latin typeface="华文中宋" panose="02010600040101010101" pitchFamily="2" charset="-122"/>
                <a:ea typeface="华文中宋" panose="02010600040101010101" pitchFamily="2" charset="-122"/>
              </a:rPr>
              <a:t>监督动平衡的执行情况</a:t>
            </a:r>
          </a:p>
        </p:txBody>
      </p:sp>
    </p:spTree>
    <p:extLst>
      <p:ext uri="{BB962C8B-B14F-4D97-AF65-F5344CB8AC3E}">
        <p14:creationId xmlns:p14="http://schemas.microsoft.com/office/powerpoint/2010/main" val="300058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6FA07A6-1E24-CEE9-4035-BE3F364BBE97}"/>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2D68807E-A2D7-AE48-C7EC-D851AF334939}"/>
              </a:ext>
            </a:extLst>
          </p:cNvPr>
          <p:cNvSpPr/>
          <p:nvPr/>
        </p:nvSpPr>
        <p:spPr>
          <a:xfrm>
            <a:off x="381000" y="364669"/>
            <a:ext cx="76200"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Box 2">
            <a:extLst>
              <a:ext uri="{FF2B5EF4-FFF2-40B4-BE49-F238E27FC236}">
                <a16:creationId xmlns="" xmlns:a16="http://schemas.microsoft.com/office/drawing/2014/main" id="{9FF20308-DC84-C8F4-9335-3CAA1D41E12D}"/>
              </a:ext>
            </a:extLst>
          </p:cNvPr>
          <p:cNvSpPr txBox="1"/>
          <p:nvPr/>
        </p:nvSpPr>
        <p:spPr>
          <a:xfrm>
            <a:off x="630264" y="293907"/>
            <a:ext cx="10980711" cy="527961"/>
          </a:xfrm>
          <a:prstGeom prst="rect">
            <a:avLst/>
          </a:prstGeom>
          <a:noFill/>
        </p:spPr>
        <p:txBody>
          <a:bodyPr wrap="square"/>
          <a:lstStyle/>
          <a:p>
            <a:pPr marL="0" marR="0" lvl="0" indent="0" algn="l" defTabSz="685800" rtl="0" eaLnBrk="1" fontAlgn="auto" latinLnBrk="0" hangingPunct="1">
              <a:lnSpc>
                <a:spcPct val="120000"/>
              </a:lnSpc>
              <a:spcBef>
                <a:spcPts val="0"/>
              </a:spcBef>
              <a:spcAft>
                <a:spcPts val="0"/>
              </a:spcAft>
              <a:buClrTx/>
              <a:buSzTx/>
              <a:buFontTx/>
              <a:buNone/>
              <a:tabLst/>
              <a:defRPr sz="2800" b="1">
                <a:solidFill>
                  <a:srgbClr val="1A3C6E"/>
                </a:solidFill>
                <a:latin typeface="微软雅黑" panose="020B0503020204020204" charset="-122"/>
              </a:defRPr>
            </a:pPr>
            <a:r>
              <a:rPr kumimoji="0" lang="zh-CN" altLang="en-US" sz="2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附：指增备选基金池（产业趋势）</a:t>
            </a:r>
          </a:p>
        </p:txBody>
      </p:sp>
      <p:sp>
        <p:nvSpPr>
          <p:cNvPr id="49" name="TextBox 3">
            <a:extLst>
              <a:ext uri="{FF2B5EF4-FFF2-40B4-BE49-F238E27FC236}">
                <a16:creationId xmlns="" xmlns:a16="http://schemas.microsoft.com/office/drawing/2014/main" id="{08D40E28-A777-DF95-F7DB-82BE600CAB76}"/>
              </a:ext>
            </a:extLst>
          </p:cNvPr>
          <p:cNvSpPr txBox="1"/>
          <p:nvPr/>
        </p:nvSpPr>
        <p:spPr>
          <a:xfrm>
            <a:off x="609600" y="734254"/>
            <a:ext cx="10500000" cy="266700"/>
          </a:xfrm>
          <a:prstGeom prst="rect">
            <a:avLst/>
          </a:prstGeom>
          <a:noFill/>
        </p:spPr>
        <p:txBody>
          <a:bodyPr wrap="square"/>
          <a:lstStyle/>
          <a:p>
            <a:pPr marL="0" marR="0" lvl="0" indent="0" algn="l" defTabSz="685800" rtl="0" eaLnBrk="1" fontAlgn="auto" latinLnBrk="0" hangingPunct="1">
              <a:lnSpc>
                <a:spcPct val="120000"/>
              </a:lnSpc>
              <a:spcBef>
                <a:spcPts val="0"/>
              </a:spcBef>
              <a:spcAft>
                <a:spcPts val="0"/>
              </a:spcAft>
              <a:buClrTx/>
              <a:buSzTx/>
              <a:buFontTx/>
              <a:buNone/>
              <a:tabLst/>
              <a:defRPr sz="1600" b="0">
                <a:solidFill>
                  <a:srgbClr val="666666"/>
                </a:solidFill>
                <a:latin typeface="微软雅黑" panose="020B0503020204020204" charset="-122"/>
              </a:defRPr>
            </a:pPr>
            <a:r>
              <a:rPr kumimoji="0" lang="zh-CN" altLang="en-US"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rPr>
              <a:t>产业趋势是增值配置中提升客户获得感的重要工具</a:t>
            </a:r>
            <a:endParaRPr kumimoji="0"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endParaRPr>
          </a:p>
        </p:txBody>
      </p:sp>
      <p:sp>
        <p:nvSpPr>
          <p:cNvPr id="76" name="矩形 4">
            <a:extLst>
              <a:ext uri="{FF2B5EF4-FFF2-40B4-BE49-F238E27FC236}">
                <a16:creationId xmlns="" xmlns:a16="http://schemas.microsoft.com/office/drawing/2014/main" id="{6F42EDEF-E605-B212-782D-5227FB8A9F69}"/>
              </a:ext>
            </a:extLst>
          </p:cNvPr>
          <p:cNvSpPr/>
          <p:nvPr/>
        </p:nvSpPr>
        <p:spPr>
          <a:xfrm>
            <a:off x="150794" y="6402450"/>
            <a:ext cx="11272674" cy="246862"/>
          </a:xfrm>
          <a:prstGeom prst="rect">
            <a:avLst/>
          </a:prstGeom>
        </p:spPr>
        <p:txBody>
          <a:bodyPr wrap="square">
            <a:spAutoFit/>
          </a:bodyPr>
          <a:lstStyle/>
          <a:p>
            <a:pPr marL="0" marR="0" lvl="0" indent="0" algn="l" defTabSz="609608" rtl="0" eaLnBrk="1" fontAlgn="auto" latinLnBrk="0" hangingPunct="1">
              <a:lnSpc>
                <a:spcPct val="100000"/>
              </a:lnSpc>
              <a:spcBef>
                <a:spcPts val="0"/>
              </a:spcBef>
              <a:spcAft>
                <a:spcPts val="0"/>
              </a:spcAft>
              <a:buClrTx/>
              <a:buSzTx/>
              <a:buFontTx/>
              <a:buNone/>
              <a:tabLst/>
              <a:defRPr/>
            </a:pP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注：数据来源</a:t>
            </a:r>
            <a:r>
              <a:rPr lang="en-US" altLang="zh-CN" sz="1004" dirty="0" err="1">
                <a:solidFill>
                  <a:prstClr val="black"/>
                </a:solidFill>
                <a:latin typeface="微软雅黑" panose="020B0503020204020204" pitchFamily="34" charset="-122"/>
                <a:ea typeface="微软雅黑" panose="020B0503020204020204" pitchFamily="34" charset="-122"/>
              </a:rPr>
              <a:t>ifind</a:t>
            </a:r>
            <a:r>
              <a:rPr lang="zh-CN" altLang="en-US" sz="1004" dirty="0">
                <a:solidFill>
                  <a:prstClr val="black"/>
                </a:solidFill>
                <a:latin typeface="微软雅黑" panose="020B0503020204020204" pitchFamily="34" charset="-122"/>
                <a:ea typeface="微软雅黑" panose="020B0503020204020204" pitchFamily="34" charset="-122"/>
              </a:rPr>
              <a:t>，历史业绩不代表未来，历史业绩仅供参考</a:t>
            </a:r>
            <a:endParaRPr kumimoji="0" lang="en-US" altLang="zh-CN" sz="1004"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 name="表格 4">
            <a:extLst>
              <a:ext uri="{FF2B5EF4-FFF2-40B4-BE49-F238E27FC236}">
                <a16:creationId xmlns="" xmlns:a16="http://schemas.microsoft.com/office/drawing/2014/main" id="{C225251C-6416-A278-8EFC-7478A05E311E}"/>
              </a:ext>
            </a:extLst>
          </p:cNvPr>
          <p:cNvGraphicFramePr>
            <a:graphicFrameLocks noGrp="1"/>
          </p:cNvGraphicFramePr>
          <p:nvPr>
            <p:extLst>
              <p:ext uri="{D42A27DB-BD31-4B8C-83A1-F6EECF244321}">
                <p14:modId xmlns:p14="http://schemas.microsoft.com/office/powerpoint/2010/main" val="671835148"/>
              </p:ext>
            </p:extLst>
          </p:nvPr>
        </p:nvGraphicFramePr>
        <p:xfrm>
          <a:off x="381000" y="1154045"/>
          <a:ext cx="11042467" cy="5069311"/>
        </p:xfrm>
        <a:graphic>
          <a:graphicData uri="http://schemas.openxmlformats.org/drawingml/2006/table">
            <a:tbl>
              <a:tblPr/>
              <a:tblGrid>
                <a:gridCol w="895965">
                  <a:extLst>
                    <a:ext uri="{9D8B030D-6E8A-4147-A177-3AD203B41FA5}">
                      <a16:colId xmlns="" xmlns:a16="http://schemas.microsoft.com/office/drawing/2014/main" val="968236357"/>
                    </a:ext>
                  </a:extLst>
                </a:gridCol>
                <a:gridCol w="1617390">
                  <a:extLst>
                    <a:ext uri="{9D8B030D-6E8A-4147-A177-3AD203B41FA5}">
                      <a16:colId xmlns="" xmlns:a16="http://schemas.microsoft.com/office/drawing/2014/main" val="1724826460"/>
                    </a:ext>
                  </a:extLst>
                </a:gridCol>
                <a:gridCol w="791241">
                  <a:extLst>
                    <a:ext uri="{9D8B030D-6E8A-4147-A177-3AD203B41FA5}">
                      <a16:colId xmlns="" xmlns:a16="http://schemas.microsoft.com/office/drawing/2014/main" val="3935319735"/>
                    </a:ext>
                  </a:extLst>
                </a:gridCol>
                <a:gridCol w="1070502">
                  <a:extLst>
                    <a:ext uri="{9D8B030D-6E8A-4147-A177-3AD203B41FA5}">
                      <a16:colId xmlns="" xmlns:a16="http://schemas.microsoft.com/office/drawing/2014/main" val="1598084304"/>
                    </a:ext>
                  </a:extLst>
                </a:gridCol>
                <a:gridCol w="663247">
                  <a:extLst>
                    <a:ext uri="{9D8B030D-6E8A-4147-A177-3AD203B41FA5}">
                      <a16:colId xmlns="" xmlns:a16="http://schemas.microsoft.com/office/drawing/2014/main" val="2703583902"/>
                    </a:ext>
                  </a:extLst>
                </a:gridCol>
                <a:gridCol w="674882">
                  <a:extLst>
                    <a:ext uri="{9D8B030D-6E8A-4147-A177-3AD203B41FA5}">
                      <a16:colId xmlns="" xmlns:a16="http://schemas.microsoft.com/office/drawing/2014/main" val="2721932194"/>
                    </a:ext>
                  </a:extLst>
                </a:gridCol>
                <a:gridCol w="686518">
                  <a:extLst>
                    <a:ext uri="{9D8B030D-6E8A-4147-A177-3AD203B41FA5}">
                      <a16:colId xmlns="" xmlns:a16="http://schemas.microsoft.com/office/drawing/2014/main" val="2064482346"/>
                    </a:ext>
                  </a:extLst>
                </a:gridCol>
                <a:gridCol w="779606">
                  <a:extLst>
                    <a:ext uri="{9D8B030D-6E8A-4147-A177-3AD203B41FA5}">
                      <a16:colId xmlns="" xmlns:a16="http://schemas.microsoft.com/office/drawing/2014/main" val="3173153456"/>
                    </a:ext>
                  </a:extLst>
                </a:gridCol>
                <a:gridCol w="744697">
                  <a:extLst>
                    <a:ext uri="{9D8B030D-6E8A-4147-A177-3AD203B41FA5}">
                      <a16:colId xmlns="" xmlns:a16="http://schemas.microsoft.com/office/drawing/2014/main" val="2312984285"/>
                    </a:ext>
                  </a:extLst>
                </a:gridCol>
                <a:gridCol w="733061">
                  <a:extLst>
                    <a:ext uri="{9D8B030D-6E8A-4147-A177-3AD203B41FA5}">
                      <a16:colId xmlns="" xmlns:a16="http://schemas.microsoft.com/office/drawing/2014/main" val="2958088881"/>
                    </a:ext>
                  </a:extLst>
                </a:gridCol>
                <a:gridCol w="733061">
                  <a:extLst>
                    <a:ext uri="{9D8B030D-6E8A-4147-A177-3AD203B41FA5}">
                      <a16:colId xmlns="" xmlns:a16="http://schemas.microsoft.com/office/drawing/2014/main" val="3969245106"/>
                    </a:ext>
                  </a:extLst>
                </a:gridCol>
                <a:gridCol w="837784">
                  <a:extLst>
                    <a:ext uri="{9D8B030D-6E8A-4147-A177-3AD203B41FA5}">
                      <a16:colId xmlns="" xmlns:a16="http://schemas.microsoft.com/office/drawing/2014/main" val="820700833"/>
                    </a:ext>
                  </a:extLst>
                </a:gridCol>
                <a:gridCol w="814513">
                  <a:extLst>
                    <a:ext uri="{9D8B030D-6E8A-4147-A177-3AD203B41FA5}">
                      <a16:colId xmlns="" xmlns:a16="http://schemas.microsoft.com/office/drawing/2014/main" val="294389493"/>
                    </a:ext>
                  </a:extLst>
                </a:gridCol>
              </a:tblGrid>
              <a:tr h="185019">
                <a:tc>
                  <a:txBody>
                    <a:bodyPr/>
                    <a:lstStyle/>
                    <a:p>
                      <a:pPr algn="ctr" fontAlgn="ctr"/>
                      <a:r>
                        <a:rPr lang="zh-CN" altLang="en-US" sz="800" b="1" i="0" u="none" strike="noStrike">
                          <a:solidFill>
                            <a:srgbClr val="000000"/>
                          </a:solidFill>
                          <a:effectLst/>
                          <a:latin typeface="华文中宋" panose="02010600040101010101" pitchFamily="2" charset="-122"/>
                          <a:ea typeface="华文中宋" panose="02010600040101010101" pitchFamily="2" charset="-122"/>
                        </a:rPr>
                        <a:t>产业趋势观察池</a:t>
                      </a:r>
                    </a:p>
                  </a:txBody>
                  <a:tcPr marL="4991" marR="4991" marT="4991"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altLang="zh-CN" sz="800" b="1" i="0" u="none" strike="noStrike">
                          <a:solidFill>
                            <a:srgbClr val="000000"/>
                          </a:solidFill>
                          <a:effectLst/>
                          <a:latin typeface="华文中宋" panose="02010600040101010101" pitchFamily="2" charset="-122"/>
                          <a:ea typeface="华文中宋" panose="02010600040101010101" pitchFamily="2" charset="-122"/>
                        </a:rPr>
                        <a:t>2026/7/3</a:t>
                      </a:r>
                    </a:p>
                  </a:txBody>
                  <a:tcPr marL="4991" marR="4991" marT="4991"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800" b="1" i="0" u="none" strike="noStrike">
                          <a:solidFill>
                            <a:srgbClr val="000000"/>
                          </a:solidFill>
                          <a:effectLst/>
                          <a:latin typeface="华文中宋" panose="02010600040101010101" pitchFamily="2" charset="-122"/>
                          <a:ea typeface="华文中宋" panose="02010600040101010101" pitchFamily="2" charset="-122"/>
                        </a:rPr>
                        <a:t>基金经理</a:t>
                      </a:r>
                    </a:p>
                  </a:txBody>
                  <a:tcPr marL="4991" marR="4991" marT="4991"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800" b="1" i="0" u="none" strike="noStrike">
                          <a:solidFill>
                            <a:srgbClr val="000000"/>
                          </a:solidFill>
                          <a:effectLst/>
                          <a:latin typeface="华文中宋" panose="02010600040101010101" pitchFamily="2" charset="-122"/>
                          <a:ea typeface="华文中宋" panose="02010600040101010101" pitchFamily="2" charset="-122"/>
                        </a:rPr>
                        <a:t>重仓方向</a:t>
                      </a:r>
                    </a:p>
                  </a:txBody>
                  <a:tcPr marL="4991" marR="4991" marT="4991"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800" b="1" i="0" u="none" strike="noStrike">
                          <a:solidFill>
                            <a:srgbClr val="000000"/>
                          </a:solidFill>
                          <a:effectLst/>
                          <a:latin typeface="华文中宋" panose="02010600040101010101" pitchFamily="2" charset="-122"/>
                          <a:ea typeface="华文中宋" panose="02010600040101010101" pitchFamily="2" charset="-122"/>
                        </a:rPr>
                        <a:t>本周</a:t>
                      </a:r>
                    </a:p>
                  </a:txBody>
                  <a:tcPr marL="4991" marR="4991" marT="4991"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800" b="1" i="0" u="none" strike="noStrike">
                          <a:solidFill>
                            <a:srgbClr val="000000"/>
                          </a:solidFill>
                          <a:effectLst/>
                          <a:latin typeface="华文中宋" panose="02010600040101010101" pitchFamily="2" charset="-122"/>
                          <a:ea typeface="华文中宋" panose="02010600040101010101" pitchFamily="2" charset="-122"/>
                        </a:rPr>
                        <a:t>6</a:t>
                      </a:r>
                      <a:r>
                        <a:rPr lang="zh-CN" altLang="en-US" sz="800" b="1" i="0" u="none" strike="noStrike">
                          <a:solidFill>
                            <a:srgbClr val="000000"/>
                          </a:solidFill>
                          <a:effectLst/>
                          <a:latin typeface="华文中宋" panose="02010600040101010101" pitchFamily="2" charset="-122"/>
                          <a:ea typeface="华文中宋" panose="02010600040101010101" pitchFamily="2" charset="-122"/>
                        </a:rPr>
                        <a:t>月以来</a:t>
                      </a:r>
                    </a:p>
                  </a:txBody>
                  <a:tcPr marL="4991" marR="4991" marT="4991"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1" i="0" u="none" strike="noStrike">
                          <a:solidFill>
                            <a:srgbClr val="000000"/>
                          </a:solidFill>
                          <a:effectLst/>
                          <a:latin typeface="华文中宋" panose="02010600040101010101" pitchFamily="2" charset="-122"/>
                          <a:ea typeface="华文中宋" panose="02010600040101010101" pitchFamily="2" charset="-122"/>
                        </a:rPr>
                        <a:t>Q2</a:t>
                      </a:r>
                      <a:r>
                        <a:rPr lang="zh-CN" altLang="en-US" sz="800" b="1" i="0" u="none" strike="noStrike">
                          <a:solidFill>
                            <a:srgbClr val="000000"/>
                          </a:solidFill>
                          <a:effectLst/>
                          <a:latin typeface="华文中宋" panose="02010600040101010101" pitchFamily="2" charset="-122"/>
                          <a:ea typeface="华文中宋" panose="02010600040101010101" pitchFamily="2" charset="-122"/>
                        </a:rPr>
                        <a:t>以来</a:t>
                      </a:r>
                    </a:p>
                  </a:txBody>
                  <a:tcPr marL="4991" marR="4991" marT="4991"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1" i="0" u="none" strike="noStrike">
                          <a:solidFill>
                            <a:srgbClr val="000000"/>
                          </a:solidFill>
                          <a:effectLst/>
                          <a:latin typeface="华文中宋" panose="02010600040101010101" pitchFamily="2" charset="-122"/>
                          <a:ea typeface="华文中宋" panose="02010600040101010101" pitchFamily="2" charset="-122"/>
                        </a:rPr>
                        <a:t>2026YTD</a:t>
                      </a:r>
                    </a:p>
                  </a:txBody>
                  <a:tcPr marL="4991" marR="4991" marT="4991"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800" b="1" i="0" u="none" strike="noStrike">
                          <a:solidFill>
                            <a:srgbClr val="000000"/>
                          </a:solidFill>
                          <a:effectLst/>
                          <a:latin typeface="华文中宋" panose="02010600040101010101" pitchFamily="2" charset="-122"/>
                          <a:ea typeface="华文中宋" panose="02010600040101010101" pitchFamily="2" charset="-122"/>
                        </a:rPr>
                        <a:t>近</a:t>
                      </a:r>
                      <a:r>
                        <a:rPr lang="en-US" altLang="zh-CN" sz="800" b="1" i="0" u="none" strike="noStrike">
                          <a:solidFill>
                            <a:srgbClr val="000000"/>
                          </a:solidFill>
                          <a:effectLst/>
                          <a:latin typeface="华文中宋" panose="02010600040101010101" pitchFamily="2" charset="-122"/>
                          <a:ea typeface="华文中宋" panose="02010600040101010101" pitchFamily="2" charset="-122"/>
                        </a:rPr>
                        <a:t>1</a:t>
                      </a:r>
                      <a:r>
                        <a:rPr lang="zh-CN" altLang="en-US" sz="800" b="1" i="0" u="none" strike="noStrike">
                          <a:solidFill>
                            <a:srgbClr val="000000"/>
                          </a:solidFill>
                          <a:effectLst/>
                          <a:latin typeface="华文中宋" panose="02010600040101010101" pitchFamily="2" charset="-122"/>
                          <a:ea typeface="华文中宋" panose="02010600040101010101" pitchFamily="2" charset="-122"/>
                        </a:rPr>
                        <a:t>年</a:t>
                      </a:r>
                    </a:p>
                  </a:txBody>
                  <a:tcPr marL="4991" marR="4991" marT="4991"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zh-CN" altLang="en-US" sz="800" b="1" i="0" u="none" strike="noStrike">
                          <a:solidFill>
                            <a:srgbClr val="000000"/>
                          </a:solidFill>
                          <a:effectLst/>
                          <a:latin typeface="华文中宋" panose="02010600040101010101" pitchFamily="2" charset="-122"/>
                          <a:ea typeface="华文中宋" panose="02010600040101010101" pitchFamily="2" charset="-122"/>
                        </a:rPr>
                        <a:t>近</a:t>
                      </a:r>
                      <a:r>
                        <a:rPr lang="en-US" altLang="zh-CN" sz="800" b="1" i="0" u="none" strike="noStrike">
                          <a:solidFill>
                            <a:srgbClr val="000000"/>
                          </a:solidFill>
                          <a:effectLst/>
                          <a:latin typeface="华文中宋" panose="02010600040101010101" pitchFamily="2" charset="-122"/>
                          <a:ea typeface="华文中宋" panose="02010600040101010101" pitchFamily="2" charset="-122"/>
                        </a:rPr>
                        <a:t>2</a:t>
                      </a:r>
                      <a:r>
                        <a:rPr lang="zh-CN" altLang="en-US" sz="800" b="1" i="0" u="none" strike="noStrike">
                          <a:solidFill>
                            <a:srgbClr val="000000"/>
                          </a:solidFill>
                          <a:effectLst/>
                          <a:latin typeface="华文中宋" panose="02010600040101010101" pitchFamily="2" charset="-122"/>
                          <a:ea typeface="华文中宋" panose="02010600040101010101" pitchFamily="2" charset="-122"/>
                        </a:rPr>
                        <a:t>年</a:t>
                      </a:r>
                    </a:p>
                  </a:txBody>
                  <a:tcPr marL="4991" marR="4991" marT="4991"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zh-CN" altLang="en-US" sz="800" b="1" i="0" u="none" strike="noStrike">
                          <a:solidFill>
                            <a:srgbClr val="000000"/>
                          </a:solidFill>
                          <a:effectLst/>
                          <a:latin typeface="华文中宋" panose="02010600040101010101" pitchFamily="2" charset="-122"/>
                          <a:ea typeface="华文中宋" panose="02010600040101010101" pitchFamily="2" charset="-122"/>
                        </a:rPr>
                        <a:t>近</a:t>
                      </a:r>
                      <a:r>
                        <a:rPr lang="en-US" altLang="zh-CN" sz="800" b="1" i="0" u="none" strike="noStrike">
                          <a:solidFill>
                            <a:srgbClr val="000000"/>
                          </a:solidFill>
                          <a:effectLst/>
                          <a:latin typeface="华文中宋" panose="02010600040101010101" pitchFamily="2" charset="-122"/>
                          <a:ea typeface="华文中宋" panose="02010600040101010101" pitchFamily="2" charset="-122"/>
                        </a:rPr>
                        <a:t>3</a:t>
                      </a:r>
                      <a:r>
                        <a:rPr lang="zh-CN" altLang="en-US" sz="800" b="1" i="0" u="none" strike="noStrike">
                          <a:solidFill>
                            <a:srgbClr val="000000"/>
                          </a:solidFill>
                          <a:effectLst/>
                          <a:latin typeface="华文中宋" panose="02010600040101010101" pitchFamily="2" charset="-122"/>
                          <a:ea typeface="华文中宋" panose="02010600040101010101" pitchFamily="2" charset="-122"/>
                        </a:rPr>
                        <a:t>年</a:t>
                      </a:r>
                    </a:p>
                  </a:txBody>
                  <a:tcPr marL="4991" marR="4991" marT="4991"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altLang="zh-CN" sz="800" b="1" i="0" u="none" strike="noStrike">
                          <a:solidFill>
                            <a:srgbClr val="000000"/>
                          </a:solidFill>
                          <a:effectLst/>
                          <a:latin typeface="华文中宋" panose="02010600040101010101" pitchFamily="2" charset="-122"/>
                          <a:ea typeface="华文中宋" panose="02010600040101010101" pitchFamily="2" charset="-122"/>
                        </a:rPr>
                        <a:t>2025</a:t>
                      </a:r>
                      <a:r>
                        <a:rPr lang="zh-CN" altLang="en-US" sz="800" b="1" i="0" u="none" strike="noStrike">
                          <a:solidFill>
                            <a:srgbClr val="000000"/>
                          </a:solidFill>
                          <a:effectLst/>
                          <a:latin typeface="华文中宋" panose="02010600040101010101" pitchFamily="2" charset="-122"/>
                          <a:ea typeface="华文中宋" panose="02010600040101010101" pitchFamily="2" charset="-122"/>
                        </a:rPr>
                        <a:t>年</a:t>
                      </a:r>
                    </a:p>
                  </a:txBody>
                  <a:tcPr marL="4991" marR="4991" marT="4991"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altLang="zh-CN" sz="800" b="1" i="0" u="none" strike="noStrike">
                          <a:solidFill>
                            <a:srgbClr val="000000"/>
                          </a:solidFill>
                          <a:effectLst/>
                          <a:latin typeface="华文中宋" panose="02010600040101010101" pitchFamily="2" charset="-122"/>
                          <a:ea typeface="华文中宋" panose="02010600040101010101" pitchFamily="2" charset="-122"/>
                        </a:rPr>
                        <a:t>2024</a:t>
                      </a:r>
                      <a:r>
                        <a:rPr lang="zh-CN" altLang="en-US" sz="800" b="1" i="0" u="none" strike="noStrike">
                          <a:solidFill>
                            <a:srgbClr val="000000"/>
                          </a:solidFill>
                          <a:effectLst/>
                          <a:latin typeface="华文中宋" panose="02010600040101010101" pitchFamily="2" charset="-122"/>
                          <a:ea typeface="华文中宋" panose="02010600040101010101" pitchFamily="2" charset="-122"/>
                        </a:rPr>
                        <a:t>年</a:t>
                      </a:r>
                    </a:p>
                  </a:txBody>
                  <a:tcPr marL="4991" marR="4991" marT="4991"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4147605500"/>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932381.CSI</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科创创业</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50</a:t>
                      </a:r>
                      <a:r>
                        <a:rPr lang="zh-CN" altLang="en-US" sz="800" b="0" i="0" u="none" strike="noStrike">
                          <a:solidFill>
                            <a:srgbClr val="000000"/>
                          </a:solidFill>
                          <a:effectLst/>
                          <a:latin typeface="华文中宋" panose="02010600040101010101" pitchFamily="2" charset="-122"/>
                          <a:ea typeface="华文中宋" panose="02010600040101010101" pitchFamily="2" charset="-122"/>
                        </a:rPr>
                        <a:t>等权指数</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基准指数</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zh-CN" altLang="en-US" sz="800" b="1" i="0" u="none" strike="noStrike">
                          <a:solidFill>
                            <a:srgbClr val="000000"/>
                          </a:solidFill>
                          <a:effectLst/>
                          <a:latin typeface="华文中宋" panose="02010600040101010101" pitchFamily="2" charset="-122"/>
                          <a:ea typeface="华文中宋" panose="02010600040101010101" pitchFamily="2" charset="-122"/>
                        </a:rPr>
                        <a:t>　</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800" b="1" i="0" u="none" strike="noStrike">
                          <a:solidFill>
                            <a:srgbClr val="000000"/>
                          </a:solidFill>
                          <a:effectLst/>
                          <a:latin typeface="华文中宋" panose="02010600040101010101" pitchFamily="2" charset="-122"/>
                          <a:ea typeface="华文中宋" panose="02010600040101010101" pitchFamily="2" charset="-122"/>
                        </a:rPr>
                        <a:t>-0.6 </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800" b="1" i="0" u="none" strike="noStrike">
                          <a:solidFill>
                            <a:srgbClr val="000000"/>
                          </a:solidFill>
                          <a:effectLst/>
                          <a:latin typeface="华文中宋" panose="02010600040101010101" pitchFamily="2" charset="-122"/>
                          <a:ea typeface="华文中宋" panose="02010600040101010101" pitchFamily="2" charset="-122"/>
                        </a:rPr>
                        <a:t>6.0 </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800" b="1" i="0" u="none" strike="noStrike">
                          <a:solidFill>
                            <a:srgbClr val="000000"/>
                          </a:solidFill>
                          <a:effectLst/>
                          <a:latin typeface="华文中宋" panose="02010600040101010101" pitchFamily="2" charset="-122"/>
                          <a:ea typeface="华文中宋" panose="02010600040101010101" pitchFamily="2" charset="-122"/>
                        </a:rPr>
                        <a:t>39.1 </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800" b="1" i="0" u="none" strike="noStrike">
                          <a:solidFill>
                            <a:srgbClr val="000000"/>
                          </a:solidFill>
                          <a:effectLst/>
                          <a:latin typeface="华文中宋" panose="02010600040101010101" pitchFamily="2" charset="-122"/>
                          <a:ea typeface="华文中宋" panose="02010600040101010101" pitchFamily="2" charset="-122"/>
                        </a:rPr>
                        <a:t>33.2 </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800" b="1" i="0" u="none" strike="noStrike">
                          <a:solidFill>
                            <a:srgbClr val="000000"/>
                          </a:solidFill>
                          <a:effectLst/>
                          <a:latin typeface="华文中宋" panose="02010600040101010101" pitchFamily="2" charset="-122"/>
                          <a:ea typeface="华文中宋" panose="02010600040101010101" pitchFamily="2" charset="-122"/>
                        </a:rPr>
                        <a:t>98.1 </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800" b="1" i="0" u="none" strike="noStrike">
                          <a:solidFill>
                            <a:srgbClr val="000000"/>
                          </a:solidFill>
                          <a:effectLst/>
                          <a:latin typeface="华文中宋" panose="02010600040101010101" pitchFamily="2" charset="-122"/>
                          <a:ea typeface="华文中宋" panose="02010600040101010101" pitchFamily="2" charset="-122"/>
                        </a:rPr>
                        <a:t>117.2 </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800" b="1" i="0" u="none" strike="noStrike">
                          <a:solidFill>
                            <a:srgbClr val="000000"/>
                          </a:solidFill>
                          <a:effectLst/>
                          <a:latin typeface="华文中宋" panose="02010600040101010101" pitchFamily="2" charset="-122"/>
                          <a:ea typeface="华文中宋" panose="02010600040101010101" pitchFamily="2" charset="-122"/>
                        </a:rPr>
                        <a:t>74.0 </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800" b="1" i="0" u="none" strike="noStrike">
                          <a:solidFill>
                            <a:srgbClr val="000000"/>
                          </a:solidFill>
                          <a:effectLst/>
                          <a:latin typeface="华文中宋" panose="02010600040101010101" pitchFamily="2" charset="-122"/>
                          <a:ea typeface="华文中宋" panose="02010600040101010101" pitchFamily="2" charset="-122"/>
                        </a:rPr>
                        <a:t>41.2 </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US" altLang="zh-CN" sz="800" b="1" i="0" u="none" strike="noStrike">
                          <a:solidFill>
                            <a:srgbClr val="000000"/>
                          </a:solidFill>
                          <a:effectLst/>
                          <a:latin typeface="华文中宋" panose="02010600040101010101" pitchFamily="2" charset="-122"/>
                          <a:ea typeface="华文中宋" panose="02010600040101010101" pitchFamily="2" charset="-122"/>
                        </a:rPr>
                        <a:t>5.2 </a:t>
                      </a:r>
                    </a:p>
                  </a:txBody>
                  <a:tcPr marL="4991" marR="4991" marT="4991"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 xmlns:a16="http://schemas.microsoft.com/office/drawing/2014/main" val="2704391857"/>
                  </a:ext>
                </a:extLst>
              </a:tr>
              <a:tr h="178639">
                <a:tc>
                  <a:txBody>
                    <a:bodyPr/>
                    <a:lstStyle/>
                    <a:p>
                      <a:pPr algn="ctr" fontAlgn="ctr"/>
                      <a:r>
                        <a:rPr lang="en-US" sz="700" b="0" i="0" u="none" strike="noStrike">
                          <a:solidFill>
                            <a:srgbClr val="C00000"/>
                          </a:solidFill>
                          <a:effectLst/>
                          <a:latin typeface="华文中宋" panose="02010600040101010101" pitchFamily="2" charset="-122"/>
                          <a:ea typeface="华文中宋" panose="02010600040101010101" pitchFamily="2" charset="-122"/>
                        </a:rPr>
                        <a:t>001170.OF</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宏利复兴伟业</a:t>
                      </a:r>
                      <a:r>
                        <a:rPr lang="en-US" altLang="zh-CN" sz="800" b="0" i="0" u="none" strike="noStrike">
                          <a:solidFill>
                            <a:srgbClr val="C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FFF2CC"/>
                    </a:solidFill>
                  </a:tcPr>
                </a:tc>
                <a:tc>
                  <a:txBody>
                    <a:bodyPr/>
                    <a:lstStyle/>
                    <a:p>
                      <a:pPr algn="ctr"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孙硕</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-9.8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9.7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79.9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104.3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312.6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434.1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295.7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102.1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C00000"/>
                          </a:solidFill>
                          <a:effectLst/>
                          <a:latin typeface="华文中宋" panose="02010600040101010101" pitchFamily="2" charset="-122"/>
                          <a:ea typeface="华文中宋" panose="02010600040101010101" pitchFamily="2" charset="-122"/>
                        </a:rPr>
                        <a:t>33.3 </a:t>
                      </a:r>
                    </a:p>
                  </a:txBody>
                  <a:tcPr marL="4991" marR="4991" marT="4991" marB="0" anchor="ctr">
                    <a:lnL>
                      <a:noFill/>
                    </a:lnL>
                    <a:lnR>
                      <a:noFill/>
                    </a:lnR>
                    <a:lnT>
                      <a:noFill/>
                    </a:lnT>
                    <a:lnB>
                      <a:noFill/>
                    </a:lnB>
                    <a:solidFill>
                      <a:srgbClr val="FFF2CC"/>
                    </a:solidFill>
                  </a:tcPr>
                </a:tc>
                <a:extLst>
                  <a:ext uri="{0D108BD9-81ED-4DB2-BD59-A6C34878D82A}">
                    <a16:rowId xmlns="" xmlns:a16="http://schemas.microsoft.com/office/drawing/2014/main" val="3873480103"/>
                  </a:ext>
                </a:extLst>
              </a:tr>
              <a:tr h="178639">
                <a:tc>
                  <a:txBody>
                    <a:bodyPr/>
                    <a:lstStyle/>
                    <a:p>
                      <a:pPr algn="ctr" rtl="0" fontAlgn="ctr"/>
                      <a:r>
                        <a:rPr lang="en-US" sz="700" b="0" i="0" u="none" strike="noStrike">
                          <a:solidFill>
                            <a:srgbClr val="C00000"/>
                          </a:solidFill>
                          <a:effectLst/>
                          <a:latin typeface="华文中宋" panose="02010600040101010101" pitchFamily="2" charset="-122"/>
                          <a:ea typeface="华文中宋" panose="02010600040101010101" pitchFamily="2" charset="-122"/>
                        </a:rPr>
                        <a:t>016370.OF</a:t>
                      </a:r>
                    </a:p>
                  </a:txBody>
                  <a:tcPr marL="4991" marR="4991" marT="4991" marB="0" anchor="ctr">
                    <a:lnL>
                      <a:noFill/>
                    </a:lnL>
                    <a:lnR>
                      <a:noFill/>
                    </a:lnR>
                    <a:lnT>
                      <a:noFill/>
                    </a:lnT>
                    <a:lnB>
                      <a:noFill/>
                    </a:lnB>
                    <a:solidFill>
                      <a:srgbClr val="FFF2CC"/>
                    </a:solidFill>
                  </a:tcPr>
                </a:tc>
                <a:tc>
                  <a:txBody>
                    <a:bodyPr/>
                    <a:lstStyle/>
                    <a:p>
                      <a:pPr algn="l" rtl="0"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信澳业绩驱动</a:t>
                      </a:r>
                      <a:r>
                        <a:rPr lang="en-US" altLang="zh-CN" sz="800" b="0" i="0" u="none" strike="noStrike">
                          <a:solidFill>
                            <a:srgbClr val="C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FFF2CC"/>
                    </a:solidFill>
                  </a:tcPr>
                </a:tc>
                <a:tc>
                  <a:txBody>
                    <a:bodyPr/>
                    <a:lstStyle/>
                    <a:p>
                      <a:pPr algn="ctr" rtl="0"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童昌希</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-12.8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1.2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61.8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77.7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329.4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482.2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327.4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143.1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C00000"/>
                          </a:solidFill>
                          <a:effectLst/>
                          <a:latin typeface="华文中宋" panose="02010600040101010101" pitchFamily="2" charset="-122"/>
                          <a:ea typeface="华文中宋" panose="02010600040101010101" pitchFamily="2" charset="-122"/>
                        </a:rPr>
                        <a:t>28.3 </a:t>
                      </a:r>
                    </a:p>
                  </a:txBody>
                  <a:tcPr marL="4991" marR="4991" marT="4991" marB="0" anchor="ctr">
                    <a:lnL>
                      <a:noFill/>
                    </a:lnL>
                    <a:lnR>
                      <a:noFill/>
                    </a:lnR>
                    <a:lnT>
                      <a:noFill/>
                    </a:lnT>
                    <a:lnB>
                      <a:noFill/>
                    </a:lnB>
                    <a:solidFill>
                      <a:srgbClr val="FFF2CC"/>
                    </a:solidFill>
                  </a:tcPr>
                </a:tc>
                <a:extLst>
                  <a:ext uri="{0D108BD9-81ED-4DB2-BD59-A6C34878D82A}">
                    <a16:rowId xmlns="" xmlns:a16="http://schemas.microsoft.com/office/drawing/2014/main" val="1358318447"/>
                  </a:ext>
                </a:extLst>
              </a:tr>
              <a:tr h="178639">
                <a:tc>
                  <a:txBody>
                    <a:bodyPr/>
                    <a:lstStyle/>
                    <a:p>
                      <a:pPr algn="ctr" rtl="0" fontAlgn="ctr"/>
                      <a:r>
                        <a:rPr lang="en-US" sz="700" b="0" i="0" u="none" strike="noStrike">
                          <a:solidFill>
                            <a:srgbClr val="C00000"/>
                          </a:solidFill>
                          <a:effectLst/>
                          <a:latin typeface="华文中宋" panose="02010600040101010101" pitchFamily="2" charset="-122"/>
                          <a:ea typeface="华文中宋" panose="02010600040101010101" pitchFamily="2" charset="-122"/>
                        </a:rPr>
                        <a:t>017488.OF</a:t>
                      </a:r>
                    </a:p>
                  </a:txBody>
                  <a:tcPr marL="4991" marR="4991" marT="4991" marB="0" anchor="ctr">
                    <a:lnL>
                      <a:noFill/>
                    </a:lnL>
                    <a:lnR>
                      <a:noFill/>
                    </a:lnR>
                    <a:lnT>
                      <a:noFill/>
                    </a:lnT>
                    <a:lnB>
                      <a:noFill/>
                    </a:lnB>
                    <a:solidFill>
                      <a:srgbClr val="FFF2CC"/>
                    </a:solidFill>
                  </a:tcPr>
                </a:tc>
                <a:tc>
                  <a:txBody>
                    <a:bodyPr/>
                    <a:lstStyle/>
                    <a:p>
                      <a:pPr algn="l" rtl="0"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嘉实信息产业</a:t>
                      </a:r>
                      <a:r>
                        <a:rPr lang="en-US" altLang="zh-CN" sz="800" b="0" i="0" u="none" strike="noStrike">
                          <a:solidFill>
                            <a:srgbClr val="C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FFF2CC"/>
                    </a:solidFill>
                  </a:tcPr>
                </a:tc>
                <a:tc>
                  <a:txBody>
                    <a:bodyPr/>
                    <a:lstStyle/>
                    <a:p>
                      <a:pPr algn="ctr" rtl="0"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李涛</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海外算力、应用</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-10.1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60.2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70.0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190.0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276.4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176.3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62.5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C00000"/>
                          </a:solidFill>
                          <a:effectLst/>
                          <a:latin typeface="华文中宋" panose="02010600040101010101" pitchFamily="2" charset="-122"/>
                          <a:ea typeface="华文中宋" panose="02010600040101010101" pitchFamily="2" charset="-122"/>
                        </a:rPr>
                        <a:t>21.3 </a:t>
                      </a:r>
                    </a:p>
                  </a:txBody>
                  <a:tcPr marL="4991" marR="4991" marT="4991" marB="0" anchor="ctr">
                    <a:lnL>
                      <a:noFill/>
                    </a:lnL>
                    <a:lnR>
                      <a:noFill/>
                    </a:lnR>
                    <a:lnT>
                      <a:noFill/>
                    </a:lnT>
                    <a:lnB>
                      <a:noFill/>
                    </a:lnB>
                    <a:solidFill>
                      <a:srgbClr val="FFF2CC"/>
                    </a:solidFill>
                  </a:tcPr>
                </a:tc>
                <a:extLst>
                  <a:ext uri="{0D108BD9-81ED-4DB2-BD59-A6C34878D82A}">
                    <a16:rowId xmlns="" xmlns:a16="http://schemas.microsoft.com/office/drawing/2014/main" val="458781690"/>
                  </a:ext>
                </a:extLst>
              </a:tr>
              <a:tr h="318078">
                <a:tc>
                  <a:txBody>
                    <a:bodyPr/>
                    <a:lstStyle/>
                    <a:p>
                      <a:pPr algn="ctr" rtl="0" fontAlgn="ctr"/>
                      <a:r>
                        <a:rPr lang="en-US" sz="700" b="0" i="0" u="none" strike="noStrike">
                          <a:solidFill>
                            <a:srgbClr val="C00000"/>
                          </a:solidFill>
                          <a:effectLst/>
                          <a:latin typeface="华文中宋" panose="02010600040101010101" pitchFamily="2" charset="-122"/>
                          <a:ea typeface="华文中宋" panose="02010600040101010101" pitchFamily="2" charset="-122"/>
                        </a:rPr>
                        <a:t>009993.OF</a:t>
                      </a:r>
                    </a:p>
                  </a:txBody>
                  <a:tcPr marL="4991" marR="4991" marT="4991" marB="0" anchor="ctr">
                    <a:lnL>
                      <a:noFill/>
                    </a:lnL>
                    <a:lnR>
                      <a:noFill/>
                    </a:lnR>
                    <a:lnT>
                      <a:noFill/>
                    </a:lnT>
                    <a:lnB>
                      <a:noFill/>
                    </a:lnB>
                    <a:solidFill>
                      <a:srgbClr val="FFF2CC"/>
                    </a:solidFill>
                  </a:tcPr>
                </a:tc>
                <a:tc>
                  <a:txBody>
                    <a:bodyPr/>
                    <a:lstStyle/>
                    <a:p>
                      <a:pPr algn="l" rtl="0"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嘉实前沿科技创新</a:t>
                      </a:r>
                      <a:r>
                        <a:rPr lang="en-US" altLang="zh-CN" sz="800" b="0" i="0" u="none" strike="noStrike">
                          <a:solidFill>
                            <a:srgbClr val="C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FFF2CC"/>
                    </a:solidFill>
                  </a:tcPr>
                </a:tc>
                <a:tc>
                  <a:txBody>
                    <a:bodyPr/>
                    <a:lstStyle/>
                    <a:p>
                      <a:pPr algn="ctr" rtl="0"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王贵重</a:t>
                      </a:r>
                      <a:r>
                        <a:rPr lang="en-US" altLang="zh-CN" sz="800" b="0" i="0" u="none" strike="noStrike">
                          <a:solidFill>
                            <a:srgbClr val="C00000"/>
                          </a:solidFill>
                          <a:effectLst/>
                          <a:latin typeface="华文中宋" panose="02010600040101010101" pitchFamily="2" charset="-122"/>
                          <a:ea typeface="华文中宋" panose="02010600040101010101" pitchFamily="2" charset="-122"/>
                        </a:rPr>
                        <a:t>,</a:t>
                      </a:r>
                      <a:r>
                        <a:rPr lang="zh-CN" altLang="en-US" sz="800" b="0" i="0" u="none" strike="noStrike">
                          <a:solidFill>
                            <a:srgbClr val="C00000"/>
                          </a:solidFill>
                          <a:effectLst/>
                          <a:latin typeface="华文中宋" panose="02010600040101010101" pitchFamily="2" charset="-122"/>
                          <a:ea typeface="华文中宋" panose="02010600040101010101" pitchFamily="2" charset="-122"/>
                        </a:rPr>
                        <a:t>何鸣晓</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海外算力、国产算力</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21.0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87.0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107.1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184.0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305.0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257.8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56.4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C00000"/>
                          </a:solidFill>
                          <a:effectLst/>
                          <a:latin typeface="华文中宋" panose="02010600040101010101" pitchFamily="2" charset="-122"/>
                          <a:ea typeface="华文中宋" panose="02010600040101010101" pitchFamily="2" charset="-122"/>
                        </a:rPr>
                        <a:t>21.3 </a:t>
                      </a:r>
                    </a:p>
                  </a:txBody>
                  <a:tcPr marL="4991" marR="4991" marT="4991" marB="0" anchor="ctr">
                    <a:lnL>
                      <a:noFill/>
                    </a:lnL>
                    <a:lnR>
                      <a:noFill/>
                    </a:lnR>
                    <a:lnT>
                      <a:noFill/>
                    </a:lnT>
                    <a:lnB>
                      <a:noFill/>
                    </a:lnB>
                    <a:solidFill>
                      <a:srgbClr val="FFF2CC"/>
                    </a:solidFill>
                  </a:tcPr>
                </a:tc>
                <a:extLst>
                  <a:ext uri="{0D108BD9-81ED-4DB2-BD59-A6C34878D82A}">
                    <a16:rowId xmlns="" xmlns:a16="http://schemas.microsoft.com/office/drawing/2014/main" val="3318824673"/>
                  </a:ext>
                </a:extLst>
              </a:tr>
              <a:tr h="178639">
                <a:tc>
                  <a:txBody>
                    <a:bodyPr/>
                    <a:lstStyle/>
                    <a:p>
                      <a:pPr algn="ctr" rtl="0" fontAlgn="ctr"/>
                      <a:r>
                        <a:rPr lang="en-US" sz="700" b="0" i="0" u="none" strike="noStrike">
                          <a:solidFill>
                            <a:srgbClr val="C00000"/>
                          </a:solidFill>
                          <a:effectLst/>
                          <a:latin typeface="华文中宋" panose="02010600040101010101" pitchFamily="2" charset="-122"/>
                          <a:ea typeface="华文中宋" panose="02010600040101010101" pitchFamily="2" charset="-122"/>
                        </a:rPr>
                        <a:t>007817.OF</a:t>
                      </a:r>
                    </a:p>
                  </a:txBody>
                  <a:tcPr marL="4991" marR="4991" marT="4991" marB="0" anchor="ctr">
                    <a:lnL>
                      <a:noFill/>
                    </a:lnL>
                    <a:lnR>
                      <a:noFill/>
                    </a:lnR>
                    <a:lnT>
                      <a:noFill/>
                    </a:lnT>
                    <a:lnB>
                      <a:noFill/>
                    </a:lnB>
                    <a:solidFill>
                      <a:srgbClr val="FFF2CC"/>
                    </a:solidFill>
                  </a:tcPr>
                </a:tc>
                <a:tc>
                  <a:txBody>
                    <a:bodyPr/>
                    <a:lstStyle/>
                    <a:p>
                      <a:pPr algn="l" rtl="0"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国泰中证全指通信设备</a:t>
                      </a:r>
                    </a:p>
                  </a:txBody>
                  <a:tcPr marL="4991" marR="4991" marT="4991" marB="0" anchor="ctr">
                    <a:lnL>
                      <a:noFill/>
                    </a:lnL>
                    <a:lnR>
                      <a:noFill/>
                    </a:lnR>
                    <a:lnT>
                      <a:noFill/>
                    </a:lnT>
                    <a:lnB>
                      <a:noFill/>
                    </a:lnB>
                    <a:solidFill>
                      <a:srgbClr val="FFF2CC"/>
                    </a:solidFill>
                  </a:tcPr>
                </a:tc>
                <a:tc>
                  <a:txBody>
                    <a:bodyPr/>
                    <a:lstStyle/>
                    <a:p>
                      <a:pPr algn="ctr" rtl="0"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艾小军</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海外算力、应用</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-9.6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-0.1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45.7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51.0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230.4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293.6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283.3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115.6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C00000"/>
                          </a:solidFill>
                          <a:effectLst/>
                          <a:latin typeface="华文中宋" panose="02010600040101010101" pitchFamily="2" charset="-122"/>
                          <a:ea typeface="华文中宋" panose="02010600040101010101" pitchFamily="2" charset="-122"/>
                        </a:rPr>
                        <a:t>31.2 </a:t>
                      </a:r>
                    </a:p>
                  </a:txBody>
                  <a:tcPr marL="4991" marR="4991" marT="4991" marB="0" anchor="ctr">
                    <a:lnL>
                      <a:noFill/>
                    </a:lnL>
                    <a:lnR>
                      <a:noFill/>
                    </a:lnR>
                    <a:lnT>
                      <a:noFill/>
                    </a:lnT>
                    <a:lnB>
                      <a:noFill/>
                    </a:lnB>
                    <a:solidFill>
                      <a:srgbClr val="FFF2CC"/>
                    </a:solidFill>
                  </a:tcPr>
                </a:tc>
                <a:extLst>
                  <a:ext uri="{0D108BD9-81ED-4DB2-BD59-A6C34878D82A}">
                    <a16:rowId xmlns="" xmlns:a16="http://schemas.microsoft.com/office/drawing/2014/main" val="14045698"/>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013721.OF</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信澳景气优选</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FFF2CC"/>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吴清宇</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-4.8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6.9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71.4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66.7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217.6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349.3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265.0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95.8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24.3 </a:t>
                      </a:r>
                    </a:p>
                  </a:txBody>
                  <a:tcPr marL="4991" marR="4991" marT="4991" marB="0" anchor="ctr">
                    <a:lnL>
                      <a:noFill/>
                    </a:lnL>
                    <a:lnR>
                      <a:noFill/>
                    </a:lnR>
                    <a:lnT>
                      <a:noFill/>
                    </a:lnT>
                    <a:lnB>
                      <a:noFill/>
                    </a:lnB>
                    <a:solidFill>
                      <a:srgbClr val="FFF2CC"/>
                    </a:solidFill>
                  </a:tcPr>
                </a:tc>
                <a:extLst>
                  <a:ext uri="{0D108BD9-81ED-4DB2-BD59-A6C34878D82A}">
                    <a16:rowId xmlns="" xmlns:a16="http://schemas.microsoft.com/office/drawing/2014/main" val="3371352792"/>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004320.OF</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前海开源沪港深乐享生活</a:t>
                      </a:r>
                    </a:p>
                  </a:txBody>
                  <a:tcPr marL="4991" marR="4991" marT="4991" marB="0" anchor="ctr">
                    <a:lnL>
                      <a:noFill/>
                    </a:lnL>
                    <a:lnR>
                      <a:noFill/>
                    </a:lnR>
                    <a:lnT>
                      <a:noFill/>
                    </a:lnT>
                    <a:lnB>
                      <a:noFill/>
                    </a:lnB>
                    <a:solidFill>
                      <a:srgbClr val="FFF2CC"/>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魏淳</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t>
                      </a:r>
                      <a:r>
                        <a:rPr lang="zh-CN" altLang="en-US" sz="800" b="0" i="0" u="none" strike="noStrike">
                          <a:solidFill>
                            <a:srgbClr val="000000"/>
                          </a:solidFill>
                          <a:effectLst/>
                          <a:latin typeface="华文中宋" panose="02010600040101010101" pitchFamily="2" charset="-122"/>
                          <a:ea typeface="华文中宋" panose="02010600040101010101" pitchFamily="2" charset="-122"/>
                        </a:rPr>
                        <a:t>梁策</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-8.8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5.7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81.4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106.4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385.2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497.6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271.4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122.1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10.5 </a:t>
                      </a:r>
                    </a:p>
                  </a:txBody>
                  <a:tcPr marL="4991" marR="4991" marT="4991" marB="0" anchor="ctr">
                    <a:lnL>
                      <a:noFill/>
                    </a:lnL>
                    <a:lnR>
                      <a:noFill/>
                    </a:lnR>
                    <a:lnT>
                      <a:noFill/>
                    </a:lnT>
                    <a:lnB>
                      <a:noFill/>
                    </a:lnB>
                    <a:solidFill>
                      <a:srgbClr val="FFF2CC"/>
                    </a:solidFill>
                  </a:tcPr>
                </a:tc>
                <a:extLst>
                  <a:ext uri="{0D108BD9-81ED-4DB2-BD59-A6C34878D82A}">
                    <a16:rowId xmlns="" xmlns:a16="http://schemas.microsoft.com/office/drawing/2014/main" val="1442426442"/>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000411.OF</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景顺长城优质成长</a:t>
                      </a:r>
                    </a:p>
                  </a:txBody>
                  <a:tcPr marL="4991" marR="4991" marT="4991" marB="0" anchor="ctr">
                    <a:lnL>
                      <a:noFill/>
                    </a:lnL>
                    <a:lnR>
                      <a:noFill/>
                    </a:lnR>
                    <a:lnT>
                      <a:noFill/>
                    </a:lnT>
                    <a:lnB>
                      <a:noFill/>
                    </a:lnB>
                    <a:solidFill>
                      <a:srgbClr val="FFF2CC"/>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张仲维</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-6.7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5.5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64.8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72.8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232.4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309.8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324.7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91.5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32.1 </a:t>
                      </a:r>
                    </a:p>
                  </a:txBody>
                  <a:tcPr marL="4991" marR="4991" marT="4991" marB="0" anchor="ctr">
                    <a:lnL>
                      <a:noFill/>
                    </a:lnL>
                    <a:lnR>
                      <a:noFill/>
                    </a:lnR>
                    <a:lnT>
                      <a:noFill/>
                    </a:lnT>
                    <a:lnB>
                      <a:noFill/>
                    </a:lnB>
                    <a:solidFill>
                      <a:srgbClr val="FFF2CC"/>
                    </a:solidFill>
                  </a:tcPr>
                </a:tc>
                <a:extLst>
                  <a:ext uri="{0D108BD9-81ED-4DB2-BD59-A6C34878D82A}">
                    <a16:rowId xmlns="" xmlns:a16="http://schemas.microsoft.com/office/drawing/2014/main" val="1694951453"/>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006751.OF</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富国互联科技股票型</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FFF2CC"/>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许炎</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-7.1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7.2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58.7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70.8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214.9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235.1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202.8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82.5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14.6 </a:t>
                      </a:r>
                    </a:p>
                  </a:txBody>
                  <a:tcPr marL="4991" marR="4991" marT="4991" marB="0" anchor="ctr">
                    <a:lnL>
                      <a:noFill/>
                    </a:lnL>
                    <a:lnR>
                      <a:noFill/>
                    </a:lnR>
                    <a:lnT>
                      <a:noFill/>
                    </a:lnT>
                    <a:lnB>
                      <a:noFill/>
                    </a:lnB>
                    <a:solidFill>
                      <a:srgbClr val="FFF2CC"/>
                    </a:solidFill>
                  </a:tcPr>
                </a:tc>
                <a:extLst>
                  <a:ext uri="{0D108BD9-81ED-4DB2-BD59-A6C34878D82A}">
                    <a16:rowId xmlns="" xmlns:a16="http://schemas.microsoft.com/office/drawing/2014/main" val="894846147"/>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023451.OF</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中欧信息科技</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FFF2CC"/>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杜厚良</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-10.1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7.6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68.8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78.2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269.9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0.0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0.0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0.0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0.0 </a:t>
                      </a:r>
                    </a:p>
                  </a:txBody>
                  <a:tcPr marL="4991" marR="4991" marT="4991" marB="0" anchor="ctr">
                    <a:lnL>
                      <a:noFill/>
                    </a:lnL>
                    <a:lnR>
                      <a:noFill/>
                    </a:lnR>
                    <a:lnT>
                      <a:noFill/>
                    </a:lnT>
                    <a:lnB>
                      <a:noFill/>
                    </a:lnB>
                    <a:solidFill>
                      <a:srgbClr val="FFF2CC"/>
                    </a:solidFill>
                  </a:tcPr>
                </a:tc>
                <a:extLst>
                  <a:ext uri="{0D108BD9-81ED-4DB2-BD59-A6C34878D82A}">
                    <a16:rowId xmlns="" xmlns:a16="http://schemas.microsoft.com/office/drawing/2014/main" val="3201883942"/>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001323.OF</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东吴移动互联网</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FFF2CC"/>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刘元海</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t>
                      </a:r>
                      <a:r>
                        <a:rPr lang="zh-CN" altLang="en-US" sz="800" b="0" i="0" u="none" strike="noStrike">
                          <a:solidFill>
                            <a:srgbClr val="000000"/>
                          </a:solidFill>
                          <a:effectLst/>
                          <a:latin typeface="华文中宋" panose="02010600040101010101" pitchFamily="2" charset="-122"/>
                          <a:ea typeface="华文中宋" panose="02010600040101010101" pitchFamily="2" charset="-122"/>
                        </a:rPr>
                        <a:t>应用</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-5.3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37.0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33.0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143.9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192.0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198.2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85.6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32.4 </a:t>
                      </a:r>
                    </a:p>
                  </a:txBody>
                  <a:tcPr marL="4991" marR="4991" marT="4991" marB="0" anchor="ctr">
                    <a:lnL>
                      <a:noFill/>
                    </a:lnL>
                    <a:lnR>
                      <a:noFill/>
                    </a:lnR>
                    <a:lnT>
                      <a:noFill/>
                    </a:lnT>
                    <a:lnB>
                      <a:noFill/>
                    </a:lnB>
                    <a:solidFill>
                      <a:srgbClr val="FFF2CC"/>
                    </a:solidFill>
                  </a:tcPr>
                </a:tc>
                <a:extLst>
                  <a:ext uri="{0D108BD9-81ED-4DB2-BD59-A6C34878D82A}">
                    <a16:rowId xmlns="" xmlns:a16="http://schemas.microsoft.com/office/drawing/2014/main" val="3627448584"/>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001513.OF</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易方达信息产业</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FFF2CC"/>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郑希</a:t>
                      </a:r>
                    </a:p>
                  </a:txBody>
                  <a:tcPr marL="4991" marR="4991" marT="4991" marB="0" anchor="ctr">
                    <a:lnL>
                      <a:noFill/>
                    </a:lnL>
                    <a:lnR>
                      <a:noFill/>
                    </a:lnR>
                    <a:lnT>
                      <a:noFill/>
                    </a:lnT>
                    <a:lnB>
                      <a:noFill/>
                    </a:lnB>
                    <a:solidFill>
                      <a:srgbClr val="FFF2CC"/>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-6.9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14.2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77.8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84.0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291.3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369.7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289.9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108.1 </a:t>
                      </a:r>
                    </a:p>
                  </a:txBody>
                  <a:tcPr marL="4991" marR="4991" marT="4991" marB="0" anchor="ctr">
                    <a:lnL>
                      <a:noFill/>
                    </a:lnL>
                    <a:lnR>
                      <a:noFill/>
                    </a:lnR>
                    <a:lnT>
                      <a:noFill/>
                    </a:lnT>
                    <a:lnB>
                      <a:noFill/>
                    </a:lnB>
                    <a:solidFill>
                      <a:srgbClr val="FFF2CC"/>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24.9 </a:t>
                      </a:r>
                    </a:p>
                  </a:txBody>
                  <a:tcPr marL="4991" marR="4991" marT="4991" marB="0" anchor="ctr">
                    <a:lnL>
                      <a:noFill/>
                    </a:lnL>
                    <a:lnR>
                      <a:noFill/>
                    </a:lnR>
                    <a:lnT>
                      <a:noFill/>
                    </a:lnT>
                    <a:lnB>
                      <a:noFill/>
                    </a:lnB>
                    <a:solidFill>
                      <a:srgbClr val="FFF2CC"/>
                    </a:solidFill>
                  </a:tcPr>
                </a:tc>
                <a:extLst>
                  <a:ext uri="{0D108BD9-81ED-4DB2-BD59-A6C34878D82A}">
                    <a16:rowId xmlns="" xmlns:a16="http://schemas.microsoft.com/office/drawing/2014/main" val="375785599"/>
                  </a:ext>
                </a:extLst>
              </a:tr>
              <a:tr h="318078">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931160.CSI</a:t>
                      </a:r>
                    </a:p>
                  </a:txBody>
                  <a:tcPr marL="4991" marR="4991" marT="4991" marB="0" anchor="ctr">
                    <a:lnL>
                      <a:noFill/>
                    </a:lnL>
                    <a:lnR>
                      <a:noFill/>
                    </a:lnR>
                    <a:lnT>
                      <a:noFill/>
                    </a:lnT>
                    <a:lnB>
                      <a:noFill/>
                    </a:lnB>
                    <a:solidFill>
                      <a:srgbClr val="FFFFFF"/>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中证全指通信设备</a:t>
                      </a:r>
                    </a:p>
                  </a:txBody>
                  <a:tcPr marL="4991" marR="4991" marT="4991" marB="0" anchor="ctr">
                    <a:lnL>
                      <a:noFill/>
                    </a:lnL>
                    <a:lnR>
                      <a:noFill/>
                    </a:lnR>
                    <a:lnT>
                      <a:noFill/>
                    </a:lnT>
                    <a:lnB>
                      <a:noFill/>
                    </a:lnB>
                    <a:solidFill>
                      <a:srgbClr val="FFFFFF"/>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海外算力</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t>
                      </a:r>
                      <a:r>
                        <a:rPr lang="zh-CN" altLang="en-US" sz="800" b="0" i="0" u="none" strike="noStrike">
                          <a:solidFill>
                            <a:srgbClr val="000000"/>
                          </a:solidFill>
                          <a:effectLst/>
                          <a:latin typeface="华文中宋" panose="02010600040101010101" pitchFamily="2" charset="-122"/>
                          <a:ea typeface="华文中宋" panose="02010600040101010101" pitchFamily="2" charset="-122"/>
                        </a:rPr>
                        <a:t>指数</a:t>
                      </a:r>
                    </a:p>
                  </a:txBody>
                  <a:tcPr marL="4991" marR="4991" marT="4991" marB="0" anchor="ctr">
                    <a:lnL>
                      <a:noFill/>
                    </a:lnL>
                    <a:lnR>
                      <a:noFill/>
                    </a:lnR>
                    <a:lnT>
                      <a:noFill/>
                    </a:lnT>
                    <a:lnB>
                      <a:noFill/>
                    </a:lnB>
                    <a:solidFill>
                      <a:srgbClr val="FFFFFF"/>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-10.3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-0.6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48.3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54.2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257.8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319.7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298.3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125.7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30.2 </a:t>
                      </a:r>
                    </a:p>
                  </a:txBody>
                  <a:tcPr marL="4991" marR="4991" marT="4991" marB="0" anchor="ctr">
                    <a:lnL>
                      <a:noFill/>
                    </a:lnL>
                    <a:lnR>
                      <a:noFill/>
                    </a:lnR>
                    <a:lnT>
                      <a:noFill/>
                    </a:lnT>
                    <a:lnB>
                      <a:noFill/>
                    </a:lnB>
                    <a:solidFill>
                      <a:srgbClr val="FFFFFF"/>
                    </a:solidFill>
                  </a:tcPr>
                </a:tc>
                <a:extLst>
                  <a:ext uri="{0D108BD9-81ED-4DB2-BD59-A6C34878D82A}">
                    <a16:rowId xmlns="" xmlns:a16="http://schemas.microsoft.com/office/drawing/2014/main" val="2475104078"/>
                  </a:ext>
                </a:extLst>
              </a:tr>
              <a:tr h="178639">
                <a:tc>
                  <a:txBody>
                    <a:bodyPr/>
                    <a:lstStyle/>
                    <a:p>
                      <a:pPr algn="ctr" fontAlgn="ctr"/>
                      <a:r>
                        <a:rPr lang="en-US" sz="700" b="0" i="0" u="none" strike="noStrike">
                          <a:solidFill>
                            <a:srgbClr val="C00000"/>
                          </a:solidFill>
                          <a:effectLst/>
                          <a:latin typeface="华文中宋" panose="02010600040101010101" pitchFamily="2" charset="-122"/>
                          <a:ea typeface="华文中宋" panose="02010600040101010101" pitchFamily="2" charset="-122"/>
                        </a:rPr>
                        <a:t>013840.OF</a:t>
                      </a:r>
                    </a:p>
                  </a:txBody>
                  <a:tcPr marL="4991" marR="4991" marT="4991" marB="0" anchor="ctr">
                    <a:lnL>
                      <a:noFill/>
                    </a:lnL>
                    <a:lnR>
                      <a:noFill/>
                    </a:lnR>
                    <a:lnT>
                      <a:noFill/>
                    </a:lnT>
                    <a:lnB>
                      <a:noFill/>
                    </a:lnB>
                    <a:solidFill>
                      <a:srgbClr val="D9E1F2"/>
                    </a:solidFill>
                  </a:tcPr>
                </a:tc>
                <a:tc>
                  <a:txBody>
                    <a:bodyPr/>
                    <a:lstStyle/>
                    <a:p>
                      <a:pPr algn="l"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银华集成电路</a:t>
                      </a:r>
                      <a:r>
                        <a:rPr lang="en-US" altLang="zh-CN" sz="800" b="0" i="0" u="none" strike="noStrike">
                          <a:solidFill>
                            <a:srgbClr val="C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方建</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国产算力</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-2.0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33.4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107.2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124.2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270.3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332.0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230.8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55.7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C00000"/>
                          </a:solidFill>
                          <a:effectLst/>
                          <a:latin typeface="华文中宋" panose="02010600040101010101" pitchFamily="2" charset="-122"/>
                          <a:ea typeface="华文中宋" panose="02010600040101010101" pitchFamily="2" charset="-122"/>
                        </a:rPr>
                        <a:t>11.0 </a:t>
                      </a:r>
                    </a:p>
                  </a:txBody>
                  <a:tcPr marL="4991" marR="4991" marT="4991" marB="0" anchor="ctr">
                    <a:lnL>
                      <a:noFill/>
                    </a:lnL>
                    <a:lnR>
                      <a:noFill/>
                    </a:lnR>
                    <a:lnT>
                      <a:noFill/>
                    </a:lnT>
                    <a:lnB>
                      <a:noFill/>
                    </a:lnB>
                    <a:solidFill>
                      <a:srgbClr val="D9E1F2"/>
                    </a:solidFill>
                  </a:tcPr>
                </a:tc>
                <a:extLst>
                  <a:ext uri="{0D108BD9-81ED-4DB2-BD59-A6C34878D82A}">
                    <a16:rowId xmlns="" xmlns:a16="http://schemas.microsoft.com/office/drawing/2014/main" val="235333667"/>
                  </a:ext>
                </a:extLst>
              </a:tr>
              <a:tr h="178639">
                <a:tc>
                  <a:txBody>
                    <a:bodyPr/>
                    <a:lstStyle/>
                    <a:p>
                      <a:pPr algn="ctr" fontAlgn="ctr"/>
                      <a:r>
                        <a:rPr lang="en-US" sz="700" b="0" i="0" u="none" strike="noStrike">
                          <a:solidFill>
                            <a:srgbClr val="C00000"/>
                          </a:solidFill>
                          <a:effectLst/>
                          <a:latin typeface="华文中宋" panose="02010600040101010101" pitchFamily="2" charset="-122"/>
                          <a:ea typeface="华文中宋" panose="02010600040101010101" pitchFamily="2" charset="-122"/>
                        </a:rPr>
                        <a:t>019632.OF</a:t>
                      </a:r>
                    </a:p>
                  </a:txBody>
                  <a:tcPr marL="4991" marR="4991" marT="4991" marB="0" anchor="ctr">
                    <a:lnL>
                      <a:noFill/>
                    </a:lnL>
                    <a:lnR>
                      <a:noFill/>
                    </a:lnR>
                    <a:lnT>
                      <a:noFill/>
                    </a:lnT>
                    <a:lnB>
                      <a:noFill/>
                    </a:lnB>
                    <a:solidFill>
                      <a:srgbClr val="D9E1F2"/>
                    </a:solidFill>
                  </a:tcPr>
                </a:tc>
                <a:tc>
                  <a:txBody>
                    <a:bodyPr/>
                    <a:lstStyle/>
                    <a:p>
                      <a:pPr algn="l"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国泰中证半导体材料设备</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C00000"/>
                          </a:solidFill>
                          <a:effectLst/>
                          <a:latin typeface="华文中宋" panose="02010600040101010101" pitchFamily="2" charset="-122"/>
                          <a:ea typeface="华文中宋" panose="02010600040101010101" pitchFamily="2" charset="-122"/>
                        </a:rPr>
                        <a:t>朱碧莹</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国产算力</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-1.2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41.0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103.6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113.7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222.1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265.4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0.0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47.9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C00000"/>
                          </a:solidFill>
                          <a:effectLst/>
                          <a:latin typeface="华文中宋" panose="02010600040101010101" pitchFamily="2" charset="-122"/>
                          <a:ea typeface="华文中宋" panose="02010600040101010101" pitchFamily="2" charset="-122"/>
                        </a:rPr>
                        <a:t>9.3 </a:t>
                      </a:r>
                    </a:p>
                  </a:txBody>
                  <a:tcPr marL="4991" marR="4991" marT="4991" marB="0" anchor="ctr">
                    <a:lnL>
                      <a:noFill/>
                    </a:lnL>
                    <a:lnR>
                      <a:noFill/>
                    </a:lnR>
                    <a:lnT>
                      <a:noFill/>
                    </a:lnT>
                    <a:lnB>
                      <a:noFill/>
                    </a:lnB>
                    <a:solidFill>
                      <a:srgbClr val="D9E1F2"/>
                    </a:solidFill>
                  </a:tcPr>
                </a:tc>
                <a:extLst>
                  <a:ext uri="{0D108BD9-81ED-4DB2-BD59-A6C34878D82A}">
                    <a16:rowId xmlns="" xmlns:a16="http://schemas.microsoft.com/office/drawing/2014/main" val="3635178139"/>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007343.OF</a:t>
                      </a:r>
                    </a:p>
                  </a:txBody>
                  <a:tcPr marL="4991" marR="4991" marT="4991" marB="0" anchor="ctr">
                    <a:lnL>
                      <a:noFill/>
                    </a:lnL>
                    <a:lnR>
                      <a:noFill/>
                    </a:lnR>
                    <a:lnT>
                      <a:noFill/>
                    </a:lnT>
                    <a:lnB>
                      <a:noFill/>
                    </a:lnB>
                    <a:solidFill>
                      <a:srgbClr val="D9E1F2"/>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嘉实科技创新</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王贵重</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国产算力</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-1.6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23.4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89.2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97.0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150.4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269.1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237.4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47.7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22.7 </a:t>
                      </a:r>
                    </a:p>
                  </a:txBody>
                  <a:tcPr marL="4991" marR="4991" marT="4991" marB="0" anchor="ctr">
                    <a:lnL>
                      <a:noFill/>
                    </a:lnL>
                    <a:lnR>
                      <a:noFill/>
                    </a:lnR>
                    <a:lnT>
                      <a:noFill/>
                    </a:lnT>
                    <a:lnB>
                      <a:noFill/>
                    </a:lnB>
                    <a:solidFill>
                      <a:srgbClr val="D9E1F2"/>
                    </a:solidFill>
                  </a:tcPr>
                </a:tc>
                <a:extLst>
                  <a:ext uri="{0D108BD9-81ED-4DB2-BD59-A6C34878D82A}">
                    <a16:rowId xmlns="" xmlns:a16="http://schemas.microsoft.com/office/drawing/2014/main" val="2722367575"/>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162214.OF</a:t>
                      </a:r>
                    </a:p>
                  </a:txBody>
                  <a:tcPr marL="4991" marR="4991" marT="4991" marB="0" anchor="ctr">
                    <a:lnL>
                      <a:noFill/>
                    </a:lnL>
                    <a:lnR>
                      <a:noFill/>
                    </a:lnR>
                    <a:lnT>
                      <a:noFill/>
                    </a:lnT>
                    <a:lnB>
                      <a:noFill/>
                    </a:lnB>
                    <a:solidFill>
                      <a:srgbClr val="D9E1F2"/>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宏利领先小盘</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张岩</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国产算力</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-0.9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40.1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105.8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110.2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229.1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286.6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218.7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51.6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13.2 </a:t>
                      </a:r>
                    </a:p>
                  </a:txBody>
                  <a:tcPr marL="4991" marR="4991" marT="4991" marB="0" anchor="ctr">
                    <a:lnL>
                      <a:noFill/>
                    </a:lnL>
                    <a:lnR>
                      <a:noFill/>
                    </a:lnR>
                    <a:lnT>
                      <a:noFill/>
                    </a:lnT>
                    <a:lnB>
                      <a:noFill/>
                    </a:lnB>
                    <a:solidFill>
                      <a:srgbClr val="D9E1F2"/>
                    </a:solidFill>
                  </a:tcPr>
                </a:tc>
                <a:extLst>
                  <a:ext uri="{0D108BD9-81ED-4DB2-BD59-A6C34878D82A}">
                    <a16:rowId xmlns="" xmlns:a16="http://schemas.microsoft.com/office/drawing/2014/main" val="2185159463"/>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008185.OF</a:t>
                      </a:r>
                    </a:p>
                  </a:txBody>
                  <a:tcPr marL="4991" marR="4991" marT="4991" marB="0" anchor="ctr">
                    <a:lnL>
                      <a:noFill/>
                    </a:lnL>
                    <a:lnR>
                      <a:noFill/>
                    </a:lnR>
                    <a:lnT>
                      <a:noFill/>
                    </a:lnT>
                    <a:lnB>
                      <a:noFill/>
                    </a:lnB>
                    <a:solidFill>
                      <a:srgbClr val="D9E1F2"/>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诺安研究优选</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邓心怡</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t>
                      </a:r>
                      <a:r>
                        <a:rPr lang="zh-CN" altLang="en-US" sz="800" b="0" i="0" u="none" strike="noStrike">
                          <a:solidFill>
                            <a:srgbClr val="000000"/>
                          </a:solidFill>
                          <a:effectLst/>
                          <a:latin typeface="华文中宋" panose="02010600040101010101" pitchFamily="2" charset="-122"/>
                          <a:ea typeface="华文中宋" panose="02010600040101010101" pitchFamily="2" charset="-122"/>
                        </a:rPr>
                        <a:t>周靖翔</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国产算力</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-4.1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19.2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73.1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69.5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213.2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172.6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112.7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87.2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-23.6 </a:t>
                      </a:r>
                    </a:p>
                  </a:txBody>
                  <a:tcPr marL="4991" marR="4991" marT="4991" marB="0" anchor="ctr">
                    <a:lnL>
                      <a:noFill/>
                    </a:lnL>
                    <a:lnR>
                      <a:noFill/>
                    </a:lnR>
                    <a:lnT>
                      <a:noFill/>
                    </a:lnT>
                    <a:lnB>
                      <a:noFill/>
                    </a:lnB>
                    <a:solidFill>
                      <a:srgbClr val="D9E1F2"/>
                    </a:solidFill>
                  </a:tcPr>
                </a:tc>
                <a:extLst>
                  <a:ext uri="{0D108BD9-81ED-4DB2-BD59-A6C34878D82A}">
                    <a16:rowId xmlns="" xmlns:a16="http://schemas.microsoft.com/office/drawing/2014/main" val="164717156"/>
                  </a:ext>
                </a:extLst>
              </a:tr>
              <a:tr h="318078">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014854.OF</a:t>
                      </a:r>
                    </a:p>
                  </a:txBody>
                  <a:tcPr marL="4991" marR="4991" marT="4991" marB="0" anchor="ctr">
                    <a:lnL>
                      <a:noFill/>
                    </a:lnL>
                    <a:lnR>
                      <a:noFill/>
                    </a:lnR>
                    <a:lnT>
                      <a:noFill/>
                    </a:lnT>
                    <a:lnB>
                      <a:noFill/>
                    </a:lnB>
                    <a:solidFill>
                      <a:srgbClr val="D9E1F2"/>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嘉实中证半导体指数增强发起式</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刘斌</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国产算力</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-2.4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30.7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92.1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95.0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218.3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296.3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221.6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62.2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20.2 </a:t>
                      </a:r>
                    </a:p>
                  </a:txBody>
                  <a:tcPr marL="4991" marR="4991" marT="4991" marB="0" anchor="ctr">
                    <a:lnL>
                      <a:noFill/>
                    </a:lnL>
                    <a:lnR>
                      <a:noFill/>
                    </a:lnR>
                    <a:lnT>
                      <a:noFill/>
                    </a:lnT>
                    <a:lnB>
                      <a:noFill/>
                    </a:lnB>
                    <a:solidFill>
                      <a:srgbClr val="D9E1F2"/>
                    </a:solidFill>
                  </a:tcPr>
                </a:tc>
                <a:extLst>
                  <a:ext uri="{0D108BD9-81ED-4DB2-BD59-A6C34878D82A}">
                    <a16:rowId xmlns="" xmlns:a16="http://schemas.microsoft.com/office/drawing/2014/main" val="1732433772"/>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019437.OF</a:t>
                      </a:r>
                    </a:p>
                  </a:txBody>
                  <a:tcPr marL="4991" marR="4991" marT="4991" marB="0" anchor="ctr">
                    <a:lnL>
                      <a:noFill/>
                    </a:lnL>
                    <a:lnR>
                      <a:noFill/>
                    </a:lnR>
                    <a:lnT>
                      <a:noFill/>
                    </a:lnT>
                    <a:lnB>
                      <a:noFill/>
                    </a:lnB>
                    <a:solidFill>
                      <a:srgbClr val="D9E1F2"/>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华商科创创业精选</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刘力</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国产算力</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1.4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33.9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94.2 </a:t>
                      </a:r>
                    </a:p>
                  </a:txBody>
                  <a:tcPr marL="4991" marR="4991" marT="4991" marB="0" anchor="ctr">
                    <a:lnL>
                      <a:noFill/>
                    </a:lnL>
                    <a:lnR>
                      <a:noFill/>
                    </a:lnR>
                    <a:lnT>
                      <a:noFill/>
                    </a:lnT>
                    <a:lnB>
                      <a:noFill/>
                    </a:lnB>
                    <a:solidFill>
                      <a:srgbClr val="D9E1F2"/>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108.9 </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　</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　</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　</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　</a:t>
                      </a:r>
                    </a:p>
                  </a:txBody>
                  <a:tcPr marL="4991" marR="4991" marT="4991" marB="0" anchor="ctr">
                    <a:lnL>
                      <a:noFill/>
                    </a:lnL>
                    <a:lnR>
                      <a:noFill/>
                    </a:lnR>
                    <a:lnT>
                      <a:noFill/>
                    </a:lnT>
                    <a:lnB>
                      <a:noFill/>
                    </a:lnB>
                    <a:solidFill>
                      <a:srgbClr val="D9E1F2"/>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　</a:t>
                      </a:r>
                    </a:p>
                  </a:txBody>
                  <a:tcPr marL="4991" marR="4991" marT="4991" marB="0" anchor="ctr">
                    <a:lnL>
                      <a:noFill/>
                    </a:lnL>
                    <a:lnR>
                      <a:noFill/>
                    </a:lnR>
                    <a:lnT>
                      <a:noFill/>
                    </a:lnT>
                    <a:lnB>
                      <a:noFill/>
                    </a:lnB>
                    <a:solidFill>
                      <a:srgbClr val="D9E1F2"/>
                    </a:solidFill>
                  </a:tcPr>
                </a:tc>
                <a:extLst>
                  <a:ext uri="{0D108BD9-81ED-4DB2-BD59-A6C34878D82A}">
                    <a16:rowId xmlns="" xmlns:a16="http://schemas.microsoft.com/office/drawing/2014/main" val="857766067"/>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931743.CSI</a:t>
                      </a:r>
                    </a:p>
                  </a:txBody>
                  <a:tcPr marL="4991" marR="4991" marT="4991" marB="0" anchor="ctr">
                    <a:lnL>
                      <a:noFill/>
                    </a:lnL>
                    <a:lnR>
                      <a:noFill/>
                    </a:lnR>
                    <a:lnT>
                      <a:noFill/>
                    </a:lnT>
                    <a:lnB>
                      <a:noFill/>
                    </a:lnB>
                    <a:solidFill>
                      <a:srgbClr val="FFFFFF"/>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中证半导体材料设备</a:t>
                      </a:r>
                    </a:p>
                  </a:txBody>
                  <a:tcPr marL="4991" marR="4991" marT="4991" marB="0" anchor="ctr">
                    <a:lnL>
                      <a:noFill/>
                    </a:lnL>
                    <a:lnR>
                      <a:noFill/>
                    </a:lnR>
                    <a:lnT>
                      <a:noFill/>
                    </a:lnT>
                    <a:lnB>
                      <a:noFill/>
                    </a:lnB>
                    <a:solidFill>
                      <a:srgbClr val="FFFFFF"/>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国产算力</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t>
                      </a:r>
                      <a:r>
                        <a:rPr lang="zh-CN" altLang="en-US" sz="800" b="0" i="0" u="none" strike="noStrike">
                          <a:solidFill>
                            <a:srgbClr val="000000"/>
                          </a:solidFill>
                          <a:effectLst/>
                          <a:latin typeface="华文中宋" panose="02010600040101010101" pitchFamily="2" charset="-122"/>
                          <a:ea typeface="华文中宋" panose="02010600040101010101" pitchFamily="2" charset="-122"/>
                        </a:rPr>
                        <a:t>指数</a:t>
                      </a:r>
                    </a:p>
                  </a:txBody>
                  <a:tcPr marL="4991" marR="4991" marT="4991" marB="0" anchor="ctr">
                    <a:lnL>
                      <a:noFill/>
                    </a:lnL>
                    <a:lnR>
                      <a:noFill/>
                    </a:lnR>
                    <a:lnT>
                      <a:noFill/>
                    </a:lnT>
                    <a:lnB>
                      <a:noFill/>
                    </a:lnB>
                    <a:solidFill>
                      <a:srgbClr val="FFFFFF"/>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-1.6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43.2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112.4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126.2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255.1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305.0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222.4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53.7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9.7 </a:t>
                      </a:r>
                    </a:p>
                  </a:txBody>
                  <a:tcPr marL="4991" marR="4991" marT="4991" marB="0" anchor="ctr">
                    <a:lnL>
                      <a:noFill/>
                    </a:lnL>
                    <a:lnR>
                      <a:noFill/>
                    </a:lnR>
                    <a:lnT>
                      <a:noFill/>
                    </a:lnT>
                    <a:lnB>
                      <a:noFill/>
                    </a:lnB>
                    <a:solidFill>
                      <a:srgbClr val="FFFFFF"/>
                    </a:solidFill>
                  </a:tcPr>
                </a:tc>
                <a:extLst>
                  <a:ext uri="{0D108BD9-81ED-4DB2-BD59-A6C34878D82A}">
                    <a16:rowId xmlns="" xmlns:a16="http://schemas.microsoft.com/office/drawing/2014/main" val="1632594582"/>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002164.OF</a:t>
                      </a:r>
                    </a:p>
                  </a:txBody>
                  <a:tcPr marL="4991" marR="4991" marT="4991" marB="0" anchor="ctr">
                    <a:lnL>
                      <a:noFill/>
                    </a:lnL>
                    <a:lnR>
                      <a:noFill/>
                    </a:lnR>
                    <a:lnT>
                      <a:noFill/>
                    </a:lnT>
                    <a:lnB>
                      <a:noFill/>
                    </a:lnB>
                    <a:solidFill>
                      <a:srgbClr val="B4C6E7"/>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汇添富新睿精选混合</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C</a:t>
                      </a:r>
                    </a:p>
                  </a:txBody>
                  <a:tcPr marL="4991" marR="4991" marT="4991" marB="0" anchor="ctr">
                    <a:lnL>
                      <a:noFill/>
                    </a:lnL>
                    <a:lnR>
                      <a:noFill/>
                    </a:lnR>
                    <a:lnT>
                      <a:noFill/>
                    </a:lnT>
                    <a:lnB>
                      <a:noFill/>
                    </a:lnB>
                    <a:solidFill>
                      <a:srgbClr val="B4C6E7"/>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花秀宁</a:t>
                      </a:r>
                    </a:p>
                  </a:txBody>
                  <a:tcPr marL="4991" marR="4991" marT="4991" marB="0" anchor="ctr">
                    <a:lnL>
                      <a:noFill/>
                    </a:lnL>
                    <a:lnR>
                      <a:noFill/>
                    </a:lnR>
                    <a:lnT>
                      <a:noFill/>
                    </a:lnT>
                    <a:lnB>
                      <a:noFill/>
                    </a:lnB>
                    <a:solidFill>
                      <a:srgbClr val="B4C6E7"/>
                    </a:solidFill>
                  </a:tcPr>
                </a:tc>
                <a:tc>
                  <a:txBody>
                    <a:bodyPr/>
                    <a:lstStyle/>
                    <a:p>
                      <a:pPr algn="ctr" fontAlgn="ctr"/>
                      <a:r>
                        <a:rPr lang="en-US" sz="800" b="0" i="0" u="none" strike="noStrike">
                          <a:solidFill>
                            <a:srgbClr val="000000"/>
                          </a:solidFill>
                          <a:effectLst/>
                          <a:latin typeface="华文中宋" panose="02010600040101010101" pitchFamily="2" charset="-122"/>
                          <a:ea typeface="华文中宋" panose="02010600040101010101" pitchFamily="2" charset="-122"/>
                        </a:rPr>
                        <a:t>AI</a:t>
                      </a:r>
                      <a:r>
                        <a:rPr lang="zh-CN" altLang="en-US" sz="800" b="0" i="0" u="none" strike="noStrike">
                          <a:solidFill>
                            <a:srgbClr val="000000"/>
                          </a:solidFill>
                          <a:effectLst/>
                          <a:latin typeface="华文中宋" panose="02010600040101010101" pitchFamily="2" charset="-122"/>
                          <a:ea typeface="华文中宋" panose="02010600040101010101" pitchFamily="2" charset="-122"/>
                        </a:rPr>
                        <a:t>电力</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-3.9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0.7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23.8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33.5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106.3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112.5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81.2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53.1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2.4 </a:t>
                      </a:r>
                    </a:p>
                  </a:txBody>
                  <a:tcPr marL="4991" marR="4991" marT="4991" marB="0" anchor="ctr">
                    <a:lnL>
                      <a:noFill/>
                    </a:lnL>
                    <a:lnR>
                      <a:noFill/>
                    </a:lnR>
                    <a:lnT>
                      <a:noFill/>
                    </a:lnT>
                    <a:lnB>
                      <a:noFill/>
                    </a:lnB>
                    <a:solidFill>
                      <a:srgbClr val="B4C6E7"/>
                    </a:solidFill>
                  </a:tcPr>
                </a:tc>
                <a:extLst>
                  <a:ext uri="{0D108BD9-81ED-4DB2-BD59-A6C34878D82A}">
                    <a16:rowId xmlns="" xmlns:a16="http://schemas.microsoft.com/office/drawing/2014/main" val="1284867851"/>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001664.OF</a:t>
                      </a:r>
                    </a:p>
                  </a:txBody>
                  <a:tcPr marL="4991" marR="4991" marT="4991" marB="0" anchor="ctr">
                    <a:lnL>
                      <a:noFill/>
                    </a:lnL>
                    <a:lnR>
                      <a:noFill/>
                    </a:lnR>
                    <a:lnT>
                      <a:noFill/>
                    </a:lnT>
                    <a:lnB>
                      <a:noFill/>
                    </a:lnB>
                    <a:solidFill>
                      <a:srgbClr val="B4C6E7"/>
                    </a:solidFill>
                  </a:tcPr>
                </a:tc>
                <a:tc>
                  <a:txBody>
                    <a:bodyPr/>
                    <a:lstStyle/>
                    <a:p>
                      <a:pPr algn="l" fontAlgn="ctr"/>
                      <a:r>
                        <a:rPr lang="pl-PL" sz="800" b="0" i="0" u="none" strike="noStrike">
                          <a:solidFill>
                            <a:srgbClr val="000000"/>
                          </a:solidFill>
                          <a:effectLst/>
                          <a:latin typeface="华文中宋" panose="02010600040101010101" pitchFamily="2" charset="-122"/>
                          <a:ea typeface="华文中宋" panose="02010600040101010101" pitchFamily="2" charset="-122"/>
                        </a:rPr>
                        <a:t>平安鑫安混合C</a:t>
                      </a:r>
                    </a:p>
                  </a:txBody>
                  <a:tcPr marL="4991" marR="4991" marT="4991" marB="0" anchor="ctr">
                    <a:lnL>
                      <a:noFill/>
                    </a:lnL>
                    <a:lnR>
                      <a:noFill/>
                    </a:lnR>
                    <a:lnT>
                      <a:noFill/>
                    </a:lnT>
                    <a:lnB>
                      <a:noFill/>
                    </a:lnB>
                    <a:solidFill>
                      <a:srgbClr val="B4C6E7"/>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林清源</a:t>
                      </a:r>
                    </a:p>
                  </a:txBody>
                  <a:tcPr marL="4991" marR="4991" marT="4991" marB="0" anchor="ctr">
                    <a:lnL>
                      <a:noFill/>
                    </a:lnL>
                    <a:lnR>
                      <a:noFill/>
                    </a:lnR>
                    <a:lnT>
                      <a:noFill/>
                    </a:lnT>
                    <a:lnB>
                      <a:noFill/>
                    </a:lnB>
                    <a:solidFill>
                      <a:srgbClr val="B4C6E7"/>
                    </a:solidFill>
                  </a:tcPr>
                </a:tc>
                <a:tc>
                  <a:txBody>
                    <a:bodyPr/>
                    <a:lstStyle/>
                    <a:p>
                      <a:pPr algn="ctr" fontAlgn="ctr"/>
                      <a:r>
                        <a:rPr lang="en-US" sz="800" b="0" i="0" u="none" strike="noStrike">
                          <a:solidFill>
                            <a:srgbClr val="000000"/>
                          </a:solidFill>
                          <a:effectLst/>
                          <a:latin typeface="华文中宋" panose="02010600040101010101" pitchFamily="2" charset="-122"/>
                          <a:ea typeface="华文中宋" panose="02010600040101010101" pitchFamily="2" charset="-122"/>
                        </a:rPr>
                        <a:t>AI</a:t>
                      </a:r>
                      <a:r>
                        <a:rPr lang="zh-CN" altLang="en-US" sz="800" b="0" i="0" u="none" strike="noStrike">
                          <a:solidFill>
                            <a:srgbClr val="000000"/>
                          </a:solidFill>
                          <a:effectLst/>
                          <a:latin typeface="华文中宋" panose="02010600040101010101" pitchFamily="2" charset="-122"/>
                          <a:ea typeface="华文中宋" panose="02010600040101010101" pitchFamily="2" charset="-122"/>
                        </a:rPr>
                        <a:t>电力</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-0.6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5.7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26.3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52.5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152.6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169.0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154.4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73.7 </a:t>
                      </a:r>
                    </a:p>
                  </a:txBody>
                  <a:tcPr marL="4991" marR="4991" marT="4991" marB="0" anchor="ctr">
                    <a:lnL>
                      <a:noFill/>
                    </a:lnL>
                    <a:lnR>
                      <a:noFill/>
                    </a:lnR>
                    <a:lnT>
                      <a:noFill/>
                    </a:lnT>
                    <a:lnB>
                      <a:noFill/>
                    </a:lnB>
                    <a:solidFill>
                      <a:srgbClr val="B4C6E7"/>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0.9 </a:t>
                      </a:r>
                    </a:p>
                  </a:txBody>
                  <a:tcPr marL="4991" marR="4991" marT="4991" marB="0" anchor="ctr">
                    <a:lnL>
                      <a:noFill/>
                    </a:lnL>
                    <a:lnR>
                      <a:noFill/>
                    </a:lnR>
                    <a:lnT>
                      <a:noFill/>
                    </a:lnT>
                    <a:lnB>
                      <a:noFill/>
                    </a:lnB>
                    <a:solidFill>
                      <a:srgbClr val="B4C6E7"/>
                    </a:solidFill>
                  </a:tcPr>
                </a:tc>
                <a:extLst>
                  <a:ext uri="{0D108BD9-81ED-4DB2-BD59-A6C34878D82A}">
                    <a16:rowId xmlns="" xmlns:a16="http://schemas.microsoft.com/office/drawing/2014/main" val="578863937"/>
                  </a:ext>
                </a:extLst>
              </a:tr>
              <a:tr h="178639">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931994.CSI</a:t>
                      </a:r>
                    </a:p>
                  </a:txBody>
                  <a:tcPr marL="4991" marR="4991" marT="4991" marB="0" anchor="ctr">
                    <a:lnL>
                      <a:noFill/>
                    </a:lnL>
                    <a:lnR>
                      <a:noFill/>
                    </a:lnR>
                    <a:lnT>
                      <a:noFill/>
                    </a:lnT>
                    <a:lnB>
                      <a:noFill/>
                    </a:lnB>
                    <a:solidFill>
                      <a:srgbClr val="FFFFFF"/>
                    </a:solidFill>
                  </a:tcPr>
                </a:tc>
                <a:tc>
                  <a:txBody>
                    <a:bodyPr/>
                    <a:lstStyle/>
                    <a:p>
                      <a:pPr algn="l"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中证电网设备</a:t>
                      </a:r>
                    </a:p>
                  </a:txBody>
                  <a:tcPr marL="4991" marR="4991" marT="4991" marB="0" anchor="ctr">
                    <a:lnL>
                      <a:noFill/>
                    </a:lnL>
                    <a:lnR>
                      <a:noFill/>
                    </a:lnR>
                    <a:lnT>
                      <a:noFill/>
                    </a:lnT>
                    <a:lnB>
                      <a:noFill/>
                    </a:lnB>
                    <a:solidFill>
                      <a:srgbClr val="FFFFFF"/>
                    </a:solidFill>
                  </a:tcPr>
                </a:tc>
                <a:tc>
                  <a:txBody>
                    <a:bodyPr/>
                    <a:lstStyle/>
                    <a:p>
                      <a:pPr algn="ctr" fontAlgn="ctr"/>
                      <a:r>
                        <a:rPr lang="en-US" sz="800" b="0" i="0" u="none" strike="noStrike">
                          <a:solidFill>
                            <a:srgbClr val="000000"/>
                          </a:solidFill>
                          <a:effectLst/>
                          <a:latin typeface="华文中宋" panose="02010600040101010101" pitchFamily="2" charset="-122"/>
                          <a:ea typeface="华文中宋" panose="02010600040101010101" pitchFamily="2" charset="-122"/>
                        </a:rPr>
                        <a:t>AI</a:t>
                      </a:r>
                      <a:r>
                        <a:rPr lang="zh-CN" altLang="en-US" sz="800" b="0" i="0" u="none" strike="noStrike">
                          <a:solidFill>
                            <a:srgbClr val="000000"/>
                          </a:solidFill>
                          <a:effectLst/>
                          <a:latin typeface="华文中宋" panose="02010600040101010101" pitchFamily="2" charset="-122"/>
                          <a:ea typeface="华文中宋" panose="02010600040101010101" pitchFamily="2" charset="-122"/>
                        </a:rPr>
                        <a:t>电力</a:t>
                      </a:r>
                      <a:r>
                        <a:rPr lang="en-US" altLang="zh-CN" sz="800" b="0" i="0" u="none" strike="noStrike">
                          <a:solidFill>
                            <a:srgbClr val="000000"/>
                          </a:solidFill>
                          <a:effectLst/>
                          <a:latin typeface="华文中宋" panose="02010600040101010101" pitchFamily="2" charset="-122"/>
                          <a:ea typeface="华文中宋" panose="02010600040101010101" pitchFamily="2" charset="-122"/>
                        </a:rPr>
                        <a:t>-</a:t>
                      </a:r>
                      <a:r>
                        <a:rPr lang="zh-CN" altLang="en-US" sz="800" b="0" i="0" u="none" strike="noStrike">
                          <a:solidFill>
                            <a:srgbClr val="000000"/>
                          </a:solidFill>
                          <a:effectLst/>
                          <a:latin typeface="华文中宋" panose="02010600040101010101" pitchFamily="2" charset="-122"/>
                          <a:ea typeface="华文中宋" panose="02010600040101010101" pitchFamily="2" charset="-122"/>
                        </a:rPr>
                        <a:t>指数</a:t>
                      </a:r>
                    </a:p>
                  </a:txBody>
                  <a:tcPr marL="4991" marR="4991" marT="4991" marB="0" anchor="ctr">
                    <a:lnL>
                      <a:noFill/>
                    </a:lnL>
                    <a:lnR>
                      <a:noFill/>
                    </a:lnR>
                    <a:lnT>
                      <a:noFill/>
                    </a:lnT>
                    <a:lnB>
                      <a:noFill/>
                    </a:lnB>
                    <a:solidFill>
                      <a:srgbClr val="FFFFFF"/>
                    </a:solidFill>
                  </a:tcPr>
                </a:tc>
                <a:tc>
                  <a:txBody>
                    <a:bodyPr/>
                    <a:lstStyle/>
                    <a:p>
                      <a:pPr algn="ctr" fontAlgn="ctr"/>
                      <a:r>
                        <a:rPr lang="zh-CN" altLang="en-US" sz="800" b="0" i="0" u="none" strike="noStrike">
                          <a:solidFill>
                            <a:srgbClr val="000000"/>
                          </a:solidFill>
                          <a:effectLst/>
                          <a:latin typeface="华文中宋" panose="02010600040101010101" pitchFamily="2" charset="-122"/>
                          <a:ea typeface="华文中宋" panose="02010600040101010101" pitchFamily="2" charset="-122"/>
                        </a:rPr>
                        <a:t>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-6.4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-5.6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5.7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31.5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82.6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80.1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81.4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a:solidFill>
                            <a:srgbClr val="000000"/>
                          </a:solidFill>
                          <a:effectLst/>
                          <a:latin typeface="华文中宋" panose="02010600040101010101" pitchFamily="2" charset="-122"/>
                          <a:ea typeface="华文中宋" panose="02010600040101010101" pitchFamily="2" charset="-122"/>
                        </a:rPr>
                        <a:t>32.5 </a:t>
                      </a:r>
                    </a:p>
                  </a:txBody>
                  <a:tcPr marL="4991" marR="4991" marT="4991" marB="0" anchor="ctr">
                    <a:lnL>
                      <a:noFill/>
                    </a:lnL>
                    <a:lnR>
                      <a:noFill/>
                    </a:lnR>
                    <a:lnT>
                      <a:noFill/>
                    </a:lnT>
                    <a:lnB>
                      <a:noFill/>
                    </a:lnB>
                    <a:solidFill>
                      <a:srgbClr val="FFFFFF"/>
                    </a:solidFill>
                  </a:tcPr>
                </a:tc>
                <a:tc>
                  <a:txBody>
                    <a:bodyPr/>
                    <a:lstStyle/>
                    <a:p>
                      <a:pPr algn="ctr" fontAlgn="ctr"/>
                      <a:r>
                        <a:rPr lang="en-US" altLang="zh-CN" sz="800" b="0" i="0" u="none" strike="noStrike" dirty="0">
                          <a:solidFill>
                            <a:srgbClr val="000000"/>
                          </a:solidFill>
                          <a:effectLst/>
                          <a:latin typeface="华文中宋" panose="02010600040101010101" pitchFamily="2" charset="-122"/>
                          <a:ea typeface="华文中宋" panose="02010600040101010101" pitchFamily="2" charset="-122"/>
                        </a:rPr>
                        <a:t>11.1 </a:t>
                      </a:r>
                    </a:p>
                  </a:txBody>
                  <a:tcPr marL="4991" marR="4991" marT="4991" marB="0" anchor="ctr">
                    <a:lnL>
                      <a:noFill/>
                    </a:lnL>
                    <a:lnR>
                      <a:noFill/>
                    </a:lnR>
                    <a:lnT>
                      <a:noFill/>
                    </a:lnT>
                    <a:lnB>
                      <a:noFill/>
                    </a:lnB>
                    <a:solidFill>
                      <a:srgbClr val="FFFFFF"/>
                    </a:solidFill>
                  </a:tcPr>
                </a:tc>
                <a:extLst>
                  <a:ext uri="{0D108BD9-81ED-4DB2-BD59-A6C34878D82A}">
                    <a16:rowId xmlns="" xmlns:a16="http://schemas.microsoft.com/office/drawing/2014/main" val="1876170027"/>
                  </a:ext>
                </a:extLst>
              </a:tr>
            </a:tbl>
          </a:graphicData>
        </a:graphic>
      </p:graphicFrame>
    </p:spTree>
    <p:extLst>
      <p:ext uri="{BB962C8B-B14F-4D97-AF65-F5344CB8AC3E}">
        <p14:creationId xmlns:p14="http://schemas.microsoft.com/office/powerpoint/2010/main" val="665984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6FA07A6-1E24-CEE9-4035-BE3F364BBE97}"/>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2D68807E-A2D7-AE48-C7EC-D851AF334939}"/>
              </a:ext>
            </a:extLst>
          </p:cNvPr>
          <p:cNvSpPr/>
          <p:nvPr/>
        </p:nvSpPr>
        <p:spPr>
          <a:xfrm>
            <a:off x="381000" y="364669"/>
            <a:ext cx="76200"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Box 2">
            <a:extLst>
              <a:ext uri="{FF2B5EF4-FFF2-40B4-BE49-F238E27FC236}">
                <a16:creationId xmlns="" xmlns:a16="http://schemas.microsoft.com/office/drawing/2014/main" id="{9FF20308-DC84-C8F4-9335-3CAA1D41E12D}"/>
              </a:ext>
            </a:extLst>
          </p:cNvPr>
          <p:cNvSpPr txBox="1"/>
          <p:nvPr/>
        </p:nvSpPr>
        <p:spPr>
          <a:xfrm>
            <a:off x="630264" y="293907"/>
            <a:ext cx="10980711" cy="527961"/>
          </a:xfrm>
          <a:prstGeom prst="rect">
            <a:avLst/>
          </a:prstGeom>
          <a:noFill/>
        </p:spPr>
        <p:txBody>
          <a:bodyPr wrap="square"/>
          <a:lstStyle/>
          <a:p>
            <a:pPr marL="0" marR="0" lvl="0" indent="0" algn="l" defTabSz="685800" rtl="0" eaLnBrk="1" fontAlgn="auto" latinLnBrk="0" hangingPunct="1">
              <a:lnSpc>
                <a:spcPct val="120000"/>
              </a:lnSpc>
              <a:spcBef>
                <a:spcPts val="0"/>
              </a:spcBef>
              <a:spcAft>
                <a:spcPts val="0"/>
              </a:spcAft>
              <a:buClrTx/>
              <a:buSzTx/>
              <a:buFontTx/>
              <a:buNone/>
              <a:tabLst/>
              <a:defRPr sz="2800" b="1">
                <a:solidFill>
                  <a:srgbClr val="1A3C6E"/>
                </a:solidFill>
                <a:latin typeface="微软雅黑" panose="020B0503020204020204" charset="-122"/>
              </a:defRPr>
            </a:pPr>
            <a:r>
              <a:rPr kumimoji="0" lang="zh-CN" altLang="en-US" sz="2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附：指增备选基金池（产业趋势）</a:t>
            </a:r>
          </a:p>
        </p:txBody>
      </p:sp>
      <p:sp>
        <p:nvSpPr>
          <p:cNvPr id="49" name="TextBox 3">
            <a:extLst>
              <a:ext uri="{FF2B5EF4-FFF2-40B4-BE49-F238E27FC236}">
                <a16:creationId xmlns="" xmlns:a16="http://schemas.microsoft.com/office/drawing/2014/main" id="{08D40E28-A777-DF95-F7DB-82BE600CAB76}"/>
              </a:ext>
            </a:extLst>
          </p:cNvPr>
          <p:cNvSpPr txBox="1"/>
          <p:nvPr/>
        </p:nvSpPr>
        <p:spPr>
          <a:xfrm>
            <a:off x="609600" y="734254"/>
            <a:ext cx="10500000" cy="266700"/>
          </a:xfrm>
          <a:prstGeom prst="rect">
            <a:avLst/>
          </a:prstGeom>
          <a:noFill/>
        </p:spPr>
        <p:txBody>
          <a:bodyPr wrap="square"/>
          <a:lstStyle/>
          <a:p>
            <a:pPr marL="0" marR="0" lvl="0" indent="0" algn="l" defTabSz="685800" rtl="0" eaLnBrk="1" fontAlgn="auto" latinLnBrk="0" hangingPunct="1">
              <a:lnSpc>
                <a:spcPct val="120000"/>
              </a:lnSpc>
              <a:spcBef>
                <a:spcPts val="0"/>
              </a:spcBef>
              <a:spcAft>
                <a:spcPts val="0"/>
              </a:spcAft>
              <a:buClrTx/>
              <a:buSzTx/>
              <a:buFontTx/>
              <a:buNone/>
              <a:tabLst/>
              <a:defRPr sz="1600" b="0">
                <a:solidFill>
                  <a:srgbClr val="666666"/>
                </a:solidFill>
                <a:latin typeface="微软雅黑" panose="020B0503020204020204" charset="-122"/>
              </a:defRPr>
            </a:pPr>
            <a:r>
              <a:rPr kumimoji="0" lang="zh-CN" altLang="en-US"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rPr>
              <a:t>产业趋势是增值配置中提升客户获得感的重要工具</a:t>
            </a:r>
            <a:endParaRPr kumimoji="0" sz="1200" b="0" i="0" u="none" strike="noStrike" kern="1200" cap="none" spc="0" normalizeH="0" baseline="0" noProof="0" dirty="0">
              <a:ln>
                <a:noFill/>
              </a:ln>
              <a:solidFill>
                <a:srgbClr val="666666"/>
              </a:solidFill>
              <a:effectLst/>
              <a:uLnTx/>
              <a:uFillTx/>
              <a:latin typeface="华文中宋" panose="02010600040101010101" pitchFamily="2" charset="-122"/>
              <a:ea typeface="华文中宋" panose="02010600040101010101" pitchFamily="2" charset="-122"/>
              <a:cs typeface="+mn-cs"/>
            </a:endParaRPr>
          </a:p>
        </p:txBody>
      </p:sp>
      <p:sp>
        <p:nvSpPr>
          <p:cNvPr id="76" name="矩形 4">
            <a:extLst>
              <a:ext uri="{FF2B5EF4-FFF2-40B4-BE49-F238E27FC236}">
                <a16:creationId xmlns="" xmlns:a16="http://schemas.microsoft.com/office/drawing/2014/main" id="{6F42EDEF-E605-B212-782D-5227FB8A9F69}"/>
              </a:ext>
            </a:extLst>
          </p:cNvPr>
          <p:cNvSpPr/>
          <p:nvPr/>
        </p:nvSpPr>
        <p:spPr>
          <a:xfrm>
            <a:off x="150794" y="6402450"/>
            <a:ext cx="11272674" cy="246862"/>
          </a:xfrm>
          <a:prstGeom prst="rect">
            <a:avLst/>
          </a:prstGeom>
        </p:spPr>
        <p:txBody>
          <a:bodyPr wrap="square">
            <a:spAutoFit/>
          </a:bodyPr>
          <a:lstStyle/>
          <a:p>
            <a:pPr marL="0" marR="0" lvl="0" indent="0" algn="l" defTabSz="609608" rtl="0" eaLnBrk="1" fontAlgn="auto" latinLnBrk="0" hangingPunct="1">
              <a:lnSpc>
                <a:spcPct val="100000"/>
              </a:lnSpc>
              <a:spcBef>
                <a:spcPts val="0"/>
              </a:spcBef>
              <a:spcAft>
                <a:spcPts val="0"/>
              </a:spcAft>
              <a:buClrTx/>
              <a:buSzTx/>
              <a:buFontTx/>
              <a:buNone/>
              <a:tabLst/>
              <a:defRPr/>
            </a:pP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注：数据来源</a:t>
            </a:r>
            <a:r>
              <a:rPr lang="en-US" altLang="zh-CN" sz="1004" dirty="0" err="1">
                <a:solidFill>
                  <a:prstClr val="black"/>
                </a:solidFill>
                <a:latin typeface="微软雅黑" panose="020B0503020204020204" pitchFamily="34" charset="-122"/>
                <a:ea typeface="微软雅黑" panose="020B0503020204020204" pitchFamily="34" charset="-122"/>
              </a:rPr>
              <a:t>ifind</a:t>
            </a:r>
            <a:r>
              <a:rPr lang="zh-CN" altLang="en-US" sz="1004" dirty="0">
                <a:solidFill>
                  <a:prstClr val="black"/>
                </a:solidFill>
                <a:latin typeface="微软雅黑" panose="020B0503020204020204" pitchFamily="34" charset="-122"/>
                <a:ea typeface="微软雅黑" panose="020B0503020204020204" pitchFamily="34" charset="-122"/>
              </a:rPr>
              <a:t>，历史业绩不代表未来，历史业绩仅供参考</a:t>
            </a:r>
            <a:endParaRPr kumimoji="0" lang="en-US" altLang="zh-CN" sz="1004"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nvGrpSpPr>
          <p:cNvPr id="318" name="组合 317">
            <a:extLst>
              <a:ext uri="{FF2B5EF4-FFF2-40B4-BE49-F238E27FC236}">
                <a16:creationId xmlns="" xmlns:a16="http://schemas.microsoft.com/office/drawing/2014/main" id="{D277049C-3453-3F7D-12D7-A14D3F46D0C0}"/>
              </a:ext>
            </a:extLst>
          </p:cNvPr>
          <p:cNvGrpSpPr/>
          <p:nvPr/>
        </p:nvGrpSpPr>
        <p:grpSpPr>
          <a:xfrm>
            <a:off x="380999" y="1262215"/>
            <a:ext cx="11523133" cy="4961149"/>
            <a:chOff x="280416" y="1244991"/>
            <a:chExt cx="15402152" cy="7254240"/>
          </a:xfrm>
        </p:grpSpPr>
        <p:sp>
          <p:nvSpPr>
            <p:cNvPr id="4" name="Rounded Rectangle 3">
              <a:extLst>
                <a:ext uri="{FF2B5EF4-FFF2-40B4-BE49-F238E27FC236}">
                  <a16:creationId xmlns="" xmlns:a16="http://schemas.microsoft.com/office/drawing/2014/main" id="{3A7D99AE-F7AB-7192-8156-8CCE0FB4379C}"/>
                </a:ext>
              </a:extLst>
            </p:cNvPr>
            <p:cNvSpPr/>
            <p:nvPr/>
          </p:nvSpPr>
          <p:spPr>
            <a:xfrm>
              <a:off x="280416" y="1244991"/>
              <a:ext cx="2963387" cy="7254240"/>
            </a:xfrm>
            <a:prstGeom prst="roundRect">
              <a:avLst/>
            </a:prstGeom>
            <a:solidFill>
              <a:srgbClr val="FFFFFF"/>
            </a:solidFill>
            <a:ln w="1143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 name="Rectangle 4">
              <a:extLst>
                <a:ext uri="{FF2B5EF4-FFF2-40B4-BE49-F238E27FC236}">
                  <a16:creationId xmlns="" xmlns:a16="http://schemas.microsoft.com/office/drawing/2014/main" id="{BE875119-6C7B-D612-731D-FF4BA9662965}"/>
                </a:ext>
              </a:extLst>
            </p:cNvPr>
            <p:cNvSpPr/>
            <p:nvPr/>
          </p:nvSpPr>
          <p:spPr>
            <a:xfrm>
              <a:off x="280416" y="1244991"/>
              <a:ext cx="2963387" cy="60960"/>
            </a:xfrm>
            <a:prstGeom prst="rect">
              <a:avLst/>
            </a:prstGeom>
            <a:solidFill>
              <a:srgbClr val="EF7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TextBox 5">
              <a:extLst>
                <a:ext uri="{FF2B5EF4-FFF2-40B4-BE49-F238E27FC236}">
                  <a16:creationId xmlns="" xmlns:a16="http://schemas.microsoft.com/office/drawing/2014/main" id="{12C2A2E6-ECD2-D044-C666-B1DA032EE090}"/>
                </a:ext>
              </a:extLst>
            </p:cNvPr>
            <p:cNvSpPr txBox="1"/>
            <p:nvPr/>
          </p:nvSpPr>
          <p:spPr>
            <a:xfrm>
              <a:off x="402337" y="1354719"/>
              <a:ext cx="2719547" cy="385284"/>
            </a:xfrm>
            <a:prstGeom prst="rect">
              <a:avLst/>
            </a:prstGeom>
            <a:noFill/>
          </p:spPr>
          <p:txBody>
            <a:bodyPr wrap="square" anchor="t">
              <a:spAutoFit/>
            </a:bodyPr>
            <a:lstStyle/>
            <a:p>
              <a:pPr algn="ctr"/>
              <a:r>
                <a:rPr sz="1100" b="1">
                  <a:solidFill>
                    <a:srgbClr val="16325C"/>
                  </a:solidFill>
                  <a:latin typeface="Microsoft YaHei"/>
                </a:rPr>
                <a:t>科创创业AI</a:t>
              </a:r>
            </a:p>
          </p:txBody>
        </p:sp>
        <p:sp>
          <p:nvSpPr>
            <p:cNvPr id="7" name="TextBox 6">
              <a:extLst>
                <a:ext uri="{FF2B5EF4-FFF2-40B4-BE49-F238E27FC236}">
                  <a16:creationId xmlns="" xmlns:a16="http://schemas.microsoft.com/office/drawing/2014/main" id="{4D608CED-F3C9-F846-0249-00AB005142B3}"/>
                </a:ext>
              </a:extLst>
            </p:cNvPr>
            <p:cNvSpPr txBox="1"/>
            <p:nvPr/>
          </p:nvSpPr>
          <p:spPr>
            <a:xfrm>
              <a:off x="377952" y="1574176"/>
              <a:ext cx="2768315" cy="294630"/>
            </a:xfrm>
            <a:prstGeom prst="rect">
              <a:avLst/>
            </a:prstGeom>
            <a:noFill/>
          </p:spPr>
          <p:txBody>
            <a:bodyPr wrap="square" anchor="t">
              <a:spAutoFit/>
            </a:bodyPr>
            <a:lstStyle/>
            <a:p>
              <a:pPr algn="ctr"/>
              <a:r>
                <a:rPr sz="700">
                  <a:solidFill>
                    <a:srgbClr val="666666"/>
                  </a:solidFill>
                  <a:latin typeface="Microsoft YaHei"/>
                </a:rPr>
                <a:t>932456.CSI</a:t>
              </a:r>
            </a:p>
          </p:txBody>
        </p:sp>
        <p:sp>
          <p:nvSpPr>
            <p:cNvPr id="8" name="Rectangle 8">
              <a:extLst>
                <a:ext uri="{FF2B5EF4-FFF2-40B4-BE49-F238E27FC236}">
                  <a16:creationId xmlns="" xmlns:a16="http://schemas.microsoft.com/office/drawing/2014/main" id="{6E1B6B38-ED69-FA5C-FE21-3EAD788BD0A4}"/>
                </a:ext>
              </a:extLst>
            </p:cNvPr>
            <p:cNvSpPr/>
            <p:nvPr/>
          </p:nvSpPr>
          <p:spPr>
            <a:xfrm>
              <a:off x="402336" y="2135008"/>
              <a:ext cx="2719547" cy="9753"/>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 name="Rounded Rectangle 9">
              <a:extLst>
                <a:ext uri="{FF2B5EF4-FFF2-40B4-BE49-F238E27FC236}">
                  <a16:creationId xmlns="" xmlns:a16="http://schemas.microsoft.com/office/drawing/2014/main" id="{D25A4AE9-6DBE-672C-6ABD-68600E09DEE5}"/>
                </a:ext>
              </a:extLst>
            </p:cNvPr>
            <p:cNvSpPr/>
            <p:nvPr/>
          </p:nvSpPr>
          <p:spPr>
            <a:xfrm>
              <a:off x="377952" y="2256927"/>
              <a:ext cx="1286621" cy="633984"/>
            </a:xfrm>
            <a:prstGeom prst="roundRect">
              <a:avLst/>
            </a:prstGeom>
            <a:solidFill>
              <a:srgbClr val="F8FAFC"/>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a:solidFill>
                    <a:srgbClr val="666666"/>
                  </a:solidFill>
                  <a:latin typeface="Microsoft YaHei"/>
                </a:rPr>
                <a:t>近1年收益</a:t>
              </a:r>
            </a:p>
            <a:p>
              <a:pPr algn="ctr"/>
              <a:r>
                <a:rPr sz="1050" b="1">
                  <a:solidFill>
                    <a:srgbClr val="EF7C44"/>
                  </a:solidFill>
                  <a:latin typeface="Microsoft YaHei"/>
                </a:rPr>
                <a:t>171.65%</a:t>
              </a:r>
            </a:p>
          </p:txBody>
        </p:sp>
        <p:sp>
          <p:nvSpPr>
            <p:cNvPr id="10" name="Rounded Rectangle 10">
              <a:extLst>
                <a:ext uri="{FF2B5EF4-FFF2-40B4-BE49-F238E27FC236}">
                  <a16:creationId xmlns="" xmlns:a16="http://schemas.microsoft.com/office/drawing/2014/main" id="{2FA016D5-7B23-ABF4-7A4C-0A28C53086E8}"/>
                </a:ext>
              </a:extLst>
            </p:cNvPr>
            <p:cNvSpPr/>
            <p:nvPr/>
          </p:nvSpPr>
          <p:spPr>
            <a:xfrm>
              <a:off x="1762110" y="2256927"/>
              <a:ext cx="1286621" cy="633984"/>
            </a:xfrm>
            <a:prstGeom prst="roundRect">
              <a:avLst/>
            </a:prstGeom>
            <a:solidFill>
              <a:srgbClr val="F8FAFC"/>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a:solidFill>
                    <a:srgbClr val="666666"/>
                  </a:solidFill>
                  <a:latin typeface="Microsoft YaHei"/>
                </a:rPr>
                <a:t>近1年最大回撤</a:t>
              </a:r>
            </a:p>
            <a:p>
              <a:pPr algn="ctr"/>
              <a:r>
                <a:rPr sz="1050" b="1">
                  <a:solidFill>
                    <a:srgbClr val="EF7C44"/>
                  </a:solidFill>
                  <a:latin typeface="Microsoft YaHei"/>
                </a:rPr>
                <a:t>16.68%</a:t>
              </a:r>
            </a:p>
          </p:txBody>
        </p:sp>
        <p:sp>
          <p:nvSpPr>
            <p:cNvPr id="11" name="TextBox 24">
              <a:extLst>
                <a:ext uri="{FF2B5EF4-FFF2-40B4-BE49-F238E27FC236}">
                  <a16:creationId xmlns="" xmlns:a16="http://schemas.microsoft.com/office/drawing/2014/main" id="{617C2287-38F6-15F6-648D-63635A62850A}"/>
                </a:ext>
              </a:extLst>
            </p:cNvPr>
            <p:cNvSpPr txBox="1"/>
            <p:nvPr/>
          </p:nvSpPr>
          <p:spPr>
            <a:xfrm>
              <a:off x="402337" y="3975999"/>
              <a:ext cx="2719547" cy="362620"/>
            </a:xfrm>
            <a:prstGeom prst="rect">
              <a:avLst/>
            </a:prstGeom>
            <a:noFill/>
          </p:spPr>
          <p:txBody>
            <a:bodyPr wrap="square" anchor="t">
              <a:spAutoFit/>
            </a:bodyPr>
            <a:lstStyle/>
            <a:p>
              <a:pPr algn="ctr"/>
              <a:r>
                <a:rPr sz="1000" b="1">
                  <a:solidFill>
                    <a:srgbClr val="16325C"/>
                  </a:solidFill>
                  <a:latin typeface="微软雅黑" panose="020B0503020204020204" pitchFamily="34" charset="-122"/>
                  <a:ea typeface="微软雅黑" panose="020B0503020204020204" pitchFamily="34" charset="-122"/>
                </a:rPr>
                <a:t>前十大重仓股配比</a:t>
              </a:r>
            </a:p>
          </p:txBody>
        </p:sp>
        <p:sp>
          <p:nvSpPr>
            <p:cNvPr id="12" name="Rounded Rectangle 36">
              <a:extLst>
                <a:ext uri="{FF2B5EF4-FFF2-40B4-BE49-F238E27FC236}">
                  <a16:creationId xmlns="" xmlns:a16="http://schemas.microsoft.com/office/drawing/2014/main" id="{537051BB-93EE-258F-B96B-95CD2D1E32CF}"/>
                </a:ext>
              </a:extLst>
            </p:cNvPr>
            <p:cNvSpPr/>
            <p:nvPr/>
          </p:nvSpPr>
          <p:spPr>
            <a:xfrm>
              <a:off x="3390107" y="1244991"/>
              <a:ext cx="2963387" cy="7254240"/>
            </a:xfrm>
            <a:prstGeom prst="roundRect">
              <a:avLst/>
            </a:prstGeom>
            <a:solidFill>
              <a:srgbClr val="FFFFFF"/>
            </a:solidFill>
            <a:ln w="1143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Rectangle 37">
              <a:extLst>
                <a:ext uri="{FF2B5EF4-FFF2-40B4-BE49-F238E27FC236}">
                  <a16:creationId xmlns="" xmlns:a16="http://schemas.microsoft.com/office/drawing/2014/main" id="{35228791-A1B7-6E2F-B34E-3E7625D7FE96}"/>
                </a:ext>
              </a:extLst>
            </p:cNvPr>
            <p:cNvSpPr/>
            <p:nvPr/>
          </p:nvSpPr>
          <p:spPr>
            <a:xfrm>
              <a:off x="3390107" y="1244991"/>
              <a:ext cx="2963387" cy="60960"/>
            </a:xfrm>
            <a:prstGeom prst="rect">
              <a:avLst/>
            </a:prstGeom>
            <a:solidFill>
              <a:srgbClr val="22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38">
              <a:extLst>
                <a:ext uri="{FF2B5EF4-FFF2-40B4-BE49-F238E27FC236}">
                  <a16:creationId xmlns="" xmlns:a16="http://schemas.microsoft.com/office/drawing/2014/main" id="{A60FD611-1676-600C-3E6D-FE485857AAC5}"/>
                </a:ext>
              </a:extLst>
            </p:cNvPr>
            <p:cNvSpPr txBox="1"/>
            <p:nvPr/>
          </p:nvSpPr>
          <p:spPr>
            <a:xfrm>
              <a:off x="3512027" y="1354719"/>
              <a:ext cx="2719547" cy="385284"/>
            </a:xfrm>
            <a:prstGeom prst="rect">
              <a:avLst/>
            </a:prstGeom>
            <a:noFill/>
          </p:spPr>
          <p:txBody>
            <a:bodyPr wrap="square" anchor="t">
              <a:spAutoFit/>
            </a:bodyPr>
            <a:lstStyle/>
            <a:p>
              <a:pPr algn="ctr"/>
              <a:r>
                <a:rPr sz="1100" b="1">
                  <a:solidFill>
                    <a:srgbClr val="16325C"/>
                  </a:solidFill>
                  <a:latin typeface="Microsoft YaHei"/>
                </a:rPr>
                <a:t>创业板AI</a:t>
              </a:r>
            </a:p>
          </p:txBody>
        </p:sp>
        <p:sp>
          <p:nvSpPr>
            <p:cNvPr id="15" name="TextBox 39">
              <a:extLst>
                <a:ext uri="{FF2B5EF4-FFF2-40B4-BE49-F238E27FC236}">
                  <a16:creationId xmlns="" xmlns:a16="http://schemas.microsoft.com/office/drawing/2014/main" id="{7B85628D-EFA5-2015-9B75-63E1B855E3F2}"/>
                </a:ext>
              </a:extLst>
            </p:cNvPr>
            <p:cNvSpPr txBox="1"/>
            <p:nvPr/>
          </p:nvSpPr>
          <p:spPr>
            <a:xfrm>
              <a:off x="3487642" y="1574176"/>
              <a:ext cx="2768315" cy="294630"/>
            </a:xfrm>
            <a:prstGeom prst="rect">
              <a:avLst/>
            </a:prstGeom>
            <a:noFill/>
          </p:spPr>
          <p:txBody>
            <a:bodyPr wrap="square" anchor="t">
              <a:spAutoFit/>
            </a:bodyPr>
            <a:lstStyle/>
            <a:p>
              <a:pPr algn="ctr"/>
              <a:r>
                <a:rPr sz="700">
                  <a:solidFill>
                    <a:srgbClr val="666666"/>
                  </a:solidFill>
                  <a:latin typeface="Microsoft YaHei"/>
                </a:rPr>
                <a:t>970070.SZ</a:t>
              </a:r>
            </a:p>
          </p:txBody>
        </p:sp>
        <p:sp>
          <p:nvSpPr>
            <p:cNvPr id="16" name="Rounded Rectangle 40">
              <a:extLst>
                <a:ext uri="{FF2B5EF4-FFF2-40B4-BE49-F238E27FC236}">
                  <a16:creationId xmlns="" xmlns:a16="http://schemas.microsoft.com/office/drawing/2014/main" id="{ACD650E3-BDB0-6664-E317-DAC9CF1B991A}"/>
                </a:ext>
              </a:extLst>
            </p:cNvPr>
            <p:cNvSpPr/>
            <p:nvPr/>
          </p:nvSpPr>
          <p:spPr>
            <a:xfrm>
              <a:off x="3609563" y="1769247"/>
              <a:ext cx="2524475" cy="256032"/>
            </a:xfrm>
            <a:prstGeom prst="roundRect">
              <a:avLst/>
            </a:prstGeom>
            <a:solidFill>
              <a:srgbClr val="2277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err="1">
                  <a:solidFill>
                    <a:srgbClr val="FFFFFF"/>
                  </a:solidFill>
                  <a:latin typeface="微软雅黑" panose="020B0503020204020204" pitchFamily="34" charset="-122"/>
                  <a:ea typeface="微软雅黑" panose="020B0503020204020204" pitchFamily="34" charset="-122"/>
                </a:rPr>
                <a:t>光模块龙头</a:t>
              </a:r>
              <a:r>
                <a:rPr lang="en-US" sz="1000" b="1" dirty="0">
                  <a:solidFill>
                    <a:srgbClr val="FFFFFF"/>
                  </a:solidFill>
                  <a:latin typeface="微软雅黑" panose="020B0503020204020204" pitchFamily="34" charset="-122"/>
                  <a:ea typeface="微软雅黑" panose="020B0503020204020204" pitchFamily="34" charset="-122"/>
                </a:rPr>
                <a:t>/</a:t>
              </a:r>
              <a:r>
                <a:rPr lang="zh-CN" altLang="en-US" sz="1000" b="1" dirty="0">
                  <a:solidFill>
                    <a:srgbClr val="FFFFFF"/>
                  </a:solidFill>
                  <a:latin typeface="微软雅黑" panose="020B0503020204020204" pitchFamily="34" charset="-122"/>
                  <a:ea typeface="微软雅黑" panose="020B0503020204020204" pitchFamily="34" charset="-122"/>
                </a:rPr>
                <a:t>海外算力</a:t>
              </a:r>
              <a:endParaRPr sz="1000" b="1" dirty="0">
                <a:solidFill>
                  <a:srgbClr val="FFFFFF"/>
                </a:solidFill>
                <a:latin typeface="微软雅黑" panose="020B0503020204020204" pitchFamily="34" charset="-122"/>
                <a:ea typeface="微软雅黑" panose="020B0503020204020204" pitchFamily="34" charset="-122"/>
              </a:endParaRPr>
            </a:p>
          </p:txBody>
        </p:sp>
        <p:sp>
          <p:nvSpPr>
            <p:cNvPr id="17" name="Rectangle 41">
              <a:extLst>
                <a:ext uri="{FF2B5EF4-FFF2-40B4-BE49-F238E27FC236}">
                  <a16:creationId xmlns="" xmlns:a16="http://schemas.microsoft.com/office/drawing/2014/main" id="{BC45A6A9-4654-D295-2E5F-64D699B70B67}"/>
                </a:ext>
              </a:extLst>
            </p:cNvPr>
            <p:cNvSpPr/>
            <p:nvPr/>
          </p:nvSpPr>
          <p:spPr>
            <a:xfrm>
              <a:off x="3512027" y="2135008"/>
              <a:ext cx="2719547" cy="9753"/>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Rounded Rectangle 42">
              <a:extLst>
                <a:ext uri="{FF2B5EF4-FFF2-40B4-BE49-F238E27FC236}">
                  <a16:creationId xmlns="" xmlns:a16="http://schemas.microsoft.com/office/drawing/2014/main" id="{CB231494-4CD7-9009-B8F1-811CA12E3AF7}"/>
                </a:ext>
              </a:extLst>
            </p:cNvPr>
            <p:cNvSpPr/>
            <p:nvPr/>
          </p:nvSpPr>
          <p:spPr>
            <a:xfrm>
              <a:off x="3487643" y="2256927"/>
              <a:ext cx="1286621" cy="633984"/>
            </a:xfrm>
            <a:prstGeom prst="roundRect">
              <a:avLst/>
            </a:prstGeom>
            <a:solidFill>
              <a:srgbClr val="F8FAFC"/>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a:solidFill>
                    <a:srgbClr val="666666"/>
                  </a:solidFill>
                  <a:latin typeface="Microsoft YaHei"/>
                </a:rPr>
                <a:t>近1年收益</a:t>
              </a:r>
            </a:p>
            <a:p>
              <a:pPr algn="ctr"/>
              <a:r>
                <a:rPr sz="1050" b="1">
                  <a:solidFill>
                    <a:srgbClr val="2277CC"/>
                  </a:solidFill>
                  <a:latin typeface="Microsoft YaHei"/>
                </a:rPr>
                <a:t>202.85%</a:t>
              </a:r>
            </a:p>
          </p:txBody>
        </p:sp>
        <p:sp>
          <p:nvSpPr>
            <p:cNvPr id="19" name="Rounded Rectangle 43">
              <a:extLst>
                <a:ext uri="{FF2B5EF4-FFF2-40B4-BE49-F238E27FC236}">
                  <a16:creationId xmlns="" xmlns:a16="http://schemas.microsoft.com/office/drawing/2014/main" id="{385746D5-B6DD-B86F-6060-8976A44317AD}"/>
                </a:ext>
              </a:extLst>
            </p:cNvPr>
            <p:cNvSpPr/>
            <p:nvPr/>
          </p:nvSpPr>
          <p:spPr>
            <a:xfrm>
              <a:off x="4871800" y="2256927"/>
              <a:ext cx="1286621" cy="633984"/>
            </a:xfrm>
            <a:prstGeom prst="roundRect">
              <a:avLst/>
            </a:prstGeom>
            <a:solidFill>
              <a:srgbClr val="F8FAFC"/>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a:solidFill>
                    <a:srgbClr val="666666"/>
                  </a:solidFill>
                  <a:latin typeface="Microsoft YaHei"/>
                </a:rPr>
                <a:t>近1年最大回撤</a:t>
              </a:r>
            </a:p>
            <a:p>
              <a:pPr algn="ctr"/>
              <a:r>
                <a:rPr sz="1050" b="1">
                  <a:solidFill>
                    <a:srgbClr val="2277CC"/>
                  </a:solidFill>
                  <a:latin typeface="Microsoft YaHei"/>
                </a:rPr>
                <a:t>14.60%</a:t>
              </a:r>
            </a:p>
          </p:txBody>
        </p:sp>
        <p:sp>
          <p:nvSpPr>
            <p:cNvPr id="20" name="TextBox 57">
              <a:extLst>
                <a:ext uri="{FF2B5EF4-FFF2-40B4-BE49-F238E27FC236}">
                  <a16:creationId xmlns="" xmlns:a16="http://schemas.microsoft.com/office/drawing/2014/main" id="{851A1758-4B67-69D4-7FA2-1777F88EE57A}"/>
                </a:ext>
              </a:extLst>
            </p:cNvPr>
            <p:cNvSpPr txBox="1"/>
            <p:nvPr/>
          </p:nvSpPr>
          <p:spPr>
            <a:xfrm>
              <a:off x="3512027" y="3975999"/>
              <a:ext cx="2719547" cy="362620"/>
            </a:xfrm>
            <a:prstGeom prst="rect">
              <a:avLst/>
            </a:prstGeom>
            <a:noFill/>
          </p:spPr>
          <p:txBody>
            <a:bodyPr wrap="square" anchor="t">
              <a:spAutoFit/>
            </a:bodyPr>
            <a:lstStyle/>
            <a:p>
              <a:pPr algn="ctr"/>
              <a:r>
                <a:rPr sz="1000" b="1">
                  <a:solidFill>
                    <a:srgbClr val="16325C"/>
                  </a:solidFill>
                  <a:latin typeface="微软雅黑" panose="020B0503020204020204" pitchFamily="34" charset="-122"/>
                  <a:ea typeface="微软雅黑" panose="020B0503020204020204" pitchFamily="34" charset="-122"/>
                </a:rPr>
                <a:t>前十大重仓股配比</a:t>
              </a:r>
            </a:p>
          </p:txBody>
        </p:sp>
        <p:sp>
          <p:nvSpPr>
            <p:cNvPr id="21" name="Rounded Rectangle 69">
              <a:extLst>
                <a:ext uri="{FF2B5EF4-FFF2-40B4-BE49-F238E27FC236}">
                  <a16:creationId xmlns="" xmlns:a16="http://schemas.microsoft.com/office/drawing/2014/main" id="{11889EEF-6504-1C7F-A3C4-E76D3F484C39}"/>
                </a:ext>
              </a:extLst>
            </p:cNvPr>
            <p:cNvSpPr/>
            <p:nvPr/>
          </p:nvSpPr>
          <p:spPr>
            <a:xfrm>
              <a:off x="6499799" y="1244991"/>
              <a:ext cx="2963387" cy="7254240"/>
            </a:xfrm>
            <a:prstGeom prst="roundRect">
              <a:avLst/>
            </a:prstGeom>
            <a:solidFill>
              <a:srgbClr val="FFFFFF"/>
            </a:solidFill>
            <a:ln w="1143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2" name="Rectangle 70">
              <a:extLst>
                <a:ext uri="{FF2B5EF4-FFF2-40B4-BE49-F238E27FC236}">
                  <a16:creationId xmlns="" xmlns:a16="http://schemas.microsoft.com/office/drawing/2014/main" id="{694C513E-622C-8F89-4BA7-E1965A8C8D17}"/>
                </a:ext>
              </a:extLst>
            </p:cNvPr>
            <p:cNvSpPr/>
            <p:nvPr/>
          </p:nvSpPr>
          <p:spPr>
            <a:xfrm>
              <a:off x="6499799" y="1244991"/>
              <a:ext cx="2963387" cy="60960"/>
            </a:xfrm>
            <a:prstGeom prst="rect">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TextBox 71">
              <a:extLst>
                <a:ext uri="{FF2B5EF4-FFF2-40B4-BE49-F238E27FC236}">
                  <a16:creationId xmlns="" xmlns:a16="http://schemas.microsoft.com/office/drawing/2014/main" id="{3AD55EF0-70C0-407A-217B-015D1952CB91}"/>
                </a:ext>
              </a:extLst>
            </p:cNvPr>
            <p:cNvSpPr txBox="1"/>
            <p:nvPr/>
          </p:nvSpPr>
          <p:spPr>
            <a:xfrm>
              <a:off x="6621719" y="1354719"/>
              <a:ext cx="2719547" cy="385284"/>
            </a:xfrm>
            <a:prstGeom prst="rect">
              <a:avLst/>
            </a:prstGeom>
            <a:noFill/>
          </p:spPr>
          <p:txBody>
            <a:bodyPr wrap="square" anchor="t">
              <a:spAutoFit/>
            </a:bodyPr>
            <a:lstStyle/>
            <a:p>
              <a:pPr algn="ctr"/>
              <a:r>
                <a:rPr sz="1100" b="1">
                  <a:solidFill>
                    <a:srgbClr val="16325C"/>
                  </a:solidFill>
                  <a:latin typeface="Microsoft YaHei"/>
                </a:rPr>
                <a:t>科创AI</a:t>
              </a:r>
            </a:p>
          </p:txBody>
        </p:sp>
        <p:sp>
          <p:nvSpPr>
            <p:cNvPr id="24" name="TextBox 72">
              <a:extLst>
                <a:ext uri="{FF2B5EF4-FFF2-40B4-BE49-F238E27FC236}">
                  <a16:creationId xmlns="" xmlns:a16="http://schemas.microsoft.com/office/drawing/2014/main" id="{FB6CD60E-D740-A27D-C7AE-01D55FEB256E}"/>
                </a:ext>
              </a:extLst>
            </p:cNvPr>
            <p:cNvSpPr txBox="1"/>
            <p:nvPr/>
          </p:nvSpPr>
          <p:spPr>
            <a:xfrm>
              <a:off x="6597335" y="1574176"/>
              <a:ext cx="2768315" cy="294630"/>
            </a:xfrm>
            <a:prstGeom prst="rect">
              <a:avLst/>
            </a:prstGeom>
            <a:noFill/>
          </p:spPr>
          <p:txBody>
            <a:bodyPr wrap="square" anchor="t">
              <a:spAutoFit/>
            </a:bodyPr>
            <a:lstStyle/>
            <a:p>
              <a:pPr algn="ctr"/>
              <a:r>
                <a:rPr sz="700">
                  <a:solidFill>
                    <a:srgbClr val="666666"/>
                  </a:solidFill>
                  <a:latin typeface="Microsoft YaHei"/>
                </a:rPr>
                <a:t>950180.SH</a:t>
              </a:r>
            </a:p>
          </p:txBody>
        </p:sp>
        <p:sp>
          <p:nvSpPr>
            <p:cNvPr id="25" name="Rounded Rectangle 73">
              <a:extLst>
                <a:ext uri="{FF2B5EF4-FFF2-40B4-BE49-F238E27FC236}">
                  <a16:creationId xmlns="" xmlns:a16="http://schemas.microsoft.com/office/drawing/2014/main" id="{A9D672B8-7F6D-6CC9-4529-4DB3AAD20D74}"/>
                </a:ext>
              </a:extLst>
            </p:cNvPr>
            <p:cNvSpPr/>
            <p:nvPr/>
          </p:nvSpPr>
          <p:spPr>
            <a:xfrm>
              <a:off x="6719255" y="1769247"/>
              <a:ext cx="2524475" cy="256032"/>
            </a:xfrm>
            <a:prstGeom prst="roundRect">
              <a:avLst/>
            </a:prstGeom>
            <a:solidFill>
              <a:srgbClr val="43A04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000" b="1" dirty="0">
                  <a:solidFill>
                    <a:srgbClr val="FFFFFF"/>
                  </a:solidFill>
                  <a:latin typeface="微软雅黑" panose="020B0503020204020204" pitchFamily="34" charset="-122"/>
                  <a:ea typeface="微软雅黑" panose="020B0503020204020204" pitchFamily="34" charset="-122"/>
                </a:rPr>
                <a:t>国产算力</a:t>
              </a:r>
              <a:r>
                <a:rPr lang="en-US" altLang="zh-CN" sz="1000" b="1" dirty="0">
                  <a:solidFill>
                    <a:srgbClr val="FFFFFF"/>
                  </a:solidFill>
                  <a:latin typeface="微软雅黑" panose="020B0503020204020204" pitchFamily="34" charset="-122"/>
                  <a:ea typeface="微软雅黑" panose="020B0503020204020204" pitchFamily="34" charset="-122"/>
                </a:rPr>
                <a:t>/</a:t>
              </a:r>
              <a:r>
                <a:rPr lang="zh-CN" altLang="en-US" sz="1000" b="1" dirty="0">
                  <a:solidFill>
                    <a:srgbClr val="FFFFFF"/>
                  </a:solidFill>
                  <a:latin typeface="微软雅黑" panose="020B0503020204020204" pitchFamily="34" charset="-122"/>
                  <a:ea typeface="微软雅黑" panose="020B0503020204020204" pitchFamily="34" charset="-122"/>
                </a:rPr>
                <a:t>应用端</a:t>
              </a:r>
              <a:endParaRPr sz="1000" b="1" dirty="0">
                <a:solidFill>
                  <a:srgbClr val="FFFFFF"/>
                </a:solidFill>
                <a:latin typeface="微软雅黑" panose="020B0503020204020204" pitchFamily="34" charset="-122"/>
                <a:ea typeface="微软雅黑" panose="020B0503020204020204" pitchFamily="34" charset="-122"/>
              </a:endParaRPr>
            </a:p>
          </p:txBody>
        </p:sp>
        <p:sp>
          <p:nvSpPr>
            <p:cNvPr id="26" name="Rectangle 74">
              <a:extLst>
                <a:ext uri="{FF2B5EF4-FFF2-40B4-BE49-F238E27FC236}">
                  <a16:creationId xmlns="" xmlns:a16="http://schemas.microsoft.com/office/drawing/2014/main" id="{2C5F5D78-640D-61CF-AEF4-C2C234FB23CF}"/>
                </a:ext>
              </a:extLst>
            </p:cNvPr>
            <p:cNvSpPr/>
            <p:nvPr/>
          </p:nvSpPr>
          <p:spPr>
            <a:xfrm>
              <a:off x="6621719" y="2135008"/>
              <a:ext cx="2719547" cy="9753"/>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7" name="Rounded Rectangle 75">
              <a:extLst>
                <a:ext uri="{FF2B5EF4-FFF2-40B4-BE49-F238E27FC236}">
                  <a16:creationId xmlns="" xmlns:a16="http://schemas.microsoft.com/office/drawing/2014/main" id="{B729CAD3-A316-F63E-B7BE-E7560A1BF190}"/>
                </a:ext>
              </a:extLst>
            </p:cNvPr>
            <p:cNvSpPr/>
            <p:nvPr/>
          </p:nvSpPr>
          <p:spPr>
            <a:xfrm>
              <a:off x="6597335" y="2256927"/>
              <a:ext cx="1286621" cy="633984"/>
            </a:xfrm>
            <a:prstGeom prst="roundRect">
              <a:avLst/>
            </a:prstGeom>
            <a:solidFill>
              <a:srgbClr val="F8FAFC"/>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a:solidFill>
                    <a:srgbClr val="666666"/>
                  </a:solidFill>
                  <a:latin typeface="Microsoft YaHei"/>
                </a:rPr>
                <a:t>近1年收益</a:t>
              </a:r>
            </a:p>
            <a:p>
              <a:pPr algn="ctr"/>
              <a:r>
                <a:rPr sz="1050" b="1">
                  <a:solidFill>
                    <a:srgbClr val="43A047"/>
                  </a:solidFill>
                  <a:latin typeface="Microsoft YaHei"/>
                </a:rPr>
                <a:t>59.54%</a:t>
              </a:r>
            </a:p>
          </p:txBody>
        </p:sp>
        <p:sp>
          <p:nvSpPr>
            <p:cNvPr id="28" name="Rounded Rectangle 76">
              <a:extLst>
                <a:ext uri="{FF2B5EF4-FFF2-40B4-BE49-F238E27FC236}">
                  <a16:creationId xmlns="" xmlns:a16="http://schemas.microsoft.com/office/drawing/2014/main" id="{FD22785F-C576-15C9-6D06-742FDD9A9D99}"/>
                </a:ext>
              </a:extLst>
            </p:cNvPr>
            <p:cNvSpPr/>
            <p:nvPr/>
          </p:nvSpPr>
          <p:spPr>
            <a:xfrm>
              <a:off x="7981492" y="2256927"/>
              <a:ext cx="1286621" cy="633984"/>
            </a:xfrm>
            <a:prstGeom prst="roundRect">
              <a:avLst/>
            </a:prstGeom>
            <a:solidFill>
              <a:srgbClr val="F8FAFC"/>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a:solidFill>
                    <a:srgbClr val="666666"/>
                  </a:solidFill>
                  <a:latin typeface="Microsoft YaHei"/>
                </a:rPr>
                <a:t>近1年最大回撤</a:t>
              </a:r>
            </a:p>
            <a:p>
              <a:pPr algn="ctr"/>
              <a:r>
                <a:rPr sz="1050" b="1">
                  <a:solidFill>
                    <a:srgbClr val="43A047"/>
                  </a:solidFill>
                  <a:latin typeface="Microsoft YaHei"/>
                </a:rPr>
                <a:t>22.13%</a:t>
              </a:r>
            </a:p>
          </p:txBody>
        </p:sp>
        <p:sp>
          <p:nvSpPr>
            <p:cNvPr id="29" name="TextBox 90">
              <a:extLst>
                <a:ext uri="{FF2B5EF4-FFF2-40B4-BE49-F238E27FC236}">
                  <a16:creationId xmlns="" xmlns:a16="http://schemas.microsoft.com/office/drawing/2014/main" id="{4C3EFEE4-1787-3E7B-5A07-58440670F94F}"/>
                </a:ext>
              </a:extLst>
            </p:cNvPr>
            <p:cNvSpPr txBox="1"/>
            <p:nvPr/>
          </p:nvSpPr>
          <p:spPr>
            <a:xfrm>
              <a:off x="6621719" y="3975999"/>
              <a:ext cx="2719547" cy="362620"/>
            </a:xfrm>
            <a:prstGeom prst="rect">
              <a:avLst/>
            </a:prstGeom>
            <a:noFill/>
          </p:spPr>
          <p:txBody>
            <a:bodyPr wrap="square" anchor="t">
              <a:spAutoFit/>
            </a:bodyPr>
            <a:lstStyle/>
            <a:p>
              <a:pPr algn="ctr"/>
              <a:r>
                <a:rPr sz="1000" b="1" dirty="0" err="1">
                  <a:solidFill>
                    <a:srgbClr val="16325C"/>
                  </a:solidFill>
                  <a:latin typeface="微软雅黑" panose="020B0503020204020204" pitchFamily="34" charset="-122"/>
                  <a:ea typeface="微软雅黑" panose="020B0503020204020204" pitchFamily="34" charset="-122"/>
                </a:rPr>
                <a:t>前十大重仓股配比</a:t>
              </a:r>
              <a:endParaRPr sz="1000" b="1" dirty="0">
                <a:solidFill>
                  <a:srgbClr val="16325C"/>
                </a:solidFill>
                <a:latin typeface="微软雅黑" panose="020B0503020204020204" pitchFamily="34" charset="-122"/>
                <a:ea typeface="微软雅黑" panose="020B0503020204020204" pitchFamily="34" charset="-122"/>
              </a:endParaRPr>
            </a:p>
          </p:txBody>
        </p:sp>
        <p:sp>
          <p:nvSpPr>
            <p:cNvPr id="30" name="Rounded Rectangle 102">
              <a:extLst>
                <a:ext uri="{FF2B5EF4-FFF2-40B4-BE49-F238E27FC236}">
                  <a16:creationId xmlns="" xmlns:a16="http://schemas.microsoft.com/office/drawing/2014/main" id="{D7C1ADDE-8990-56E5-9A3B-157FAA25D13C}"/>
                </a:ext>
              </a:extLst>
            </p:cNvPr>
            <p:cNvSpPr/>
            <p:nvPr/>
          </p:nvSpPr>
          <p:spPr>
            <a:xfrm>
              <a:off x="9609489" y="1244991"/>
              <a:ext cx="2963387" cy="7254240"/>
            </a:xfrm>
            <a:prstGeom prst="roundRect">
              <a:avLst/>
            </a:prstGeom>
            <a:solidFill>
              <a:srgbClr val="FFFFFF"/>
            </a:solidFill>
            <a:ln w="1143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1" name="Rectangle 103">
              <a:extLst>
                <a:ext uri="{FF2B5EF4-FFF2-40B4-BE49-F238E27FC236}">
                  <a16:creationId xmlns="" xmlns:a16="http://schemas.microsoft.com/office/drawing/2014/main" id="{B6632967-5A6E-1029-C71F-81937CEE63C7}"/>
                </a:ext>
              </a:extLst>
            </p:cNvPr>
            <p:cNvSpPr/>
            <p:nvPr/>
          </p:nvSpPr>
          <p:spPr>
            <a:xfrm>
              <a:off x="9609489" y="1244991"/>
              <a:ext cx="2963387" cy="60960"/>
            </a:xfrm>
            <a:prstGeom prst="rect">
              <a:avLst/>
            </a:prstGeom>
            <a:solidFill>
              <a:srgbClr val="8854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2" name="TextBox 104">
              <a:extLst>
                <a:ext uri="{FF2B5EF4-FFF2-40B4-BE49-F238E27FC236}">
                  <a16:creationId xmlns="" xmlns:a16="http://schemas.microsoft.com/office/drawing/2014/main" id="{B75C251D-E61A-995B-49A3-7A590E7611B5}"/>
                </a:ext>
              </a:extLst>
            </p:cNvPr>
            <p:cNvSpPr txBox="1"/>
            <p:nvPr/>
          </p:nvSpPr>
          <p:spPr>
            <a:xfrm>
              <a:off x="9731408" y="1354719"/>
              <a:ext cx="2719547" cy="385284"/>
            </a:xfrm>
            <a:prstGeom prst="rect">
              <a:avLst/>
            </a:prstGeom>
            <a:noFill/>
          </p:spPr>
          <p:txBody>
            <a:bodyPr wrap="square" anchor="t">
              <a:spAutoFit/>
            </a:bodyPr>
            <a:lstStyle/>
            <a:p>
              <a:pPr algn="ctr"/>
              <a:r>
                <a:rPr sz="1100" b="1">
                  <a:solidFill>
                    <a:srgbClr val="16325C"/>
                  </a:solidFill>
                  <a:latin typeface="Microsoft YaHei"/>
                </a:rPr>
                <a:t>通信设备</a:t>
              </a:r>
            </a:p>
          </p:txBody>
        </p:sp>
        <p:sp>
          <p:nvSpPr>
            <p:cNvPr id="33" name="TextBox 105">
              <a:extLst>
                <a:ext uri="{FF2B5EF4-FFF2-40B4-BE49-F238E27FC236}">
                  <a16:creationId xmlns="" xmlns:a16="http://schemas.microsoft.com/office/drawing/2014/main" id="{A10D2D45-DFA2-C9E9-C2B2-D1915357BA93}"/>
                </a:ext>
              </a:extLst>
            </p:cNvPr>
            <p:cNvSpPr txBox="1"/>
            <p:nvPr/>
          </p:nvSpPr>
          <p:spPr>
            <a:xfrm>
              <a:off x="9707025" y="1574176"/>
              <a:ext cx="2768315" cy="294630"/>
            </a:xfrm>
            <a:prstGeom prst="rect">
              <a:avLst/>
            </a:prstGeom>
            <a:noFill/>
          </p:spPr>
          <p:txBody>
            <a:bodyPr wrap="square" anchor="t">
              <a:spAutoFit/>
            </a:bodyPr>
            <a:lstStyle/>
            <a:p>
              <a:pPr algn="ctr"/>
              <a:r>
                <a:rPr sz="700">
                  <a:solidFill>
                    <a:srgbClr val="666666"/>
                  </a:solidFill>
                  <a:latin typeface="Microsoft YaHei"/>
                </a:rPr>
                <a:t>931160.CSI</a:t>
              </a:r>
            </a:p>
          </p:txBody>
        </p:sp>
        <p:sp>
          <p:nvSpPr>
            <p:cNvPr id="34" name="Rounded Rectangle 106">
              <a:extLst>
                <a:ext uri="{FF2B5EF4-FFF2-40B4-BE49-F238E27FC236}">
                  <a16:creationId xmlns="" xmlns:a16="http://schemas.microsoft.com/office/drawing/2014/main" id="{B9408031-591E-7E28-3F9C-6E5114BB19AB}"/>
                </a:ext>
              </a:extLst>
            </p:cNvPr>
            <p:cNvSpPr/>
            <p:nvPr/>
          </p:nvSpPr>
          <p:spPr>
            <a:xfrm>
              <a:off x="9828945" y="1769247"/>
              <a:ext cx="2524475" cy="256032"/>
            </a:xfrm>
            <a:prstGeom prst="roundRect">
              <a:avLst/>
            </a:prstGeom>
            <a:solidFill>
              <a:srgbClr val="8854D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000" b="1" dirty="0">
                  <a:solidFill>
                    <a:srgbClr val="FFFFFF"/>
                  </a:solidFill>
                  <a:latin typeface="微软雅黑" panose="020B0503020204020204" pitchFamily="34" charset="-122"/>
                  <a:ea typeface="微软雅黑" panose="020B0503020204020204" pitchFamily="34" charset="-122"/>
                </a:rPr>
                <a:t>海外算力</a:t>
              </a:r>
              <a:r>
                <a:rPr lang="en-US" altLang="zh-CN" sz="1000" b="1" dirty="0">
                  <a:solidFill>
                    <a:srgbClr val="FFFFFF"/>
                  </a:solidFill>
                  <a:latin typeface="微软雅黑" panose="020B0503020204020204" pitchFamily="34" charset="-122"/>
                  <a:ea typeface="微软雅黑" panose="020B0503020204020204" pitchFamily="34" charset="-122"/>
                </a:rPr>
                <a:t>/</a:t>
              </a:r>
              <a:r>
                <a:rPr lang="zh-CN" altLang="en-US" sz="1000" b="1" dirty="0">
                  <a:solidFill>
                    <a:srgbClr val="FFFFFF"/>
                  </a:solidFill>
                  <a:latin typeface="微软雅黑" panose="020B0503020204020204" pitchFamily="34" charset="-122"/>
                  <a:ea typeface="微软雅黑" panose="020B0503020204020204" pitchFamily="34" charset="-122"/>
                </a:rPr>
                <a:t>通信</a:t>
              </a:r>
              <a:r>
                <a:rPr sz="1000" b="1" dirty="0" err="1">
                  <a:solidFill>
                    <a:srgbClr val="FFFFFF"/>
                  </a:solidFill>
                  <a:latin typeface="微软雅黑" panose="020B0503020204020204" pitchFamily="34" charset="-122"/>
                  <a:ea typeface="微软雅黑" panose="020B0503020204020204" pitchFamily="34" charset="-122"/>
                </a:rPr>
                <a:t>设备</a:t>
              </a:r>
              <a:r>
                <a:rPr lang="zh-CN" altLang="en-US" sz="1000" b="1" dirty="0">
                  <a:solidFill>
                    <a:srgbClr val="FFFFFF"/>
                  </a:solidFill>
                  <a:latin typeface="微软雅黑" panose="020B0503020204020204" pitchFamily="34" charset="-122"/>
                  <a:ea typeface="微软雅黑" panose="020B0503020204020204" pitchFamily="34" charset="-122"/>
                </a:rPr>
                <a:t>龙头</a:t>
              </a:r>
              <a:endParaRPr sz="1000" b="1" dirty="0">
                <a:solidFill>
                  <a:srgbClr val="FFFFFF"/>
                </a:solidFill>
                <a:latin typeface="微软雅黑" panose="020B0503020204020204" pitchFamily="34" charset="-122"/>
                <a:ea typeface="微软雅黑" panose="020B0503020204020204" pitchFamily="34" charset="-122"/>
              </a:endParaRPr>
            </a:p>
          </p:txBody>
        </p:sp>
        <p:sp>
          <p:nvSpPr>
            <p:cNvPr id="35" name="Rectangle 107">
              <a:extLst>
                <a:ext uri="{FF2B5EF4-FFF2-40B4-BE49-F238E27FC236}">
                  <a16:creationId xmlns="" xmlns:a16="http://schemas.microsoft.com/office/drawing/2014/main" id="{8452C390-8A4F-A9D2-326F-109811C292E4}"/>
                </a:ext>
              </a:extLst>
            </p:cNvPr>
            <p:cNvSpPr/>
            <p:nvPr/>
          </p:nvSpPr>
          <p:spPr>
            <a:xfrm>
              <a:off x="9731409" y="2135008"/>
              <a:ext cx="2719547" cy="9753"/>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6" name="Rounded Rectangle 108">
              <a:extLst>
                <a:ext uri="{FF2B5EF4-FFF2-40B4-BE49-F238E27FC236}">
                  <a16:creationId xmlns="" xmlns:a16="http://schemas.microsoft.com/office/drawing/2014/main" id="{0843FA47-E2B3-5288-3230-A3FE805B67CE}"/>
                </a:ext>
              </a:extLst>
            </p:cNvPr>
            <p:cNvSpPr/>
            <p:nvPr/>
          </p:nvSpPr>
          <p:spPr>
            <a:xfrm>
              <a:off x="9707026" y="2256927"/>
              <a:ext cx="1286621" cy="633984"/>
            </a:xfrm>
            <a:prstGeom prst="roundRect">
              <a:avLst/>
            </a:prstGeom>
            <a:solidFill>
              <a:srgbClr val="F8FAFC"/>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a:solidFill>
                    <a:srgbClr val="666666"/>
                  </a:solidFill>
                  <a:latin typeface="Microsoft YaHei"/>
                </a:rPr>
                <a:t>近1年收益</a:t>
              </a:r>
            </a:p>
            <a:p>
              <a:pPr algn="ctr"/>
              <a:r>
                <a:rPr sz="1050" b="1">
                  <a:solidFill>
                    <a:srgbClr val="8854D0"/>
                  </a:solidFill>
                  <a:latin typeface="Microsoft YaHei"/>
                </a:rPr>
                <a:t>274.50%</a:t>
              </a:r>
            </a:p>
          </p:txBody>
        </p:sp>
        <p:sp>
          <p:nvSpPr>
            <p:cNvPr id="37" name="Rounded Rectangle 109">
              <a:extLst>
                <a:ext uri="{FF2B5EF4-FFF2-40B4-BE49-F238E27FC236}">
                  <a16:creationId xmlns="" xmlns:a16="http://schemas.microsoft.com/office/drawing/2014/main" id="{F1988353-FB1F-FB20-7846-E35BC292E71C}"/>
                </a:ext>
              </a:extLst>
            </p:cNvPr>
            <p:cNvSpPr/>
            <p:nvPr/>
          </p:nvSpPr>
          <p:spPr>
            <a:xfrm>
              <a:off x="11091184" y="2256927"/>
              <a:ext cx="1286621" cy="633984"/>
            </a:xfrm>
            <a:prstGeom prst="roundRect">
              <a:avLst/>
            </a:prstGeom>
            <a:solidFill>
              <a:srgbClr val="F8FAFC"/>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a:solidFill>
                    <a:srgbClr val="666666"/>
                  </a:solidFill>
                  <a:latin typeface="Microsoft YaHei"/>
                </a:rPr>
                <a:t>近1年最大回撤</a:t>
              </a:r>
            </a:p>
            <a:p>
              <a:pPr algn="ctr"/>
              <a:r>
                <a:rPr sz="1050" b="1">
                  <a:solidFill>
                    <a:srgbClr val="8854D0"/>
                  </a:solidFill>
                  <a:latin typeface="Microsoft YaHei"/>
                </a:rPr>
                <a:t>18.32%</a:t>
              </a:r>
            </a:p>
          </p:txBody>
        </p:sp>
        <p:sp>
          <p:nvSpPr>
            <p:cNvPr id="38" name="TextBox 123">
              <a:extLst>
                <a:ext uri="{FF2B5EF4-FFF2-40B4-BE49-F238E27FC236}">
                  <a16:creationId xmlns="" xmlns:a16="http://schemas.microsoft.com/office/drawing/2014/main" id="{89E4FA9B-0AB6-83A0-C392-AEA5F61DA731}"/>
                </a:ext>
              </a:extLst>
            </p:cNvPr>
            <p:cNvSpPr txBox="1"/>
            <p:nvPr/>
          </p:nvSpPr>
          <p:spPr>
            <a:xfrm>
              <a:off x="9731408" y="3975999"/>
              <a:ext cx="2719547" cy="362620"/>
            </a:xfrm>
            <a:prstGeom prst="rect">
              <a:avLst/>
            </a:prstGeom>
            <a:noFill/>
          </p:spPr>
          <p:txBody>
            <a:bodyPr wrap="square" anchor="t">
              <a:spAutoFit/>
            </a:bodyPr>
            <a:lstStyle/>
            <a:p>
              <a:pPr algn="ctr"/>
              <a:r>
                <a:rPr sz="1000" b="1">
                  <a:solidFill>
                    <a:srgbClr val="16325C"/>
                  </a:solidFill>
                  <a:latin typeface="微软雅黑" panose="020B0503020204020204" pitchFamily="34" charset="-122"/>
                  <a:ea typeface="微软雅黑" panose="020B0503020204020204" pitchFamily="34" charset="-122"/>
                </a:rPr>
                <a:t>前十大重仓股配比</a:t>
              </a:r>
            </a:p>
          </p:txBody>
        </p:sp>
        <p:sp>
          <p:nvSpPr>
            <p:cNvPr id="39" name="Rounded Rectangle 135">
              <a:extLst>
                <a:ext uri="{FF2B5EF4-FFF2-40B4-BE49-F238E27FC236}">
                  <a16:creationId xmlns="" xmlns:a16="http://schemas.microsoft.com/office/drawing/2014/main" id="{02941A42-2B5D-9F5E-7E83-A6681980C8B7}"/>
                </a:ext>
              </a:extLst>
            </p:cNvPr>
            <p:cNvSpPr/>
            <p:nvPr/>
          </p:nvSpPr>
          <p:spPr>
            <a:xfrm>
              <a:off x="12719181" y="1244991"/>
              <a:ext cx="2963387" cy="7254240"/>
            </a:xfrm>
            <a:prstGeom prst="roundRect">
              <a:avLst/>
            </a:prstGeom>
            <a:solidFill>
              <a:srgbClr val="FFFFFF"/>
            </a:solidFill>
            <a:ln w="1143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0" name="Rectangle 136">
              <a:extLst>
                <a:ext uri="{FF2B5EF4-FFF2-40B4-BE49-F238E27FC236}">
                  <a16:creationId xmlns="" xmlns:a16="http://schemas.microsoft.com/office/drawing/2014/main" id="{4CAECCEA-C866-4134-A2CD-9B320768A2C2}"/>
                </a:ext>
              </a:extLst>
            </p:cNvPr>
            <p:cNvSpPr/>
            <p:nvPr/>
          </p:nvSpPr>
          <p:spPr>
            <a:xfrm>
              <a:off x="12719181" y="1244991"/>
              <a:ext cx="2963387" cy="60960"/>
            </a:xfrm>
            <a:prstGeom prst="rect">
              <a:avLst/>
            </a:prstGeom>
            <a:solidFill>
              <a:srgbClr val="D6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1" name="TextBox 137">
              <a:extLst>
                <a:ext uri="{FF2B5EF4-FFF2-40B4-BE49-F238E27FC236}">
                  <a16:creationId xmlns="" xmlns:a16="http://schemas.microsoft.com/office/drawing/2014/main" id="{6B5929B5-6725-4FBE-6D91-F73B708FC414}"/>
                </a:ext>
              </a:extLst>
            </p:cNvPr>
            <p:cNvSpPr txBox="1"/>
            <p:nvPr/>
          </p:nvSpPr>
          <p:spPr>
            <a:xfrm>
              <a:off x="12841100" y="1354719"/>
              <a:ext cx="2719547" cy="385284"/>
            </a:xfrm>
            <a:prstGeom prst="rect">
              <a:avLst/>
            </a:prstGeom>
            <a:noFill/>
          </p:spPr>
          <p:txBody>
            <a:bodyPr wrap="square" anchor="t">
              <a:spAutoFit/>
            </a:bodyPr>
            <a:lstStyle/>
            <a:p>
              <a:pPr algn="ctr"/>
              <a:r>
                <a:rPr sz="1100" b="1">
                  <a:solidFill>
                    <a:srgbClr val="16325C"/>
                  </a:solidFill>
                  <a:latin typeface="Microsoft YaHei"/>
                </a:rPr>
                <a:t>半导体设备</a:t>
              </a:r>
            </a:p>
          </p:txBody>
        </p:sp>
        <p:sp>
          <p:nvSpPr>
            <p:cNvPr id="42" name="TextBox 138">
              <a:extLst>
                <a:ext uri="{FF2B5EF4-FFF2-40B4-BE49-F238E27FC236}">
                  <a16:creationId xmlns="" xmlns:a16="http://schemas.microsoft.com/office/drawing/2014/main" id="{EE9C1BD2-4BD6-144F-5595-31525476F29B}"/>
                </a:ext>
              </a:extLst>
            </p:cNvPr>
            <p:cNvSpPr txBox="1"/>
            <p:nvPr/>
          </p:nvSpPr>
          <p:spPr>
            <a:xfrm>
              <a:off x="12816717" y="1574176"/>
              <a:ext cx="2768315" cy="294630"/>
            </a:xfrm>
            <a:prstGeom prst="rect">
              <a:avLst/>
            </a:prstGeom>
            <a:noFill/>
          </p:spPr>
          <p:txBody>
            <a:bodyPr wrap="square" anchor="t">
              <a:spAutoFit/>
            </a:bodyPr>
            <a:lstStyle/>
            <a:p>
              <a:pPr algn="ctr"/>
              <a:r>
                <a:rPr sz="700">
                  <a:solidFill>
                    <a:srgbClr val="666666"/>
                  </a:solidFill>
                  <a:latin typeface="Microsoft YaHei"/>
                </a:rPr>
                <a:t>931743.CSI</a:t>
              </a:r>
            </a:p>
          </p:txBody>
        </p:sp>
        <p:sp>
          <p:nvSpPr>
            <p:cNvPr id="43" name="Rounded Rectangle 139">
              <a:extLst>
                <a:ext uri="{FF2B5EF4-FFF2-40B4-BE49-F238E27FC236}">
                  <a16:creationId xmlns="" xmlns:a16="http://schemas.microsoft.com/office/drawing/2014/main" id="{F918008E-557E-DDE2-F4C2-2B32531C4903}"/>
                </a:ext>
              </a:extLst>
            </p:cNvPr>
            <p:cNvSpPr/>
            <p:nvPr/>
          </p:nvSpPr>
          <p:spPr>
            <a:xfrm>
              <a:off x="12938637" y="1769247"/>
              <a:ext cx="2524475" cy="256032"/>
            </a:xfrm>
            <a:prstGeom prst="roundRect">
              <a:avLst/>
            </a:prstGeom>
            <a:solidFill>
              <a:srgbClr val="D64C4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000" b="1" dirty="0">
                  <a:solidFill>
                    <a:srgbClr val="FFFFFF"/>
                  </a:solidFill>
                  <a:latin typeface="微软雅黑" panose="020B0503020204020204" pitchFamily="34" charset="-122"/>
                  <a:ea typeface="微软雅黑" panose="020B0503020204020204" pitchFamily="34" charset="-122"/>
                </a:rPr>
                <a:t>半导体国产替代</a:t>
              </a:r>
              <a:endParaRPr sz="1000" b="1" dirty="0">
                <a:solidFill>
                  <a:srgbClr val="FFFFFF"/>
                </a:solidFill>
                <a:latin typeface="微软雅黑" panose="020B0503020204020204" pitchFamily="34" charset="-122"/>
                <a:ea typeface="微软雅黑" panose="020B0503020204020204" pitchFamily="34" charset="-122"/>
              </a:endParaRPr>
            </a:p>
          </p:txBody>
        </p:sp>
        <p:sp>
          <p:nvSpPr>
            <p:cNvPr id="44" name="Rectangle 140">
              <a:extLst>
                <a:ext uri="{FF2B5EF4-FFF2-40B4-BE49-F238E27FC236}">
                  <a16:creationId xmlns="" xmlns:a16="http://schemas.microsoft.com/office/drawing/2014/main" id="{9A81D672-93D5-4121-4741-4C25C2C42C61}"/>
                </a:ext>
              </a:extLst>
            </p:cNvPr>
            <p:cNvSpPr/>
            <p:nvPr/>
          </p:nvSpPr>
          <p:spPr>
            <a:xfrm>
              <a:off x="12841101" y="2135008"/>
              <a:ext cx="2719547" cy="9753"/>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5" name="Rounded Rectangle 141">
              <a:extLst>
                <a:ext uri="{FF2B5EF4-FFF2-40B4-BE49-F238E27FC236}">
                  <a16:creationId xmlns="" xmlns:a16="http://schemas.microsoft.com/office/drawing/2014/main" id="{6953BDDF-A3DF-3742-18FF-D97640BD202F}"/>
                </a:ext>
              </a:extLst>
            </p:cNvPr>
            <p:cNvSpPr/>
            <p:nvPr/>
          </p:nvSpPr>
          <p:spPr>
            <a:xfrm>
              <a:off x="12816718" y="2256927"/>
              <a:ext cx="1286621" cy="633984"/>
            </a:xfrm>
            <a:prstGeom prst="roundRect">
              <a:avLst/>
            </a:prstGeom>
            <a:solidFill>
              <a:srgbClr val="F8FAFC"/>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a:solidFill>
                    <a:srgbClr val="666666"/>
                  </a:solidFill>
                  <a:latin typeface="Microsoft YaHei"/>
                </a:rPr>
                <a:t>近1年收益</a:t>
              </a:r>
            </a:p>
            <a:p>
              <a:pPr algn="ctr"/>
              <a:r>
                <a:rPr sz="1050" b="1">
                  <a:solidFill>
                    <a:srgbClr val="D64C4C"/>
                  </a:solidFill>
                  <a:latin typeface="Microsoft YaHei"/>
                </a:rPr>
                <a:t>131.89%</a:t>
              </a:r>
            </a:p>
          </p:txBody>
        </p:sp>
        <p:sp>
          <p:nvSpPr>
            <p:cNvPr id="46" name="Rounded Rectangle 142">
              <a:extLst>
                <a:ext uri="{FF2B5EF4-FFF2-40B4-BE49-F238E27FC236}">
                  <a16:creationId xmlns="" xmlns:a16="http://schemas.microsoft.com/office/drawing/2014/main" id="{16CBDEF5-AE5A-8859-2731-8057D724D74F}"/>
                </a:ext>
              </a:extLst>
            </p:cNvPr>
            <p:cNvSpPr/>
            <p:nvPr/>
          </p:nvSpPr>
          <p:spPr>
            <a:xfrm>
              <a:off x="14200875" y="2256927"/>
              <a:ext cx="1286621" cy="633984"/>
            </a:xfrm>
            <a:prstGeom prst="roundRect">
              <a:avLst/>
            </a:prstGeom>
            <a:solidFill>
              <a:srgbClr val="F8FAFC"/>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a:solidFill>
                    <a:srgbClr val="666666"/>
                  </a:solidFill>
                  <a:latin typeface="Microsoft YaHei"/>
                </a:rPr>
                <a:t>近1年最大回撤</a:t>
              </a:r>
            </a:p>
            <a:p>
              <a:pPr algn="ctr"/>
              <a:r>
                <a:rPr sz="1050" b="1">
                  <a:solidFill>
                    <a:srgbClr val="D64C4C"/>
                  </a:solidFill>
                  <a:latin typeface="Microsoft YaHei"/>
                </a:rPr>
                <a:t>19.24%</a:t>
              </a:r>
            </a:p>
          </p:txBody>
        </p:sp>
        <p:sp>
          <p:nvSpPr>
            <p:cNvPr id="47" name="TextBox 156">
              <a:extLst>
                <a:ext uri="{FF2B5EF4-FFF2-40B4-BE49-F238E27FC236}">
                  <a16:creationId xmlns="" xmlns:a16="http://schemas.microsoft.com/office/drawing/2014/main" id="{3321F278-0E2F-25ED-444F-55D55A6D4A55}"/>
                </a:ext>
              </a:extLst>
            </p:cNvPr>
            <p:cNvSpPr txBox="1"/>
            <p:nvPr/>
          </p:nvSpPr>
          <p:spPr>
            <a:xfrm>
              <a:off x="12841100" y="3975999"/>
              <a:ext cx="2719547" cy="362620"/>
            </a:xfrm>
            <a:prstGeom prst="rect">
              <a:avLst/>
            </a:prstGeom>
            <a:noFill/>
          </p:spPr>
          <p:txBody>
            <a:bodyPr wrap="square" anchor="t">
              <a:spAutoFit/>
            </a:bodyPr>
            <a:lstStyle/>
            <a:p>
              <a:pPr algn="ctr"/>
              <a:r>
                <a:rPr sz="1000" b="1">
                  <a:solidFill>
                    <a:srgbClr val="16325C"/>
                  </a:solidFill>
                  <a:latin typeface="微软雅黑" panose="020B0503020204020204" pitchFamily="34" charset="-122"/>
                  <a:ea typeface="微软雅黑" panose="020B0503020204020204" pitchFamily="34" charset="-122"/>
                </a:rPr>
                <a:t>前十大重仓股配比</a:t>
              </a:r>
            </a:p>
          </p:txBody>
        </p:sp>
        <p:sp>
          <p:nvSpPr>
            <p:cNvPr id="48" name="t9002">
              <a:extLst>
                <a:ext uri="{FF2B5EF4-FFF2-40B4-BE49-F238E27FC236}">
                  <a16:creationId xmlns="" xmlns:a16="http://schemas.microsoft.com/office/drawing/2014/main" id="{084BD524-DBE9-E051-C9A5-76C400463632}"/>
                </a:ext>
              </a:extLst>
            </p:cNvPr>
            <p:cNvSpPr txBox="1"/>
            <p:nvPr/>
          </p:nvSpPr>
          <p:spPr>
            <a:xfrm>
              <a:off x="463296" y="3127896"/>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电子</a:t>
              </a:r>
            </a:p>
          </p:txBody>
        </p:sp>
        <p:sp>
          <p:nvSpPr>
            <p:cNvPr id="50" name="b9004">
              <a:extLst>
                <a:ext uri="{FF2B5EF4-FFF2-40B4-BE49-F238E27FC236}">
                  <a16:creationId xmlns="" xmlns:a16="http://schemas.microsoft.com/office/drawing/2014/main" id="{0ACD1BF2-A1C7-B630-E4A1-D69E66775252}"/>
                </a:ext>
              </a:extLst>
            </p:cNvPr>
            <p:cNvSpPr/>
            <p:nvPr/>
          </p:nvSpPr>
          <p:spPr>
            <a:xfrm>
              <a:off x="1170432" y="3133992"/>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51" name="b9006">
              <a:extLst>
                <a:ext uri="{FF2B5EF4-FFF2-40B4-BE49-F238E27FC236}">
                  <a16:creationId xmlns="" xmlns:a16="http://schemas.microsoft.com/office/drawing/2014/main" id="{8F51EA2A-B3D9-8C68-0F30-816FD12ED7A4}"/>
                </a:ext>
              </a:extLst>
            </p:cNvPr>
            <p:cNvSpPr/>
            <p:nvPr/>
          </p:nvSpPr>
          <p:spPr>
            <a:xfrm>
              <a:off x="1170433" y="3133992"/>
              <a:ext cx="567476" cy="121920"/>
            </a:xfrm>
            <a:prstGeom prst="roundRect">
              <a:avLst/>
            </a:prstGeom>
            <a:solidFill>
              <a:srgbClr val="EF7C44"/>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52" name="t9008">
              <a:extLst>
                <a:ext uri="{FF2B5EF4-FFF2-40B4-BE49-F238E27FC236}">
                  <a16:creationId xmlns="" xmlns:a16="http://schemas.microsoft.com/office/drawing/2014/main" id="{EE62D249-C43F-5890-56D3-329F10BE74B8}"/>
                </a:ext>
              </a:extLst>
            </p:cNvPr>
            <p:cNvSpPr txBox="1"/>
            <p:nvPr/>
          </p:nvSpPr>
          <p:spPr>
            <a:xfrm>
              <a:off x="2560320" y="3109608"/>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43.5%</a:t>
              </a:r>
            </a:p>
          </p:txBody>
        </p:sp>
        <p:sp>
          <p:nvSpPr>
            <p:cNvPr id="53" name="t9010">
              <a:extLst>
                <a:ext uri="{FF2B5EF4-FFF2-40B4-BE49-F238E27FC236}">
                  <a16:creationId xmlns="" xmlns:a16="http://schemas.microsoft.com/office/drawing/2014/main" id="{9AD7BBBD-7012-F0FA-E90C-43C7CFF57D59}"/>
                </a:ext>
              </a:extLst>
            </p:cNvPr>
            <p:cNvSpPr txBox="1"/>
            <p:nvPr/>
          </p:nvSpPr>
          <p:spPr>
            <a:xfrm>
              <a:off x="463296" y="3377832"/>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通信</a:t>
              </a:r>
            </a:p>
          </p:txBody>
        </p:sp>
        <p:sp>
          <p:nvSpPr>
            <p:cNvPr id="54" name="b9012">
              <a:extLst>
                <a:ext uri="{FF2B5EF4-FFF2-40B4-BE49-F238E27FC236}">
                  <a16:creationId xmlns="" xmlns:a16="http://schemas.microsoft.com/office/drawing/2014/main" id="{EFB90304-CB45-DE90-6896-EB646E67004D}"/>
                </a:ext>
              </a:extLst>
            </p:cNvPr>
            <p:cNvSpPr/>
            <p:nvPr/>
          </p:nvSpPr>
          <p:spPr>
            <a:xfrm>
              <a:off x="1170432" y="3383928"/>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55" name="b9014">
              <a:extLst>
                <a:ext uri="{FF2B5EF4-FFF2-40B4-BE49-F238E27FC236}">
                  <a16:creationId xmlns="" xmlns:a16="http://schemas.microsoft.com/office/drawing/2014/main" id="{356E36C5-1873-3FB8-C48A-E232B6B64FB8}"/>
                </a:ext>
              </a:extLst>
            </p:cNvPr>
            <p:cNvSpPr/>
            <p:nvPr/>
          </p:nvSpPr>
          <p:spPr>
            <a:xfrm>
              <a:off x="1170433" y="3383928"/>
              <a:ext cx="431804" cy="121920"/>
            </a:xfrm>
            <a:prstGeom prst="roundRect">
              <a:avLst/>
            </a:prstGeom>
            <a:solidFill>
              <a:srgbClr val="EF7C44"/>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56" name="t9016">
              <a:extLst>
                <a:ext uri="{FF2B5EF4-FFF2-40B4-BE49-F238E27FC236}">
                  <a16:creationId xmlns="" xmlns:a16="http://schemas.microsoft.com/office/drawing/2014/main" id="{6A148E7D-65D9-4C33-4BB2-78D37AD48BBE}"/>
                </a:ext>
              </a:extLst>
            </p:cNvPr>
            <p:cNvSpPr txBox="1"/>
            <p:nvPr/>
          </p:nvSpPr>
          <p:spPr>
            <a:xfrm>
              <a:off x="2560320" y="3359544"/>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33.1%</a:t>
              </a:r>
            </a:p>
          </p:txBody>
        </p:sp>
        <p:sp>
          <p:nvSpPr>
            <p:cNvPr id="57" name="t9018">
              <a:extLst>
                <a:ext uri="{FF2B5EF4-FFF2-40B4-BE49-F238E27FC236}">
                  <a16:creationId xmlns="" xmlns:a16="http://schemas.microsoft.com/office/drawing/2014/main" id="{2AA68AC7-E92D-3127-80C6-8012FC6FAE52}"/>
                </a:ext>
              </a:extLst>
            </p:cNvPr>
            <p:cNvSpPr txBox="1"/>
            <p:nvPr/>
          </p:nvSpPr>
          <p:spPr>
            <a:xfrm>
              <a:off x="463296" y="3627768"/>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计算机</a:t>
              </a:r>
            </a:p>
          </p:txBody>
        </p:sp>
        <p:sp>
          <p:nvSpPr>
            <p:cNvPr id="58" name="b9020">
              <a:extLst>
                <a:ext uri="{FF2B5EF4-FFF2-40B4-BE49-F238E27FC236}">
                  <a16:creationId xmlns="" xmlns:a16="http://schemas.microsoft.com/office/drawing/2014/main" id="{D0CDDE5B-65AB-16D4-BD2D-E884ED43423A}"/>
                </a:ext>
              </a:extLst>
            </p:cNvPr>
            <p:cNvSpPr/>
            <p:nvPr/>
          </p:nvSpPr>
          <p:spPr>
            <a:xfrm>
              <a:off x="1170432" y="3633864"/>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59" name="b9022">
              <a:extLst>
                <a:ext uri="{FF2B5EF4-FFF2-40B4-BE49-F238E27FC236}">
                  <a16:creationId xmlns="" xmlns:a16="http://schemas.microsoft.com/office/drawing/2014/main" id="{6AD0D5FF-493F-0E5C-4815-2AFFAFE5434E}"/>
                </a:ext>
              </a:extLst>
            </p:cNvPr>
            <p:cNvSpPr/>
            <p:nvPr/>
          </p:nvSpPr>
          <p:spPr>
            <a:xfrm>
              <a:off x="1170433" y="3633864"/>
              <a:ext cx="195681" cy="121920"/>
            </a:xfrm>
            <a:prstGeom prst="roundRect">
              <a:avLst/>
            </a:prstGeom>
            <a:solidFill>
              <a:srgbClr val="EF7C44"/>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60" name="t9024">
              <a:extLst>
                <a:ext uri="{FF2B5EF4-FFF2-40B4-BE49-F238E27FC236}">
                  <a16:creationId xmlns="" xmlns:a16="http://schemas.microsoft.com/office/drawing/2014/main" id="{DE4F97F0-07CE-6B78-FF03-A7C35EC5EC8A}"/>
                </a:ext>
              </a:extLst>
            </p:cNvPr>
            <p:cNvSpPr txBox="1"/>
            <p:nvPr/>
          </p:nvSpPr>
          <p:spPr>
            <a:xfrm>
              <a:off x="2560320" y="3609480"/>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15.0%</a:t>
              </a:r>
            </a:p>
          </p:txBody>
        </p:sp>
        <p:sp>
          <p:nvSpPr>
            <p:cNvPr id="61" name="bg9026">
              <a:extLst>
                <a:ext uri="{FF2B5EF4-FFF2-40B4-BE49-F238E27FC236}">
                  <a16:creationId xmlns="" xmlns:a16="http://schemas.microsoft.com/office/drawing/2014/main" id="{593FFE2E-0B93-1BD0-2D52-028815DD0499}"/>
                </a:ext>
              </a:extLst>
            </p:cNvPr>
            <p:cNvSpPr/>
            <p:nvPr/>
          </p:nvSpPr>
          <p:spPr>
            <a:xfrm>
              <a:off x="329184" y="4244223"/>
              <a:ext cx="2804160" cy="3962400"/>
            </a:xfrm>
            <a:prstGeom prst="roundRect">
              <a:avLst/>
            </a:prstGeom>
            <a:solidFill>
              <a:srgbClr val="FCFDFF"/>
            </a:solidFill>
            <a:ln w="9525">
              <a:solidFill>
                <a:srgbClr val="E0E4EB"/>
              </a:solidFill>
            </a:ln>
          </p:spPr>
          <p:txBody>
            <a:bodyPr rtlCol="0" anchor="ctr"/>
            <a:lstStyle/>
            <a:p>
              <a:pPr algn="ctr"/>
              <a:endParaRPr sz="700"/>
            </a:p>
          </p:txBody>
        </p:sp>
        <p:sp>
          <p:nvSpPr>
            <p:cNvPr id="62" name="t9028">
              <a:extLst>
                <a:ext uri="{FF2B5EF4-FFF2-40B4-BE49-F238E27FC236}">
                  <a16:creationId xmlns="" xmlns:a16="http://schemas.microsoft.com/office/drawing/2014/main" id="{F494ABBF-210D-2C33-2FF6-B9127A9254E9}"/>
                </a:ext>
              </a:extLst>
            </p:cNvPr>
            <p:cNvSpPr txBox="1"/>
            <p:nvPr/>
          </p:nvSpPr>
          <p:spPr>
            <a:xfrm>
              <a:off x="426720" y="4433199"/>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1. 澜起科技</a:t>
              </a:r>
            </a:p>
          </p:txBody>
        </p:sp>
        <p:sp>
          <p:nvSpPr>
            <p:cNvPr id="63" name="b9030">
              <a:extLst>
                <a:ext uri="{FF2B5EF4-FFF2-40B4-BE49-F238E27FC236}">
                  <a16:creationId xmlns="" xmlns:a16="http://schemas.microsoft.com/office/drawing/2014/main" id="{60B2A0FB-AF00-A3C5-C4B1-1A57CF4DC119}"/>
                </a:ext>
              </a:extLst>
            </p:cNvPr>
            <p:cNvSpPr/>
            <p:nvPr/>
          </p:nvSpPr>
          <p:spPr>
            <a:xfrm>
              <a:off x="1402080" y="4445391"/>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64" name="b9032">
              <a:extLst>
                <a:ext uri="{FF2B5EF4-FFF2-40B4-BE49-F238E27FC236}">
                  <a16:creationId xmlns="" xmlns:a16="http://schemas.microsoft.com/office/drawing/2014/main" id="{0CFAB26F-F53A-222A-1643-04E6C2840F18}"/>
                </a:ext>
              </a:extLst>
            </p:cNvPr>
            <p:cNvSpPr/>
            <p:nvPr/>
          </p:nvSpPr>
          <p:spPr>
            <a:xfrm>
              <a:off x="1402080" y="4445391"/>
              <a:ext cx="1121664" cy="140208"/>
            </a:xfrm>
            <a:prstGeom prst="roundRect">
              <a:avLst/>
            </a:prstGeom>
            <a:solidFill>
              <a:srgbClr val="EF7C44"/>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65" name="t9034">
              <a:extLst>
                <a:ext uri="{FF2B5EF4-FFF2-40B4-BE49-F238E27FC236}">
                  <a16:creationId xmlns="" xmlns:a16="http://schemas.microsoft.com/office/drawing/2014/main" id="{7953474D-8068-04C9-107D-7539C1E683F2}"/>
                </a:ext>
              </a:extLst>
            </p:cNvPr>
            <p:cNvSpPr txBox="1"/>
            <p:nvPr/>
          </p:nvSpPr>
          <p:spPr>
            <a:xfrm>
              <a:off x="2572512" y="4433199"/>
              <a:ext cx="536448" cy="170688"/>
            </a:xfrm>
            <a:prstGeom prst="rect">
              <a:avLst/>
            </a:prstGeom>
            <a:noFill/>
          </p:spPr>
          <p:txBody>
            <a:bodyPr wrap="square" lIns="0" tIns="0" rIns="0" bIns="0" anchor="ctr"/>
            <a:lstStyle/>
            <a:p>
              <a:pPr algn="r"/>
              <a:r>
                <a:rPr sz="1000" b="1">
                  <a:solidFill>
                    <a:srgbClr val="EF7C44"/>
                  </a:solidFill>
                  <a:latin typeface="微软雅黑" panose="020B0503020204020204" pitchFamily="34" charset="-122"/>
                  <a:ea typeface="微软雅黑" panose="020B0503020204020204" pitchFamily="34" charset="-122"/>
                </a:rPr>
                <a:t>14.8%</a:t>
              </a:r>
            </a:p>
          </p:txBody>
        </p:sp>
        <p:sp>
          <p:nvSpPr>
            <p:cNvPr id="66" name="t9036">
              <a:extLst>
                <a:ext uri="{FF2B5EF4-FFF2-40B4-BE49-F238E27FC236}">
                  <a16:creationId xmlns="" xmlns:a16="http://schemas.microsoft.com/office/drawing/2014/main" id="{48297DF2-46BA-DF06-FE52-2BFE06304220}"/>
                </a:ext>
              </a:extLst>
            </p:cNvPr>
            <p:cNvSpPr txBox="1"/>
            <p:nvPr/>
          </p:nvSpPr>
          <p:spPr>
            <a:xfrm>
              <a:off x="426720" y="4805055"/>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2. 中际旭创</a:t>
              </a:r>
            </a:p>
          </p:txBody>
        </p:sp>
        <p:sp>
          <p:nvSpPr>
            <p:cNvPr id="67" name="b9038">
              <a:extLst>
                <a:ext uri="{FF2B5EF4-FFF2-40B4-BE49-F238E27FC236}">
                  <a16:creationId xmlns="" xmlns:a16="http://schemas.microsoft.com/office/drawing/2014/main" id="{B20D3DB5-1716-4D78-218B-0F763A705FFB}"/>
                </a:ext>
              </a:extLst>
            </p:cNvPr>
            <p:cNvSpPr/>
            <p:nvPr/>
          </p:nvSpPr>
          <p:spPr>
            <a:xfrm>
              <a:off x="1402080" y="4817247"/>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68" name="b9040">
              <a:extLst>
                <a:ext uri="{FF2B5EF4-FFF2-40B4-BE49-F238E27FC236}">
                  <a16:creationId xmlns="" xmlns:a16="http://schemas.microsoft.com/office/drawing/2014/main" id="{59F8C7EA-F2D6-244A-8D4A-061D6B406713}"/>
                </a:ext>
              </a:extLst>
            </p:cNvPr>
            <p:cNvSpPr/>
            <p:nvPr/>
          </p:nvSpPr>
          <p:spPr>
            <a:xfrm>
              <a:off x="1402080" y="4817247"/>
              <a:ext cx="1106507" cy="140208"/>
            </a:xfrm>
            <a:prstGeom prst="roundRect">
              <a:avLst/>
            </a:prstGeom>
            <a:solidFill>
              <a:srgbClr val="EF7C44"/>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69" name="t9042">
              <a:extLst>
                <a:ext uri="{FF2B5EF4-FFF2-40B4-BE49-F238E27FC236}">
                  <a16:creationId xmlns="" xmlns:a16="http://schemas.microsoft.com/office/drawing/2014/main" id="{B7D1B7C7-08D2-DD11-6E96-23B078549359}"/>
                </a:ext>
              </a:extLst>
            </p:cNvPr>
            <p:cNvSpPr txBox="1"/>
            <p:nvPr/>
          </p:nvSpPr>
          <p:spPr>
            <a:xfrm>
              <a:off x="2572512" y="4805055"/>
              <a:ext cx="536448" cy="170688"/>
            </a:xfrm>
            <a:prstGeom prst="rect">
              <a:avLst/>
            </a:prstGeom>
            <a:noFill/>
          </p:spPr>
          <p:txBody>
            <a:bodyPr wrap="square" lIns="0" tIns="0" rIns="0" bIns="0" anchor="ctr"/>
            <a:lstStyle/>
            <a:p>
              <a:pPr algn="r"/>
              <a:r>
                <a:rPr sz="1000" b="1">
                  <a:solidFill>
                    <a:srgbClr val="EF7C44"/>
                  </a:solidFill>
                  <a:latin typeface="微软雅黑" panose="020B0503020204020204" pitchFamily="34" charset="-122"/>
                  <a:ea typeface="微软雅黑" panose="020B0503020204020204" pitchFamily="34" charset="-122"/>
                </a:rPr>
                <a:t>14.6%</a:t>
              </a:r>
            </a:p>
          </p:txBody>
        </p:sp>
        <p:sp>
          <p:nvSpPr>
            <p:cNvPr id="70" name="t9044">
              <a:extLst>
                <a:ext uri="{FF2B5EF4-FFF2-40B4-BE49-F238E27FC236}">
                  <a16:creationId xmlns="" xmlns:a16="http://schemas.microsoft.com/office/drawing/2014/main" id="{63238452-E803-3D4A-431A-19FE2CD1AEC5}"/>
                </a:ext>
              </a:extLst>
            </p:cNvPr>
            <p:cNvSpPr txBox="1"/>
            <p:nvPr/>
          </p:nvSpPr>
          <p:spPr>
            <a:xfrm>
              <a:off x="426720" y="5176911"/>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3. 新易盛</a:t>
              </a:r>
            </a:p>
          </p:txBody>
        </p:sp>
        <p:sp>
          <p:nvSpPr>
            <p:cNvPr id="71" name="b9046">
              <a:extLst>
                <a:ext uri="{FF2B5EF4-FFF2-40B4-BE49-F238E27FC236}">
                  <a16:creationId xmlns="" xmlns:a16="http://schemas.microsoft.com/office/drawing/2014/main" id="{FC117609-8E4F-4480-2829-D69E64439F44}"/>
                </a:ext>
              </a:extLst>
            </p:cNvPr>
            <p:cNvSpPr/>
            <p:nvPr/>
          </p:nvSpPr>
          <p:spPr>
            <a:xfrm>
              <a:off x="1402080" y="5189103"/>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72" name="b9048">
              <a:extLst>
                <a:ext uri="{FF2B5EF4-FFF2-40B4-BE49-F238E27FC236}">
                  <a16:creationId xmlns="" xmlns:a16="http://schemas.microsoft.com/office/drawing/2014/main" id="{CFC4DEE8-D6DB-AA70-C784-500D749419F6}"/>
                </a:ext>
              </a:extLst>
            </p:cNvPr>
            <p:cNvSpPr/>
            <p:nvPr/>
          </p:nvSpPr>
          <p:spPr>
            <a:xfrm>
              <a:off x="1402080" y="5189103"/>
              <a:ext cx="947352" cy="140208"/>
            </a:xfrm>
            <a:prstGeom prst="roundRect">
              <a:avLst/>
            </a:prstGeom>
            <a:solidFill>
              <a:srgbClr val="EF7C44"/>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73" name="t9050">
              <a:extLst>
                <a:ext uri="{FF2B5EF4-FFF2-40B4-BE49-F238E27FC236}">
                  <a16:creationId xmlns="" xmlns:a16="http://schemas.microsoft.com/office/drawing/2014/main" id="{D4FDFD00-EDD5-02FD-BC0E-CA7CA91BFAB6}"/>
                </a:ext>
              </a:extLst>
            </p:cNvPr>
            <p:cNvSpPr txBox="1"/>
            <p:nvPr/>
          </p:nvSpPr>
          <p:spPr>
            <a:xfrm>
              <a:off x="2572512" y="5176911"/>
              <a:ext cx="536448" cy="170688"/>
            </a:xfrm>
            <a:prstGeom prst="rect">
              <a:avLst/>
            </a:prstGeom>
            <a:noFill/>
          </p:spPr>
          <p:txBody>
            <a:bodyPr wrap="square" lIns="0" tIns="0" rIns="0" bIns="0" anchor="ctr"/>
            <a:lstStyle/>
            <a:p>
              <a:pPr algn="r"/>
              <a:r>
                <a:rPr sz="1000" b="1">
                  <a:solidFill>
                    <a:srgbClr val="EF7C44"/>
                  </a:solidFill>
                  <a:latin typeface="微软雅黑" panose="020B0503020204020204" pitchFamily="34" charset="-122"/>
                  <a:ea typeface="微软雅黑" panose="020B0503020204020204" pitchFamily="34" charset="-122"/>
                </a:rPr>
                <a:t>12.5%</a:t>
              </a:r>
            </a:p>
          </p:txBody>
        </p:sp>
        <p:sp>
          <p:nvSpPr>
            <p:cNvPr id="74" name="t9052">
              <a:extLst>
                <a:ext uri="{FF2B5EF4-FFF2-40B4-BE49-F238E27FC236}">
                  <a16:creationId xmlns="" xmlns:a16="http://schemas.microsoft.com/office/drawing/2014/main" id="{E67E6FDF-0F52-5136-D74C-9FE233CB067F}"/>
                </a:ext>
              </a:extLst>
            </p:cNvPr>
            <p:cNvSpPr txBox="1"/>
            <p:nvPr/>
          </p:nvSpPr>
          <p:spPr>
            <a:xfrm>
              <a:off x="426720" y="5548767"/>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4. 寒武纪</a:t>
              </a:r>
            </a:p>
          </p:txBody>
        </p:sp>
        <p:sp>
          <p:nvSpPr>
            <p:cNvPr id="77" name="b9054">
              <a:extLst>
                <a:ext uri="{FF2B5EF4-FFF2-40B4-BE49-F238E27FC236}">
                  <a16:creationId xmlns="" xmlns:a16="http://schemas.microsoft.com/office/drawing/2014/main" id="{379FECF6-7253-525B-23EC-3BA6266E119A}"/>
                </a:ext>
              </a:extLst>
            </p:cNvPr>
            <p:cNvSpPr/>
            <p:nvPr/>
          </p:nvSpPr>
          <p:spPr>
            <a:xfrm>
              <a:off x="1402080" y="5560959"/>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78" name="b9056">
              <a:extLst>
                <a:ext uri="{FF2B5EF4-FFF2-40B4-BE49-F238E27FC236}">
                  <a16:creationId xmlns="" xmlns:a16="http://schemas.microsoft.com/office/drawing/2014/main" id="{86918A46-2C8A-8897-5BC3-8A4B627EC216}"/>
                </a:ext>
              </a:extLst>
            </p:cNvPr>
            <p:cNvSpPr/>
            <p:nvPr/>
          </p:nvSpPr>
          <p:spPr>
            <a:xfrm>
              <a:off x="1402081" y="5560959"/>
              <a:ext cx="750303" cy="140208"/>
            </a:xfrm>
            <a:prstGeom prst="roundRect">
              <a:avLst/>
            </a:prstGeom>
            <a:solidFill>
              <a:srgbClr val="EF7C44"/>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79" name="t9058">
              <a:extLst>
                <a:ext uri="{FF2B5EF4-FFF2-40B4-BE49-F238E27FC236}">
                  <a16:creationId xmlns="" xmlns:a16="http://schemas.microsoft.com/office/drawing/2014/main" id="{446E8493-35CF-81FD-8052-7B2027B77B03}"/>
                </a:ext>
              </a:extLst>
            </p:cNvPr>
            <p:cNvSpPr txBox="1"/>
            <p:nvPr/>
          </p:nvSpPr>
          <p:spPr>
            <a:xfrm>
              <a:off x="2572512" y="5548767"/>
              <a:ext cx="536448" cy="170688"/>
            </a:xfrm>
            <a:prstGeom prst="rect">
              <a:avLst/>
            </a:prstGeom>
            <a:noFill/>
          </p:spPr>
          <p:txBody>
            <a:bodyPr wrap="square" lIns="0" tIns="0" rIns="0" bIns="0" anchor="ctr"/>
            <a:lstStyle/>
            <a:p>
              <a:pPr algn="r"/>
              <a:r>
                <a:rPr sz="1000" b="1">
                  <a:solidFill>
                    <a:srgbClr val="EF7C44"/>
                  </a:solidFill>
                  <a:latin typeface="微软雅黑" panose="020B0503020204020204" pitchFamily="34" charset="-122"/>
                  <a:ea typeface="微软雅黑" panose="020B0503020204020204" pitchFamily="34" charset="-122"/>
                </a:rPr>
                <a:t>9.9%</a:t>
              </a:r>
            </a:p>
          </p:txBody>
        </p:sp>
        <p:sp>
          <p:nvSpPr>
            <p:cNvPr id="80" name="t9060">
              <a:extLst>
                <a:ext uri="{FF2B5EF4-FFF2-40B4-BE49-F238E27FC236}">
                  <a16:creationId xmlns="" xmlns:a16="http://schemas.microsoft.com/office/drawing/2014/main" id="{EBB3E1AD-0947-69D7-5BED-7ED2669F3833}"/>
                </a:ext>
              </a:extLst>
            </p:cNvPr>
            <p:cNvSpPr txBox="1"/>
            <p:nvPr/>
          </p:nvSpPr>
          <p:spPr>
            <a:xfrm>
              <a:off x="426720" y="5920623"/>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5. 芯原股份</a:t>
              </a:r>
            </a:p>
          </p:txBody>
        </p:sp>
        <p:sp>
          <p:nvSpPr>
            <p:cNvPr id="81" name="b9062">
              <a:extLst>
                <a:ext uri="{FF2B5EF4-FFF2-40B4-BE49-F238E27FC236}">
                  <a16:creationId xmlns="" xmlns:a16="http://schemas.microsoft.com/office/drawing/2014/main" id="{1433B825-A6D7-71F4-204D-264A8D055AEB}"/>
                </a:ext>
              </a:extLst>
            </p:cNvPr>
            <p:cNvSpPr/>
            <p:nvPr/>
          </p:nvSpPr>
          <p:spPr>
            <a:xfrm>
              <a:off x="1402080" y="5932815"/>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82" name="b9064">
              <a:extLst>
                <a:ext uri="{FF2B5EF4-FFF2-40B4-BE49-F238E27FC236}">
                  <a16:creationId xmlns="" xmlns:a16="http://schemas.microsoft.com/office/drawing/2014/main" id="{61230FA5-08AB-CD23-AC52-B9D2E10CD294}"/>
                </a:ext>
              </a:extLst>
            </p:cNvPr>
            <p:cNvSpPr/>
            <p:nvPr/>
          </p:nvSpPr>
          <p:spPr>
            <a:xfrm>
              <a:off x="1402081" y="5932815"/>
              <a:ext cx="348625" cy="140208"/>
            </a:xfrm>
            <a:prstGeom prst="roundRect">
              <a:avLst/>
            </a:prstGeom>
            <a:solidFill>
              <a:srgbClr val="EF7C44"/>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83" name="t9066">
              <a:extLst>
                <a:ext uri="{FF2B5EF4-FFF2-40B4-BE49-F238E27FC236}">
                  <a16:creationId xmlns="" xmlns:a16="http://schemas.microsoft.com/office/drawing/2014/main" id="{AA868A1A-5AEC-8E7E-AD2F-67EC36EB1885}"/>
                </a:ext>
              </a:extLst>
            </p:cNvPr>
            <p:cNvSpPr txBox="1"/>
            <p:nvPr/>
          </p:nvSpPr>
          <p:spPr>
            <a:xfrm>
              <a:off x="2572512" y="5920623"/>
              <a:ext cx="536448" cy="170688"/>
            </a:xfrm>
            <a:prstGeom prst="rect">
              <a:avLst/>
            </a:prstGeom>
            <a:noFill/>
          </p:spPr>
          <p:txBody>
            <a:bodyPr wrap="square" lIns="0" tIns="0" rIns="0" bIns="0" anchor="ctr"/>
            <a:lstStyle/>
            <a:p>
              <a:pPr algn="r"/>
              <a:r>
                <a:rPr sz="1000" b="1">
                  <a:solidFill>
                    <a:srgbClr val="EF7C44"/>
                  </a:solidFill>
                  <a:latin typeface="微软雅黑" panose="020B0503020204020204" pitchFamily="34" charset="-122"/>
                  <a:ea typeface="微软雅黑" panose="020B0503020204020204" pitchFamily="34" charset="-122"/>
                </a:rPr>
                <a:t>4.6%</a:t>
              </a:r>
            </a:p>
          </p:txBody>
        </p:sp>
        <p:sp>
          <p:nvSpPr>
            <p:cNvPr id="84" name="t9068">
              <a:extLst>
                <a:ext uri="{FF2B5EF4-FFF2-40B4-BE49-F238E27FC236}">
                  <a16:creationId xmlns="" xmlns:a16="http://schemas.microsoft.com/office/drawing/2014/main" id="{AB1CBE16-3A35-35BE-C5FC-133E5B9ACF71}"/>
                </a:ext>
              </a:extLst>
            </p:cNvPr>
            <p:cNvSpPr txBox="1"/>
            <p:nvPr/>
          </p:nvSpPr>
          <p:spPr>
            <a:xfrm>
              <a:off x="426720" y="6292479"/>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6. 协创数据</a:t>
              </a:r>
            </a:p>
          </p:txBody>
        </p:sp>
        <p:sp>
          <p:nvSpPr>
            <p:cNvPr id="85" name="b9070">
              <a:extLst>
                <a:ext uri="{FF2B5EF4-FFF2-40B4-BE49-F238E27FC236}">
                  <a16:creationId xmlns="" xmlns:a16="http://schemas.microsoft.com/office/drawing/2014/main" id="{F1F04AF1-89BE-FCBA-085B-702BB7956D0B}"/>
                </a:ext>
              </a:extLst>
            </p:cNvPr>
            <p:cNvSpPr/>
            <p:nvPr/>
          </p:nvSpPr>
          <p:spPr>
            <a:xfrm>
              <a:off x="1402080" y="6304671"/>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86" name="b9072">
              <a:extLst>
                <a:ext uri="{FF2B5EF4-FFF2-40B4-BE49-F238E27FC236}">
                  <a16:creationId xmlns="" xmlns:a16="http://schemas.microsoft.com/office/drawing/2014/main" id="{65C66EC1-20BB-EBCA-9AD8-57EAC9020229}"/>
                </a:ext>
              </a:extLst>
            </p:cNvPr>
            <p:cNvSpPr/>
            <p:nvPr/>
          </p:nvSpPr>
          <p:spPr>
            <a:xfrm>
              <a:off x="1402080" y="6304671"/>
              <a:ext cx="310731" cy="140208"/>
            </a:xfrm>
            <a:prstGeom prst="roundRect">
              <a:avLst/>
            </a:prstGeom>
            <a:solidFill>
              <a:srgbClr val="EF7C44"/>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87" name="t9074">
              <a:extLst>
                <a:ext uri="{FF2B5EF4-FFF2-40B4-BE49-F238E27FC236}">
                  <a16:creationId xmlns="" xmlns:a16="http://schemas.microsoft.com/office/drawing/2014/main" id="{A246332B-FF48-7752-A3E6-BEE275A42F18}"/>
                </a:ext>
              </a:extLst>
            </p:cNvPr>
            <p:cNvSpPr txBox="1"/>
            <p:nvPr/>
          </p:nvSpPr>
          <p:spPr>
            <a:xfrm>
              <a:off x="2572512" y="6292479"/>
              <a:ext cx="536448" cy="170688"/>
            </a:xfrm>
            <a:prstGeom prst="rect">
              <a:avLst/>
            </a:prstGeom>
            <a:noFill/>
          </p:spPr>
          <p:txBody>
            <a:bodyPr wrap="square" lIns="0" tIns="0" rIns="0" bIns="0" anchor="ctr"/>
            <a:lstStyle/>
            <a:p>
              <a:pPr algn="r"/>
              <a:r>
                <a:rPr sz="1000" b="1">
                  <a:solidFill>
                    <a:srgbClr val="EF7C44"/>
                  </a:solidFill>
                  <a:latin typeface="微软雅黑" panose="020B0503020204020204" pitchFamily="34" charset="-122"/>
                  <a:ea typeface="微软雅黑" panose="020B0503020204020204" pitchFamily="34" charset="-122"/>
                </a:rPr>
                <a:t>4.1%</a:t>
              </a:r>
            </a:p>
          </p:txBody>
        </p:sp>
        <p:sp>
          <p:nvSpPr>
            <p:cNvPr id="88" name="t9076">
              <a:extLst>
                <a:ext uri="{FF2B5EF4-FFF2-40B4-BE49-F238E27FC236}">
                  <a16:creationId xmlns="" xmlns:a16="http://schemas.microsoft.com/office/drawing/2014/main" id="{8CFCA92F-8B1E-5E69-7BB6-95997FB2F2DD}"/>
                </a:ext>
              </a:extLst>
            </p:cNvPr>
            <p:cNvSpPr txBox="1"/>
            <p:nvPr/>
          </p:nvSpPr>
          <p:spPr>
            <a:xfrm>
              <a:off x="426720" y="6664335"/>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7. 润泽科技</a:t>
              </a:r>
            </a:p>
          </p:txBody>
        </p:sp>
        <p:sp>
          <p:nvSpPr>
            <p:cNvPr id="89" name="b9078">
              <a:extLst>
                <a:ext uri="{FF2B5EF4-FFF2-40B4-BE49-F238E27FC236}">
                  <a16:creationId xmlns="" xmlns:a16="http://schemas.microsoft.com/office/drawing/2014/main" id="{35816F76-C97C-C0D4-E3C2-2344725F3A31}"/>
                </a:ext>
              </a:extLst>
            </p:cNvPr>
            <p:cNvSpPr/>
            <p:nvPr/>
          </p:nvSpPr>
          <p:spPr>
            <a:xfrm>
              <a:off x="1402080" y="6676527"/>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90" name="b9080">
              <a:extLst>
                <a:ext uri="{FF2B5EF4-FFF2-40B4-BE49-F238E27FC236}">
                  <a16:creationId xmlns="" xmlns:a16="http://schemas.microsoft.com/office/drawing/2014/main" id="{4155050E-9D84-07C0-D84F-EBDC4F3E2A41}"/>
                </a:ext>
              </a:extLst>
            </p:cNvPr>
            <p:cNvSpPr/>
            <p:nvPr/>
          </p:nvSpPr>
          <p:spPr>
            <a:xfrm>
              <a:off x="1402080" y="6676527"/>
              <a:ext cx="265259" cy="140208"/>
            </a:xfrm>
            <a:prstGeom prst="roundRect">
              <a:avLst/>
            </a:prstGeom>
            <a:solidFill>
              <a:srgbClr val="EF7C44"/>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91" name="t9082">
              <a:extLst>
                <a:ext uri="{FF2B5EF4-FFF2-40B4-BE49-F238E27FC236}">
                  <a16:creationId xmlns="" xmlns:a16="http://schemas.microsoft.com/office/drawing/2014/main" id="{4642C18D-BA6B-1016-22D0-FD68BE59F639}"/>
                </a:ext>
              </a:extLst>
            </p:cNvPr>
            <p:cNvSpPr txBox="1"/>
            <p:nvPr/>
          </p:nvSpPr>
          <p:spPr>
            <a:xfrm>
              <a:off x="2572512" y="6664335"/>
              <a:ext cx="536448" cy="170688"/>
            </a:xfrm>
            <a:prstGeom prst="rect">
              <a:avLst/>
            </a:prstGeom>
            <a:noFill/>
          </p:spPr>
          <p:txBody>
            <a:bodyPr wrap="square" lIns="0" tIns="0" rIns="0" bIns="0" anchor="ctr"/>
            <a:lstStyle/>
            <a:p>
              <a:pPr algn="r"/>
              <a:r>
                <a:rPr sz="1000" b="1">
                  <a:solidFill>
                    <a:srgbClr val="EF7C44"/>
                  </a:solidFill>
                  <a:latin typeface="微软雅黑" panose="020B0503020204020204" pitchFamily="34" charset="-122"/>
                  <a:ea typeface="微软雅黑" panose="020B0503020204020204" pitchFamily="34" charset="-122"/>
                </a:rPr>
                <a:t>3.5%</a:t>
              </a:r>
            </a:p>
          </p:txBody>
        </p:sp>
        <p:sp>
          <p:nvSpPr>
            <p:cNvPr id="92" name="t9084">
              <a:extLst>
                <a:ext uri="{FF2B5EF4-FFF2-40B4-BE49-F238E27FC236}">
                  <a16:creationId xmlns="" xmlns:a16="http://schemas.microsoft.com/office/drawing/2014/main" id="{EA338331-9E2E-3875-EF86-4D6B019F43B1}"/>
                </a:ext>
              </a:extLst>
            </p:cNvPr>
            <p:cNvSpPr txBox="1"/>
            <p:nvPr/>
          </p:nvSpPr>
          <p:spPr>
            <a:xfrm>
              <a:off x="426720" y="7036191"/>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8. 金山办公</a:t>
              </a:r>
            </a:p>
          </p:txBody>
        </p:sp>
        <p:sp>
          <p:nvSpPr>
            <p:cNvPr id="93" name="b9086">
              <a:extLst>
                <a:ext uri="{FF2B5EF4-FFF2-40B4-BE49-F238E27FC236}">
                  <a16:creationId xmlns="" xmlns:a16="http://schemas.microsoft.com/office/drawing/2014/main" id="{9C693C38-5031-1521-3F8F-BF7BFBFF0194}"/>
                </a:ext>
              </a:extLst>
            </p:cNvPr>
            <p:cNvSpPr/>
            <p:nvPr/>
          </p:nvSpPr>
          <p:spPr>
            <a:xfrm>
              <a:off x="1402080" y="7048383"/>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94" name="b9088">
              <a:extLst>
                <a:ext uri="{FF2B5EF4-FFF2-40B4-BE49-F238E27FC236}">
                  <a16:creationId xmlns="" xmlns:a16="http://schemas.microsoft.com/office/drawing/2014/main" id="{DA1C4BBF-3015-1C18-1B8E-FDB5831FC756}"/>
                </a:ext>
              </a:extLst>
            </p:cNvPr>
            <p:cNvSpPr/>
            <p:nvPr/>
          </p:nvSpPr>
          <p:spPr>
            <a:xfrm>
              <a:off x="1402081" y="7048383"/>
              <a:ext cx="212207" cy="140208"/>
            </a:xfrm>
            <a:prstGeom prst="roundRect">
              <a:avLst/>
            </a:prstGeom>
            <a:solidFill>
              <a:srgbClr val="EF7C44"/>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95" name="t9090">
              <a:extLst>
                <a:ext uri="{FF2B5EF4-FFF2-40B4-BE49-F238E27FC236}">
                  <a16:creationId xmlns="" xmlns:a16="http://schemas.microsoft.com/office/drawing/2014/main" id="{016B1316-9E8A-E797-3505-5876E7157652}"/>
                </a:ext>
              </a:extLst>
            </p:cNvPr>
            <p:cNvSpPr txBox="1"/>
            <p:nvPr/>
          </p:nvSpPr>
          <p:spPr>
            <a:xfrm>
              <a:off x="2572512" y="7036191"/>
              <a:ext cx="536448" cy="170688"/>
            </a:xfrm>
            <a:prstGeom prst="rect">
              <a:avLst/>
            </a:prstGeom>
            <a:noFill/>
          </p:spPr>
          <p:txBody>
            <a:bodyPr wrap="square" lIns="0" tIns="0" rIns="0" bIns="0" anchor="ctr"/>
            <a:lstStyle/>
            <a:p>
              <a:pPr algn="r"/>
              <a:r>
                <a:rPr sz="1000" b="1">
                  <a:solidFill>
                    <a:srgbClr val="EF7C44"/>
                  </a:solidFill>
                  <a:latin typeface="微软雅黑" panose="020B0503020204020204" pitchFamily="34" charset="-122"/>
                  <a:ea typeface="微软雅黑" panose="020B0503020204020204" pitchFamily="34" charset="-122"/>
                </a:rPr>
                <a:t>2.8%</a:t>
              </a:r>
            </a:p>
          </p:txBody>
        </p:sp>
        <p:sp>
          <p:nvSpPr>
            <p:cNvPr id="96" name="t9092">
              <a:extLst>
                <a:ext uri="{FF2B5EF4-FFF2-40B4-BE49-F238E27FC236}">
                  <a16:creationId xmlns="" xmlns:a16="http://schemas.microsoft.com/office/drawing/2014/main" id="{F09C2654-23A2-2541-488E-18BEB75D53AA}"/>
                </a:ext>
              </a:extLst>
            </p:cNvPr>
            <p:cNvSpPr txBox="1"/>
            <p:nvPr/>
          </p:nvSpPr>
          <p:spPr>
            <a:xfrm>
              <a:off x="426720" y="7408047"/>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9. 北京君正</a:t>
              </a:r>
            </a:p>
          </p:txBody>
        </p:sp>
        <p:sp>
          <p:nvSpPr>
            <p:cNvPr id="97" name="b9094">
              <a:extLst>
                <a:ext uri="{FF2B5EF4-FFF2-40B4-BE49-F238E27FC236}">
                  <a16:creationId xmlns="" xmlns:a16="http://schemas.microsoft.com/office/drawing/2014/main" id="{83B64A2E-F51C-3919-4886-ECF6BF7C930B}"/>
                </a:ext>
              </a:extLst>
            </p:cNvPr>
            <p:cNvSpPr/>
            <p:nvPr/>
          </p:nvSpPr>
          <p:spPr>
            <a:xfrm>
              <a:off x="1402080" y="7420239"/>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98" name="b9096">
              <a:extLst>
                <a:ext uri="{FF2B5EF4-FFF2-40B4-BE49-F238E27FC236}">
                  <a16:creationId xmlns="" xmlns:a16="http://schemas.microsoft.com/office/drawing/2014/main" id="{E7A56375-37F3-0EF2-D04D-E826A9655FD1}"/>
                </a:ext>
              </a:extLst>
            </p:cNvPr>
            <p:cNvSpPr/>
            <p:nvPr/>
          </p:nvSpPr>
          <p:spPr>
            <a:xfrm>
              <a:off x="1402081" y="7420239"/>
              <a:ext cx="204628" cy="140208"/>
            </a:xfrm>
            <a:prstGeom prst="roundRect">
              <a:avLst/>
            </a:prstGeom>
            <a:solidFill>
              <a:srgbClr val="EF7C44"/>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99" name="t9098">
              <a:extLst>
                <a:ext uri="{FF2B5EF4-FFF2-40B4-BE49-F238E27FC236}">
                  <a16:creationId xmlns="" xmlns:a16="http://schemas.microsoft.com/office/drawing/2014/main" id="{5B4D9DC5-4D6C-A3AD-3017-E9CD9F77D544}"/>
                </a:ext>
              </a:extLst>
            </p:cNvPr>
            <p:cNvSpPr txBox="1"/>
            <p:nvPr/>
          </p:nvSpPr>
          <p:spPr>
            <a:xfrm>
              <a:off x="2572512" y="7408047"/>
              <a:ext cx="536448" cy="170688"/>
            </a:xfrm>
            <a:prstGeom prst="rect">
              <a:avLst/>
            </a:prstGeom>
            <a:noFill/>
          </p:spPr>
          <p:txBody>
            <a:bodyPr wrap="square" lIns="0" tIns="0" rIns="0" bIns="0" anchor="ctr"/>
            <a:lstStyle/>
            <a:p>
              <a:pPr algn="r"/>
              <a:r>
                <a:rPr sz="1000" b="1">
                  <a:solidFill>
                    <a:srgbClr val="EF7C44"/>
                  </a:solidFill>
                  <a:latin typeface="微软雅黑" panose="020B0503020204020204" pitchFamily="34" charset="-122"/>
                  <a:ea typeface="微软雅黑" panose="020B0503020204020204" pitchFamily="34" charset="-122"/>
                </a:rPr>
                <a:t>2.7%</a:t>
              </a:r>
            </a:p>
          </p:txBody>
        </p:sp>
        <p:sp>
          <p:nvSpPr>
            <p:cNvPr id="100" name="t9100">
              <a:extLst>
                <a:ext uri="{FF2B5EF4-FFF2-40B4-BE49-F238E27FC236}">
                  <a16:creationId xmlns="" xmlns:a16="http://schemas.microsoft.com/office/drawing/2014/main" id="{6520D37A-51D9-2CF4-4AFB-C979FCE38EF6}"/>
                </a:ext>
              </a:extLst>
            </p:cNvPr>
            <p:cNvSpPr txBox="1"/>
            <p:nvPr/>
          </p:nvSpPr>
          <p:spPr>
            <a:xfrm>
              <a:off x="426720" y="7779903"/>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10. 昆仑万维</a:t>
              </a:r>
            </a:p>
          </p:txBody>
        </p:sp>
        <p:sp>
          <p:nvSpPr>
            <p:cNvPr id="101" name="b9102">
              <a:extLst>
                <a:ext uri="{FF2B5EF4-FFF2-40B4-BE49-F238E27FC236}">
                  <a16:creationId xmlns="" xmlns:a16="http://schemas.microsoft.com/office/drawing/2014/main" id="{CBBA4C8B-435D-763B-DA1C-D008D0DCA9F6}"/>
                </a:ext>
              </a:extLst>
            </p:cNvPr>
            <p:cNvSpPr/>
            <p:nvPr/>
          </p:nvSpPr>
          <p:spPr>
            <a:xfrm>
              <a:off x="1402080" y="7792095"/>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02" name="b9104">
              <a:extLst>
                <a:ext uri="{FF2B5EF4-FFF2-40B4-BE49-F238E27FC236}">
                  <a16:creationId xmlns="" xmlns:a16="http://schemas.microsoft.com/office/drawing/2014/main" id="{04A75D34-1082-48FC-F699-6D3A8AABF9F7}"/>
                </a:ext>
              </a:extLst>
            </p:cNvPr>
            <p:cNvSpPr/>
            <p:nvPr/>
          </p:nvSpPr>
          <p:spPr>
            <a:xfrm>
              <a:off x="1402080" y="7792095"/>
              <a:ext cx="151576" cy="140208"/>
            </a:xfrm>
            <a:prstGeom prst="roundRect">
              <a:avLst/>
            </a:prstGeom>
            <a:solidFill>
              <a:srgbClr val="EF7C44"/>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03" name="t9106">
              <a:extLst>
                <a:ext uri="{FF2B5EF4-FFF2-40B4-BE49-F238E27FC236}">
                  <a16:creationId xmlns="" xmlns:a16="http://schemas.microsoft.com/office/drawing/2014/main" id="{2A734578-8670-39C1-E4DB-3C99901C471D}"/>
                </a:ext>
              </a:extLst>
            </p:cNvPr>
            <p:cNvSpPr txBox="1"/>
            <p:nvPr/>
          </p:nvSpPr>
          <p:spPr>
            <a:xfrm>
              <a:off x="2572512" y="7779903"/>
              <a:ext cx="536448" cy="170688"/>
            </a:xfrm>
            <a:prstGeom prst="rect">
              <a:avLst/>
            </a:prstGeom>
            <a:noFill/>
          </p:spPr>
          <p:txBody>
            <a:bodyPr wrap="square" lIns="0" tIns="0" rIns="0" bIns="0" anchor="ctr"/>
            <a:lstStyle/>
            <a:p>
              <a:pPr algn="r"/>
              <a:r>
                <a:rPr sz="1000" b="1">
                  <a:solidFill>
                    <a:srgbClr val="EF7C44"/>
                  </a:solidFill>
                  <a:latin typeface="微软雅黑" panose="020B0503020204020204" pitchFamily="34" charset="-122"/>
                  <a:ea typeface="微软雅黑" panose="020B0503020204020204" pitchFamily="34" charset="-122"/>
                </a:rPr>
                <a:t>2.0%</a:t>
              </a:r>
            </a:p>
          </p:txBody>
        </p:sp>
        <p:sp>
          <p:nvSpPr>
            <p:cNvPr id="104" name="t9108">
              <a:extLst>
                <a:ext uri="{FF2B5EF4-FFF2-40B4-BE49-F238E27FC236}">
                  <a16:creationId xmlns="" xmlns:a16="http://schemas.microsoft.com/office/drawing/2014/main" id="{DAC0C64F-4212-3F43-CB00-C709B286C180}"/>
                </a:ext>
              </a:extLst>
            </p:cNvPr>
            <p:cNvSpPr txBox="1"/>
            <p:nvPr/>
          </p:nvSpPr>
          <p:spPr>
            <a:xfrm>
              <a:off x="3573475" y="3127896"/>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通信</a:t>
              </a:r>
            </a:p>
          </p:txBody>
        </p:sp>
        <p:sp>
          <p:nvSpPr>
            <p:cNvPr id="105" name="b9110">
              <a:extLst>
                <a:ext uri="{FF2B5EF4-FFF2-40B4-BE49-F238E27FC236}">
                  <a16:creationId xmlns="" xmlns:a16="http://schemas.microsoft.com/office/drawing/2014/main" id="{9EF4EAEC-F1D0-5B00-E480-EBC049AEAE69}"/>
                </a:ext>
              </a:extLst>
            </p:cNvPr>
            <p:cNvSpPr/>
            <p:nvPr/>
          </p:nvSpPr>
          <p:spPr>
            <a:xfrm>
              <a:off x="4280611" y="3133992"/>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106" name="b9112">
              <a:extLst>
                <a:ext uri="{FF2B5EF4-FFF2-40B4-BE49-F238E27FC236}">
                  <a16:creationId xmlns="" xmlns:a16="http://schemas.microsoft.com/office/drawing/2014/main" id="{374D4D8D-8EDB-A584-78CF-6964DBEDB6F9}"/>
                </a:ext>
              </a:extLst>
            </p:cNvPr>
            <p:cNvSpPr/>
            <p:nvPr/>
          </p:nvSpPr>
          <p:spPr>
            <a:xfrm>
              <a:off x="4280611" y="3133992"/>
              <a:ext cx="836213" cy="121920"/>
            </a:xfrm>
            <a:prstGeom prst="roundRect">
              <a:avLst/>
            </a:prstGeom>
            <a:solidFill>
              <a:srgbClr val="2277CC"/>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107" name="t9114">
              <a:extLst>
                <a:ext uri="{FF2B5EF4-FFF2-40B4-BE49-F238E27FC236}">
                  <a16:creationId xmlns="" xmlns:a16="http://schemas.microsoft.com/office/drawing/2014/main" id="{714A333F-2CDA-3466-7E9D-57F2B60D5EA1}"/>
                </a:ext>
              </a:extLst>
            </p:cNvPr>
            <p:cNvSpPr txBox="1"/>
            <p:nvPr/>
          </p:nvSpPr>
          <p:spPr>
            <a:xfrm>
              <a:off x="5670499" y="3109608"/>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64.1%</a:t>
              </a:r>
            </a:p>
          </p:txBody>
        </p:sp>
        <p:sp>
          <p:nvSpPr>
            <p:cNvPr id="108" name="t9116">
              <a:extLst>
                <a:ext uri="{FF2B5EF4-FFF2-40B4-BE49-F238E27FC236}">
                  <a16:creationId xmlns="" xmlns:a16="http://schemas.microsoft.com/office/drawing/2014/main" id="{11682C20-4664-F34F-1173-3BF5EAF0AA6C}"/>
                </a:ext>
              </a:extLst>
            </p:cNvPr>
            <p:cNvSpPr txBox="1"/>
            <p:nvPr/>
          </p:nvSpPr>
          <p:spPr>
            <a:xfrm>
              <a:off x="3573475" y="3377832"/>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计算机</a:t>
              </a:r>
            </a:p>
          </p:txBody>
        </p:sp>
        <p:sp>
          <p:nvSpPr>
            <p:cNvPr id="109" name="b9118">
              <a:extLst>
                <a:ext uri="{FF2B5EF4-FFF2-40B4-BE49-F238E27FC236}">
                  <a16:creationId xmlns="" xmlns:a16="http://schemas.microsoft.com/office/drawing/2014/main" id="{C2E5F212-0A6B-DF32-9F2D-B21C994BBD41}"/>
                </a:ext>
              </a:extLst>
            </p:cNvPr>
            <p:cNvSpPr/>
            <p:nvPr/>
          </p:nvSpPr>
          <p:spPr>
            <a:xfrm>
              <a:off x="4280611" y="3383928"/>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110" name="b9120">
              <a:extLst>
                <a:ext uri="{FF2B5EF4-FFF2-40B4-BE49-F238E27FC236}">
                  <a16:creationId xmlns="" xmlns:a16="http://schemas.microsoft.com/office/drawing/2014/main" id="{802CC534-A815-9F3C-308D-B3CF08C4A338}"/>
                </a:ext>
              </a:extLst>
            </p:cNvPr>
            <p:cNvSpPr/>
            <p:nvPr/>
          </p:nvSpPr>
          <p:spPr>
            <a:xfrm>
              <a:off x="4280611" y="3383928"/>
              <a:ext cx="191768" cy="121920"/>
            </a:xfrm>
            <a:prstGeom prst="roundRect">
              <a:avLst/>
            </a:prstGeom>
            <a:solidFill>
              <a:srgbClr val="2277CC"/>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111" name="t9122">
              <a:extLst>
                <a:ext uri="{FF2B5EF4-FFF2-40B4-BE49-F238E27FC236}">
                  <a16:creationId xmlns="" xmlns:a16="http://schemas.microsoft.com/office/drawing/2014/main" id="{B040D92F-23A7-4A24-AED7-CB6BF4192058}"/>
                </a:ext>
              </a:extLst>
            </p:cNvPr>
            <p:cNvSpPr txBox="1"/>
            <p:nvPr/>
          </p:nvSpPr>
          <p:spPr>
            <a:xfrm>
              <a:off x="5670499" y="3359544"/>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14.7%</a:t>
              </a:r>
            </a:p>
          </p:txBody>
        </p:sp>
        <p:sp>
          <p:nvSpPr>
            <p:cNvPr id="112" name="t9124">
              <a:extLst>
                <a:ext uri="{FF2B5EF4-FFF2-40B4-BE49-F238E27FC236}">
                  <a16:creationId xmlns="" xmlns:a16="http://schemas.microsoft.com/office/drawing/2014/main" id="{AF429F94-C947-6154-2A8C-37882D27AE7A}"/>
                </a:ext>
              </a:extLst>
            </p:cNvPr>
            <p:cNvSpPr txBox="1"/>
            <p:nvPr/>
          </p:nvSpPr>
          <p:spPr>
            <a:xfrm>
              <a:off x="3573475" y="3627768"/>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电子</a:t>
              </a:r>
            </a:p>
          </p:txBody>
        </p:sp>
        <p:sp>
          <p:nvSpPr>
            <p:cNvPr id="113" name="b9126">
              <a:extLst>
                <a:ext uri="{FF2B5EF4-FFF2-40B4-BE49-F238E27FC236}">
                  <a16:creationId xmlns="" xmlns:a16="http://schemas.microsoft.com/office/drawing/2014/main" id="{BA01220C-5B50-3F18-8D65-70EA047F0157}"/>
                </a:ext>
              </a:extLst>
            </p:cNvPr>
            <p:cNvSpPr/>
            <p:nvPr/>
          </p:nvSpPr>
          <p:spPr>
            <a:xfrm>
              <a:off x="4280611" y="3633864"/>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114" name="b9128">
              <a:extLst>
                <a:ext uri="{FF2B5EF4-FFF2-40B4-BE49-F238E27FC236}">
                  <a16:creationId xmlns="" xmlns:a16="http://schemas.microsoft.com/office/drawing/2014/main" id="{BD8A8882-50CB-4268-C5B2-FF166C497D25}"/>
                </a:ext>
              </a:extLst>
            </p:cNvPr>
            <p:cNvSpPr/>
            <p:nvPr/>
          </p:nvSpPr>
          <p:spPr>
            <a:xfrm>
              <a:off x="4280611" y="3633864"/>
              <a:ext cx="140891" cy="121920"/>
            </a:xfrm>
            <a:prstGeom prst="roundRect">
              <a:avLst/>
            </a:prstGeom>
            <a:solidFill>
              <a:srgbClr val="2277CC"/>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115" name="t9130">
              <a:extLst>
                <a:ext uri="{FF2B5EF4-FFF2-40B4-BE49-F238E27FC236}">
                  <a16:creationId xmlns="" xmlns:a16="http://schemas.microsoft.com/office/drawing/2014/main" id="{498DCFFE-4410-A51E-794F-DEEB558F3510}"/>
                </a:ext>
              </a:extLst>
            </p:cNvPr>
            <p:cNvSpPr txBox="1"/>
            <p:nvPr/>
          </p:nvSpPr>
          <p:spPr>
            <a:xfrm>
              <a:off x="5670499" y="3609480"/>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10.8%</a:t>
              </a:r>
            </a:p>
          </p:txBody>
        </p:sp>
        <p:sp>
          <p:nvSpPr>
            <p:cNvPr id="116" name="bg9132">
              <a:extLst>
                <a:ext uri="{FF2B5EF4-FFF2-40B4-BE49-F238E27FC236}">
                  <a16:creationId xmlns="" xmlns:a16="http://schemas.microsoft.com/office/drawing/2014/main" id="{2E643FCE-CCC0-686A-6175-1F430DEBA2D2}"/>
                </a:ext>
              </a:extLst>
            </p:cNvPr>
            <p:cNvSpPr/>
            <p:nvPr/>
          </p:nvSpPr>
          <p:spPr>
            <a:xfrm>
              <a:off x="3439363" y="4244223"/>
              <a:ext cx="2804160" cy="3962400"/>
            </a:xfrm>
            <a:prstGeom prst="roundRect">
              <a:avLst/>
            </a:prstGeom>
            <a:solidFill>
              <a:srgbClr val="FCFDFF"/>
            </a:solidFill>
            <a:ln w="9525">
              <a:solidFill>
                <a:srgbClr val="E0E4EB"/>
              </a:solidFill>
            </a:ln>
          </p:spPr>
          <p:txBody>
            <a:bodyPr rtlCol="0" anchor="ctr"/>
            <a:lstStyle/>
            <a:p>
              <a:pPr algn="ctr"/>
              <a:endParaRPr sz="700"/>
            </a:p>
          </p:txBody>
        </p:sp>
        <p:sp>
          <p:nvSpPr>
            <p:cNvPr id="117" name="t9134">
              <a:extLst>
                <a:ext uri="{FF2B5EF4-FFF2-40B4-BE49-F238E27FC236}">
                  <a16:creationId xmlns="" xmlns:a16="http://schemas.microsoft.com/office/drawing/2014/main" id="{731C6713-045A-6304-609D-23193D38D016}"/>
                </a:ext>
              </a:extLst>
            </p:cNvPr>
            <p:cNvSpPr txBox="1"/>
            <p:nvPr/>
          </p:nvSpPr>
          <p:spPr>
            <a:xfrm>
              <a:off x="3536899" y="4433199"/>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1. 中际旭创</a:t>
              </a:r>
            </a:p>
          </p:txBody>
        </p:sp>
        <p:sp>
          <p:nvSpPr>
            <p:cNvPr id="118" name="b9136">
              <a:extLst>
                <a:ext uri="{FF2B5EF4-FFF2-40B4-BE49-F238E27FC236}">
                  <a16:creationId xmlns="" xmlns:a16="http://schemas.microsoft.com/office/drawing/2014/main" id="{1DCAAB5E-1680-8F7D-0C37-23769E858831}"/>
                </a:ext>
              </a:extLst>
            </p:cNvPr>
            <p:cNvSpPr/>
            <p:nvPr/>
          </p:nvSpPr>
          <p:spPr>
            <a:xfrm>
              <a:off x="4512259" y="4445391"/>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19" name="b9138">
              <a:extLst>
                <a:ext uri="{FF2B5EF4-FFF2-40B4-BE49-F238E27FC236}">
                  <a16:creationId xmlns="" xmlns:a16="http://schemas.microsoft.com/office/drawing/2014/main" id="{E0FE1108-50CF-9796-6026-8199359A754C}"/>
                </a:ext>
              </a:extLst>
            </p:cNvPr>
            <p:cNvSpPr/>
            <p:nvPr/>
          </p:nvSpPr>
          <p:spPr>
            <a:xfrm>
              <a:off x="4512259" y="4445391"/>
              <a:ext cx="1121664" cy="140208"/>
            </a:xfrm>
            <a:prstGeom prst="roundRect">
              <a:avLst/>
            </a:prstGeom>
            <a:solidFill>
              <a:srgbClr val="2277C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20" name="t9140">
              <a:extLst>
                <a:ext uri="{FF2B5EF4-FFF2-40B4-BE49-F238E27FC236}">
                  <a16:creationId xmlns="" xmlns:a16="http://schemas.microsoft.com/office/drawing/2014/main" id="{3D2A5D0B-540E-3D52-7853-B99A852AC2C4}"/>
                </a:ext>
              </a:extLst>
            </p:cNvPr>
            <p:cNvSpPr txBox="1"/>
            <p:nvPr/>
          </p:nvSpPr>
          <p:spPr>
            <a:xfrm>
              <a:off x="5682691" y="4433199"/>
              <a:ext cx="536448" cy="170688"/>
            </a:xfrm>
            <a:prstGeom prst="rect">
              <a:avLst/>
            </a:prstGeom>
            <a:noFill/>
          </p:spPr>
          <p:txBody>
            <a:bodyPr wrap="square" lIns="0" tIns="0" rIns="0" bIns="0" anchor="ctr"/>
            <a:lstStyle/>
            <a:p>
              <a:pPr algn="r"/>
              <a:r>
                <a:rPr sz="1000" b="1">
                  <a:solidFill>
                    <a:srgbClr val="2277CC"/>
                  </a:solidFill>
                  <a:latin typeface="微软雅黑" panose="020B0503020204020204" pitchFamily="34" charset="-122"/>
                  <a:ea typeface="微软雅黑" panose="020B0503020204020204" pitchFamily="34" charset="-122"/>
                </a:rPr>
                <a:t>20.9%</a:t>
              </a:r>
            </a:p>
          </p:txBody>
        </p:sp>
        <p:sp>
          <p:nvSpPr>
            <p:cNvPr id="121" name="t9142">
              <a:extLst>
                <a:ext uri="{FF2B5EF4-FFF2-40B4-BE49-F238E27FC236}">
                  <a16:creationId xmlns="" xmlns:a16="http://schemas.microsoft.com/office/drawing/2014/main" id="{A25AE27A-F601-8465-762E-2E0CA585E21D}"/>
                </a:ext>
              </a:extLst>
            </p:cNvPr>
            <p:cNvSpPr txBox="1"/>
            <p:nvPr/>
          </p:nvSpPr>
          <p:spPr>
            <a:xfrm>
              <a:off x="3536899" y="4805055"/>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2. 新易盛</a:t>
              </a:r>
            </a:p>
          </p:txBody>
        </p:sp>
        <p:sp>
          <p:nvSpPr>
            <p:cNvPr id="122" name="b9144">
              <a:extLst>
                <a:ext uri="{FF2B5EF4-FFF2-40B4-BE49-F238E27FC236}">
                  <a16:creationId xmlns="" xmlns:a16="http://schemas.microsoft.com/office/drawing/2014/main" id="{81486C12-5732-6347-8B77-CF942286ACAA}"/>
                </a:ext>
              </a:extLst>
            </p:cNvPr>
            <p:cNvSpPr/>
            <p:nvPr/>
          </p:nvSpPr>
          <p:spPr>
            <a:xfrm>
              <a:off x="4512259" y="4817247"/>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23" name="b9146">
              <a:extLst>
                <a:ext uri="{FF2B5EF4-FFF2-40B4-BE49-F238E27FC236}">
                  <a16:creationId xmlns="" xmlns:a16="http://schemas.microsoft.com/office/drawing/2014/main" id="{F6A72EE5-8025-CF06-6F2C-2BEC77B5C7F3}"/>
                </a:ext>
              </a:extLst>
            </p:cNvPr>
            <p:cNvSpPr/>
            <p:nvPr/>
          </p:nvSpPr>
          <p:spPr>
            <a:xfrm>
              <a:off x="4512259" y="4817247"/>
              <a:ext cx="960660" cy="140208"/>
            </a:xfrm>
            <a:prstGeom prst="roundRect">
              <a:avLst/>
            </a:prstGeom>
            <a:solidFill>
              <a:srgbClr val="2277C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24" name="t9148">
              <a:extLst>
                <a:ext uri="{FF2B5EF4-FFF2-40B4-BE49-F238E27FC236}">
                  <a16:creationId xmlns="" xmlns:a16="http://schemas.microsoft.com/office/drawing/2014/main" id="{753F3C4E-4058-00CE-ACFD-2952D119E1BF}"/>
                </a:ext>
              </a:extLst>
            </p:cNvPr>
            <p:cNvSpPr txBox="1"/>
            <p:nvPr/>
          </p:nvSpPr>
          <p:spPr>
            <a:xfrm>
              <a:off x="5682691" y="4805055"/>
              <a:ext cx="536448" cy="170688"/>
            </a:xfrm>
            <a:prstGeom prst="rect">
              <a:avLst/>
            </a:prstGeom>
            <a:noFill/>
          </p:spPr>
          <p:txBody>
            <a:bodyPr wrap="square" lIns="0" tIns="0" rIns="0" bIns="0" anchor="ctr"/>
            <a:lstStyle/>
            <a:p>
              <a:pPr algn="r"/>
              <a:r>
                <a:rPr sz="1000" b="1">
                  <a:solidFill>
                    <a:srgbClr val="2277CC"/>
                  </a:solidFill>
                  <a:latin typeface="微软雅黑" panose="020B0503020204020204" pitchFamily="34" charset="-122"/>
                  <a:ea typeface="微软雅黑" panose="020B0503020204020204" pitchFamily="34" charset="-122"/>
                </a:rPr>
                <a:t>17.9%</a:t>
              </a:r>
            </a:p>
          </p:txBody>
        </p:sp>
        <p:sp>
          <p:nvSpPr>
            <p:cNvPr id="125" name="t9150">
              <a:extLst>
                <a:ext uri="{FF2B5EF4-FFF2-40B4-BE49-F238E27FC236}">
                  <a16:creationId xmlns="" xmlns:a16="http://schemas.microsoft.com/office/drawing/2014/main" id="{FBEF5E2D-F46E-499B-9F3E-06C7AEAB5FEC}"/>
                </a:ext>
              </a:extLst>
            </p:cNvPr>
            <p:cNvSpPr txBox="1"/>
            <p:nvPr/>
          </p:nvSpPr>
          <p:spPr>
            <a:xfrm>
              <a:off x="3536899" y="5176911"/>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3. 天孚通信</a:t>
              </a:r>
            </a:p>
          </p:txBody>
        </p:sp>
        <p:sp>
          <p:nvSpPr>
            <p:cNvPr id="126" name="b9152">
              <a:extLst>
                <a:ext uri="{FF2B5EF4-FFF2-40B4-BE49-F238E27FC236}">
                  <a16:creationId xmlns="" xmlns:a16="http://schemas.microsoft.com/office/drawing/2014/main" id="{832290CC-B3F9-A049-D102-14924B88E5F1}"/>
                </a:ext>
              </a:extLst>
            </p:cNvPr>
            <p:cNvSpPr/>
            <p:nvPr/>
          </p:nvSpPr>
          <p:spPr>
            <a:xfrm>
              <a:off x="4512259" y="5189103"/>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27" name="b9154">
              <a:extLst>
                <a:ext uri="{FF2B5EF4-FFF2-40B4-BE49-F238E27FC236}">
                  <a16:creationId xmlns="" xmlns:a16="http://schemas.microsoft.com/office/drawing/2014/main" id="{782E7424-CF02-7236-5C2F-0C5BCA057F98}"/>
                </a:ext>
              </a:extLst>
            </p:cNvPr>
            <p:cNvSpPr/>
            <p:nvPr/>
          </p:nvSpPr>
          <p:spPr>
            <a:xfrm>
              <a:off x="4512259" y="5189103"/>
              <a:ext cx="579616" cy="140208"/>
            </a:xfrm>
            <a:prstGeom prst="roundRect">
              <a:avLst/>
            </a:prstGeom>
            <a:solidFill>
              <a:srgbClr val="2277C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28" name="t9156">
              <a:extLst>
                <a:ext uri="{FF2B5EF4-FFF2-40B4-BE49-F238E27FC236}">
                  <a16:creationId xmlns="" xmlns:a16="http://schemas.microsoft.com/office/drawing/2014/main" id="{B49CEEDF-38B4-345A-3224-365BA0367597}"/>
                </a:ext>
              </a:extLst>
            </p:cNvPr>
            <p:cNvSpPr txBox="1"/>
            <p:nvPr/>
          </p:nvSpPr>
          <p:spPr>
            <a:xfrm>
              <a:off x="5682691" y="5176911"/>
              <a:ext cx="536448" cy="170688"/>
            </a:xfrm>
            <a:prstGeom prst="rect">
              <a:avLst/>
            </a:prstGeom>
            <a:noFill/>
          </p:spPr>
          <p:txBody>
            <a:bodyPr wrap="square" lIns="0" tIns="0" rIns="0" bIns="0" anchor="ctr"/>
            <a:lstStyle/>
            <a:p>
              <a:pPr algn="r"/>
              <a:r>
                <a:rPr sz="1000" b="1">
                  <a:solidFill>
                    <a:srgbClr val="2277CC"/>
                  </a:solidFill>
                  <a:latin typeface="微软雅黑" panose="020B0503020204020204" pitchFamily="34" charset="-122"/>
                  <a:ea typeface="微软雅黑" panose="020B0503020204020204" pitchFamily="34" charset="-122"/>
                </a:rPr>
                <a:t>10.8%</a:t>
              </a:r>
            </a:p>
          </p:txBody>
        </p:sp>
        <p:sp>
          <p:nvSpPr>
            <p:cNvPr id="129" name="t9158">
              <a:extLst>
                <a:ext uri="{FF2B5EF4-FFF2-40B4-BE49-F238E27FC236}">
                  <a16:creationId xmlns="" xmlns:a16="http://schemas.microsoft.com/office/drawing/2014/main" id="{CD1A7EFB-8D0E-8D52-B2AD-014A3FD4DF28}"/>
                </a:ext>
              </a:extLst>
            </p:cNvPr>
            <p:cNvSpPr txBox="1"/>
            <p:nvPr/>
          </p:nvSpPr>
          <p:spPr>
            <a:xfrm>
              <a:off x="3536899" y="5548767"/>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4. 协创数据</a:t>
              </a:r>
            </a:p>
          </p:txBody>
        </p:sp>
        <p:sp>
          <p:nvSpPr>
            <p:cNvPr id="130" name="b9160">
              <a:extLst>
                <a:ext uri="{FF2B5EF4-FFF2-40B4-BE49-F238E27FC236}">
                  <a16:creationId xmlns="" xmlns:a16="http://schemas.microsoft.com/office/drawing/2014/main" id="{B68B868A-148E-542A-BFB3-173C74C84CFB}"/>
                </a:ext>
              </a:extLst>
            </p:cNvPr>
            <p:cNvSpPr/>
            <p:nvPr/>
          </p:nvSpPr>
          <p:spPr>
            <a:xfrm>
              <a:off x="4512259" y="5560959"/>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31" name="b9162">
              <a:extLst>
                <a:ext uri="{FF2B5EF4-FFF2-40B4-BE49-F238E27FC236}">
                  <a16:creationId xmlns="" xmlns:a16="http://schemas.microsoft.com/office/drawing/2014/main" id="{F14A90A9-78C2-220B-CAE9-99A7EA42D4C0}"/>
                </a:ext>
              </a:extLst>
            </p:cNvPr>
            <p:cNvSpPr/>
            <p:nvPr/>
          </p:nvSpPr>
          <p:spPr>
            <a:xfrm>
              <a:off x="4512259" y="5560959"/>
              <a:ext cx="220040" cy="140208"/>
            </a:xfrm>
            <a:prstGeom prst="roundRect">
              <a:avLst/>
            </a:prstGeom>
            <a:solidFill>
              <a:srgbClr val="2277C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32" name="t9164">
              <a:extLst>
                <a:ext uri="{FF2B5EF4-FFF2-40B4-BE49-F238E27FC236}">
                  <a16:creationId xmlns="" xmlns:a16="http://schemas.microsoft.com/office/drawing/2014/main" id="{C5F27C30-C2B2-58AA-4F7F-8C3DA39858C7}"/>
                </a:ext>
              </a:extLst>
            </p:cNvPr>
            <p:cNvSpPr txBox="1"/>
            <p:nvPr/>
          </p:nvSpPr>
          <p:spPr>
            <a:xfrm>
              <a:off x="5682691" y="5548767"/>
              <a:ext cx="536448" cy="170688"/>
            </a:xfrm>
            <a:prstGeom prst="rect">
              <a:avLst/>
            </a:prstGeom>
            <a:noFill/>
          </p:spPr>
          <p:txBody>
            <a:bodyPr wrap="square" lIns="0" tIns="0" rIns="0" bIns="0" anchor="ctr"/>
            <a:lstStyle/>
            <a:p>
              <a:pPr algn="r"/>
              <a:r>
                <a:rPr sz="1000" b="1">
                  <a:solidFill>
                    <a:srgbClr val="2277CC"/>
                  </a:solidFill>
                  <a:latin typeface="微软雅黑" panose="020B0503020204020204" pitchFamily="34" charset="-122"/>
                  <a:ea typeface="微软雅黑" panose="020B0503020204020204" pitchFamily="34" charset="-122"/>
                </a:rPr>
                <a:t>4.1%</a:t>
              </a:r>
            </a:p>
          </p:txBody>
        </p:sp>
        <p:sp>
          <p:nvSpPr>
            <p:cNvPr id="133" name="t9166">
              <a:extLst>
                <a:ext uri="{FF2B5EF4-FFF2-40B4-BE49-F238E27FC236}">
                  <a16:creationId xmlns="" xmlns:a16="http://schemas.microsoft.com/office/drawing/2014/main" id="{8535ECC1-D3FA-00A0-2E5D-13D63D69744D}"/>
                </a:ext>
              </a:extLst>
            </p:cNvPr>
            <p:cNvSpPr txBox="1"/>
            <p:nvPr/>
          </p:nvSpPr>
          <p:spPr>
            <a:xfrm>
              <a:off x="3536899" y="5920623"/>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5. 蓝色光标</a:t>
              </a:r>
            </a:p>
          </p:txBody>
        </p:sp>
        <p:sp>
          <p:nvSpPr>
            <p:cNvPr id="134" name="b9168">
              <a:extLst>
                <a:ext uri="{FF2B5EF4-FFF2-40B4-BE49-F238E27FC236}">
                  <a16:creationId xmlns="" xmlns:a16="http://schemas.microsoft.com/office/drawing/2014/main" id="{56D5A2E6-86EF-1065-C55C-DB5BF667E25B}"/>
                </a:ext>
              </a:extLst>
            </p:cNvPr>
            <p:cNvSpPr/>
            <p:nvPr/>
          </p:nvSpPr>
          <p:spPr>
            <a:xfrm>
              <a:off x="4512259" y="5932815"/>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35" name="b9170">
              <a:extLst>
                <a:ext uri="{FF2B5EF4-FFF2-40B4-BE49-F238E27FC236}">
                  <a16:creationId xmlns="" xmlns:a16="http://schemas.microsoft.com/office/drawing/2014/main" id="{C00205D0-AC62-7F7E-36D5-9407D585A547}"/>
                </a:ext>
              </a:extLst>
            </p:cNvPr>
            <p:cNvSpPr/>
            <p:nvPr/>
          </p:nvSpPr>
          <p:spPr>
            <a:xfrm>
              <a:off x="4512259" y="5932815"/>
              <a:ext cx="171739" cy="140208"/>
            </a:xfrm>
            <a:prstGeom prst="roundRect">
              <a:avLst/>
            </a:prstGeom>
            <a:solidFill>
              <a:srgbClr val="2277C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36" name="t9172">
              <a:extLst>
                <a:ext uri="{FF2B5EF4-FFF2-40B4-BE49-F238E27FC236}">
                  <a16:creationId xmlns="" xmlns:a16="http://schemas.microsoft.com/office/drawing/2014/main" id="{8F0118DE-EB23-DF54-B476-51D5377141EA}"/>
                </a:ext>
              </a:extLst>
            </p:cNvPr>
            <p:cNvSpPr txBox="1"/>
            <p:nvPr/>
          </p:nvSpPr>
          <p:spPr>
            <a:xfrm>
              <a:off x="5682691" y="5920623"/>
              <a:ext cx="536448" cy="170688"/>
            </a:xfrm>
            <a:prstGeom prst="rect">
              <a:avLst/>
            </a:prstGeom>
            <a:noFill/>
          </p:spPr>
          <p:txBody>
            <a:bodyPr wrap="square" lIns="0" tIns="0" rIns="0" bIns="0" anchor="ctr"/>
            <a:lstStyle/>
            <a:p>
              <a:pPr algn="r"/>
              <a:r>
                <a:rPr sz="1000" b="1">
                  <a:solidFill>
                    <a:srgbClr val="2277CC"/>
                  </a:solidFill>
                  <a:latin typeface="微软雅黑" panose="020B0503020204020204" pitchFamily="34" charset="-122"/>
                  <a:ea typeface="微软雅黑" panose="020B0503020204020204" pitchFamily="34" charset="-122"/>
                </a:rPr>
                <a:t>3.2%</a:t>
              </a:r>
            </a:p>
          </p:txBody>
        </p:sp>
        <p:sp>
          <p:nvSpPr>
            <p:cNvPr id="137" name="t9174">
              <a:extLst>
                <a:ext uri="{FF2B5EF4-FFF2-40B4-BE49-F238E27FC236}">
                  <a16:creationId xmlns="" xmlns:a16="http://schemas.microsoft.com/office/drawing/2014/main" id="{AB0F664D-179A-E300-FFD9-BF50F5E81C9F}"/>
                </a:ext>
              </a:extLst>
            </p:cNvPr>
            <p:cNvSpPr txBox="1"/>
            <p:nvPr/>
          </p:nvSpPr>
          <p:spPr>
            <a:xfrm>
              <a:off x="3536899" y="6292479"/>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6. 长芯博创</a:t>
              </a:r>
            </a:p>
          </p:txBody>
        </p:sp>
        <p:sp>
          <p:nvSpPr>
            <p:cNvPr id="138" name="b9176">
              <a:extLst>
                <a:ext uri="{FF2B5EF4-FFF2-40B4-BE49-F238E27FC236}">
                  <a16:creationId xmlns="" xmlns:a16="http://schemas.microsoft.com/office/drawing/2014/main" id="{2801ADAA-017E-9A42-3DB5-23CA37F85324}"/>
                </a:ext>
              </a:extLst>
            </p:cNvPr>
            <p:cNvSpPr/>
            <p:nvPr/>
          </p:nvSpPr>
          <p:spPr>
            <a:xfrm>
              <a:off x="4512259" y="6304671"/>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39" name="b9178">
              <a:extLst>
                <a:ext uri="{FF2B5EF4-FFF2-40B4-BE49-F238E27FC236}">
                  <a16:creationId xmlns="" xmlns:a16="http://schemas.microsoft.com/office/drawing/2014/main" id="{3A450094-9E56-DB78-CB5F-C373DD484783}"/>
                </a:ext>
              </a:extLst>
            </p:cNvPr>
            <p:cNvSpPr/>
            <p:nvPr/>
          </p:nvSpPr>
          <p:spPr>
            <a:xfrm>
              <a:off x="4512259" y="6304671"/>
              <a:ext cx="155637" cy="140208"/>
            </a:xfrm>
            <a:prstGeom prst="roundRect">
              <a:avLst/>
            </a:prstGeom>
            <a:solidFill>
              <a:srgbClr val="2277C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40" name="t9180">
              <a:extLst>
                <a:ext uri="{FF2B5EF4-FFF2-40B4-BE49-F238E27FC236}">
                  <a16:creationId xmlns="" xmlns:a16="http://schemas.microsoft.com/office/drawing/2014/main" id="{2AEC341F-E547-EA51-FFF2-502F9B30B3EF}"/>
                </a:ext>
              </a:extLst>
            </p:cNvPr>
            <p:cNvSpPr txBox="1"/>
            <p:nvPr/>
          </p:nvSpPr>
          <p:spPr>
            <a:xfrm>
              <a:off x="5682691" y="6292479"/>
              <a:ext cx="536448" cy="170688"/>
            </a:xfrm>
            <a:prstGeom prst="rect">
              <a:avLst/>
            </a:prstGeom>
            <a:noFill/>
          </p:spPr>
          <p:txBody>
            <a:bodyPr wrap="square" lIns="0" tIns="0" rIns="0" bIns="0" anchor="ctr"/>
            <a:lstStyle/>
            <a:p>
              <a:pPr algn="r"/>
              <a:r>
                <a:rPr sz="1000" b="1">
                  <a:solidFill>
                    <a:srgbClr val="2277CC"/>
                  </a:solidFill>
                  <a:latin typeface="微软雅黑" panose="020B0503020204020204" pitchFamily="34" charset="-122"/>
                  <a:ea typeface="微软雅黑" panose="020B0503020204020204" pitchFamily="34" charset="-122"/>
                </a:rPr>
                <a:t>2.9%</a:t>
              </a:r>
            </a:p>
          </p:txBody>
        </p:sp>
        <p:sp>
          <p:nvSpPr>
            <p:cNvPr id="141" name="t9182">
              <a:extLst>
                <a:ext uri="{FF2B5EF4-FFF2-40B4-BE49-F238E27FC236}">
                  <a16:creationId xmlns="" xmlns:a16="http://schemas.microsoft.com/office/drawing/2014/main" id="{E84F2CB0-FE44-0FD4-ADC5-F52B040EBC25}"/>
                </a:ext>
              </a:extLst>
            </p:cNvPr>
            <p:cNvSpPr txBox="1"/>
            <p:nvPr/>
          </p:nvSpPr>
          <p:spPr>
            <a:xfrm>
              <a:off x="3536899" y="6664335"/>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7. 北京君正</a:t>
              </a:r>
            </a:p>
          </p:txBody>
        </p:sp>
        <p:sp>
          <p:nvSpPr>
            <p:cNvPr id="142" name="b9184">
              <a:extLst>
                <a:ext uri="{FF2B5EF4-FFF2-40B4-BE49-F238E27FC236}">
                  <a16:creationId xmlns="" xmlns:a16="http://schemas.microsoft.com/office/drawing/2014/main" id="{56DC4717-52F0-6DB8-770A-4D40FFEBECA9}"/>
                </a:ext>
              </a:extLst>
            </p:cNvPr>
            <p:cNvSpPr/>
            <p:nvPr/>
          </p:nvSpPr>
          <p:spPr>
            <a:xfrm>
              <a:off x="4512259" y="6676527"/>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43" name="b9186">
              <a:extLst>
                <a:ext uri="{FF2B5EF4-FFF2-40B4-BE49-F238E27FC236}">
                  <a16:creationId xmlns="" xmlns:a16="http://schemas.microsoft.com/office/drawing/2014/main" id="{3B81DDEF-D976-0516-CF16-5C1414804FD1}"/>
                </a:ext>
              </a:extLst>
            </p:cNvPr>
            <p:cNvSpPr/>
            <p:nvPr/>
          </p:nvSpPr>
          <p:spPr>
            <a:xfrm>
              <a:off x="4512259" y="6676527"/>
              <a:ext cx="155637" cy="140208"/>
            </a:xfrm>
            <a:prstGeom prst="roundRect">
              <a:avLst/>
            </a:prstGeom>
            <a:solidFill>
              <a:srgbClr val="2277C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44" name="t9188">
              <a:extLst>
                <a:ext uri="{FF2B5EF4-FFF2-40B4-BE49-F238E27FC236}">
                  <a16:creationId xmlns="" xmlns:a16="http://schemas.microsoft.com/office/drawing/2014/main" id="{C5CEF344-0B81-CB4F-AAF5-35413E02D82B}"/>
                </a:ext>
              </a:extLst>
            </p:cNvPr>
            <p:cNvSpPr txBox="1"/>
            <p:nvPr/>
          </p:nvSpPr>
          <p:spPr>
            <a:xfrm>
              <a:off x="5682691" y="6664335"/>
              <a:ext cx="536448" cy="170688"/>
            </a:xfrm>
            <a:prstGeom prst="rect">
              <a:avLst/>
            </a:prstGeom>
            <a:noFill/>
          </p:spPr>
          <p:txBody>
            <a:bodyPr wrap="square" lIns="0" tIns="0" rIns="0" bIns="0" anchor="ctr"/>
            <a:lstStyle/>
            <a:p>
              <a:pPr algn="r"/>
              <a:r>
                <a:rPr sz="1000" b="1">
                  <a:solidFill>
                    <a:srgbClr val="2277CC"/>
                  </a:solidFill>
                  <a:latin typeface="微软雅黑" panose="020B0503020204020204" pitchFamily="34" charset="-122"/>
                  <a:ea typeface="微软雅黑" panose="020B0503020204020204" pitchFamily="34" charset="-122"/>
                </a:rPr>
                <a:t>2.9%</a:t>
              </a:r>
            </a:p>
          </p:txBody>
        </p:sp>
        <p:sp>
          <p:nvSpPr>
            <p:cNvPr id="145" name="t9190">
              <a:extLst>
                <a:ext uri="{FF2B5EF4-FFF2-40B4-BE49-F238E27FC236}">
                  <a16:creationId xmlns="" xmlns:a16="http://schemas.microsoft.com/office/drawing/2014/main" id="{98F6E3DF-4997-D301-E2FC-938238F7EE2C}"/>
                </a:ext>
              </a:extLst>
            </p:cNvPr>
            <p:cNvSpPr txBox="1"/>
            <p:nvPr/>
          </p:nvSpPr>
          <p:spPr>
            <a:xfrm>
              <a:off x="3536899" y="7036191"/>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8. 昆仑万维</a:t>
              </a:r>
            </a:p>
          </p:txBody>
        </p:sp>
        <p:sp>
          <p:nvSpPr>
            <p:cNvPr id="146" name="b9192">
              <a:extLst>
                <a:ext uri="{FF2B5EF4-FFF2-40B4-BE49-F238E27FC236}">
                  <a16:creationId xmlns="" xmlns:a16="http://schemas.microsoft.com/office/drawing/2014/main" id="{804BB09A-05EB-6586-CE6C-72F63F50126F}"/>
                </a:ext>
              </a:extLst>
            </p:cNvPr>
            <p:cNvSpPr/>
            <p:nvPr/>
          </p:nvSpPr>
          <p:spPr>
            <a:xfrm>
              <a:off x="4512259" y="7048383"/>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47" name="b9194">
              <a:extLst>
                <a:ext uri="{FF2B5EF4-FFF2-40B4-BE49-F238E27FC236}">
                  <a16:creationId xmlns="" xmlns:a16="http://schemas.microsoft.com/office/drawing/2014/main" id="{720266F3-7657-79AB-1B48-B52992CE5035}"/>
                </a:ext>
              </a:extLst>
            </p:cNvPr>
            <p:cNvSpPr/>
            <p:nvPr/>
          </p:nvSpPr>
          <p:spPr>
            <a:xfrm>
              <a:off x="4512259" y="7048383"/>
              <a:ext cx="107336" cy="140208"/>
            </a:xfrm>
            <a:prstGeom prst="roundRect">
              <a:avLst/>
            </a:prstGeom>
            <a:solidFill>
              <a:srgbClr val="2277C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48" name="t9196">
              <a:extLst>
                <a:ext uri="{FF2B5EF4-FFF2-40B4-BE49-F238E27FC236}">
                  <a16:creationId xmlns="" xmlns:a16="http://schemas.microsoft.com/office/drawing/2014/main" id="{43588CDD-6B90-BDEC-6183-C18FB1F796D5}"/>
                </a:ext>
              </a:extLst>
            </p:cNvPr>
            <p:cNvSpPr txBox="1"/>
            <p:nvPr/>
          </p:nvSpPr>
          <p:spPr>
            <a:xfrm>
              <a:off x="5682691" y="7036191"/>
              <a:ext cx="536448" cy="170688"/>
            </a:xfrm>
            <a:prstGeom prst="rect">
              <a:avLst/>
            </a:prstGeom>
            <a:noFill/>
          </p:spPr>
          <p:txBody>
            <a:bodyPr wrap="square" lIns="0" tIns="0" rIns="0" bIns="0" anchor="ctr"/>
            <a:lstStyle/>
            <a:p>
              <a:pPr algn="r"/>
              <a:r>
                <a:rPr sz="1000" b="1">
                  <a:solidFill>
                    <a:srgbClr val="2277CC"/>
                  </a:solidFill>
                  <a:latin typeface="微软雅黑" panose="020B0503020204020204" pitchFamily="34" charset="-122"/>
                  <a:ea typeface="微软雅黑" panose="020B0503020204020204" pitchFamily="34" charset="-122"/>
                </a:rPr>
                <a:t>2.0%</a:t>
              </a:r>
            </a:p>
          </p:txBody>
        </p:sp>
        <p:sp>
          <p:nvSpPr>
            <p:cNvPr id="149" name="t9198">
              <a:extLst>
                <a:ext uri="{FF2B5EF4-FFF2-40B4-BE49-F238E27FC236}">
                  <a16:creationId xmlns="" xmlns:a16="http://schemas.microsoft.com/office/drawing/2014/main" id="{F4E5CE3E-B2DE-E8AA-4A72-45E2F4BCEFF3}"/>
                </a:ext>
              </a:extLst>
            </p:cNvPr>
            <p:cNvSpPr txBox="1"/>
            <p:nvPr/>
          </p:nvSpPr>
          <p:spPr>
            <a:xfrm>
              <a:off x="3536899" y="7408047"/>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9. 同花顺</a:t>
              </a:r>
            </a:p>
          </p:txBody>
        </p:sp>
        <p:sp>
          <p:nvSpPr>
            <p:cNvPr id="150" name="b9200">
              <a:extLst>
                <a:ext uri="{FF2B5EF4-FFF2-40B4-BE49-F238E27FC236}">
                  <a16:creationId xmlns="" xmlns:a16="http://schemas.microsoft.com/office/drawing/2014/main" id="{A14E12E6-0B20-BC16-5144-C6ABE8DA9ECA}"/>
                </a:ext>
              </a:extLst>
            </p:cNvPr>
            <p:cNvSpPr/>
            <p:nvPr/>
          </p:nvSpPr>
          <p:spPr>
            <a:xfrm>
              <a:off x="4512259" y="7420239"/>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51" name="b9202">
              <a:extLst>
                <a:ext uri="{FF2B5EF4-FFF2-40B4-BE49-F238E27FC236}">
                  <a16:creationId xmlns="" xmlns:a16="http://schemas.microsoft.com/office/drawing/2014/main" id="{6AE4BC89-85E8-8590-6375-D7836F6D30AD}"/>
                </a:ext>
              </a:extLst>
            </p:cNvPr>
            <p:cNvSpPr/>
            <p:nvPr/>
          </p:nvSpPr>
          <p:spPr>
            <a:xfrm>
              <a:off x="4512259" y="7420239"/>
              <a:ext cx="107336" cy="140208"/>
            </a:xfrm>
            <a:prstGeom prst="roundRect">
              <a:avLst/>
            </a:prstGeom>
            <a:solidFill>
              <a:srgbClr val="2277C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52" name="t9204">
              <a:extLst>
                <a:ext uri="{FF2B5EF4-FFF2-40B4-BE49-F238E27FC236}">
                  <a16:creationId xmlns="" xmlns:a16="http://schemas.microsoft.com/office/drawing/2014/main" id="{B6E7D8C0-F111-A1D2-631C-344DC4501CE0}"/>
                </a:ext>
              </a:extLst>
            </p:cNvPr>
            <p:cNvSpPr txBox="1"/>
            <p:nvPr/>
          </p:nvSpPr>
          <p:spPr>
            <a:xfrm>
              <a:off x="5682691" y="7408047"/>
              <a:ext cx="536448" cy="170688"/>
            </a:xfrm>
            <a:prstGeom prst="rect">
              <a:avLst/>
            </a:prstGeom>
            <a:noFill/>
          </p:spPr>
          <p:txBody>
            <a:bodyPr wrap="square" lIns="0" tIns="0" rIns="0" bIns="0" anchor="ctr"/>
            <a:lstStyle/>
            <a:p>
              <a:pPr algn="r"/>
              <a:r>
                <a:rPr sz="1000" b="1">
                  <a:solidFill>
                    <a:srgbClr val="2277CC"/>
                  </a:solidFill>
                  <a:latin typeface="微软雅黑" panose="020B0503020204020204" pitchFamily="34" charset="-122"/>
                  <a:ea typeface="微软雅黑" panose="020B0503020204020204" pitchFamily="34" charset="-122"/>
                </a:rPr>
                <a:t>2.0%</a:t>
              </a:r>
            </a:p>
          </p:txBody>
        </p:sp>
        <p:sp>
          <p:nvSpPr>
            <p:cNvPr id="153" name="t9206">
              <a:extLst>
                <a:ext uri="{FF2B5EF4-FFF2-40B4-BE49-F238E27FC236}">
                  <a16:creationId xmlns="" xmlns:a16="http://schemas.microsoft.com/office/drawing/2014/main" id="{E3ABA5AF-7E65-E757-184A-02519496408B}"/>
                </a:ext>
              </a:extLst>
            </p:cNvPr>
            <p:cNvSpPr txBox="1"/>
            <p:nvPr/>
          </p:nvSpPr>
          <p:spPr>
            <a:xfrm>
              <a:off x="3536899" y="7779903"/>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10. 光库科技</a:t>
              </a:r>
            </a:p>
          </p:txBody>
        </p:sp>
        <p:sp>
          <p:nvSpPr>
            <p:cNvPr id="154" name="b9208">
              <a:extLst>
                <a:ext uri="{FF2B5EF4-FFF2-40B4-BE49-F238E27FC236}">
                  <a16:creationId xmlns="" xmlns:a16="http://schemas.microsoft.com/office/drawing/2014/main" id="{D21E8506-46CD-7F31-0974-AA0E9E43BD22}"/>
                </a:ext>
              </a:extLst>
            </p:cNvPr>
            <p:cNvSpPr/>
            <p:nvPr/>
          </p:nvSpPr>
          <p:spPr>
            <a:xfrm>
              <a:off x="4512259" y="7792095"/>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55" name="b9210">
              <a:extLst>
                <a:ext uri="{FF2B5EF4-FFF2-40B4-BE49-F238E27FC236}">
                  <a16:creationId xmlns="" xmlns:a16="http://schemas.microsoft.com/office/drawing/2014/main" id="{28623D94-B4DA-A47D-96C6-D42D5DEF30F0}"/>
                </a:ext>
              </a:extLst>
            </p:cNvPr>
            <p:cNvSpPr/>
            <p:nvPr/>
          </p:nvSpPr>
          <p:spPr>
            <a:xfrm>
              <a:off x="4512260" y="7792095"/>
              <a:ext cx="101969" cy="140208"/>
            </a:xfrm>
            <a:prstGeom prst="roundRect">
              <a:avLst/>
            </a:prstGeom>
            <a:solidFill>
              <a:srgbClr val="2277C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56" name="t9212">
              <a:extLst>
                <a:ext uri="{FF2B5EF4-FFF2-40B4-BE49-F238E27FC236}">
                  <a16:creationId xmlns="" xmlns:a16="http://schemas.microsoft.com/office/drawing/2014/main" id="{9202D452-6BBB-116F-A793-7D1F2A264581}"/>
                </a:ext>
              </a:extLst>
            </p:cNvPr>
            <p:cNvSpPr txBox="1"/>
            <p:nvPr/>
          </p:nvSpPr>
          <p:spPr>
            <a:xfrm>
              <a:off x="5682691" y="7779903"/>
              <a:ext cx="536448" cy="170688"/>
            </a:xfrm>
            <a:prstGeom prst="rect">
              <a:avLst/>
            </a:prstGeom>
            <a:noFill/>
          </p:spPr>
          <p:txBody>
            <a:bodyPr wrap="square" lIns="0" tIns="0" rIns="0" bIns="0" anchor="ctr"/>
            <a:lstStyle/>
            <a:p>
              <a:pPr algn="r"/>
              <a:r>
                <a:rPr sz="1000" b="1">
                  <a:solidFill>
                    <a:srgbClr val="2277CC"/>
                  </a:solidFill>
                  <a:latin typeface="微软雅黑" panose="020B0503020204020204" pitchFamily="34" charset="-122"/>
                  <a:ea typeface="微软雅黑" panose="020B0503020204020204" pitchFamily="34" charset="-122"/>
                </a:rPr>
                <a:t>1.9%</a:t>
              </a:r>
            </a:p>
          </p:txBody>
        </p:sp>
        <p:sp>
          <p:nvSpPr>
            <p:cNvPr id="157" name="t9214">
              <a:extLst>
                <a:ext uri="{FF2B5EF4-FFF2-40B4-BE49-F238E27FC236}">
                  <a16:creationId xmlns="" xmlns:a16="http://schemas.microsoft.com/office/drawing/2014/main" id="{3739E146-8635-343F-F1DB-95FF36234F39}"/>
                </a:ext>
              </a:extLst>
            </p:cNvPr>
            <p:cNvSpPr txBox="1"/>
            <p:nvPr/>
          </p:nvSpPr>
          <p:spPr>
            <a:xfrm>
              <a:off x="6682435" y="3127896"/>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电子</a:t>
              </a:r>
            </a:p>
          </p:txBody>
        </p:sp>
        <p:sp>
          <p:nvSpPr>
            <p:cNvPr id="158" name="b9216">
              <a:extLst>
                <a:ext uri="{FF2B5EF4-FFF2-40B4-BE49-F238E27FC236}">
                  <a16:creationId xmlns="" xmlns:a16="http://schemas.microsoft.com/office/drawing/2014/main" id="{8A40B656-F587-68DE-ACA5-A5AFDF91E8C8}"/>
                </a:ext>
              </a:extLst>
            </p:cNvPr>
            <p:cNvSpPr/>
            <p:nvPr/>
          </p:nvSpPr>
          <p:spPr>
            <a:xfrm>
              <a:off x="7389571" y="3133992"/>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159" name="b9218">
              <a:extLst>
                <a:ext uri="{FF2B5EF4-FFF2-40B4-BE49-F238E27FC236}">
                  <a16:creationId xmlns="" xmlns:a16="http://schemas.microsoft.com/office/drawing/2014/main" id="{8DE195E4-0169-4465-8FC1-2511258BDE46}"/>
                </a:ext>
              </a:extLst>
            </p:cNvPr>
            <p:cNvSpPr/>
            <p:nvPr/>
          </p:nvSpPr>
          <p:spPr>
            <a:xfrm>
              <a:off x="7389571" y="3133992"/>
              <a:ext cx="786640" cy="121920"/>
            </a:xfrm>
            <a:prstGeom prst="roundRect">
              <a:avLst/>
            </a:prstGeom>
            <a:solidFill>
              <a:srgbClr val="43A04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160" name="t9220">
              <a:extLst>
                <a:ext uri="{FF2B5EF4-FFF2-40B4-BE49-F238E27FC236}">
                  <a16:creationId xmlns="" xmlns:a16="http://schemas.microsoft.com/office/drawing/2014/main" id="{D08BF189-E0C0-4B87-B790-4EFE6D7C0E7D}"/>
                </a:ext>
              </a:extLst>
            </p:cNvPr>
            <p:cNvSpPr txBox="1"/>
            <p:nvPr/>
          </p:nvSpPr>
          <p:spPr>
            <a:xfrm>
              <a:off x="8779459" y="3109608"/>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60.3%</a:t>
              </a:r>
            </a:p>
          </p:txBody>
        </p:sp>
        <p:sp>
          <p:nvSpPr>
            <p:cNvPr id="161" name="t9222">
              <a:extLst>
                <a:ext uri="{FF2B5EF4-FFF2-40B4-BE49-F238E27FC236}">
                  <a16:creationId xmlns="" xmlns:a16="http://schemas.microsoft.com/office/drawing/2014/main" id="{0DF48A46-3D70-8CC9-89F2-D4501000D2A7}"/>
                </a:ext>
              </a:extLst>
            </p:cNvPr>
            <p:cNvSpPr txBox="1"/>
            <p:nvPr/>
          </p:nvSpPr>
          <p:spPr>
            <a:xfrm>
              <a:off x="6682435" y="3377832"/>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计算机</a:t>
              </a:r>
            </a:p>
          </p:txBody>
        </p:sp>
        <p:sp>
          <p:nvSpPr>
            <p:cNvPr id="162" name="b9224">
              <a:extLst>
                <a:ext uri="{FF2B5EF4-FFF2-40B4-BE49-F238E27FC236}">
                  <a16:creationId xmlns="" xmlns:a16="http://schemas.microsoft.com/office/drawing/2014/main" id="{D24491A7-811C-61DE-3C3F-985BDED9EE1A}"/>
                </a:ext>
              </a:extLst>
            </p:cNvPr>
            <p:cNvSpPr/>
            <p:nvPr/>
          </p:nvSpPr>
          <p:spPr>
            <a:xfrm>
              <a:off x="7389571" y="3383928"/>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163" name="b9226">
              <a:extLst>
                <a:ext uri="{FF2B5EF4-FFF2-40B4-BE49-F238E27FC236}">
                  <a16:creationId xmlns="" xmlns:a16="http://schemas.microsoft.com/office/drawing/2014/main" id="{59F84A53-8D47-11C3-2EC7-16E82D1F0742}"/>
                </a:ext>
              </a:extLst>
            </p:cNvPr>
            <p:cNvSpPr/>
            <p:nvPr/>
          </p:nvSpPr>
          <p:spPr>
            <a:xfrm>
              <a:off x="7389571" y="3383928"/>
              <a:ext cx="395277" cy="121920"/>
            </a:xfrm>
            <a:prstGeom prst="roundRect">
              <a:avLst/>
            </a:prstGeom>
            <a:solidFill>
              <a:srgbClr val="43A04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164" name="t9228">
              <a:extLst>
                <a:ext uri="{FF2B5EF4-FFF2-40B4-BE49-F238E27FC236}">
                  <a16:creationId xmlns="" xmlns:a16="http://schemas.microsoft.com/office/drawing/2014/main" id="{D7254361-7F37-D1B1-8923-3BC74FFBC03F}"/>
                </a:ext>
              </a:extLst>
            </p:cNvPr>
            <p:cNvSpPr txBox="1"/>
            <p:nvPr/>
          </p:nvSpPr>
          <p:spPr>
            <a:xfrm>
              <a:off x="8779459" y="3359544"/>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30.3%</a:t>
              </a:r>
            </a:p>
          </p:txBody>
        </p:sp>
        <p:sp>
          <p:nvSpPr>
            <p:cNvPr id="165" name="t9230">
              <a:extLst>
                <a:ext uri="{FF2B5EF4-FFF2-40B4-BE49-F238E27FC236}">
                  <a16:creationId xmlns="" xmlns:a16="http://schemas.microsoft.com/office/drawing/2014/main" id="{DFD42839-53A1-C69B-E1E7-574EC6CC1E8E}"/>
                </a:ext>
              </a:extLst>
            </p:cNvPr>
            <p:cNvSpPr txBox="1"/>
            <p:nvPr/>
          </p:nvSpPr>
          <p:spPr>
            <a:xfrm>
              <a:off x="6682435" y="3627768"/>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机械设备</a:t>
              </a:r>
            </a:p>
          </p:txBody>
        </p:sp>
        <p:sp>
          <p:nvSpPr>
            <p:cNvPr id="166" name="b9232">
              <a:extLst>
                <a:ext uri="{FF2B5EF4-FFF2-40B4-BE49-F238E27FC236}">
                  <a16:creationId xmlns="" xmlns:a16="http://schemas.microsoft.com/office/drawing/2014/main" id="{B36786CD-077D-6436-3B9A-6FE3321A6BCA}"/>
                </a:ext>
              </a:extLst>
            </p:cNvPr>
            <p:cNvSpPr/>
            <p:nvPr/>
          </p:nvSpPr>
          <p:spPr>
            <a:xfrm>
              <a:off x="7389571" y="3633864"/>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167" name="b9234">
              <a:extLst>
                <a:ext uri="{FF2B5EF4-FFF2-40B4-BE49-F238E27FC236}">
                  <a16:creationId xmlns="" xmlns:a16="http://schemas.microsoft.com/office/drawing/2014/main" id="{8EB9B30E-AE5B-BB35-2E36-1ED2B726B778}"/>
                </a:ext>
              </a:extLst>
            </p:cNvPr>
            <p:cNvSpPr/>
            <p:nvPr/>
          </p:nvSpPr>
          <p:spPr>
            <a:xfrm>
              <a:off x="7389571" y="3633864"/>
              <a:ext cx="63923" cy="121920"/>
            </a:xfrm>
            <a:prstGeom prst="roundRect">
              <a:avLst/>
            </a:prstGeom>
            <a:solidFill>
              <a:srgbClr val="43A04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168" name="t9236">
              <a:extLst>
                <a:ext uri="{FF2B5EF4-FFF2-40B4-BE49-F238E27FC236}">
                  <a16:creationId xmlns="" xmlns:a16="http://schemas.microsoft.com/office/drawing/2014/main" id="{98234B66-C35C-B6B5-C90B-41FEFE1C776C}"/>
                </a:ext>
              </a:extLst>
            </p:cNvPr>
            <p:cNvSpPr txBox="1"/>
            <p:nvPr/>
          </p:nvSpPr>
          <p:spPr>
            <a:xfrm>
              <a:off x="8779459" y="3609480"/>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4.9%</a:t>
              </a:r>
            </a:p>
          </p:txBody>
        </p:sp>
        <p:sp>
          <p:nvSpPr>
            <p:cNvPr id="169" name="bg9238">
              <a:extLst>
                <a:ext uri="{FF2B5EF4-FFF2-40B4-BE49-F238E27FC236}">
                  <a16:creationId xmlns="" xmlns:a16="http://schemas.microsoft.com/office/drawing/2014/main" id="{27296FF6-2A27-5BF8-4C6F-C0324B85CB85}"/>
                </a:ext>
              </a:extLst>
            </p:cNvPr>
            <p:cNvSpPr/>
            <p:nvPr/>
          </p:nvSpPr>
          <p:spPr>
            <a:xfrm>
              <a:off x="6548323" y="4244223"/>
              <a:ext cx="2804160" cy="3962400"/>
            </a:xfrm>
            <a:prstGeom prst="roundRect">
              <a:avLst/>
            </a:prstGeom>
            <a:solidFill>
              <a:srgbClr val="FCFDFF"/>
            </a:solidFill>
            <a:ln w="9525">
              <a:solidFill>
                <a:srgbClr val="E0E4EB"/>
              </a:solidFill>
            </a:ln>
          </p:spPr>
          <p:txBody>
            <a:bodyPr rtlCol="0" anchor="ctr"/>
            <a:lstStyle/>
            <a:p>
              <a:pPr algn="ctr"/>
              <a:endParaRPr sz="700"/>
            </a:p>
          </p:txBody>
        </p:sp>
        <p:sp>
          <p:nvSpPr>
            <p:cNvPr id="170" name="t9240">
              <a:extLst>
                <a:ext uri="{FF2B5EF4-FFF2-40B4-BE49-F238E27FC236}">
                  <a16:creationId xmlns="" xmlns:a16="http://schemas.microsoft.com/office/drawing/2014/main" id="{01657070-5988-C071-E392-8961FE61E1EC}"/>
                </a:ext>
              </a:extLst>
            </p:cNvPr>
            <p:cNvSpPr txBox="1"/>
            <p:nvPr/>
          </p:nvSpPr>
          <p:spPr>
            <a:xfrm>
              <a:off x="6645859" y="4433199"/>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1. 寒武纪</a:t>
              </a:r>
            </a:p>
          </p:txBody>
        </p:sp>
        <p:sp>
          <p:nvSpPr>
            <p:cNvPr id="171" name="b9242">
              <a:extLst>
                <a:ext uri="{FF2B5EF4-FFF2-40B4-BE49-F238E27FC236}">
                  <a16:creationId xmlns="" xmlns:a16="http://schemas.microsoft.com/office/drawing/2014/main" id="{8919723A-C3B7-2685-F336-78AE4C68B676}"/>
                </a:ext>
              </a:extLst>
            </p:cNvPr>
            <p:cNvSpPr/>
            <p:nvPr/>
          </p:nvSpPr>
          <p:spPr>
            <a:xfrm>
              <a:off x="7621219" y="4445391"/>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72" name="b9244">
              <a:extLst>
                <a:ext uri="{FF2B5EF4-FFF2-40B4-BE49-F238E27FC236}">
                  <a16:creationId xmlns="" xmlns:a16="http://schemas.microsoft.com/office/drawing/2014/main" id="{EBE1DB02-54C7-FC80-571E-4F348BB31FFB}"/>
                </a:ext>
              </a:extLst>
            </p:cNvPr>
            <p:cNvSpPr/>
            <p:nvPr/>
          </p:nvSpPr>
          <p:spPr>
            <a:xfrm>
              <a:off x="7621219" y="4445391"/>
              <a:ext cx="1121664" cy="140208"/>
            </a:xfrm>
            <a:prstGeom prst="roundRect">
              <a:avLst/>
            </a:prstGeom>
            <a:solidFill>
              <a:srgbClr val="43A04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73" name="t9246">
              <a:extLst>
                <a:ext uri="{FF2B5EF4-FFF2-40B4-BE49-F238E27FC236}">
                  <a16:creationId xmlns="" xmlns:a16="http://schemas.microsoft.com/office/drawing/2014/main" id="{1FE15755-2114-F0D2-06EA-3521E0579E77}"/>
                </a:ext>
              </a:extLst>
            </p:cNvPr>
            <p:cNvSpPr txBox="1"/>
            <p:nvPr/>
          </p:nvSpPr>
          <p:spPr>
            <a:xfrm>
              <a:off x="8791651" y="4433199"/>
              <a:ext cx="536448" cy="170688"/>
            </a:xfrm>
            <a:prstGeom prst="rect">
              <a:avLst/>
            </a:prstGeom>
            <a:noFill/>
          </p:spPr>
          <p:txBody>
            <a:bodyPr wrap="square" lIns="0" tIns="0" rIns="0" bIns="0" anchor="ctr"/>
            <a:lstStyle/>
            <a:p>
              <a:pPr algn="r"/>
              <a:r>
                <a:rPr sz="1000" b="1">
                  <a:solidFill>
                    <a:srgbClr val="43A047"/>
                  </a:solidFill>
                  <a:latin typeface="微软雅黑" panose="020B0503020204020204" pitchFamily="34" charset="-122"/>
                  <a:ea typeface="微软雅黑" panose="020B0503020204020204" pitchFamily="34" charset="-122"/>
                </a:rPr>
                <a:t>16.1%</a:t>
              </a:r>
            </a:p>
          </p:txBody>
        </p:sp>
        <p:sp>
          <p:nvSpPr>
            <p:cNvPr id="174" name="t9248">
              <a:extLst>
                <a:ext uri="{FF2B5EF4-FFF2-40B4-BE49-F238E27FC236}">
                  <a16:creationId xmlns="" xmlns:a16="http://schemas.microsoft.com/office/drawing/2014/main" id="{2B910168-77C3-67E6-6A77-B48E9B59CF6B}"/>
                </a:ext>
              </a:extLst>
            </p:cNvPr>
            <p:cNvSpPr txBox="1"/>
            <p:nvPr/>
          </p:nvSpPr>
          <p:spPr>
            <a:xfrm>
              <a:off x="6645859" y="4805055"/>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2. 澜起科技</a:t>
              </a:r>
            </a:p>
          </p:txBody>
        </p:sp>
        <p:sp>
          <p:nvSpPr>
            <p:cNvPr id="175" name="b9250">
              <a:extLst>
                <a:ext uri="{FF2B5EF4-FFF2-40B4-BE49-F238E27FC236}">
                  <a16:creationId xmlns="" xmlns:a16="http://schemas.microsoft.com/office/drawing/2014/main" id="{C96157E6-3206-26A3-BC02-B527631BFF06}"/>
                </a:ext>
              </a:extLst>
            </p:cNvPr>
            <p:cNvSpPr/>
            <p:nvPr/>
          </p:nvSpPr>
          <p:spPr>
            <a:xfrm>
              <a:off x="7621219" y="4817247"/>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76" name="b9252">
              <a:extLst>
                <a:ext uri="{FF2B5EF4-FFF2-40B4-BE49-F238E27FC236}">
                  <a16:creationId xmlns="" xmlns:a16="http://schemas.microsoft.com/office/drawing/2014/main" id="{F5AA4D60-BFF8-EA50-A551-17E8251941C1}"/>
                </a:ext>
              </a:extLst>
            </p:cNvPr>
            <p:cNvSpPr/>
            <p:nvPr/>
          </p:nvSpPr>
          <p:spPr>
            <a:xfrm>
              <a:off x="7621219" y="4817247"/>
              <a:ext cx="1100764" cy="140208"/>
            </a:xfrm>
            <a:prstGeom prst="roundRect">
              <a:avLst/>
            </a:prstGeom>
            <a:solidFill>
              <a:srgbClr val="43A04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77" name="t9254">
              <a:extLst>
                <a:ext uri="{FF2B5EF4-FFF2-40B4-BE49-F238E27FC236}">
                  <a16:creationId xmlns="" xmlns:a16="http://schemas.microsoft.com/office/drawing/2014/main" id="{5DB0B0D2-AA86-EEA6-7800-E5646DAA6AE6}"/>
                </a:ext>
              </a:extLst>
            </p:cNvPr>
            <p:cNvSpPr txBox="1"/>
            <p:nvPr/>
          </p:nvSpPr>
          <p:spPr>
            <a:xfrm>
              <a:off x="8791651" y="4805055"/>
              <a:ext cx="536448" cy="170688"/>
            </a:xfrm>
            <a:prstGeom prst="rect">
              <a:avLst/>
            </a:prstGeom>
            <a:noFill/>
          </p:spPr>
          <p:txBody>
            <a:bodyPr wrap="square" lIns="0" tIns="0" rIns="0" bIns="0" anchor="ctr"/>
            <a:lstStyle/>
            <a:p>
              <a:pPr algn="r"/>
              <a:r>
                <a:rPr sz="1000" b="1">
                  <a:solidFill>
                    <a:srgbClr val="43A047"/>
                  </a:solidFill>
                  <a:latin typeface="微软雅黑" panose="020B0503020204020204" pitchFamily="34" charset="-122"/>
                  <a:ea typeface="微软雅黑" panose="020B0503020204020204" pitchFamily="34" charset="-122"/>
                </a:rPr>
                <a:t>15.8%</a:t>
              </a:r>
            </a:p>
          </p:txBody>
        </p:sp>
        <p:sp>
          <p:nvSpPr>
            <p:cNvPr id="178" name="t9256">
              <a:extLst>
                <a:ext uri="{FF2B5EF4-FFF2-40B4-BE49-F238E27FC236}">
                  <a16:creationId xmlns="" xmlns:a16="http://schemas.microsoft.com/office/drawing/2014/main" id="{B981DD57-F5C5-0F02-1546-1F85DEB5CAEC}"/>
                </a:ext>
              </a:extLst>
            </p:cNvPr>
            <p:cNvSpPr txBox="1"/>
            <p:nvPr/>
          </p:nvSpPr>
          <p:spPr>
            <a:xfrm>
              <a:off x="6645859" y="5176911"/>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3. 芯原股份</a:t>
              </a:r>
            </a:p>
          </p:txBody>
        </p:sp>
        <p:sp>
          <p:nvSpPr>
            <p:cNvPr id="179" name="b9258">
              <a:extLst>
                <a:ext uri="{FF2B5EF4-FFF2-40B4-BE49-F238E27FC236}">
                  <a16:creationId xmlns="" xmlns:a16="http://schemas.microsoft.com/office/drawing/2014/main" id="{83EAB0D4-0D35-482B-C161-C1D817AC737C}"/>
                </a:ext>
              </a:extLst>
            </p:cNvPr>
            <p:cNvSpPr/>
            <p:nvPr/>
          </p:nvSpPr>
          <p:spPr>
            <a:xfrm>
              <a:off x="7621219" y="5189103"/>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80" name="b9260">
              <a:extLst>
                <a:ext uri="{FF2B5EF4-FFF2-40B4-BE49-F238E27FC236}">
                  <a16:creationId xmlns="" xmlns:a16="http://schemas.microsoft.com/office/drawing/2014/main" id="{F5F66593-D7AE-BA25-BD25-7FB2E1B6BF4F}"/>
                </a:ext>
              </a:extLst>
            </p:cNvPr>
            <p:cNvSpPr/>
            <p:nvPr/>
          </p:nvSpPr>
          <p:spPr>
            <a:xfrm>
              <a:off x="7621219" y="5189103"/>
              <a:ext cx="689719" cy="140208"/>
            </a:xfrm>
            <a:prstGeom prst="roundRect">
              <a:avLst/>
            </a:prstGeom>
            <a:solidFill>
              <a:srgbClr val="43A04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81" name="t9262">
              <a:extLst>
                <a:ext uri="{FF2B5EF4-FFF2-40B4-BE49-F238E27FC236}">
                  <a16:creationId xmlns="" xmlns:a16="http://schemas.microsoft.com/office/drawing/2014/main" id="{71A65B55-0B58-7F31-E50C-456BDF4ABD1F}"/>
                </a:ext>
              </a:extLst>
            </p:cNvPr>
            <p:cNvSpPr txBox="1"/>
            <p:nvPr/>
          </p:nvSpPr>
          <p:spPr>
            <a:xfrm>
              <a:off x="8791651" y="5176911"/>
              <a:ext cx="536448" cy="170688"/>
            </a:xfrm>
            <a:prstGeom prst="rect">
              <a:avLst/>
            </a:prstGeom>
            <a:noFill/>
          </p:spPr>
          <p:txBody>
            <a:bodyPr wrap="square" lIns="0" tIns="0" rIns="0" bIns="0" anchor="ctr"/>
            <a:lstStyle/>
            <a:p>
              <a:pPr algn="r"/>
              <a:r>
                <a:rPr sz="1000" b="1">
                  <a:solidFill>
                    <a:srgbClr val="43A047"/>
                  </a:solidFill>
                  <a:latin typeface="微软雅黑" panose="020B0503020204020204" pitchFamily="34" charset="-122"/>
                  <a:ea typeface="微软雅黑" panose="020B0503020204020204" pitchFamily="34" charset="-122"/>
                </a:rPr>
                <a:t>9.9%</a:t>
              </a:r>
            </a:p>
          </p:txBody>
        </p:sp>
        <p:sp>
          <p:nvSpPr>
            <p:cNvPr id="182" name="t9264">
              <a:extLst>
                <a:ext uri="{FF2B5EF4-FFF2-40B4-BE49-F238E27FC236}">
                  <a16:creationId xmlns="" xmlns:a16="http://schemas.microsoft.com/office/drawing/2014/main" id="{41B6A0D1-ACDE-2BBC-CEFC-5A78EC6B6757}"/>
                </a:ext>
              </a:extLst>
            </p:cNvPr>
            <p:cNvSpPr txBox="1"/>
            <p:nvPr/>
          </p:nvSpPr>
          <p:spPr>
            <a:xfrm>
              <a:off x="6645859" y="5548767"/>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4. 金山办公</a:t>
              </a:r>
            </a:p>
          </p:txBody>
        </p:sp>
        <p:sp>
          <p:nvSpPr>
            <p:cNvPr id="183" name="b9266">
              <a:extLst>
                <a:ext uri="{FF2B5EF4-FFF2-40B4-BE49-F238E27FC236}">
                  <a16:creationId xmlns="" xmlns:a16="http://schemas.microsoft.com/office/drawing/2014/main" id="{D66E965D-67A8-7938-FECD-27A067199D2F}"/>
                </a:ext>
              </a:extLst>
            </p:cNvPr>
            <p:cNvSpPr/>
            <p:nvPr/>
          </p:nvSpPr>
          <p:spPr>
            <a:xfrm>
              <a:off x="7621219" y="5560959"/>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84" name="b9268">
              <a:extLst>
                <a:ext uri="{FF2B5EF4-FFF2-40B4-BE49-F238E27FC236}">
                  <a16:creationId xmlns="" xmlns:a16="http://schemas.microsoft.com/office/drawing/2014/main" id="{11581AB1-3483-05AB-8F95-A33AE243558A}"/>
                </a:ext>
              </a:extLst>
            </p:cNvPr>
            <p:cNvSpPr/>
            <p:nvPr/>
          </p:nvSpPr>
          <p:spPr>
            <a:xfrm>
              <a:off x="7621219" y="5560959"/>
              <a:ext cx="550381" cy="140208"/>
            </a:xfrm>
            <a:prstGeom prst="roundRect">
              <a:avLst/>
            </a:prstGeom>
            <a:solidFill>
              <a:srgbClr val="43A04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85" name="t9270">
              <a:extLst>
                <a:ext uri="{FF2B5EF4-FFF2-40B4-BE49-F238E27FC236}">
                  <a16:creationId xmlns="" xmlns:a16="http://schemas.microsoft.com/office/drawing/2014/main" id="{7949ABE1-FCCC-3A1E-8076-0575486E3DD5}"/>
                </a:ext>
              </a:extLst>
            </p:cNvPr>
            <p:cNvSpPr txBox="1"/>
            <p:nvPr/>
          </p:nvSpPr>
          <p:spPr>
            <a:xfrm>
              <a:off x="8791651" y="5548767"/>
              <a:ext cx="536448" cy="170688"/>
            </a:xfrm>
            <a:prstGeom prst="rect">
              <a:avLst/>
            </a:prstGeom>
            <a:noFill/>
          </p:spPr>
          <p:txBody>
            <a:bodyPr wrap="square" lIns="0" tIns="0" rIns="0" bIns="0" anchor="ctr"/>
            <a:lstStyle/>
            <a:p>
              <a:pPr algn="r"/>
              <a:r>
                <a:rPr sz="1000" b="1">
                  <a:solidFill>
                    <a:srgbClr val="43A047"/>
                  </a:solidFill>
                  <a:latin typeface="微软雅黑" panose="020B0503020204020204" pitchFamily="34" charset="-122"/>
                  <a:ea typeface="微软雅黑" panose="020B0503020204020204" pitchFamily="34" charset="-122"/>
                </a:rPr>
                <a:t>7.9%</a:t>
              </a:r>
            </a:p>
          </p:txBody>
        </p:sp>
        <p:sp>
          <p:nvSpPr>
            <p:cNvPr id="186" name="t9272">
              <a:extLst>
                <a:ext uri="{FF2B5EF4-FFF2-40B4-BE49-F238E27FC236}">
                  <a16:creationId xmlns="" xmlns:a16="http://schemas.microsoft.com/office/drawing/2014/main" id="{2F20BBD2-7FD9-C1D2-27C7-99011C9F0D78}"/>
                </a:ext>
              </a:extLst>
            </p:cNvPr>
            <p:cNvSpPr txBox="1"/>
            <p:nvPr/>
          </p:nvSpPr>
          <p:spPr>
            <a:xfrm>
              <a:off x="6645859" y="5920623"/>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5. 晶晨股份</a:t>
              </a:r>
            </a:p>
          </p:txBody>
        </p:sp>
        <p:sp>
          <p:nvSpPr>
            <p:cNvPr id="187" name="b9274">
              <a:extLst>
                <a:ext uri="{FF2B5EF4-FFF2-40B4-BE49-F238E27FC236}">
                  <a16:creationId xmlns="" xmlns:a16="http://schemas.microsoft.com/office/drawing/2014/main" id="{306E40BE-3F13-C15F-9C9F-08411DD2D550}"/>
                </a:ext>
              </a:extLst>
            </p:cNvPr>
            <p:cNvSpPr/>
            <p:nvPr/>
          </p:nvSpPr>
          <p:spPr>
            <a:xfrm>
              <a:off x="7621219" y="5932815"/>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88" name="b9276">
              <a:extLst>
                <a:ext uri="{FF2B5EF4-FFF2-40B4-BE49-F238E27FC236}">
                  <a16:creationId xmlns="" xmlns:a16="http://schemas.microsoft.com/office/drawing/2014/main" id="{9DC451F3-9023-E52B-BC68-603C1F3DA322}"/>
                </a:ext>
              </a:extLst>
            </p:cNvPr>
            <p:cNvSpPr/>
            <p:nvPr/>
          </p:nvSpPr>
          <p:spPr>
            <a:xfrm>
              <a:off x="7621219" y="5932815"/>
              <a:ext cx="390144" cy="140208"/>
            </a:xfrm>
            <a:prstGeom prst="roundRect">
              <a:avLst/>
            </a:prstGeom>
            <a:solidFill>
              <a:srgbClr val="43A04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89" name="t9278">
              <a:extLst>
                <a:ext uri="{FF2B5EF4-FFF2-40B4-BE49-F238E27FC236}">
                  <a16:creationId xmlns="" xmlns:a16="http://schemas.microsoft.com/office/drawing/2014/main" id="{0B9DFDB0-F321-2C13-1B41-860949E85A78}"/>
                </a:ext>
              </a:extLst>
            </p:cNvPr>
            <p:cNvSpPr txBox="1"/>
            <p:nvPr/>
          </p:nvSpPr>
          <p:spPr>
            <a:xfrm>
              <a:off x="8791651" y="5920623"/>
              <a:ext cx="536448" cy="170688"/>
            </a:xfrm>
            <a:prstGeom prst="rect">
              <a:avLst/>
            </a:prstGeom>
            <a:noFill/>
          </p:spPr>
          <p:txBody>
            <a:bodyPr wrap="square" lIns="0" tIns="0" rIns="0" bIns="0" anchor="ctr"/>
            <a:lstStyle/>
            <a:p>
              <a:pPr algn="r"/>
              <a:r>
                <a:rPr sz="1000" b="1">
                  <a:solidFill>
                    <a:srgbClr val="43A047"/>
                  </a:solidFill>
                  <a:latin typeface="微软雅黑" panose="020B0503020204020204" pitchFamily="34" charset="-122"/>
                  <a:ea typeface="微软雅黑" panose="020B0503020204020204" pitchFamily="34" charset="-122"/>
                </a:rPr>
                <a:t>5.6%</a:t>
              </a:r>
            </a:p>
          </p:txBody>
        </p:sp>
        <p:sp>
          <p:nvSpPr>
            <p:cNvPr id="190" name="t9280">
              <a:extLst>
                <a:ext uri="{FF2B5EF4-FFF2-40B4-BE49-F238E27FC236}">
                  <a16:creationId xmlns="" xmlns:a16="http://schemas.microsoft.com/office/drawing/2014/main" id="{807BEE56-5A08-4EE6-74FB-C42144583CA4}"/>
                </a:ext>
              </a:extLst>
            </p:cNvPr>
            <p:cNvSpPr txBox="1"/>
            <p:nvPr/>
          </p:nvSpPr>
          <p:spPr>
            <a:xfrm>
              <a:off x="6645859" y="6292479"/>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6. 复旦微电</a:t>
              </a:r>
            </a:p>
          </p:txBody>
        </p:sp>
        <p:sp>
          <p:nvSpPr>
            <p:cNvPr id="191" name="b9282">
              <a:extLst>
                <a:ext uri="{FF2B5EF4-FFF2-40B4-BE49-F238E27FC236}">
                  <a16:creationId xmlns="" xmlns:a16="http://schemas.microsoft.com/office/drawing/2014/main" id="{47E14B46-5EFC-EAA7-11C2-C6B30E82A7A8}"/>
                </a:ext>
              </a:extLst>
            </p:cNvPr>
            <p:cNvSpPr/>
            <p:nvPr/>
          </p:nvSpPr>
          <p:spPr>
            <a:xfrm>
              <a:off x="7621219" y="6304671"/>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92" name="b9284">
              <a:extLst>
                <a:ext uri="{FF2B5EF4-FFF2-40B4-BE49-F238E27FC236}">
                  <a16:creationId xmlns="" xmlns:a16="http://schemas.microsoft.com/office/drawing/2014/main" id="{2676151F-ECA0-CAD6-8314-D8FB3ECB0AC5}"/>
                </a:ext>
              </a:extLst>
            </p:cNvPr>
            <p:cNvSpPr/>
            <p:nvPr/>
          </p:nvSpPr>
          <p:spPr>
            <a:xfrm>
              <a:off x="7621219" y="6304671"/>
              <a:ext cx="250807" cy="140208"/>
            </a:xfrm>
            <a:prstGeom prst="roundRect">
              <a:avLst/>
            </a:prstGeom>
            <a:solidFill>
              <a:srgbClr val="43A04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93" name="t9286">
              <a:extLst>
                <a:ext uri="{FF2B5EF4-FFF2-40B4-BE49-F238E27FC236}">
                  <a16:creationId xmlns="" xmlns:a16="http://schemas.microsoft.com/office/drawing/2014/main" id="{E04F525E-B6CF-BB0D-E2E8-27232558046F}"/>
                </a:ext>
              </a:extLst>
            </p:cNvPr>
            <p:cNvSpPr txBox="1"/>
            <p:nvPr/>
          </p:nvSpPr>
          <p:spPr>
            <a:xfrm>
              <a:off x="8791651" y="6292479"/>
              <a:ext cx="536448" cy="170688"/>
            </a:xfrm>
            <a:prstGeom prst="rect">
              <a:avLst/>
            </a:prstGeom>
            <a:noFill/>
          </p:spPr>
          <p:txBody>
            <a:bodyPr wrap="square" lIns="0" tIns="0" rIns="0" bIns="0" anchor="ctr"/>
            <a:lstStyle/>
            <a:p>
              <a:pPr algn="r"/>
              <a:r>
                <a:rPr sz="1000" b="1">
                  <a:solidFill>
                    <a:srgbClr val="43A047"/>
                  </a:solidFill>
                  <a:latin typeface="微软雅黑" panose="020B0503020204020204" pitchFamily="34" charset="-122"/>
                  <a:ea typeface="微软雅黑" panose="020B0503020204020204" pitchFamily="34" charset="-122"/>
                </a:rPr>
                <a:t>3.6%</a:t>
              </a:r>
            </a:p>
          </p:txBody>
        </p:sp>
        <p:sp>
          <p:nvSpPr>
            <p:cNvPr id="194" name="t9288">
              <a:extLst>
                <a:ext uri="{FF2B5EF4-FFF2-40B4-BE49-F238E27FC236}">
                  <a16:creationId xmlns="" xmlns:a16="http://schemas.microsoft.com/office/drawing/2014/main" id="{14F91CAA-EF08-2525-D83E-F436B69F15C2}"/>
                </a:ext>
              </a:extLst>
            </p:cNvPr>
            <p:cNvSpPr txBox="1"/>
            <p:nvPr/>
          </p:nvSpPr>
          <p:spPr>
            <a:xfrm>
              <a:off x="6645859" y="6664335"/>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7. 奥比中光</a:t>
              </a:r>
            </a:p>
          </p:txBody>
        </p:sp>
        <p:sp>
          <p:nvSpPr>
            <p:cNvPr id="195" name="b9290">
              <a:extLst>
                <a:ext uri="{FF2B5EF4-FFF2-40B4-BE49-F238E27FC236}">
                  <a16:creationId xmlns="" xmlns:a16="http://schemas.microsoft.com/office/drawing/2014/main" id="{284A35AA-BB29-3345-294A-066CCBDA4A40}"/>
                </a:ext>
              </a:extLst>
            </p:cNvPr>
            <p:cNvSpPr/>
            <p:nvPr/>
          </p:nvSpPr>
          <p:spPr>
            <a:xfrm>
              <a:off x="7621219" y="6676527"/>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96" name="b9292">
              <a:extLst>
                <a:ext uri="{FF2B5EF4-FFF2-40B4-BE49-F238E27FC236}">
                  <a16:creationId xmlns="" xmlns:a16="http://schemas.microsoft.com/office/drawing/2014/main" id="{4D169932-D804-08C9-DB10-14C37BC8EE67}"/>
                </a:ext>
              </a:extLst>
            </p:cNvPr>
            <p:cNvSpPr/>
            <p:nvPr/>
          </p:nvSpPr>
          <p:spPr>
            <a:xfrm>
              <a:off x="7621219" y="6676527"/>
              <a:ext cx="243840" cy="140208"/>
            </a:xfrm>
            <a:prstGeom prst="roundRect">
              <a:avLst/>
            </a:prstGeom>
            <a:solidFill>
              <a:srgbClr val="43A04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197" name="t9294">
              <a:extLst>
                <a:ext uri="{FF2B5EF4-FFF2-40B4-BE49-F238E27FC236}">
                  <a16:creationId xmlns="" xmlns:a16="http://schemas.microsoft.com/office/drawing/2014/main" id="{FF594713-24E0-36E8-33A4-CD259CC1E13F}"/>
                </a:ext>
              </a:extLst>
            </p:cNvPr>
            <p:cNvSpPr txBox="1"/>
            <p:nvPr/>
          </p:nvSpPr>
          <p:spPr>
            <a:xfrm>
              <a:off x="8791651" y="6664335"/>
              <a:ext cx="536448" cy="170688"/>
            </a:xfrm>
            <a:prstGeom prst="rect">
              <a:avLst/>
            </a:prstGeom>
            <a:noFill/>
          </p:spPr>
          <p:txBody>
            <a:bodyPr wrap="square" lIns="0" tIns="0" rIns="0" bIns="0" anchor="ctr"/>
            <a:lstStyle/>
            <a:p>
              <a:pPr algn="r"/>
              <a:r>
                <a:rPr sz="1000" b="1">
                  <a:solidFill>
                    <a:srgbClr val="43A047"/>
                  </a:solidFill>
                  <a:latin typeface="微软雅黑" panose="020B0503020204020204" pitchFamily="34" charset="-122"/>
                  <a:ea typeface="微软雅黑" panose="020B0503020204020204" pitchFamily="34" charset="-122"/>
                </a:rPr>
                <a:t>3.5%</a:t>
              </a:r>
            </a:p>
          </p:txBody>
        </p:sp>
        <p:sp>
          <p:nvSpPr>
            <p:cNvPr id="198" name="t9296">
              <a:extLst>
                <a:ext uri="{FF2B5EF4-FFF2-40B4-BE49-F238E27FC236}">
                  <a16:creationId xmlns="" xmlns:a16="http://schemas.microsoft.com/office/drawing/2014/main" id="{BE342F3E-E0D9-B74D-D235-1F1796A69225}"/>
                </a:ext>
              </a:extLst>
            </p:cNvPr>
            <p:cNvSpPr txBox="1"/>
            <p:nvPr/>
          </p:nvSpPr>
          <p:spPr>
            <a:xfrm>
              <a:off x="6645859" y="7036191"/>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8. 石头科技</a:t>
              </a:r>
            </a:p>
          </p:txBody>
        </p:sp>
        <p:sp>
          <p:nvSpPr>
            <p:cNvPr id="199" name="b9298">
              <a:extLst>
                <a:ext uri="{FF2B5EF4-FFF2-40B4-BE49-F238E27FC236}">
                  <a16:creationId xmlns="" xmlns:a16="http://schemas.microsoft.com/office/drawing/2014/main" id="{72FE73E9-0CD5-BD58-FC66-19510A990DCF}"/>
                </a:ext>
              </a:extLst>
            </p:cNvPr>
            <p:cNvSpPr/>
            <p:nvPr/>
          </p:nvSpPr>
          <p:spPr>
            <a:xfrm>
              <a:off x="7621219" y="7048383"/>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00" name="b9300">
              <a:extLst>
                <a:ext uri="{FF2B5EF4-FFF2-40B4-BE49-F238E27FC236}">
                  <a16:creationId xmlns="" xmlns:a16="http://schemas.microsoft.com/office/drawing/2014/main" id="{D6FA0E21-E4C1-DE25-BBAB-FFF0351BD24A}"/>
                </a:ext>
              </a:extLst>
            </p:cNvPr>
            <p:cNvSpPr/>
            <p:nvPr/>
          </p:nvSpPr>
          <p:spPr>
            <a:xfrm>
              <a:off x="7621219" y="7048383"/>
              <a:ext cx="229907" cy="140208"/>
            </a:xfrm>
            <a:prstGeom prst="roundRect">
              <a:avLst/>
            </a:prstGeom>
            <a:solidFill>
              <a:srgbClr val="43A04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01" name="t9302">
              <a:extLst>
                <a:ext uri="{FF2B5EF4-FFF2-40B4-BE49-F238E27FC236}">
                  <a16:creationId xmlns="" xmlns:a16="http://schemas.microsoft.com/office/drawing/2014/main" id="{518D6DEC-FB3A-B73A-6D05-CE44BB95BEAF}"/>
                </a:ext>
              </a:extLst>
            </p:cNvPr>
            <p:cNvSpPr txBox="1"/>
            <p:nvPr/>
          </p:nvSpPr>
          <p:spPr>
            <a:xfrm>
              <a:off x="8791651" y="7036191"/>
              <a:ext cx="536448" cy="170688"/>
            </a:xfrm>
            <a:prstGeom prst="rect">
              <a:avLst/>
            </a:prstGeom>
            <a:noFill/>
          </p:spPr>
          <p:txBody>
            <a:bodyPr wrap="square" lIns="0" tIns="0" rIns="0" bIns="0" anchor="ctr"/>
            <a:lstStyle/>
            <a:p>
              <a:pPr algn="r"/>
              <a:r>
                <a:rPr sz="1000" b="1">
                  <a:solidFill>
                    <a:srgbClr val="43A047"/>
                  </a:solidFill>
                  <a:latin typeface="微软雅黑" panose="020B0503020204020204" pitchFamily="34" charset="-122"/>
                  <a:ea typeface="微软雅黑" panose="020B0503020204020204" pitchFamily="34" charset="-122"/>
                </a:rPr>
                <a:t>3.3%</a:t>
              </a:r>
            </a:p>
          </p:txBody>
        </p:sp>
        <p:sp>
          <p:nvSpPr>
            <p:cNvPr id="202" name="t9304">
              <a:extLst>
                <a:ext uri="{FF2B5EF4-FFF2-40B4-BE49-F238E27FC236}">
                  <a16:creationId xmlns="" xmlns:a16="http://schemas.microsoft.com/office/drawing/2014/main" id="{7D6AAF3D-597E-9427-3252-17C6F601CCBD}"/>
                </a:ext>
              </a:extLst>
            </p:cNvPr>
            <p:cNvSpPr txBox="1"/>
            <p:nvPr/>
          </p:nvSpPr>
          <p:spPr>
            <a:xfrm>
              <a:off x="6645859" y="7408047"/>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9. 恒玄科技</a:t>
              </a:r>
            </a:p>
          </p:txBody>
        </p:sp>
        <p:sp>
          <p:nvSpPr>
            <p:cNvPr id="203" name="b9306">
              <a:extLst>
                <a:ext uri="{FF2B5EF4-FFF2-40B4-BE49-F238E27FC236}">
                  <a16:creationId xmlns="" xmlns:a16="http://schemas.microsoft.com/office/drawing/2014/main" id="{B3F70CDC-582C-89E8-3A53-86319E93F8EE}"/>
                </a:ext>
              </a:extLst>
            </p:cNvPr>
            <p:cNvSpPr/>
            <p:nvPr/>
          </p:nvSpPr>
          <p:spPr>
            <a:xfrm>
              <a:off x="7621219" y="7420239"/>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04" name="b9308">
              <a:extLst>
                <a:ext uri="{FF2B5EF4-FFF2-40B4-BE49-F238E27FC236}">
                  <a16:creationId xmlns="" xmlns:a16="http://schemas.microsoft.com/office/drawing/2014/main" id="{F701DD82-C11A-6BFF-00AD-A4799CA2A90B}"/>
                </a:ext>
              </a:extLst>
            </p:cNvPr>
            <p:cNvSpPr/>
            <p:nvPr/>
          </p:nvSpPr>
          <p:spPr>
            <a:xfrm>
              <a:off x="7621219" y="7420239"/>
              <a:ext cx="215972" cy="140208"/>
            </a:xfrm>
            <a:prstGeom prst="roundRect">
              <a:avLst/>
            </a:prstGeom>
            <a:solidFill>
              <a:srgbClr val="43A04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05" name="t9310">
              <a:extLst>
                <a:ext uri="{FF2B5EF4-FFF2-40B4-BE49-F238E27FC236}">
                  <a16:creationId xmlns="" xmlns:a16="http://schemas.microsoft.com/office/drawing/2014/main" id="{EFA3B580-851F-6DB0-A7C4-49C0E423CA26}"/>
                </a:ext>
              </a:extLst>
            </p:cNvPr>
            <p:cNvSpPr txBox="1"/>
            <p:nvPr/>
          </p:nvSpPr>
          <p:spPr>
            <a:xfrm>
              <a:off x="8791651" y="7408047"/>
              <a:ext cx="536448" cy="170688"/>
            </a:xfrm>
            <a:prstGeom prst="rect">
              <a:avLst/>
            </a:prstGeom>
            <a:noFill/>
          </p:spPr>
          <p:txBody>
            <a:bodyPr wrap="square" lIns="0" tIns="0" rIns="0" bIns="0" anchor="ctr"/>
            <a:lstStyle/>
            <a:p>
              <a:pPr algn="r"/>
              <a:r>
                <a:rPr sz="1000" b="1">
                  <a:solidFill>
                    <a:srgbClr val="43A047"/>
                  </a:solidFill>
                  <a:latin typeface="微软雅黑" panose="020B0503020204020204" pitchFamily="34" charset="-122"/>
                  <a:ea typeface="微软雅黑" panose="020B0503020204020204" pitchFamily="34" charset="-122"/>
                </a:rPr>
                <a:t>3.1%</a:t>
              </a:r>
            </a:p>
          </p:txBody>
        </p:sp>
        <p:sp>
          <p:nvSpPr>
            <p:cNvPr id="206" name="t9312">
              <a:extLst>
                <a:ext uri="{FF2B5EF4-FFF2-40B4-BE49-F238E27FC236}">
                  <a16:creationId xmlns="" xmlns:a16="http://schemas.microsoft.com/office/drawing/2014/main" id="{89C199E8-2B0B-A0E2-36CA-8D4CDD648C72}"/>
                </a:ext>
              </a:extLst>
            </p:cNvPr>
            <p:cNvSpPr txBox="1"/>
            <p:nvPr/>
          </p:nvSpPr>
          <p:spPr>
            <a:xfrm>
              <a:off x="6645859" y="7779903"/>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10. 中科星图</a:t>
              </a:r>
            </a:p>
          </p:txBody>
        </p:sp>
        <p:sp>
          <p:nvSpPr>
            <p:cNvPr id="207" name="b9314">
              <a:extLst>
                <a:ext uri="{FF2B5EF4-FFF2-40B4-BE49-F238E27FC236}">
                  <a16:creationId xmlns="" xmlns:a16="http://schemas.microsoft.com/office/drawing/2014/main" id="{720C8D09-CE3C-FC4C-566D-42739123EAD2}"/>
                </a:ext>
              </a:extLst>
            </p:cNvPr>
            <p:cNvSpPr/>
            <p:nvPr/>
          </p:nvSpPr>
          <p:spPr>
            <a:xfrm>
              <a:off x="7621219" y="7792095"/>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08" name="b9316">
              <a:extLst>
                <a:ext uri="{FF2B5EF4-FFF2-40B4-BE49-F238E27FC236}">
                  <a16:creationId xmlns="" xmlns:a16="http://schemas.microsoft.com/office/drawing/2014/main" id="{33EAF1F5-9BC8-6A76-731B-BB79CFEFB026}"/>
                </a:ext>
              </a:extLst>
            </p:cNvPr>
            <p:cNvSpPr/>
            <p:nvPr/>
          </p:nvSpPr>
          <p:spPr>
            <a:xfrm>
              <a:off x="7621219" y="7792095"/>
              <a:ext cx="215972" cy="140208"/>
            </a:xfrm>
            <a:prstGeom prst="roundRect">
              <a:avLst/>
            </a:prstGeom>
            <a:solidFill>
              <a:srgbClr val="43A04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09" name="t9318">
              <a:extLst>
                <a:ext uri="{FF2B5EF4-FFF2-40B4-BE49-F238E27FC236}">
                  <a16:creationId xmlns="" xmlns:a16="http://schemas.microsoft.com/office/drawing/2014/main" id="{F0606108-09EE-980B-26A0-34855306F698}"/>
                </a:ext>
              </a:extLst>
            </p:cNvPr>
            <p:cNvSpPr txBox="1"/>
            <p:nvPr/>
          </p:nvSpPr>
          <p:spPr>
            <a:xfrm>
              <a:off x="8791651" y="7779903"/>
              <a:ext cx="536448" cy="170688"/>
            </a:xfrm>
            <a:prstGeom prst="rect">
              <a:avLst/>
            </a:prstGeom>
            <a:noFill/>
          </p:spPr>
          <p:txBody>
            <a:bodyPr wrap="square" lIns="0" tIns="0" rIns="0" bIns="0" anchor="ctr"/>
            <a:lstStyle/>
            <a:p>
              <a:pPr algn="r"/>
              <a:r>
                <a:rPr sz="1000" b="1">
                  <a:solidFill>
                    <a:srgbClr val="43A047"/>
                  </a:solidFill>
                  <a:latin typeface="微软雅黑" panose="020B0503020204020204" pitchFamily="34" charset="-122"/>
                  <a:ea typeface="微软雅黑" panose="020B0503020204020204" pitchFamily="34" charset="-122"/>
                </a:rPr>
                <a:t>3.1%</a:t>
              </a:r>
            </a:p>
          </p:txBody>
        </p:sp>
        <p:sp>
          <p:nvSpPr>
            <p:cNvPr id="210" name="t9320">
              <a:extLst>
                <a:ext uri="{FF2B5EF4-FFF2-40B4-BE49-F238E27FC236}">
                  <a16:creationId xmlns="" xmlns:a16="http://schemas.microsoft.com/office/drawing/2014/main" id="{D1927230-779C-08FA-0ED7-1497369AAA25}"/>
                </a:ext>
              </a:extLst>
            </p:cNvPr>
            <p:cNvSpPr txBox="1"/>
            <p:nvPr/>
          </p:nvSpPr>
          <p:spPr>
            <a:xfrm>
              <a:off x="9792615" y="3127896"/>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通信</a:t>
              </a:r>
            </a:p>
          </p:txBody>
        </p:sp>
        <p:sp>
          <p:nvSpPr>
            <p:cNvPr id="211" name="b9322">
              <a:extLst>
                <a:ext uri="{FF2B5EF4-FFF2-40B4-BE49-F238E27FC236}">
                  <a16:creationId xmlns="" xmlns:a16="http://schemas.microsoft.com/office/drawing/2014/main" id="{77B79066-BC89-830E-DF0B-77D36376F04B}"/>
                </a:ext>
              </a:extLst>
            </p:cNvPr>
            <p:cNvSpPr/>
            <p:nvPr/>
          </p:nvSpPr>
          <p:spPr>
            <a:xfrm>
              <a:off x="10499751" y="3133992"/>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212" name="b9324">
              <a:extLst>
                <a:ext uri="{FF2B5EF4-FFF2-40B4-BE49-F238E27FC236}">
                  <a16:creationId xmlns="" xmlns:a16="http://schemas.microsoft.com/office/drawing/2014/main" id="{83C861FF-2B78-DA0D-A0F9-327C7627F5D9}"/>
                </a:ext>
              </a:extLst>
            </p:cNvPr>
            <p:cNvSpPr/>
            <p:nvPr/>
          </p:nvSpPr>
          <p:spPr>
            <a:xfrm>
              <a:off x="10499751" y="3133992"/>
              <a:ext cx="1069727" cy="121920"/>
            </a:xfrm>
            <a:prstGeom prst="roundRect">
              <a:avLst/>
            </a:prstGeom>
            <a:solidFill>
              <a:srgbClr val="8854D0"/>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213" name="t9326">
              <a:extLst>
                <a:ext uri="{FF2B5EF4-FFF2-40B4-BE49-F238E27FC236}">
                  <a16:creationId xmlns="" xmlns:a16="http://schemas.microsoft.com/office/drawing/2014/main" id="{C78EC8E9-C493-B4F0-A13E-A85E203AE710}"/>
                </a:ext>
              </a:extLst>
            </p:cNvPr>
            <p:cNvSpPr txBox="1"/>
            <p:nvPr/>
          </p:nvSpPr>
          <p:spPr>
            <a:xfrm>
              <a:off x="11889639" y="3109608"/>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82.0%</a:t>
              </a:r>
            </a:p>
          </p:txBody>
        </p:sp>
        <p:sp>
          <p:nvSpPr>
            <p:cNvPr id="214" name="t9328">
              <a:extLst>
                <a:ext uri="{FF2B5EF4-FFF2-40B4-BE49-F238E27FC236}">
                  <a16:creationId xmlns="" xmlns:a16="http://schemas.microsoft.com/office/drawing/2014/main" id="{3A26C38F-F726-7C58-5399-08A4DE66ACD8}"/>
                </a:ext>
              </a:extLst>
            </p:cNvPr>
            <p:cNvSpPr txBox="1"/>
            <p:nvPr/>
          </p:nvSpPr>
          <p:spPr>
            <a:xfrm>
              <a:off x="9792615" y="3377832"/>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电子</a:t>
              </a:r>
            </a:p>
          </p:txBody>
        </p:sp>
        <p:sp>
          <p:nvSpPr>
            <p:cNvPr id="215" name="b9330">
              <a:extLst>
                <a:ext uri="{FF2B5EF4-FFF2-40B4-BE49-F238E27FC236}">
                  <a16:creationId xmlns="" xmlns:a16="http://schemas.microsoft.com/office/drawing/2014/main" id="{D471B9AF-A43E-3C44-4160-A470227DB940}"/>
                </a:ext>
              </a:extLst>
            </p:cNvPr>
            <p:cNvSpPr/>
            <p:nvPr/>
          </p:nvSpPr>
          <p:spPr>
            <a:xfrm>
              <a:off x="10499751" y="3383928"/>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216" name="b9332">
              <a:extLst>
                <a:ext uri="{FF2B5EF4-FFF2-40B4-BE49-F238E27FC236}">
                  <a16:creationId xmlns="" xmlns:a16="http://schemas.microsoft.com/office/drawing/2014/main" id="{53148BC7-C221-13C1-EBE4-696250F29F44}"/>
                </a:ext>
              </a:extLst>
            </p:cNvPr>
            <p:cNvSpPr/>
            <p:nvPr/>
          </p:nvSpPr>
          <p:spPr>
            <a:xfrm>
              <a:off x="10499751" y="3383928"/>
              <a:ext cx="202204" cy="121920"/>
            </a:xfrm>
            <a:prstGeom prst="roundRect">
              <a:avLst/>
            </a:prstGeom>
            <a:solidFill>
              <a:srgbClr val="8854D0"/>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217" name="t9334">
              <a:extLst>
                <a:ext uri="{FF2B5EF4-FFF2-40B4-BE49-F238E27FC236}">
                  <a16:creationId xmlns="" xmlns:a16="http://schemas.microsoft.com/office/drawing/2014/main" id="{024CDAB1-4685-D730-152A-1A82E38E0551}"/>
                </a:ext>
              </a:extLst>
            </p:cNvPr>
            <p:cNvSpPr txBox="1"/>
            <p:nvPr/>
          </p:nvSpPr>
          <p:spPr>
            <a:xfrm>
              <a:off x="11889639" y="3359544"/>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15.5%</a:t>
              </a:r>
            </a:p>
          </p:txBody>
        </p:sp>
        <p:sp>
          <p:nvSpPr>
            <p:cNvPr id="218" name="t9336">
              <a:extLst>
                <a:ext uri="{FF2B5EF4-FFF2-40B4-BE49-F238E27FC236}">
                  <a16:creationId xmlns="" xmlns:a16="http://schemas.microsoft.com/office/drawing/2014/main" id="{40C0729A-6BBA-E406-44B3-B872C1F7B58F}"/>
                </a:ext>
              </a:extLst>
            </p:cNvPr>
            <p:cNvSpPr txBox="1"/>
            <p:nvPr/>
          </p:nvSpPr>
          <p:spPr>
            <a:xfrm>
              <a:off x="9792615" y="3627768"/>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国防军工</a:t>
              </a:r>
            </a:p>
          </p:txBody>
        </p:sp>
        <p:sp>
          <p:nvSpPr>
            <p:cNvPr id="219" name="b9338">
              <a:extLst>
                <a:ext uri="{FF2B5EF4-FFF2-40B4-BE49-F238E27FC236}">
                  <a16:creationId xmlns="" xmlns:a16="http://schemas.microsoft.com/office/drawing/2014/main" id="{DF36FDE7-1FA1-72E9-0A30-0FF897980B10}"/>
                </a:ext>
              </a:extLst>
            </p:cNvPr>
            <p:cNvSpPr/>
            <p:nvPr/>
          </p:nvSpPr>
          <p:spPr>
            <a:xfrm>
              <a:off x="10499751" y="3633864"/>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220" name="b9340">
              <a:extLst>
                <a:ext uri="{FF2B5EF4-FFF2-40B4-BE49-F238E27FC236}">
                  <a16:creationId xmlns="" xmlns:a16="http://schemas.microsoft.com/office/drawing/2014/main" id="{A9D37E5C-7281-9309-B0B5-BE8C42052020}"/>
                </a:ext>
              </a:extLst>
            </p:cNvPr>
            <p:cNvSpPr/>
            <p:nvPr/>
          </p:nvSpPr>
          <p:spPr>
            <a:xfrm>
              <a:off x="10499751" y="3633864"/>
              <a:ext cx="48768" cy="121920"/>
            </a:xfrm>
            <a:prstGeom prst="roundRect">
              <a:avLst/>
            </a:prstGeom>
            <a:solidFill>
              <a:srgbClr val="8854D0"/>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221" name="t9342">
              <a:extLst>
                <a:ext uri="{FF2B5EF4-FFF2-40B4-BE49-F238E27FC236}">
                  <a16:creationId xmlns="" xmlns:a16="http://schemas.microsoft.com/office/drawing/2014/main" id="{A496E5A9-1F9B-1A03-F362-4BCD4D31FF4A}"/>
                </a:ext>
              </a:extLst>
            </p:cNvPr>
            <p:cNvSpPr txBox="1"/>
            <p:nvPr/>
          </p:nvSpPr>
          <p:spPr>
            <a:xfrm>
              <a:off x="11889639" y="3609480"/>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1.9%</a:t>
              </a:r>
            </a:p>
          </p:txBody>
        </p:sp>
        <p:sp>
          <p:nvSpPr>
            <p:cNvPr id="222" name="bg9344">
              <a:extLst>
                <a:ext uri="{FF2B5EF4-FFF2-40B4-BE49-F238E27FC236}">
                  <a16:creationId xmlns="" xmlns:a16="http://schemas.microsoft.com/office/drawing/2014/main" id="{26E292DE-9805-9A16-C231-E60A35E0CB14}"/>
                </a:ext>
              </a:extLst>
            </p:cNvPr>
            <p:cNvSpPr/>
            <p:nvPr/>
          </p:nvSpPr>
          <p:spPr>
            <a:xfrm>
              <a:off x="9658503" y="4244223"/>
              <a:ext cx="2804160" cy="3962400"/>
            </a:xfrm>
            <a:prstGeom prst="roundRect">
              <a:avLst/>
            </a:prstGeom>
            <a:solidFill>
              <a:srgbClr val="FCFDFF"/>
            </a:solidFill>
            <a:ln w="9525">
              <a:solidFill>
                <a:srgbClr val="E0E4EB"/>
              </a:solidFill>
            </a:ln>
          </p:spPr>
          <p:txBody>
            <a:bodyPr rtlCol="0" anchor="ctr"/>
            <a:lstStyle/>
            <a:p>
              <a:pPr algn="ctr"/>
              <a:endParaRPr sz="700"/>
            </a:p>
          </p:txBody>
        </p:sp>
        <p:sp>
          <p:nvSpPr>
            <p:cNvPr id="223" name="t9346">
              <a:extLst>
                <a:ext uri="{FF2B5EF4-FFF2-40B4-BE49-F238E27FC236}">
                  <a16:creationId xmlns="" xmlns:a16="http://schemas.microsoft.com/office/drawing/2014/main" id="{4385BDA6-FB8A-312A-EFED-C2F20D7B5E61}"/>
                </a:ext>
              </a:extLst>
            </p:cNvPr>
            <p:cNvSpPr txBox="1"/>
            <p:nvPr/>
          </p:nvSpPr>
          <p:spPr>
            <a:xfrm>
              <a:off x="9756039" y="4433199"/>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1. 中际旭创</a:t>
              </a:r>
            </a:p>
          </p:txBody>
        </p:sp>
        <p:sp>
          <p:nvSpPr>
            <p:cNvPr id="224" name="b9348">
              <a:extLst>
                <a:ext uri="{FF2B5EF4-FFF2-40B4-BE49-F238E27FC236}">
                  <a16:creationId xmlns="" xmlns:a16="http://schemas.microsoft.com/office/drawing/2014/main" id="{94D40F0F-CF4C-D904-F5B7-AEEB3E7D5FD0}"/>
                </a:ext>
              </a:extLst>
            </p:cNvPr>
            <p:cNvSpPr/>
            <p:nvPr/>
          </p:nvSpPr>
          <p:spPr>
            <a:xfrm>
              <a:off x="10731399" y="4445391"/>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25" name="b9350">
              <a:extLst>
                <a:ext uri="{FF2B5EF4-FFF2-40B4-BE49-F238E27FC236}">
                  <a16:creationId xmlns="" xmlns:a16="http://schemas.microsoft.com/office/drawing/2014/main" id="{1C643BF7-46BF-3237-1918-EF91F9FC9A9E}"/>
                </a:ext>
              </a:extLst>
            </p:cNvPr>
            <p:cNvSpPr/>
            <p:nvPr/>
          </p:nvSpPr>
          <p:spPr>
            <a:xfrm>
              <a:off x="10731399" y="4445391"/>
              <a:ext cx="1121664" cy="140208"/>
            </a:xfrm>
            <a:prstGeom prst="roundRect">
              <a:avLst/>
            </a:prstGeom>
            <a:solidFill>
              <a:srgbClr val="8854D0"/>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26" name="t9352">
              <a:extLst>
                <a:ext uri="{FF2B5EF4-FFF2-40B4-BE49-F238E27FC236}">
                  <a16:creationId xmlns="" xmlns:a16="http://schemas.microsoft.com/office/drawing/2014/main" id="{D9F6701A-0543-B5A4-FC53-8C10EB99F6B2}"/>
                </a:ext>
              </a:extLst>
            </p:cNvPr>
            <p:cNvSpPr txBox="1"/>
            <p:nvPr/>
          </p:nvSpPr>
          <p:spPr>
            <a:xfrm>
              <a:off x="11901831" y="4433199"/>
              <a:ext cx="536448" cy="170688"/>
            </a:xfrm>
            <a:prstGeom prst="rect">
              <a:avLst/>
            </a:prstGeom>
            <a:noFill/>
          </p:spPr>
          <p:txBody>
            <a:bodyPr wrap="square" lIns="0" tIns="0" rIns="0" bIns="0" anchor="ctr"/>
            <a:lstStyle/>
            <a:p>
              <a:pPr algn="r"/>
              <a:r>
                <a:rPr sz="1000" b="1">
                  <a:solidFill>
                    <a:srgbClr val="8854D0"/>
                  </a:solidFill>
                  <a:latin typeface="微软雅黑" panose="020B0503020204020204" pitchFamily="34" charset="-122"/>
                  <a:ea typeface="微软雅黑" panose="020B0503020204020204" pitchFamily="34" charset="-122"/>
                </a:rPr>
                <a:t>18.9%</a:t>
              </a:r>
            </a:p>
          </p:txBody>
        </p:sp>
        <p:sp>
          <p:nvSpPr>
            <p:cNvPr id="227" name="t9354">
              <a:extLst>
                <a:ext uri="{FF2B5EF4-FFF2-40B4-BE49-F238E27FC236}">
                  <a16:creationId xmlns="" xmlns:a16="http://schemas.microsoft.com/office/drawing/2014/main" id="{A0839B1E-2CEC-28B4-3C71-F5C3B212B165}"/>
                </a:ext>
              </a:extLst>
            </p:cNvPr>
            <p:cNvSpPr txBox="1"/>
            <p:nvPr/>
          </p:nvSpPr>
          <p:spPr>
            <a:xfrm>
              <a:off x="9756039" y="4805055"/>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2. 新易盛</a:t>
              </a:r>
            </a:p>
          </p:txBody>
        </p:sp>
        <p:sp>
          <p:nvSpPr>
            <p:cNvPr id="228" name="b9356">
              <a:extLst>
                <a:ext uri="{FF2B5EF4-FFF2-40B4-BE49-F238E27FC236}">
                  <a16:creationId xmlns="" xmlns:a16="http://schemas.microsoft.com/office/drawing/2014/main" id="{07E3539F-655F-CC16-B466-8C8E7EB8B19A}"/>
                </a:ext>
              </a:extLst>
            </p:cNvPr>
            <p:cNvSpPr/>
            <p:nvPr/>
          </p:nvSpPr>
          <p:spPr>
            <a:xfrm>
              <a:off x="10731399" y="4817247"/>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29" name="b9358">
              <a:extLst>
                <a:ext uri="{FF2B5EF4-FFF2-40B4-BE49-F238E27FC236}">
                  <a16:creationId xmlns="" xmlns:a16="http://schemas.microsoft.com/office/drawing/2014/main" id="{48DE3382-D2AC-BC02-9428-49A182671FDF}"/>
                </a:ext>
              </a:extLst>
            </p:cNvPr>
            <p:cNvSpPr/>
            <p:nvPr/>
          </p:nvSpPr>
          <p:spPr>
            <a:xfrm>
              <a:off x="10731399" y="4817247"/>
              <a:ext cx="961427" cy="140208"/>
            </a:xfrm>
            <a:prstGeom prst="roundRect">
              <a:avLst/>
            </a:prstGeom>
            <a:solidFill>
              <a:srgbClr val="8854D0"/>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30" name="t9360">
              <a:extLst>
                <a:ext uri="{FF2B5EF4-FFF2-40B4-BE49-F238E27FC236}">
                  <a16:creationId xmlns="" xmlns:a16="http://schemas.microsoft.com/office/drawing/2014/main" id="{5988582D-58A5-2100-B519-0D5B7ECE243B}"/>
                </a:ext>
              </a:extLst>
            </p:cNvPr>
            <p:cNvSpPr txBox="1"/>
            <p:nvPr/>
          </p:nvSpPr>
          <p:spPr>
            <a:xfrm>
              <a:off x="11901831" y="4805055"/>
              <a:ext cx="536448" cy="170688"/>
            </a:xfrm>
            <a:prstGeom prst="rect">
              <a:avLst/>
            </a:prstGeom>
            <a:noFill/>
          </p:spPr>
          <p:txBody>
            <a:bodyPr wrap="square" lIns="0" tIns="0" rIns="0" bIns="0" anchor="ctr"/>
            <a:lstStyle/>
            <a:p>
              <a:pPr algn="r"/>
              <a:r>
                <a:rPr sz="1000" b="1">
                  <a:solidFill>
                    <a:srgbClr val="8854D0"/>
                  </a:solidFill>
                  <a:latin typeface="微软雅黑" panose="020B0503020204020204" pitchFamily="34" charset="-122"/>
                  <a:ea typeface="微软雅黑" panose="020B0503020204020204" pitchFamily="34" charset="-122"/>
                </a:rPr>
                <a:t>16.2%</a:t>
              </a:r>
            </a:p>
          </p:txBody>
        </p:sp>
        <p:sp>
          <p:nvSpPr>
            <p:cNvPr id="231" name="t9362">
              <a:extLst>
                <a:ext uri="{FF2B5EF4-FFF2-40B4-BE49-F238E27FC236}">
                  <a16:creationId xmlns="" xmlns:a16="http://schemas.microsoft.com/office/drawing/2014/main" id="{7F9DAD5C-15C4-BC77-6628-CD634943999C}"/>
                </a:ext>
              </a:extLst>
            </p:cNvPr>
            <p:cNvSpPr txBox="1"/>
            <p:nvPr/>
          </p:nvSpPr>
          <p:spPr>
            <a:xfrm>
              <a:off x="9756039" y="5176911"/>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3. 工业富联</a:t>
              </a:r>
            </a:p>
          </p:txBody>
        </p:sp>
        <p:sp>
          <p:nvSpPr>
            <p:cNvPr id="232" name="b9364">
              <a:extLst>
                <a:ext uri="{FF2B5EF4-FFF2-40B4-BE49-F238E27FC236}">
                  <a16:creationId xmlns="" xmlns:a16="http://schemas.microsoft.com/office/drawing/2014/main" id="{E58564E9-782D-F972-E337-7D41C9FB9E68}"/>
                </a:ext>
              </a:extLst>
            </p:cNvPr>
            <p:cNvSpPr/>
            <p:nvPr/>
          </p:nvSpPr>
          <p:spPr>
            <a:xfrm>
              <a:off x="10731399" y="5189103"/>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33" name="b9366">
              <a:extLst>
                <a:ext uri="{FF2B5EF4-FFF2-40B4-BE49-F238E27FC236}">
                  <a16:creationId xmlns="" xmlns:a16="http://schemas.microsoft.com/office/drawing/2014/main" id="{7AF8A977-447D-CF59-F57B-9CA8B2ED68FF}"/>
                </a:ext>
              </a:extLst>
            </p:cNvPr>
            <p:cNvSpPr/>
            <p:nvPr/>
          </p:nvSpPr>
          <p:spPr>
            <a:xfrm>
              <a:off x="10731399" y="5189103"/>
              <a:ext cx="599408" cy="140208"/>
            </a:xfrm>
            <a:prstGeom prst="roundRect">
              <a:avLst/>
            </a:prstGeom>
            <a:solidFill>
              <a:srgbClr val="8854D0"/>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34" name="t9368">
              <a:extLst>
                <a:ext uri="{FF2B5EF4-FFF2-40B4-BE49-F238E27FC236}">
                  <a16:creationId xmlns="" xmlns:a16="http://schemas.microsoft.com/office/drawing/2014/main" id="{893D25C5-89C4-44D2-52A4-B17E6F992CD2}"/>
                </a:ext>
              </a:extLst>
            </p:cNvPr>
            <p:cNvSpPr txBox="1"/>
            <p:nvPr/>
          </p:nvSpPr>
          <p:spPr>
            <a:xfrm>
              <a:off x="11901831" y="5176911"/>
              <a:ext cx="536448" cy="170688"/>
            </a:xfrm>
            <a:prstGeom prst="rect">
              <a:avLst/>
            </a:prstGeom>
            <a:noFill/>
          </p:spPr>
          <p:txBody>
            <a:bodyPr wrap="square" lIns="0" tIns="0" rIns="0" bIns="0" anchor="ctr"/>
            <a:lstStyle/>
            <a:p>
              <a:pPr algn="r"/>
              <a:r>
                <a:rPr sz="1000" b="1">
                  <a:solidFill>
                    <a:srgbClr val="8854D0"/>
                  </a:solidFill>
                  <a:latin typeface="微软雅黑" panose="020B0503020204020204" pitchFamily="34" charset="-122"/>
                  <a:ea typeface="微软雅黑" panose="020B0503020204020204" pitchFamily="34" charset="-122"/>
                </a:rPr>
                <a:t>10.1%</a:t>
              </a:r>
            </a:p>
          </p:txBody>
        </p:sp>
        <p:sp>
          <p:nvSpPr>
            <p:cNvPr id="235" name="t9370">
              <a:extLst>
                <a:ext uri="{FF2B5EF4-FFF2-40B4-BE49-F238E27FC236}">
                  <a16:creationId xmlns="" xmlns:a16="http://schemas.microsoft.com/office/drawing/2014/main" id="{283528A0-E3A0-78D6-C91B-252E35438FD8}"/>
                </a:ext>
              </a:extLst>
            </p:cNvPr>
            <p:cNvSpPr txBox="1"/>
            <p:nvPr/>
          </p:nvSpPr>
          <p:spPr>
            <a:xfrm>
              <a:off x="9756039" y="5548767"/>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4. 天孚通信</a:t>
              </a:r>
            </a:p>
          </p:txBody>
        </p:sp>
        <p:sp>
          <p:nvSpPr>
            <p:cNvPr id="236" name="b9372">
              <a:extLst>
                <a:ext uri="{FF2B5EF4-FFF2-40B4-BE49-F238E27FC236}">
                  <a16:creationId xmlns="" xmlns:a16="http://schemas.microsoft.com/office/drawing/2014/main" id="{0A0E8CA0-9DDD-4127-98C6-8A8ED832F997}"/>
                </a:ext>
              </a:extLst>
            </p:cNvPr>
            <p:cNvSpPr/>
            <p:nvPr/>
          </p:nvSpPr>
          <p:spPr>
            <a:xfrm>
              <a:off x="10731399" y="5560959"/>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37" name="b9374">
              <a:extLst>
                <a:ext uri="{FF2B5EF4-FFF2-40B4-BE49-F238E27FC236}">
                  <a16:creationId xmlns="" xmlns:a16="http://schemas.microsoft.com/office/drawing/2014/main" id="{2092F827-B264-CC56-63E4-9F659BC75983}"/>
                </a:ext>
              </a:extLst>
            </p:cNvPr>
            <p:cNvSpPr/>
            <p:nvPr/>
          </p:nvSpPr>
          <p:spPr>
            <a:xfrm>
              <a:off x="10731399" y="5560959"/>
              <a:ext cx="439171" cy="140208"/>
            </a:xfrm>
            <a:prstGeom prst="roundRect">
              <a:avLst/>
            </a:prstGeom>
            <a:solidFill>
              <a:srgbClr val="8854D0"/>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38" name="t9376">
              <a:extLst>
                <a:ext uri="{FF2B5EF4-FFF2-40B4-BE49-F238E27FC236}">
                  <a16:creationId xmlns="" xmlns:a16="http://schemas.microsoft.com/office/drawing/2014/main" id="{0D777078-BC4F-89A2-70B8-82D00D05A370}"/>
                </a:ext>
              </a:extLst>
            </p:cNvPr>
            <p:cNvSpPr txBox="1"/>
            <p:nvPr/>
          </p:nvSpPr>
          <p:spPr>
            <a:xfrm>
              <a:off x="11901831" y="5548767"/>
              <a:ext cx="536448" cy="170688"/>
            </a:xfrm>
            <a:prstGeom prst="rect">
              <a:avLst/>
            </a:prstGeom>
            <a:noFill/>
          </p:spPr>
          <p:txBody>
            <a:bodyPr wrap="square" lIns="0" tIns="0" rIns="0" bIns="0" anchor="ctr"/>
            <a:lstStyle/>
            <a:p>
              <a:pPr algn="r"/>
              <a:r>
                <a:rPr sz="1000" b="1">
                  <a:solidFill>
                    <a:srgbClr val="8854D0"/>
                  </a:solidFill>
                  <a:latin typeface="微软雅黑" panose="020B0503020204020204" pitchFamily="34" charset="-122"/>
                  <a:ea typeface="微软雅黑" panose="020B0503020204020204" pitchFamily="34" charset="-122"/>
                </a:rPr>
                <a:t>7.4%</a:t>
              </a:r>
            </a:p>
          </p:txBody>
        </p:sp>
        <p:sp>
          <p:nvSpPr>
            <p:cNvPr id="239" name="t9378">
              <a:extLst>
                <a:ext uri="{FF2B5EF4-FFF2-40B4-BE49-F238E27FC236}">
                  <a16:creationId xmlns="" xmlns:a16="http://schemas.microsoft.com/office/drawing/2014/main" id="{7DEA1CB7-304D-207F-BE9E-A3DC1E295E3D}"/>
                </a:ext>
              </a:extLst>
            </p:cNvPr>
            <p:cNvSpPr txBox="1"/>
            <p:nvPr/>
          </p:nvSpPr>
          <p:spPr>
            <a:xfrm>
              <a:off x="9756039" y="5920623"/>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5. 亨通光电</a:t>
              </a:r>
            </a:p>
          </p:txBody>
        </p:sp>
        <p:sp>
          <p:nvSpPr>
            <p:cNvPr id="240" name="b9380">
              <a:extLst>
                <a:ext uri="{FF2B5EF4-FFF2-40B4-BE49-F238E27FC236}">
                  <a16:creationId xmlns="" xmlns:a16="http://schemas.microsoft.com/office/drawing/2014/main" id="{104BFFE5-BAB4-FA5A-F1D4-BD8502F49883}"/>
                </a:ext>
              </a:extLst>
            </p:cNvPr>
            <p:cNvSpPr/>
            <p:nvPr/>
          </p:nvSpPr>
          <p:spPr>
            <a:xfrm>
              <a:off x="10731399" y="5932815"/>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41" name="b9382">
              <a:extLst>
                <a:ext uri="{FF2B5EF4-FFF2-40B4-BE49-F238E27FC236}">
                  <a16:creationId xmlns="" xmlns:a16="http://schemas.microsoft.com/office/drawing/2014/main" id="{191430C6-FCAA-A443-DDB7-5908709D67A3}"/>
                </a:ext>
              </a:extLst>
            </p:cNvPr>
            <p:cNvSpPr/>
            <p:nvPr/>
          </p:nvSpPr>
          <p:spPr>
            <a:xfrm>
              <a:off x="10731399" y="5932815"/>
              <a:ext cx="314541" cy="140208"/>
            </a:xfrm>
            <a:prstGeom prst="roundRect">
              <a:avLst/>
            </a:prstGeom>
            <a:solidFill>
              <a:srgbClr val="8854D0"/>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42" name="t9384">
              <a:extLst>
                <a:ext uri="{FF2B5EF4-FFF2-40B4-BE49-F238E27FC236}">
                  <a16:creationId xmlns="" xmlns:a16="http://schemas.microsoft.com/office/drawing/2014/main" id="{06C93595-F455-619A-615F-D04CF32C340E}"/>
                </a:ext>
              </a:extLst>
            </p:cNvPr>
            <p:cNvSpPr txBox="1"/>
            <p:nvPr/>
          </p:nvSpPr>
          <p:spPr>
            <a:xfrm>
              <a:off x="11901831" y="5920623"/>
              <a:ext cx="536448" cy="170688"/>
            </a:xfrm>
            <a:prstGeom prst="rect">
              <a:avLst/>
            </a:prstGeom>
            <a:noFill/>
          </p:spPr>
          <p:txBody>
            <a:bodyPr wrap="square" lIns="0" tIns="0" rIns="0" bIns="0" anchor="ctr"/>
            <a:lstStyle/>
            <a:p>
              <a:pPr algn="r"/>
              <a:r>
                <a:rPr sz="1000" b="1">
                  <a:solidFill>
                    <a:srgbClr val="8854D0"/>
                  </a:solidFill>
                  <a:latin typeface="微软雅黑" panose="020B0503020204020204" pitchFamily="34" charset="-122"/>
                  <a:ea typeface="微软雅黑" panose="020B0503020204020204" pitchFamily="34" charset="-122"/>
                </a:rPr>
                <a:t>5.3%</a:t>
              </a:r>
            </a:p>
          </p:txBody>
        </p:sp>
        <p:sp>
          <p:nvSpPr>
            <p:cNvPr id="243" name="t9386">
              <a:extLst>
                <a:ext uri="{FF2B5EF4-FFF2-40B4-BE49-F238E27FC236}">
                  <a16:creationId xmlns="" xmlns:a16="http://schemas.microsoft.com/office/drawing/2014/main" id="{3E6C1C60-0FFB-2547-0603-EBD1460CF492}"/>
                </a:ext>
              </a:extLst>
            </p:cNvPr>
            <p:cNvSpPr txBox="1"/>
            <p:nvPr/>
          </p:nvSpPr>
          <p:spPr>
            <a:xfrm>
              <a:off x="9756039" y="6292479"/>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6. 中兴通讯</a:t>
              </a:r>
            </a:p>
          </p:txBody>
        </p:sp>
        <p:sp>
          <p:nvSpPr>
            <p:cNvPr id="244" name="b9388">
              <a:extLst>
                <a:ext uri="{FF2B5EF4-FFF2-40B4-BE49-F238E27FC236}">
                  <a16:creationId xmlns="" xmlns:a16="http://schemas.microsoft.com/office/drawing/2014/main" id="{0F24F6A8-4160-3368-AD89-98C52A42EFBA}"/>
                </a:ext>
              </a:extLst>
            </p:cNvPr>
            <p:cNvSpPr/>
            <p:nvPr/>
          </p:nvSpPr>
          <p:spPr>
            <a:xfrm>
              <a:off x="10731399" y="6304671"/>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45" name="b9390">
              <a:extLst>
                <a:ext uri="{FF2B5EF4-FFF2-40B4-BE49-F238E27FC236}">
                  <a16:creationId xmlns="" xmlns:a16="http://schemas.microsoft.com/office/drawing/2014/main" id="{D1FF8AA2-8802-6B5E-E682-E75B025DE57B}"/>
                </a:ext>
              </a:extLst>
            </p:cNvPr>
            <p:cNvSpPr/>
            <p:nvPr/>
          </p:nvSpPr>
          <p:spPr>
            <a:xfrm>
              <a:off x="10731399" y="6304671"/>
              <a:ext cx="243324" cy="140208"/>
            </a:xfrm>
            <a:prstGeom prst="roundRect">
              <a:avLst/>
            </a:prstGeom>
            <a:solidFill>
              <a:srgbClr val="8854D0"/>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46" name="t9392">
              <a:extLst>
                <a:ext uri="{FF2B5EF4-FFF2-40B4-BE49-F238E27FC236}">
                  <a16:creationId xmlns="" xmlns:a16="http://schemas.microsoft.com/office/drawing/2014/main" id="{444203FC-E71C-2BA3-97EC-E06E7CF0A9D8}"/>
                </a:ext>
              </a:extLst>
            </p:cNvPr>
            <p:cNvSpPr txBox="1"/>
            <p:nvPr/>
          </p:nvSpPr>
          <p:spPr>
            <a:xfrm>
              <a:off x="11901831" y="6292479"/>
              <a:ext cx="536448" cy="170688"/>
            </a:xfrm>
            <a:prstGeom prst="rect">
              <a:avLst/>
            </a:prstGeom>
            <a:noFill/>
          </p:spPr>
          <p:txBody>
            <a:bodyPr wrap="square" lIns="0" tIns="0" rIns="0" bIns="0" anchor="ctr"/>
            <a:lstStyle/>
            <a:p>
              <a:pPr algn="r"/>
              <a:r>
                <a:rPr sz="1000" b="1">
                  <a:solidFill>
                    <a:srgbClr val="8854D0"/>
                  </a:solidFill>
                  <a:latin typeface="微软雅黑" panose="020B0503020204020204" pitchFamily="34" charset="-122"/>
                  <a:ea typeface="微软雅黑" panose="020B0503020204020204" pitchFamily="34" charset="-122"/>
                </a:rPr>
                <a:t>4.1%</a:t>
              </a:r>
            </a:p>
          </p:txBody>
        </p:sp>
        <p:sp>
          <p:nvSpPr>
            <p:cNvPr id="247" name="t9394">
              <a:extLst>
                <a:ext uri="{FF2B5EF4-FFF2-40B4-BE49-F238E27FC236}">
                  <a16:creationId xmlns="" xmlns:a16="http://schemas.microsoft.com/office/drawing/2014/main" id="{F29F57EC-D190-8BDF-66D2-1E73A0670C8E}"/>
                </a:ext>
              </a:extLst>
            </p:cNvPr>
            <p:cNvSpPr txBox="1"/>
            <p:nvPr/>
          </p:nvSpPr>
          <p:spPr>
            <a:xfrm>
              <a:off x="9756039" y="6664335"/>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7. 中天科技</a:t>
              </a:r>
            </a:p>
          </p:txBody>
        </p:sp>
        <p:sp>
          <p:nvSpPr>
            <p:cNvPr id="248" name="b9396">
              <a:extLst>
                <a:ext uri="{FF2B5EF4-FFF2-40B4-BE49-F238E27FC236}">
                  <a16:creationId xmlns="" xmlns:a16="http://schemas.microsoft.com/office/drawing/2014/main" id="{F6D8B475-B185-1769-B2F7-87BF23D6E41D}"/>
                </a:ext>
              </a:extLst>
            </p:cNvPr>
            <p:cNvSpPr/>
            <p:nvPr/>
          </p:nvSpPr>
          <p:spPr>
            <a:xfrm>
              <a:off x="10731399" y="6676527"/>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49" name="b9398">
              <a:extLst>
                <a:ext uri="{FF2B5EF4-FFF2-40B4-BE49-F238E27FC236}">
                  <a16:creationId xmlns="" xmlns:a16="http://schemas.microsoft.com/office/drawing/2014/main" id="{63A8B79B-61DB-56D2-9DB5-C2794AB78C9A}"/>
                </a:ext>
              </a:extLst>
            </p:cNvPr>
            <p:cNvSpPr/>
            <p:nvPr/>
          </p:nvSpPr>
          <p:spPr>
            <a:xfrm>
              <a:off x="10731399" y="6676527"/>
              <a:ext cx="237389" cy="140208"/>
            </a:xfrm>
            <a:prstGeom prst="roundRect">
              <a:avLst/>
            </a:prstGeom>
            <a:solidFill>
              <a:srgbClr val="8854D0"/>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50" name="t9400">
              <a:extLst>
                <a:ext uri="{FF2B5EF4-FFF2-40B4-BE49-F238E27FC236}">
                  <a16:creationId xmlns="" xmlns:a16="http://schemas.microsoft.com/office/drawing/2014/main" id="{B41E7F1D-6497-6975-B825-ECA85B8EBE03}"/>
                </a:ext>
              </a:extLst>
            </p:cNvPr>
            <p:cNvSpPr txBox="1"/>
            <p:nvPr/>
          </p:nvSpPr>
          <p:spPr>
            <a:xfrm>
              <a:off x="11901831" y="6664335"/>
              <a:ext cx="536448" cy="170688"/>
            </a:xfrm>
            <a:prstGeom prst="rect">
              <a:avLst/>
            </a:prstGeom>
            <a:noFill/>
          </p:spPr>
          <p:txBody>
            <a:bodyPr wrap="square" lIns="0" tIns="0" rIns="0" bIns="0" anchor="ctr"/>
            <a:lstStyle/>
            <a:p>
              <a:pPr algn="r"/>
              <a:r>
                <a:rPr sz="1000" b="1">
                  <a:solidFill>
                    <a:srgbClr val="8854D0"/>
                  </a:solidFill>
                  <a:latin typeface="微软雅黑" panose="020B0503020204020204" pitchFamily="34" charset="-122"/>
                  <a:ea typeface="微软雅黑" panose="020B0503020204020204" pitchFamily="34" charset="-122"/>
                </a:rPr>
                <a:t>4.0%</a:t>
              </a:r>
            </a:p>
          </p:txBody>
        </p:sp>
        <p:sp>
          <p:nvSpPr>
            <p:cNvPr id="251" name="t9402">
              <a:extLst>
                <a:ext uri="{FF2B5EF4-FFF2-40B4-BE49-F238E27FC236}">
                  <a16:creationId xmlns="" xmlns:a16="http://schemas.microsoft.com/office/drawing/2014/main" id="{4F2673FB-EB4F-ECD8-55BD-E932E1C6A383}"/>
                </a:ext>
              </a:extLst>
            </p:cNvPr>
            <p:cNvSpPr txBox="1"/>
            <p:nvPr/>
          </p:nvSpPr>
          <p:spPr>
            <a:xfrm>
              <a:off x="9756039" y="7036191"/>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8. 光迅科技</a:t>
              </a:r>
            </a:p>
          </p:txBody>
        </p:sp>
        <p:sp>
          <p:nvSpPr>
            <p:cNvPr id="252" name="b9404">
              <a:extLst>
                <a:ext uri="{FF2B5EF4-FFF2-40B4-BE49-F238E27FC236}">
                  <a16:creationId xmlns="" xmlns:a16="http://schemas.microsoft.com/office/drawing/2014/main" id="{B1E29B5B-F731-2E7B-9F0E-DDA94B819596}"/>
                </a:ext>
              </a:extLst>
            </p:cNvPr>
            <p:cNvSpPr/>
            <p:nvPr/>
          </p:nvSpPr>
          <p:spPr>
            <a:xfrm>
              <a:off x="10731399" y="7048383"/>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53" name="b9406">
              <a:extLst>
                <a:ext uri="{FF2B5EF4-FFF2-40B4-BE49-F238E27FC236}">
                  <a16:creationId xmlns="" xmlns:a16="http://schemas.microsoft.com/office/drawing/2014/main" id="{DCDB7686-F0CA-E572-2BC4-F9DF8664C3CD}"/>
                </a:ext>
              </a:extLst>
            </p:cNvPr>
            <p:cNvSpPr/>
            <p:nvPr/>
          </p:nvSpPr>
          <p:spPr>
            <a:xfrm>
              <a:off x="10731399" y="7048383"/>
              <a:ext cx="201781" cy="140208"/>
            </a:xfrm>
            <a:prstGeom prst="roundRect">
              <a:avLst/>
            </a:prstGeom>
            <a:solidFill>
              <a:srgbClr val="8854D0"/>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54" name="t9408">
              <a:extLst>
                <a:ext uri="{FF2B5EF4-FFF2-40B4-BE49-F238E27FC236}">
                  <a16:creationId xmlns="" xmlns:a16="http://schemas.microsoft.com/office/drawing/2014/main" id="{E0F88747-89B1-F679-1C55-643D603B6E50}"/>
                </a:ext>
              </a:extLst>
            </p:cNvPr>
            <p:cNvSpPr txBox="1"/>
            <p:nvPr/>
          </p:nvSpPr>
          <p:spPr>
            <a:xfrm>
              <a:off x="11901831" y="7036191"/>
              <a:ext cx="536448" cy="170688"/>
            </a:xfrm>
            <a:prstGeom prst="rect">
              <a:avLst/>
            </a:prstGeom>
            <a:noFill/>
          </p:spPr>
          <p:txBody>
            <a:bodyPr wrap="square" lIns="0" tIns="0" rIns="0" bIns="0" anchor="ctr"/>
            <a:lstStyle/>
            <a:p>
              <a:pPr algn="r"/>
              <a:r>
                <a:rPr sz="1000" b="1">
                  <a:solidFill>
                    <a:srgbClr val="8854D0"/>
                  </a:solidFill>
                  <a:latin typeface="微软雅黑" panose="020B0503020204020204" pitchFamily="34" charset="-122"/>
                  <a:ea typeface="微软雅黑" panose="020B0503020204020204" pitchFamily="34" charset="-122"/>
                </a:rPr>
                <a:t>3.4%</a:t>
              </a:r>
            </a:p>
          </p:txBody>
        </p:sp>
        <p:sp>
          <p:nvSpPr>
            <p:cNvPr id="255" name="t9410">
              <a:extLst>
                <a:ext uri="{FF2B5EF4-FFF2-40B4-BE49-F238E27FC236}">
                  <a16:creationId xmlns="" xmlns:a16="http://schemas.microsoft.com/office/drawing/2014/main" id="{FFDDC15C-14B3-679D-910F-F3C4FFE6DB78}"/>
                </a:ext>
              </a:extLst>
            </p:cNvPr>
            <p:cNvSpPr txBox="1"/>
            <p:nvPr/>
          </p:nvSpPr>
          <p:spPr>
            <a:xfrm>
              <a:off x="9756039" y="7408047"/>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9. 信维通信</a:t>
              </a:r>
            </a:p>
          </p:txBody>
        </p:sp>
        <p:sp>
          <p:nvSpPr>
            <p:cNvPr id="256" name="b9412">
              <a:extLst>
                <a:ext uri="{FF2B5EF4-FFF2-40B4-BE49-F238E27FC236}">
                  <a16:creationId xmlns="" xmlns:a16="http://schemas.microsoft.com/office/drawing/2014/main" id="{B02E3FC1-8BD8-A47D-F729-1AC4932E5F50}"/>
                </a:ext>
              </a:extLst>
            </p:cNvPr>
            <p:cNvSpPr/>
            <p:nvPr/>
          </p:nvSpPr>
          <p:spPr>
            <a:xfrm>
              <a:off x="10731399" y="7420239"/>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57" name="b9414">
              <a:extLst>
                <a:ext uri="{FF2B5EF4-FFF2-40B4-BE49-F238E27FC236}">
                  <a16:creationId xmlns="" xmlns:a16="http://schemas.microsoft.com/office/drawing/2014/main" id="{C5D39759-FB93-BA28-A7F9-960C81DB1B5F}"/>
                </a:ext>
              </a:extLst>
            </p:cNvPr>
            <p:cNvSpPr/>
            <p:nvPr/>
          </p:nvSpPr>
          <p:spPr>
            <a:xfrm>
              <a:off x="10731399" y="7420239"/>
              <a:ext cx="195847" cy="140208"/>
            </a:xfrm>
            <a:prstGeom prst="roundRect">
              <a:avLst/>
            </a:prstGeom>
            <a:solidFill>
              <a:srgbClr val="8854D0"/>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58" name="t9416">
              <a:extLst>
                <a:ext uri="{FF2B5EF4-FFF2-40B4-BE49-F238E27FC236}">
                  <a16:creationId xmlns="" xmlns:a16="http://schemas.microsoft.com/office/drawing/2014/main" id="{97007BAA-3E3E-A686-6DBA-A0A5AECF5E41}"/>
                </a:ext>
              </a:extLst>
            </p:cNvPr>
            <p:cNvSpPr txBox="1"/>
            <p:nvPr/>
          </p:nvSpPr>
          <p:spPr>
            <a:xfrm>
              <a:off x="11901831" y="7408047"/>
              <a:ext cx="536448" cy="170688"/>
            </a:xfrm>
            <a:prstGeom prst="rect">
              <a:avLst/>
            </a:prstGeom>
            <a:noFill/>
          </p:spPr>
          <p:txBody>
            <a:bodyPr wrap="square" lIns="0" tIns="0" rIns="0" bIns="0" anchor="ctr"/>
            <a:lstStyle/>
            <a:p>
              <a:pPr algn="r"/>
              <a:r>
                <a:rPr sz="1000" b="1">
                  <a:solidFill>
                    <a:srgbClr val="8854D0"/>
                  </a:solidFill>
                  <a:latin typeface="微软雅黑" panose="020B0503020204020204" pitchFamily="34" charset="-122"/>
                  <a:ea typeface="微软雅黑" panose="020B0503020204020204" pitchFamily="34" charset="-122"/>
                </a:rPr>
                <a:t>3.3%</a:t>
              </a:r>
            </a:p>
          </p:txBody>
        </p:sp>
        <p:sp>
          <p:nvSpPr>
            <p:cNvPr id="259" name="t9418">
              <a:extLst>
                <a:ext uri="{FF2B5EF4-FFF2-40B4-BE49-F238E27FC236}">
                  <a16:creationId xmlns="" xmlns:a16="http://schemas.microsoft.com/office/drawing/2014/main" id="{9B95E154-99C4-02EE-2C5B-DE1F1F3CD4E4}"/>
                </a:ext>
              </a:extLst>
            </p:cNvPr>
            <p:cNvSpPr txBox="1"/>
            <p:nvPr/>
          </p:nvSpPr>
          <p:spPr>
            <a:xfrm>
              <a:off x="9756039" y="7779903"/>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10. 长芯博创</a:t>
              </a:r>
            </a:p>
          </p:txBody>
        </p:sp>
        <p:sp>
          <p:nvSpPr>
            <p:cNvPr id="260" name="b9420">
              <a:extLst>
                <a:ext uri="{FF2B5EF4-FFF2-40B4-BE49-F238E27FC236}">
                  <a16:creationId xmlns="" xmlns:a16="http://schemas.microsoft.com/office/drawing/2014/main" id="{746CB880-1A86-1414-B4A8-00EDAF34A8D6}"/>
                </a:ext>
              </a:extLst>
            </p:cNvPr>
            <p:cNvSpPr/>
            <p:nvPr/>
          </p:nvSpPr>
          <p:spPr>
            <a:xfrm>
              <a:off x="10731399" y="7792095"/>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61" name="b9422">
              <a:extLst>
                <a:ext uri="{FF2B5EF4-FFF2-40B4-BE49-F238E27FC236}">
                  <a16:creationId xmlns="" xmlns:a16="http://schemas.microsoft.com/office/drawing/2014/main" id="{4F1A67B6-627A-2F33-DE26-8D25F042BFFB}"/>
                </a:ext>
              </a:extLst>
            </p:cNvPr>
            <p:cNvSpPr/>
            <p:nvPr/>
          </p:nvSpPr>
          <p:spPr>
            <a:xfrm>
              <a:off x="10731399" y="7792095"/>
              <a:ext cx="118695" cy="140208"/>
            </a:xfrm>
            <a:prstGeom prst="roundRect">
              <a:avLst/>
            </a:prstGeom>
            <a:solidFill>
              <a:srgbClr val="8854D0"/>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62" name="t9424">
              <a:extLst>
                <a:ext uri="{FF2B5EF4-FFF2-40B4-BE49-F238E27FC236}">
                  <a16:creationId xmlns="" xmlns:a16="http://schemas.microsoft.com/office/drawing/2014/main" id="{F486FC1D-FE44-544A-3055-5AF789914BAE}"/>
                </a:ext>
              </a:extLst>
            </p:cNvPr>
            <p:cNvSpPr txBox="1"/>
            <p:nvPr/>
          </p:nvSpPr>
          <p:spPr>
            <a:xfrm>
              <a:off x="11901831" y="7779903"/>
              <a:ext cx="536448" cy="170688"/>
            </a:xfrm>
            <a:prstGeom prst="rect">
              <a:avLst/>
            </a:prstGeom>
            <a:noFill/>
          </p:spPr>
          <p:txBody>
            <a:bodyPr wrap="square" lIns="0" tIns="0" rIns="0" bIns="0" anchor="ctr"/>
            <a:lstStyle/>
            <a:p>
              <a:pPr algn="r"/>
              <a:r>
                <a:rPr sz="1000" b="1">
                  <a:solidFill>
                    <a:srgbClr val="8854D0"/>
                  </a:solidFill>
                  <a:latin typeface="微软雅黑" panose="020B0503020204020204" pitchFamily="34" charset="-122"/>
                  <a:ea typeface="微软雅黑" panose="020B0503020204020204" pitchFamily="34" charset="-122"/>
                </a:rPr>
                <a:t>2.0%</a:t>
              </a:r>
            </a:p>
          </p:txBody>
        </p:sp>
        <p:sp>
          <p:nvSpPr>
            <p:cNvPr id="263" name="t9426">
              <a:extLst>
                <a:ext uri="{FF2B5EF4-FFF2-40B4-BE49-F238E27FC236}">
                  <a16:creationId xmlns="" xmlns:a16="http://schemas.microsoft.com/office/drawing/2014/main" id="{262ED32B-7860-6844-DA1F-3576A4493238}"/>
                </a:ext>
              </a:extLst>
            </p:cNvPr>
            <p:cNvSpPr txBox="1"/>
            <p:nvPr/>
          </p:nvSpPr>
          <p:spPr>
            <a:xfrm>
              <a:off x="12901575" y="3127896"/>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电子</a:t>
              </a:r>
            </a:p>
          </p:txBody>
        </p:sp>
        <p:sp>
          <p:nvSpPr>
            <p:cNvPr id="264" name="b9428">
              <a:extLst>
                <a:ext uri="{FF2B5EF4-FFF2-40B4-BE49-F238E27FC236}">
                  <a16:creationId xmlns="" xmlns:a16="http://schemas.microsoft.com/office/drawing/2014/main" id="{C9B31597-5C2D-31D8-E630-31F7EDAAAE13}"/>
                </a:ext>
              </a:extLst>
            </p:cNvPr>
            <p:cNvSpPr/>
            <p:nvPr/>
          </p:nvSpPr>
          <p:spPr>
            <a:xfrm>
              <a:off x="13608711" y="3133992"/>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265" name="b9430">
              <a:extLst>
                <a:ext uri="{FF2B5EF4-FFF2-40B4-BE49-F238E27FC236}">
                  <a16:creationId xmlns="" xmlns:a16="http://schemas.microsoft.com/office/drawing/2014/main" id="{F737D4E6-FFF4-D46B-AE23-840784ED0A7E}"/>
                </a:ext>
              </a:extLst>
            </p:cNvPr>
            <p:cNvSpPr/>
            <p:nvPr/>
          </p:nvSpPr>
          <p:spPr>
            <a:xfrm>
              <a:off x="13608711" y="3133992"/>
              <a:ext cx="1290195" cy="121920"/>
            </a:xfrm>
            <a:prstGeom prst="roundRect">
              <a:avLst/>
            </a:prstGeom>
            <a:solidFill>
              <a:srgbClr val="D64C4C"/>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266" name="t9432">
              <a:extLst>
                <a:ext uri="{FF2B5EF4-FFF2-40B4-BE49-F238E27FC236}">
                  <a16:creationId xmlns="" xmlns:a16="http://schemas.microsoft.com/office/drawing/2014/main" id="{37BC6008-E312-FE5B-175A-02EB3A2A08B6}"/>
                </a:ext>
              </a:extLst>
            </p:cNvPr>
            <p:cNvSpPr txBox="1"/>
            <p:nvPr/>
          </p:nvSpPr>
          <p:spPr>
            <a:xfrm>
              <a:off x="14998599" y="3109608"/>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98.9%</a:t>
              </a:r>
            </a:p>
          </p:txBody>
        </p:sp>
        <p:sp>
          <p:nvSpPr>
            <p:cNvPr id="267" name="t9434">
              <a:extLst>
                <a:ext uri="{FF2B5EF4-FFF2-40B4-BE49-F238E27FC236}">
                  <a16:creationId xmlns="" xmlns:a16="http://schemas.microsoft.com/office/drawing/2014/main" id="{FA6FF601-7F08-DD9F-316F-4D9BCE4EF78C}"/>
                </a:ext>
              </a:extLst>
            </p:cNvPr>
            <p:cNvSpPr txBox="1"/>
            <p:nvPr/>
          </p:nvSpPr>
          <p:spPr>
            <a:xfrm>
              <a:off x="12901575" y="3377832"/>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计算机</a:t>
              </a:r>
            </a:p>
          </p:txBody>
        </p:sp>
        <p:sp>
          <p:nvSpPr>
            <p:cNvPr id="268" name="b9436">
              <a:extLst>
                <a:ext uri="{FF2B5EF4-FFF2-40B4-BE49-F238E27FC236}">
                  <a16:creationId xmlns="" xmlns:a16="http://schemas.microsoft.com/office/drawing/2014/main" id="{4B2EFDC4-36B7-8917-774D-27CEFEDE8A0A}"/>
                </a:ext>
              </a:extLst>
            </p:cNvPr>
            <p:cNvSpPr/>
            <p:nvPr/>
          </p:nvSpPr>
          <p:spPr>
            <a:xfrm>
              <a:off x="13608711" y="3383928"/>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269" name="b9438">
              <a:extLst>
                <a:ext uri="{FF2B5EF4-FFF2-40B4-BE49-F238E27FC236}">
                  <a16:creationId xmlns="" xmlns:a16="http://schemas.microsoft.com/office/drawing/2014/main" id="{40998B4C-FF55-A1A4-D4DA-3E49399BFCE1}"/>
                </a:ext>
              </a:extLst>
            </p:cNvPr>
            <p:cNvSpPr/>
            <p:nvPr/>
          </p:nvSpPr>
          <p:spPr>
            <a:xfrm>
              <a:off x="13608711" y="3383928"/>
              <a:ext cx="48768" cy="121920"/>
            </a:xfrm>
            <a:prstGeom prst="roundRect">
              <a:avLst/>
            </a:prstGeom>
            <a:solidFill>
              <a:srgbClr val="D64C4C"/>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270" name="t9440">
              <a:extLst>
                <a:ext uri="{FF2B5EF4-FFF2-40B4-BE49-F238E27FC236}">
                  <a16:creationId xmlns="" xmlns:a16="http://schemas.microsoft.com/office/drawing/2014/main" id="{0A89E914-97C5-5063-65BD-1AE4C37155D6}"/>
                </a:ext>
              </a:extLst>
            </p:cNvPr>
            <p:cNvSpPr txBox="1"/>
            <p:nvPr/>
          </p:nvSpPr>
          <p:spPr>
            <a:xfrm>
              <a:off x="14998599" y="3359544"/>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0.8%</a:t>
              </a:r>
            </a:p>
          </p:txBody>
        </p:sp>
        <p:sp>
          <p:nvSpPr>
            <p:cNvPr id="271" name="t9442">
              <a:extLst>
                <a:ext uri="{FF2B5EF4-FFF2-40B4-BE49-F238E27FC236}">
                  <a16:creationId xmlns="" xmlns:a16="http://schemas.microsoft.com/office/drawing/2014/main" id="{51DB2D9D-08EB-C9F2-17B3-8D160DFC7571}"/>
                </a:ext>
              </a:extLst>
            </p:cNvPr>
            <p:cNvSpPr txBox="1"/>
            <p:nvPr/>
          </p:nvSpPr>
          <p:spPr>
            <a:xfrm>
              <a:off x="12901575" y="3627768"/>
              <a:ext cx="682752" cy="158496"/>
            </a:xfrm>
            <a:prstGeom prst="rect">
              <a:avLst/>
            </a:prstGeom>
            <a:noFill/>
          </p:spPr>
          <p:txBody>
            <a:bodyPr wrap="square" lIns="0" tIns="0" rIns="0" bIns="0" anchor="ctr"/>
            <a:lstStyle/>
            <a:p>
              <a:r>
                <a:rPr sz="900" b="1">
                  <a:solidFill>
                    <a:srgbClr val="333333"/>
                  </a:solidFill>
                  <a:latin typeface="微软雅黑" panose="020B0503020204020204" pitchFamily="34" charset="-122"/>
                  <a:ea typeface="微软雅黑" panose="020B0503020204020204" pitchFamily="34" charset="-122"/>
                </a:rPr>
                <a:t>机械设备</a:t>
              </a:r>
            </a:p>
          </p:txBody>
        </p:sp>
        <p:sp>
          <p:nvSpPr>
            <p:cNvPr id="272" name="b9444">
              <a:extLst>
                <a:ext uri="{FF2B5EF4-FFF2-40B4-BE49-F238E27FC236}">
                  <a16:creationId xmlns="" xmlns:a16="http://schemas.microsoft.com/office/drawing/2014/main" id="{A0DA7A5F-CFCC-3B51-EBBE-30CA3837BDD7}"/>
                </a:ext>
              </a:extLst>
            </p:cNvPr>
            <p:cNvSpPr/>
            <p:nvPr/>
          </p:nvSpPr>
          <p:spPr>
            <a:xfrm>
              <a:off x="13608711" y="3633864"/>
              <a:ext cx="1304544" cy="121920"/>
            </a:xfrm>
            <a:prstGeom prst="roundRect">
              <a:avLst/>
            </a:prstGeom>
            <a:solidFill>
              <a:srgbClr val="F0F3F7"/>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273" name="b9446">
              <a:extLst>
                <a:ext uri="{FF2B5EF4-FFF2-40B4-BE49-F238E27FC236}">
                  <a16:creationId xmlns="" xmlns:a16="http://schemas.microsoft.com/office/drawing/2014/main" id="{D5A83DBF-6147-2D06-193D-189D303991E1}"/>
                </a:ext>
              </a:extLst>
            </p:cNvPr>
            <p:cNvSpPr/>
            <p:nvPr/>
          </p:nvSpPr>
          <p:spPr>
            <a:xfrm>
              <a:off x="13608711" y="3633864"/>
              <a:ext cx="48768" cy="121920"/>
            </a:xfrm>
            <a:prstGeom prst="roundRect">
              <a:avLst/>
            </a:prstGeom>
            <a:solidFill>
              <a:srgbClr val="D64C4C"/>
            </a:solidFill>
            <a:ln>
              <a:noFill/>
            </a:ln>
          </p:spPr>
          <p:txBody>
            <a:bodyPr rtlCol="0" anchor="ctr"/>
            <a:lstStyle/>
            <a:p>
              <a:pPr algn="ctr"/>
              <a:endParaRPr sz="900">
                <a:latin typeface="微软雅黑" panose="020B0503020204020204" pitchFamily="34" charset="-122"/>
                <a:ea typeface="微软雅黑" panose="020B0503020204020204" pitchFamily="34" charset="-122"/>
              </a:endParaRPr>
            </a:p>
          </p:txBody>
        </p:sp>
        <p:sp>
          <p:nvSpPr>
            <p:cNvPr id="274" name="t9448">
              <a:extLst>
                <a:ext uri="{FF2B5EF4-FFF2-40B4-BE49-F238E27FC236}">
                  <a16:creationId xmlns="" xmlns:a16="http://schemas.microsoft.com/office/drawing/2014/main" id="{D67B427F-3D29-7F10-ABA7-004E9E954183}"/>
                </a:ext>
              </a:extLst>
            </p:cNvPr>
            <p:cNvSpPr txBox="1"/>
            <p:nvPr/>
          </p:nvSpPr>
          <p:spPr>
            <a:xfrm>
              <a:off x="14998599" y="3609480"/>
              <a:ext cx="633984" cy="170688"/>
            </a:xfrm>
            <a:prstGeom prst="rect">
              <a:avLst/>
            </a:prstGeom>
            <a:noFill/>
          </p:spPr>
          <p:txBody>
            <a:bodyPr wrap="square" lIns="0" tIns="0" rIns="0" bIns="0" anchor="ctr"/>
            <a:lstStyle/>
            <a:p>
              <a:pPr algn="r"/>
              <a:r>
                <a:rPr sz="900">
                  <a:solidFill>
                    <a:srgbClr val="666666"/>
                  </a:solidFill>
                  <a:latin typeface="微软雅黑" panose="020B0503020204020204" pitchFamily="34" charset="-122"/>
                  <a:ea typeface="微软雅黑" panose="020B0503020204020204" pitchFamily="34" charset="-122"/>
                </a:rPr>
                <a:t>0.3%</a:t>
              </a:r>
            </a:p>
          </p:txBody>
        </p:sp>
        <p:sp>
          <p:nvSpPr>
            <p:cNvPr id="275" name="bg9450">
              <a:extLst>
                <a:ext uri="{FF2B5EF4-FFF2-40B4-BE49-F238E27FC236}">
                  <a16:creationId xmlns="" xmlns:a16="http://schemas.microsoft.com/office/drawing/2014/main" id="{D9FD91AE-FB77-FDF1-F97C-1F06614C17CE}"/>
                </a:ext>
              </a:extLst>
            </p:cNvPr>
            <p:cNvSpPr/>
            <p:nvPr/>
          </p:nvSpPr>
          <p:spPr>
            <a:xfrm>
              <a:off x="12767463" y="4244223"/>
              <a:ext cx="2804160" cy="3962400"/>
            </a:xfrm>
            <a:prstGeom prst="roundRect">
              <a:avLst/>
            </a:prstGeom>
            <a:solidFill>
              <a:srgbClr val="FCFDFF"/>
            </a:solidFill>
            <a:ln w="9525">
              <a:solidFill>
                <a:srgbClr val="E0E4EB"/>
              </a:solidFill>
            </a:ln>
          </p:spPr>
          <p:txBody>
            <a:bodyPr rtlCol="0" anchor="ctr"/>
            <a:lstStyle/>
            <a:p>
              <a:pPr algn="ctr"/>
              <a:endParaRPr sz="700"/>
            </a:p>
          </p:txBody>
        </p:sp>
        <p:sp>
          <p:nvSpPr>
            <p:cNvPr id="276" name="t9452">
              <a:extLst>
                <a:ext uri="{FF2B5EF4-FFF2-40B4-BE49-F238E27FC236}">
                  <a16:creationId xmlns="" xmlns:a16="http://schemas.microsoft.com/office/drawing/2014/main" id="{5AF3B02B-5A3C-832A-3A21-AD144DA4D4D5}"/>
                </a:ext>
              </a:extLst>
            </p:cNvPr>
            <p:cNvSpPr txBox="1"/>
            <p:nvPr/>
          </p:nvSpPr>
          <p:spPr>
            <a:xfrm>
              <a:off x="12864999" y="4433199"/>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1. 中微公司</a:t>
              </a:r>
            </a:p>
          </p:txBody>
        </p:sp>
        <p:sp>
          <p:nvSpPr>
            <p:cNvPr id="277" name="b9454">
              <a:extLst>
                <a:ext uri="{FF2B5EF4-FFF2-40B4-BE49-F238E27FC236}">
                  <a16:creationId xmlns="" xmlns:a16="http://schemas.microsoft.com/office/drawing/2014/main" id="{655800C3-0FF3-7BD6-E88F-E9EEE4D29C32}"/>
                </a:ext>
              </a:extLst>
            </p:cNvPr>
            <p:cNvSpPr/>
            <p:nvPr/>
          </p:nvSpPr>
          <p:spPr>
            <a:xfrm>
              <a:off x="13840359" y="4445391"/>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78" name="b9456">
              <a:extLst>
                <a:ext uri="{FF2B5EF4-FFF2-40B4-BE49-F238E27FC236}">
                  <a16:creationId xmlns="" xmlns:a16="http://schemas.microsoft.com/office/drawing/2014/main" id="{6B2D55DB-2225-CE5B-F520-D96276EEE6EE}"/>
                </a:ext>
              </a:extLst>
            </p:cNvPr>
            <p:cNvSpPr/>
            <p:nvPr/>
          </p:nvSpPr>
          <p:spPr>
            <a:xfrm>
              <a:off x="13840359" y="4445391"/>
              <a:ext cx="1121664" cy="140208"/>
            </a:xfrm>
            <a:prstGeom prst="roundRect">
              <a:avLst/>
            </a:prstGeom>
            <a:solidFill>
              <a:srgbClr val="D64C4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79" name="t9458">
              <a:extLst>
                <a:ext uri="{FF2B5EF4-FFF2-40B4-BE49-F238E27FC236}">
                  <a16:creationId xmlns="" xmlns:a16="http://schemas.microsoft.com/office/drawing/2014/main" id="{AEF8386E-9315-7410-93FD-1079C7A5E840}"/>
                </a:ext>
              </a:extLst>
            </p:cNvPr>
            <p:cNvSpPr txBox="1"/>
            <p:nvPr/>
          </p:nvSpPr>
          <p:spPr>
            <a:xfrm>
              <a:off x="15010791" y="4433199"/>
              <a:ext cx="536448" cy="170688"/>
            </a:xfrm>
            <a:prstGeom prst="rect">
              <a:avLst/>
            </a:prstGeom>
            <a:noFill/>
          </p:spPr>
          <p:txBody>
            <a:bodyPr wrap="square" lIns="0" tIns="0" rIns="0" bIns="0" anchor="ctr"/>
            <a:lstStyle/>
            <a:p>
              <a:pPr algn="r"/>
              <a:r>
                <a:rPr sz="1000" b="1">
                  <a:solidFill>
                    <a:srgbClr val="D64C4C"/>
                  </a:solidFill>
                  <a:latin typeface="微软雅黑" panose="020B0503020204020204" pitchFamily="34" charset="-122"/>
                  <a:ea typeface="微软雅黑" panose="020B0503020204020204" pitchFamily="34" charset="-122"/>
                </a:rPr>
                <a:t>14.6%</a:t>
              </a:r>
            </a:p>
          </p:txBody>
        </p:sp>
        <p:sp>
          <p:nvSpPr>
            <p:cNvPr id="280" name="t9460">
              <a:extLst>
                <a:ext uri="{FF2B5EF4-FFF2-40B4-BE49-F238E27FC236}">
                  <a16:creationId xmlns="" xmlns:a16="http://schemas.microsoft.com/office/drawing/2014/main" id="{5350CD08-7534-0755-3334-0730244506FF}"/>
                </a:ext>
              </a:extLst>
            </p:cNvPr>
            <p:cNvSpPr txBox="1"/>
            <p:nvPr/>
          </p:nvSpPr>
          <p:spPr>
            <a:xfrm>
              <a:off x="12864999" y="4805055"/>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2. 北方华创</a:t>
              </a:r>
            </a:p>
          </p:txBody>
        </p:sp>
        <p:sp>
          <p:nvSpPr>
            <p:cNvPr id="281" name="b9462">
              <a:extLst>
                <a:ext uri="{FF2B5EF4-FFF2-40B4-BE49-F238E27FC236}">
                  <a16:creationId xmlns="" xmlns:a16="http://schemas.microsoft.com/office/drawing/2014/main" id="{EFF54052-9C65-E37D-0280-9E62320EA0BF}"/>
                </a:ext>
              </a:extLst>
            </p:cNvPr>
            <p:cNvSpPr/>
            <p:nvPr/>
          </p:nvSpPr>
          <p:spPr>
            <a:xfrm>
              <a:off x="13840359" y="4817247"/>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82" name="b9464">
              <a:extLst>
                <a:ext uri="{FF2B5EF4-FFF2-40B4-BE49-F238E27FC236}">
                  <a16:creationId xmlns="" xmlns:a16="http://schemas.microsoft.com/office/drawing/2014/main" id="{AC640C0B-32C3-8AAC-568E-5CDBBC7AEC41}"/>
                </a:ext>
              </a:extLst>
            </p:cNvPr>
            <p:cNvSpPr/>
            <p:nvPr/>
          </p:nvSpPr>
          <p:spPr>
            <a:xfrm>
              <a:off x="13840359" y="4817247"/>
              <a:ext cx="944964" cy="140208"/>
            </a:xfrm>
            <a:prstGeom prst="roundRect">
              <a:avLst/>
            </a:prstGeom>
            <a:solidFill>
              <a:srgbClr val="D64C4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83" name="t9466">
              <a:extLst>
                <a:ext uri="{FF2B5EF4-FFF2-40B4-BE49-F238E27FC236}">
                  <a16:creationId xmlns="" xmlns:a16="http://schemas.microsoft.com/office/drawing/2014/main" id="{063FD16C-785F-E864-FCFD-07162183B65F}"/>
                </a:ext>
              </a:extLst>
            </p:cNvPr>
            <p:cNvSpPr txBox="1"/>
            <p:nvPr/>
          </p:nvSpPr>
          <p:spPr>
            <a:xfrm>
              <a:off x="15010791" y="4805055"/>
              <a:ext cx="536448" cy="170688"/>
            </a:xfrm>
            <a:prstGeom prst="rect">
              <a:avLst/>
            </a:prstGeom>
            <a:noFill/>
          </p:spPr>
          <p:txBody>
            <a:bodyPr wrap="square" lIns="0" tIns="0" rIns="0" bIns="0" anchor="ctr"/>
            <a:lstStyle/>
            <a:p>
              <a:pPr algn="r"/>
              <a:r>
                <a:rPr sz="1000" b="1">
                  <a:solidFill>
                    <a:srgbClr val="D64C4C"/>
                  </a:solidFill>
                  <a:latin typeface="微软雅黑" panose="020B0503020204020204" pitchFamily="34" charset="-122"/>
                  <a:ea typeface="微软雅黑" panose="020B0503020204020204" pitchFamily="34" charset="-122"/>
                </a:rPr>
                <a:t>12.3%</a:t>
              </a:r>
            </a:p>
          </p:txBody>
        </p:sp>
        <p:sp>
          <p:nvSpPr>
            <p:cNvPr id="284" name="t9468">
              <a:extLst>
                <a:ext uri="{FF2B5EF4-FFF2-40B4-BE49-F238E27FC236}">
                  <a16:creationId xmlns="" xmlns:a16="http://schemas.microsoft.com/office/drawing/2014/main" id="{FF3D9E0C-22C4-369C-DECD-882DFB2AF515}"/>
                </a:ext>
              </a:extLst>
            </p:cNvPr>
            <p:cNvSpPr txBox="1"/>
            <p:nvPr/>
          </p:nvSpPr>
          <p:spPr>
            <a:xfrm>
              <a:off x="12864999" y="5176911"/>
              <a:ext cx="950976" cy="158496"/>
            </a:xfrm>
            <a:prstGeom prst="rect">
              <a:avLst/>
            </a:prstGeom>
            <a:noFill/>
          </p:spPr>
          <p:txBody>
            <a:bodyPr wrap="square" lIns="0" tIns="0" rIns="0" bIns="0" anchor="ctr"/>
            <a:lstStyle/>
            <a:p>
              <a:r>
                <a:rPr sz="1000" dirty="0">
                  <a:solidFill>
                    <a:srgbClr val="333333"/>
                  </a:solidFill>
                  <a:latin typeface="微软雅黑" panose="020B0503020204020204" pitchFamily="34" charset="-122"/>
                  <a:ea typeface="微软雅黑" panose="020B0503020204020204" pitchFamily="34" charset="-122"/>
                </a:rPr>
                <a:t>3. </a:t>
              </a:r>
              <a:r>
                <a:rPr sz="1000" dirty="0" err="1">
                  <a:solidFill>
                    <a:srgbClr val="333333"/>
                  </a:solidFill>
                  <a:latin typeface="微软雅黑" panose="020B0503020204020204" pitchFamily="34" charset="-122"/>
                  <a:ea typeface="微软雅黑" panose="020B0503020204020204" pitchFamily="34" charset="-122"/>
                </a:rPr>
                <a:t>拓荆科技</a:t>
              </a:r>
              <a:endParaRPr sz="1000" dirty="0">
                <a:solidFill>
                  <a:srgbClr val="333333"/>
                </a:solidFill>
                <a:latin typeface="微软雅黑" panose="020B0503020204020204" pitchFamily="34" charset="-122"/>
                <a:ea typeface="微软雅黑" panose="020B0503020204020204" pitchFamily="34" charset="-122"/>
              </a:endParaRPr>
            </a:p>
          </p:txBody>
        </p:sp>
        <p:sp>
          <p:nvSpPr>
            <p:cNvPr id="285" name="b9470">
              <a:extLst>
                <a:ext uri="{FF2B5EF4-FFF2-40B4-BE49-F238E27FC236}">
                  <a16:creationId xmlns="" xmlns:a16="http://schemas.microsoft.com/office/drawing/2014/main" id="{48808206-5ECE-A489-CC87-CCC4F5DFE4C0}"/>
                </a:ext>
              </a:extLst>
            </p:cNvPr>
            <p:cNvSpPr/>
            <p:nvPr/>
          </p:nvSpPr>
          <p:spPr>
            <a:xfrm>
              <a:off x="13840359" y="5189103"/>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86" name="b9472">
              <a:extLst>
                <a:ext uri="{FF2B5EF4-FFF2-40B4-BE49-F238E27FC236}">
                  <a16:creationId xmlns="" xmlns:a16="http://schemas.microsoft.com/office/drawing/2014/main" id="{FDB4D2C0-5109-F67A-72DB-DAFEA4010ECE}"/>
                </a:ext>
              </a:extLst>
            </p:cNvPr>
            <p:cNvSpPr/>
            <p:nvPr/>
          </p:nvSpPr>
          <p:spPr>
            <a:xfrm>
              <a:off x="13840359" y="5189103"/>
              <a:ext cx="653024" cy="140208"/>
            </a:xfrm>
            <a:prstGeom prst="roundRect">
              <a:avLst/>
            </a:prstGeom>
            <a:solidFill>
              <a:srgbClr val="D64C4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87" name="t9474">
              <a:extLst>
                <a:ext uri="{FF2B5EF4-FFF2-40B4-BE49-F238E27FC236}">
                  <a16:creationId xmlns="" xmlns:a16="http://schemas.microsoft.com/office/drawing/2014/main" id="{1B636FC3-C170-299E-F0FD-289F526C475E}"/>
                </a:ext>
              </a:extLst>
            </p:cNvPr>
            <p:cNvSpPr txBox="1"/>
            <p:nvPr/>
          </p:nvSpPr>
          <p:spPr>
            <a:xfrm>
              <a:off x="15010791" y="5176911"/>
              <a:ext cx="536448" cy="170688"/>
            </a:xfrm>
            <a:prstGeom prst="rect">
              <a:avLst/>
            </a:prstGeom>
            <a:noFill/>
          </p:spPr>
          <p:txBody>
            <a:bodyPr wrap="square" lIns="0" tIns="0" rIns="0" bIns="0" anchor="ctr"/>
            <a:lstStyle/>
            <a:p>
              <a:pPr algn="r"/>
              <a:r>
                <a:rPr sz="1000" b="1">
                  <a:solidFill>
                    <a:srgbClr val="D64C4C"/>
                  </a:solidFill>
                  <a:latin typeface="微软雅黑" panose="020B0503020204020204" pitchFamily="34" charset="-122"/>
                  <a:ea typeface="微软雅黑" panose="020B0503020204020204" pitchFamily="34" charset="-122"/>
                </a:rPr>
                <a:t>8.5%</a:t>
              </a:r>
            </a:p>
          </p:txBody>
        </p:sp>
        <p:sp>
          <p:nvSpPr>
            <p:cNvPr id="288" name="t9476">
              <a:extLst>
                <a:ext uri="{FF2B5EF4-FFF2-40B4-BE49-F238E27FC236}">
                  <a16:creationId xmlns="" xmlns:a16="http://schemas.microsoft.com/office/drawing/2014/main" id="{A82A54CA-30E8-AD24-141F-4EA0DC3C4D81}"/>
                </a:ext>
              </a:extLst>
            </p:cNvPr>
            <p:cNvSpPr txBox="1"/>
            <p:nvPr/>
          </p:nvSpPr>
          <p:spPr>
            <a:xfrm>
              <a:off x="12864999" y="5548767"/>
              <a:ext cx="950976" cy="158496"/>
            </a:xfrm>
            <a:prstGeom prst="rect">
              <a:avLst/>
            </a:prstGeom>
            <a:noFill/>
          </p:spPr>
          <p:txBody>
            <a:bodyPr wrap="square" lIns="0" tIns="0" rIns="0" bIns="0" anchor="ctr"/>
            <a:lstStyle/>
            <a:p>
              <a:r>
                <a:rPr sz="1000" dirty="0">
                  <a:solidFill>
                    <a:srgbClr val="333333"/>
                  </a:solidFill>
                  <a:latin typeface="微软雅黑" panose="020B0503020204020204" pitchFamily="34" charset="-122"/>
                  <a:ea typeface="微软雅黑" panose="020B0503020204020204" pitchFamily="34" charset="-122"/>
                </a:rPr>
                <a:t>4. </a:t>
              </a:r>
              <a:r>
                <a:rPr sz="1000" dirty="0" err="1">
                  <a:solidFill>
                    <a:srgbClr val="333333"/>
                  </a:solidFill>
                  <a:latin typeface="微软雅黑" panose="020B0503020204020204" pitchFamily="34" charset="-122"/>
                  <a:ea typeface="微软雅黑" panose="020B0503020204020204" pitchFamily="34" charset="-122"/>
                </a:rPr>
                <a:t>长川科技</a:t>
              </a:r>
              <a:endParaRPr sz="1000" dirty="0">
                <a:solidFill>
                  <a:srgbClr val="333333"/>
                </a:solidFill>
                <a:latin typeface="微软雅黑" panose="020B0503020204020204" pitchFamily="34" charset="-122"/>
                <a:ea typeface="微软雅黑" panose="020B0503020204020204" pitchFamily="34" charset="-122"/>
              </a:endParaRPr>
            </a:p>
          </p:txBody>
        </p:sp>
        <p:sp>
          <p:nvSpPr>
            <p:cNvPr id="289" name="b9478">
              <a:extLst>
                <a:ext uri="{FF2B5EF4-FFF2-40B4-BE49-F238E27FC236}">
                  <a16:creationId xmlns="" xmlns:a16="http://schemas.microsoft.com/office/drawing/2014/main" id="{57FBC499-5FB4-CE36-AE06-4BDCD3B0AFEF}"/>
                </a:ext>
              </a:extLst>
            </p:cNvPr>
            <p:cNvSpPr/>
            <p:nvPr/>
          </p:nvSpPr>
          <p:spPr>
            <a:xfrm>
              <a:off x="13840359" y="5560959"/>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90" name="b9480">
              <a:extLst>
                <a:ext uri="{FF2B5EF4-FFF2-40B4-BE49-F238E27FC236}">
                  <a16:creationId xmlns="" xmlns:a16="http://schemas.microsoft.com/office/drawing/2014/main" id="{F2E3E8A7-D2D4-F2D1-EAF1-9B4358037D0D}"/>
                </a:ext>
              </a:extLst>
            </p:cNvPr>
            <p:cNvSpPr/>
            <p:nvPr/>
          </p:nvSpPr>
          <p:spPr>
            <a:xfrm>
              <a:off x="13840359" y="5560959"/>
              <a:ext cx="576197" cy="140208"/>
            </a:xfrm>
            <a:prstGeom prst="roundRect">
              <a:avLst/>
            </a:prstGeom>
            <a:solidFill>
              <a:srgbClr val="D64C4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91" name="t9482">
              <a:extLst>
                <a:ext uri="{FF2B5EF4-FFF2-40B4-BE49-F238E27FC236}">
                  <a16:creationId xmlns="" xmlns:a16="http://schemas.microsoft.com/office/drawing/2014/main" id="{01F3B288-8FEC-13B5-417C-5255C351CA3D}"/>
                </a:ext>
              </a:extLst>
            </p:cNvPr>
            <p:cNvSpPr txBox="1"/>
            <p:nvPr/>
          </p:nvSpPr>
          <p:spPr>
            <a:xfrm>
              <a:off x="15010791" y="5548767"/>
              <a:ext cx="536448" cy="170688"/>
            </a:xfrm>
            <a:prstGeom prst="rect">
              <a:avLst/>
            </a:prstGeom>
            <a:noFill/>
          </p:spPr>
          <p:txBody>
            <a:bodyPr wrap="square" lIns="0" tIns="0" rIns="0" bIns="0" anchor="ctr"/>
            <a:lstStyle/>
            <a:p>
              <a:pPr algn="r"/>
              <a:r>
                <a:rPr sz="1000" b="1">
                  <a:solidFill>
                    <a:srgbClr val="D64C4C"/>
                  </a:solidFill>
                  <a:latin typeface="微软雅黑" panose="020B0503020204020204" pitchFamily="34" charset="-122"/>
                  <a:ea typeface="微软雅黑" panose="020B0503020204020204" pitchFamily="34" charset="-122"/>
                </a:rPr>
                <a:t>7.5%</a:t>
              </a:r>
            </a:p>
          </p:txBody>
        </p:sp>
        <p:sp>
          <p:nvSpPr>
            <p:cNvPr id="292" name="t9484">
              <a:extLst>
                <a:ext uri="{FF2B5EF4-FFF2-40B4-BE49-F238E27FC236}">
                  <a16:creationId xmlns="" xmlns:a16="http://schemas.microsoft.com/office/drawing/2014/main" id="{3164F097-38B0-E59D-6D25-A04E97AC56D7}"/>
                </a:ext>
              </a:extLst>
            </p:cNvPr>
            <p:cNvSpPr txBox="1"/>
            <p:nvPr/>
          </p:nvSpPr>
          <p:spPr>
            <a:xfrm>
              <a:off x="12864999" y="5920623"/>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5. 华海清科</a:t>
              </a:r>
            </a:p>
          </p:txBody>
        </p:sp>
        <p:sp>
          <p:nvSpPr>
            <p:cNvPr id="293" name="b9486">
              <a:extLst>
                <a:ext uri="{FF2B5EF4-FFF2-40B4-BE49-F238E27FC236}">
                  <a16:creationId xmlns="" xmlns:a16="http://schemas.microsoft.com/office/drawing/2014/main" id="{2051211E-E86A-7F5F-81CF-973B4989980E}"/>
                </a:ext>
              </a:extLst>
            </p:cNvPr>
            <p:cNvSpPr/>
            <p:nvPr/>
          </p:nvSpPr>
          <p:spPr>
            <a:xfrm>
              <a:off x="13840359" y="5932815"/>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94" name="b9488">
              <a:extLst>
                <a:ext uri="{FF2B5EF4-FFF2-40B4-BE49-F238E27FC236}">
                  <a16:creationId xmlns="" xmlns:a16="http://schemas.microsoft.com/office/drawing/2014/main" id="{6234FB2F-146B-71BA-9BB7-ED51EE1E4AF6}"/>
                </a:ext>
              </a:extLst>
            </p:cNvPr>
            <p:cNvSpPr/>
            <p:nvPr/>
          </p:nvSpPr>
          <p:spPr>
            <a:xfrm>
              <a:off x="13840360" y="5932815"/>
              <a:ext cx="399497" cy="140208"/>
            </a:xfrm>
            <a:prstGeom prst="roundRect">
              <a:avLst/>
            </a:prstGeom>
            <a:solidFill>
              <a:srgbClr val="D64C4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95" name="t9490">
              <a:extLst>
                <a:ext uri="{FF2B5EF4-FFF2-40B4-BE49-F238E27FC236}">
                  <a16:creationId xmlns="" xmlns:a16="http://schemas.microsoft.com/office/drawing/2014/main" id="{BB972D0D-6DB5-6D13-159F-D6887EBF8865}"/>
                </a:ext>
              </a:extLst>
            </p:cNvPr>
            <p:cNvSpPr txBox="1"/>
            <p:nvPr/>
          </p:nvSpPr>
          <p:spPr>
            <a:xfrm>
              <a:off x="15010791" y="5920623"/>
              <a:ext cx="536448" cy="170688"/>
            </a:xfrm>
            <a:prstGeom prst="rect">
              <a:avLst/>
            </a:prstGeom>
            <a:noFill/>
          </p:spPr>
          <p:txBody>
            <a:bodyPr wrap="square" lIns="0" tIns="0" rIns="0" bIns="0" anchor="ctr"/>
            <a:lstStyle/>
            <a:p>
              <a:pPr algn="r"/>
              <a:r>
                <a:rPr sz="1000" b="1">
                  <a:solidFill>
                    <a:srgbClr val="D64C4C"/>
                  </a:solidFill>
                  <a:latin typeface="微软雅黑" panose="020B0503020204020204" pitchFamily="34" charset="-122"/>
                  <a:ea typeface="微软雅黑" panose="020B0503020204020204" pitchFamily="34" charset="-122"/>
                </a:rPr>
                <a:t>5.2%</a:t>
              </a:r>
            </a:p>
          </p:txBody>
        </p:sp>
        <p:sp>
          <p:nvSpPr>
            <p:cNvPr id="296" name="t9492">
              <a:extLst>
                <a:ext uri="{FF2B5EF4-FFF2-40B4-BE49-F238E27FC236}">
                  <a16:creationId xmlns="" xmlns:a16="http://schemas.microsoft.com/office/drawing/2014/main" id="{745661A2-47FD-A440-4C99-1874C867A7BE}"/>
                </a:ext>
              </a:extLst>
            </p:cNvPr>
            <p:cNvSpPr txBox="1"/>
            <p:nvPr/>
          </p:nvSpPr>
          <p:spPr>
            <a:xfrm>
              <a:off x="12864999" y="6292479"/>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6. 沪硅产业</a:t>
              </a:r>
            </a:p>
          </p:txBody>
        </p:sp>
        <p:sp>
          <p:nvSpPr>
            <p:cNvPr id="297" name="b9494">
              <a:extLst>
                <a:ext uri="{FF2B5EF4-FFF2-40B4-BE49-F238E27FC236}">
                  <a16:creationId xmlns="" xmlns:a16="http://schemas.microsoft.com/office/drawing/2014/main" id="{CC24022F-3B01-9DC4-1304-197881B0D59D}"/>
                </a:ext>
              </a:extLst>
            </p:cNvPr>
            <p:cNvSpPr/>
            <p:nvPr/>
          </p:nvSpPr>
          <p:spPr>
            <a:xfrm>
              <a:off x="13840359" y="6304671"/>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98" name="b9496">
              <a:extLst>
                <a:ext uri="{FF2B5EF4-FFF2-40B4-BE49-F238E27FC236}">
                  <a16:creationId xmlns="" xmlns:a16="http://schemas.microsoft.com/office/drawing/2014/main" id="{F73DA27C-0C54-4F38-5BB5-A0138F8ADAA0}"/>
                </a:ext>
              </a:extLst>
            </p:cNvPr>
            <p:cNvSpPr/>
            <p:nvPr/>
          </p:nvSpPr>
          <p:spPr>
            <a:xfrm>
              <a:off x="13840359" y="6304671"/>
              <a:ext cx="322671" cy="140208"/>
            </a:xfrm>
            <a:prstGeom prst="roundRect">
              <a:avLst/>
            </a:prstGeom>
            <a:solidFill>
              <a:srgbClr val="D64C4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299" name="t9498">
              <a:extLst>
                <a:ext uri="{FF2B5EF4-FFF2-40B4-BE49-F238E27FC236}">
                  <a16:creationId xmlns="" xmlns:a16="http://schemas.microsoft.com/office/drawing/2014/main" id="{7FDD2704-2171-0F34-C5CC-D2F83DA666F1}"/>
                </a:ext>
              </a:extLst>
            </p:cNvPr>
            <p:cNvSpPr txBox="1"/>
            <p:nvPr/>
          </p:nvSpPr>
          <p:spPr>
            <a:xfrm>
              <a:off x="15010791" y="6292479"/>
              <a:ext cx="536448" cy="170688"/>
            </a:xfrm>
            <a:prstGeom prst="rect">
              <a:avLst/>
            </a:prstGeom>
            <a:noFill/>
          </p:spPr>
          <p:txBody>
            <a:bodyPr wrap="square" lIns="0" tIns="0" rIns="0" bIns="0" anchor="ctr"/>
            <a:lstStyle/>
            <a:p>
              <a:pPr algn="r"/>
              <a:r>
                <a:rPr sz="1000" b="1">
                  <a:solidFill>
                    <a:srgbClr val="D64C4C"/>
                  </a:solidFill>
                  <a:latin typeface="微软雅黑" panose="020B0503020204020204" pitchFamily="34" charset="-122"/>
                  <a:ea typeface="微软雅黑" panose="020B0503020204020204" pitchFamily="34" charset="-122"/>
                </a:rPr>
                <a:t>4.2%</a:t>
              </a:r>
            </a:p>
          </p:txBody>
        </p:sp>
        <p:sp>
          <p:nvSpPr>
            <p:cNvPr id="300" name="t9500">
              <a:extLst>
                <a:ext uri="{FF2B5EF4-FFF2-40B4-BE49-F238E27FC236}">
                  <a16:creationId xmlns="" xmlns:a16="http://schemas.microsoft.com/office/drawing/2014/main" id="{D6186B5C-7BA0-0804-F678-143A928963D8}"/>
                </a:ext>
              </a:extLst>
            </p:cNvPr>
            <p:cNvSpPr txBox="1"/>
            <p:nvPr/>
          </p:nvSpPr>
          <p:spPr>
            <a:xfrm>
              <a:off x="12864999" y="6664335"/>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7. 中科飞测</a:t>
              </a:r>
            </a:p>
          </p:txBody>
        </p:sp>
        <p:sp>
          <p:nvSpPr>
            <p:cNvPr id="301" name="b9502">
              <a:extLst>
                <a:ext uri="{FF2B5EF4-FFF2-40B4-BE49-F238E27FC236}">
                  <a16:creationId xmlns="" xmlns:a16="http://schemas.microsoft.com/office/drawing/2014/main" id="{89D86891-8D56-5ACB-EFF6-5F85B3222AE7}"/>
                </a:ext>
              </a:extLst>
            </p:cNvPr>
            <p:cNvSpPr/>
            <p:nvPr/>
          </p:nvSpPr>
          <p:spPr>
            <a:xfrm>
              <a:off x="13840359" y="6676527"/>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302" name="b9504">
              <a:extLst>
                <a:ext uri="{FF2B5EF4-FFF2-40B4-BE49-F238E27FC236}">
                  <a16:creationId xmlns="" xmlns:a16="http://schemas.microsoft.com/office/drawing/2014/main" id="{DA92C2B3-0A87-529E-5725-A7754F872367}"/>
                </a:ext>
              </a:extLst>
            </p:cNvPr>
            <p:cNvSpPr/>
            <p:nvPr/>
          </p:nvSpPr>
          <p:spPr>
            <a:xfrm>
              <a:off x="13840360" y="6676527"/>
              <a:ext cx="284257" cy="140208"/>
            </a:xfrm>
            <a:prstGeom prst="roundRect">
              <a:avLst/>
            </a:prstGeom>
            <a:solidFill>
              <a:srgbClr val="D64C4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303" name="t9506">
              <a:extLst>
                <a:ext uri="{FF2B5EF4-FFF2-40B4-BE49-F238E27FC236}">
                  <a16:creationId xmlns="" xmlns:a16="http://schemas.microsoft.com/office/drawing/2014/main" id="{71A5ED54-F76A-C000-A1DD-E921F47B3CEE}"/>
                </a:ext>
              </a:extLst>
            </p:cNvPr>
            <p:cNvSpPr txBox="1"/>
            <p:nvPr/>
          </p:nvSpPr>
          <p:spPr>
            <a:xfrm>
              <a:off x="15010791" y="6664335"/>
              <a:ext cx="536448" cy="170688"/>
            </a:xfrm>
            <a:prstGeom prst="rect">
              <a:avLst/>
            </a:prstGeom>
            <a:noFill/>
          </p:spPr>
          <p:txBody>
            <a:bodyPr wrap="square" lIns="0" tIns="0" rIns="0" bIns="0" anchor="ctr"/>
            <a:lstStyle/>
            <a:p>
              <a:pPr algn="r"/>
              <a:r>
                <a:rPr sz="1000" b="1">
                  <a:solidFill>
                    <a:srgbClr val="D64C4C"/>
                  </a:solidFill>
                  <a:latin typeface="微软雅黑" panose="020B0503020204020204" pitchFamily="34" charset="-122"/>
                  <a:ea typeface="微软雅黑" panose="020B0503020204020204" pitchFamily="34" charset="-122"/>
                </a:rPr>
                <a:t>3.7%</a:t>
              </a:r>
            </a:p>
          </p:txBody>
        </p:sp>
        <p:sp>
          <p:nvSpPr>
            <p:cNvPr id="304" name="t9508">
              <a:extLst>
                <a:ext uri="{FF2B5EF4-FFF2-40B4-BE49-F238E27FC236}">
                  <a16:creationId xmlns="" xmlns:a16="http://schemas.microsoft.com/office/drawing/2014/main" id="{846A916F-2CA2-8277-F97A-562E893D373E}"/>
                </a:ext>
              </a:extLst>
            </p:cNvPr>
            <p:cNvSpPr txBox="1"/>
            <p:nvPr/>
          </p:nvSpPr>
          <p:spPr>
            <a:xfrm>
              <a:off x="12864999" y="7036191"/>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8. 江丰电子</a:t>
              </a:r>
            </a:p>
          </p:txBody>
        </p:sp>
        <p:sp>
          <p:nvSpPr>
            <p:cNvPr id="305" name="b9510">
              <a:extLst>
                <a:ext uri="{FF2B5EF4-FFF2-40B4-BE49-F238E27FC236}">
                  <a16:creationId xmlns="" xmlns:a16="http://schemas.microsoft.com/office/drawing/2014/main" id="{2819BF13-8C71-1FDC-B8C0-608292A6E017}"/>
                </a:ext>
              </a:extLst>
            </p:cNvPr>
            <p:cNvSpPr/>
            <p:nvPr/>
          </p:nvSpPr>
          <p:spPr>
            <a:xfrm>
              <a:off x="13840359" y="7048383"/>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306" name="b9512">
              <a:extLst>
                <a:ext uri="{FF2B5EF4-FFF2-40B4-BE49-F238E27FC236}">
                  <a16:creationId xmlns="" xmlns:a16="http://schemas.microsoft.com/office/drawing/2014/main" id="{3E87AA54-1003-B397-8374-D50FA13DC0A1}"/>
                </a:ext>
              </a:extLst>
            </p:cNvPr>
            <p:cNvSpPr/>
            <p:nvPr/>
          </p:nvSpPr>
          <p:spPr>
            <a:xfrm>
              <a:off x="13840359" y="7048383"/>
              <a:ext cx="245844" cy="140208"/>
            </a:xfrm>
            <a:prstGeom prst="roundRect">
              <a:avLst/>
            </a:prstGeom>
            <a:solidFill>
              <a:srgbClr val="D64C4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307" name="t9514">
              <a:extLst>
                <a:ext uri="{FF2B5EF4-FFF2-40B4-BE49-F238E27FC236}">
                  <a16:creationId xmlns="" xmlns:a16="http://schemas.microsoft.com/office/drawing/2014/main" id="{FF18E049-5295-2B69-CE9B-982487495539}"/>
                </a:ext>
              </a:extLst>
            </p:cNvPr>
            <p:cNvSpPr txBox="1"/>
            <p:nvPr/>
          </p:nvSpPr>
          <p:spPr>
            <a:xfrm>
              <a:off x="15010791" y="7036191"/>
              <a:ext cx="536448" cy="170688"/>
            </a:xfrm>
            <a:prstGeom prst="rect">
              <a:avLst/>
            </a:prstGeom>
            <a:noFill/>
          </p:spPr>
          <p:txBody>
            <a:bodyPr wrap="square" lIns="0" tIns="0" rIns="0" bIns="0" anchor="ctr"/>
            <a:lstStyle/>
            <a:p>
              <a:pPr algn="r"/>
              <a:r>
                <a:rPr sz="1000" b="1">
                  <a:solidFill>
                    <a:srgbClr val="D64C4C"/>
                  </a:solidFill>
                  <a:latin typeface="微软雅黑" panose="020B0503020204020204" pitchFamily="34" charset="-122"/>
                  <a:ea typeface="微软雅黑" panose="020B0503020204020204" pitchFamily="34" charset="-122"/>
                </a:rPr>
                <a:t>3.2%</a:t>
              </a:r>
            </a:p>
          </p:txBody>
        </p:sp>
        <p:sp>
          <p:nvSpPr>
            <p:cNvPr id="308" name="t9516">
              <a:extLst>
                <a:ext uri="{FF2B5EF4-FFF2-40B4-BE49-F238E27FC236}">
                  <a16:creationId xmlns="" xmlns:a16="http://schemas.microsoft.com/office/drawing/2014/main" id="{AEC46CBA-6744-ED83-AB8D-A607C92AAB12}"/>
                </a:ext>
              </a:extLst>
            </p:cNvPr>
            <p:cNvSpPr txBox="1"/>
            <p:nvPr/>
          </p:nvSpPr>
          <p:spPr>
            <a:xfrm>
              <a:off x="12864999" y="7408047"/>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9. 芯源微</a:t>
              </a:r>
            </a:p>
          </p:txBody>
        </p:sp>
        <p:sp>
          <p:nvSpPr>
            <p:cNvPr id="309" name="b9518">
              <a:extLst>
                <a:ext uri="{FF2B5EF4-FFF2-40B4-BE49-F238E27FC236}">
                  <a16:creationId xmlns="" xmlns:a16="http://schemas.microsoft.com/office/drawing/2014/main" id="{1AFFC19E-9304-3373-9CFE-EADC4986D299}"/>
                </a:ext>
              </a:extLst>
            </p:cNvPr>
            <p:cNvSpPr/>
            <p:nvPr/>
          </p:nvSpPr>
          <p:spPr>
            <a:xfrm>
              <a:off x="13840359" y="7420239"/>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310" name="b9520">
              <a:extLst>
                <a:ext uri="{FF2B5EF4-FFF2-40B4-BE49-F238E27FC236}">
                  <a16:creationId xmlns="" xmlns:a16="http://schemas.microsoft.com/office/drawing/2014/main" id="{263F6CAE-2756-A9CF-9218-8F753937438B}"/>
                </a:ext>
              </a:extLst>
            </p:cNvPr>
            <p:cNvSpPr/>
            <p:nvPr/>
          </p:nvSpPr>
          <p:spPr>
            <a:xfrm>
              <a:off x="13840359" y="7420239"/>
              <a:ext cx="245844" cy="140208"/>
            </a:xfrm>
            <a:prstGeom prst="roundRect">
              <a:avLst/>
            </a:prstGeom>
            <a:solidFill>
              <a:srgbClr val="D64C4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311" name="t9522">
              <a:extLst>
                <a:ext uri="{FF2B5EF4-FFF2-40B4-BE49-F238E27FC236}">
                  <a16:creationId xmlns="" xmlns:a16="http://schemas.microsoft.com/office/drawing/2014/main" id="{E4C1027F-4F43-68C7-96D8-28C4B8E7C773}"/>
                </a:ext>
              </a:extLst>
            </p:cNvPr>
            <p:cNvSpPr txBox="1"/>
            <p:nvPr/>
          </p:nvSpPr>
          <p:spPr>
            <a:xfrm>
              <a:off x="15010791" y="7408047"/>
              <a:ext cx="536448" cy="170688"/>
            </a:xfrm>
            <a:prstGeom prst="rect">
              <a:avLst/>
            </a:prstGeom>
            <a:noFill/>
          </p:spPr>
          <p:txBody>
            <a:bodyPr wrap="square" lIns="0" tIns="0" rIns="0" bIns="0" anchor="ctr"/>
            <a:lstStyle/>
            <a:p>
              <a:pPr algn="r"/>
              <a:r>
                <a:rPr sz="1000" b="1">
                  <a:solidFill>
                    <a:srgbClr val="D64C4C"/>
                  </a:solidFill>
                  <a:latin typeface="微软雅黑" panose="020B0503020204020204" pitchFamily="34" charset="-122"/>
                  <a:ea typeface="微软雅黑" panose="020B0503020204020204" pitchFamily="34" charset="-122"/>
                </a:rPr>
                <a:t>3.2%</a:t>
              </a:r>
            </a:p>
          </p:txBody>
        </p:sp>
        <p:sp>
          <p:nvSpPr>
            <p:cNvPr id="312" name="t9524">
              <a:extLst>
                <a:ext uri="{FF2B5EF4-FFF2-40B4-BE49-F238E27FC236}">
                  <a16:creationId xmlns="" xmlns:a16="http://schemas.microsoft.com/office/drawing/2014/main" id="{FF8255A3-2723-DC78-A3DC-77A8C4F0030C}"/>
                </a:ext>
              </a:extLst>
            </p:cNvPr>
            <p:cNvSpPr txBox="1"/>
            <p:nvPr/>
          </p:nvSpPr>
          <p:spPr>
            <a:xfrm>
              <a:off x="12864999" y="7779903"/>
              <a:ext cx="950976" cy="158496"/>
            </a:xfrm>
            <a:prstGeom prst="rect">
              <a:avLst/>
            </a:prstGeom>
            <a:noFill/>
          </p:spPr>
          <p:txBody>
            <a:bodyPr wrap="square" lIns="0" tIns="0" rIns="0" bIns="0" anchor="ctr"/>
            <a:lstStyle/>
            <a:p>
              <a:r>
                <a:rPr sz="1000">
                  <a:solidFill>
                    <a:srgbClr val="333333"/>
                  </a:solidFill>
                  <a:latin typeface="微软雅黑" panose="020B0503020204020204" pitchFamily="34" charset="-122"/>
                  <a:ea typeface="微软雅黑" panose="020B0503020204020204" pitchFamily="34" charset="-122"/>
                </a:rPr>
                <a:t>10. 华峰测控</a:t>
              </a:r>
            </a:p>
          </p:txBody>
        </p:sp>
        <p:sp>
          <p:nvSpPr>
            <p:cNvPr id="313" name="b9526">
              <a:extLst>
                <a:ext uri="{FF2B5EF4-FFF2-40B4-BE49-F238E27FC236}">
                  <a16:creationId xmlns="" xmlns:a16="http://schemas.microsoft.com/office/drawing/2014/main" id="{7BB6C4CC-ACF9-AF31-A17B-1FF75A23163C}"/>
                </a:ext>
              </a:extLst>
            </p:cNvPr>
            <p:cNvSpPr/>
            <p:nvPr/>
          </p:nvSpPr>
          <p:spPr>
            <a:xfrm>
              <a:off x="13840359" y="7792095"/>
              <a:ext cx="1121664" cy="140208"/>
            </a:xfrm>
            <a:prstGeom prst="roundRect">
              <a:avLst/>
            </a:prstGeom>
            <a:solidFill>
              <a:srgbClr val="F0F3F7"/>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314" name="b9528">
              <a:extLst>
                <a:ext uri="{FF2B5EF4-FFF2-40B4-BE49-F238E27FC236}">
                  <a16:creationId xmlns="" xmlns:a16="http://schemas.microsoft.com/office/drawing/2014/main" id="{BE67620C-C9E1-5B5F-762D-17010F0E8C3B}"/>
                </a:ext>
              </a:extLst>
            </p:cNvPr>
            <p:cNvSpPr/>
            <p:nvPr/>
          </p:nvSpPr>
          <p:spPr>
            <a:xfrm>
              <a:off x="13840359" y="7792095"/>
              <a:ext cx="230479" cy="140208"/>
            </a:xfrm>
            <a:prstGeom prst="roundRect">
              <a:avLst/>
            </a:prstGeom>
            <a:solidFill>
              <a:srgbClr val="D64C4C"/>
            </a:solidFill>
            <a:ln>
              <a:noFill/>
            </a:ln>
          </p:spPr>
          <p:txBody>
            <a:bodyPr rtlCol="0" anchor="ctr"/>
            <a:lstStyle/>
            <a:p>
              <a:pPr algn="ctr"/>
              <a:endParaRPr sz="1000">
                <a:latin typeface="微软雅黑" panose="020B0503020204020204" pitchFamily="34" charset="-122"/>
                <a:ea typeface="微软雅黑" panose="020B0503020204020204" pitchFamily="34" charset="-122"/>
              </a:endParaRPr>
            </a:p>
          </p:txBody>
        </p:sp>
        <p:sp>
          <p:nvSpPr>
            <p:cNvPr id="315" name="t9530">
              <a:extLst>
                <a:ext uri="{FF2B5EF4-FFF2-40B4-BE49-F238E27FC236}">
                  <a16:creationId xmlns="" xmlns:a16="http://schemas.microsoft.com/office/drawing/2014/main" id="{7A11A291-A38D-B845-797C-F001A4621628}"/>
                </a:ext>
              </a:extLst>
            </p:cNvPr>
            <p:cNvSpPr txBox="1"/>
            <p:nvPr/>
          </p:nvSpPr>
          <p:spPr>
            <a:xfrm>
              <a:off x="15010791" y="7779903"/>
              <a:ext cx="536448" cy="170688"/>
            </a:xfrm>
            <a:prstGeom prst="rect">
              <a:avLst/>
            </a:prstGeom>
            <a:noFill/>
          </p:spPr>
          <p:txBody>
            <a:bodyPr wrap="square" lIns="0" tIns="0" rIns="0" bIns="0" anchor="ctr"/>
            <a:lstStyle/>
            <a:p>
              <a:pPr algn="r"/>
              <a:r>
                <a:rPr sz="1000" b="1">
                  <a:solidFill>
                    <a:srgbClr val="D64C4C"/>
                  </a:solidFill>
                  <a:latin typeface="微软雅黑" panose="020B0503020204020204" pitchFamily="34" charset="-122"/>
                  <a:ea typeface="微软雅黑" panose="020B0503020204020204" pitchFamily="34" charset="-122"/>
                </a:rPr>
                <a:t>3.0%</a:t>
              </a:r>
            </a:p>
          </p:txBody>
        </p:sp>
        <p:cxnSp>
          <p:nvCxnSpPr>
            <p:cNvPr id="316" name="直接连接符 315">
              <a:extLst>
                <a:ext uri="{FF2B5EF4-FFF2-40B4-BE49-F238E27FC236}">
                  <a16:creationId xmlns="" xmlns:a16="http://schemas.microsoft.com/office/drawing/2014/main" id="{7A989828-4F29-4CCA-4683-9FBB4723D8C2}"/>
                </a:ext>
              </a:extLst>
            </p:cNvPr>
            <p:cNvCxnSpPr/>
            <p:nvPr/>
          </p:nvCxnSpPr>
          <p:spPr>
            <a:xfrm>
              <a:off x="630918" y="1742468"/>
              <a:ext cx="14942384"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17" name="Rounded Rectangle 7">
              <a:extLst>
                <a:ext uri="{FF2B5EF4-FFF2-40B4-BE49-F238E27FC236}">
                  <a16:creationId xmlns="" xmlns:a16="http://schemas.microsoft.com/office/drawing/2014/main" id="{6C359840-6EA4-32ED-9F93-0056D33ED43C}"/>
                </a:ext>
              </a:extLst>
            </p:cNvPr>
            <p:cNvSpPr/>
            <p:nvPr/>
          </p:nvSpPr>
          <p:spPr>
            <a:xfrm>
              <a:off x="499872" y="1769247"/>
              <a:ext cx="2524475" cy="256032"/>
            </a:xfrm>
            <a:prstGeom prst="roundRect">
              <a:avLst/>
            </a:prstGeom>
            <a:solidFill>
              <a:srgbClr val="EF7C4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000" b="1" dirty="0">
                  <a:solidFill>
                    <a:srgbClr val="FFFFFF"/>
                  </a:solidFill>
                  <a:latin typeface="微软雅黑" panose="020B0503020204020204" pitchFamily="34" charset="-122"/>
                  <a:ea typeface="微软雅黑" panose="020B0503020204020204" pitchFamily="34" charset="-122"/>
                </a:rPr>
                <a:t>双创综合</a:t>
              </a:r>
              <a:r>
                <a:rPr lang="en-US" altLang="zh-CN" sz="1000" b="1" dirty="0">
                  <a:solidFill>
                    <a:srgbClr val="FFFFFF"/>
                  </a:solidFill>
                  <a:latin typeface="微软雅黑" panose="020B0503020204020204" pitchFamily="34" charset="-122"/>
                  <a:ea typeface="微软雅黑" panose="020B0503020204020204" pitchFamily="34" charset="-122"/>
                </a:rPr>
                <a:t>AI</a:t>
              </a:r>
              <a:r>
                <a:rPr lang="zh-CN" altLang="en-US" sz="1000" b="1" dirty="0">
                  <a:solidFill>
                    <a:srgbClr val="FFFFFF"/>
                  </a:solidFill>
                  <a:latin typeface="微软雅黑" panose="020B0503020204020204" pitchFamily="34" charset="-122"/>
                  <a:ea typeface="微软雅黑" panose="020B0503020204020204" pitchFamily="34" charset="-122"/>
                </a:rPr>
                <a:t>暴露</a:t>
              </a:r>
              <a:endParaRPr sz="1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441856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6FA07A6-1E24-CEE9-4035-BE3F364BBE97}"/>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2D68807E-A2D7-AE48-C7EC-D851AF334939}"/>
              </a:ext>
            </a:extLst>
          </p:cNvPr>
          <p:cNvSpPr/>
          <p:nvPr/>
        </p:nvSpPr>
        <p:spPr>
          <a:xfrm>
            <a:off x="381000" y="364669"/>
            <a:ext cx="76200"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Box 2">
            <a:extLst>
              <a:ext uri="{FF2B5EF4-FFF2-40B4-BE49-F238E27FC236}">
                <a16:creationId xmlns="" xmlns:a16="http://schemas.microsoft.com/office/drawing/2014/main" id="{9FF20308-DC84-C8F4-9335-3CAA1D41E12D}"/>
              </a:ext>
            </a:extLst>
          </p:cNvPr>
          <p:cNvSpPr txBox="1"/>
          <p:nvPr/>
        </p:nvSpPr>
        <p:spPr>
          <a:xfrm>
            <a:off x="630264" y="293908"/>
            <a:ext cx="10980711" cy="381000"/>
          </a:xfrm>
          <a:prstGeom prst="rect">
            <a:avLst/>
          </a:prstGeom>
          <a:noFill/>
        </p:spPr>
        <p:txBody>
          <a:bodyPr wrap="square"/>
          <a:lstStyle/>
          <a:p>
            <a:pPr marL="0" marR="0" lvl="0" indent="0" algn="l" defTabSz="685800" rtl="0" eaLnBrk="1" fontAlgn="auto" latinLnBrk="0" hangingPunct="1">
              <a:lnSpc>
                <a:spcPct val="120000"/>
              </a:lnSpc>
              <a:spcBef>
                <a:spcPts val="0"/>
              </a:spcBef>
              <a:spcAft>
                <a:spcPts val="0"/>
              </a:spcAft>
              <a:buClrTx/>
              <a:buSzTx/>
              <a:buFontTx/>
              <a:buNone/>
              <a:tabLst/>
              <a:defRPr sz="2800" b="1">
                <a:solidFill>
                  <a:srgbClr val="1A3C6E"/>
                </a:solidFill>
                <a:latin typeface="微软雅黑" panose="020B0503020204020204" charset="-122"/>
              </a:defRPr>
            </a:pPr>
            <a:r>
              <a:rPr kumimoji="0" lang="zh-CN" altLang="en-US" sz="2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附：指增备选基金池</a:t>
            </a:r>
            <a:endParaRPr kumimoji="0" sz="2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endParaRPr>
          </a:p>
        </p:txBody>
      </p:sp>
      <p:sp>
        <p:nvSpPr>
          <p:cNvPr id="6" name="矩形 4">
            <a:extLst>
              <a:ext uri="{FF2B5EF4-FFF2-40B4-BE49-F238E27FC236}">
                <a16:creationId xmlns="" xmlns:a16="http://schemas.microsoft.com/office/drawing/2014/main" id="{E2E737F0-6757-F1E0-133D-31B8484D3A64}"/>
              </a:ext>
            </a:extLst>
          </p:cNvPr>
          <p:cNvSpPr/>
          <p:nvPr/>
        </p:nvSpPr>
        <p:spPr>
          <a:xfrm>
            <a:off x="150794" y="6402450"/>
            <a:ext cx="11272674" cy="246862"/>
          </a:xfrm>
          <a:prstGeom prst="rect">
            <a:avLst/>
          </a:prstGeom>
        </p:spPr>
        <p:txBody>
          <a:bodyPr wrap="square">
            <a:spAutoFit/>
          </a:bodyPr>
          <a:lstStyle/>
          <a:p>
            <a:pPr marL="0" marR="0" lvl="0" indent="0" algn="l" defTabSz="609608" rtl="0" eaLnBrk="1" fontAlgn="auto" latinLnBrk="0" hangingPunct="1">
              <a:lnSpc>
                <a:spcPct val="100000"/>
              </a:lnSpc>
              <a:spcBef>
                <a:spcPts val="0"/>
              </a:spcBef>
              <a:spcAft>
                <a:spcPts val="0"/>
              </a:spcAft>
              <a:buClrTx/>
              <a:buSzTx/>
              <a:buFontTx/>
              <a:buNone/>
              <a:tabLst/>
              <a:defRPr/>
            </a:pP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注：数据来源</a:t>
            </a:r>
            <a:r>
              <a:rPr lang="en-US" altLang="zh-CN" sz="1004" dirty="0" err="1">
                <a:solidFill>
                  <a:prstClr val="black"/>
                </a:solidFill>
                <a:latin typeface="微软雅黑" panose="020B0503020204020204" pitchFamily="34" charset="-122"/>
                <a:ea typeface="微软雅黑" panose="020B0503020204020204" pitchFamily="34" charset="-122"/>
              </a:rPr>
              <a:t>ifind</a:t>
            </a:r>
            <a:r>
              <a:rPr lang="zh-CN" altLang="en-US" sz="1004" dirty="0">
                <a:solidFill>
                  <a:prstClr val="black"/>
                </a:solidFill>
                <a:latin typeface="微软雅黑" panose="020B0503020204020204" pitchFamily="34" charset="-122"/>
                <a:ea typeface="微软雅黑" panose="020B0503020204020204" pitchFamily="34" charset="-122"/>
              </a:rPr>
              <a:t>，历史业绩不代表未来，历史业绩仅供参考</a:t>
            </a:r>
            <a:endParaRPr kumimoji="0" lang="en-US" altLang="zh-CN" sz="1004"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7" name="表格 6">
            <a:extLst>
              <a:ext uri="{FF2B5EF4-FFF2-40B4-BE49-F238E27FC236}">
                <a16:creationId xmlns="" xmlns:a16="http://schemas.microsoft.com/office/drawing/2014/main" id="{C3DC58E8-1F69-C22A-1E65-8FD9A11AAFBF}"/>
              </a:ext>
            </a:extLst>
          </p:cNvPr>
          <p:cNvGraphicFramePr>
            <a:graphicFrameLocks noGrp="1"/>
          </p:cNvGraphicFramePr>
          <p:nvPr>
            <p:extLst>
              <p:ext uri="{D42A27DB-BD31-4B8C-83A1-F6EECF244321}">
                <p14:modId xmlns:p14="http://schemas.microsoft.com/office/powerpoint/2010/main" val="370210848"/>
              </p:ext>
            </p:extLst>
          </p:nvPr>
        </p:nvGraphicFramePr>
        <p:xfrm>
          <a:off x="304798" y="976449"/>
          <a:ext cx="11118670" cy="5279038"/>
        </p:xfrm>
        <a:graphic>
          <a:graphicData uri="http://schemas.openxmlformats.org/drawingml/2006/table">
            <a:tbl>
              <a:tblPr/>
              <a:tblGrid>
                <a:gridCol w="796379">
                  <a:extLst>
                    <a:ext uri="{9D8B030D-6E8A-4147-A177-3AD203B41FA5}">
                      <a16:colId xmlns="" xmlns:a16="http://schemas.microsoft.com/office/drawing/2014/main" val="2745189996"/>
                    </a:ext>
                  </a:extLst>
                </a:gridCol>
                <a:gridCol w="995473">
                  <a:extLst>
                    <a:ext uri="{9D8B030D-6E8A-4147-A177-3AD203B41FA5}">
                      <a16:colId xmlns="" xmlns:a16="http://schemas.microsoft.com/office/drawing/2014/main" val="1787234442"/>
                    </a:ext>
                  </a:extLst>
                </a:gridCol>
                <a:gridCol w="1822481">
                  <a:extLst>
                    <a:ext uri="{9D8B030D-6E8A-4147-A177-3AD203B41FA5}">
                      <a16:colId xmlns="" xmlns:a16="http://schemas.microsoft.com/office/drawing/2014/main" val="2558704416"/>
                    </a:ext>
                  </a:extLst>
                </a:gridCol>
                <a:gridCol w="872953">
                  <a:extLst>
                    <a:ext uri="{9D8B030D-6E8A-4147-A177-3AD203B41FA5}">
                      <a16:colId xmlns="" xmlns:a16="http://schemas.microsoft.com/office/drawing/2014/main" val="331476022"/>
                    </a:ext>
                  </a:extLst>
                </a:gridCol>
                <a:gridCol w="536023">
                  <a:extLst>
                    <a:ext uri="{9D8B030D-6E8A-4147-A177-3AD203B41FA5}">
                      <a16:colId xmlns="" xmlns:a16="http://schemas.microsoft.com/office/drawing/2014/main" val="2548430662"/>
                    </a:ext>
                  </a:extLst>
                </a:gridCol>
                <a:gridCol w="581969">
                  <a:extLst>
                    <a:ext uri="{9D8B030D-6E8A-4147-A177-3AD203B41FA5}">
                      <a16:colId xmlns="" xmlns:a16="http://schemas.microsoft.com/office/drawing/2014/main" val="4056946671"/>
                    </a:ext>
                  </a:extLst>
                </a:gridCol>
                <a:gridCol w="719804">
                  <a:extLst>
                    <a:ext uri="{9D8B030D-6E8A-4147-A177-3AD203B41FA5}">
                      <a16:colId xmlns="" xmlns:a16="http://schemas.microsoft.com/office/drawing/2014/main" val="2549421393"/>
                    </a:ext>
                  </a:extLst>
                </a:gridCol>
                <a:gridCol w="612600">
                  <a:extLst>
                    <a:ext uri="{9D8B030D-6E8A-4147-A177-3AD203B41FA5}">
                      <a16:colId xmlns="" xmlns:a16="http://schemas.microsoft.com/office/drawing/2014/main" val="2316716732"/>
                    </a:ext>
                  </a:extLst>
                </a:gridCol>
                <a:gridCol w="581969">
                  <a:extLst>
                    <a:ext uri="{9D8B030D-6E8A-4147-A177-3AD203B41FA5}">
                      <a16:colId xmlns="" xmlns:a16="http://schemas.microsoft.com/office/drawing/2014/main" val="702990278"/>
                    </a:ext>
                  </a:extLst>
                </a:gridCol>
                <a:gridCol w="581969">
                  <a:extLst>
                    <a:ext uri="{9D8B030D-6E8A-4147-A177-3AD203B41FA5}">
                      <a16:colId xmlns="" xmlns:a16="http://schemas.microsoft.com/office/drawing/2014/main" val="820359141"/>
                    </a:ext>
                  </a:extLst>
                </a:gridCol>
                <a:gridCol w="581969">
                  <a:extLst>
                    <a:ext uri="{9D8B030D-6E8A-4147-A177-3AD203B41FA5}">
                      <a16:colId xmlns="" xmlns:a16="http://schemas.microsoft.com/office/drawing/2014/main" val="1769426788"/>
                    </a:ext>
                  </a:extLst>
                </a:gridCol>
                <a:gridCol w="581969">
                  <a:extLst>
                    <a:ext uri="{9D8B030D-6E8A-4147-A177-3AD203B41FA5}">
                      <a16:colId xmlns="" xmlns:a16="http://schemas.microsoft.com/office/drawing/2014/main" val="2776467951"/>
                    </a:ext>
                  </a:extLst>
                </a:gridCol>
                <a:gridCol w="505394">
                  <a:extLst>
                    <a:ext uri="{9D8B030D-6E8A-4147-A177-3AD203B41FA5}">
                      <a16:colId xmlns="" xmlns:a16="http://schemas.microsoft.com/office/drawing/2014/main" val="3276495623"/>
                    </a:ext>
                  </a:extLst>
                </a:gridCol>
                <a:gridCol w="505394">
                  <a:extLst>
                    <a:ext uri="{9D8B030D-6E8A-4147-A177-3AD203B41FA5}">
                      <a16:colId xmlns="" xmlns:a16="http://schemas.microsoft.com/office/drawing/2014/main" val="872056456"/>
                    </a:ext>
                  </a:extLst>
                </a:gridCol>
                <a:gridCol w="505394">
                  <a:extLst>
                    <a:ext uri="{9D8B030D-6E8A-4147-A177-3AD203B41FA5}">
                      <a16:colId xmlns="" xmlns:a16="http://schemas.microsoft.com/office/drawing/2014/main" val="2292273260"/>
                    </a:ext>
                  </a:extLst>
                </a:gridCol>
                <a:gridCol w="336930">
                  <a:extLst>
                    <a:ext uri="{9D8B030D-6E8A-4147-A177-3AD203B41FA5}">
                      <a16:colId xmlns="" xmlns:a16="http://schemas.microsoft.com/office/drawing/2014/main" val="2612605549"/>
                    </a:ext>
                  </a:extLst>
                </a:gridCol>
              </a:tblGrid>
              <a:tr h="166603">
                <a:tc rowSpan="2">
                  <a:txBody>
                    <a:bodyPr/>
                    <a:lstStyle/>
                    <a:p>
                      <a:pPr algn="ctr" fontAlgn="ctr"/>
                      <a:r>
                        <a:rPr lang="zh-CN" altLang="en-US" sz="1000" b="0" i="0" u="none" strike="noStrike" dirty="0">
                          <a:solidFill>
                            <a:srgbClr val="000000"/>
                          </a:solidFill>
                          <a:effectLst/>
                          <a:latin typeface="华文中宋" panose="02010600040101010101" pitchFamily="2" charset="-122"/>
                          <a:ea typeface="华文中宋" panose="02010600040101010101" pitchFamily="2" charset="-122"/>
                        </a:rPr>
                        <a:t>指数</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rowSpan="2">
                  <a:txBody>
                    <a:bodyPr/>
                    <a:lstStyle/>
                    <a:p>
                      <a:pPr algn="ctr" fontAlgn="ctr"/>
                      <a:r>
                        <a:rPr lang="zh-CN" altLang="en-US" sz="1000" b="0" i="0" u="none" strike="noStrike">
                          <a:solidFill>
                            <a:srgbClr val="000000"/>
                          </a:solidFill>
                          <a:effectLst/>
                          <a:latin typeface="华文中宋" panose="02010600040101010101" pitchFamily="2" charset="-122"/>
                          <a:ea typeface="华文中宋" panose="02010600040101010101" pitchFamily="2" charset="-122"/>
                        </a:rPr>
                        <a:t>指增观察池</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rowSpan="2">
                  <a:txBody>
                    <a:bodyPr/>
                    <a:lstStyle/>
                    <a:p>
                      <a:pPr algn="ctr" fontAlgn="ctr"/>
                      <a:r>
                        <a:rPr lang="en-US" altLang="zh-CN" sz="1000" b="0" i="0" u="none" strike="noStrike" dirty="0">
                          <a:solidFill>
                            <a:srgbClr val="000000"/>
                          </a:solidFill>
                          <a:effectLst/>
                          <a:latin typeface="华文中宋" panose="02010600040101010101" pitchFamily="2" charset="-122"/>
                          <a:ea typeface="华文中宋" panose="02010600040101010101" pitchFamily="2" charset="-122"/>
                        </a:rPr>
                        <a:t>2026/7/3</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rowSpan="2">
                  <a:txBody>
                    <a:bodyPr/>
                    <a:lstStyle/>
                    <a:p>
                      <a:pPr algn="l" fontAlgn="ctr"/>
                      <a:r>
                        <a:rPr lang="zh-CN" altLang="en-US" sz="1000" b="0" i="0" u="none" strike="noStrike">
                          <a:solidFill>
                            <a:srgbClr val="000000"/>
                          </a:solidFill>
                          <a:effectLst/>
                          <a:latin typeface="华文中宋" panose="02010600040101010101" pitchFamily="2" charset="-122"/>
                          <a:ea typeface="华文中宋" panose="02010600040101010101" pitchFamily="2" charset="-122"/>
                        </a:rPr>
                        <a:t>基金经理</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rowSpan="2">
                  <a:txBody>
                    <a:bodyPr/>
                    <a:lstStyle/>
                    <a:p>
                      <a:pPr algn="ctr" fontAlgn="ctr"/>
                      <a:r>
                        <a:rPr lang="zh-CN" altLang="en-US" sz="1000" b="0" i="0" u="none" strike="noStrike">
                          <a:solidFill>
                            <a:srgbClr val="000000"/>
                          </a:solidFill>
                          <a:effectLst/>
                          <a:latin typeface="华文中宋" panose="02010600040101010101" pitchFamily="2" charset="-122"/>
                          <a:ea typeface="华文中宋" panose="02010600040101010101" pitchFamily="2" charset="-122"/>
                        </a:rPr>
                        <a:t>本周</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rowSpan="2">
                  <a:txBody>
                    <a:bodyPr/>
                    <a:lstStyle/>
                    <a:p>
                      <a:pPr algn="ctr" fontAlgn="ctr"/>
                      <a:r>
                        <a:rPr lang="en-US" altLang="zh-CN" sz="1000" b="0" i="0" u="none" strike="noStrike">
                          <a:solidFill>
                            <a:srgbClr val="000000"/>
                          </a:solidFill>
                          <a:effectLst/>
                          <a:latin typeface="华文中宋" panose="02010600040101010101" pitchFamily="2" charset="-122"/>
                          <a:ea typeface="华文中宋" panose="02010600040101010101" pitchFamily="2" charset="-122"/>
                        </a:rPr>
                        <a:t>6</a:t>
                      </a:r>
                      <a:r>
                        <a:rPr lang="zh-CN" altLang="en-US" sz="1000" b="0" i="0" u="none" strike="noStrike">
                          <a:solidFill>
                            <a:srgbClr val="000000"/>
                          </a:solidFill>
                          <a:effectLst/>
                          <a:latin typeface="华文中宋" panose="02010600040101010101" pitchFamily="2" charset="-122"/>
                          <a:ea typeface="华文中宋" panose="02010600040101010101" pitchFamily="2" charset="-122"/>
                        </a:rPr>
                        <a:t>月以来</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rowSpan="2">
                  <a:txBody>
                    <a:bodyPr/>
                    <a:lstStyle/>
                    <a:p>
                      <a:pPr algn="ctr" fontAlgn="ctr"/>
                      <a:r>
                        <a:rPr lang="en-US" sz="1000" b="0" i="0" u="none" strike="noStrike">
                          <a:solidFill>
                            <a:srgbClr val="000000"/>
                          </a:solidFill>
                          <a:effectLst/>
                          <a:latin typeface="华文中宋" panose="02010600040101010101" pitchFamily="2" charset="-122"/>
                          <a:ea typeface="华文中宋" panose="02010600040101010101" pitchFamily="2" charset="-122"/>
                        </a:rPr>
                        <a:t>2026YTD</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gridSpan="3">
                  <a:txBody>
                    <a:bodyPr/>
                    <a:lstStyle/>
                    <a:p>
                      <a:pPr algn="ctr" fontAlgn="ctr"/>
                      <a:r>
                        <a:rPr lang="zh-CN" altLang="en-US" sz="1000" b="0" i="0" u="none" strike="noStrike">
                          <a:solidFill>
                            <a:srgbClr val="000000"/>
                          </a:solidFill>
                          <a:effectLst/>
                          <a:latin typeface="华文中宋" panose="02010600040101010101" pitchFamily="2" charset="-122"/>
                          <a:ea typeface="华文中宋" panose="02010600040101010101" pitchFamily="2" charset="-122"/>
                        </a:rPr>
                        <a:t>累计收益收益率</a:t>
                      </a:r>
                    </a:p>
                  </a:txBody>
                  <a:tcPr marL="4707" marR="4707" marT="4707" marB="0" anchor="ctr">
                    <a:lnL>
                      <a:noFill/>
                    </a:lnL>
                    <a:lnR>
                      <a:noFill/>
                    </a:lnR>
                    <a:lnT>
                      <a:noFill/>
                    </a:lnT>
                    <a:lnB>
                      <a:noFill/>
                    </a:lnB>
                    <a:solidFill>
                      <a:srgbClr val="F4B084"/>
                    </a:solidFill>
                  </a:tcP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1000" b="0" i="0" u="none" strike="noStrike">
                          <a:solidFill>
                            <a:srgbClr val="000000"/>
                          </a:solidFill>
                          <a:effectLst/>
                          <a:latin typeface="华文中宋" panose="02010600040101010101" pitchFamily="2" charset="-122"/>
                          <a:ea typeface="华文中宋" panose="02010600040101010101" pitchFamily="2" charset="-122"/>
                        </a:rPr>
                        <a:t>年化超额收益率</a:t>
                      </a:r>
                    </a:p>
                  </a:txBody>
                  <a:tcPr marL="4707" marR="4707" marT="4707" marB="0" anchor="ctr">
                    <a:lnL>
                      <a:noFill/>
                    </a:lnL>
                    <a:lnR>
                      <a:noFill/>
                    </a:lnR>
                    <a:lnT>
                      <a:noFill/>
                    </a:lnT>
                    <a:lnB>
                      <a:noFill/>
                    </a:lnB>
                    <a:solidFill>
                      <a:srgbClr val="F4B084"/>
                    </a:solidFill>
                  </a:tcP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1000" b="0" i="0" u="none" strike="noStrike">
                          <a:solidFill>
                            <a:srgbClr val="000000"/>
                          </a:solidFill>
                          <a:effectLst/>
                          <a:latin typeface="华文中宋" panose="02010600040101010101" pitchFamily="2" charset="-122"/>
                          <a:ea typeface="华文中宋" panose="02010600040101010101" pitchFamily="2" charset="-122"/>
                        </a:rPr>
                        <a:t>年化</a:t>
                      </a:r>
                      <a:r>
                        <a:rPr lang="en-US" sz="1000" b="0" i="0" u="none" strike="noStrike">
                          <a:solidFill>
                            <a:srgbClr val="000000"/>
                          </a:solidFill>
                          <a:effectLst/>
                          <a:latin typeface="华文中宋" panose="02010600040101010101" pitchFamily="2" charset="-122"/>
                          <a:ea typeface="华文中宋" panose="02010600040101010101" pitchFamily="2" charset="-122"/>
                        </a:rPr>
                        <a:t>IR</a:t>
                      </a:r>
                    </a:p>
                  </a:txBody>
                  <a:tcPr marL="4707" marR="4707" marT="4707" marB="0" anchor="ctr">
                    <a:lnL>
                      <a:noFill/>
                    </a:lnL>
                    <a:lnR>
                      <a:noFill/>
                    </a:lnR>
                    <a:lnT>
                      <a:noFill/>
                    </a:lnT>
                    <a:lnB>
                      <a:noFill/>
                    </a:lnB>
                    <a:solidFill>
                      <a:srgbClr val="F4B084"/>
                    </a:solidFill>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329651782"/>
                  </a:ext>
                </a:extLst>
              </a:tr>
              <a:tr h="31737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1000" b="0" i="0" u="none" strike="noStrike" dirty="0">
                          <a:solidFill>
                            <a:srgbClr val="000000"/>
                          </a:solidFill>
                          <a:effectLst/>
                          <a:latin typeface="华文中宋" panose="02010600040101010101" pitchFamily="2" charset="-122"/>
                          <a:ea typeface="华文中宋" panose="02010600040101010101" pitchFamily="2" charset="-122"/>
                        </a:rPr>
                        <a:t>近</a:t>
                      </a:r>
                      <a:r>
                        <a:rPr lang="en-US" altLang="zh-CN" sz="1000" b="0" i="0" u="none" strike="noStrike" dirty="0">
                          <a:solidFill>
                            <a:srgbClr val="000000"/>
                          </a:solidFill>
                          <a:effectLst/>
                          <a:latin typeface="华文中宋" panose="02010600040101010101" pitchFamily="2" charset="-122"/>
                          <a:ea typeface="华文中宋" panose="02010600040101010101" pitchFamily="2" charset="-122"/>
                        </a:rPr>
                        <a:t>1</a:t>
                      </a:r>
                      <a:r>
                        <a:rPr lang="zh-CN" altLang="en-US" sz="1000" b="0" i="0" u="none" strike="noStrike" dirty="0">
                          <a:solidFill>
                            <a:srgbClr val="000000"/>
                          </a:solidFill>
                          <a:effectLst/>
                          <a:latin typeface="华文中宋" panose="02010600040101010101" pitchFamily="2" charset="-122"/>
                          <a:ea typeface="华文中宋" panose="02010600040101010101" pitchFamily="2" charset="-122"/>
                        </a:rPr>
                        <a:t>年</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a:txBody>
                    <a:bodyPr/>
                    <a:lstStyle/>
                    <a:p>
                      <a:pPr algn="ctr" fontAlgn="ctr"/>
                      <a:r>
                        <a:rPr lang="zh-CN" altLang="en-US" sz="1000" b="0" i="0" u="none" strike="noStrike">
                          <a:solidFill>
                            <a:srgbClr val="000000"/>
                          </a:solidFill>
                          <a:effectLst/>
                          <a:latin typeface="华文中宋" panose="02010600040101010101" pitchFamily="2" charset="-122"/>
                          <a:ea typeface="华文中宋" panose="02010600040101010101" pitchFamily="2" charset="-122"/>
                        </a:rPr>
                        <a:t>近</a:t>
                      </a:r>
                      <a:r>
                        <a:rPr lang="en-US" altLang="zh-CN" sz="1000" b="0" i="0" u="none" strike="noStrike">
                          <a:solidFill>
                            <a:srgbClr val="000000"/>
                          </a:solidFill>
                          <a:effectLst/>
                          <a:latin typeface="华文中宋" panose="02010600040101010101" pitchFamily="2" charset="-122"/>
                          <a:ea typeface="华文中宋" panose="02010600040101010101" pitchFamily="2" charset="-122"/>
                        </a:rPr>
                        <a:t>2</a:t>
                      </a:r>
                      <a:r>
                        <a:rPr lang="zh-CN" altLang="en-US" sz="1000" b="0" i="0" u="none" strike="noStrike">
                          <a:solidFill>
                            <a:srgbClr val="000000"/>
                          </a:solidFill>
                          <a:effectLst/>
                          <a:latin typeface="华文中宋" panose="02010600040101010101" pitchFamily="2" charset="-122"/>
                          <a:ea typeface="华文中宋" panose="02010600040101010101" pitchFamily="2" charset="-122"/>
                        </a:rPr>
                        <a:t>年</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a:txBody>
                    <a:bodyPr/>
                    <a:lstStyle/>
                    <a:p>
                      <a:pPr algn="ctr" fontAlgn="ctr"/>
                      <a:r>
                        <a:rPr lang="zh-CN" altLang="en-US" sz="1000" b="0" i="0" u="none" strike="noStrike">
                          <a:solidFill>
                            <a:srgbClr val="000000"/>
                          </a:solidFill>
                          <a:effectLst/>
                          <a:latin typeface="华文中宋" panose="02010600040101010101" pitchFamily="2" charset="-122"/>
                          <a:ea typeface="华文中宋" panose="02010600040101010101" pitchFamily="2" charset="-122"/>
                        </a:rPr>
                        <a:t>近</a:t>
                      </a:r>
                      <a:r>
                        <a:rPr lang="en-US" altLang="zh-CN" sz="1000" b="0" i="0" u="none" strike="noStrike">
                          <a:solidFill>
                            <a:srgbClr val="000000"/>
                          </a:solidFill>
                          <a:effectLst/>
                          <a:latin typeface="华文中宋" panose="02010600040101010101" pitchFamily="2" charset="-122"/>
                          <a:ea typeface="华文中宋" panose="02010600040101010101" pitchFamily="2" charset="-122"/>
                        </a:rPr>
                        <a:t>3</a:t>
                      </a:r>
                      <a:r>
                        <a:rPr lang="zh-CN" altLang="en-US" sz="1000" b="0" i="0" u="none" strike="noStrike">
                          <a:solidFill>
                            <a:srgbClr val="000000"/>
                          </a:solidFill>
                          <a:effectLst/>
                          <a:latin typeface="华文中宋" panose="02010600040101010101" pitchFamily="2" charset="-122"/>
                          <a:ea typeface="华文中宋" panose="02010600040101010101" pitchFamily="2" charset="-122"/>
                        </a:rPr>
                        <a:t>年</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a:txBody>
                    <a:bodyPr/>
                    <a:lstStyle/>
                    <a:p>
                      <a:pPr algn="ctr" fontAlgn="ctr"/>
                      <a:r>
                        <a:rPr lang="zh-CN" altLang="en-US" sz="1000" b="0" i="0" u="none" strike="noStrike">
                          <a:solidFill>
                            <a:srgbClr val="000000"/>
                          </a:solidFill>
                          <a:effectLst/>
                          <a:latin typeface="华文中宋" panose="02010600040101010101" pitchFamily="2" charset="-122"/>
                          <a:ea typeface="华文中宋" panose="02010600040101010101" pitchFamily="2" charset="-122"/>
                        </a:rPr>
                        <a:t>近</a:t>
                      </a:r>
                      <a:r>
                        <a:rPr lang="en-US" altLang="zh-CN" sz="1000" b="0" i="0" u="none" strike="noStrike">
                          <a:solidFill>
                            <a:srgbClr val="000000"/>
                          </a:solidFill>
                          <a:effectLst/>
                          <a:latin typeface="华文中宋" panose="02010600040101010101" pitchFamily="2" charset="-122"/>
                          <a:ea typeface="华文中宋" panose="02010600040101010101" pitchFamily="2" charset="-122"/>
                        </a:rPr>
                        <a:t>1</a:t>
                      </a:r>
                      <a:r>
                        <a:rPr lang="zh-CN" altLang="en-US" sz="1000" b="0" i="0" u="none" strike="noStrike">
                          <a:solidFill>
                            <a:srgbClr val="000000"/>
                          </a:solidFill>
                          <a:effectLst/>
                          <a:latin typeface="华文中宋" panose="02010600040101010101" pitchFamily="2" charset="-122"/>
                          <a:ea typeface="华文中宋" panose="02010600040101010101" pitchFamily="2" charset="-122"/>
                        </a:rPr>
                        <a:t>年</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a:txBody>
                    <a:bodyPr/>
                    <a:lstStyle/>
                    <a:p>
                      <a:pPr algn="ctr" fontAlgn="ctr"/>
                      <a:r>
                        <a:rPr lang="zh-CN" altLang="en-US" sz="1000" b="0" i="0" u="none" strike="noStrike" dirty="0">
                          <a:solidFill>
                            <a:srgbClr val="000000"/>
                          </a:solidFill>
                          <a:effectLst/>
                          <a:latin typeface="华文中宋" panose="02010600040101010101" pitchFamily="2" charset="-122"/>
                          <a:ea typeface="华文中宋" panose="02010600040101010101" pitchFamily="2" charset="-122"/>
                        </a:rPr>
                        <a:t>近</a:t>
                      </a:r>
                      <a:r>
                        <a:rPr lang="en-US" altLang="zh-CN" sz="1000" b="0" i="0" u="none" strike="noStrike" dirty="0">
                          <a:solidFill>
                            <a:srgbClr val="000000"/>
                          </a:solidFill>
                          <a:effectLst/>
                          <a:latin typeface="华文中宋" panose="02010600040101010101" pitchFamily="2" charset="-122"/>
                          <a:ea typeface="华文中宋" panose="02010600040101010101" pitchFamily="2" charset="-122"/>
                        </a:rPr>
                        <a:t>2</a:t>
                      </a:r>
                      <a:r>
                        <a:rPr lang="zh-CN" altLang="en-US" sz="1000" b="0" i="0" u="none" strike="noStrike" dirty="0">
                          <a:solidFill>
                            <a:srgbClr val="000000"/>
                          </a:solidFill>
                          <a:effectLst/>
                          <a:latin typeface="华文中宋" panose="02010600040101010101" pitchFamily="2" charset="-122"/>
                          <a:ea typeface="华文中宋" panose="02010600040101010101" pitchFamily="2" charset="-122"/>
                        </a:rPr>
                        <a:t>年</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a:txBody>
                    <a:bodyPr/>
                    <a:lstStyle/>
                    <a:p>
                      <a:pPr algn="ctr" fontAlgn="ctr"/>
                      <a:r>
                        <a:rPr lang="zh-CN" altLang="en-US" sz="1000" b="0" i="0" u="none" strike="noStrike" dirty="0">
                          <a:solidFill>
                            <a:srgbClr val="000000"/>
                          </a:solidFill>
                          <a:effectLst/>
                          <a:latin typeface="华文中宋" panose="02010600040101010101" pitchFamily="2" charset="-122"/>
                          <a:ea typeface="华文中宋" panose="02010600040101010101" pitchFamily="2" charset="-122"/>
                        </a:rPr>
                        <a:t>近</a:t>
                      </a:r>
                      <a:r>
                        <a:rPr lang="en-US" altLang="zh-CN" sz="1000" b="0" i="0" u="none" strike="noStrike" dirty="0">
                          <a:solidFill>
                            <a:srgbClr val="000000"/>
                          </a:solidFill>
                          <a:effectLst/>
                          <a:latin typeface="华文中宋" panose="02010600040101010101" pitchFamily="2" charset="-122"/>
                          <a:ea typeface="华文中宋" panose="02010600040101010101" pitchFamily="2" charset="-122"/>
                        </a:rPr>
                        <a:t>3</a:t>
                      </a:r>
                      <a:r>
                        <a:rPr lang="zh-CN" altLang="en-US" sz="1000" b="0" i="0" u="none" strike="noStrike" dirty="0">
                          <a:solidFill>
                            <a:srgbClr val="000000"/>
                          </a:solidFill>
                          <a:effectLst/>
                          <a:latin typeface="华文中宋" panose="02010600040101010101" pitchFamily="2" charset="-122"/>
                          <a:ea typeface="华文中宋" panose="02010600040101010101" pitchFamily="2" charset="-122"/>
                        </a:rPr>
                        <a:t>年</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a:txBody>
                    <a:bodyPr/>
                    <a:lstStyle/>
                    <a:p>
                      <a:pPr algn="ctr" fontAlgn="ctr"/>
                      <a:r>
                        <a:rPr lang="zh-CN" altLang="en-US" sz="1000" b="0" i="0" u="none" strike="noStrike">
                          <a:solidFill>
                            <a:srgbClr val="000000"/>
                          </a:solidFill>
                          <a:effectLst/>
                          <a:latin typeface="华文中宋" panose="02010600040101010101" pitchFamily="2" charset="-122"/>
                          <a:ea typeface="华文中宋" panose="02010600040101010101" pitchFamily="2" charset="-122"/>
                        </a:rPr>
                        <a:t>近</a:t>
                      </a:r>
                      <a:r>
                        <a:rPr lang="en-US" altLang="zh-CN" sz="1000" b="0" i="0" u="none" strike="noStrike">
                          <a:solidFill>
                            <a:srgbClr val="000000"/>
                          </a:solidFill>
                          <a:effectLst/>
                          <a:latin typeface="华文中宋" panose="02010600040101010101" pitchFamily="2" charset="-122"/>
                          <a:ea typeface="华文中宋" panose="02010600040101010101" pitchFamily="2" charset="-122"/>
                        </a:rPr>
                        <a:t>1</a:t>
                      </a:r>
                      <a:r>
                        <a:rPr lang="zh-CN" altLang="en-US" sz="1000" b="0" i="0" u="none" strike="noStrike">
                          <a:solidFill>
                            <a:srgbClr val="000000"/>
                          </a:solidFill>
                          <a:effectLst/>
                          <a:latin typeface="华文中宋" panose="02010600040101010101" pitchFamily="2" charset="-122"/>
                          <a:ea typeface="华文中宋" panose="02010600040101010101" pitchFamily="2" charset="-122"/>
                        </a:rPr>
                        <a:t>年</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a:txBody>
                    <a:bodyPr/>
                    <a:lstStyle/>
                    <a:p>
                      <a:pPr algn="ctr" fontAlgn="ctr"/>
                      <a:r>
                        <a:rPr lang="zh-CN" altLang="en-US" sz="1000" b="0" i="0" u="none" strike="noStrike">
                          <a:solidFill>
                            <a:srgbClr val="000000"/>
                          </a:solidFill>
                          <a:effectLst/>
                          <a:latin typeface="华文中宋" panose="02010600040101010101" pitchFamily="2" charset="-122"/>
                          <a:ea typeface="华文中宋" panose="02010600040101010101" pitchFamily="2" charset="-122"/>
                        </a:rPr>
                        <a:t>近</a:t>
                      </a:r>
                      <a:r>
                        <a:rPr lang="en-US" altLang="zh-CN" sz="1000" b="0" i="0" u="none" strike="noStrike">
                          <a:solidFill>
                            <a:srgbClr val="000000"/>
                          </a:solidFill>
                          <a:effectLst/>
                          <a:latin typeface="华文中宋" panose="02010600040101010101" pitchFamily="2" charset="-122"/>
                          <a:ea typeface="华文中宋" panose="02010600040101010101" pitchFamily="2" charset="-122"/>
                        </a:rPr>
                        <a:t>2</a:t>
                      </a:r>
                      <a:r>
                        <a:rPr lang="zh-CN" altLang="en-US" sz="1000" b="0" i="0" u="none" strike="noStrike">
                          <a:solidFill>
                            <a:srgbClr val="000000"/>
                          </a:solidFill>
                          <a:effectLst/>
                          <a:latin typeface="华文中宋" panose="02010600040101010101" pitchFamily="2" charset="-122"/>
                          <a:ea typeface="华文中宋" panose="02010600040101010101" pitchFamily="2" charset="-122"/>
                        </a:rPr>
                        <a:t>年</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tc>
                  <a:txBody>
                    <a:bodyPr/>
                    <a:lstStyle/>
                    <a:p>
                      <a:pPr algn="ctr" fontAlgn="ctr"/>
                      <a:r>
                        <a:rPr lang="zh-CN" altLang="en-US" sz="1000" b="0" i="0" u="none" strike="noStrike" dirty="0">
                          <a:solidFill>
                            <a:srgbClr val="000000"/>
                          </a:solidFill>
                          <a:effectLst/>
                          <a:latin typeface="华文中宋" panose="02010600040101010101" pitchFamily="2" charset="-122"/>
                          <a:ea typeface="华文中宋" panose="02010600040101010101" pitchFamily="2" charset="-122"/>
                        </a:rPr>
                        <a:t>近</a:t>
                      </a:r>
                      <a:r>
                        <a:rPr lang="en-US" altLang="zh-CN" sz="1000" b="0" i="0" u="none" strike="noStrike" dirty="0">
                          <a:solidFill>
                            <a:srgbClr val="000000"/>
                          </a:solidFill>
                          <a:effectLst/>
                          <a:latin typeface="华文中宋" panose="02010600040101010101" pitchFamily="2" charset="-122"/>
                          <a:ea typeface="华文中宋" panose="02010600040101010101" pitchFamily="2" charset="-122"/>
                        </a:rPr>
                        <a:t>3</a:t>
                      </a:r>
                      <a:r>
                        <a:rPr lang="zh-CN" altLang="en-US" sz="1000" b="0" i="0" u="none" strike="noStrike" dirty="0">
                          <a:solidFill>
                            <a:srgbClr val="000000"/>
                          </a:solidFill>
                          <a:effectLst/>
                          <a:latin typeface="华文中宋" panose="02010600040101010101" pitchFamily="2" charset="-122"/>
                          <a:ea typeface="华文中宋" panose="02010600040101010101" pitchFamily="2" charset="-122"/>
                        </a:rPr>
                        <a:t>年</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4B084"/>
                    </a:solidFill>
                  </a:tcPr>
                </a:tc>
                <a:extLst>
                  <a:ext uri="{0D108BD9-81ED-4DB2-BD59-A6C34878D82A}">
                    <a16:rowId xmlns="" xmlns:a16="http://schemas.microsoft.com/office/drawing/2014/main" val="1886150732"/>
                  </a:ext>
                </a:extLst>
              </a:tr>
              <a:tr h="166603">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500</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015453.OF</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l" fontAlgn="ctr"/>
                      <a:r>
                        <a:rPr lang="zh-CN" altLang="en-US" sz="700" b="0" i="0" u="none" strike="noStrike">
                          <a:solidFill>
                            <a:srgbClr val="FF0000"/>
                          </a:solidFill>
                          <a:effectLst/>
                          <a:latin typeface="华文中宋" panose="02010600040101010101" pitchFamily="2" charset="-122"/>
                          <a:ea typeface="华文中宋" panose="02010600040101010101" pitchFamily="2" charset="-122"/>
                        </a:rPr>
                        <a:t>中欧中证</a:t>
                      </a:r>
                      <a:r>
                        <a:rPr lang="en-US" altLang="zh-CN" sz="700" b="0" i="0" u="none" strike="noStrike">
                          <a:solidFill>
                            <a:srgbClr val="FF0000"/>
                          </a:solidFill>
                          <a:effectLst/>
                          <a:latin typeface="华文中宋" panose="02010600040101010101" pitchFamily="2" charset="-122"/>
                          <a:ea typeface="华文中宋" panose="02010600040101010101" pitchFamily="2" charset="-122"/>
                        </a:rPr>
                        <a:t>500</a:t>
                      </a:r>
                      <a:r>
                        <a:rPr lang="zh-CN" altLang="en-US" sz="700" b="0" i="0" u="none" strike="noStrike">
                          <a:solidFill>
                            <a:srgbClr val="FF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FF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宋婷</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钱亚婷</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0.7%</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3.4%</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16.8%</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54.7%</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85.7%</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75.2%</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3.7%</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8.7%</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9.0%</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0.8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2.1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dirty="0">
                          <a:solidFill>
                            <a:srgbClr val="000000"/>
                          </a:solidFill>
                          <a:effectLst/>
                          <a:latin typeface="华文中宋" panose="02010600040101010101" pitchFamily="2" charset="-122"/>
                          <a:ea typeface="华文中宋" panose="02010600040101010101" pitchFamily="2" charset="-122"/>
                        </a:rPr>
                        <a:t>2.2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extLst>
                  <a:ext uri="{0D108BD9-81ED-4DB2-BD59-A6C34878D82A}">
                    <a16:rowId xmlns="" xmlns:a16="http://schemas.microsoft.com/office/drawing/2014/main" val="2524922484"/>
                  </a:ext>
                </a:extLst>
              </a:tr>
              <a:tr h="166603">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500</a:t>
                      </a:r>
                    </a:p>
                  </a:txBody>
                  <a:tcPr marL="4707" marR="4707" marT="4707" marB="0" anchor="ctr">
                    <a:lnL>
                      <a:noFill/>
                    </a:lnL>
                    <a:lnR>
                      <a:noFill/>
                    </a:lnR>
                    <a:lnT>
                      <a:noFill/>
                    </a:lnT>
                    <a:lnB>
                      <a:noFill/>
                    </a:lnB>
                    <a:solidFill>
                      <a:srgbClr val="FFF2CC"/>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001556.OF</a:t>
                      </a:r>
                    </a:p>
                  </a:txBody>
                  <a:tcPr marL="4707" marR="4707" marT="4707" marB="0" anchor="ctr">
                    <a:lnL>
                      <a:noFill/>
                    </a:lnL>
                    <a:lnR>
                      <a:noFill/>
                    </a:lnR>
                    <a:lnT>
                      <a:noFill/>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天弘中证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500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杨超</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0.4%</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5.3%</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21.9%</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61.3%</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83.4%</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64.6%</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7.6%</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6.0%</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3.3 </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2.4 </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dirty="0">
                          <a:solidFill>
                            <a:srgbClr val="000000"/>
                          </a:solidFill>
                          <a:effectLst/>
                          <a:latin typeface="华文中宋" panose="02010600040101010101" pitchFamily="2" charset="-122"/>
                          <a:ea typeface="华文中宋" panose="02010600040101010101" pitchFamily="2" charset="-122"/>
                        </a:rPr>
                        <a:t>1.8 </a:t>
                      </a:r>
                    </a:p>
                  </a:txBody>
                  <a:tcPr marL="4707" marR="4707" marT="4707" marB="0" anchor="ctr">
                    <a:lnL>
                      <a:noFill/>
                    </a:lnL>
                    <a:lnR>
                      <a:noFill/>
                    </a:lnR>
                    <a:lnT>
                      <a:noFill/>
                    </a:lnT>
                    <a:lnB>
                      <a:noFill/>
                    </a:lnB>
                    <a:solidFill>
                      <a:srgbClr val="FFF2CC"/>
                    </a:solidFill>
                  </a:tcPr>
                </a:tc>
                <a:extLst>
                  <a:ext uri="{0D108BD9-81ED-4DB2-BD59-A6C34878D82A}">
                    <a16:rowId xmlns="" xmlns:a16="http://schemas.microsoft.com/office/drawing/2014/main" val="3874830544"/>
                  </a:ext>
                </a:extLst>
              </a:tr>
              <a:tr h="166603">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500</a:t>
                      </a:r>
                    </a:p>
                  </a:txBody>
                  <a:tcPr marL="4707" marR="4707" marT="4707" marB="0" anchor="ctr">
                    <a:lnL>
                      <a:noFill/>
                    </a:lnL>
                    <a:lnR>
                      <a:noFill/>
                    </a:lnR>
                    <a:lnT>
                      <a:noFill/>
                    </a:lnT>
                    <a:lnB>
                      <a:noFill/>
                    </a:lnB>
                    <a:solidFill>
                      <a:srgbClr val="FFF2CC"/>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006593.OF</a:t>
                      </a:r>
                    </a:p>
                  </a:txBody>
                  <a:tcPr marL="4707" marR="4707" marT="4707" marB="0" anchor="ctr">
                    <a:lnL>
                      <a:noFill/>
                    </a:lnL>
                    <a:lnR>
                      <a:noFill/>
                    </a:lnR>
                    <a:lnT>
                      <a:noFill/>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博道中证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500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杨梦</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0.6%</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5.6%</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19.3%</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52.2%</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83.0%</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70.6%</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1.4%</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7.4%</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7.7%</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0.4 </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1.4 </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dirty="0">
                          <a:solidFill>
                            <a:srgbClr val="000000"/>
                          </a:solidFill>
                          <a:effectLst/>
                          <a:latin typeface="华文中宋" panose="02010600040101010101" pitchFamily="2" charset="-122"/>
                          <a:ea typeface="华文中宋" panose="02010600040101010101" pitchFamily="2" charset="-122"/>
                        </a:rPr>
                        <a:t>1.4 </a:t>
                      </a:r>
                    </a:p>
                  </a:txBody>
                  <a:tcPr marL="4707" marR="4707" marT="4707" marB="0" anchor="ctr">
                    <a:lnL>
                      <a:noFill/>
                    </a:lnL>
                    <a:lnR>
                      <a:noFill/>
                    </a:lnR>
                    <a:lnT>
                      <a:noFill/>
                    </a:lnT>
                    <a:lnB>
                      <a:noFill/>
                    </a:lnB>
                    <a:solidFill>
                      <a:srgbClr val="FFF2CC"/>
                    </a:solidFill>
                  </a:tcPr>
                </a:tc>
                <a:extLst>
                  <a:ext uri="{0D108BD9-81ED-4DB2-BD59-A6C34878D82A}">
                    <a16:rowId xmlns="" xmlns:a16="http://schemas.microsoft.com/office/drawing/2014/main" val="426473784"/>
                  </a:ext>
                </a:extLst>
              </a:tr>
              <a:tr h="266177">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500</a:t>
                      </a:r>
                    </a:p>
                  </a:txBody>
                  <a:tcPr marL="4707" marR="4707" marT="4707" marB="0" anchor="ctr">
                    <a:lnL>
                      <a:noFill/>
                    </a:lnL>
                    <a:lnR>
                      <a:noFill/>
                    </a:lnR>
                    <a:lnT>
                      <a:noFill/>
                    </a:lnT>
                    <a:lnB>
                      <a:noFill/>
                    </a:lnB>
                    <a:solidFill>
                      <a:srgbClr val="FFF2CC"/>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014155.OF</a:t>
                      </a:r>
                    </a:p>
                  </a:txBody>
                  <a:tcPr marL="4707" marR="4707" marT="4707" marB="0" anchor="ctr">
                    <a:lnL>
                      <a:noFill/>
                    </a:lnL>
                    <a:lnR>
                      <a:noFill/>
                    </a:lnR>
                    <a:lnT>
                      <a:noFill/>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国泰海通中证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500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邓雅琨</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胡崇海</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0.9%</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5.7%</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21.8%</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54.0%</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82.3%</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67.1%</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3.1%</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7.1%</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6.7%</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0.8 </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2.0 </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1.9 </a:t>
                      </a:r>
                    </a:p>
                  </a:txBody>
                  <a:tcPr marL="4707" marR="4707" marT="4707" marB="0" anchor="ctr">
                    <a:lnL>
                      <a:noFill/>
                    </a:lnL>
                    <a:lnR>
                      <a:noFill/>
                    </a:lnR>
                    <a:lnT>
                      <a:noFill/>
                    </a:lnT>
                    <a:lnB>
                      <a:noFill/>
                    </a:lnB>
                    <a:solidFill>
                      <a:srgbClr val="FFF2CC"/>
                    </a:solidFill>
                  </a:tcPr>
                </a:tc>
                <a:extLst>
                  <a:ext uri="{0D108BD9-81ED-4DB2-BD59-A6C34878D82A}">
                    <a16:rowId xmlns="" xmlns:a16="http://schemas.microsoft.com/office/drawing/2014/main" val="2146507990"/>
                  </a:ext>
                </a:extLst>
              </a:tr>
              <a:tr h="166603">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500</a:t>
                      </a:r>
                    </a:p>
                  </a:txBody>
                  <a:tcPr marL="4707" marR="4707" marT="4707" marB="0" anchor="ctr">
                    <a:lnL>
                      <a:noFill/>
                    </a:lnL>
                    <a:lnR>
                      <a:noFill/>
                    </a:lnR>
                    <a:lnT>
                      <a:noFill/>
                    </a:lnT>
                    <a:lnB>
                      <a:noFill/>
                    </a:lnB>
                    <a:solidFill>
                      <a:srgbClr val="FFF2CC"/>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008778.OF</a:t>
                      </a:r>
                    </a:p>
                  </a:txBody>
                  <a:tcPr marL="4707" marR="4707" marT="4707" marB="0" anchor="ctr">
                    <a:lnL>
                      <a:noFill/>
                    </a:lnL>
                    <a:lnR>
                      <a:noFill/>
                    </a:lnR>
                    <a:lnT>
                      <a:noFill/>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嘉实中证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500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龙昌伦</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-0.1%</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6.6%</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18.6%</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54.3%</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67.2%</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51.0%</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3.3%</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B050"/>
                          </a:solidFill>
                          <a:effectLst/>
                          <a:latin typeface="华文中宋" panose="02010600040101010101" pitchFamily="2" charset="-122"/>
                          <a:ea typeface="华文中宋" panose="02010600040101010101" pitchFamily="2" charset="-122"/>
                        </a:rPr>
                        <a:t>0.1%</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1.9%</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0.8 </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0.0 </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0.4 </a:t>
                      </a:r>
                    </a:p>
                  </a:txBody>
                  <a:tcPr marL="4707" marR="4707" marT="4707" marB="0" anchor="ctr">
                    <a:lnL>
                      <a:noFill/>
                    </a:lnL>
                    <a:lnR>
                      <a:noFill/>
                    </a:lnR>
                    <a:lnT>
                      <a:noFill/>
                    </a:lnT>
                    <a:lnB>
                      <a:noFill/>
                    </a:lnB>
                    <a:solidFill>
                      <a:srgbClr val="FFF2CC"/>
                    </a:solidFill>
                  </a:tcPr>
                </a:tc>
                <a:extLst>
                  <a:ext uri="{0D108BD9-81ED-4DB2-BD59-A6C34878D82A}">
                    <a16:rowId xmlns="" xmlns:a16="http://schemas.microsoft.com/office/drawing/2014/main" val="3080934302"/>
                  </a:ext>
                </a:extLst>
              </a:tr>
              <a:tr h="149368">
                <a:tc>
                  <a:txBody>
                    <a:bodyPr/>
                    <a:lstStyle/>
                    <a:p>
                      <a:pPr algn="l" fontAlgn="b"/>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en-US" sz="700" b="1" i="0" u="none" strike="noStrike">
                          <a:solidFill>
                            <a:srgbClr val="000000"/>
                          </a:solidFill>
                          <a:effectLst/>
                          <a:latin typeface="华文中宋" panose="02010600040101010101" pitchFamily="2" charset="-122"/>
                          <a:ea typeface="华文中宋" panose="02010600040101010101" pitchFamily="2" charset="-122"/>
                        </a:rPr>
                        <a:t>000905.SH</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zh-CN" altLang="en-US" sz="700" b="1"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1" i="0" u="none" strike="noStrike">
                          <a:solidFill>
                            <a:srgbClr val="000000"/>
                          </a:solidFill>
                          <a:effectLst/>
                          <a:latin typeface="华文中宋" panose="02010600040101010101" pitchFamily="2" charset="-122"/>
                          <a:ea typeface="华文中宋" panose="02010600040101010101" pitchFamily="2" charset="-122"/>
                        </a:rPr>
                        <a:t>500</a:t>
                      </a:r>
                    </a:p>
                  </a:txBody>
                  <a:tcPr marL="4707" marR="4707" marT="4707"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0.5%</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4.6%</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17.1%</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50.8%</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67.1%</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45.1%</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2528167437"/>
                  </a:ext>
                </a:extLst>
              </a:tr>
              <a:tr h="166603">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014201.OF</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l" fontAlgn="ctr"/>
                      <a:r>
                        <a:rPr lang="zh-CN" altLang="en-US" sz="700" b="0" i="0" u="none" strike="noStrike">
                          <a:solidFill>
                            <a:srgbClr val="FF0000"/>
                          </a:solidFill>
                          <a:effectLst/>
                          <a:latin typeface="华文中宋" panose="02010600040101010101" pitchFamily="2" charset="-122"/>
                          <a:ea typeface="华文中宋" panose="02010600040101010101" pitchFamily="2" charset="-122"/>
                        </a:rPr>
                        <a:t>天弘中证</a:t>
                      </a:r>
                      <a:r>
                        <a:rPr lang="en-US" altLang="zh-CN" sz="700" b="0" i="0" u="none" strike="noStrike">
                          <a:solidFill>
                            <a:srgbClr val="FF0000"/>
                          </a:solidFill>
                          <a:effectLst/>
                          <a:latin typeface="华文中宋" panose="02010600040101010101" pitchFamily="2" charset="-122"/>
                          <a:ea typeface="华文中宋" panose="02010600040101010101" pitchFamily="2" charset="-122"/>
                        </a:rPr>
                        <a:t>1000</a:t>
                      </a:r>
                      <a:r>
                        <a:rPr lang="zh-CN" altLang="en-US" sz="700" b="0" i="0" u="none" strike="noStrike">
                          <a:solidFill>
                            <a:srgbClr val="FF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FF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杨超</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1.8%</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4.8%</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18.8%</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50.4%</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96.7%</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72.1%</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10.6%</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14.2%</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11.7%</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3.1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3.9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3.2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E7E6E6"/>
                    </a:solidFill>
                  </a:tcPr>
                </a:tc>
                <a:extLst>
                  <a:ext uri="{0D108BD9-81ED-4DB2-BD59-A6C34878D82A}">
                    <a16:rowId xmlns="" xmlns:a16="http://schemas.microsoft.com/office/drawing/2014/main" val="2370661091"/>
                  </a:ext>
                </a:extLst>
              </a:tr>
              <a:tr h="166603">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p>
                  </a:txBody>
                  <a:tcPr marL="4707" marR="4707" marT="4707" marB="0" anchor="ctr">
                    <a:lnL>
                      <a:noFill/>
                    </a:lnL>
                    <a:lnR>
                      <a:noFill/>
                    </a:lnR>
                    <a:lnT>
                      <a:noFill/>
                    </a:lnT>
                    <a:lnB>
                      <a:noFill/>
                    </a:lnB>
                    <a:solidFill>
                      <a:srgbClr val="E7E6E6"/>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017644.OF</a:t>
                      </a:r>
                    </a:p>
                  </a:txBody>
                  <a:tcPr marL="4707" marR="4707" marT="4707" marB="0" anchor="ctr">
                    <a:lnL>
                      <a:noFill/>
                    </a:lnL>
                    <a:lnR>
                      <a:noFill/>
                    </a:lnR>
                    <a:lnT>
                      <a:noFill/>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博道中证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杨梦</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1.4%</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4.6%</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19.1%</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53.9%</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103.9%</a:t>
                      </a:r>
                    </a:p>
                  </a:txBody>
                  <a:tcPr marL="4707" marR="4707" marT="4707" marB="0" anchor="ctr">
                    <a:lnL>
                      <a:noFill/>
                    </a:lnL>
                    <a:lnR>
                      <a:noFill/>
                    </a:lnR>
                    <a:lnT>
                      <a:noFill/>
                    </a:lnT>
                    <a:lnB>
                      <a:noFill/>
                    </a:lnB>
                    <a:solidFill>
                      <a:srgbClr val="E7E6E6"/>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13.9%</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17.2%</a:t>
                      </a:r>
                    </a:p>
                  </a:txBody>
                  <a:tcPr marL="4707" marR="4707" marT="4707" marB="0" anchor="ctr">
                    <a:lnL>
                      <a:noFill/>
                    </a:lnL>
                    <a:lnR>
                      <a:noFill/>
                    </a:lnR>
                    <a:lnT>
                      <a:noFill/>
                    </a:lnT>
                    <a:lnB>
                      <a:noFill/>
                    </a:lnB>
                    <a:solidFill>
                      <a:srgbClr val="E7E6E6"/>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3.1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2.9 </a:t>
                      </a:r>
                    </a:p>
                  </a:txBody>
                  <a:tcPr marL="4707" marR="4707" marT="4707" marB="0" anchor="ctr">
                    <a:lnL>
                      <a:noFill/>
                    </a:lnL>
                    <a:lnR>
                      <a:noFill/>
                    </a:lnR>
                    <a:lnT>
                      <a:noFill/>
                    </a:lnT>
                    <a:lnB>
                      <a:noFill/>
                    </a:lnB>
                    <a:solidFill>
                      <a:srgbClr val="E7E6E6"/>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E7E6E6"/>
                    </a:solidFill>
                  </a:tcPr>
                </a:tc>
                <a:extLst>
                  <a:ext uri="{0D108BD9-81ED-4DB2-BD59-A6C34878D82A}">
                    <a16:rowId xmlns="" xmlns:a16="http://schemas.microsoft.com/office/drawing/2014/main" val="3995323857"/>
                  </a:ext>
                </a:extLst>
              </a:tr>
              <a:tr h="266177">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p>
                  </a:txBody>
                  <a:tcPr marL="4707" marR="4707" marT="4707" marB="0" anchor="ctr">
                    <a:lnL>
                      <a:noFill/>
                    </a:lnL>
                    <a:lnR>
                      <a:noFill/>
                    </a:lnR>
                    <a:lnT>
                      <a:noFill/>
                    </a:lnT>
                    <a:lnB>
                      <a:noFill/>
                    </a:lnB>
                    <a:solidFill>
                      <a:srgbClr val="E7E6E6"/>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015867.OF</a:t>
                      </a:r>
                    </a:p>
                  </a:txBody>
                  <a:tcPr marL="4707" marR="4707" marT="4707" marB="0" anchor="ctr">
                    <a:lnL>
                      <a:noFill/>
                    </a:lnL>
                    <a:lnR>
                      <a:noFill/>
                    </a:lnR>
                    <a:lnT>
                      <a:noFill/>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国泰海通中证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胡崇海</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刘晟</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1.7%</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4.2%</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19.9%</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52.7%</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104.3%</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80.2%</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12.7%</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17.4%</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13.7%</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3.8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4.8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3.9 </a:t>
                      </a:r>
                    </a:p>
                  </a:txBody>
                  <a:tcPr marL="4707" marR="4707" marT="4707" marB="0" anchor="ctr">
                    <a:lnL>
                      <a:noFill/>
                    </a:lnL>
                    <a:lnR>
                      <a:noFill/>
                    </a:lnR>
                    <a:lnT>
                      <a:noFill/>
                    </a:lnT>
                    <a:lnB>
                      <a:noFill/>
                    </a:lnB>
                    <a:solidFill>
                      <a:srgbClr val="E7E6E6"/>
                    </a:solidFill>
                  </a:tcPr>
                </a:tc>
                <a:extLst>
                  <a:ext uri="{0D108BD9-81ED-4DB2-BD59-A6C34878D82A}">
                    <a16:rowId xmlns="" xmlns:a16="http://schemas.microsoft.com/office/drawing/2014/main" val="1214455824"/>
                  </a:ext>
                </a:extLst>
              </a:tr>
              <a:tr h="266177">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p>
                  </a:txBody>
                  <a:tcPr marL="4707" marR="4707" marT="4707" marB="0" anchor="ctr">
                    <a:lnL>
                      <a:noFill/>
                    </a:lnL>
                    <a:lnR>
                      <a:noFill/>
                    </a:lnR>
                    <a:lnT>
                      <a:noFill/>
                    </a:lnT>
                    <a:lnB>
                      <a:noFill/>
                    </a:lnB>
                    <a:solidFill>
                      <a:srgbClr val="E7E6E6"/>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019240.OF</a:t>
                      </a:r>
                    </a:p>
                  </a:txBody>
                  <a:tcPr marL="4707" marR="4707" marT="4707" marB="0" anchor="ctr">
                    <a:lnL>
                      <a:noFill/>
                    </a:lnL>
                    <a:lnR>
                      <a:noFill/>
                    </a:lnR>
                    <a:lnT>
                      <a:noFill/>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华泰柏瑞中证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笪篁</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1.2%</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2.8%</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18.8%</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55.3%</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102.6%</a:t>
                      </a:r>
                    </a:p>
                  </a:txBody>
                  <a:tcPr marL="4707" marR="4707" marT="4707" marB="0" anchor="ctr">
                    <a:lnL>
                      <a:noFill/>
                    </a:lnL>
                    <a:lnR>
                      <a:noFill/>
                    </a:lnR>
                    <a:lnT>
                      <a:noFill/>
                    </a:lnT>
                    <a:lnB>
                      <a:noFill/>
                    </a:lnB>
                    <a:solidFill>
                      <a:srgbClr val="E7E6E6"/>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15.2%</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16.7%</a:t>
                      </a:r>
                    </a:p>
                  </a:txBody>
                  <a:tcPr marL="4707" marR="4707" marT="4707" marB="0" anchor="ctr">
                    <a:lnL>
                      <a:noFill/>
                    </a:lnL>
                    <a:lnR>
                      <a:noFill/>
                    </a:lnR>
                    <a:lnT>
                      <a:noFill/>
                    </a:lnT>
                    <a:lnB>
                      <a:noFill/>
                    </a:lnB>
                    <a:solidFill>
                      <a:srgbClr val="E7E6E6"/>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3.8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3.9 </a:t>
                      </a:r>
                    </a:p>
                  </a:txBody>
                  <a:tcPr marL="4707" marR="4707" marT="4707" marB="0" anchor="ctr">
                    <a:lnL>
                      <a:noFill/>
                    </a:lnL>
                    <a:lnR>
                      <a:noFill/>
                    </a:lnR>
                    <a:lnT>
                      <a:noFill/>
                    </a:lnT>
                    <a:lnB>
                      <a:noFill/>
                    </a:lnB>
                    <a:solidFill>
                      <a:srgbClr val="E7E6E6"/>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E7E6E6"/>
                    </a:solidFill>
                  </a:tcPr>
                </a:tc>
                <a:extLst>
                  <a:ext uri="{0D108BD9-81ED-4DB2-BD59-A6C34878D82A}">
                    <a16:rowId xmlns="" xmlns:a16="http://schemas.microsoft.com/office/drawing/2014/main" val="2980960497"/>
                  </a:ext>
                </a:extLst>
              </a:tr>
              <a:tr h="266177">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p>
                  </a:txBody>
                  <a:tcPr marL="4707" marR="4707" marT="4707" marB="0" anchor="ctr">
                    <a:lnL>
                      <a:noFill/>
                    </a:lnL>
                    <a:lnR>
                      <a:noFill/>
                    </a:lnR>
                    <a:lnT>
                      <a:noFill/>
                    </a:lnT>
                    <a:lnB>
                      <a:noFill/>
                    </a:lnB>
                    <a:solidFill>
                      <a:srgbClr val="E7E6E6"/>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017953.OF</a:t>
                      </a:r>
                    </a:p>
                  </a:txBody>
                  <a:tcPr marL="4707" marR="4707" marT="4707" marB="0" anchor="ctr">
                    <a:lnL>
                      <a:noFill/>
                    </a:lnL>
                    <a:lnR>
                      <a:noFill/>
                    </a:lnR>
                    <a:lnT>
                      <a:noFill/>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汇添富中证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王星星</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许一尊</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1.9%</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2.7%</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20.6%</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57.2%</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110.0%</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84.5%</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17.0%</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19.7%</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14.8%</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3.8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3.8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2.6 </a:t>
                      </a:r>
                    </a:p>
                  </a:txBody>
                  <a:tcPr marL="4707" marR="4707" marT="4707" marB="0" anchor="ctr">
                    <a:lnL>
                      <a:noFill/>
                    </a:lnL>
                    <a:lnR>
                      <a:noFill/>
                    </a:lnR>
                    <a:lnT>
                      <a:noFill/>
                    </a:lnT>
                    <a:lnB>
                      <a:noFill/>
                    </a:lnB>
                    <a:solidFill>
                      <a:srgbClr val="E7E6E6"/>
                    </a:solidFill>
                  </a:tcPr>
                </a:tc>
                <a:extLst>
                  <a:ext uri="{0D108BD9-81ED-4DB2-BD59-A6C34878D82A}">
                    <a16:rowId xmlns="" xmlns:a16="http://schemas.microsoft.com/office/drawing/2014/main" val="4227988106"/>
                  </a:ext>
                </a:extLst>
              </a:tr>
              <a:tr h="166603">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p>
                  </a:txBody>
                  <a:tcPr marL="4707" marR="4707" marT="4707" marB="0" anchor="ctr">
                    <a:lnL>
                      <a:noFill/>
                    </a:lnL>
                    <a:lnR>
                      <a:noFill/>
                    </a:lnR>
                    <a:lnT>
                      <a:noFill/>
                    </a:lnT>
                    <a:lnB>
                      <a:noFill/>
                    </a:lnB>
                    <a:solidFill>
                      <a:srgbClr val="E7E6E6"/>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017919.OF</a:t>
                      </a:r>
                    </a:p>
                  </a:txBody>
                  <a:tcPr marL="4707" marR="4707" marT="4707" marB="0" anchor="ctr">
                    <a:lnL>
                      <a:noFill/>
                    </a:lnL>
                    <a:lnR>
                      <a:noFill/>
                    </a:lnR>
                    <a:lnT>
                      <a:noFill/>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中欧中证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宋婷</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钱亚婷</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1.3%</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0.8%</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13.2%</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44.9%</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76.0%</a:t>
                      </a:r>
                    </a:p>
                  </a:txBody>
                  <a:tcPr marL="4707" marR="4707" marT="4707" marB="0" anchor="ctr">
                    <a:lnL>
                      <a:noFill/>
                    </a:lnL>
                    <a:lnR>
                      <a:noFill/>
                    </a:lnR>
                    <a:lnT>
                      <a:noFill/>
                    </a:lnT>
                    <a:lnB>
                      <a:noFill/>
                    </a:lnB>
                    <a:solidFill>
                      <a:srgbClr val="E7E6E6"/>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5.4%</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5.1%</a:t>
                      </a:r>
                    </a:p>
                  </a:txBody>
                  <a:tcPr marL="4707" marR="4707" marT="4707" marB="0" anchor="ctr">
                    <a:lnL>
                      <a:noFill/>
                    </a:lnL>
                    <a:lnR>
                      <a:noFill/>
                    </a:lnR>
                    <a:lnT>
                      <a:noFill/>
                    </a:lnT>
                    <a:lnB>
                      <a:noFill/>
                    </a:lnB>
                    <a:solidFill>
                      <a:srgbClr val="E7E6E6"/>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1.3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1.1 </a:t>
                      </a:r>
                    </a:p>
                  </a:txBody>
                  <a:tcPr marL="4707" marR="4707" marT="4707" marB="0" anchor="ctr">
                    <a:lnL>
                      <a:noFill/>
                    </a:lnL>
                    <a:lnR>
                      <a:noFill/>
                    </a:lnR>
                    <a:lnT>
                      <a:noFill/>
                    </a:lnT>
                    <a:lnB>
                      <a:noFill/>
                    </a:lnB>
                    <a:solidFill>
                      <a:srgbClr val="E7E6E6"/>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E7E6E6"/>
                    </a:solidFill>
                  </a:tcPr>
                </a:tc>
                <a:extLst>
                  <a:ext uri="{0D108BD9-81ED-4DB2-BD59-A6C34878D82A}">
                    <a16:rowId xmlns="" xmlns:a16="http://schemas.microsoft.com/office/drawing/2014/main" val="4268124445"/>
                  </a:ext>
                </a:extLst>
              </a:tr>
              <a:tr h="266177">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p>
                  </a:txBody>
                  <a:tcPr marL="4707" marR="4707" marT="4707" marB="0" anchor="ctr">
                    <a:lnL>
                      <a:noFill/>
                    </a:lnL>
                    <a:lnR>
                      <a:noFill/>
                    </a:lnR>
                    <a:lnT>
                      <a:noFill/>
                    </a:lnT>
                    <a:lnB>
                      <a:noFill/>
                    </a:lnB>
                    <a:solidFill>
                      <a:srgbClr val="E7E6E6"/>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016776.OF</a:t>
                      </a:r>
                    </a:p>
                  </a:txBody>
                  <a:tcPr marL="4707" marR="4707" marT="4707" marB="0" anchor="ctr">
                    <a:lnL>
                      <a:noFill/>
                    </a:lnL>
                    <a:lnR>
                      <a:noFill/>
                    </a:lnR>
                    <a:lnT>
                      <a:noFill/>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嘉实中证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指数增强发起式</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E7E6E6"/>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龙昌伦</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0.1%</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4.0%</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13.4%</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46.0%</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67.5%</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47.9%</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6.4%</a:t>
                      </a:r>
                    </a:p>
                  </a:txBody>
                  <a:tcPr marL="4707" marR="4707" marT="4707" marB="0" anchor="ctr">
                    <a:lnL>
                      <a:noFill/>
                    </a:lnL>
                    <a:lnR>
                      <a:noFill/>
                    </a:lnR>
                    <a:lnT>
                      <a:noFill/>
                    </a:lnT>
                    <a:lnB>
                      <a:noFill/>
                    </a:lnB>
                    <a:solidFill>
                      <a:srgbClr val="E7E6E6"/>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4.9%</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1.5 </a:t>
                      </a:r>
                    </a:p>
                  </a:txBody>
                  <a:tcPr marL="4707" marR="4707" marT="4707" marB="0" anchor="ctr">
                    <a:lnL>
                      <a:noFill/>
                    </a:lnL>
                    <a:lnR>
                      <a:noFill/>
                    </a:lnR>
                    <a:lnT>
                      <a:noFill/>
                    </a:lnT>
                    <a:lnB>
                      <a:noFill/>
                    </a:lnB>
                    <a:solidFill>
                      <a:srgbClr val="E7E6E6"/>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E7E6E6"/>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 </a:t>
                      </a:r>
                    </a:p>
                  </a:txBody>
                  <a:tcPr marL="4707" marR="4707" marT="4707" marB="0" anchor="ctr">
                    <a:lnL>
                      <a:noFill/>
                    </a:lnL>
                    <a:lnR>
                      <a:noFill/>
                    </a:lnR>
                    <a:lnT>
                      <a:noFill/>
                    </a:lnT>
                    <a:lnB>
                      <a:noFill/>
                    </a:lnB>
                    <a:solidFill>
                      <a:srgbClr val="E7E6E6"/>
                    </a:solidFill>
                  </a:tcPr>
                </a:tc>
                <a:extLst>
                  <a:ext uri="{0D108BD9-81ED-4DB2-BD59-A6C34878D82A}">
                    <a16:rowId xmlns="" xmlns:a16="http://schemas.microsoft.com/office/drawing/2014/main" val="3815067523"/>
                  </a:ext>
                </a:extLst>
              </a:tr>
              <a:tr h="172347">
                <a:tc>
                  <a:txBody>
                    <a:bodyPr/>
                    <a:lstStyle/>
                    <a:p>
                      <a:pPr algn="l" fontAlgn="b"/>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en-US" sz="700" b="1" i="0" u="none" strike="noStrike">
                          <a:solidFill>
                            <a:srgbClr val="000000"/>
                          </a:solidFill>
                          <a:effectLst/>
                          <a:latin typeface="华文中宋" panose="02010600040101010101" pitchFamily="2" charset="-122"/>
                          <a:ea typeface="华文中宋" panose="02010600040101010101" pitchFamily="2" charset="-122"/>
                        </a:rPr>
                        <a:t>000852.SH</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zh-CN" altLang="en-US" sz="700" b="1"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1" i="0" u="none" strike="noStrike">
                          <a:solidFill>
                            <a:srgbClr val="000000"/>
                          </a:solidFill>
                          <a:effectLst/>
                          <a:latin typeface="华文中宋" panose="02010600040101010101" pitchFamily="2" charset="-122"/>
                          <a:ea typeface="华文中宋" panose="02010600040101010101" pitchFamily="2" charset="-122"/>
                        </a:rPr>
                        <a:t>1000</a:t>
                      </a:r>
                    </a:p>
                  </a:txBody>
                  <a:tcPr marL="4707" marR="4707" marT="4707"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0.2%</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2.5%</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13.5%</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39.2%</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65.3%</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32.0%</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295240611"/>
                  </a:ext>
                </a:extLst>
              </a:tr>
              <a:tr h="266177">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2000</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019923.OF</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l" fontAlgn="ctr"/>
                      <a:r>
                        <a:rPr lang="zh-CN" altLang="en-US" sz="700" b="0" i="0" u="none" strike="noStrike">
                          <a:solidFill>
                            <a:srgbClr val="FF0000"/>
                          </a:solidFill>
                          <a:effectLst/>
                          <a:latin typeface="华文中宋" panose="02010600040101010101" pitchFamily="2" charset="-122"/>
                          <a:ea typeface="华文中宋" panose="02010600040101010101" pitchFamily="2" charset="-122"/>
                        </a:rPr>
                        <a:t>华泰柏瑞中证</a:t>
                      </a:r>
                      <a:r>
                        <a:rPr lang="en-US" altLang="zh-CN" sz="700" b="0" i="0" u="none" strike="noStrike">
                          <a:solidFill>
                            <a:srgbClr val="FF0000"/>
                          </a:solidFill>
                          <a:effectLst/>
                          <a:latin typeface="华文中宋" panose="02010600040101010101" pitchFamily="2" charset="-122"/>
                          <a:ea typeface="华文中宋" panose="02010600040101010101" pitchFamily="2" charset="-122"/>
                        </a:rPr>
                        <a:t>2000</a:t>
                      </a:r>
                      <a:r>
                        <a:rPr lang="zh-CN" altLang="en-US" sz="700" b="0" i="0" u="none" strike="noStrike">
                          <a:solidFill>
                            <a:srgbClr val="FF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FF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孔令烨</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2.4%</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1.8%</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16.7%</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49.9%</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136.9%</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16.6%</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24.2%</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extLst>
                  <a:ext uri="{0D108BD9-81ED-4DB2-BD59-A6C34878D82A}">
                    <a16:rowId xmlns="" xmlns:a16="http://schemas.microsoft.com/office/drawing/2014/main" val="3449617417"/>
                  </a:ext>
                </a:extLst>
              </a:tr>
              <a:tr h="166603">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2000</a:t>
                      </a:r>
                    </a:p>
                  </a:txBody>
                  <a:tcPr marL="4707" marR="4707" marT="4707" marB="0" anchor="ctr">
                    <a:lnL>
                      <a:noFill/>
                    </a:lnL>
                    <a:lnR>
                      <a:noFill/>
                    </a:lnR>
                    <a:lnT>
                      <a:noFill/>
                    </a:lnT>
                    <a:lnB>
                      <a:noFill/>
                    </a:lnB>
                    <a:solidFill>
                      <a:srgbClr val="FFF2CC"/>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019918.OF</a:t>
                      </a:r>
                    </a:p>
                  </a:txBody>
                  <a:tcPr marL="4707" marR="4707" marT="4707" marB="0" anchor="ctr">
                    <a:lnL>
                      <a:noFill/>
                    </a:lnL>
                    <a:lnR>
                      <a:noFill/>
                    </a:lnR>
                    <a:lnT>
                      <a:noFill/>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招商中证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2000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王平</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1.8%</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3.0%</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20.2%</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49.5%</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124.0%</a:t>
                      </a:r>
                    </a:p>
                  </a:txBody>
                  <a:tcPr marL="4707" marR="4707" marT="4707" marB="0" anchor="ctr">
                    <a:lnL>
                      <a:noFill/>
                    </a:lnL>
                    <a:lnR>
                      <a:noFill/>
                    </a:lnR>
                    <a:lnT>
                      <a:noFill/>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16.2%</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19.1%</a:t>
                      </a:r>
                    </a:p>
                  </a:txBody>
                  <a:tcPr marL="4707" marR="4707" marT="4707" marB="0" anchor="ctr">
                    <a:lnL>
                      <a:noFill/>
                    </a:lnL>
                    <a:lnR>
                      <a:noFill/>
                    </a:lnR>
                    <a:lnT>
                      <a:noFill/>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FFF2CC"/>
                    </a:solidFill>
                  </a:tcPr>
                </a:tc>
                <a:extLst>
                  <a:ext uri="{0D108BD9-81ED-4DB2-BD59-A6C34878D82A}">
                    <a16:rowId xmlns="" xmlns:a16="http://schemas.microsoft.com/office/drawing/2014/main" val="2970456928"/>
                  </a:ext>
                </a:extLst>
              </a:tr>
              <a:tr h="166603">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2000</a:t>
                      </a:r>
                    </a:p>
                  </a:txBody>
                  <a:tcPr marL="4707" marR="4707" marT="4707" marB="0" anchor="ctr">
                    <a:lnL>
                      <a:noFill/>
                    </a:lnL>
                    <a:lnR>
                      <a:noFill/>
                    </a:lnR>
                    <a:lnT>
                      <a:noFill/>
                    </a:lnT>
                    <a:lnB>
                      <a:noFill/>
                    </a:lnB>
                    <a:solidFill>
                      <a:srgbClr val="FFF2CC"/>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019920.OF</a:t>
                      </a:r>
                    </a:p>
                  </a:txBody>
                  <a:tcPr marL="4707" marR="4707" marT="4707" marB="0" anchor="ctr">
                    <a:lnL>
                      <a:noFill/>
                    </a:lnL>
                    <a:lnR>
                      <a:noFill/>
                    </a:lnR>
                    <a:lnT>
                      <a:noFill/>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万家中证</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2000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FFF2CC"/>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乔亮</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2.4%</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3.8%</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19.3%</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52.1%</a:t>
                      </a:r>
                    </a:p>
                  </a:txBody>
                  <a:tcPr marL="4707" marR="4707" marT="4707" marB="0" anchor="ctr">
                    <a:lnL>
                      <a:noFill/>
                    </a:lnL>
                    <a:lnR>
                      <a:noFill/>
                    </a:lnR>
                    <a:lnT>
                      <a:noFill/>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FFF2CC"/>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18.7%</a:t>
                      </a:r>
                    </a:p>
                  </a:txBody>
                  <a:tcPr marL="4707" marR="4707" marT="4707" marB="0" anchor="ctr">
                    <a:lnL>
                      <a:noFill/>
                    </a:lnL>
                    <a:lnR>
                      <a:noFill/>
                    </a:lnR>
                    <a:lnT>
                      <a:noFill/>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FFF2CC"/>
                    </a:solidFill>
                  </a:tcPr>
                </a:tc>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a:noFill/>
                    </a:lnB>
                    <a:solidFill>
                      <a:srgbClr val="FFF2CC"/>
                    </a:solidFill>
                  </a:tcPr>
                </a:tc>
                <a:extLst>
                  <a:ext uri="{0D108BD9-81ED-4DB2-BD59-A6C34878D82A}">
                    <a16:rowId xmlns="" xmlns:a16="http://schemas.microsoft.com/office/drawing/2014/main" val="3524920400"/>
                  </a:ext>
                </a:extLst>
              </a:tr>
              <a:tr h="172347">
                <a:tc>
                  <a:txBody>
                    <a:bodyPr/>
                    <a:lstStyle/>
                    <a:p>
                      <a:pPr algn="l" fontAlgn="b"/>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en-US" sz="700" b="1" i="0" u="none" strike="noStrike">
                          <a:solidFill>
                            <a:srgbClr val="000000"/>
                          </a:solidFill>
                          <a:effectLst/>
                          <a:latin typeface="华文中宋" panose="02010600040101010101" pitchFamily="2" charset="-122"/>
                          <a:ea typeface="华文中宋" panose="02010600040101010101" pitchFamily="2" charset="-122"/>
                        </a:rPr>
                        <a:t>932000.CSI</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zh-CN" altLang="en-US" sz="700" b="1" i="0" u="none" strike="noStrike">
                          <a:solidFill>
                            <a:srgbClr val="000000"/>
                          </a:solidFill>
                          <a:effectLst/>
                          <a:latin typeface="华文中宋" panose="02010600040101010101" pitchFamily="2" charset="-122"/>
                          <a:ea typeface="华文中宋" panose="02010600040101010101" pitchFamily="2" charset="-122"/>
                        </a:rPr>
                        <a:t>中证</a:t>
                      </a:r>
                      <a:r>
                        <a:rPr lang="en-US" altLang="zh-CN" sz="700" b="1" i="0" u="none" strike="noStrike">
                          <a:solidFill>
                            <a:srgbClr val="000000"/>
                          </a:solidFill>
                          <a:effectLst/>
                          <a:latin typeface="华文中宋" panose="02010600040101010101" pitchFamily="2" charset="-122"/>
                          <a:ea typeface="华文中宋" panose="02010600040101010101" pitchFamily="2" charset="-122"/>
                        </a:rPr>
                        <a:t>2000</a:t>
                      </a:r>
                    </a:p>
                  </a:txBody>
                  <a:tcPr marL="4707" marR="4707" marT="4707"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1.2%</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0.5%</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8.9%</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32.3%</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80.9%</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42.0%</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92434589"/>
                  </a:ext>
                </a:extLst>
              </a:tr>
              <a:tr h="166603">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沪深</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300</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007044.OF</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l" fontAlgn="ctr"/>
                      <a:r>
                        <a:rPr lang="zh-CN" altLang="en-US" sz="700" b="0" i="0" u="none" strike="noStrike">
                          <a:solidFill>
                            <a:srgbClr val="FF0000"/>
                          </a:solidFill>
                          <a:effectLst/>
                          <a:latin typeface="华文中宋" panose="02010600040101010101" pitchFamily="2" charset="-122"/>
                          <a:ea typeface="华文中宋" panose="02010600040101010101" pitchFamily="2" charset="-122"/>
                        </a:rPr>
                        <a:t>博道沪深</a:t>
                      </a:r>
                      <a:r>
                        <a:rPr lang="en-US" altLang="zh-CN" sz="700" b="0" i="0" u="none" strike="noStrike">
                          <a:solidFill>
                            <a:srgbClr val="FF0000"/>
                          </a:solidFill>
                          <a:effectLst/>
                          <a:latin typeface="华文中宋" panose="02010600040101010101" pitchFamily="2" charset="-122"/>
                          <a:ea typeface="华文中宋" panose="02010600040101010101" pitchFamily="2" charset="-122"/>
                        </a:rPr>
                        <a:t>300</a:t>
                      </a:r>
                      <a:r>
                        <a:rPr lang="zh-CN" altLang="en-US" sz="700" b="0" i="0" u="none" strike="noStrike">
                          <a:solidFill>
                            <a:srgbClr val="FF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FF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杨梦</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-0.7%</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0.3%</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9.1%</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31.3%</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51.4%</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52.2%</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6.6%</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6.9%</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7.9%</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2.1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1.8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2.0 </a:t>
                      </a:r>
                    </a:p>
                  </a:txBody>
                  <a:tcPr marL="4707" marR="4707" marT="4707" marB="0" anchor="ctr">
                    <a:lnL>
                      <a:noFill/>
                    </a:lnL>
                    <a:lnR>
                      <a:noFill/>
                    </a:lnR>
                    <a:lnT w="12700" cap="flat" cmpd="sng" algn="ctr">
                      <a:solidFill>
                        <a:srgbClr val="000000"/>
                      </a:solidFill>
                      <a:prstDash val="solid"/>
                      <a:round/>
                      <a:headEnd type="none" w="med" len="med"/>
                      <a:tailEnd type="none" w="med" len="med"/>
                    </a:lnT>
                    <a:lnB>
                      <a:noFill/>
                    </a:lnB>
                    <a:solidFill>
                      <a:srgbClr val="DDEBF7"/>
                    </a:solidFill>
                  </a:tcPr>
                </a:tc>
                <a:extLst>
                  <a:ext uri="{0D108BD9-81ED-4DB2-BD59-A6C34878D82A}">
                    <a16:rowId xmlns="" xmlns:a16="http://schemas.microsoft.com/office/drawing/2014/main" val="595658804"/>
                  </a:ext>
                </a:extLst>
              </a:tr>
              <a:tr h="266177">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沪深</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300</a:t>
                      </a:r>
                    </a:p>
                  </a:txBody>
                  <a:tcPr marL="4707" marR="4707" marT="4707" marB="0" anchor="ctr">
                    <a:lnL>
                      <a:noFill/>
                    </a:lnL>
                    <a:lnR>
                      <a:noFill/>
                    </a:lnR>
                    <a:lnT>
                      <a:noFill/>
                    </a:lnT>
                    <a:lnB>
                      <a:noFill/>
                    </a:lnB>
                    <a:solidFill>
                      <a:srgbClr val="DDEBF7"/>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003957.OF</a:t>
                      </a:r>
                    </a:p>
                  </a:txBody>
                  <a:tcPr marL="4707" marR="4707" marT="4707" marB="0" anchor="ctr">
                    <a:lnL>
                      <a:noFill/>
                    </a:lnL>
                    <a:lnR>
                      <a:noFill/>
                    </a:lnR>
                    <a:lnT>
                      <a:noFill/>
                    </a:lnT>
                    <a:lnB>
                      <a:noFill/>
                    </a:lnB>
                    <a:solidFill>
                      <a:srgbClr val="DDEBF7"/>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安信量化精选沪深</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300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DDEBF7"/>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施荣盛</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-0.7%</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-0.4%</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7.9%</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28.7%</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59.8%</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51.2%</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4.1%</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10.7%</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7.6%</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1.1 </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2.4 </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1.7 </a:t>
                      </a:r>
                    </a:p>
                  </a:txBody>
                  <a:tcPr marL="4707" marR="4707" marT="4707" marB="0" anchor="ctr">
                    <a:lnL>
                      <a:noFill/>
                    </a:lnL>
                    <a:lnR>
                      <a:noFill/>
                    </a:lnR>
                    <a:lnT>
                      <a:noFill/>
                    </a:lnT>
                    <a:lnB>
                      <a:noFill/>
                    </a:lnB>
                    <a:solidFill>
                      <a:srgbClr val="DDEBF7"/>
                    </a:solidFill>
                  </a:tcPr>
                </a:tc>
                <a:extLst>
                  <a:ext uri="{0D108BD9-81ED-4DB2-BD59-A6C34878D82A}">
                    <a16:rowId xmlns="" xmlns:a16="http://schemas.microsoft.com/office/drawing/2014/main" val="3285101047"/>
                  </a:ext>
                </a:extLst>
              </a:tr>
              <a:tr h="266177">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沪深</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300</a:t>
                      </a:r>
                    </a:p>
                  </a:txBody>
                  <a:tcPr marL="4707" marR="4707" marT="4707" marB="0" anchor="ctr">
                    <a:lnL>
                      <a:noFill/>
                    </a:lnL>
                    <a:lnR>
                      <a:noFill/>
                    </a:lnR>
                    <a:lnT>
                      <a:noFill/>
                    </a:lnT>
                    <a:lnB>
                      <a:noFill/>
                    </a:lnB>
                    <a:solidFill>
                      <a:srgbClr val="DDEBF7"/>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008592.OF</a:t>
                      </a:r>
                    </a:p>
                  </a:txBody>
                  <a:tcPr marL="4707" marR="4707" marT="4707" marB="0" anchor="ctr">
                    <a:lnL>
                      <a:noFill/>
                    </a:lnL>
                    <a:lnR>
                      <a:noFill/>
                    </a:lnR>
                    <a:lnT>
                      <a:noFill/>
                    </a:lnT>
                    <a:lnB>
                      <a:noFill/>
                    </a:lnB>
                    <a:solidFill>
                      <a:srgbClr val="DDEBF7"/>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天弘沪深</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300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指数增强发起式</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DDEBF7"/>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杨超</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-0.5%</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2.1%</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10.8%</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32.1%</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46.5%</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41.6%</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7.2%</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4.7%</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4.9%</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3.2 </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1.8 </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1.9 </a:t>
                      </a:r>
                    </a:p>
                  </a:txBody>
                  <a:tcPr marL="4707" marR="4707" marT="4707" marB="0" anchor="ctr">
                    <a:lnL>
                      <a:noFill/>
                    </a:lnL>
                    <a:lnR>
                      <a:noFill/>
                    </a:lnR>
                    <a:lnT>
                      <a:noFill/>
                    </a:lnT>
                    <a:lnB>
                      <a:noFill/>
                    </a:lnB>
                    <a:solidFill>
                      <a:srgbClr val="DDEBF7"/>
                    </a:solidFill>
                  </a:tcPr>
                </a:tc>
                <a:extLst>
                  <a:ext uri="{0D108BD9-81ED-4DB2-BD59-A6C34878D82A}">
                    <a16:rowId xmlns="" xmlns:a16="http://schemas.microsoft.com/office/drawing/2014/main" val="1686146983"/>
                  </a:ext>
                </a:extLst>
              </a:tr>
              <a:tr h="166603">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沪深</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300</a:t>
                      </a:r>
                    </a:p>
                  </a:txBody>
                  <a:tcPr marL="4707" marR="4707" marT="4707" marB="0" anchor="ctr">
                    <a:lnL>
                      <a:noFill/>
                    </a:lnL>
                    <a:lnR>
                      <a:noFill/>
                    </a:lnR>
                    <a:lnT>
                      <a:noFill/>
                    </a:lnT>
                    <a:lnB>
                      <a:noFill/>
                    </a:lnB>
                    <a:solidFill>
                      <a:srgbClr val="DDEBF7"/>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000311.OF</a:t>
                      </a:r>
                    </a:p>
                  </a:txBody>
                  <a:tcPr marL="4707" marR="4707" marT="4707" marB="0" anchor="ctr">
                    <a:lnL>
                      <a:noFill/>
                    </a:lnL>
                    <a:lnR>
                      <a:noFill/>
                    </a:lnR>
                    <a:lnT>
                      <a:noFill/>
                    </a:lnT>
                    <a:lnB>
                      <a:noFill/>
                    </a:lnB>
                    <a:solidFill>
                      <a:srgbClr val="DDEBF7"/>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景顺长城沪深</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300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指数增强</a:t>
                      </a:r>
                    </a:p>
                  </a:txBody>
                  <a:tcPr marL="4707" marR="4707" marT="4707" marB="0" anchor="ctr">
                    <a:lnL>
                      <a:noFill/>
                    </a:lnL>
                    <a:lnR>
                      <a:noFill/>
                    </a:lnR>
                    <a:lnT>
                      <a:noFill/>
                    </a:lnT>
                    <a:lnB>
                      <a:noFill/>
                    </a:lnB>
                    <a:solidFill>
                      <a:srgbClr val="DDEBF7"/>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黎海威</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-0.5%</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0.1%</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9.6%</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32.0%</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45.7%</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37.9%</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7.2%</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4.3%</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3.7%</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3.4 </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1.8 </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1.6 </a:t>
                      </a:r>
                    </a:p>
                  </a:txBody>
                  <a:tcPr marL="4707" marR="4707" marT="4707" marB="0" anchor="ctr">
                    <a:lnL>
                      <a:noFill/>
                    </a:lnL>
                    <a:lnR>
                      <a:noFill/>
                    </a:lnR>
                    <a:lnT>
                      <a:noFill/>
                    </a:lnT>
                    <a:lnB>
                      <a:noFill/>
                    </a:lnB>
                    <a:solidFill>
                      <a:srgbClr val="DDEBF7"/>
                    </a:solidFill>
                  </a:tcPr>
                </a:tc>
                <a:extLst>
                  <a:ext uri="{0D108BD9-81ED-4DB2-BD59-A6C34878D82A}">
                    <a16:rowId xmlns="" xmlns:a16="http://schemas.microsoft.com/office/drawing/2014/main" val="3110310382"/>
                  </a:ext>
                </a:extLst>
              </a:tr>
              <a:tr h="166603">
                <a:tc>
                  <a:txBody>
                    <a:bodyPr/>
                    <a:lstStyle/>
                    <a:p>
                      <a:pPr algn="ctr"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沪深</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300</a:t>
                      </a:r>
                    </a:p>
                  </a:txBody>
                  <a:tcPr marL="4707" marR="4707" marT="4707" marB="0" anchor="ctr">
                    <a:lnL>
                      <a:noFill/>
                    </a:lnL>
                    <a:lnR>
                      <a:noFill/>
                    </a:lnR>
                    <a:lnT>
                      <a:noFill/>
                    </a:lnT>
                    <a:lnB>
                      <a:noFill/>
                    </a:lnB>
                    <a:solidFill>
                      <a:srgbClr val="DDEBF7"/>
                    </a:solidFill>
                  </a:tcPr>
                </a:tc>
                <a:tc>
                  <a:txBody>
                    <a:bodyPr/>
                    <a:lstStyle/>
                    <a:p>
                      <a:pPr algn="ctr" fontAlgn="ctr"/>
                      <a:r>
                        <a:rPr lang="en-US" sz="700" b="0" i="0" u="none" strike="noStrike">
                          <a:solidFill>
                            <a:srgbClr val="000000"/>
                          </a:solidFill>
                          <a:effectLst/>
                          <a:latin typeface="华文中宋" panose="02010600040101010101" pitchFamily="2" charset="-122"/>
                          <a:ea typeface="华文中宋" panose="02010600040101010101" pitchFamily="2" charset="-122"/>
                        </a:rPr>
                        <a:t>000176.OF</a:t>
                      </a:r>
                    </a:p>
                  </a:txBody>
                  <a:tcPr marL="4707" marR="4707" marT="4707" marB="0" anchor="ctr">
                    <a:lnL>
                      <a:noFill/>
                    </a:lnL>
                    <a:lnR>
                      <a:noFill/>
                    </a:lnR>
                    <a:lnT>
                      <a:noFill/>
                    </a:lnT>
                    <a:lnB>
                      <a:noFill/>
                    </a:lnB>
                    <a:solidFill>
                      <a:srgbClr val="DDEBF7"/>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嘉实沪深</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300</a:t>
                      </a:r>
                      <a:r>
                        <a:rPr lang="zh-CN" altLang="en-US" sz="700" b="0" i="0" u="none" strike="noStrike">
                          <a:solidFill>
                            <a:srgbClr val="000000"/>
                          </a:solidFill>
                          <a:effectLst/>
                          <a:latin typeface="华文中宋" panose="02010600040101010101" pitchFamily="2" charset="-122"/>
                          <a:ea typeface="华文中宋" panose="02010600040101010101" pitchFamily="2" charset="-122"/>
                        </a:rPr>
                        <a:t>指数研究增强</a:t>
                      </a:r>
                      <a:r>
                        <a:rPr lang="en-US" altLang="zh-CN" sz="700" b="0" i="0" u="none" strike="noStrike">
                          <a:solidFill>
                            <a:srgbClr val="000000"/>
                          </a:solidFill>
                          <a:effectLst/>
                          <a:latin typeface="华文中宋" panose="02010600040101010101" pitchFamily="2" charset="-122"/>
                          <a:ea typeface="华文中宋" panose="02010600040101010101" pitchFamily="2" charset="-122"/>
                        </a:rPr>
                        <a:t>A</a:t>
                      </a:r>
                    </a:p>
                  </a:txBody>
                  <a:tcPr marL="4707" marR="4707" marT="4707" marB="0" anchor="ctr">
                    <a:lnL>
                      <a:noFill/>
                    </a:lnL>
                    <a:lnR>
                      <a:noFill/>
                    </a:lnR>
                    <a:lnT>
                      <a:noFill/>
                    </a:lnT>
                    <a:lnB>
                      <a:noFill/>
                    </a:lnB>
                    <a:solidFill>
                      <a:srgbClr val="DDEBF7"/>
                    </a:solidFill>
                  </a:tcPr>
                </a:tc>
                <a:tc>
                  <a:txBody>
                    <a:bodyPr/>
                    <a:lstStyle/>
                    <a:p>
                      <a:pPr algn="l" fontAlgn="ctr"/>
                      <a:r>
                        <a:rPr lang="zh-CN" altLang="en-US" sz="700" b="0" i="0" u="none" strike="noStrike">
                          <a:solidFill>
                            <a:srgbClr val="000000"/>
                          </a:solidFill>
                          <a:effectLst/>
                          <a:latin typeface="华文中宋" panose="02010600040101010101" pitchFamily="2" charset="-122"/>
                          <a:ea typeface="华文中宋" panose="02010600040101010101" pitchFamily="2" charset="-122"/>
                        </a:rPr>
                        <a:t>龙昌伦</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-0.3%</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0.3%</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6.4%</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25.6%</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37.2%</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30.1%</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1.2%</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B050"/>
                          </a:solidFill>
                          <a:effectLst/>
                          <a:latin typeface="华文中宋" panose="02010600040101010101" pitchFamily="2" charset="-122"/>
                          <a:ea typeface="华文中宋" panose="02010600040101010101" pitchFamily="2" charset="-122"/>
                        </a:rPr>
                        <a:t>0.3%</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1.3%</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0.5 </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0.1 </a:t>
                      </a:r>
                    </a:p>
                  </a:txBody>
                  <a:tcPr marL="4707" marR="4707" marT="4707" marB="0" anchor="ctr">
                    <a:lnL>
                      <a:noFill/>
                    </a:lnL>
                    <a:lnR>
                      <a:noFill/>
                    </a:lnR>
                    <a:lnT>
                      <a:noFill/>
                    </a:lnT>
                    <a:lnB>
                      <a:noFill/>
                    </a:lnB>
                    <a:solidFill>
                      <a:srgbClr val="DDEBF7"/>
                    </a:solidFill>
                  </a:tcPr>
                </a:tc>
                <a:tc>
                  <a:txBody>
                    <a:bodyPr/>
                    <a:lstStyle/>
                    <a:p>
                      <a:pPr algn="ctr" fontAlgn="ctr"/>
                      <a:r>
                        <a:rPr lang="en-US" altLang="zh-CN" sz="700" b="0" i="0" u="none" strike="noStrike">
                          <a:solidFill>
                            <a:srgbClr val="000000"/>
                          </a:solidFill>
                          <a:effectLst/>
                          <a:latin typeface="华文中宋" panose="02010600040101010101" pitchFamily="2" charset="-122"/>
                          <a:ea typeface="华文中宋" panose="02010600040101010101" pitchFamily="2" charset="-122"/>
                        </a:rPr>
                        <a:t>0.5 </a:t>
                      </a:r>
                    </a:p>
                  </a:txBody>
                  <a:tcPr marL="4707" marR="4707" marT="4707" marB="0" anchor="ctr">
                    <a:lnL>
                      <a:noFill/>
                    </a:lnL>
                    <a:lnR>
                      <a:noFill/>
                    </a:lnR>
                    <a:lnT>
                      <a:noFill/>
                    </a:lnT>
                    <a:lnB>
                      <a:noFill/>
                    </a:lnB>
                    <a:solidFill>
                      <a:srgbClr val="DDEBF7"/>
                    </a:solidFill>
                  </a:tcPr>
                </a:tc>
                <a:extLst>
                  <a:ext uri="{0D108BD9-81ED-4DB2-BD59-A6C34878D82A}">
                    <a16:rowId xmlns="" xmlns:a16="http://schemas.microsoft.com/office/drawing/2014/main" val="1220510846"/>
                  </a:ext>
                </a:extLst>
              </a:tr>
              <a:tr h="172347">
                <a:tc>
                  <a:txBody>
                    <a:bodyPr/>
                    <a:lstStyle/>
                    <a:p>
                      <a:pPr algn="l" fontAlgn="b"/>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en-US" sz="700" b="1" i="0" u="none" strike="noStrike">
                          <a:solidFill>
                            <a:srgbClr val="000000"/>
                          </a:solidFill>
                          <a:effectLst/>
                          <a:latin typeface="华文中宋" panose="02010600040101010101" pitchFamily="2" charset="-122"/>
                          <a:ea typeface="华文中宋" panose="02010600040101010101" pitchFamily="2" charset="-122"/>
                        </a:rPr>
                        <a:t>000300.SH</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b"/>
                      <a:r>
                        <a:rPr lang="zh-CN" altLang="en-US" sz="700" b="1" i="0" u="none" strike="noStrike">
                          <a:solidFill>
                            <a:srgbClr val="000000"/>
                          </a:solidFill>
                          <a:effectLst/>
                          <a:latin typeface="华文中宋" panose="02010600040101010101" pitchFamily="2" charset="-122"/>
                          <a:ea typeface="华文中宋" panose="02010600040101010101" pitchFamily="2" charset="-122"/>
                        </a:rPr>
                        <a:t>沪深</a:t>
                      </a:r>
                      <a:r>
                        <a:rPr lang="en-US" altLang="zh-CN" sz="700" b="1" i="0" u="none" strike="noStrike">
                          <a:solidFill>
                            <a:srgbClr val="000000"/>
                          </a:solidFill>
                          <a:effectLst/>
                          <a:latin typeface="华文中宋" panose="02010600040101010101" pitchFamily="2" charset="-122"/>
                          <a:ea typeface="华文中宋" panose="02010600040101010101" pitchFamily="2" charset="-122"/>
                        </a:rPr>
                        <a:t>300</a:t>
                      </a:r>
                    </a:p>
                  </a:txBody>
                  <a:tcPr marL="4707" marR="4707" marT="4707"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-0.5%</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-1.0%</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4.6%</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24.4%</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36.6%</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700" b="1" i="0" u="none" strike="noStrike">
                          <a:solidFill>
                            <a:srgbClr val="000000"/>
                          </a:solidFill>
                          <a:effectLst/>
                          <a:latin typeface="华文中宋" panose="02010600040101010101" pitchFamily="2" charset="-122"/>
                          <a:ea typeface="华文中宋" panose="02010600040101010101" pitchFamily="2" charset="-122"/>
                        </a:rPr>
                        <a:t>26.0%</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700" b="1" i="0" u="none" strike="noStrike" dirty="0">
                          <a:solidFill>
                            <a:srgbClr val="000000"/>
                          </a:solidFill>
                          <a:effectLst/>
                          <a:latin typeface="华文中宋" panose="02010600040101010101" pitchFamily="2" charset="-122"/>
                          <a:ea typeface="华文中宋" panose="02010600040101010101" pitchFamily="2" charset="-122"/>
                        </a:rPr>
                        <a:t>　</a:t>
                      </a:r>
                    </a:p>
                  </a:txBody>
                  <a:tcPr marL="4707" marR="4707" marT="4707" marB="0" anchor="ctr">
                    <a:lnL>
                      <a:noFill/>
                    </a:lnL>
                    <a:lnR>
                      <a:noFill/>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560284391"/>
                  </a:ext>
                </a:extLst>
              </a:tr>
            </a:tbl>
          </a:graphicData>
        </a:graphic>
      </p:graphicFrame>
    </p:spTree>
    <p:extLst>
      <p:ext uri="{BB962C8B-B14F-4D97-AF65-F5344CB8AC3E}">
        <p14:creationId xmlns:p14="http://schemas.microsoft.com/office/powerpoint/2010/main" val="38482554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6FA07A6-1E24-CEE9-4035-BE3F364BBE97}"/>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2D68807E-A2D7-AE48-C7EC-D851AF334939}"/>
              </a:ext>
            </a:extLst>
          </p:cNvPr>
          <p:cNvSpPr/>
          <p:nvPr/>
        </p:nvSpPr>
        <p:spPr>
          <a:xfrm>
            <a:off x="381000" y="364669"/>
            <a:ext cx="76200"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Box 2">
            <a:extLst>
              <a:ext uri="{FF2B5EF4-FFF2-40B4-BE49-F238E27FC236}">
                <a16:creationId xmlns="" xmlns:a16="http://schemas.microsoft.com/office/drawing/2014/main" id="{9FF20308-DC84-C8F4-9335-3CAA1D41E12D}"/>
              </a:ext>
            </a:extLst>
          </p:cNvPr>
          <p:cNvSpPr txBox="1"/>
          <p:nvPr/>
        </p:nvSpPr>
        <p:spPr>
          <a:xfrm>
            <a:off x="630264" y="293907"/>
            <a:ext cx="10980711" cy="527961"/>
          </a:xfrm>
          <a:prstGeom prst="rect">
            <a:avLst/>
          </a:prstGeom>
          <a:noFill/>
        </p:spPr>
        <p:txBody>
          <a:bodyPr wrap="square"/>
          <a:lstStyle/>
          <a:p>
            <a:pPr marL="0" marR="0" lvl="0" indent="0" algn="l" defTabSz="685800" rtl="0" eaLnBrk="1" fontAlgn="auto" latinLnBrk="0" hangingPunct="1">
              <a:lnSpc>
                <a:spcPct val="120000"/>
              </a:lnSpc>
              <a:spcBef>
                <a:spcPts val="0"/>
              </a:spcBef>
              <a:spcAft>
                <a:spcPts val="0"/>
              </a:spcAft>
              <a:buClrTx/>
              <a:buSzTx/>
              <a:buFontTx/>
              <a:buNone/>
              <a:tabLst/>
              <a:defRPr sz="2800" b="1">
                <a:solidFill>
                  <a:srgbClr val="1A3C6E"/>
                </a:solidFill>
                <a:latin typeface="微软雅黑" panose="020B0503020204020204" charset="-122"/>
              </a:defRPr>
            </a:pPr>
            <a:r>
              <a:rPr kumimoji="0" lang="zh-CN" altLang="en-US" sz="2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rPr>
              <a:t>附：生息备选基金池（债券、黄金基金）</a:t>
            </a:r>
            <a:endParaRPr kumimoji="0" sz="24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cs"/>
            </a:endParaRPr>
          </a:p>
        </p:txBody>
      </p:sp>
      <p:sp>
        <p:nvSpPr>
          <p:cNvPr id="6" name="矩形 4">
            <a:extLst>
              <a:ext uri="{FF2B5EF4-FFF2-40B4-BE49-F238E27FC236}">
                <a16:creationId xmlns="" xmlns:a16="http://schemas.microsoft.com/office/drawing/2014/main" id="{E2E737F0-6757-F1E0-133D-31B8484D3A64}"/>
              </a:ext>
            </a:extLst>
          </p:cNvPr>
          <p:cNvSpPr/>
          <p:nvPr/>
        </p:nvSpPr>
        <p:spPr>
          <a:xfrm>
            <a:off x="150794" y="6402450"/>
            <a:ext cx="11272674" cy="246862"/>
          </a:xfrm>
          <a:prstGeom prst="rect">
            <a:avLst/>
          </a:prstGeom>
        </p:spPr>
        <p:txBody>
          <a:bodyPr wrap="square">
            <a:spAutoFit/>
          </a:bodyPr>
          <a:lstStyle/>
          <a:p>
            <a:pPr marL="0" marR="0" lvl="0" indent="0" algn="l" defTabSz="609608" rtl="0" eaLnBrk="1" fontAlgn="auto" latinLnBrk="0" hangingPunct="1">
              <a:lnSpc>
                <a:spcPct val="100000"/>
              </a:lnSpc>
              <a:spcBef>
                <a:spcPts val="0"/>
              </a:spcBef>
              <a:spcAft>
                <a:spcPts val="0"/>
              </a:spcAft>
              <a:buClrTx/>
              <a:buSzTx/>
              <a:buFontTx/>
              <a:buNone/>
              <a:tabLst/>
              <a:defRPr/>
            </a:pPr>
            <a:r>
              <a:rPr kumimoji="0" lang="zh-CN" altLang="en-US" sz="1004"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注：数据来源</a:t>
            </a:r>
            <a:r>
              <a:rPr lang="en-US" altLang="zh-CN" sz="1004" dirty="0" err="1">
                <a:solidFill>
                  <a:prstClr val="black"/>
                </a:solidFill>
                <a:latin typeface="微软雅黑" panose="020B0503020204020204" pitchFamily="34" charset="-122"/>
                <a:ea typeface="微软雅黑" panose="020B0503020204020204" pitchFamily="34" charset="-122"/>
              </a:rPr>
              <a:t>ifind</a:t>
            </a:r>
            <a:r>
              <a:rPr lang="zh-CN" altLang="en-US" sz="1004" dirty="0">
                <a:solidFill>
                  <a:prstClr val="black"/>
                </a:solidFill>
                <a:latin typeface="微软雅黑" panose="020B0503020204020204" pitchFamily="34" charset="-122"/>
                <a:ea typeface="微软雅黑" panose="020B0503020204020204" pitchFamily="34" charset="-122"/>
              </a:rPr>
              <a:t>，历史业绩不代表未来，历史业绩仅供参考</a:t>
            </a:r>
            <a:endParaRPr kumimoji="0" lang="en-US" altLang="zh-CN" sz="1004"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4" name="图片 3">
            <a:extLst>
              <a:ext uri="{FF2B5EF4-FFF2-40B4-BE49-F238E27FC236}">
                <a16:creationId xmlns="" xmlns:a16="http://schemas.microsoft.com/office/drawing/2014/main" id="{45D94640-4558-EC97-C0BC-7EDF2279D9BB}"/>
              </a:ext>
            </a:extLst>
          </p:cNvPr>
          <p:cNvPicPr>
            <a:picLocks noChangeAspect="1"/>
          </p:cNvPicPr>
          <p:nvPr/>
        </p:nvPicPr>
        <p:blipFill>
          <a:blip r:embed="rId2"/>
          <a:stretch>
            <a:fillRect/>
          </a:stretch>
        </p:blipFill>
        <p:spPr>
          <a:xfrm>
            <a:off x="301534" y="1153884"/>
            <a:ext cx="11015801" cy="3043647"/>
          </a:xfrm>
          <a:prstGeom prst="rect">
            <a:avLst/>
          </a:prstGeom>
        </p:spPr>
      </p:pic>
    </p:spTree>
    <p:extLst>
      <p:ext uri="{BB962C8B-B14F-4D97-AF65-F5344CB8AC3E}">
        <p14:creationId xmlns:p14="http://schemas.microsoft.com/office/powerpoint/2010/main" val="2459958181"/>
      </p:ext>
    </p:extLst>
  </p:cSld>
  <p:clrMapOvr>
    <a:masterClrMapping/>
  </p:clrMapOvr>
</p:sld>
</file>

<file path=ppt/theme/theme1.xml><?xml version="1.0" encoding="utf-8"?>
<a:theme xmlns:a="http://schemas.openxmlformats.org/drawingml/2006/main" name="CitationVTI">
  <a:themeElements>
    <a:clrScheme name="Citation">
      <a:dk1>
        <a:sysClr val="windowText" lastClr="000000"/>
      </a:dk1>
      <a:lt1>
        <a:sysClr val="window" lastClr="FFFFFF"/>
      </a:lt1>
      <a:dk2>
        <a:srgbClr val="01375D"/>
      </a:dk2>
      <a:lt2>
        <a:srgbClr val="F3F2EF"/>
      </a:lt2>
      <a:accent1>
        <a:srgbClr val="29A3D2"/>
      </a:accent1>
      <a:accent2>
        <a:srgbClr val="0669AC"/>
      </a:accent2>
      <a:accent3>
        <a:srgbClr val="FD891C"/>
      </a:accent3>
      <a:accent4>
        <a:srgbClr val="FD6927"/>
      </a:accent4>
      <a:accent5>
        <a:srgbClr val="F95131"/>
      </a:accent5>
      <a:accent6>
        <a:srgbClr val="CE5FAE"/>
      </a:accent6>
      <a:hlink>
        <a:srgbClr val="0F8EC1"/>
      </a:hlink>
      <a:folHlink>
        <a:srgbClr val="DC6400"/>
      </a:folHlink>
    </a:clrScheme>
    <a:fontScheme name="Grandview">
      <a:majorFont>
        <a:latin typeface="Grandview"/>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ationVTI" id="{4899D957-8B31-4AB5-A19D-CB0353FFB667}" vid="{430294D6-2412-4BD3-B567-F0976EA49313}"/>
    </a:ext>
  </a:extLst>
</a:theme>
</file>

<file path=ppt/theme/theme2.xml><?xml version="1.0" encoding="utf-8"?>
<a:theme xmlns:a="http://schemas.openxmlformats.org/drawingml/2006/main" name="Office 主题​​">
  <a:themeElements>
    <a:clrScheme name="香槟金商业计划书">
      <a:dk1>
        <a:sysClr val="windowText" lastClr="000000"/>
      </a:dk1>
      <a:lt1>
        <a:sysClr val="window" lastClr="FFFFFF"/>
      </a:lt1>
      <a:dk2>
        <a:srgbClr val="000000"/>
      </a:dk2>
      <a:lt2>
        <a:srgbClr val="F8F8F8"/>
      </a:lt2>
      <a:accent1>
        <a:srgbClr val="C6AF92"/>
      </a:accent1>
      <a:accent2>
        <a:srgbClr val="8FFFFF"/>
      </a:accent2>
      <a:accent3>
        <a:srgbClr val="3F3F3F"/>
      </a:accent3>
      <a:accent4>
        <a:srgbClr val="595959"/>
      </a:accent4>
      <a:accent5>
        <a:srgbClr val="5F5F5F"/>
      </a:accent5>
      <a:accent6>
        <a:srgbClr val="4D4D4D"/>
      </a:accent6>
      <a:hlink>
        <a:srgbClr val="000000"/>
      </a:hlink>
      <a:folHlink>
        <a:srgbClr val="919191"/>
      </a:folHlink>
    </a:clrScheme>
    <a:fontScheme name="自定义 13">
      <a:majorFont>
        <a:latin typeface="Century Gothic"/>
        <a:ea typeface="HarmonyOS Sans SC Light"/>
        <a:cs typeface=""/>
      </a:majorFont>
      <a:minorFont>
        <a:latin typeface="HarmonyOS Sans SC Light"/>
        <a:ea typeface="HarmonyOS Sans SC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4879</TotalTime>
  <Words>6396</Words>
  <Application>Microsoft Office PowerPoint</Application>
  <PresentationFormat>宽屏</PresentationFormat>
  <Paragraphs>1924</Paragraphs>
  <Slides>31</Slides>
  <Notes>18</Notes>
  <HiddenSlides>0</HiddenSlides>
  <MMClips>0</MMClips>
  <ScaleCrop>false</ScaleCrop>
  <HeadingPairs>
    <vt:vector size="6" baseType="variant">
      <vt:variant>
        <vt:lpstr>已用的字体</vt:lpstr>
      </vt:variant>
      <vt:variant>
        <vt:i4>16</vt:i4>
      </vt:variant>
      <vt:variant>
        <vt:lpstr>主题</vt:lpstr>
      </vt:variant>
      <vt:variant>
        <vt:i4>3</vt:i4>
      </vt:variant>
      <vt:variant>
        <vt:lpstr>幻灯片标题</vt:lpstr>
      </vt:variant>
      <vt:variant>
        <vt:i4>31</vt:i4>
      </vt:variant>
    </vt:vector>
  </HeadingPairs>
  <TitlesOfParts>
    <vt:vector size="50" baseType="lpstr">
      <vt:lpstr>Grandview</vt:lpstr>
      <vt:lpstr>Grandview Display</vt:lpstr>
      <vt:lpstr>HarmonyOS Sans SC Light</vt:lpstr>
      <vt:lpstr>Helvetica Neue</vt:lpstr>
      <vt:lpstr>MiSans</vt:lpstr>
      <vt:lpstr>Quattrocento Sans</vt:lpstr>
      <vt:lpstr>QuattrocentoSans</vt:lpstr>
      <vt:lpstr>等线</vt:lpstr>
      <vt:lpstr>华文中宋</vt:lpstr>
      <vt:lpstr>思源宋体</vt:lpstr>
      <vt:lpstr>微软雅黑</vt:lpstr>
      <vt:lpstr>微软雅黑</vt:lpstr>
      <vt:lpstr>Arial</vt:lpstr>
      <vt:lpstr>Calibri</vt:lpstr>
      <vt:lpstr>Times New Roman</vt:lpstr>
      <vt:lpstr>Wingdings</vt:lpstr>
      <vt:lpstr>CitationVTI</vt:lpstr>
      <vt:lpstr>Office 主题​​</vt:lpstr>
      <vt:lpstr>1_Custom Theme</vt:lpstr>
      <vt:lpstr>账户思维落地-样板间组合交流 2026.6</vt:lpstr>
      <vt:lpstr>账户思维落地：现状与挑战</vt:lpstr>
      <vt:lpstr>尝试：转型期以产品化的账户作为示范</vt:lpstr>
      <vt:lpstr>PowerPoint 演示文稿</vt:lpstr>
      <vt:lpstr>打造样板间的3个示范目标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账户思维落地-样板间组合交流 2026.6</dc:title>
  <dc:creator>陶荣辉[Daniel Tao]</dc:creator>
  <cp:lastModifiedBy>白昕</cp:lastModifiedBy>
  <cp:revision>73</cp:revision>
  <dcterms:created xsi:type="dcterms:W3CDTF">2026-05-08T03:17:25Z</dcterms:created>
  <dcterms:modified xsi:type="dcterms:W3CDTF">2026-07-06T08:28:48Z</dcterms:modified>
</cp:coreProperties>
</file>