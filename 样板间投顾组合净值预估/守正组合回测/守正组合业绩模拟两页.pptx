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7512" y="164592"/>
            <a:ext cx="384048" cy="384048"/>
          </a:xfrm>
          <a:prstGeom prst="ellipse">
            <a:avLst/>
          </a:prstGeom>
          <a:solidFill>
            <a:srgbClr val="01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3.1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88720" y="393192"/>
            <a:ext cx="10058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1375D"/>
                </a:solidFill>
                <a:latin typeface="微软雅黑"/>
              </a:rPr>
              <a:t>基于基金池的业绩模拟：守正组合（风险级别 R4）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417320"/>
          <a:ext cx="6583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守正组合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同花顺全A(加权)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目标权重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动平衡规则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定期动平衡：频率1年；定幅动平衡：无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63840" y="1371600"/>
          <a:ext cx="3749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年化收益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8.77%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年化波动率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20.05%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区间最大回撤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-37.16%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夏普比率*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0.44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动平衡次数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6次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nav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43200"/>
            <a:ext cx="7223760" cy="3334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338328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6E6D66"/>
                </a:solidFill>
                <a:latin typeface="微软雅黑"/>
              </a:rPr>
              <a:t>区间累计收益：</a:t>
            </a:r>
            <a:r>
              <a:rPr sz="1400" b="1">
                <a:solidFill>
                  <a:srgbClr val="C0392B"/>
                </a:solidFill>
                <a:latin typeface="微软雅黑"/>
              </a:rPr>
              <a:t>76.29%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6D66"/>
                </a:solidFill>
                <a:latin typeface="微软雅黑"/>
              </a:rPr>
              <a:t>基准累计收益：</a:t>
            </a:r>
            <a:r>
              <a:rPr sz="1400" b="1">
                <a:solidFill>
                  <a:srgbClr val="C0392B"/>
                </a:solidFill>
                <a:latin typeface="微软雅黑"/>
              </a:rPr>
              <a:t>41.40%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6D66"/>
                </a:solidFill>
                <a:latin typeface="微软雅黑"/>
              </a:rPr>
              <a:t>相对基准超额：</a:t>
            </a:r>
            <a:r>
              <a:rPr sz="1400" b="1">
                <a:solidFill>
                  <a:srgbClr val="C0392B"/>
                </a:solidFill>
                <a:latin typeface="微软雅黑"/>
              </a:rPr>
              <a:t>34.90%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E6D66"/>
                </a:solidFill>
                <a:latin typeface="微软雅黑"/>
              </a:rPr>
              <a:t>注：数据来源为腾讯 NeoData/同花顺 iFinD。策略历史表现不构成对未来业绩的承诺。统计区间为2020年1月2日-2026年9月30日（日频）。计算夏普比例时，无风险收益按0%计。基金成立满1个月后接续基金净值，此前用跟踪指数（价格指数）代替。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7512" y="164592"/>
            <a:ext cx="384048" cy="384048"/>
          </a:xfrm>
          <a:prstGeom prst="ellipse">
            <a:avLst/>
          </a:prstGeom>
          <a:solidFill>
            <a:srgbClr val="01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3.2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88720" y="393192"/>
            <a:ext cx="10058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1375D"/>
                </a:solidFill>
                <a:latin typeface="微软雅黑"/>
              </a:rPr>
              <a:t>基于基金池业绩模拟：守正组合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25880"/>
            <a:ext cx="10607040" cy="7315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2C2A"/>
                </a:solidFill>
                <a:latin typeface="微软雅黑"/>
              </a:rPr>
              <a:t>6个完整年度有4年为正收益。最高年度收益34.54%，最低年度收益-18.46%，年化收益率8.77%。81个完整月度录得46个月(56.8%)正收益。最高月度收益19.44%，最低月度收益-14.36%，平均月度收益0.85%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148840"/>
          <a:ext cx="11740896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822960"/>
                <a:gridCol w="713232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3月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4月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5月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6月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7月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8月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9月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10月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11月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12月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年收益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月胜率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最大回撤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-0.73%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1.37%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-6.10%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4.78%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1.03%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8.49%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14.81%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2.41%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-6.12%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0.35%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3.30%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2.28%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27.03%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-6.12%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-0.76%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0.85%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-2.19%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2.34%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4.77%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2.71%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-0.87%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5.15%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-2.23%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-0.73%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4.33%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0.56%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14.41%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-2.95%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-9.79%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3.72%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-7.09%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-10.48%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6.55%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9.40%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-1.41%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-2.97%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-7.42%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-1.41%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6.18%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-3.04%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8449"/>
                          </a:solidFill>
                          <a:latin typeface="微软雅黑"/>
                        </a:rPr>
                        <a:t>-18.46%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-22.18%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7.20%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0.50%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-0.91%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-1.58%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-2.59%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1.49%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1.01%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-4.66%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-0.57%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-2.37%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1.29%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-1.80%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8449"/>
                          </a:solidFill>
                          <a:latin typeface="微软雅黑"/>
                        </a:rPr>
                        <a:t>-3.41%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41.67%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-10.35%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-12.64%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7.91%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1.49%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1.78%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-0.82%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-4.26%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-0.91%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-3.17%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19.44%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0.84%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2.03%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-0.08%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8.93%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-12.64%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-0.86%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3.92%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1.52%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-2.39%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2.62%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5.36%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5.44%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10.26%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2.84%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0.31%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-1.93%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3.62%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34.54%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-2.39%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7.95%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2.70%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-8.37%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9.47%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1.55%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4.50%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-14.36%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8.68%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-4.32%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5.09%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66.67%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-14.36%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成立以来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76.29%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56.79%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-37.16%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E6D66"/>
                </a:solidFill>
                <a:latin typeface="微软雅黑"/>
              </a:rPr>
              <a:t>数据来源：腾讯 NeoData/同花顺 iFinD。回测区间为2020/1/2-2026/9/30（日频）。历史回测不代表未来表现，以上涉及的相关数据均为假设条件或虚拟回测，仅为实现策略举例说明之目的、用于投资者教育，不涉及任何具体产品信息及其宣传推介，历史业绩不预示未来表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